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55"/>
  </p:notesMasterIdLst>
  <p:sldIdLst>
    <p:sldId id="348" r:id="rId2"/>
    <p:sldId id="281" r:id="rId3"/>
    <p:sldId id="282" r:id="rId4"/>
    <p:sldId id="365" r:id="rId5"/>
    <p:sldId id="283" r:id="rId6"/>
    <p:sldId id="366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350" r:id="rId40"/>
    <p:sldId id="351" r:id="rId41"/>
    <p:sldId id="352" r:id="rId42"/>
    <p:sldId id="353" r:id="rId43"/>
    <p:sldId id="354" r:id="rId44"/>
    <p:sldId id="355" r:id="rId45"/>
    <p:sldId id="356" r:id="rId46"/>
    <p:sldId id="357" r:id="rId47"/>
    <p:sldId id="358" r:id="rId48"/>
    <p:sldId id="359" r:id="rId49"/>
    <p:sldId id="360" r:id="rId50"/>
    <p:sldId id="361" r:id="rId51"/>
    <p:sldId id="362" r:id="rId52"/>
    <p:sldId id="363" r:id="rId53"/>
    <p:sldId id="364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ADA9"/>
    <a:srgbClr val="43C602"/>
    <a:srgbClr val="000066"/>
    <a:srgbClr val="0066FF"/>
    <a:srgbClr val="0033CC"/>
    <a:srgbClr val="0332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000" autoAdjust="0"/>
  </p:normalViewPr>
  <p:slideViewPr>
    <p:cSldViewPr snapToGrid="0">
      <p:cViewPr varScale="1">
        <p:scale>
          <a:sx n="60" d="100"/>
          <a:sy n="60" d="100"/>
        </p:scale>
        <p:origin x="202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1" d="100"/>
          <a:sy n="61" d="100"/>
        </p:scale>
        <p:origin x="2347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47FD1-F16B-4674-8E3F-229D935503A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FFC65-791B-4559-8ED4-77406F770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11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80CBAE93-06AC-4832-A6F6-170F7BEDB2E9}" type="datetime3">
              <a:rPr lang="en-US" smtClean="0"/>
              <a:t>3 December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CEACC0-B677-4A29-B1E6-BCE98563D55B}" type="slidenum">
              <a:rPr lang="en-US"/>
              <a:pPr/>
              <a:t>1</a:t>
            </a:fld>
            <a:endParaRPr lang="en-US"/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0739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115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i="1" dirty="0"/>
              <a:t>(From Chapter 1)</a:t>
            </a:r>
          </a:p>
          <a:p>
            <a:endParaRPr lang="en-US" dirty="0"/>
          </a:p>
          <a:p>
            <a:r>
              <a:rPr lang="en-US" dirty="0"/>
              <a:t>Uniprocessor performance growth (</a:t>
            </a:r>
            <a:r>
              <a:rPr lang="en-US" dirty="0" err="1"/>
              <a:t>SPECint</a:t>
            </a:r>
            <a:r>
              <a:rPr lang="en-US" dirty="0"/>
              <a:t>) slowed from a high of </a:t>
            </a:r>
          </a:p>
          <a:p>
            <a:r>
              <a:rPr lang="en-US" dirty="0"/>
              <a:t>52% per year (1986 to 2002) to </a:t>
            </a:r>
          </a:p>
          <a:p>
            <a:r>
              <a:rPr lang="en-US" dirty="0"/>
              <a:t>23% per year (2002 to 2010). </a:t>
            </a:r>
          </a:p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Clock Rate Stagnation:</a:t>
            </a:r>
            <a:r>
              <a:rPr lang="en-US" dirty="0"/>
              <a:t> </a:t>
            </a:r>
          </a:p>
          <a:p>
            <a:r>
              <a:rPr lang="en-US" dirty="0"/>
              <a:t>After 2003, clock rate growth dropped significantly to about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2%/year</a:t>
            </a:r>
            <a:r>
              <a:rPr lang="en-US" dirty="0"/>
              <a:t>. </a:t>
            </a:r>
          </a:p>
          <a:p>
            <a:r>
              <a:rPr lang="en-US" dirty="0"/>
              <a:t>This contrasts sharply with the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~40%/year</a:t>
            </a:r>
            <a:r>
              <a:rPr lang="en-US" dirty="0"/>
              <a:t> growth seen in the preceding decade.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The Problem: The Power Wall</a:t>
            </a:r>
          </a:p>
          <a:p>
            <a:r>
              <a:rPr lang="en-US" dirty="0"/>
              <a:t>The slowdown is due to </a:t>
            </a:r>
            <a:r>
              <a:rPr lang="en-US" b="1" dirty="0"/>
              <a:t>power constraints</a:t>
            </a:r>
            <a:r>
              <a:rPr lang="en-US" dirty="0"/>
              <a:t> and </a:t>
            </a:r>
            <a:r>
              <a:rPr lang="en-US" b="1" dirty="0"/>
              <a:t>limited Instruction-Level Parallelism</a:t>
            </a:r>
            <a:r>
              <a:rPr lang="en-US" dirty="0"/>
              <a:t> (ILP).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65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530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&gt;&gt;</a:t>
            </a:r>
          </a:p>
          <a:p>
            <a:r>
              <a:rPr lang="en-US" i="1" dirty="0"/>
              <a:t>(From Chapter 1)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i="0" u="sng" dirty="0"/>
              <a:t>Clock Rate and Power</a:t>
            </a:r>
          </a:p>
          <a:p>
            <a:pPr>
              <a:lnSpc>
                <a:spcPct val="90000"/>
              </a:lnSpc>
            </a:pPr>
            <a:endParaRPr lang="en-US" i="0" u="sng" dirty="0"/>
          </a:p>
          <a:p>
            <a:pPr>
              <a:lnSpc>
                <a:spcPct val="90000"/>
              </a:lnSpc>
            </a:pPr>
            <a:r>
              <a:rPr lang="en-US" b="1" dirty="0"/>
              <a:t>Power Consumption:</a:t>
            </a:r>
            <a:endParaRPr lang="en-US" b="1" i="0" u="sng" dirty="0"/>
          </a:p>
          <a:p>
            <a:pPr>
              <a:lnSpc>
                <a:spcPct val="90000"/>
              </a:lnSpc>
            </a:pPr>
            <a:r>
              <a:rPr lang="en-US" dirty="0"/>
              <a:t>The power consumed by CPUs grew dramatically:</a:t>
            </a:r>
            <a:endParaRPr lang="en-US" i="0" u="sng" dirty="0"/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1985: Intel 80386 (i386) consumed about 2 W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2014: 3.3 GHz Intel Core i7 consumes 130 W</a:t>
            </a:r>
          </a:p>
          <a:p>
            <a:pPr>
              <a:lnSpc>
                <a:spcPct val="90000"/>
              </a:lnSpc>
            </a:pPr>
            <a:endParaRPr lang="en-US" sz="1200" dirty="0"/>
          </a:p>
          <a:p>
            <a:pPr>
              <a:lnSpc>
                <a:spcPct val="90000"/>
              </a:lnSpc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Thermal Limit:</a:t>
            </a:r>
            <a:r>
              <a:rPr lang="en-US" dirty="0"/>
              <a:t> </a:t>
            </a:r>
          </a:p>
          <a:p>
            <a:pPr>
              <a:lnSpc>
                <a:spcPct val="90000"/>
              </a:lnSpc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Heat from 130 W</a:t>
            </a:r>
            <a:r>
              <a:rPr lang="en-US" dirty="0"/>
              <a:t> must be dissipated from a small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1.5 x 1.5 cm</a:t>
            </a:r>
            <a:r>
              <a:rPr lang="en-US" dirty="0"/>
              <a:t> chip. </a:t>
            </a:r>
          </a:p>
          <a:p>
            <a:pPr>
              <a:lnSpc>
                <a:spcPct val="90000"/>
              </a:lnSpc>
            </a:pPr>
            <a:r>
              <a:rPr lang="en-US" dirty="0"/>
              <a:t>This power density represents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limit of what can be cooled by air</a:t>
            </a:r>
            <a:r>
              <a:rPr lang="en-US" dirty="0"/>
              <a:t>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887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b="1" dirty="0"/>
              <a:t>The Solution: Shift to Multi-Core</a:t>
            </a:r>
          </a:p>
          <a:p>
            <a:r>
              <a:rPr lang="en-US" dirty="0"/>
              <a:t>The shift to multi-core designs was declared a "</a:t>
            </a:r>
            <a:r>
              <a:rPr lang="en-US" b="1" dirty="0"/>
              <a:t>sea change in computing</a:t>
            </a:r>
            <a:r>
              <a:rPr lang="en-US" dirty="0"/>
              <a:t>" by Intel in 2004. </a:t>
            </a:r>
          </a:p>
          <a:p>
            <a:r>
              <a:rPr lang="en-US" dirty="0"/>
              <a:t>All major microprocessor companies (AMD, Intel, IBM) switched to multi-core designs. </a:t>
            </a:r>
          </a:p>
          <a:p>
            <a:endParaRPr lang="en-US" dirty="0"/>
          </a:p>
          <a:p>
            <a:r>
              <a:rPr lang="en-US" b="1" dirty="0"/>
              <a:t>Multi-Core Designs:</a:t>
            </a:r>
            <a:r>
              <a:rPr lang="en-US" dirty="0"/>
              <a:t> </a:t>
            </a:r>
          </a:p>
          <a:p>
            <a:r>
              <a:rPr lang="en-US" dirty="0"/>
              <a:t>Since increasing clock speed was no longer feasible, the industry adopted </a:t>
            </a:r>
            <a:r>
              <a:rPr lang="en-US" b="1" dirty="0"/>
              <a:t>Thread-Level Parallelism</a:t>
            </a:r>
            <a:r>
              <a:rPr lang="en-US" dirty="0"/>
              <a:t> using multi-core designs.</a:t>
            </a:r>
          </a:p>
          <a:p>
            <a:r>
              <a:rPr lang="en-US" dirty="0"/>
              <a:t>This approach executes multiple independent </a:t>
            </a:r>
            <a:r>
              <a:rPr lang="en-US" b="1" dirty="0"/>
              <a:t>threads</a:t>
            </a:r>
            <a:r>
              <a:rPr lang="en-US" dirty="0"/>
              <a:t> simultaneously on different cores.</a:t>
            </a:r>
          </a:p>
          <a:p>
            <a:endParaRPr lang="en-US" dirty="0"/>
          </a:p>
          <a:p>
            <a:r>
              <a:rPr lang="en-US" b="1" dirty="0"/>
              <a:t>Performance Result:</a:t>
            </a:r>
          </a:p>
          <a:p>
            <a:r>
              <a:rPr lang="en-US" dirty="0"/>
              <a:t>The shift resulted in a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2X </a:t>
            </a:r>
            <a:r>
              <a:rPr lang="en-US" dirty="0"/>
              <a:t>sequential performance gain every five years.</a:t>
            </a:r>
          </a:p>
          <a:p>
            <a:endParaRPr lang="en-US" dirty="0"/>
          </a:p>
          <a:p>
            <a:r>
              <a:rPr lang="en-US" b="1" dirty="0"/>
              <a:t>Key Challenge:</a:t>
            </a:r>
            <a:r>
              <a:rPr lang="en-US" dirty="0"/>
              <a:t> </a:t>
            </a:r>
          </a:p>
          <a:p>
            <a:r>
              <a:rPr lang="en-US" dirty="0"/>
              <a:t>The largest programming hurdle now is scaling performance from a single CPU (or core) to two CPUs.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34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Factors favoring multiprocessors include: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Growth in data-intensive applications (databases, web servers) which have natural Thread-Level Parallelism (TLP)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Growing interest in server performance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the huge cost advantage of leveraging design investment by replication (using the same </a:t>
            </a:r>
            <a:r>
              <a:rPr lang="en-US" dirty="0" err="1"/>
              <a:t>MicroProcUnit</a:t>
            </a:r>
            <a:r>
              <a:rPr lang="en-US" dirty="0"/>
              <a:t>) instead of unique, high-performance designs.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230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In the 1960s, </a:t>
            </a:r>
            <a:r>
              <a:rPr lang="en-US" b="1" dirty="0"/>
              <a:t>Michael J. Flynn </a:t>
            </a:r>
            <a:r>
              <a:rPr lang="en-US" dirty="0"/>
              <a:t>found a simple </a:t>
            </a:r>
            <a:r>
              <a:rPr lang="en-US" u="sng" dirty="0"/>
              <a:t>parallel computing classification</a:t>
            </a:r>
            <a:r>
              <a:rPr lang="en-US" u="none" dirty="0"/>
              <a:t> </a:t>
            </a:r>
            <a:r>
              <a:rPr lang="en-US" dirty="0"/>
              <a:t>that we still use today,</a:t>
            </a:r>
          </a:p>
          <a:p>
            <a:r>
              <a:rPr lang="en-US" dirty="0"/>
              <a:t>which </a:t>
            </a:r>
            <a:r>
              <a:rPr lang="en-US" u="none" dirty="0"/>
              <a:t>targets </a:t>
            </a:r>
            <a:r>
              <a:rPr lang="en-US" u="sng" dirty="0"/>
              <a:t>Data-Level Parallelism</a:t>
            </a:r>
            <a:r>
              <a:rPr lang="en-US" u="none" dirty="0"/>
              <a:t> and </a:t>
            </a:r>
            <a:r>
              <a:rPr lang="en-US" u="sng" dirty="0"/>
              <a:t>Thread-Level Parallelism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Data-Level Parallelism</a:t>
            </a:r>
            <a:endParaRPr lang="en-US" dirty="0"/>
          </a:p>
          <a:p>
            <a:r>
              <a:rPr lang="en-US" dirty="0"/>
              <a:t>involves performing the </a:t>
            </a:r>
            <a:r>
              <a:rPr lang="en-US" b="1" dirty="0"/>
              <a:t>same operation</a:t>
            </a:r>
            <a:r>
              <a:rPr lang="en-US" dirty="0"/>
              <a:t> on </a:t>
            </a:r>
            <a:r>
              <a:rPr lang="en-US" b="1" dirty="0"/>
              <a:t>different pieces of data simultaneously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Thread-Level Parallelism </a:t>
            </a:r>
          </a:p>
          <a:p>
            <a:r>
              <a:rPr lang="en-US" dirty="0"/>
              <a:t>involves executing multiple independent </a:t>
            </a:r>
            <a:r>
              <a:rPr lang="en-US" b="1" dirty="0"/>
              <a:t>threads</a:t>
            </a:r>
            <a:r>
              <a:rPr lang="en-US" dirty="0"/>
              <a:t> concurrently on different processing cores.</a:t>
            </a:r>
          </a:p>
          <a:p>
            <a:endParaRPr lang="en-US" dirty="0"/>
          </a:p>
          <a:p>
            <a:r>
              <a:rPr lang="en-US" dirty="0"/>
              <a:t>By analyzing the parallelism in the instruction and data streams called for by the instructions at the most constrained component of the multiprocessor, …</a:t>
            </a:r>
          </a:p>
          <a:p>
            <a:endParaRPr lang="en-US" dirty="0"/>
          </a:p>
          <a:p>
            <a:r>
              <a:rPr lang="en-US" u="sng" dirty="0"/>
              <a:t>All computers can be placed in one of four categories:</a:t>
            </a:r>
          </a:p>
          <a:p>
            <a:endParaRPr lang="en-US" u="sng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1. </a:t>
            </a:r>
            <a:r>
              <a:rPr lang="en-US" sz="2400" b="1" dirty="0"/>
              <a:t>SISD: </a:t>
            </a:r>
            <a:r>
              <a:rPr lang="en-US" sz="2400" dirty="0"/>
              <a:t>Single instruction stream, single data stream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2. </a:t>
            </a:r>
            <a:r>
              <a:rPr lang="en-US" sz="2400" b="1" dirty="0"/>
              <a:t>SIMD:</a:t>
            </a:r>
            <a:r>
              <a:rPr lang="en-US" sz="2400" dirty="0"/>
              <a:t> Single instruction stream, multiple data streams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    </a:t>
            </a:r>
            <a:r>
              <a:rPr lang="en-US" sz="2000" dirty="0"/>
              <a:t>offers </a:t>
            </a:r>
            <a:r>
              <a:rPr lang="en-US" sz="2000" u="sng" dirty="0"/>
              <a:t>Data-Level Parallelism</a:t>
            </a:r>
            <a:br>
              <a:rPr lang="en-US" sz="2000" u="sng" dirty="0"/>
            </a:br>
            <a:r>
              <a:rPr lang="en-US" sz="2000" i="1" u="none" dirty="0"/>
              <a:t>    (but operations are locked step)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    Vector architectures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    Multimedia extensions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    Graphics processor units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Constraint:</a:t>
            </a:r>
            <a:r>
              <a:rPr lang="en-US" sz="2000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The operations are typically in </a:t>
            </a:r>
            <a:r>
              <a:rPr lang="en-US" sz="2000" b="1" dirty="0"/>
              <a:t>locked step</a:t>
            </a:r>
            <a:r>
              <a:rPr lang="en-US" sz="2000" dirty="0"/>
              <a:t>, meaning all parallel units execute the identical instruction at the same time (e.g., in vector units or GPUs).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lnSpc>
                <a:spcPct val="90000"/>
              </a:lnSpc>
              <a:buSzPct val="100000"/>
              <a:buFont typeface="Arial" panose="020B0604020202020204" pitchFamily="34" charset="0"/>
              <a:buNone/>
            </a:pPr>
            <a:r>
              <a:rPr lang="en-US" sz="2400" dirty="0"/>
              <a:t>3. </a:t>
            </a:r>
            <a:r>
              <a:rPr lang="en-US" sz="2400" b="1" dirty="0"/>
              <a:t>MISD: </a:t>
            </a:r>
            <a:r>
              <a:rPr lang="en-US" sz="2400" dirty="0"/>
              <a:t>Multiple instruction streams, single data streams</a:t>
            </a:r>
          </a:p>
          <a:p>
            <a:pPr marL="0" indent="0">
              <a:lnSpc>
                <a:spcPct val="90000"/>
              </a:lnSpc>
              <a:buSzPct val="100000"/>
              <a:buFont typeface="Arial" panose="020B0604020202020204" pitchFamily="34" charset="0"/>
              <a:buNone/>
            </a:pPr>
            <a:r>
              <a:rPr lang="en-US" sz="2400" dirty="0"/>
              <a:t>    </a:t>
            </a:r>
            <a:r>
              <a:rPr lang="en-US" sz="2000" dirty="0"/>
              <a:t>No commercial implementation</a:t>
            </a:r>
          </a:p>
          <a:p>
            <a:pPr marL="0" indent="0">
              <a:lnSpc>
                <a:spcPct val="90000"/>
              </a:lnSpc>
              <a:buSzPct val="100000"/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lnSpc>
                <a:spcPct val="90000"/>
              </a:lnSpc>
              <a:buSzPct val="100000"/>
              <a:buFont typeface="Arial" panose="020B0604020202020204" pitchFamily="34" charset="0"/>
              <a:buNone/>
            </a:pPr>
            <a:r>
              <a:rPr lang="en-US" sz="2400" dirty="0"/>
              <a:t>4. </a:t>
            </a:r>
            <a:r>
              <a:rPr lang="en-US" sz="2400" b="1" dirty="0"/>
              <a:t>MIMD: </a:t>
            </a:r>
            <a:r>
              <a:rPr lang="en-US" sz="2400" dirty="0"/>
              <a:t>Multiple instruction streams, multiple data streams</a:t>
            </a:r>
          </a:p>
          <a:p>
            <a:pPr marL="0" indent="0">
              <a:lnSpc>
                <a:spcPct val="90000"/>
              </a:lnSpc>
              <a:buSzPct val="100000"/>
              <a:buFont typeface="Arial" panose="020B0604020202020204" pitchFamily="34" charset="0"/>
              <a:buNone/>
            </a:pPr>
            <a:r>
              <a:rPr lang="en-US" sz="2400" dirty="0"/>
              <a:t>    </a:t>
            </a:r>
            <a:r>
              <a:rPr lang="en-US" dirty="0"/>
              <a:t>offers </a:t>
            </a:r>
            <a:r>
              <a:rPr lang="en-US" u="sng" dirty="0"/>
              <a:t>Thread-Level Parallelism</a:t>
            </a:r>
            <a:r>
              <a:rPr lang="en-US" dirty="0"/>
              <a:t> </a:t>
            </a:r>
            <a:r>
              <a:rPr lang="en-US" i="1" dirty="0"/>
              <a:t>(independent steps)</a:t>
            </a:r>
            <a:r>
              <a:rPr lang="en-US" dirty="0"/>
              <a:t>, </a:t>
            </a:r>
          </a:p>
          <a:p>
            <a:r>
              <a:rPr lang="en-US" dirty="0"/>
              <a:t>    making it popular, flexible, and cost-effective.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i="1" u="sng" dirty="0"/>
              <a:t>For reference:</a:t>
            </a:r>
          </a:p>
          <a:p>
            <a:r>
              <a:rPr lang="en-US" sz="1200" b="1" u="none" dirty="0"/>
              <a:t>Locked step </a:t>
            </a:r>
            <a:r>
              <a:rPr lang="en-US" dirty="0"/>
              <a:t>refers to a principle in parallel computing where multiple processing units execute the </a:t>
            </a:r>
            <a:r>
              <a:rPr lang="en-US" b="1" dirty="0"/>
              <a:t>same instruction at the exact same time</a:t>
            </a:r>
            <a:r>
              <a:rPr lang="en-US" dirty="0"/>
              <a:t> (often in the same clock cycle), but on </a:t>
            </a:r>
            <a:r>
              <a:rPr lang="en-US" b="1" dirty="0"/>
              <a:t>different pieces of data</a:t>
            </a:r>
            <a:r>
              <a:rPr lang="en-US" dirty="0"/>
              <a:t>.</a:t>
            </a:r>
          </a:p>
          <a:p>
            <a:endParaRPr lang="en-US" sz="1200" u="none" dirty="0"/>
          </a:p>
          <a:p>
            <a:r>
              <a:rPr lang="en-US" dirty="0"/>
              <a:t>Because they must execute the same instruction simultaneously, units cannot independently follow different execution paths (e.g., one unit taking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en-US" dirty="0"/>
              <a:t> branch while another takes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else</a:t>
            </a:r>
            <a:r>
              <a:rPr lang="en-US" dirty="0"/>
              <a:t> branch). </a:t>
            </a:r>
          </a:p>
          <a:p>
            <a:endParaRPr lang="en-US" dirty="0"/>
          </a:p>
          <a:p>
            <a:r>
              <a:rPr lang="en-US" dirty="0"/>
              <a:t>If a conditional is met for only some data elements, the other units must wait or be masked, leading to potential idle time.</a:t>
            </a:r>
          </a:p>
          <a:p>
            <a:endParaRPr lang="en-US" sz="120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138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Parallel architecture is defined by how processors and communication are structured.</a:t>
            </a:r>
          </a:p>
          <a:p>
            <a:r>
              <a:rPr lang="en-US" b="0" dirty="0"/>
              <a:t>Essentially, </a:t>
            </a:r>
            <a:r>
              <a:rPr lang="en-US" b="1" dirty="0"/>
              <a:t>Parallel Architecture</a:t>
            </a:r>
            <a:r>
              <a:rPr lang="en-US" dirty="0"/>
              <a:t> is the sum of </a:t>
            </a:r>
            <a:r>
              <a:rPr lang="en-US" b="1" dirty="0"/>
              <a:t>Processor Architecture</a:t>
            </a:r>
            <a:r>
              <a:rPr lang="en-US" dirty="0"/>
              <a:t> and </a:t>
            </a:r>
            <a:r>
              <a:rPr lang="en-US" b="1" dirty="0"/>
              <a:t>Communication Architecture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Communication Architecture</a:t>
            </a:r>
            <a:r>
              <a:rPr lang="en-US" dirty="0"/>
              <a:t> includes </a:t>
            </a:r>
            <a:r>
              <a:rPr lang="en-US" b="1" dirty="0"/>
              <a:t>both</a:t>
            </a:r>
            <a:r>
              <a:rPr lang="en-US" dirty="0"/>
              <a:t> network and system bus structures, </a:t>
            </a:r>
          </a:p>
          <a:p>
            <a:r>
              <a:rPr lang="en-US" dirty="0"/>
              <a:t>as it refers to the entire mechanism by which processors exchange data and coordinate.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1" dirty="0"/>
              <a:t>(arrow down)</a:t>
            </a:r>
          </a:p>
          <a:p>
            <a:r>
              <a:rPr lang="en-US" dirty="0"/>
              <a:t>Multiprocessor systems are classified by their memory architecture, </a:t>
            </a:r>
          </a:p>
          <a:p>
            <a:r>
              <a:rPr lang="en-US" dirty="0"/>
              <a:t>which directly impacts how threads share and access data.</a:t>
            </a:r>
          </a:p>
          <a:p>
            <a:endParaRPr lang="en-US" dirty="0"/>
          </a:p>
          <a:p>
            <a:r>
              <a:rPr lang="en-US" b="0" u="sng" dirty="0">
                <a:latin typeface="Calibri"/>
                <a:cs typeface="Calibri"/>
              </a:rPr>
              <a:t>Two classes</a:t>
            </a:r>
            <a:r>
              <a:rPr lang="en-US" u="sng" dirty="0"/>
              <a:t>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b="1" dirty="0"/>
              <a:t>Centralized Memory Multiprocessor</a:t>
            </a:r>
            <a:r>
              <a:rPr lang="en-US" dirty="0"/>
              <a:t> </a:t>
            </a:r>
            <a:br>
              <a:rPr lang="en-US" dirty="0"/>
            </a:br>
            <a:r>
              <a:rPr lang="en-US" b="1" dirty="0"/>
              <a:t>Scale:</a:t>
            </a:r>
            <a:r>
              <a:rPr lang="en-US" dirty="0"/>
              <a:t> It is primarily used for </a:t>
            </a:r>
            <a:r>
              <a:rPr lang="en-US" b="1" dirty="0"/>
              <a:t>smaller systems</a:t>
            </a:r>
            <a:r>
              <a:rPr lang="en-US" dirty="0"/>
              <a:t>, typically supporting less than a few dozen processor chips or fewer than 100 cores.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Memory: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Shares a single memory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Bandwidth/Access: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cores contend for the same memory bus. (</a:t>
            </a:r>
            <a:r>
              <a:rPr lang="en-US" u="sng" dirty="0"/>
              <a:t>system bus</a:t>
            </a:r>
            <a:r>
              <a:rPr lang="en-US" dirty="0"/>
              <a:t>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b="0" i="1" dirty="0"/>
              <a:t>(arrow down)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lang="en-US" b="1" dirty="0"/>
              <a:t>Physically Distributed-Memory Multiprocessor</a:t>
            </a:r>
            <a:r>
              <a:rPr lang="en-US" dirty="0"/>
              <a:t> </a:t>
            </a:r>
            <a:br>
              <a:rPr lang="en-US" dirty="0"/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Scale/Cores: </a:t>
            </a:r>
            <a:r>
              <a:rPr lang="en-US" dirty="0"/>
              <a:t>Larger scale (chips and cores)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Memory: </a:t>
            </a:r>
            <a:r>
              <a:rPr lang="en-US" b="0" u="sng" dirty="0"/>
              <a:t>Distributes memory</a:t>
            </a:r>
            <a:r>
              <a:rPr lang="en-US" b="0" dirty="0"/>
              <a:t> </a:t>
            </a:r>
            <a:r>
              <a:rPr lang="en-US" dirty="0"/>
              <a:t>across the system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Bandwidth/Access: </a:t>
            </a:r>
            <a:r>
              <a:rPr lang="en-US" dirty="0"/>
              <a:t>Distributes bandwidth to meet massive demand. (</a:t>
            </a:r>
            <a:r>
              <a:rPr lang="en-US" u="sng" dirty="0"/>
              <a:t>interconnection network</a:t>
            </a:r>
            <a:r>
              <a:rPr lang="en-US" dirty="0"/>
              <a:t>)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249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&gt;&gt;</a:t>
            </a:r>
          </a:p>
          <a:p>
            <a:r>
              <a:rPr lang="en-US" b="1" u="sng" dirty="0"/>
              <a:t>Centralized Memory</a:t>
            </a:r>
            <a:r>
              <a:rPr lang="en-US" b="1" u="none" dirty="0"/>
              <a:t> </a:t>
            </a:r>
          </a:p>
          <a:p>
            <a:r>
              <a:rPr lang="en-US" dirty="0"/>
              <a:t>is "bad" because all memory access delays are large. </a:t>
            </a:r>
          </a:p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Structure:</a:t>
            </a:r>
          </a:p>
          <a:p>
            <a:r>
              <a:rPr lang="en-US" dirty="0"/>
              <a:t>It consists of multiple processors and caches connected to a single, unified memory via an interconnection network (typically a bus or crossbar switch).</a:t>
            </a:r>
          </a:p>
          <a:p>
            <a:r>
              <a:rPr lang="en-US" i="1" dirty="0"/>
              <a:t>(The </a:t>
            </a:r>
            <a:r>
              <a:rPr lang="en-US" b="1" i="1" dirty="0"/>
              <a:t>system bus</a:t>
            </a:r>
            <a:r>
              <a:rPr lang="en-US" i="1" dirty="0"/>
              <a:t> is the primary communication mechanism.)</a:t>
            </a:r>
          </a:p>
          <a:p>
            <a:endParaRPr lang="en-US" dirty="0"/>
          </a:p>
          <a:p>
            <a:r>
              <a:rPr lang="en-US" b="1" dirty="0"/>
              <a:t>Limitation:</a:t>
            </a:r>
            <a:r>
              <a:rPr lang="en-US" dirty="0"/>
              <a:t> It is a </a:t>
            </a:r>
            <a:r>
              <a:rPr lang="en-US" b="1" dirty="0"/>
              <a:t>contention bottleneck</a:t>
            </a:r>
            <a:r>
              <a:rPr lang="en-US" dirty="0"/>
              <a:t>. </a:t>
            </a:r>
          </a:p>
          <a:p>
            <a:r>
              <a:rPr lang="en-US" dirty="0"/>
              <a:t>As the number of cores increases, the limited bandwidth of the bus cannot meet the increasing demand, </a:t>
            </a:r>
          </a:p>
          <a:p>
            <a:r>
              <a:rPr lang="en-US" dirty="0"/>
              <a:t>which is why this architecture doesn't scale well to massive systems.</a:t>
            </a:r>
          </a:p>
          <a:p>
            <a:endParaRPr lang="en-US" b="1" dirty="0"/>
          </a:p>
          <a:p>
            <a:r>
              <a:rPr lang="en-US" b="1" u="sng" dirty="0"/>
              <a:t>Distributed Memory</a:t>
            </a:r>
            <a:endParaRPr lang="en-US" b="1" u="none" dirty="0"/>
          </a:p>
          <a:p>
            <a:r>
              <a:rPr lang="en-US" dirty="0"/>
              <a:t>is "good" because memory is distributed across the system, allowing </a:t>
            </a:r>
            <a:r>
              <a:rPr lang="en-US" b="1" dirty="0"/>
              <a:t>most memory accesses to be local and fast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b="1" dirty="0"/>
              <a:t>Necessity:</a:t>
            </a:r>
            <a:r>
              <a:rPr lang="en-US" dirty="0"/>
              <a:t> </a:t>
            </a:r>
          </a:p>
          <a:p>
            <a:r>
              <a:rPr lang="en-US" dirty="0"/>
              <a:t>This architecture is essential because it allows the total system memory bandwidth to </a:t>
            </a:r>
            <a:r>
              <a:rPr lang="en-US" b="1" dirty="0"/>
              <a:t>scale</a:t>
            </a:r>
            <a:r>
              <a:rPr lang="en-US" dirty="0"/>
              <a:t> with the number of processors, </a:t>
            </a:r>
          </a:p>
          <a:p>
            <a:r>
              <a:rPr lang="en-US" i="1" dirty="0"/>
              <a:t>(meeting the massive data demands of large-scale parallelism.)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i="1" u="sng" dirty="0"/>
              <a:t>For reference: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(Dance Hall MP)</a:t>
            </a:r>
            <a:r>
              <a:rPr lang="en-US" dirty="0"/>
              <a:t> </a:t>
            </a:r>
          </a:p>
          <a:p>
            <a:r>
              <a:rPr lang="en-US" dirty="0"/>
              <a:t>The colloquial nickname describes the key limitation of the centralized memory architecture: </a:t>
            </a:r>
          </a:p>
          <a:p>
            <a:r>
              <a:rPr lang="en-US" dirty="0"/>
              <a:t>all processors must share access to the same memory bank, which creates heavy contention.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crossbar switch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switching device arranged in a matrix configuration, where multiple input and output lines intersect, forming a grid.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each intersection (called a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crosspoint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a switch can be closed to establish a direct connection between an input and an output.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architecture enables flexible and simultaneous routing of signals in telecommunications, computing, and electronics.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0354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latin typeface="Calibri"/>
                <a:cs typeface="Calibri"/>
              </a:rPr>
              <a:t>&gt;&gt;</a:t>
            </a:r>
          </a:p>
          <a:p>
            <a:r>
              <a:rPr lang="en-US" b="1" dirty="0">
                <a:latin typeface="Calibri"/>
                <a:cs typeface="Calibri"/>
              </a:rPr>
              <a:t>Centralized</a:t>
            </a:r>
            <a:r>
              <a:rPr lang="en-US" b="1" spc="-49" dirty="0"/>
              <a:t> </a:t>
            </a:r>
            <a:r>
              <a:rPr lang="en-US" b="1" spc="-49" dirty="0">
                <a:latin typeface="Calibri"/>
                <a:cs typeface="Calibri"/>
              </a:rPr>
              <a:t>M</a:t>
            </a:r>
            <a:r>
              <a:rPr lang="en-US" b="1" dirty="0">
                <a:latin typeface="Calibri"/>
                <a:cs typeface="Calibri"/>
              </a:rPr>
              <a:t>emory</a:t>
            </a:r>
            <a:r>
              <a:rPr lang="en-US" b="1" spc="-49" dirty="0"/>
              <a:t> </a:t>
            </a:r>
            <a:r>
              <a:rPr lang="en-US" b="1" spc="-9" dirty="0"/>
              <a:t>Multiprocessor</a:t>
            </a:r>
            <a:r>
              <a:rPr lang="en-US" b="0" spc="-9" dirty="0"/>
              <a:t> is also known as </a:t>
            </a:r>
            <a:r>
              <a:rPr lang="en-US" b="1" dirty="0"/>
              <a:t>Symmetric Multiprocessors (SMPs)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Scaling Limit:</a:t>
            </a:r>
            <a:r>
              <a:rPr lang="en-US" dirty="0"/>
              <a:t> </a:t>
            </a:r>
          </a:p>
          <a:p>
            <a:r>
              <a:rPr lang="en-US" dirty="0"/>
              <a:t>While a single shared memory bus can satisfy the demands of a small number of processors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 17,</a:t>
            </a:r>
            <a:r>
              <a:rPr lang="en-US" dirty="0"/>
              <a:t> </a:t>
            </a:r>
          </a:p>
          <a:p>
            <a:r>
              <a:rPr lang="en-US" dirty="0"/>
              <a:t>scaling beyond that (up to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 65</a:t>
            </a:r>
            <a:r>
              <a:rPr lang="en-US" dirty="0"/>
              <a:t> processors) using a </a:t>
            </a:r>
            <a:r>
              <a:rPr lang="en-US" u="sng" dirty="0"/>
              <a:t>crossbar switch</a:t>
            </a:r>
            <a:r>
              <a:rPr lang="en-US" dirty="0"/>
              <a:t> becomes less attractive as the number of processors increases.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i="1" u="sng" dirty="0"/>
              <a:t>For reference:</a:t>
            </a:r>
          </a:p>
          <a:p>
            <a:r>
              <a:rPr lang="en-US" dirty="0"/>
              <a:t>A </a:t>
            </a:r>
            <a:r>
              <a:rPr lang="en-US" b="1" dirty="0"/>
              <a:t>crossbar switch</a:t>
            </a:r>
            <a:r>
              <a:rPr lang="en-US" dirty="0"/>
              <a:t> is an interconnection network used in computer architecture, </a:t>
            </a:r>
          </a:p>
          <a:p>
            <a:r>
              <a:rPr lang="en-US" dirty="0"/>
              <a:t>primarily to connect multiple processors to multiple memory banks in a </a:t>
            </a:r>
            <a:r>
              <a:rPr lang="en-US" b="1" dirty="0"/>
              <a:t>Centralized Memory Multiprocessor</a:t>
            </a:r>
            <a:r>
              <a:rPr lang="en-US" dirty="0"/>
              <a:t> system.</a:t>
            </a:r>
          </a:p>
          <a:p>
            <a:r>
              <a:rPr lang="en-US" dirty="0"/>
              <a:t>It allows any processor to access any memory bank without contention from other processors accessing </a:t>
            </a:r>
            <a:r>
              <a:rPr lang="en-US" i="1" dirty="0"/>
              <a:t>different</a:t>
            </a:r>
            <a:r>
              <a:rPr lang="en-US" dirty="0"/>
              <a:t> memory banks.</a:t>
            </a:r>
          </a:p>
          <a:p>
            <a:endParaRPr lang="en-US" i="1" u="sng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crossbar switch is a non-blocking switch network that connects N inputs (e.g., processors) to M outputs (e.g., memory banks or other processors).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a grid-like structure where horizontal lines (inputs) and vertical lines (outputs) intersect.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each intersection, there is a small switch that can be opened or closed to establish a direct connection between a specific input and output.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Advantage (Concurrency):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allows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simultaneous, concurrent transfers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long as no two inputs try to access the same output at the same time.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provides much higher memory bandwidth than a single shared bus.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Centralized Memory Multiprocessors, it helps scale the system beyond the limits of a single shared bus, potentially accommodating up to around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65 processors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connecting them to many memory banks.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Limitation (Cost):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number of switches required is N x M. As the number of processors (N) increases, the cost and complexity of the crossbar grow quadratically, making scaling beyond a few dozen processors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less attractive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i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06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latin typeface="Calibri"/>
                <a:cs typeface="Calibri"/>
              </a:rPr>
              <a:t>&gt;&gt;</a:t>
            </a:r>
          </a:p>
          <a:p>
            <a:r>
              <a:rPr lang="en-US" b="1" dirty="0">
                <a:latin typeface="Calibri"/>
                <a:cs typeface="Calibri"/>
              </a:rPr>
              <a:t>Pros / Cons </a:t>
            </a:r>
            <a:r>
              <a:rPr lang="en-US" b="0" dirty="0">
                <a:latin typeface="Calibri"/>
                <a:cs typeface="Calibri"/>
              </a:rPr>
              <a:t>of </a:t>
            </a:r>
            <a:r>
              <a:rPr lang="en-US" b="1" dirty="0">
                <a:latin typeface="Calibri"/>
                <a:cs typeface="Calibri"/>
              </a:rPr>
              <a:t>Distributed</a:t>
            </a:r>
            <a:r>
              <a:rPr lang="en-US" b="1" spc="-53" dirty="0"/>
              <a:t> </a:t>
            </a:r>
            <a:r>
              <a:rPr lang="en-US" b="1" dirty="0">
                <a:latin typeface="Calibri"/>
                <a:cs typeface="Calibri"/>
              </a:rPr>
              <a:t>Memory</a:t>
            </a:r>
            <a:r>
              <a:rPr lang="en-US" b="1" spc="-53" dirty="0"/>
              <a:t> </a:t>
            </a:r>
            <a:r>
              <a:rPr lang="en-US" b="1" spc="-9" dirty="0"/>
              <a:t>Multiprocessor</a:t>
            </a:r>
          </a:p>
          <a:p>
            <a:endParaRPr lang="en-US" b="1" dirty="0"/>
          </a:p>
          <a:p>
            <a:r>
              <a:rPr lang="en-US" b="1" dirty="0"/>
              <a:t>Pros:</a:t>
            </a:r>
            <a:r>
              <a:rPr lang="en-US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Cost-effective way to scale memory bandwidth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reduces latency of local memory accesses. </a:t>
            </a:r>
          </a:p>
          <a:p>
            <a:endParaRPr lang="en-US" b="1" dirty="0"/>
          </a:p>
          <a:p>
            <a:r>
              <a:rPr lang="en-US" b="0" i="1" dirty="0"/>
              <a:t>(arrow down)</a:t>
            </a:r>
          </a:p>
          <a:p>
            <a:r>
              <a:rPr lang="en-US" b="1" dirty="0"/>
              <a:t>Cons:</a:t>
            </a:r>
            <a:r>
              <a:rPr lang="en-US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Needs more complex hardware for rapid data communication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requires software changes to utilize the increased memory bandwidth.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820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&gt;&gt;</a:t>
            </a:r>
          </a:p>
          <a:p>
            <a:r>
              <a:rPr lang="en-US" b="1" dirty="0"/>
              <a:t>Message-passing multiprocessors</a:t>
            </a:r>
            <a:r>
              <a:rPr lang="en-US" dirty="0"/>
              <a:t> </a:t>
            </a:r>
          </a:p>
          <a:p>
            <a:r>
              <a:rPr lang="en-US" dirty="0"/>
              <a:t>communicate via explicitly passed (high latency) messages; e.g., warehouse-scale computers. </a:t>
            </a:r>
          </a:p>
          <a:p>
            <a:endParaRPr lang="en-US" b="1" dirty="0"/>
          </a:p>
          <a:p>
            <a:r>
              <a:rPr lang="en-US" b="0" i="1" dirty="0"/>
              <a:t>(arrow down)</a:t>
            </a:r>
          </a:p>
          <a:p>
            <a:r>
              <a:rPr lang="en-US" b="1" dirty="0"/>
              <a:t>Distributed Shared Memory</a:t>
            </a:r>
            <a:r>
              <a:rPr lang="en-US" dirty="0"/>
              <a:t> </a:t>
            </a:r>
          </a:p>
          <a:p>
            <a:r>
              <a:rPr lang="en-US" dirty="0"/>
              <a:t>communicates via a shared address space (via loads / stores). </a:t>
            </a:r>
          </a:p>
          <a:p>
            <a:endParaRPr lang="en-US" dirty="0"/>
          </a:p>
          <a:p>
            <a:r>
              <a:rPr lang="en-US" u="sng" dirty="0"/>
              <a:t>Types of shared address space are: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UMA (Uniform Memory Access)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for centralized memory</a:t>
            </a:r>
            <a:r>
              <a:rPr lang="en-US" spc="-9" dirty="0"/>
              <a:t> multiprocessor </a:t>
            </a:r>
            <a:r>
              <a:rPr lang="en-US" dirty="0"/>
              <a:t>(Symmetric shared-memory)</a:t>
            </a:r>
            <a:br>
              <a:rPr lang="en-US" dirty="0"/>
            </a:b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NUMA (Non-Uniform Memory Access)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for distributed memory </a:t>
            </a:r>
            <a:r>
              <a:rPr lang="en-US" spc="-9" dirty="0"/>
              <a:t>multiprocessor  </a:t>
            </a:r>
            <a:r>
              <a:rPr lang="en-US" dirty="0"/>
              <a:t>(Distributed shared-memory).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987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The first challenge </a:t>
            </a:r>
            <a:r>
              <a:rPr lang="en-US" b="0" dirty="0">
                <a:latin typeface="Calibri"/>
                <a:cs typeface="Calibri"/>
              </a:rPr>
              <a:t>of</a:t>
            </a:r>
            <a:r>
              <a:rPr lang="en-US" spc="-26" dirty="0"/>
              <a:t> </a:t>
            </a:r>
            <a:r>
              <a:rPr lang="en-US" b="0" u="sng" spc="-26" dirty="0">
                <a:latin typeface="Calibri"/>
                <a:cs typeface="Calibri"/>
              </a:rPr>
              <a:t>p</a:t>
            </a:r>
            <a:r>
              <a:rPr lang="en-US" b="0" u="sng" dirty="0">
                <a:latin typeface="Calibri"/>
                <a:cs typeface="Calibri"/>
              </a:rPr>
              <a:t>arallel</a:t>
            </a:r>
            <a:r>
              <a:rPr lang="en-US" u="sng" spc="-22" dirty="0"/>
              <a:t> </a:t>
            </a:r>
            <a:r>
              <a:rPr lang="en-US" u="sng" spc="-9" dirty="0"/>
              <a:t>processing</a:t>
            </a:r>
            <a:r>
              <a:rPr lang="en-US" u="none" spc="-9" dirty="0"/>
              <a:t> </a:t>
            </a:r>
            <a:r>
              <a:rPr lang="en-US" dirty="0"/>
              <a:t>is knowing the percentage of the program that is inherently sequential. </a:t>
            </a:r>
          </a:p>
          <a:p>
            <a:endParaRPr lang="en-US" dirty="0"/>
          </a:p>
          <a:p>
            <a:r>
              <a:rPr lang="en-US" b="1" dirty="0"/>
              <a:t>Amdahl’s Law </a:t>
            </a:r>
            <a:r>
              <a:rPr lang="en-US" dirty="0"/>
              <a:t>shows that for an 80X speedup from 100 processors;</a:t>
            </a:r>
          </a:p>
          <a:p>
            <a:r>
              <a:rPr lang="en-US" dirty="0"/>
              <a:t>the sequential fraction of the program must be only </a:t>
            </a:r>
            <a:r>
              <a:rPr lang="en-US" b="1" dirty="0"/>
              <a:t>1/4%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b="1" dirty="0"/>
              <a:t>Conclusion: </a:t>
            </a:r>
          </a:p>
          <a:p>
            <a:r>
              <a:rPr lang="en-US" b="0" dirty="0"/>
              <a:t>For most programs this means </a:t>
            </a:r>
            <a:r>
              <a:rPr lang="en-US" b="1" dirty="0"/>
              <a:t>"Insufficient parallelism!!"</a:t>
            </a:r>
            <a:r>
              <a:rPr lang="en-US" b="0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4350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The second challenge </a:t>
            </a:r>
            <a:r>
              <a:rPr lang="en-US" b="0" dirty="0">
                <a:latin typeface="Calibri"/>
                <a:cs typeface="Calibri"/>
              </a:rPr>
              <a:t>of</a:t>
            </a:r>
            <a:r>
              <a:rPr lang="en-US" spc="-26" dirty="0"/>
              <a:t> </a:t>
            </a:r>
            <a:r>
              <a:rPr lang="en-US" b="0" u="sng" spc="-26" dirty="0">
                <a:latin typeface="Calibri"/>
                <a:cs typeface="Calibri"/>
              </a:rPr>
              <a:t>p</a:t>
            </a:r>
            <a:r>
              <a:rPr lang="en-US" b="0" u="sng" dirty="0">
                <a:latin typeface="Calibri"/>
                <a:cs typeface="Calibri"/>
              </a:rPr>
              <a:t>arallel</a:t>
            </a:r>
            <a:r>
              <a:rPr lang="en-US" u="sng" spc="-22" dirty="0"/>
              <a:t> </a:t>
            </a:r>
            <a:r>
              <a:rPr lang="en-US" u="sng" spc="-9" dirty="0"/>
              <a:t>processing</a:t>
            </a:r>
            <a:r>
              <a:rPr lang="en-US" spc="-9" dirty="0"/>
              <a:t> (particularly with distributed shared-memory) </a:t>
            </a:r>
            <a:r>
              <a:rPr lang="en-US" dirty="0"/>
              <a:t>is long latency to remote memory. </a:t>
            </a:r>
          </a:p>
          <a:p>
            <a:endParaRPr lang="en-US" dirty="0"/>
          </a:p>
          <a:p>
            <a:r>
              <a:rPr lang="en-US" b="1" dirty="0"/>
              <a:t>Architecture: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/>
                <a:cs typeface="Calibri"/>
              </a:rPr>
              <a:t>32</a:t>
            </a:r>
            <a:r>
              <a:rPr lang="en-US" sz="1200" spc="57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core</a:t>
            </a:r>
            <a:r>
              <a:rPr lang="en-US" sz="1200" spc="66" dirty="0">
                <a:latin typeface="Calibri"/>
                <a:cs typeface="Calibri"/>
              </a:rPr>
              <a:t> m</a:t>
            </a:r>
            <a:r>
              <a:rPr lang="en-US" sz="1200" dirty="0">
                <a:latin typeface="Calibri"/>
                <a:cs typeface="Calibri"/>
              </a:rPr>
              <a:t>ultiprocessor at 3.33GHz</a:t>
            </a:r>
            <a:endParaRPr lang="en-US" sz="1200" spc="53" dirty="0">
              <a:latin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/>
                <a:cs typeface="Calibri"/>
              </a:rPr>
              <a:t>200</a:t>
            </a:r>
            <a:r>
              <a:rPr lang="en-US" sz="1200" spc="53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ns</a:t>
            </a:r>
            <a:r>
              <a:rPr lang="en-US" sz="1200" spc="57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(=</a:t>
            </a:r>
            <a:r>
              <a:rPr lang="en-US" sz="1200" spc="66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666</a:t>
            </a:r>
            <a:r>
              <a:rPr lang="en-US" sz="1200" spc="57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clocks)</a:t>
            </a:r>
            <a:r>
              <a:rPr lang="en-US" sz="1200" spc="53" dirty="0">
                <a:latin typeface="Calibri"/>
                <a:cs typeface="Calibri"/>
              </a:rPr>
              <a:t> </a:t>
            </a:r>
            <a:r>
              <a:rPr lang="en-US" sz="1200" spc="-22" dirty="0">
                <a:latin typeface="Calibri"/>
                <a:cs typeface="Calibri"/>
              </a:rPr>
              <a:t>for </a:t>
            </a:r>
            <a:r>
              <a:rPr lang="en-US" sz="1200" dirty="0">
                <a:latin typeface="Calibri"/>
                <a:cs typeface="Calibri"/>
              </a:rPr>
              <a:t>remote</a:t>
            </a:r>
            <a:r>
              <a:rPr lang="en-US" sz="1200" spc="71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memory</a:t>
            </a:r>
            <a:r>
              <a:rPr lang="en-US" sz="1200" spc="66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access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latin typeface="Calibri"/>
                <a:cs typeface="Calibri"/>
              </a:rPr>
              <a:t>all</a:t>
            </a:r>
            <a:r>
              <a:rPr lang="en-US" sz="1200" spc="57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local</a:t>
            </a:r>
            <a:r>
              <a:rPr lang="en-US" sz="1200" spc="53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memory</a:t>
            </a:r>
            <a:r>
              <a:rPr lang="en-US" sz="1200" spc="66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references</a:t>
            </a:r>
            <a:r>
              <a:rPr lang="en-US" sz="1200" spc="62" dirty="0">
                <a:latin typeface="Calibri"/>
                <a:cs typeface="Calibri"/>
              </a:rPr>
              <a:t> </a:t>
            </a:r>
            <a:r>
              <a:rPr lang="en-US" sz="1200" spc="-22" dirty="0">
                <a:latin typeface="Calibri"/>
                <a:cs typeface="Calibri"/>
              </a:rPr>
              <a:t>are </a:t>
            </a:r>
            <a:r>
              <a:rPr lang="en-US" sz="1200" dirty="0">
                <a:latin typeface="Calibri"/>
                <a:cs typeface="Calibri"/>
              </a:rPr>
              <a:t>hit</a:t>
            </a:r>
            <a:r>
              <a:rPr lang="en-US" sz="1200" spc="22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in</a:t>
            </a:r>
            <a:r>
              <a:rPr lang="en-US" sz="1200" spc="40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the</a:t>
            </a:r>
            <a:r>
              <a:rPr lang="en-US" sz="1200" spc="40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cache</a:t>
            </a:r>
            <a:r>
              <a:rPr lang="en-US" sz="1200" spc="40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(assume</a:t>
            </a:r>
            <a:r>
              <a:rPr lang="en-US" sz="1200" spc="40" dirty="0">
                <a:latin typeface="Calibri"/>
                <a:cs typeface="Calibri"/>
              </a:rPr>
              <a:t> hit time </a:t>
            </a:r>
            <a:r>
              <a:rPr lang="en-US" sz="1200" dirty="0">
                <a:latin typeface="Calibri"/>
                <a:cs typeface="Calibri"/>
              </a:rPr>
              <a:t>=</a:t>
            </a:r>
            <a:r>
              <a:rPr lang="en-US" sz="1200" spc="35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0)</a:t>
            </a:r>
            <a:endParaRPr lang="en-US" sz="1200" u="none" spc="26" dirty="0">
              <a:uFillTx/>
              <a:latin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u="none" spc="26" dirty="0">
                <a:uFillTx/>
                <a:latin typeface="Calibri"/>
                <a:cs typeface="Calibri"/>
              </a:rPr>
              <a:t>and the b</a:t>
            </a:r>
            <a:r>
              <a:rPr lang="en-US" sz="1200" u="none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ase</a:t>
            </a:r>
            <a:r>
              <a:rPr lang="en-US" sz="1200" u="none" spc="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sz="1200" u="none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CPI</a:t>
            </a:r>
            <a:r>
              <a:rPr lang="en-US" sz="1200" u="none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sz="1200" u="none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lang="en-US" sz="1200" u="none" spc="3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sz="1200" u="none" spc="-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0.5</a:t>
            </a:r>
            <a:endParaRPr lang="en-US" sz="1200" u="none" spc="-18" dirty="0">
              <a:latin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CPI of 0.2% = Base CPI (no remote access) + Remote request rate * Remote request cost</a:t>
            </a:r>
          </a:p>
          <a:p>
            <a:r>
              <a:rPr lang="pt-BR" dirty="0"/>
              <a:t>CPI of 0.2% = 0.5 + 0.2% * 666 = 0.5 + 1.3 = 1.8</a:t>
            </a:r>
            <a:endParaRPr lang="en-US" dirty="0"/>
          </a:p>
          <a:p>
            <a:r>
              <a:rPr lang="en-US" sz="1200" dirty="0">
                <a:solidFill>
                  <a:srgbClr val="000090"/>
                </a:solidFill>
                <a:latin typeface="Times New Roman"/>
                <a:cs typeface="Times New Roman"/>
              </a:rPr>
              <a:t>1.8 / 0.5</a:t>
            </a:r>
            <a:r>
              <a:rPr lang="en-US" sz="1200" spc="9" dirty="0">
                <a:solidFill>
                  <a:srgbClr val="000090"/>
                </a:solidFill>
                <a:latin typeface="Times New Roman"/>
                <a:cs typeface="Times New Roman"/>
              </a:rPr>
              <a:t> = </a:t>
            </a:r>
            <a:r>
              <a:rPr lang="en-US" sz="1200" u="none" spc="-300" dirty="0">
                <a:solidFill>
                  <a:srgbClr val="000090"/>
                </a:solidFill>
                <a:uFill>
                  <a:solidFill>
                    <a:srgbClr val="00009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1200" u="none" dirty="0">
                <a:solidFill>
                  <a:srgbClr val="000090"/>
                </a:solidFill>
                <a:uFill>
                  <a:solidFill>
                    <a:srgbClr val="000090"/>
                  </a:solidFill>
                </a:uFill>
                <a:latin typeface="Times New Roman"/>
                <a:cs typeface="Times New Roman"/>
              </a:rPr>
              <a:t>3.6</a:t>
            </a:r>
            <a:r>
              <a:rPr lang="en-US" sz="1200" u="none" spc="9" dirty="0">
                <a:solidFill>
                  <a:srgbClr val="000090"/>
                </a:solidFill>
                <a:uFill>
                  <a:solidFill>
                    <a:srgbClr val="000090"/>
                  </a:solidFill>
                </a:uFill>
                <a:latin typeface="Times New Roman"/>
                <a:cs typeface="Times New Roman"/>
              </a:rPr>
              <a:t> times faster</a:t>
            </a:r>
          </a:p>
          <a:p>
            <a:endParaRPr lang="en-US" dirty="0"/>
          </a:p>
          <a:p>
            <a:r>
              <a:rPr lang="en-US" b="1" dirty="0"/>
              <a:t>Conclusion: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The result is </a:t>
            </a:r>
            <a:r>
              <a:rPr lang="en-US" b="1" dirty="0"/>
              <a:t>3.6 times faster execution </a:t>
            </a:r>
            <a:r>
              <a:rPr lang="en-US" dirty="0"/>
              <a:t>when using all local accesses for the 0.2% of instructions.</a:t>
            </a:r>
          </a:p>
          <a:p>
            <a:r>
              <a:rPr lang="en-US" b="0" dirty="0"/>
              <a:t>“Long-latency for remote communication !!".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171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&gt;&gt;</a:t>
            </a:r>
          </a:p>
          <a:p>
            <a:r>
              <a:rPr lang="en-US" b="0" dirty="0">
                <a:latin typeface="Calibri"/>
                <a:cs typeface="Calibri"/>
              </a:rPr>
              <a:t>To solve</a:t>
            </a:r>
            <a:r>
              <a:rPr lang="en-US" spc="-4" dirty="0"/>
              <a:t> the </a:t>
            </a:r>
            <a:r>
              <a:rPr lang="en-US" b="0" spc="-4" dirty="0">
                <a:latin typeface="Calibri"/>
                <a:cs typeface="Calibri"/>
              </a:rPr>
              <a:t>c</a:t>
            </a:r>
            <a:r>
              <a:rPr lang="en-US" b="0" dirty="0">
                <a:latin typeface="Calibri"/>
                <a:cs typeface="Calibri"/>
              </a:rPr>
              <a:t>hallenges</a:t>
            </a:r>
            <a:r>
              <a:rPr lang="en-US" spc="-13" dirty="0"/>
              <a:t> </a:t>
            </a:r>
            <a:r>
              <a:rPr lang="en-US" b="0" dirty="0">
                <a:latin typeface="Calibri"/>
                <a:cs typeface="Calibri"/>
              </a:rPr>
              <a:t>of</a:t>
            </a:r>
            <a:r>
              <a:rPr lang="en-US" spc="-13" dirty="0"/>
              <a:t> </a:t>
            </a:r>
            <a:r>
              <a:rPr lang="en-US" b="0" spc="-13" dirty="0">
                <a:latin typeface="Calibri"/>
                <a:cs typeface="Calibri"/>
              </a:rPr>
              <a:t>p</a:t>
            </a:r>
            <a:r>
              <a:rPr lang="en-US" b="0" dirty="0">
                <a:latin typeface="Calibri"/>
                <a:cs typeface="Calibri"/>
              </a:rPr>
              <a:t>arallel</a:t>
            </a:r>
            <a:r>
              <a:rPr lang="en-US" spc="-4" dirty="0"/>
              <a:t> </a:t>
            </a:r>
            <a:r>
              <a:rPr lang="en-US" spc="-9" dirty="0"/>
              <a:t>processing,</a:t>
            </a:r>
            <a:endParaRPr lang="en-US" b="1" dirty="0"/>
          </a:p>
          <a:p>
            <a:endParaRPr lang="en-US" b="1" dirty="0"/>
          </a:p>
          <a:p>
            <a:pPr marL="228600" indent="-228600">
              <a:buAutoNum type="arabicPeriod"/>
            </a:pPr>
            <a:r>
              <a:rPr lang="en-US" b="1" dirty="0"/>
              <a:t>Application parallelism</a:t>
            </a:r>
            <a:r>
              <a:rPr lang="en-US" dirty="0"/>
              <a:t> needs new algorithms with better parallel performance. 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(arrow down)</a:t>
            </a:r>
          </a:p>
          <a:p>
            <a:pPr marL="228600" indent="-228600">
              <a:buAutoNum type="arabicPeriod"/>
            </a:pPr>
            <a:r>
              <a:rPr lang="en-US" dirty="0"/>
              <a:t>To mitigate </a:t>
            </a:r>
            <a:r>
              <a:rPr lang="en-US" b="1" dirty="0"/>
              <a:t>long remote latency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architects and programmers can reduce remote accesses by caching shared data (at the hardware level) </a:t>
            </a:r>
            <a:br>
              <a:rPr lang="en-US" dirty="0"/>
            </a:br>
            <a:r>
              <a:rPr lang="en-US" dirty="0"/>
              <a:t>or restructuring data layout to make more accesses local (at the software level).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105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none" dirty="0"/>
              <a:t>&gt;&gt;</a:t>
            </a:r>
          </a:p>
          <a:p>
            <a:r>
              <a:rPr lang="en-US" u="sng" dirty="0"/>
              <a:t>Caches store both: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Private data used by a single processor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shared data used by multiple processors</a:t>
            </a:r>
          </a:p>
          <a:p>
            <a:endParaRPr lang="en-US" dirty="0"/>
          </a:p>
          <a:p>
            <a:r>
              <a:rPr lang="en-US" i="1" dirty="0"/>
              <a:t>(arrow down)</a:t>
            </a:r>
          </a:p>
          <a:p>
            <a:r>
              <a:rPr lang="en-US" dirty="0"/>
              <a:t>Caching shared data reduces latency, memory bandwidth, and interconnect bandwidth for shared data. </a:t>
            </a:r>
          </a:p>
          <a:p>
            <a:endParaRPr lang="en-US" dirty="0"/>
          </a:p>
          <a:p>
            <a:r>
              <a:rPr lang="en-US" dirty="0"/>
              <a:t>However, caching shared data introduces the </a:t>
            </a:r>
            <a:r>
              <a:rPr lang="en-US" b="1" dirty="0"/>
              <a:t>cache coherence problem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337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  <a:endParaRPr lang="en-US" b="1" dirty="0"/>
          </a:p>
          <a:p>
            <a:r>
              <a:rPr lang="en-US" dirty="0"/>
              <a:t>The </a:t>
            </a:r>
            <a:r>
              <a:rPr lang="en-US" b="1" dirty="0"/>
              <a:t>Cache Coherence Problem</a:t>
            </a:r>
            <a:r>
              <a:rPr lang="en-US" dirty="0"/>
              <a:t> occurs when multiple processors in a multiprocessor system have cached copies of the same shared data, and one processor writes a new value. </a:t>
            </a:r>
          </a:p>
          <a:p>
            <a:r>
              <a:rPr lang="en-US" dirty="0"/>
              <a:t>This leads to </a:t>
            </a:r>
            <a:r>
              <a:rPr lang="en-US" b="1" dirty="0"/>
              <a:t>data inconsistency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Scenario Steps: 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(Variable u is initially 5)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P1 Reads u: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P1 reads u=5 from Memory.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(Memory u:5, P1 Cache u:5)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P3 Reads u: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P3 reads u=5 from Memory.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(Memory u:5, P3 Cache u:5)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P3 Writes u: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P3 writes a new value, u=7, to its local cache.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(P3 Cache $u:7$)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Inconsistency starts: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Memory still holds u:5.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P1 Reads u: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P1's cached value is u=5 (stale/old).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correct value is u=7.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P1 sees an inconsistent value (u=?).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 Reads u: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P2's cached value is u=5 (stale/old).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correct value is u=7.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 sees an inconsistent value (u=?).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 processors see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different, inconsistent values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the same variable (u) after one processor writes a new value.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Write-Back Caches: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problem is particularly acute with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write-back caches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a write updates the local cache but not main memory immediately.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Consequence: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Processes accessing main memory may see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"stale" values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Verdict: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unacceptable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programming, as writes to shared data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must be consistent and visible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all processors.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108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latin typeface="Calibri"/>
                <a:cs typeface="Calibri"/>
              </a:rPr>
              <a:t>&gt;&gt;</a:t>
            </a:r>
          </a:p>
          <a:p>
            <a:r>
              <a:rPr lang="en-US" b="1" dirty="0"/>
              <a:t>Example </a:t>
            </a:r>
            <a:r>
              <a:rPr lang="en-US" dirty="0"/>
              <a:t>(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A=0</a:t>
            </a:r>
            <a:r>
              <a:rPr lang="en-US" dirty="0"/>
              <a:t>,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flag=0</a:t>
            </a:r>
            <a:r>
              <a:rPr lang="en-US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none" spc="-9" dirty="0"/>
              <a:t>P1</a:t>
            </a:r>
            <a:br>
              <a:rPr lang="en-US" b="0" spc="-9" dirty="0"/>
            </a:br>
            <a:r>
              <a:rPr lang="en-US" b="0" spc="-9" dirty="0"/>
              <a:t>A=1;</a:t>
            </a:r>
            <a:br>
              <a:rPr lang="en-US" b="0" spc="-9" dirty="0"/>
            </a:br>
            <a:r>
              <a:rPr lang="en-US" b="0" spc="-9" dirty="0"/>
              <a:t>Flag=1;</a:t>
            </a:r>
            <a:br>
              <a:rPr lang="en-US" b="0" spc="-9" dirty="0"/>
            </a:br>
            <a:endParaRPr lang="en-US" b="0" spc="-9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i="0" u="none" spc="-9" dirty="0"/>
              <a:t>P2</a:t>
            </a:r>
            <a:br>
              <a:rPr lang="en-US" b="0" spc="-9" dirty="0"/>
            </a:br>
            <a:r>
              <a:rPr lang="en-US" b="0" spc="-9" dirty="0"/>
              <a:t>While(flag==0);</a:t>
            </a:r>
            <a:br>
              <a:rPr lang="en-US" b="0" spc="-9" dirty="0"/>
            </a:br>
            <a:r>
              <a:rPr lang="en-US" b="0" spc="-9" dirty="0"/>
              <a:t>Print A;</a:t>
            </a:r>
          </a:p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 Result: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P1 executes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A=1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before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flag=1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 must see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A=1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before it sees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flag=1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printed result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must be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A=1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Problem: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underlying hardware (e.g., a 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 buffer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reordering optimization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allows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 to see the write to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sees the write to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 may exit the loop and print the stale value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A=0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Conclusion: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expected result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guaranteed by cache coherence alone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 Coherence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only ensures consistency for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 memory location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(e.g., variable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formal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Memory Consistency Model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essential to ensure that all memory operations appear to occur in a predictable order to every processor.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predictability is required to maintain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 order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accesses (like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(to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memory locations by a single process, as well as the order of accesses to the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location by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processes.)</a:t>
            </a:r>
          </a:p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Order Requirement: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correct program execution, memory must respect: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 between accesses to different locations 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flag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issued by the same process (P1).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 among accesses to the same location by different processes.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2624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b="1" dirty="0"/>
              <a:t>The Intuitive Memory Model:</a:t>
            </a:r>
          </a:p>
          <a:p>
            <a:r>
              <a:rPr lang="en-US" dirty="0"/>
              <a:t>The goal is when reading an address to return the </a:t>
            </a:r>
            <a:r>
              <a:rPr lang="en-US" b="1" dirty="0"/>
              <a:t>last value written</a:t>
            </a:r>
            <a:r>
              <a:rPr lang="en-US" dirty="0"/>
              <a:t> to that address.</a:t>
            </a:r>
          </a:p>
          <a:p>
            <a:endParaRPr lang="en-US" dirty="0"/>
          </a:p>
          <a:p>
            <a:r>
              <a:rPr lang="en-US" b="1" dirty="0"/>
              <a:t>Coherence vs. Consistency:</a:t>
            </a:r>
          </a:p>
          <a:p>
            <a:r>
              <a:rPr lang="en-US" dirty="0"/>
              <a:t>Coherence and Consistency are two distinct issues that must be addressed in multiprocessor systems: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Coherence</a:t>
            </a:r>
            <a:r>
              <a:rPr lang="en-US" dirty="0"/>
              <a:t> defines the values returned by a read to the </a:t>
            </a:r>
            <a:r>
              <a:rPr lang="en-US" b="1" dirty="0"/>
              <a:t>same location</a:t>
            </a:r>
            <a:r>
              <a:rPr lang="en-US" dirty="0"/>
              <a:t>. (e.g., variable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en-US" dirty="0"/>
              <a:t>).</a:t>
            </a:r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Consistency</a:t>
            </a:r>
            <a:r>
              <a:rPr lang="en-US" dirty="0"/>
              <a:t> determines </a:t>
            </a:r>
            <a:r>
              <a:rPr lang="en-US" i="1" dirty="0"/>
              <a:t>when</a:t>
            </a:r>
            <a:r>
              <a:rPr lang="en-US" dirty="0"/>
              <a:t> each written value will be returned and defines behavior to </a:t>
            </a:r>
            <a:r>
              <a:rPr lang="en-US" b="1" dirty="0"/>
              <a:t>multiple locations</a:t>
            </a:r>
            <a:r>
              <a:rPr lang="en-US" dirty="0"/>
              <a:t>. (e.g.,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en-US" dirty="0"/>
              <a:t> and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flag</a:t>
            </a:r>
            <a:r>
              <a:rPr lang="en-US" dirty="0"/>
              <a:t>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1489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A coherent memory system must satisfy three requirements:</a:t>
            </a:r>
          </a:p>
          <a:p>
            <a:pPr marL="228600" indent="-228600">
              <a:buAutoNum type="arabicPeriod"/>
            </a:pPr>
            <a:r>
              <a:rPr lang="en-US" b="1" dirty="0"/>
              <a:t>Preserve Program Order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 processor reads its own write back.</a:t>
            </a:r>
            <a:br>
              <a:rPr lang="en-US" dirty="0"/>
            </a:br>
            <a:r>
              <a:rPr lang="en-US" i="1" dirty="0"/>
              <a:t>(arrow down)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b="1" dirty="0"/>
              <a:t>Coherent View of Memory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 processor reads another's new write.</a:t>
            </a:r>
            <a:br>
              <a:rPr lang="en-US" dirty="0"/>
            </a:br>
            <a:r>
              <a:rPr lang="en-US" i="1" dirty="0"/>
              <a:t>(arrow down)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b="1" dirty="0"/>
              <a:t>Write Serialization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two writes to the same location are seen in the same order by all processors.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4096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To enforce </a:t>
            </a:r>
            <a:r>
              <a:rPr lang="en-US" u="sng" dirty="0"/>
              <a:t>write consistency</a:t>
            </a:r>
            <a:r>
              <a:rPr lang="en-US" dirty="0"/>
              <a:t> for multiple variables, 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Write Completion Constraint:</a:t>
            </a:r>
            <a:br>
              <a:rPr lang="en-US" b="1" dirty="0"/>
            </a:br>
            <a:r>
              <a:rPr lang="en-US" dirty="0"/>
              <a:t>A write operation </a:t>
            </a:r>
            <a:r>
              <a:rPr lang="en-US" b="1" dirty="0"/>
              <a:t>must not complete</a:t>
            </a:r>
            <a:r>
              <a:rPr lang="en-US" dirty="0"/>
              <a:t> (i.e., not allow any next write to occur) until </a:t>
            </a:r>
            <a:r>
              <a:rPr lang="en-US" b="1" dirty="0"/>
              <a:t>all processors</a:t>
            </a:r>
            <a:r>
              <a:rPr lang="en-US" dirty="0"/>
              <a:t> have seen the effect of that write.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(arrow down)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Program Order Constraint (Write-to-Write Order):</a:t>
            </a:r>
            <a:br>
              <a:rPr lang="en-US" b="1" dirty="0"/>
            </a:br>
            <a:r>
              <a:rPr lang="en-US" dirty="0"/>
              <a:t>The processor </a:t>
            </a:r>
            <a:r>
              <a:rPr lang="en-US" b="1" dirty="0"/>
              <a:t>does not change the order</a:t>
            </a:r>
            <a:r>
              <a:rPr lang="en-US" dirty="0"/>
              <a:t> of any write with respect to any other memory access.</a:t>
            </a:r>
          </a:p>
          <a:p>
            <a:pPr marL="0" indent="0">
              <a:buFont typeface="+mj-lt"/>
              <a:buNone/>
            </a:pPr>
            <a:endParaRPr lang="en-US" b="1" dirty="0"/>
          </a:p>
          <a:p>
            <a:pPr marL="0" indent="0">
              <a:buFont typeface="+mj-lt"/>
              <a:buNone/>
            </a:pPr>
            <a:r>
              <a:rPr lang="en-US" b="1" dirty="0"/>
              <a:t>Implication: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Writes must be seen in the same order they were issued by the program </a:t>
            </a:r>
            <a:r>
              <a:rPr lang="en-US" i="1" dirty="0"/>
              <a:t>(finish writes in program order)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299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In a system with multiple processors, a single piece of data may exist in </a:t>
            </a:r>
            <a:r>
              <a:rPr lang="en-US" b="1" dirty="0"/>
              <a:t>copies</a:t>
            </a:r>
            <a:r>
              <a:rPr lang="en-US" dirty="0"/>
              <a:t> within several different processor caches.</a:t>
            </a:r>
          </a:p>
          <a:p>
            <a:endParaRPr lang="en-US" dirty="0"/>
          </a:p>
          <a:p>
            <a:r>
              <a:rPr lang="en-US" b="1" dirty="0"/>
              <a:t>Hardware Protocol for Coherence:</a:t>
            </a:r>
          </a:p>
          <a:p>
            <a:r>
              <a:rPr lang="en-US" dirty="0"/>
              <a:t>Symmetric Multiprocessors (</a:t>
            </a:r>
            <a:r>
              <a:rPr lang="en-US" b="1" dirty="0"/>
              <a:t>SMPs</a:t>
            </a:r>
            <a:r>
              <a:rPr lang="en-US" dirty="0"/>
              <a:t>) use a </a:t>
            </a:r>
            <a:r>
              <a:rPr lang="en-US" b="1" dirty="0"/>
              <a:t>Hardware protocol</a:t>
            </a:r>
            <a:r>
              <a:rPr lang="en-US" dirty="0"/>
              <a:t> to maintain </a:t>
            </a:r>
            <a:r>
              <a:rPr lang="en-US" b="1" dirty="0"/>
              <a:t>coherence</a:t>
            </a:r>
            <a:r>
              <a:rPr lang="en-US" dirty="0"/>
              <a:t> among the caches.</a:t>
            </a:r>
          </a:p>
          <a:p>
            <a:r>
              <a:rPr lang="en-US" i="1" dirty="0"/>
              <a:t>(This approach is favored over trying to avoid data sharing using software.)</a:t>
            </a:r>
          </a:p>
          <a:p>
            <a:endParaRPr lang="en-US" b="1" dirty="0"/>
          </a:p>
          <a:p>
            <a:r>
              <a:rPr lang="en-US" b="0" i="1" dirty="0"/>
              <a:t>(arrow down)</a:t>
            </a:r>
          </a:p>
          <a:p>
            <a:r>
              <a:rPr lang="en-US" b="1" dirty="0"/>
              <a:t>Migration</a:t>
            </a:r>
            <a:r>
              <a:rPr lang="en-US" dirty="0"/>
              <a:t> and </a:t>
            </a:r>
            <a:r>
              <a:rPr lang="en-US" b="1" dirty="0"/>
              <a:t>replication</a:t>
            </a:r>
            <a:r>
              <a:rPr lang="en-US" dirty="0"/>
              <a:t> are key to performance for shared data.</a:t>
            </a: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Migration</a:t>
            </a:r>
            <a:br>
              <a:rPr lang="en-US" b="1" dirty="0"/>
            </a:br>
            <a:r>
              <a:rPr lang="en-US" dirty="0"/>
              <a:t>Private data (when only one processor is using it) is moved (migrates) to a </a:t>
            </a:r>
            <a:r>
              <a:rPr lang="en-US" b="1" dirty="0"/>
              <a:t>local cache</a:t>
            </a:r>
            <a:r>
              <a:rPr lang="en-US" b="0" dirty="0"/>
              <a:t> and </a:t>
            </a:r>
            <a:r>
              <a:rPr lang="en-US" dirty="0"/>
              <a:t>used there transparently.</a:t>
            </a:r>
            <a:br>
              <a:rPr lang="en-US" dirty="0"/>
            </a:br>
            <a:r>
              <a:rPr lang="en-US" dirty="0"/>
              <a:t>This reduces both </a:t>
            </a:r>
            <a:r>
              <a:rPr lang="en-US" b="1" dirty="0"/>
              <a:t>latency</a:t>
            </a:r>
            <a:r>
              <a:rPr lang="en-US" dirty="0"/>
              <a:t> to access remotely allocated shared data and </a:t>
            </a:r>
            <a:r>
              <a:rPr lang="en-US" b="1" dirty="0"/>
              <a:t>bandwidth demand</a:t>
            </a:r>
            <a:r>
              <a:rPr lang="en-US" dirty="0"/>
              <a:t> on the shared memory and interconnection.</a:t>
            </a:r>
            <a:br>
              <a:rPr lang="en-US" dirty="0"/>
            </a:br>
            <a:br>
              <a:rPr lang="en-US" dirty="0"/>
            </a:br>
            <a:r>
              <a:rPr lang="en-US" b="0" i="1" dirty="0"/>
              <a:t>(arrow down)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Replication</a:t>
            </a:r>
            <a:r>
              <a:rPr lang="en-US" dirty="0"/>
              <a:t> (copies for reading) are key performance drivers, reducing latency and bandwidth demand.</a:t>
            </a:r>
            <a:br>
              <a:rPr lang="en-US" dirty="0"/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 for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reading shared data simultaneously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Copies are made in local caches.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reduces both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access and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read-shared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893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none" dirty="0"/>
              <a:t>&gt;&gt;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Coherence protocols maintain a </a:t>
            </a:r>
            <a:r>
              <a:rPr lang="en-US" b="1" dirty="0"/>
              <a:t>consistent view of memory</a:t>
            </a:r>
            <a:r>
              <a:rPr lang="en-US" dirty="0"/>
              <a:t> among multiple caches.</a:t>
            </a:r>
          </a:p>
          <a:p>
            <a:pPr marL="0" indent="0">
              <a:buNone/>
            </a:pPr>
            <a:endParaRPr lang="en-US" u="none" dirty="0"/>
          </a:p>
          <a:p>
            <a:pPr marL="0" indent="0">
              <a:buNone/>
            </a:pPr>
            <a:r>
              <a:rPr lang="en-US" u="sng" dirty="0"/>
              <a:t>There are two</a:t>
            </a:r>
            <a:r>
              <a:rPr lang="en-US" u="sng" spc="-40" dirty="0"/>
              <a:t> c</a:t>
            </a:r>
            <a:r>
              <a:rPr lang="en-US" u="sng" dirty="0"/>
              <a:t>lasses</a:t>
            </a:r>
            <a:r>
              <a:rPr lang="en-US" u="sng" spc="-35" dirty="0"/>
              <a:t> </a:t>
            </a:r>
            <a:r>
              <a:rPr lang="en-US" u="sng" dirty="0"/>
              <a:t>of</a:t>
            </a:r>
            <a:r>
              <a:rPr lang="en-US" u="sng" spc="-40" dirty="0"/>
              <a:t> </a:t>
            </a:r>
            <a:r>
              <a:rPr lang="en-US" u="sng" dirty="0"/>
              <a:t>Cache</a:t>
            </a:r>
            <a:r>
              <a:rPr lang="en-US" u="sng" spc="-35" dirty="0"/>
              <a:t> </a:t>
            </a:r>
            <a:r>
              <a:rPr lang="en-US" u="sng" dirty="0"/>
              <a:t>Coherence</a:t>
            </a:r>
            <a:r>
              <a:rPr lang="en-US" u="sng" spc="-40" dirty="0"/>
              <a:t> </a:t>
            </a:r>
            <a:r>
              <a:rPr lang="en-US" u="sng" spc="-9" dirty="0"/>
              <a:t>Protocols:</a:t>
            </a:r>
          </a:p>
          <a:p>
            <a:pPr marL="228600" indent="-228600">
              <a:buFont typeface="+mj-lt"/>
              <a:buAutoNum type="arabicPeriod"/>
            </a:pPr>
            <a:r>
              <a:rPr lang="en-US" b="0" dirty="0"/>
              <a:t>Snooping ("Snoopy“)</a:t>
            </a:r>
          </a:p>
          <a:p>
            <a:pPr marL="228600" indent="-228600">
              <a:buFont typeface="+mj-lt"/>
              <a:buAutoNum type="arabicPeriod"/>
            </a:pPr>
            <a:r>
              <a:rPr lang="en-US" b="0" dirty="0"/>
              <a:t>Directory-based</a:t>
            </a:r>
          </a:p>
          <a:p>
            <a:pPr marL="0" indent="0">
              <a:buFont typeface="+mj-lt"/>
              <a:buNone/>
            </a:pPr>
            <a:endParaRPr lang="en-US" b="0" i="1" u="none" spc="-9" dirty="0"/>
          </a:p>
          <a:p>
            <a:pPr marL="0" indent="0">
              <a:buFont typeface="+mj-lt"/>
              <a:buNone/>
            </a:pPr>
            <a:r>
              <a:rPr lang="en-US" b="0" i="1" u="none" spc="-9" dirty="0"/>
              <a:t>(arrow down)</a:t>
            </a:r>
            <a:endParaRPr lang="en-US" b="0" i="1" u="non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dirty="0"/>
              <a:t>Snooping ("Snoopy"):</a:t>
            </a:r>
            <a:r>
              <a:rPr lang="en-US" u="sng" dirty="0"/>
              <a:t> </a:t>
            </a:r>
            <a:br>
              <a:rPr lang="en-US" u="sng" dirty="0"/>
            </a:br>
            <a:r>
              <a:rPr lang="en-US" dirty="0"/>
              <a:t>Every cache controller </a:t>
            </a:r>
            <a:r>
              <a:rPr lang="en-US" b="1" dirty="0"/>
              <a:t>snoops</a:t>
            </a:r>
            <a:r>
              <a:rPr lang="en-US" dirty="0"/>
              <a:t> on a </a:t>
            </a:r>
            <a:r>
              <a:rPr lang="en-US" b="1" dirty="0"/>
              <a:t>shared bus</a:t>
            </a:r>
            <a:r>
              <a:rPr lang="en-US" dirty="0"/>
              <a:t> (broadcast medium) for all memory transactions.</a:t>
            </a:r>
            <a:br>
              <a:rPr lang="en-US" dirty="0"/>
            </a:br>
            <a:r>
              <a:rPr lang="en-US" dirty="0"/>
              <a:t>A write transaction broadcasts an </a:t>
            </a:r>
            <a:r>
              <a:rPr lang="en-US" b="1" dirty="0"/>
              <a:t>invalidate signal</a:t>
            </a:r>
            <a:r>
              <a:rPr lang="en-US" dirty="0"/>
              <a:t> to all other caches with a copy.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dirty="0"/>
            </a:br>
            <a:r>
              <a:rPr lang="en-US" b="1" dirty="0"/>
              <a:t>Best For:</a:t>
            </a:r>
            <a:r>
              <a:rPr lang="en-US" dirty="0"/>
              <a:t> </a:t>
            </a:r>
            <a:r>
              <a:rPr lang="en-US" b="1" dirty="0"/>
              <a:t>Small-scale SMPs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Pros:</a:t>
            </a:r>
            <a:r>
              <a:rPr lang="en-US" dirty="0"/>
              <a:t> Simple, fast response.</a:t>
            </a:r>
            <a:br>
              <a:rPr lang="en-US" dirty="0"/>
            </a:br>
            <a:r>
              <a:rPr lang="en-US" b="1" dirty="0"/>
              <a:t>Con:</a:t>
            </a:r>
            <a:r>
              <a:rPr lang="en-US" dirty="0"/>
              <a:t> </a:t>
            </a:r>
            <a:r>
              <a:rPr lang="en-US" b="1" dirty="0"/>
              <a:t>Does not scale</a:t>
            </a:r>
            <a:r>
              <a:rPr lang="en-US" dirty="0"/>
              <a:t>; the shared bus becomes a traffic bottleneck as the number of processors increases.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dirty="0"/>
            </a:br>
            <a:r>
              <a:rPr lang="en-US" b="0" i="1" u="none" spc="-9" dirty="0"/>
              <a:t>(arrow down)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dirty="0"/>
              <a:t>Directory-based:</a:t>
            </a:r>
            <a:r>
              <a:rPr lang="en-US" u="sng" dirty="0"/>
              <a:t> </a:t>
            </a:r>
            <a:br>
              <a:rPr lang="en-US" u="sng" dirty="0"/>
            </a:br>
            <a:r>
              <a:rPr lang="en-US" dirty="0"/>
              <a:t>Sharing status is kept in a </a:t>
            </a:r>
            <a:r>
              <a:rPr lang="en-US" b="1" dirty="0"/>
              <a:t>single location</a:t>
            </a:r>
            <a:r>
              <a:rPr lang="en-US" dirty="0"/>
              <a:t> (the directory entry). 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Mechanism: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centralized directory</a:t>
            </a:r>
            <a:r>
              <a:rPr lang="en-US" dirty="0"/>
              <a:t> tracks the </a:t>
            </a:r>
            <a:r>
              <a:rPr lang="en-US" b="1" dirty="0"/>
              <a:t>sharing status</a:t>
            </a:r>
            <a:r>
              <a:rPr lang="en-US" dirty="0"/>
              <a:t> (which caches have copies) of </a:t>
            </a:r>
            <a:r>
              <a:rPr lang="en-US" b="1" dirty="0"/>
              <a:t>every memory block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Communication is </a:t>
            </a:r>
            <a:r>
              <a:rPr lang="en-US" b="1" dirty="0"/>
              <a:t>point-to-point</a:t>
            </a:r>
            <a:r>
              <a:rPr lang="en-US" dirty="0"/>
              <a:t>: the directory forwards messages only to the specific, relevant caches (replaces broadcast).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dirty="0"/>
            </a:br>
            <a:r>
              <a:rPr lang="en-US" b="1" dirty="0"/>
              <a:t>Best For:</a:t>
            </a:r>
            <a:r>
              <a:rPr lang="en-US" dirty="0"/>
              <a:t> </a:t>
            </a:r>
            <a:r>
              <a:rPr lang="en-US" b="1" dirty="0"/>
              <a:t>Large-scale multiprocessors (NUMA)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Pros:</a:t>
            </a:r>
            <a:r>
              <a:rPr lang="en-US" dirty="0"/>
              <a:t> Highly </a:t>
            </a:r>
            <a:r>
              <a:rPr lang="en-US" b="1" dirty="0"/>
              <a:t>scalable</a:t>
            </a:r>
            <a:r>
              <a:rPr lang="en-US" dirty="0"/>
              <a:t>, reduced bandwidth usage (no global broadcast).</a:t>
            </a:r>
            <a:br>
              <a:rPr lang="en-US" dirty="0"/>
            </a:br>
            <a:r>
              <a:rPr lang="en-US" b="1" dirty="0"/>
              <a:t>Cons:</a:t>
            </a:r>
            <a:r>
              <a:rPr lang="en-US" dirty="0"/>
              <a:t> Higher access latency (extra directory step), requires significant memory overhead for the directory.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58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&gt;&gt;</a:t>
            </a:r>
          </a:p>
          <a:p>
            <a:r>
              <a:rPr lang="en-US" b="0" dirty="0"/>
              <a:t>In </a:t>
            </a:r>
            <a:r>
              <a:rPr lang="en-US" b="1" dirty="0"/>
              <a:t>Snoopy Cache-Coherence Protocol:</a:t>
            </a: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u="sng" dirty="0"/>
              <a:t>Cache Controller</a:t>
            </a:r>
            <a:r>
              <a:rPr lang="en-US" dirty="0"/>
              <a:t> </a:t>
            </a:r>
            <a:r>
              <a:rPr lang="en-US" b="1" dirty="0"/>
              <a:t>"snoops"</a:t>
            </a:r>
            <a:r>
              <a:rPr lang="en-US" dirty="0"/>
              <a:t> (monitors) all transactions on the </a:t>
            </a:r>
            <a:r>
              <a:rPr lang="en-US" b="1" dirty="0"/>
              <a:t>shared medium</a:t>
            </a:r>
            <a:r>
              <a:rPr lang="en-US" dirty="0"/>
              <a:t> </a:t>
            </a:r>
            <a:r>
              <a:rPr lang="en-US" i="1" dirty="0"/>
              <a:t>(bus or switch).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If a snooped transaction is </a:t>
            </a:r>
            <a:r>
              <a:rPr lang="en-US" b="1" dirty="0"/>
              <a:t>relevant</a:t>
            </a:r>
            <a:r>
              <a:rPr lang="en-US" dirty="0"/>
              <a:t> (i.e., for a block the cache holds),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Depending on the block’s state the </a:t>
            </a:r>
            <a:r>
              <a:rPr lang="en-US" u="sng" dirty="0"/>
              <a:t>controller</a:t>
            </a:r>
            <a:r>
              <a:rPr lang="en-US" dirty="0"/>
              <a:t> will either </a:t>
            </a:r>
            <a:r>
              <a:rPr lang="en-US" b="1" dirty="0"/>
              <a:t>invalidate</a:t>
            </a:r>
            <a:r>
              <a:rPr lang="en-US" dirty="0"/>
              <a:t>, </a:t>
            </a:r>
            <a:r>
              <a:rPr lang="en-US" b="1" dirty="0"/>
              <a:t>update, </a:t>
            </a:r>
            <a:r>
              <a:rPr lang="en-US" dirty="0"/>
              <a:t>or </a:t>
            </a:r>
            <a:r>
              <a:rPr lang="en-US" b="1" dirty="0"/>
              <a:t>supply the latest value</a:t>
            </a:r>
            <a:r>
              <a:rPr lang="en-US" dirty="0"/>
              <a:t> to </a:t>
            </a:r>
            <a:r>
              <a:rPr lang="en-US" u="sng" dirty="0"/>
              <a:t>ensure coherence</a:t>
            </a:r>
            <a:r>
              <a:rPr lang="en-US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b="1" dirty="0"/>
              <a:t>Write Strategies: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 cache ensures coherence during a write using one of two methods: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Write Invalidate:</a:t>
            </a:r>
            <a:r>
              <a:rPr lang="en-US" dirty="0"/>
              <a:t> The cache gets </a:t>
            </a:r>
            <a:r>
              <a:rPr lang="en-US" b="1" dirty="0"/>
              <a:t>exclusive access</a:t>
            </a:r>
            <a:r>
              <a:rPr lang="en-US" dirty="0"/>
              <a:t> before writing by invalidating all other copies.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Write Update:</a:t>
            </a:r>
            <a:r>
              <a:rPr lang="en-US" dirty="0"/>
              <a:t> The cache </a:t>
            </a:r>
            <a:r>
              <a:rPr lang="en-US" b="1" dirty="0"/>
              <a:t>updates all copies</a:t>
            </a:r>
            <a:r>
              <a:rPr lang="en-US" dirty="0"/>
              <a:t> simultaneously when it writes.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86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pc="-9" dirty="0"/>
              <a:t>&gt;&gt;</a:t>
            </a:r>
          </a:p>
          <a:p>
            <a:r>
              <a:rPr lang="en-US" b="0" spc="-9" dirty="0"/>
              <a:t>Example of </a:t>
            </a:r>
            <a:r>
              <a:rPr lang="en-US" b="1" spc="-9" dirty="0"/>
              <a:t>Write-</a:t>
            </a:r>
            <a:r>
              <a:rPr lang="en-US" b="1" dirty="0"/>
              <a:t>Thru</a:t>
            </a:r>
            <a:r>
              <a:rPr lang="en-US" b="1" spc="-44" dirty="0"/>
              <a:t> </a:t>
            </a:r>
            <a:r>
              <a:rPr lang="en-US" b="1" spc="-9" dirty="0"/>
              <a:t>Invalidate</a:t>
            </a:r>
            <a:endParaRPr lang="en-US" b="0" spc="-9" dirty="0"/>
          </a:p>
          <a:p>
            <a:endParaRPr lang="en-US" spc="-9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Scenario Steps: 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(Variable u is initially 5)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P1 Reads u: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P1 reads u=5 from Memory.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(Memory u:5, P1 Cache u:5)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P3 Reads u: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P3 reads u=5 from Memory.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(Memory u:5, P3 Cache u:5)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P3 Writes u: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Must invalidate P1’s cache copy of u:5 FIRST!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P3 writes a new value, u=7, to its local cache.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(P3 Cache $u:7$)</a:t>
            </a:r>
          </a:p>
          <a:p>
            <a:pPr marL="0" indent="0">
              <a:buFont typeface="+mj-lt"/>
              <a:buNone/>
            </a:pPr>
            <a:endParaRPr lang="en-US" dirty="0"/>
          </a:p>
          <a:p>
            <a:r>
              <a:rPr lang="en-US" dirty="0"/>
              <a:t>More recent microprocessor units (MPUs) use </a:t>
            </a:r>
            <a:r>
              <a:rPr lang="en-US" b="1" dirty="0"/>
              <a:t>write-invalidate</a:t>
            </a:r>
            <a:r>
              <a:rPr lang="en-US" dirty="0"/>
              <a:t> </a:t>
            </a:r>
          </a:p>
          <a:p>
            <a:r>
              <a:rPr lang="en-US" dirty="0"/>
              <a:t>because </a:t>
            </a:r>
            <a:r>
              <a:rPr lang="en-US" b="1" dirty="0"/>
              <a:t>write-update</a:t>
            </a:r>
            <a:r>
              <a:rPr lang="en-US" dirty="0"/>
              <a:t> uses more broadcast medium bandwidth </a:t>
            </a:r>
          </a:p>
          <a:p>
            <a:r>
              <a:rPr lang="en-US" i="1" dirty="0"/>
              <a:t>(requiring both the </a:t>
            </a:r>
            <a:r>
              <a:rPr lang="en-US" i="1" u="sng" dirty="0"/>
              <a:t>full address </a:t>
            </a:r>
            <a:r>
              <a:rPr lang="en-US" i="1" dirty="0"/>
              <a:t>and the </a:t>
            </a:r>
            <a:r>
              <a:rPr lang="en-US" i="1" u="sng" dirty="0"/>
              <a:t>new value</a:t>
            </a:r>
            <a:r>
              <a:rPr lang="en-US" i="1" dirty="0"/>
              <a:t>)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b="1" dirty="0"/>
              <a:t>Write-invalidate</a:t>
            </a:r>
            <a:r>
              <a:rPr lang="en-US" dirty="0"/>
              <a:t> only sends the </a:t>
            </a:r>
            <a:r>
              <a:rPr lang="en-US" u="sng" dirty="0"/>
              <a:t>cache block number</a:t>
            </a:r>
            <a:r>
              <a:rPr lang="en-US" u="none" dirty="0"/>
              <a:t> </a:t>
            </a:r>
            <a:r>
              <a:rPr lang="en-US" dirty="0"/>
              <a:t>for the invalidation.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0994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b="1" dirty="0"/>
              <a:t>Cache Block State (FSM)</a:t>
            </a:r>
          </a:p>
          <a:p>
            <a:r>
              <a:rPr lang="en-US" dirty="0"/>
              <a:t>The coherence protocol is defined by a </a:t>
            </a:r>
            <a:r>
              <a:rPr lang="en-US" b="1" dirty="0"/>
              <a:t>Finite State Machine (FSM)</a:t>
            </a:r>
            <a:r>
              <a:rPr lang="en-US" dirty="0"/>
              <a:t> </a:t>
            </a:r>
          </a:p>
          <a:p>
            <a:r>
              <a:rPr lang="en-US" dirty="0"/>
              <a:t>which specifies conditions for block state changes.</a:t>
            </a:r>
          </a:p>
          <a:p>
            <a:endParaRPr lang="en-US" dirty="0"/>
          </a:p>
          <a:p>
            <a:r>
              <a:rPr lang="en-US" dirty="0"/>
              <a:t>The minimum number of states required is </a:t>
            </a:r>
            <a:r>
              <a:rPr lang="en-US" b="1" dirty="0"/>
              <a:t>3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Invalid</a:t>
            </a: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Valid/Shared</a:t>
            </a: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Dirty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(arrow down)</a:t>
            </a:r>
          </a:p>
          <a:p>
            <a:r>
              <a:rPr lang="en-US" b="1" dirty="0"/>
              <a:t>Broadcast Medium (e.g., Bus)</a:t>
            </a:r>
          </a:p>
          <a:p>
            <a:r>
              <a:rPr lang="en-US" dirty="0"/>
              <a:t>The bus is a fundamental system abstraction where a single set of wires logically connects several devices.</a:t>
            </a:r>
          </a:p>
          <a:p>
            <a:endParaRPr lang="en-US" dirty="0"/>
          </a:p>
          <a:p>
            <a:r>
              <a:rPr lang="en-US" b="1" dirty="0"/>
              <a:t>Every device observes every transaction</a:t>
            </a:r>
            <a:r>
              <a:rPr lang="en-US" dirty="0"/>
              <a:t> on the medium.</a:t>
            </a:r>
          </a:p>
          <a:p>
            <a:endParaRPr lang="en-US" dirty="0"/>
          </a:p>
          <a:p>
            <a:r>
              <a:rPr lang="en-US" i="1" dirty="0"/>
              <a:t>(arrow down)</a:t>
            </a:r>
          </a:p>
          <a:p>
            <a:r>
              <a:rPr lang="en-US" dirty="0"/>
              <a:t>The medium enforces </a:t>
            </a:r>
            <a:r>
              <a:rPr lang="en-US" b="1" dirty="0"/>
              <a:t>serialization of accesses</a:t>
            </a:r>
            <a:r>
              <a:rPr lang="en-US" dirty="0"/>
              <a:t> (both read and write).</a:t>
            </a:r>
          </a:p>
          <a:p>
            <a:endParaRPr lang="en-US" b="1" dirty="0"/>
          </a:p>
          <a:p>
            <a:r>
              <a:rPr lang="en-US" b="1" dirty="0"/>
              <a:t>Write Serialization:</a:t>
            </a:r>
            <a:r>
              <a:rPr lang="en-US" dirty="0"/>
              <a:t> </a:t>
            </a:r>
          </a:p>
          <a:p>
            <a:r>
              <a:rPr lang="en-US" dirty="0"/>
              <a:t>The first processor to acquire the medium (e.g., bus) </a:t>
            </a:r>
            <a:r>
              <a:rPr lang="en-US" b="1" dirty="0"/>
              <a:t>serializes its write</a:t>
            </a:r>
            <a:r>
              <a:rPr lang="en-US" dirty="0"/>
              <a:t> and </a:t>
            </a:r>
            <a:r>
              <a:rPr lang="en-US" b="1" dirty="0"/>
              <a:t>invalidates others' copies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843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&gt;&gt;</a:t>
            </a:r>
          </a:p>
          <a:p>
            <a:r>
              <a:rPr lang="en-US" b="1" dirty="0"/>
              <a:t>Locating the Up-to-Date Copy of Data</a:t>
            </a:r>
          </a:p>
          <a:p>
            <a:r>
              <a:rPr lang="en-US" dirty="0"/>
              <a:t>The foundation of cache coherence relies on processors being able to find the correct, </a:t>
            </a:r>
            <a:r>
              <a:rPr lang="en-US" b="1" dirty="0"/>
              <a:t>most recent version</a:t>
            </a:r>
            <a:r>
              <a:rPr lang="en-US" dirty="0"/>
              <a:t> of any data block,</a:t>
            </a:r>
          </a:p>
          <a:p>
            <a:r>
              <a:rPr lang="en-US" dirty="0"/>
              <a:t>Which is handled differently depending on the cache's </a:t>
            </a:r>
            <a:r>
              <a:rPr lang="en-US" b="1" dirty="0"/>
              <a:t>write policy</a:t>
            </a:r>
            <a:r>
              <a:rPr lang="en-US" dirty="0"/>
              <a:t>.</a:t>
            </a:r>
            <a:endParaRPr lang="en-US" b="0" dirty="0"/>
          </a:p>
          <a:p>
            <a:endParaRPr lang="en-US" b="1" dirty="0"/>
          </a:p>
          <a:p>
            <a:r>
              <a:rPr lang="en-US" b="1" dirty="0"/>
              <a:t>The Problem of Data Location</a:t>
            </a:r>
          </a:p>
          <a:p>
            <a:r>
              <a:rPr lang="en-US" dirty="0"/>
              <a:t>In a multi-processor system, when a processor attempts to read a data block, the most recent copy may exist in one of three places: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Main Memory (RAM):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The simplest case, but often only true with the </a:t>
            </a:r>
            <a:r>
              <a:rPr lang="en-US" b="1" dirty="0"/>
              <a:t>Write-Through</a:t>
            </a:r>
            <a:r>
              <a:rPr lang="en-US" dirty="0"/>
              <a:t> policy.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A Local Cache: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The processor requesting the data may already have the up-to-date copy in its own cache.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Another Processor's Cache: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If a block has been modified by another processor but not written back to memory, it is </a:t>
            </a:r>
            <a:r>
              <a:rPr lang="en-US" b="1" dirty="0"/>
              <a:t>"dirty"</a:t>
            </a:r>
            <a:r>
              <a:rPr lang="en-US" dirty="0"/>
              <a:t> and must be retrieved directly from that other cache.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Two Core Write Policies</a:t>
            </a:r>
          </a:p>
          <a:p>
            <a:r>
              <a:rPr lang="en-US" dirty="0"/>
              <a:t>We address this data location problem using two main write policies, </a:t>
            </a:r>
          </a:p>
          <a:p>
            <a:r>
              <a:rPr lang="en-US" dirty="0"/>
              <a:t>each with a different implication for where the up-to-date copy resides:</a:t>
            </a:r>
          </a:p>
          <a:p>
            <a:pPr marL="228600" indent="-228600">
              <a:buAutoNum type="arabicPeriod"/>
            </a:pPr>
            <a:r>
              <a:rPr lang="en-US" b="1" dirty="0"/>
              <a:t>Write-Through Policy </a:t>
            </a:r>
            <a:r>
              <a:rPr lang="en-US" b="0" dirty="0"/>
              <a:t>(simpler)</a:t>
            </a:r>
            <a:br>
              <a:rPr lang="en-US" b="0" dirty="0"/>
            </a:br>
            <a:r>
              <a:rPr lang="en-US" b="0" u="sng" dirty="0"/>
              <a:t>Simpler Logic:</a:t>
            </a:r>
            <a:r>
              <a:rPr lang="en-US" dirty="0"/>
              <a:t> Memory always has the </a:t>
            </a:r>
            <a:r>
              <a:rPr lang="en-US" b="1" dirty="0"/>
              <a:t>up-to-date copy</a:t>
            </a:r>
            <a:r>
              <a:rPr lang="en-US" dirty="0"/>
              <a:t> of the data.</a:t>
            </a:r>
            <a:br>
              <a:rPr lang="en-US" dirty="0"/>
            </a:br>
            <a:r>
              <a:rPr lang="en-US" b="0" u="sng" dirty="0"/>
              <a:t>Drawback:</a:t>
            </a:r>
            <a:r>
              <a:rPr lang="en-US" dirty="0"/>
              <a:t> Requires high </a:t>
            </a:r>
            <a:r>
              <a:rPr lang="en-US" b="1" dirty="0"/>
              <a:t>memory bandwidth (BW)</a:t>
            </a:r>
            <a:r>
              <a:rPr lang="en-US" dirty="0"/>
              <a:t> to support it.</a:t>
            </a:r>
            <a:br>
              <a:rPr lang="en-US" dirty="0"/>
            </a:br>
            <a:endParaRPr lang="en-US" dirty="0"/>
          </a:p>
          <a:p>
            <a:pPr marL="228600" indent="-228600">
              <a:buAutoNum type="arabicPeriod"/>
            </a:pPr>
            <a:r>
              <a:rPr lang="en-US" b="1" dirty="0"/>
              <a:t>Write-Back Policy </a:t>
            </a:r>
            <a:r>
              <a:rPr lang="en-US" b="0" dirty="0"/>
              <a:t>(more efficient)</a:t>
            </a:r>
            <a:br>
              <a:rPr lang="en-US" b="0" dirty="0"/>
            </a:br>
            <a:r>
              <a:rPr lang="en-US" b="0" u="sng" dirty="0"/>
              <a:t>Advantage:</a:t>
            </a:r>
            <a:r>
              <a:rPr lang="en-US" dirty="0"/>
              <a:t> Uses </a:t>
            </a:r>
            <a:r>
              <a:rPr lang="en-US" b="1" dirty="0"/>
              <a:t>much less memory BW</a:t>
            </a:r>
            <a:r>
              <a:rPr lang="en-US" dirty="0"/>
              <a:t>.</a:t>
            </a:r>
            <a:br>
              <a:rPr lang="en-US" dirty="0"/>
            </a:br>
            <a:r>
              <a:rPr lang="en-US" b="0" u="sng" dirty="0"/>
              <a:t>Complexity:</a:t>
            </a:r>
            <a:r>
              <a:rPr lang="en-US" dirty="0"/>
              <a:t> The most recent version of a cache block </a:t>
            </a:r>
            <a:r>
              <a:rPr lang="en-US" b="1" dirty="0"/>
              <a:t>may not be in memory</a:t>
            </a:r>
            <a:r>
              <a:rPr lang="en-US" dirty="0"/>
              <a:t>; it could be in a processor's cache.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(arrow down)</a:t>
            </a:r>
          </a:p>
          <a:p>
            <a:r>
              <a:rPr lang="en-US" b="1" dirty="0"/>
              <a:t>Locating Data (Snooping):</a:t>
            </a:r>
            <a:r>
              <a:rPr lang="en-US" dirty="0"/>
              <a:t> </a:t>
            </a:r>
          </a:p>
          <a:p>
            <a:r>
              <a:rPr lang="en-US" dirty="0"/>
              <a:t>For write-back, the same </a:t>
            </a:r>
            <a:r>
              <a:rPr lang="en-US" b="1" dirty="0"/>
              <a:t>snooping mechanism</a:t>
            </a:r>
            <a:r>
              <a:rPr lang="en-US" dirty="0"/>
              <a:t> can be used to find the latest copy.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If a processor has the </a:t>
            </a:r>
            <a:r>
              <a:rPr lang="en-US" b="1" dirty="0"/>
              <a:t>"dirty"</a:t>
            </a:r>
            <a:r>
              <a:rPr lang="en-US" dirty="0"/>
              <a:t> copy of a requested block, it </a:t>
            </a:r>
            <a:r>
              <a:rPr lang="en-US" b="1" dirty="0"/>
              <a:t>provides the block</a:t>
            </a:r>
            <a:r>
              <a:rPr lang="en-US" dirty="0"/>
              <a:t> directly in response to the read request.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action </a:t>
            </a:r>
            <a:r>
              <a:rPr lang="en-US" b="1" dirty="0"/>
              <a:t>aborts the access to memory</a:t>
            </a:r>
            <a:r>
              <a:rPr lang="en-US" dirty="0"/>
              <a:t>.</a:t>
            </a:r>
          </a:p>
          <a:p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(arrow down)</a:t>
            </a:r>
          </a:p>
          <a:p>
            <a:r>
              <a:rPr lang="en-US" b="1" dirty="0"/>
              <a:t>Multiprocessor Use:</a:t>
            </a:r>
            <a:r>
              <a:rPr lang="en-US" dirty="0"/>
              <a:t> </a:t>
            </a:r>
          </a:p>
          <a:p>
            <a:r>
              <a:rPr lang="en-US" dirty="0"/>
              <a:t>Most multiprocessor caches use </a:t>
            </a:r>
            <a:r>
              <a:rPr lang="en-US" b="1" dirty="0"/>
              <a:t>write-back</a:t>
            </a:r>
            <a:r>
              <a:rPr lang="en-US" dirty="0"/>
              <a:t> because the lower memory bandwidth requirement supports a </a:t>
            </a:r>
            <a:r>
              <a:rPr lang="en-US" b="1" dirty="0"/>
              <a:t>larger number of faster processors</a:t>
            </a:r>
            <a:r>
              <a:rPr lang="en-US" dirty="0"/>
              <a:t>.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5532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&gt;&gt;</a:t>
            </a:r>
          </a:p>
          <a:p>
            <a:r>
              <a:rPr lang="en-US" b="1" dirty="0"/>
              <a:t>Tags and Indices:</a:t>
            </a:r>
            <a:r>
              <a:rPr lang="en-US" dirty="0"/>
              <a:t> </a:t>
            </a:r>
          </a:p>
          <a:p>
            <a:r>
              <a:rPr lang="en-US" dirty="0"/>
              <a:t>Normal cache indices and tags are used for the snooping process.</a:t>
            </a:r>
          </a:p>
          <a:p>
            <a:endParaRPr lang="en-US" dirty="0"/>
          </a:p>
          <a:p>
            <a:r>
              <a:rPr lang="en-US" b="1" dirty="0"/>
              <a:t>Optimization:</a:t>
            </a:r>
            <a:r>
              <a:rPr lang="en-US" dirty="0"/>
              <a:t> </a:t>
            </a:r>
          </a:p>
          <a:p>
            <a:r>
              <a:rPr lang="en-US" dirty="0"/>
              <a:t>A </a:t>
            </a:r>
            <a:r>
              <a:rPr lang="en-US" b="1" dirty="0"/>
              <a:t>second copy of the tags (without the data)</a:t>
            </a:r>
            <a:r>
              <a:rPr lang="en-US" dirty="0"/>
              <a:t> is often maintained to allow for faster snooping without interfering with the CPU's memory loads.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(Tags are often duplicated to reduce interference with CPU memory loads.)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Valid bit</a:t>
            </a:r>
            <a:r>
              <a:rPr lang="en-US" dirty="0"/>
              <a:t> is used for each cache block, which makes the </a:t>
            </a:r>
            <a:r>
              <a:rPr lang="en-US" b="1" dirty="0"/>
              <a:t>invalidation</a:t>
            </a:r>
            <a:r>
              <a:rPr lang="en-US" dirty="0"/>
              <a:t> process straightforward.</a:t>
            </a:r>
          </a:p>
          <a:p>
            <a:endParaRPr lang="en-US" dirty="0"/>
          </a:p>
          <a:p>
            <a:r>
              <a:rPr lang="en-US" i="1" dirty="0"/>
              <a:t>(arrow down)</a:t>
            </a:r>
          </a:p>
          <a:p>
            <a:r>
              <a:rPr lang="en-US" b="1" dirty="0"/>
              <a:t>Read Misses</a:t>
            </a:r>
            <a:r>
              <a:rPr lang="en-US" dirty="0"/>
              <a:t> are simple; they rely only on the standard snooping mechanism.</a:t>
            </a:r>
          </a:p>
          <a:p>
            <a:endParaRPr lang="en-US" dirty="0"/>
          </a:p>
          <a:p>
            <a:r>
              <a:rPr lang="en-US" b="1" dirty="0"/>
              <a:t>Write Hits</a:t>
            </a:r>
            <a:r>
              <a:rPr lang="en-US" dirty="0"/>
              <a:t> require a check for other valid copies to determine the necessary action: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u="sng" dirty="0"/>
              <a:t>If </a:t>
            </a:r>
            <a:r>
              <a:rPr lang="en-US" b="1" u="sng" dirty="0"/>
              <a:t>no</a:t>
            </a:r>
            <a:r>
              <a:rPr lang="en-US" b="0" u="sng" dirty="0"/>
              <a:t> other valid copies exist:</a:t>
            </a:r>
            <a:r>
              <a:rPr lang="en-US" b="0" u="none" dirty="0"/>
              <a:t> </a:t>
            </a:r>
            <a:br>
              <a:rPr lang="en-US" u="sng" dirty="0"/>
            </a:br>
            <a:r>
              <a:rPr lang="en-US" dirty="0"/>
              <a:t>The processor can write immediately without waiting for the bus.</a:t>
            </a:r>
            <a:br>
              <a:rPr lang="en-US" dirty="0"/>
            </a:b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u="sng" dirty="0"/>
              <a:t>If other valid copies exist: </a:t>
            </a:r>
            <a:br>
              <a:rPr lang="en-US" b="0" dirty="0"/>
            </a:br>
            <a:r>
              <a:rPr lang="en-US" dirty="0"/>
              <a:t>The processor </a:t>
            </a:r>
            <a:r>
              <a:rPr lang="en-US" b="1" dirty="0"/>
              <a:t>must wait for the bus access</a:t>
            </a:r>
            <a:r>
              <a:rPr lang="en-US" dirty="0"/>
              <a:t> to place an </a:t>
            </a:r>
            <a:r>
              <a:rPr lang="en-US" b="1" dirty="0"/>
              <a:t>invalidate</a:t>
            </a:r>
            <a:r>
              <a:rPr lang="en-US" dirty="0"/>
              <a:t> command on the bus before completing the write.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137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&gt;&gt;</a:t>
            </a:r>
          </a:p>
          <a:p>
            <a:r>
              <a:rPr lang="en-US" b="1" dirty="0"/>
              <a:t>Tracking Shared State</a:t>
            </a:r>
          </a:p>
          <a:p>
            <a:r>
              <a:rPr lang="en-US" dirty="0"/>
              <a:t>To efficiently track if a cache block is </a:t>
            </a:r>
            <a:r>
              <a:rPr lang="en-US" b="1" dirty="0"/>
              <a:t>shared</a:t>
            </a:r>
            <a:r>
              <a:rPr lang="en-US" dirty="0"/>
              <a:t>, one or more </a:t>
            </a:r>
            <a:r>
              <a:rPr lang="en-US" b="1" dirty="0"/>
              <a:t>additional state bits</a:t>
            </a:r>
            <a:r>
              <a:rPr lang="en-US" dirty="0"/>
              <a:t> are added to each cache block.</a:t>
            </a:r>
          </a:p>
          <a:p>
            <a:r>
              <a:rPr lang="en-US" i="1" dirty="0"/>
              <a:t>(These bits are similar to the </a:t>
            </a:r>
            <a:r>
              <a:rPr lang="en-US" b="0" i="1" dirty="0"/>
              <a:t>Valid and Dirty bits</a:t>
            </a:r>
            <a:r>
              <a:rPr lang="en-US" i="1" dirty="0"/>
              <a:t>.)</a:t>
            </a:r>
          </a:p>
          <a:p>
            <a:endParaRPr lang="en-US" dirty="0"/>
          </a:p>
          <a:p>
            <a:r>
              <a:rPr lang="en-US" b="1" dirty="0"/>
              <a:t>Write to Shared Block:</a:t>
            </a:r>
            <a:r>
              <a:rPr lang="en-US" dirty="0"/>
              <a:t> </a:t>
            </a:r>
          </a:p>
          <a:p>
            <a:r>
              <a:rPr lang="en-US" dirty="0"/>
              <a:t>When a CPU writes to a block currently marked as </a:t>
            </a:r>
            <a:r>
              <a:rPr lang="en-US" b="1" dirty="0"/>
              <a:t>Shared</a:t>
            </a:r>
            <a:r>
              <a:rPr lang="en-US" dirty="0"/>
              <a:t>, it must: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Place an </a:t>
            </a:r>
            <a:r>
              <a:rPr lang="en-US" b="1" dirty="0"/>
              <a:t>invalidate command</a:t>
            </a:r>
            <a:r>
              <a:rPr lang="en-US" dirty="0"/>
              <a:t> for the block on the bus.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mark its own copy of the block as </a:t>
            </a:r>
            <a:r>
              <a:rPr lang="en-US" b="1" dirty="0"/>
              <a:t>Modified / Dirty</a:t>
            </a:r>
            <a:r>
              <a:rPr lang="en-US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b="1" dirty="0"/>
              <a:t>Protocol States and Owner</a:t>
            </a:r>
          </a:p>
          <a:p>
            <a:r>
              <a:rPr lang="en-US" dirty="0"/>
              <a:t>Once a block is marked </a:t>
            </a:r>
            <a:r>
              <a:rPr lang="en-US" b="1" dirty="0"/>
              <a:t>Modified</a:t>
            </a:r>
            <a:r>
              <a:rPr lang="en-US" dirty="0"/>
              <a:t> (or </a:t>
            </a:r>
            <a:r>
              <a:rPr lang="en-US" b="1" dirty="0"/>
              <a:t>Exclusive</a:t>
            </a:r>
            <a:r>
              <a:rPr lang="en-US" dirty="0"/>
              <a:t>), </a:t>
            </a:r>
          </a:p>
          <a:p>
            <a:r>
              <a:rPr lang="en-US" dirty="0"/>
              <a:t>the CPU can write to it </a:t>
            </a:r>
            <a:r>
              <a:rPr lang="en-US" b="1" dirty="0"/>
              <a:t>without sending an invalidate</a:t>
            </a:r>
            <a:r>
              <a:rPr lang="en-US" dirty="0"/>
              <a:t> on the bus.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last processor</a:t>
            </a:r>
            <a:r>
              <a:rPr lang="en-US" dirty="0"/>
              <a:t> that modified a cache block is considered its </a:t>
            </a:r>
            <a:r>
              <a:rPr lang="en-US" b="1" dirty="0"/>
              <a:t>owner</a:t>
            </a:r>
            <a:r>
              <a:rPr lang="en-US" dirty="0"/>
              <a:t>.</a:t>
            </a:r>
          </a:p>
          <a:p>
            <a:r>
              <a:rPr lang="en-US" i="1" dirty="0"/>
              <a:t>(The owner may be allowed to provide copies of the block to other caches upon request.)</a:t>
            </a:r>
          </a:p>
          <a:p>
            <a:endParaRPr lang="en-US" dirty="0"/>
          </a:p>
          <a:p>
            <a:r>
              <a:rPr lang="en-US" b="1" dirty="0"/>
              <a:t>Common Cache States</a:t>
            </a:r>
            <a:r>
              <a:rPr lang="en-US" dirty="0"/>
              <a:t> (depending on the protocol):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srgbClr val="3366FF"/>
                </a:solidFill>
                <a:latin typeface="Calibri"/>
                <a:cs typeface="Calibri"/>
              </a:rPr>
              <a:t>M</a:t>
            </a:r>
            <a:r>
              <a:rPr lang="en-US" sz="1200" dirty="0">
                <a:latin typeface="Calibri"/>
                <a:cs typeface="Calibri"/>
              </a:rPr>
              <a:t>odified / dirty</a:t>
            </a:r>
            <a:endParaRPr lang="en-US" sz="1200" spc="35" dirty="0">
              <a:latin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srgbClr val="3366FF"/>
                </a:solidFill>
                <a:latin typeface="Calibri"/>
                <a:cs typeface="Calibri"/>
              </a:rPr>
              <a:t>S</a:t>
            </a:r>
            <a:r>
              <a:rPr lang="en-US" sz="1200" dirty="0">
                <a:latin typeface="Calibri"/>
                <a:cs typeface="Calibri"/>
              </a:rPr>
              <a:t>hared</a:t>
            </a:r>
            <a:endParaRPr lang="en-US" sz="1200" spc="26" dirty="0">
              <a:latin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srgbClr val="3366FF"/>
                </a:solidFill>
                <a:latin typeface="Calibri"/>
                <a:cs typeface="Calibri"/>
              </a:rPr>
              <a:t>I</a:t>
            </a:r>
            <a:r>
              <a:rPr lang="en-US" sz="1200" dirty="0">
                <a:latin typeface="Calibri"/>
                <a:cs typeface="Calibri"/>
              </a:rPr>
              <a:t>nvalid</a:t>
            </a:r>
            <a:endParaRPr lang="en-US" sz="1200" spc="31" dirty="0">
              <a:latin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srgbClr val="3366FF"/>
                </a:solidFill>
                <a:latin typeface="Calibri"/>
                <a:cs typeface="Calibri"/>
              </a:rPr>
              <a:t>E</a:t>
            </a:r>
            <a:r>
              <a:rPr lang="en-US" sz="1200" dirty="0">
                <a:latin typeface="Calibri"/>
                <a:cs typeface="Calibri"/>
              </a:rPr>
              <a:t>xclusive</a:t>
            </a:r>
            <a:endParaRPr lang="en-US" sz="1200" spc="26" dirty="0">
              <a:latin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spc="-9" dirty="0">
                <a:solidFill>
                  <a:srgbClr val="3366FF"/>
                </a:solidFill>
                <a:latin typeface="Calibri"/>
                <a:cs typeface="Calibri"/>
              </a:rPr>
              <a:t>O</a:t>
            </a:r>
            <a:r>
              <a:rPr lang="en-US" sz="1200" spc="-9" dirty="0">
                <a:latin typeface="Calibri"/>
                <a:cs typeface="Calibri"/>
              </a:rPr>
              <a:t>wner</a:t>
            </a:r>
            <a:endParaRPr lang="en-US" sz="1200" dirty="0">
              <a:latin typeface="Calibri"/>
              <a:cs typeface="Calibri"/>
            </a:endParaRPr>
          </a:p>
          <a:p>
            <a:endParaRPr lang="en-US" dirty="0"/>
          </a:p>
          <a:p>
            <a:r>
              <a:rPr lang="en-US" b="1" dirty="0"/>
              <a:t>Common Snoopy Protocols:</a:t>
            </a:r>
            <a:r>
              <a:rPr lang="en-US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combination of required states and transitions defines the specific protocol.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b="1" dirty="0"/>
              <a:t>MS</a:t>
            </a:r>
            <a:r>
              <a:rPr lang="en-US" dirty="0"/>
              <a:t>I, </a:t>
            </a:r>
            <a:r>
              <a:rPr lang="en-US" b="1" dirty="0"/>
              <a:t>MES</a:t>
            </a:r>
            <a:r>
              <a:rPr lang="en-US" dirty="0"/>
              <a:t>I, </a:t>
            </a:r>
            <a:r>
              <a:rPr lang="en-US" b="1" dirty="0"/>
              <a:t>MOS</a:t>
            </a:r>
            <a:r>
              <a:rPr lang="en-US" dirty="0"/>
              <a:t>I, </a:t>
            </a:r>
            <a:r>
              <a:rPr lang="en-US" b="1" dirty="0"/>
              <a:t>MOES</a:t>
            </a:r>
            <a:r>
              <a:rPr lang="en-US" dirty="0"/>
              <a:t>I.</a:t>
            </a:r>
          </a:p>
          <a:p>
            <a:r>
              <a:rPr lang="en-US" i="1" dirty="0"/>
              <a:t>(Note: The letters in the acronyms represent the specific cache states they utilize.)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2922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&gt;&gt;</a:t>
            </a:r>
          </a:p>
          <a:p>
            <a:r>
              <a:rPr lang="en-US" b="1" dirty="0"/>
              <a:t>The Interference Problem</a:t>
            </a:r>
          </a:p>
          <a:p>
            <a:r>
              <a:rPr lang="en-US" dirty="0"/>
              <a:t>Every bus transaction requires the </a:t>
            </a:r>
            <a:r>
              <a:rPr lang="en-US" u="sng" dirty="0"/>
              <a:t>cache-address tags</a:t>
            </a:r>
            <a:r>
              <a:rPr lang="en-US" dirty="0"/>
              <a:t> to be checked (</a:t>
            </a:r>
            <a:r>
              <a:rPr lang="en-US" i="1" dirty="0"/>
              <a:t>snooped</a:t>
            </a:r>
            <a:r>
              <a:rPr lang="en-US" dirty="0"/>
              <a:t>),</a:t>
            </a:r>
          </a:p>
          <a:p>
            <a:r>
              <a:rPr lang="en-US" dirty="0"/>
              <a:t>which can </a:t>
            </a:r>
            <a:r>
              <a:rPr lang="en-US" b="1" dirty="0"/>
              <a:t>slow down </a:t>
            </a:r>
            <a:r>
              <a:rPr lang="en-US" b="1" i="1" dirty="0"/>
              <a:t>(or stall)</a:t>
            </a:r>
            <a:r>
              <a:rPr lang="en-US" b="1" dirty="0"/>
              <a:t> the processor's memory loads</a:t>
            </a:r>
            <a:r>
              <a:rPr lang="en-US" dirty="0"/>
              <a:t> from its own L1 cache, </a:t>
            </a:r>
          </a:p>
          <a:p>
            <a:r>
              <a:rPr lang="en-US" i="1" dirty="0"/>
              <a:t>(as both the </a:t>
            </a:r>
            <a:r>
              <a:rPr lang="en-US" i="1" u="sng" dirty="0"/>
              <a:t>CPU</a:t>
            </a:r>
            <a:r>
              <a:rPr lang="en-US" i="1" dirty="0"/>
              <a:t> and the </a:t>
            </a:r>
            <a:r>
              <a:rPr lang="en-US" i="1" u="sng" dirty="0"/>
              <a:t>snooping logic</a:t>
            </a:r>
            <a:r>
              <a:rPr lang="en-US" i="1" u="none" dirty="0"/>
              <a:t> </a:t>
            </a:r>
            <a:r>
              <a:rPr lang="en-US" i="1" dirty="0"/>
              <a:t>compete for access to the tags.)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(arrow down)</a:t>
            </a:r>
            <a:endParaRPr lang="en-US" dirty="0"/>
          </a:p>
          <a:p>
            <a:r>
              <a:rPr lang="en-US" b="1" dirty="0"/>
              <a:t>Mitigation Techniques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Either </a:t>
            </a:r>
            <a:r>
              <a:rPr lang="en-US" b="0" u="sng" dirty="0"/>
              <a:t>duplicate tags</a:t>
            </a:r>
            <a:r>
              <a:rPr lang="en-US" b="0" dirty="0"/>
              <a:t> or </a:t>
            </a:r>
            <a:r>
              <a:rPr lang="en-US" b="0" u="sng" dirty="0"/>
              <a:t>L2 tags</a:t>
            </a:r>
            <a:r>
              <a:rPr lang="en-US" b="0" dirty="0"/>
              <a:t> </a:t>
            </a:r>
            <a:r>
              <a:rPr lang="en-US" dirty="0"/>
              <a:t>can be used (for snooping) to reduce this interference:</a:t>
            </a:r>
            <a:br>
              <a:rPr lang="en-US" dirty="0"/>
            </a:b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Duplicate Tags</a:t>
            </a:r>
            <a:br>
              <a:rPr lang="en-US" b="1" dirty="0"/>
            </a:br>
            <a:r>
              <a:rPr lang="en-US" dirty="0"/>
              <a:t>Maintain two sets of tags: </a:t>
            </a:r>
            <a:r>
              <a:rPr lang="en-US" b="1" dirty="0"/>
              <a:t>one for the CPU's cache accesses</a:t>
            </a:r>
            <a:r>
              <a:rPr lang="en-US" dirty="0"/>
              <a:t> and </a:t>
            </a:r>
            <a:r>
              <a:rPr lang="en-US" b="1" dirty="0"/>
              <a:t>one for bus (snoop) accesses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allows the CPU and the snoop logic to operate </a:t>
            </a:r>
            <a:r>
              <a:rPr lang="en-US" b="1" dirty="0"/>
              <a:t>simultaneously</a:t>
            </a:r>
            <a:r>
              <a:rPr lang="en-US" dirty="0"/>
              <a:t> without conflict.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(arrow down)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Use L2 Tags</a:t>
            </a:r>
            <a:br>
              <a:rPr lang="en-US" b="1" dirty="0"/>
            </a:br>
            <a:r>
              <a:rPr lang="en-US" dirty="0"/>
              <a:t>Use the </a:t>
            </a:r>
            <a:r>
              <a:rPr lang="en-US" b="1" dirty="0"/>
              <a:t>Level 2 (L2) cache tags</a:t>
            </a:r>
            <a:r>
              <a:rPr lang="en-US" dirty="0"/>
              <a:t> for snooping instead of the L1 tags.</a:t>
            </a:r>
            <a:br>
              <a:rPr lang="en-US" dirty="0"/>
            </a:br>
            <a:r>
              <a:rPr lang="en-US" dirty="0"/>
              <a:t>L2 caches are </a:t>
            </a:r>
            <a:r>
              <a:rPr lang="en-US" b="1" dirty="0"/>
              <a:t>less frequently accessed</a:t>
            </a:r>
            <a:r>
              <a:rPr lang="en-US" dirty="0"/>
              <a:t> than L1, so snooping bursts </a:t>
            </a:r>
            <a:r>
              <a:rPr lang="en-US" b="1" dirty="0"/>
              <a:t>rarely stall the processor</a:t>
            </a:r>
            <a:r>
              <a:rPr lang="en-US" dirty="0"/>
              <a:t>.</a:t>
            </a:r>
          </a:p>
          <a:p>
            <a:pPr marL="228600" indent="-228600">
              <a:buFont typeface="+mj-lt"/>
              <a:buAutoNum type="arabicPeriod"/>
            </a:pPr>
            <a:endParaRPr lang="en-US" b="1" dirty="0"/>
          </a:p>
          <a:p>
            <a:pPr marL="0" indent="0">
              <a:buFont typeface="+mj-lt"/>
              <a:buNone/>
            </a:pPr>
            <a:r>
              <a:rPr lang="en-US" b="1" dirty="0"/>
              <a:t>Requirement: The Inclusion Property </a:t>
            </a:r>
            <a:r>
              <a:rPr lang="en-US" b="0" dirty="0"/>
              <a:t>(when using L2 Tags)</a:t>
            </a:r>
          </a:p>
          <a:p>
            <a:pPr marL="0" indent="0">
              <a:buFont typeface="+mj-lt"/>
              <a:buNone/>
            </a:pPr>
            <a:r>
              <a:rPr lang="en-US" dirty="0"/>
              <a:t>Checking L2 tags requires every block in the L1 cache always to be present in the L2 cache also. </a:t>
            </a:r>
          </a:p>
          <a:p>
            <a:pPr marL="0" indent="0">
              <a:buFont typeface="+mj-lt"/>
              <a:buNone/>
            </a:pPr>
            <a:r>
              <a:rPr lang="en-US" dirty="0"/>
              <a:t>This restriction is called the </a:t>
            </a:r>
            <a:r>
              <a:rPr lang="en-US" b="1" dirty="0"/>
              <a:t>"inclusion property"</a:t>
            </a:r>
            <a:r>
              <a:rPr lang="en-US" dirty="0"/>
              <a:t>.</a:t>
            </a:r>
          </a:p>
          <a:p>
            <a:pPr marL="0" indent="0">
              <a:buFont typeface="+mj-lt"/>
              <a:buNone/>
            </a:pPr>
            <a:endParaRPr lang="en-US" dirty="0"/>
          </a:p>
          <a:p>
            <a:pPr marL="0" indent="0">
              <a:buFont typeface="+mj-lt"/>
              <a:buNone/>
            </a:pPr>
            <a:r>
              <a:rPr lang="en-US" dirty="0"/>
              <a:t>If a snoop hits the L2 tag, the L2 must then arbitrate with the L1 cache to update the L1 block state.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4663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A snooping coherence protocol is implemented by incorporating a </a:t>
            </a:r>
            <a:r>
              <a:rPr lang="en-US" b="1" dirty="0"/>
              <a:t>Finite-State Machine (FSM) controller</a:t>
            </a:r>
            <a:r>
              <a:rPr lang="en-US" dirty="0"/>
              <a:t> in each node.</a:t>
            </a:r>
          </a:p>
          <a:p>
            <a:endParaRPr lang="en-US" dirty="0"/>
          </a:p>
          <a:p>
            <a:r>
              <a:rPr lang="en-US" i="1" dirty="0"/>
              <a:t>(arrow down)</a:t>
            </a:r>
          </a:p>
          <a:p>
            <a:r>
              <a:rPr lang="en-US" dirty="0"/>
              <a:t>Logically, one can think of a </a:t>
            </a:r>
            <a:r>
              <a:rPr lang="en-US" b="1" dirty="0"/>
              <a:t>separate FSM controller for each cache block</a:t>
            </a:r>
            <a:r>
              <a:rPr lang="en-US" dirty="0"/>
              <a:t>.</a:t>
            </a:r>
          </a:p>
          <a:p>
            <a:r>
              <a:rPr lang="en-US" dirty="0"/>
              <a:t>This allows snooping operations or cache requests for </a:t>
            </a:r>
            <a:r>
              <a:rPr lang="en-US" b="1" dirty="0"/>
              <a:t>distinct blocks</a:t>
            </a:r>
            <a:r>
              <a:rPr lang="en-US" dirty="0"/>
              <a:t> to proceed </a:t>
            </a:r>
            <a:r>
              <a:rPr lang="en-US" b="1" dirty="0"/>
              <a:t>independently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(arrow down)</a:t>
            </a:r>
          </a:p>
          <a:p>
            <a:r>
              <a:rPr lang="en-US" b="1" dirty="0"/>
              <a:t>Handling Multiple Operations</a:t>
            </a:r>
          </a:p>
          <a:p>
            <a:r>
              <a:rPr lang="en-US" dirty="0"/>
              <a:t>In actual implementations, a </a:t>
            </a:r>
            <a:r>
              <a:rPr lang="en-US" b="1" dirty="0"/>
              <a:t>single controller</a:t>
            </a:r>
            <a:r>
              <a:rPr lang="en-US" dirty="0"/>
              <a:t> handles operations to multiple distinct blocks in an </a:t>
            </a:r>
            <a:r>
              <a:rPr lang="en-US" b="1" dirty="0"/>
              <a:t>interleaved fashion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Interleaving:</a:t>
            </a:r>
            <a:r>
              <a:rPr lang="en-US" dirty="0"/>
              <a:t> </a:t>
            </a:r>
          </a:p>
          <a:p>
            <a:r>
              <a:rPr lang="en-US" dirty="0"/>
              <a:t>One operation may be initiated before another is completed, </a:t>
            </a:r>
          </a:p>
          <a:p>
            <a:r>
              <a:rPr lang="en-US" dirty="0"/>
              <a:t>even though only one cache access or one bus access is allowed at a time.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571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&gt;&gt;</a:t>
            </a:r>
          </a:p>
          <a:p>
            <a:r>
              <a:rPr lang="en-US" b="1" dirty="0"/>
              <a:t>Write-Through Snoopy Invalidate Protocol</a:t>
            </a:r>
          </a:p>
          <a:p>
            <a:endParaRPr lang="en-US" b="1" dirty="0"/>
          </a:p>
          <a:p>
            <a:r>
              <a:rPr lang="en-US" dirty="0"/>
              <a:t>This is a </a:t>
            </a:r>
            <a:r>
              <a:rPr lang="en-US" b="1" dirty="0"/>
              <a:t>2-state protocol</a:t>
            </a:r>
            <a:r>
              <a:rPr lang="en-US" dirty="0"/>
              <a:t> per block: </a:t>
            </a:r>
            <a:r>
              <a:rPr lang="en-US" b="1" dirty="0"/>
              <a:t>Valid (V)</a:t>
            </a:r>
            <a:r>
              <a:rPr lang="en-US" dirty="0"/>
              <a:t> and </a:t>
            </a:r>
            <a:r>
              <a:rPr lang="en-US" b="1" dirty="0"/>
              <a:t>Invalid (I)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i="1" dirty="0"/>
              <a:t>(Note: Other blocks (not in cache) are logically seen as having an invalid state</a:t>
            </a:r>
            <a:r>
              <a:rPr lang="en-US" dirty="0"/>
              <a:t>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3017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&gt;&gt;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It enforces a </a:t>
            </a:r>
            <a:r>
              <a:rPr lang="en-US" b="1" dirty="0"/>
              <a:t>Single-writer, multiple-reader (SWMR)</a:t>
            </a:r>
            <a:r>
              <a:rPr lang="en-US" dirty="0"/>
              <a:t> policy. </a:t>
            </a:r>
          </a:p>
          <a:p>
            <a:endParaRPr lang="en-US" b="0" dirty="0"/>
          </a:p>
          <a:p>
            <a:r>
              <a:rPr lang="en-US" b="0" u="sng" dirty="0"/>
              <a:t>Write Operation</a:t>
            </a:r>
            <a:endParaRPr lang="en-US" b="0" dirty="0"/>
          </a:p>
          <a:p>
            <a:r>
              <a:rPr lang="en-US" b="1" dirty="0"/>
              <a:t>Write-Through:</a:t>
            </a:r>
            <a:r>
              <a:rPr lang="en-US" dirty="0"/>
              <a:t> </a:t>
            </a:r>
          </a:p>
          <a:p>
            <a:r>
              <a:rPr lang="en-US" dirty="0"/>
              <a:t>Any write by a processor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PrWr</a:t>
            </a:r>
            <a:r>
              <a:rPr lang="en-US" dirty="0"/>
              <a:t>) results in a </a:t>
            </a:r>
            <a:r>
              <a:rPr lang="en-US" b="1" dirty="0"/>
              <a:t>Bus Write-Thru </a:t>
            </a:r>
            <a:r>
              <a:rPr lang="en-US" b="0" dirty="0"/>
              <a:t>(</a:t>
            </a: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BusWr</a:t>
            </a:r>
            <a:r>
              <a:rPr lang="en-US" b="0" dirty="0"/>
              <a:t>) </a:t>
            </a:r>
            <a:r>
              <a:rPr lang="en-US" dirty="0"/>
              <a:t>transaction on the bus.</a:t>
            </a:r>
          </a:p>
          <a:p>
            <a:endParaRPr lang="en-US" dirty="0"/>
          </a:p>
          <a:p>
            <a:r>
              <a:rPr lang="en-US" b="1" dirty="0"/>
              <a:t>Invalidation:</a:t>
            </a:r>
            <a:r>
              <a:rPr lang="en-US" dirty="0"/>
              <a:t> </a:t>
            </a:r>
          </a:p>
          <a:p>
            <a:r>
              <a:rPr lang="en-US" dirty="0"/>
              <a:t>The Bus Write-Thru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BusWr</a:t>
            </a:r>
            <a:r>
              <a:rPr lang="en-US" dirty="0"/>
              <a:t>) transaction </a:t>
            </a:r>
            <a:r>
              <a:rPr lang="en-US" b="1" dirty="0"/>
              <a:t>remotely invalidates</a:t>
            </a:r>
            <a:r>
              <a:rPr lang="en-US" dirty="0"/>
              <a:t> all other cache copies.</a:t>
            </a:r>
          </a:p>
          <a:p>
            <a:r>
              <a:rPr lang="en-US" dirty="0"/>
              <a:t>This ensures that while multiple readers can exist simultaneously, </a:t>
            </a:r>
            <a:r>
              <a:rPr lang="en-US" b="1" dirty="0"/>
              <a:t>each write invalidates all other copies</a:t>
            </a:r>
            <a:r>
              <a:rPr lang="en-US" dirty="0"/>
              <a:t> held by multiple readers.</a:t>
            </a:r>
          </a:p>
          <a:p>
            <a:endParaRPr lang="en-US" dirty="0"/>
          </a:p>
          <a:p>
            <a:r>
              <a:rPr lang="en-US" b="0" u="sng" dirty="0"/>
              <a:t>State Transitions</a:t>
            </a:r>
          </a:p>
          <a:p>
            <a:r>
              <a:rPr lang="en-US" b="1" dirty="0"/>
              <a:t>Write to Invalid (I):</a:t>
            </a:r>
            <a:r>
              <a:rPr lang="en-US" dirty="0"/>
              <a:t> </a:t>
            </a:r>
          </a:p>
          <a:p>
            <a:r>
              <a:rPr lang="en-US" dirty="0"/>
              <a:t>A processor write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PrWr</a:t>
            </a:r>
            <a:r>
              <a:rPr lang="en-US" dirty="0"/>
              <a:t>) to an invalid block transitions it to </a:t>
            </a:r>
            <a:r>
              <a:rPr lang="en-US" u="sng" dirty="0"/>
              <a:t>Valid </a:t>
            </a:r>
            <a:r>
              <a:rPr lang="en-US" dirty="0"/>
              <a:t>(V) and puts 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Bus Write-Thru </a:t>
            </a:r>
            <a:r>
              <a:rPr lang="en-US" dirty="0"/>
              <a:t>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BusWr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en-US" dirty="0"/>
              <a:t> on the bus.</a:t>
            </a:r>
          </a:p>
          <a:p>
            <a:endParaRPr lang="en-US" dirty="0"/>
          </a:p>
          <a:p>
            <a:r>
              <a:rPr lang="en-US" b="1" dirty="0"/>
              <a:t>Snooped Write (</a:t>
            </a:r>
            <a:r>
              <a:rPr lang="en-US" b="1" dirty="0" err="1"/>
              <a:t>BusWr</a:t>
            </a:r>
            <a:r>
              <a:rPr lang="en-US" b="1" dirty="0"/>
              <a:t>):</a:t>
            </a:r>
            <a:r>
              <a:rPr lang="en-US" dirty="0"/>
              <a:t> </a:t>
            </a:r>
          </a:p>
          <a:p>
            <a:r>
              <a:rPr lang="en-US" dirty="0"/>
              <a:t>A snooped write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BusWr</a:t>
            </a:r>
            <a:r>
              <a:rPr lang="en-US" dirty="0"/>
              <a:t>) by another processor transitions the block from </a:t>
            </a:r>
            <a:r>
              <a:rPr lang="en-US" u="sng" dirty="0"/>
              <a:t>Valid</a:t>
            </a:r>
            <a:r>
              <a:rPr lang="en-US" dirty="0"/>
              <a:t> (V) to </a:t>
            </a:r>
            <a:r>
              <a:rPr lang="en-US" b="1" u="sng" dirty="0"/>
              <a:t>Invalid</a:t>
            </a:r>
            <a:r>
              <a:rPr lang="en-US" b="1" dirty="0"/>
              <a:t> (I)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u="sng" dirty="0"/>
              <a:t>For reference: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Any write by a processor results in a </a:t>
            </a:r>
            <a:r>
              <a:rPr lang="en-US" b="1" dirty="0" err="1"/>
              <a:t>BusWr</a:t>
            </a:r>
            <a:r>
              <a:rPr lang="en-US" dirty="0"/>
              <a:t> (Bus Write-Thru),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which remotely invalidates all other cache copies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BusWr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 : Invalidated remotely</a:t>
            </a:r>
            <a:r>
              <a:rPr lang="en-US" dirty="0"/>
              <a:t>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788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&gt;&gt;</a:t>
            </a:r>
          </a:p>
          <a:p>
            <a:r>
              <a:rPr lang="en-US" b="1" dirty="0"/>
              <a:t>Q. </a:t>
            </a:r>
            <a:r>
              <a:rPr lang="en-US" dirty="0"/>
              <a:t>Is</a:t>
            </a:r>
            <a:r>
              <a:rPr lang="en-US" spc="-31" dirty="0"/>
              <a:t> </a:t>
            </a:r>
            <a:r>
              <a:rPr lang="en-US" spc="-9" dirty="0"/>
              <a:t>Two-</a:t>
            </a:r>
            <a:r>
              <a:rPr lang="en-US" dirty="0"/>
              <a:t>State</a:t>
            </a:r>
            <a:r>
              <a:rPr lang="en-US" spc="-31" dirty="0"/>
              <a:t> </a:t>
            </a:r>
            <a:r>
              <a:rPr lang="en-US" dirty="0"/>
              <a:t>Protocol</a:t>
            </a:r>
            <a:r>
              <a:rPr lang="en-US" spc="-22" dirty="0"/>
              <a:t> </a:t>
            </a:r>
            <a:r>
              <a:rPr lang="en-US" spc="-9" dirty="0"/>
              <a:t>Coherent?</a:t>
            </a:r>
          </a:p>
          <a:p>
            <a:r>
              <a:rPr lang="en-US" b="1" spc="-9" dirty="0"/>
              <a:t>A. </a:t>
            </a:r>
          </a:p>
          <a:p>
            <a:r>
              <a:rPr lang="en-US" dirty="0"/>
              <a:t>Yes, because all writes go to the bus, and the </a:t>
            </a:r>
            <a:r>
              <a:rPr lang="en-US" b="1" dirty="0"/>
              <a:t>bus order</a:t>
            </a:r>
            <a:r>
              <a:rPr lang="en-US" dirty="0"/>
              <a:t> </a:t>
            </a:r>
            <a:r>
              <a:rPr lang="en-US" u="sng" dirty="0"/>
              <a:t>serializes</a:t>
            </a:r>
            <a:r>
              <a:rPr lang="en-US" dirty="0"/>
              <a:t> </a:t>
            </a:r>
            <a:r>
              <a:rPr lang="en-US" i="1" dirty="0"/>
              <a:t>writes</a:t>
            </a:r>
            <a:r>
              <a:rPr lang="en-US" dirty="0"/>
              <a:t> and </a:t>
            </a:r>
            <a:r>
              <a:rPr lang="en-US" i="1" dirty="0"/>
              <a:t>invalidations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Since writes are serialized and reads are constrained to program order, </a:t>
            </a:r>
          </a:p>
          <a:p>
            <a:r>
              <a:rPr lang="en-US" dirty="0"/>
              <a:t>the three coherence requirements are met.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u="sng" dirty="0"/>
              <a:t>Three coherence requirements:</a:t>
            </a:r>
            <a:endParaRPr lang="en-US" u="sng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Program Order (or Write Atomicity)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Write Propagation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Write Serialization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4377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&gt;&gt;</a:t>
            </a:r>
          </a:p>
          <a:p>
            <a:r>
              <a:rPr lang="en-US"/>
              <a:t>This </a:t>
            </a:r>
            <a:r>
              <a:rPr lang="en-US" dirty="0"/>
              <a:t>invalidation protocol uses a write-back cache. </a:t>
            </a:r>
          </a:p>
          <a:p>
            <a:endParaRPr lang="en-US" dirty="0"/>
          </a:p>
          <a:p>
            <a:r>
              <a:rPr lang="en-US" i="1" dirty="0"/>
              <a:t>(arrow down)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0" dirty="0"/>
              <a:t>Each</a:t>
            </a:r>
            <a:r>
              <a:rPr lang="en-US" b="1" dirty="0"/>
              <a:t> memory block</a:t>
            </a:r>
            <a:r>
              <a:rPr lang="en-US" dirty="0"/>
              <a:t> is in one of three logical states (regardless of which cache holds it):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Clean:</a:t>
            </a:r>
            <a:r>
              <a:rPr lang="en-US" dirty="0"/>
              <a:t> Non-dirty in all caches and up-to-date in memory (</a:t>
            </a:r>
            <a:r>
              <a:rPr lang="en-US" b="1" dirty="0"/>
              <a:t>Shared</a:t>
            </a:r>
            <a:r>
              <a:rPr lang="en-US" dirty="0"/>
              <a:t> in multiple caches).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Dirty:</a:t>
            </a:r>
            <a:r>
              <a:rPr lang="en-US" dirty="0"/>
              <a:t> Dirty in </a:t>
            </a:r>
            <a:r>
              <a:rPr lang="en-US" b="0" u="sng" dirty="0"/>
              <a:t>exactly one cache</a:t>
            </a:r>
            <a:r>
              <a:rPr lang="en-US" dirty="0"/>
              <a:t> (</a:t>
            </a:r>
            <a:r>
              <a:rPr lang="en-US" b="1" dirty="0"/>
              <a:t>Exclusive</a:t>
            </a:r>
            <a:r>
              <a:rPr lang="en-US" dirty="0"/>
              <a:t> in that one cache).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Not in any cache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(arrow down)</a:t>
            </a:r>
          </a:p>
          <a:p>
            <a:r>
              <a:rPr lang="en-US" b="0" dirty="0"/>
              <a:t>The </a:t>
            </a:r>
            <a:r>
              <a:rPr lang="en-US" b="1" dirty="0"/>
              <a:t>Cache Block States</a:t>
            </a:r>
            <a:r>
              <a:rPr lang="en-US" dirty="0"/>
              <a:t> (tracked by each cache) are: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Shared (read-only):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Block can be read, but is clean (non-dirty) and up-to-date in memory.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Exclusive (writeable/dirty):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Cache has the </a:t>
            </a:r>
            <a:r>
              <a:rPr lang="en-US" b="0" u="sng" dirty="0"/>
              <a:t>only copy</a:t>
            </a:r>
            <a:r>
              <a:rPr lang="en-US" dirty="0"/>
              <a:t>; it is writeable and dirty (not up-to-date in memory).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Invalid: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Block contains no data.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(arrow down)</a:t>
            </a:r>
            <a:endParaRPr lang="en-US" dirty="0"/>
          </a:p>
          <a:p>
            <a:r>
              <a:rPr lang="en-US" b="1" dirty="0"/>
              <a:t>Handling Read Misses and Dirty Copies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Read Misses: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Cause all caches to </a:t>
            </a:r>
            <a:r>
              <a:rPr lang="en-US" b="1" dirty="0"/>
              <a:t>snoop the bus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If a cache has a </a:t>
            </a:r>
            <a:r>
              <a:rPr lang="en-US" b="1" dirty="0"/>
              <a:t>dirty copy</a:t>
            </a:r>
            <a:r>
              <a:rPr lang="en-US" dirty="0"/>
              <a:t> of the requested block, </a:t>
            </a:r>
            <a:br>
              <a:rPr lang="en-US" dirty="0"/>
            </a:br>
            <a:r>
              <a:rPr lang="en-US" dirty="0"/>
              <a:t>it </a:t>
            </a:r>
            <a:r>
              <a:rPr lang="en-US" b="1" dirty="0"/>
              <a:t>provides the block</a:t>
            </a:r>
            <a:r>
              <a:rPr lang="en-US" dirty="0"/>
              <a:t> in response to the read request and </a:t>
            </a:r>
            <a:r>
              <a:rPr lang="en-US" b="1" dirty="0"/>
              <a:t>aborts the memory access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918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none" dirty="0"/>
              <a:t>&gt;&gt;</a:t>
            </a:r>
          </a:p>
          <a:p>
            <a:r>
              <a:rPr lang="en-US" u="sng" dirty="0"/>
              <a:t>This </a:t>
            </a:r>
            <a:r>
              <a:rPr lang="en-US" u="sng" spc="-18" dirty="0">
                <a:solidFill>
                  <a:srgbClr val="000000"/>
                </a:solidFill>
              </a:rPr>
              <a:t>Write-</a:t>
            </a:r>
            <a:r>
              <a:rPr lang="en-US" u="sng" dirty="0">
                <a:solidFill>
                  <a:srgbClr val="000000"/>
                </a:solidFill>
              </a:rPr>
              <a:t>Back </a:t>
            </a:r>
            <a:r>
              <a:rPr lang="en-US" u="sng" dirty="0"/>
              <a:t>FSM shows</a:t>
            </a:r>
          </a:p>
          <a:p>
            <a:r>
              <a:rPr lang="en-US" dirty="0"/>
              <a:t>transitions for CPU operations (Read/Write, Hit/Miss) </a:t>
            </a:r>
          </a:p>
          <a:p>
            <a:r>
              <a:rPr lang="en-US" dirty="0"/>
              <a:t>between </a:t>
            </a:r>
            <a:r>
              <a:rPr lang="en-US" b="1" dirty="0"/>
              <a:t>Invalid</a:t>
            </a:r>
            <a:r>
              <a:rPr lang="en-US" dirty="0"/>
              <a:t>, </a:t>
            </a:r>
            <a:r>
              <a:rPr lang="en-US" b="1" dirty="0"/>
              <a:t>Shared</a:t>
            </a:r>
            <a:r>
              <a:rPr lang="en-US" dirty="0"/>
              <a:t>, and </a:t>
            </a:r>
            <a:r>
              <a:rPr lang="en-US" b="1" dirty="0"/>
              <a:t>Modified</a:t>
            </a:r>
            <a:r>
              <a:rPr lang="en-US" dirty="0"/>
              <a:t> (Exclusive/Dirty) states. </a:t>
            </a:r>
          </a:p>
          <a:p>
            <a:endParaRPr lang="en-US" dirty="0"/>
          </a:p>
          <a:p>
            <a:r>
              <a:rPr lang="en-US" dirty="0"/>
              <a:t>For example, </a:t>
            </a:r>
          </a:p>
          <a:p>
            <a:r>
              <a:rPr lang="en-US" dirty="0"/>
              <a:t>a CPU </a:t>
            </a:r>
            <a:r>
              <a:rPr lang="en-US" i="1" u="sng" dirty="0"/>
              <a:t>Write Hit</a:t>
            </a:r>
            <a:r>
              <a:rPr lang="en-US" u="none" dirty="0"/>
              <a:t> </a:t>
            </a:r>
            <a:r>
              <a:rPr lang="en-US" dirty="0"/>
              <a:t>on a </a:t>
            </a:r>
            <a:r>
              <a:rPr lang="en-US" b="1" dirty="0"/>
              <a:t>Shared</a:t>
            </a:r>
            <a:r>
              <a:rPr lang="en-US" dirty="0"/>
              <a:t> block </a:t>
            </a:r>
          </a:p>
          <a:p>
            <a:r>
              <a:rPr lang="en-US" dirty="0"/>
              <a:t>results in a </a:t>
            </a:r>
            <a:r>
              <a:rPr lang="en-US" i="1" u="sng" dirty="0"/>
              <a:t>Write Miss</a:t>
            </a:r>
            <a:r>
              <a:rPr lang="en-US" dirty="0"/>
              <a:t> on the Bus to </a:t>
            </a:r>
            <a:r>
              <a:rPr lang="en-US" b="1" i="1" dirty="0"/>
              <a:t>invalidate</a:t>
            </a:r>
            <a:r>
              <a:rPr lang="en-US" dirty="0"/>
              <a:t> all other copies, </a:t>
            </a:r>
          </a:p>
          <a:p>
            <a:r>
              <a:rPr lang="en-US" dirty="0"/>
              <a:t>and the block becomes </a:t>
            </a:r>
            <a:r>
              <a:rPr lang="en-US" b="1" dirty="0"/>
              <a:t>Modified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1036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u="sng" dirty="0"/>
              <a:t>This FSM shows</a:t>
            </a:r>
          </a:p>
          <a:p>
            <a:r>
              <a:rPr lang="en-US" dirty="0"/>
              <a:t>state changes due to requests from bus transactions made by other CPUs. 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 miss</a:t>
            </a:r>
            <a:r>
              <a:rPr lang="en-US" dirty="0"/>
              <a:t> from another CPU on a </a:t>
            </a:r>
            <a:r>
              <a:rPr lang="en-US" b="1" dirty="0"/>
              <a:t>Modified</a:t>
            </a:r>
            <a:r>
              <a:rPr lang="en-US" dirty="0"/>
              <a:t> block </a:t>
            </a:r>
          </a:p>
          <a:p>
            <a:r>
              <a:rPr lang="en-US" dirty="0"/>
              <a:t>forces a </a:t>
            </a:r>
            <a:r>
              <a:rPr lang="en-US" b="1" dirty="0"/>
              <a:t>Write Back Block</a:t>
            </a:r>
            <a:r>
              <a:rPr lang="en-US" dirty="0"/>
              <a:t> (to memory) </a:t>
            </a:r>
          </a:p>
          <a:p>
            <a:r>
              <a:rPr lang="en-US" dirty="0"/>
              <a:t>and the local state changes to </a:t>
            </a:r>
            <a:r>
              <a:rPr lang="en-US" b="1" dirty="0"/>
              <a:t>Shared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 miss</a:t>
            </a:r>
            <a:r>
              <a:rPr lang="en-US" dirty="0"/>
              <a:t> from another CPU on a </a:t>
            </a:r>
            <a:r>
              <a:rPr lang="en-US" b="1" dirty="0"/>
              <a:t>Shared</a:t>
            </a:r>
            <a:r>
              <a:rPr lang="en-US" dirty="0"/>
              <a:t> or </a:t>
            </a:r>
            <a:r>
              <a:rPr lang="en-US" b="1" dirty="0"/>
              <a:t>Modified</a:t>
            </a:r>
            <a:r>
              <a:rPr lang="en-US" dirty="0"/>
              <a:t> block </a:t>
            </a:r>
          </a:p>
          <a:p>
            <a:r>
              <a:rPr lang="en-US" dirty="0"/>
              <a:t>forces the local state to </a:t>
            </a:r>
            <a:r>
              <a:rPr lang="en-US" b="1" dirty="0"/>
              <a:t>Invalidate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9114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five-step example demonstrating the write-back, </a:t>
            </a:r>
          </a:p>
          <a:p>
            <a:r>
              <a:rPr lang="en-US" b="1" dirty="0"/>
              <a:t>invalidate</a:t>
            </a:r>
            <a:r>
              <a:rPr lang="en-US" dirty="0"/>
              <a:t> protocol using addresses A1 and A2 on two processors (P1 and P2). </a:t>
            </a:r>
          </a:p>
          <a:p>
            <a:endParaRPr lang="en-US" dirty="0"/>
          </a:p>
          <a:p>
            <a:r>
              <a:rPr lang="en-US" dirty="0"/>
              <a:t>Key events: (slides 43 through 49)</a:t>
            </a:r>
          </a:p>
          <a:p>
            <a:pPr marL="228600" indent="-228600">
              <a:buAutoNum type="arabicPeriod"/>
            </a:pPr>
            <a:r>
              <a:rPr lang="en-US" dirty="0"/>
              <a:t>P1 Writes 10 to A1, puts A1 in </a:t>
            </a:r>
            <a:r>
              <a:rPr lang="en-US" b="1" dirty="0"/>
              <a:t>Exclusive</a:t>
            </a:r>
            <a:r>
              <a:rPr lang="en-US" dirty="0"/>
              <a:t> state. </a:t>
            </a:r>
            <a:br>
              <a:rPr lang="en-US" dirty="0"/>
            </a:b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P1 Reads 10 from A1 </a:t>
            </a:r>
            <a:br>
              <a:rPr lang="en-US" dirty="0"/>
            </a:b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P2 Reads A1, puts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RdMs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(read miss)</a:t>
            </a:r>
            <a:r>
              <a:rPr lang="en-US" dirty="0"/>
              <a:t> on bus; </a:t>
            </a:r>
            <a:br>
              <a:rPr lang="en-US" dirty="0"/>
            </a:br>
            <a:r>
              <a:rPr lang="en-US" dirty="0"/>
              <a:t>P1 changes from </a:t>
            </a:r>
            <a:r>
              <a:rPr lang="en-US" b="1" dirty="0"/>
              <a:t>Exclusive</a:t>
            </a:r>
            <a:r>
              <a:rPr lang="en-US" dirty="0"/>
              <a:t> to </a:t>
            </a:r>
            <a:r>
              <a:rPr lang="en-US" b="1" dirty="0"/>
              <a:t>Shared</a:t>
            </a:r>
            <a:r>
              <a:rPr lang="en-US" dirty="0"/>
              <a:t> and writes A1:10 back to memory. </a:t>
            </a:r>
            <a:br>
              <a:rPr lang="en-US" dirty="0"/>
            </a:br>
            <a:r>
              <a:rPr lang="en-US" dirty="0"/>
              <a:t>P2 receives the data and is also </a:t>
            </a:r>
            <a:r>
              <a:rPr lang="en-US" b="1" dirty="0"/>
              <a:t>Shared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P2 Writes 20 to A1, puts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WrMs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(write miss)</a:t>
            </a:r>
            <a:r>
              <a:rPr lang="en-US" dirty="0"/>
              <a:t> on bus; </a:t>
            </a:r>
            <a:br>
              <a:rPr lang="en-US" dirty="0"/>
            </a:br>
            <a:r>
              <a:rPr lang="en-US" dirty="0"/>
              <a:t>P1 changes to </a:t>
            </a:r>
            <a:r>
              <a:rPr lang="en-US" b="1" dirty="0"/>
              <a:t>Invalid</a:t>
            </a:r>
            <a:r>
              <a:rPr lang="en-US" dirty="0"/>
              <a:t> and P2 becomes </a:t>
            </a:r>
            <a:r>
              <a:rPr lang="en-US" b="1" dirty="0"/>
              <a:t>Exclusive</a:t>
            </a:r>
            <a:r>
              <a:rPr lang="en-US" dirty="0"/>
              <a:t> with A1:20.</a:t>
            </a:r>
            <a:br>
              <a:rPr lang="en-US" dirty="0"/>
            </a:b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P2 Writes 40 to A2, assumes A1 and A2 map to the same cache line. </a:t>
            </a:r>
            <a:br>
              <a:rPr lang="en-US" dirty="0"/>
            </a:br>
            <a:r>
              <a:rPr lang="en-US" dirty="0"/>
              <a:t>P2's dirty A1 block is first written back to memory, then A2 is allocated in the </a:t>
            </a:r>
            <a:r>
              <a:rPr lang="en-US" b="1" dirty="0"/>
              <a:t>Exclusive</a:t>
            </a:r>
            <a:r>
              <a:rPr lang="en-US" dirty="0"/>
              <a:t> state.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58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 Writes 10 to A1, </a:t>
            </a:r>
            <a:br>
              <a:rPr lang="en-US" dirty="0"/>
            </a:br>
            <a:r>
              <a:rPr lang="en-US" dirty="0"/>
              <a:t>puts A1 in </a:t>
            </a:r>
            <a:r>
              <a:rPr lang="en-US" b="1" dirty="0"/>
              <a:t>Exclusive</a:t>
            </a:r>
            <a:r>
              <a:rPr lang="en-US" dirty="0"/>
              <a:t> state.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193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 Reads 10 from A1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842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P2 Reads A1, </a:t>
            </a:r>
            <a:br>
              <a:rPr lang="en-US" dirty="0"/>
            </a:br>
            <a:r>
              <a:rPr lang="en-US" dirty="0"/>
              <a:t>puts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RdMs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(read miss)</a:t>
            </a:r>
            <a:r>
              <a:rPr lang="en-US" dirty="0"/>
              <a:t> on bus;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dirty="0"/>
            </a:br>
            <a:r>
              <a:rPr lang="en-US" dirty="0"/>
              <a:t>P1 changes from </a:t>
            </a:r>
            <a:r>
              <a:rPr lang="en-US" b="1" dirty="0"/>
              <a:t>Exclusive</a:t>
            </a:r>
            <a:r>
              <a:rPr lang="en-US" dirty="0"/>
              <a:t> to </a:t>
            </a:r>
            <a:r>
              <a:rPr lang="en-US" b="1" dirty="0"/>
              <a:t>Share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and writes A1:10 back to memory.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dirty="0"/>
            </a:br>
            <a:r>
              <a:rPr lang="en-US" dirty="0"/>
              <a:t>P2 receives the data and is also </a:t>
            </a:r>
            <a:r>
              <a:rPr lang="en-US" b="1" dirty="0"/>
              <a:t>Share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4577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 Writes 20 to A1, </a:t>
            </a:r>
            <a:br>
              <a:rPr lang="en-US" dirty="0"/>
            </a:br>
            <a:r>
              <a:rPr lang="en-US" dirty="0"/>
              <a:t>puts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WrMs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(write miss)</a:t>
            </a:r>
            <a:r>
              <a:rPr lang="en-US" dirty="0"/>
              <a:t> on bus; </a:t>
            </a:r>
          </a:p>
          <a:p>
            <a:br>
              <a:rPr lang="en-US" dirty="0"/>
            </a:br>
            <a:r>
              <a:rPr lang="en-US" dirty="0"/>
              <a:t>P1 changes to </a:t>
            </a:r>
            <a:r>
              <a:rPr lang="en-US" b="1" dirty="0"/>
              <a:t>Invalid</a:t>
            </a:r>
            <a:r>
              <a:rPr lang="en-US" dirty="0"/>
              <a:t> and P2 becomes </a:t>
            </a:r>
            <a:r>
              <a:rPr lang="en-US" b="1" dirty="0"/>
              <a:t>Exclusive</a:t>
            </a:r>
            <a:r>
              <a:rPr lang="en-US" dirty="0"/>
              <a:t> with A1:20.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0115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P2 Writes 40 to A2, </a:t>
            </a:r>
            <a:br>
              <a:rPr lang="en-US" dirty="0"/>
            </a:br>
            <a:r>
              <a:rPr lang="en-US" dirty="0"/>
              <a:t>assumes A1 and A2 map to the same cache line.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dirty="0"/>
            </a:br>
            <a:r>
              <a:rPr lang="en-US" dirty="0"/>
              <a:t>P2's dirty A1 block is first written back to memory, </a:t>
            </a:r>
            <a:br>
              <a:rPr lang="en-US" dirty="0"/>
            </a:br>
            <a:r>
              <a:rPr lang="en-US" dirty="0"/>
              <a:t>then A2 is allocated in the </a:t>
            </a:r>
            <a:r>
              <a:rPr lang="en-US" b="1" dirty="0"/>
              <a:t>Exclusive</a:t>
            </a:r>
            <a:r>
              <a:rPr lang="en-US" dirty="0"/>
              <a:t> state.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0828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Multiprocessors are a good choice due to the decline in uniprocessor speedup. </a:t>
            </a:r>
          </a:p>
          <a:p>
            <a:r>
              <a:rPr lang="en-US" dirty="0"/>
              <a:t>However, the key challenges are </a:t>
            </a:r>
            <a:r>
              <a:rPr lang="en-US" u="sng" dirty="0"/>
              <a:t>low application parallelism</a:t>
            </a:r>
            <a:r>
              <a:rPr lang="en-US" dirty="0"/>
              <a:t> and </a:t>
            </a:r>
            <a:r>
              <a:rPr lang="en-US" u="sng" dirty="0"/>
              <a:t>long remote memory latency</a:t>
            </a:r>
            <a:r>
              <a:rPr lang="en-US" dirty="0"/>
              <a:t>. </a:t>
            </a:r>
          </a:p>
          <a:p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1" u="none" dirty="0"/>
              <a:t>(arrow down)</a:t>
            </a:r>
          </a:p>
          <a:p>
            <a:pPr marL="11206" indent="0">
              <a:spcBef>
                <a:spcPts val="468"/>
              </a:spcBef>
              <a:buNone/>
              <a:tabLst>
                <a:tab pos="278481" algn="l"/>
              </a:tabLst>
            </a:pPr>
            <a:r>
              <a:rPr lang="en-US" sz="2206" dirty="0">
                <a:solidFill>
                  <a:srgbClr val="FF0000"/>
                </a:solidFill>
                <a:latin typeface="Calibri"/>
                <a:cs typeface="Calibri"/>
              </a:rPr>
              <a:t>Centralized</a:t>
            </a:r>
            <a:r>
              <a:rPr lang="en-US" sz="2206" spc="8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206" dirty="0">
                <a:latin typeface="Calibri"/>
                <a:cs typeface="Calibri"/>
              </a:rPr>
              <a:t>vs.</a:t>
            </a:r>
            <a:r>
              <a:rPr lang="en-US" sz="2206" spc="66" dirty="0">
                <a:latin typeface="Calibri"/>
                <a:cs typeface="Calibri"/>
              </a:rPr>
              <a:t> </a:t>
            </a:r>
            <a:r>
              <a:rPr lang="en-US" sz="2206" dirty="0">
                <a:solidFill>
                  <a:srgbClr val="3366FF"/>
                </a:solidFill>
                <a:latin typeface="Calibri"/>
                <a:cs typeface="Calibri"/>
              </a:rPr>
              <a:t>distributed</a:t>
            </a:r>
            <a:r>
              <a:rPr lang="en-US" sz="2206" spc="8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lang="en-US" sz="2206" spc="-9" dirty="0">
                <a:solidFill>
                  <a:srgbClr val="3366FF"/>
                </a:solidFill>
                <a:latin typeface="Calibri"/>
                <a:cs typeface="Calibri"/>
              </a:rPr>
              <a:t>memory</a:t>
            </a:r>
            <a:endParaRPr lang="en-US" sz="2206" spc="-9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1206" indent="0">
              <a:spcBef>
                <a:spcPts val="468"/>
              </a:spcBef>
              <a:buNone/>
              <a:tabLst>
                <a:tab pos="278481" algn="l"/>
              </a:tabLst>
            </a:pPr>
            <a:r>
              <a:rPr lang="en-US" sz="1853" dirty="0">
                <a:solidFill>
                  <a:srgbClr val="FF0000"/>
                </a:solidFill>
                <a:latin typeface="Calibri"/>
                <a:cs typeface="Calibri"/>
              </a:rPr>
              <a:t>* Small</a:t>
            </a:r>
            <a:r>
              <a:rPr lang="en-US" sz="1853" spc="1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53" dirty="0">
                <a:solidFill>
                  <a:srgbClr val="FF0000"/>
                </a:solidFill>
                <a:latin typeface="Calibri"/>
                <a:cs typeface="Calibri"/>
              </a:rPr>
              <a:t>multiprocessor</a:t>
            </a:r>
            <a:r>
              <a:rPr lang="en-US" sz="1853" spc="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53" dirty="0">
                <a:solidFill>
                  <a:srgbClr val="FF0000"/>
                </a:solidFill>
                <a:latin typeface="Calibri"/>
                <a:cs typeface="Calibri"/>
              </a:rPr>
              <a:t>limit</a:t>
            </a:r>
            <a:r>
              <a:rPr lang="en-US" sz="1853" spc="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53" dirty="0">
                <a:solidFill>
                  <a:srgbClr val="FF0000"/>
                </a:solidFill>
                <a:latin typeface="Calibri"/>
                <a:cs typeface="Calibri"/>
              </a:rPr>
              <a:t>but</a:t>
            </a:r>
            <a:r>
              <a:rPr lang="en-US" sz="1853" spc="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53" dirty="0">
                <a:solidFill>
                  <a:srgbClr val="FF0000"/>
                </a:solidFill>
                <a:latin typeface="Calibri"/>
                <a:cs typeface="Calibri"/>
              </a:rPr>
              <a:t>lower</a:t>
            </a:r>
            <a:r>
              <a:rPr lang="en-US" sz="1853" spc="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53" dirty="0">
                <a:solidFill>
                  <a:srgbClr val="FF0000"/>
                </a:solidFill>
                <a:latin typeface="Calibri"/>
                <a:cs typeface="Calibri"/>
              </a:rPr>
              <a:t>latency</a:t>
            </a:r>
            <a:r>
              <a:rPr lang="en-US" sz="1853" spc="18" dirty="0">
                <a:latin typeface="Calibri"/>
                <a:cs typeface="Calibri"/>
              </a:rPr>
              <a:t> </a:t>
            </a:r>
          </a:p>
          <a:p>
            <a:pPr marL="11206" indent="0">
              <a:spcBef>
                <a:spcPts val="468"/>
              </a:spcBef>
              <a:buNone/>
              <a:tabLst>
                <a:tab pos="278481" algn="l"/>
              </a:tabLst>
            </a:pPr>
            <a:r>
              <a:rPr lang="en-US" sz="1853" dirty="0">
                <a:solidFill>
                  <a:srgbClr val="3366FF"/>
                </a:solidFill>
                <a:latin typeface="Calibri"/>
                <a:cs typeface="Calibri"/>
              </a:rPr>
              <a:t>* Need</a:t>
            </a:r>
            <a:r>
              <a:rPr lang="en-US"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lang="en-US" sz="1853" dirty="0">
                <a:solidFill>
                  <a:srgbClr val="3366FF"/>
                </a:solidFill>
                <a:latin typeface="Calibri"/>
                <a:cs typeface="Calibri"/>
              </a:rPr>
              <a:t>larger</a:t>
            </a:r>
            <a:r>
              <a:rPr lang="en-US" sz="1853" spc="22" dirty="0">
                <a:solidFill>
                  <a:srgbClr val="3366FF"/>
                </a:solidFill>
                <a:latin typeface="Calibri"/>
                <a:cs typeface="Calibri"/>
              </a:rPr>
              <a:t> bandwidth </a:t>
            </a:r>
            <a:r>
              <a:rPr lang="en-US" sz="1853" dirty="0">
                <a:solidFill>
                  <a:srgbClr val="3366FF"/>
                </a:solidFill>
                <a:latin typeface="Calibri"/>
                <a:cs typeface="Calibri"/>
              </a:rPr>
              <a:t>for</a:t>
            </a:r>
            <a:r>
              <a:rPr lang="en-US"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lang="en-US" sz="1853" dirty="0">
                <a:solidFill>
                  <a:srgbClr val="3366FF"/>
                </a:solidFill>
                <a:latin typeface="Calibri"/>
                <a:cs typeface="Calibri"/>
              </a:rPr>
              <a:t>larger</a:t>
            </a:r>
            <a:r>
              <a:rPr lang="en-US"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lang="en-US" sz="1853" spc="-22" dirty="0">
                <a:solidFill>
                  <a:srgbClr val="3366FF"/>
                </a:solidFill>
                <a:latin typeface="Calibri"/>
                <a:cs typeface="Calibri"/>
              </a:rPr>
              <a:t>multiprocessor</a:t>
            </a:r>
          </a:p>
          <a:p>
            <a:pPr marL="11206" indent="0">
              <a:spcBef>
                <a:spcPts val="468"/>
              </a:spcBef>
              <a:buNone/>
              <a:tabLst>
                <a:tab pos="278481" algn="l"/>
              </a:tabLst>
            </a:pPr>
            <a:endParaRPr lang="en-US" sz="1853" dirty="0">
              <a:latin typeface="Calibri"/>
              <a:cs typeface="Calibri"/>
            </a:endParaRPr>
          </a:p>
          <a:p>
            <a:pPr marL="11206" indent="0">
              <a:spcBef>
                <a:spcPts val="516"/>
              </a:spcBef>
              <a:buNone/>
              <a:tabLst>
                <a:tab pos="278481" algn="l"/>
              </a:tabLst>
            </a:pPr>
            <a:r>
              <a:rPr lang="en-US" sz="2206" dirty="0">
                <a:latin typeface="Calibri"/>
                <a:cs typeface="Calibri"/>
              </a:rPr>
              <a:t>Message</a:t>
            </a:r>
            <a:r>
              <a:rPr lang="en-US" sz="2206" spc="84" dirty="0">
                <a:latin typeface="Calibri"/>
                <a:cs typeface="Calibri"/>
              </a:rPr>
              <a:t> </a:t>
            </a:r>
            <a:r>
              <a:rPr lang="en-US" sz="2206" dirty="0">
                <a:latin typeface="Calibri"/>
                <a:cs typeface="Calibri"/>
              </a:rPr>
              <a:t>Passing</a:t>
            </a:r>
            <a:r>
              <a:rPr lang="en-US" sz="2206" spc="75" dirty="0">
                <a:latin typeface="Calibri"/>
                <a:cs typeface="Calibri"/>
              </a:rPr>
              <a:t> </a:t>
            </a:r>
            <a:r>
              <a:rPr lang="en-US" sz="2206" dirty="0">
                <a:latin typeface="Calibri"/>
                <a:cs typeface="Calibri"/>
              </a:rPr>
              <a:t>vs.</a:t>
            </a:r>
            <a:r>
              <a:rPr lang="en-US" sz="2206" spc="66" dirty="0">
                <a:latin typeface="Calibri"/>
                <a:cs typeface="Calibri"/>
              </a:rPr>
              <a:t> </a:t>
            </a:r>
            <a:r>
              <a:rPr lang="en-US" sz="2206" dirty="0">
                <a:latin typeface="Calibri"/>
                <a:cs typeface="Calibri"/>
              </a:rPr>
              <a:t>Shared</a:t>
            </a:r>
            <a:r>
              <a:rPr lang="en-US" sz="2206" spc="88" dirty="0">
                <a:latin typeface="Calibri"/>
                <a:cs typeface="Calibri"/>
              </a:rPr>
              <a:t> </a:t>
            </a:r>
            <a:r>
              <a:rPr lang="en-US" sz="2206" dirty="0">
                <a:latin typeface="Calibri"/>
                <a:cs typeface="Calibri"/>
              </a:rPr>
              <a:t>Address</a:t>
            </a:r>
            <a:r>
              <a:rPr lang="en-US" sz="2206" spc="75" dirty="0">
                <a:latin typeface="Calibri"/>
                <a:cs typeface="Calibri"/>
              </a:rPr>
              <a:t> </a:t>
            </a:r>
            <a:r>
              <a:rPr lang="en-US" sz="2206" spc="-22" dirty="0" err="1">
                <a:latin typeface="Calibri"/>
                <a:cs typeface="Calibri"/>
              </a:rPr>
              <a:t>Mulitprocessors</a:t>
            </a:r>
            <a:endParaRPr lang="en-US" sz="2206" spc="-22" dirty="0">
              <a:latin typeface="Calibri"/>
              <a:cs typeface="Calibri"/>
            </a:endParaRPr>
          </a:p>
          <a:p>
            <a:pPr marL="11206" indent="0">
              <a:spcBef>
                <a:spcPts val="516"/>
              </a:spcBef>
              <a:buNone/>
              <a:tabLst>
                <a:tab pos="278481" algn="l"/>
              </a:tabLst>
            </a:pPr>
            <a:r>
              <a:rPr lang="en-US" sz="1853" u="none" dirty="0">
                <a:latin typeface="Calibri"/>
                <a:cs typeface="Calibri"/>
              </a:rPr>
              <a:t>For </a:t>
            </a:r>
            <a:r>
              <a:rPr lang="en-US" sz="1853" u="sng" dirty="0">
                <a:latin typeface="Calibri"/>
                <a:cs typeface="Calibri"/>
              </a:rPr>
              <a:t>shared memory:</a:t>
            </a:r>
            <a:r>
              <a:rPr lang="en-US" sz="1853" spc="31" dirty="0">
                <a:latin typeface="Calibri"/>
                <a:cs typeface="Calibri"/>
              </a:rPr>
              <a:t> </a:t>
            </a:r>
            <a:r>
              <a:rPr lang="en-US" sz="1853" dirty="0">
                <a:solidFill>
                  <a:srgbClr val="FF0000"/>
                </a:solidFill>
                <a:latin typeface="Calibri"/>
                <a:cs typeface="Calibri"/>
              </a:rPr>
              <a:t>Uniform</a:t>
            </a:r>
            <a:r>
              <a:rPr lang="en-US" sz="1853" spc="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53" dirty="0">
                <a:solidFill>
                  <a:srgbClr val="FF0000"/>
                </a:solidFill>
                <a:latin typeface="Calibri"/>
                <a:cs typeface="Calibri"/>
              </a:rPr>
              <a:t>access</a:t>
            </a:r>
            <a:r>
              <a:rPr lang="en-US" sz="1853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53" dirty="0">
                <a:latin typeface="Calibri"/>
                <a:cs typeface="Calibri"/>
              </a:rPr>
              <a:t>or</a:t>
            </a:r>
            <a:r>
              <a:rPr lang="en-US" sz="1853" spc="31" dirty="0">
                <a:latin typeface="Calibri"/>
                <a:cs typeface="Calibri"/>
              </a:rPr>
              <a:t> </a:t>
            </a:r>
            <a:r>
              <a:rPr lang="en-US" sz="1853" dirty="0">
                <a:solidFill>
                  <a:srgbClr val="3366FF"/>
                </a:solidFill>
                <a:latin typeface="Calibri"/>
                <a:cs typeface="Calibri"/>
              </a:rPr>
              <a:t>Non-uniform</a:t>
            </a:r>
            <a:r>
              <a:rPr lang="en-US" sz="1853" spc="4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lang="en-US" sz="1853" dirty="0">
                <a:solidFill>
                  <a:srgbClr val="3366FF"/>
                </a:solidFill>
                <a:latin typeface="Calibri"/>
                <a:cs typeface="Calibri"/>
              </a:rPr>
              <a:t>access</a:t>
            </a:r>
            <a:r>
              <a:rPr lang="en-US" sz="1853" spc="4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lang="en-US" sz="1853" spc="-9" dirty="0">
                <a:solidFill>
                  <a:srgbClr val="3366FF"/>
                </a:solidFill>
                <a:latin typeface="Calibri"/>
                <a:cs typeface="Calibri"/>
              </a:rPr>
              <a:t>(NUMA)</a:t>
            </a:r>
            <a:endParaRPr lang="en-US" sz="1853" dirty="0">
              <a:latin typeface="Calibri"/>
              <a:cs typeface="Calibri"/>
            </a:endParaRPr>
          </a:p>
          <a:p>
            <a:endParaRPr lang="en-US" b="0" dirty="0"/>
          </a:p>
          <a:p>
            <a:r>
              <a:rPr lang="en-US" b="0" i="1" u="none" dirty="0"/>
              <a:t>(arrow down)</a:t>
            </a:r>
          </a:p>
          <a:p>
            <a:r>
              <a:rPr lang="en-US" b="1" dirty="0"/>
              <a:t>Snooping cache</a:t>
            </a:r>
            <a:r>
              <a:rPr lang="en-US" dirty="0"/>
              <a:t> protocols are used for smaller multiprocessors via invalidation. </a:t>
            </a:r>
          </a:p>
          <a:p>
            <a:endParaRPr lang="en-US" dirty="0"/>
          </a:p>
          <a:p>
            <a:r>
              <a:rPr lang="en-US" dirty="0"/>
              <a:t>The difference between </a:t>
            </a:r>
            <a:r>
              <a:rPr lang="en-US" b="1" dirty="0"/>
              <a:t>Coherence</a:t>
            </a:r>
            <a:r>
              <a:rPr lang="en-US" dirty="0"/>
              <a:t> (same address) and </a:t>
            </a:r>
            <a:r>
              <a:rPr lang="en-US" b="1" dirty="0"/>
              <a:t>Consistency</a:t>
            </a:r>
            <a:r>
              <a:rPr lang="en-US" dirty="0"/>
              <a:t> (multiple addresses) is critical.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02296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u="none" dirty="0"/>
              <a:t>&gt;&gt;</a:t>
            </a:r>
          </a:p>
          <a:p>
            <a:r>
              <a:rPr lang="en-US" u="sng" dirty="0"/>
              <a:t>The system manages coherence by: </a:t>
            </a:r>
          </a:p>
          <a:p>
            <a:pPr marL="0" indent="0">
              <a:buNone/>
            </a:pPr>
            <a:r>
              <a:rPr lang="en-US" i="1" dirty="0"/>
              <a:t>(Defining states / FSM / actions.) </a:t>
            </a:r>
          </a:p>
          <a:p>
            <a:pPr marL="228600" indent="-228600">
              <a:buAutoNum type="arabicPeriod"/>
            </a:pPr>
            <a:r>
              <a:rPr lang="en-US" dirty="0"/>
              <a:t>Determining when to invoke the protocol (e.g., on an "access fault"). </a:t>
            </a:r>
          </a:p>
          <a:p>
            <a:pPr marL="228600" indent="-228600">
              <a:buAutoNum type="arabicPeriod"/>
            </a:pPr>
            <a:r>
              <a:rPr lang="en-US" dirty="0"/>
              <a:t>Finding the state of the block in other caches. </a:t>
            </a:r>
          </a:p>
          <a:p>
            <a:pPr marL="228600" indent="-228600">
              <a:buAutoNum type="arabicPeriod"/>
            </a:pPr>
            <a:r>
              <a:rPr lang="en-US" dirty="0"/>
              <a:t>Locating copies. </a:t>
            </a:r>
          </a:p>
          <a:p>
            <a:pPr marL="228600" indent="-228600">
              <a:buAutoNum type="arabicPeriod"/>
            </a:pPr>
            <a:r>
              <a:rPr lang="en-US" dirty="0"/>
              <a:t>Communicating with copies (invalidate or update).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12793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bus-based systems, all communication steps (finding state, locating, and communicating) are done through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broadcast on the bus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method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 not scale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the number of processors (</a:t>
            </a:r>
            <a:r>
              <a:rPr lang="en-US" sz="1200" i="1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because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 bandwidth does not scale,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every fault results in at least </a:t>
            </a:r>
            <a:r>
              <a:rPr lang="en-US" sz="1200" i="1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network transactions.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6790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 require multiple memory banks and multiple buses or interconnection networks (cross-bar or point-to-point) to accommodate all CPUs and the coherence traffic. </a:t>
            </a:r>
          </a:p>
          <a:p>
            <a:endParaRPr lang="en-US" dirty="0"/>
          </a:p>
          <a:p>
            <a:r>
              <a:rPr lang="en-US" dirty="0"/>
              <a:t>The AMD Opteron is an example of a point-to-point system where memory is connected to each chip, </a:t>
            </a:r>
          </a:p>
          <a:p>
            <a:r>
              <a:rPr lang="en-US" dirty="0"/>
              <a:t>allowing the OS to view it as a </a:t>
            </a:r>
            <a:r>
              <a:rPr lang="en-US" b="1" dirty="0"/>
              <a:t>Uniform Memory Access (UMA)</a:t>
            </a:r>
            <a:r>
              <a:rPr lang="en-US" dirty="0"/>
              <a:t> computer.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94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EF516-07C5-44C2-B684-B686D6272CD5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680302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F5A5F-4D81-4062-9F50-DCD803809D85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1735314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ECCAE-1332-4E33-8441-6216EBFD33DD}" type="datetime1">
              <a:rPr lang="en-US" smtClean="0"/>
              <a:t>12/3/2025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404384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9052F-3AA5-4739-B420-600756BBFADF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125613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1253" y="1159438"/>
            <a:ext cx="7543223" cy="44824"/>
          </a:xfrm>
          <a:custGeom>
            <a:avLst/>
            <a:gdLst/>
            <a:ahLst/>
            <a:cxnLst/>
            <a:rect l="l" t="t" r="r" b="b"/>
            <a:pathLst>
              <a:path w="8297545" h="50800">
                <a:moveTo>
                  <a:pt x="8297342" y="20320"/>
                </a:moveTo>
                <a:lnTo>
                  <a:pt x="0" y="20320"/>
                </a:lnTo>
                <a:lnTo>
                  <a:pt x="0" y="50800"/>
                </a:lnTo>
                <a:lnTo>
                  <a:pt x="8297342" y="50800"/>
                </a:lnTo>
                <a:lnTo>
                  <a:pt x="8297342" y="20320"/>
                </a:lnTo>
                <a:close/>
              </a:path>
              <a:path w="8297545" h="50800">
                <a:moveTo>
                  <a:pt x="8297342" y="0"/>
                </a:moveTo>
                <a:lnTo>
                  <a:pt x="0" y="0"/>
                </a:lnTo>
                <a:lnTo>
                  <a:pt x="0" y="10160"/>
                </a:lnTo>
                <a:lnTo>
                  <a:pt x="8297342" y="10160"/>
                </a:lnTo>
                <a:lnTo>
                  <a:pt x="8297342" y="0"/>
                </a:lnTo>
                <a:close/>
              </a:path>
            </a:pathLst>
          </a:custGeom>
          <a:solidFill>
            <a:srgbClr val="FBBA03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0362" y="1671388"/>
            <a:ext cx="5164606" cy="43811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E8F89-E567-4EED-8CB0-CD3B1F0F9ADB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421203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Hennessy_cover-v2 (Final)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79512" y="1412776"/>
            <a:ext cx="1872208" cy="23090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0647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765175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endParaRPr lang="en-GB" sz="240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40649" name="Rectangle 9"/>
          <p:cNvSpPr>
            <a:spLocks noChangeArrowheads="1"/>
          </p:cNvSpPr>
          <p:nvPr userDrawn="1"/>
        </p:nvSpPr>
        <p:spPr bwMode="auto">
          <a:xfrm>
            <a:off x="0" y="765175"/>
            <a:ext cx="914400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40657" name="Picture 17" descr="MK_logo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950" y="50800"/>
            <a:ext cx="1228725" cy="714375"/>
          </a:xfrm>
          <a:prstGeom prst="rect">
            <a:avLst/>
          </a:prstGeom>
          <a:noFill/>
        </p:spPr>
      </p:pic>
      <p:sp>
        <p:nvSpPr>
          <p:cNvPr id="240659" name="Rectangle 19"/>
          <p:cNvSpPr>
            <a:spLocks noChangeArrowheads="1"/>
          </p:cNvSpPr>
          <p:nvPr userDrawn="1"/>
        </p:nvSpPr>
        <p:spPr bwMode="auto">
          <a:xfrm>
            <a:off x="2197100" y="765175"/>
            <a:ext cx="46038" cy="5732463"/>
          </a:xfrm>
          <a:prstGeom prst="rect">
            <a:avLst/>
          </a:prstGeom>
          <a:gradFill rotWithShape="1">
            <a:gsLst>
              <a:gs pos="0">
                <a:srgbClr val="808080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60" name="Rectangle 20"/>
          <p:cNvSpPr>
            <a:spLocks noChangeArrowheads="1"/>
          </p:cNvSpPr>
          <p:nvPr userDrawn="1"/>
        </p:nvSpPr>
        <p:spPr bwMode="auto">
          <a:xfrm>
            <a:off x="2559050" y="1195388"/>
            <a:ext cx="46038" cy="3816350"/>
          </a:xfrm>
          <a:prstGeom prst="rect">
            <a:avLst/>
          </a:prstGeom>
          <a:gradFill rotWithShape="1">
            <a:gsLst>
              <a:gs pos="0">
                <a:srgbClr val="767D79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61" name="Rectangle 21"/>
          <p:cNvSpPr>
            <a:spLocks noChangeArrowheads="1"/>
          </p:cNvSpPr>
          <p:nvPr userDrawn="1"/>
        </p:nvSpPr>
        <p:spPr bwMode="auto">
          <a:xfrm>
            <a:off x="2341563" y="1916113"/>
            <a:ext cx="6623050" cy="46037"/>
          </a:xfrm>
          <a:prstGeom prst="rect">
            <a:avLst/>
          </a:prstGeom>
          <a:gradFill rotWithShape="1">
            <a:gsLst>
              <a:gs pos="0">
                <a:srgbClr val="5F5F5F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78" name="Rectangle 38"/>
          <p:cNvSpPr>
            <a:spLocks noChangeArrowheads="1"/>
          </p:cNvSpPr>
          <p:nvPr userDrawn="1"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79" name="Rectangle 39"/>
          <p:cNvSpPr>
            <a:spLocks noChangeArrowheads="1"/>
          </p:cNvSpPr>
          <p:nvPr userDrawn="1"/>
        </p:nvSpPr>
        <p:spPr bwMode="auto">
          <a:xfrm>
            <a:off x="0" y="6308725"/>
            <a:ext cx="914400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80" name="Rectangle 40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dirty="0"/>
          </a:p>
        </p:txBody>
      </p:sp>
      <p:pic>
        <p:nvPicPr>
          <p:cNvPr id="240681" name="Picture 41" descr="MK_logo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6381750"/>
            <a:ext cx="792162" cy="460375"/>
          </a:xfrm>
          <a:prstGeom prst="rect">
            <a:avLst/>
          </a:prstGeom>
          <a:noFill/>
        </p:spPr>
      </p:pic>
      <p:sp>
        <p:nvSpPr>
          <p:cNvPr id="240682" name="Text Box 42"/>
          <p:cNvSpPr txBox="1">
            <a:spLocks noChangeArrowheads="1"/>
          </p:cNvSpPr>
          <p:nvPr userDrawn="1"/>
        </p:nvSpPr>
        <p:spPr bwMode="auto">
          <a:xfrm>
            <a:off x="8388350" y="6497638"/>
            <a:ext cx="5762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fld id="{63BBFCE6-A6C8-4251-973B-1D0917AA6A4E}" type="slidenum">
              <a:rPr lang="en-AU" sz="1200" b="1">
                <a:latin typeface="Arial" charset="0"/>
              </a:rPr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t>‹#›</a:t>
            </a:fld>
            <a:endParaRPr lang="en-GB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59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1253" y="1159438"/>
            <a:ext cx="7543223" cy="44824"/>
          </a:xfrm>
          <a:custGeom>
            <a:avLst/>
            <a:gdLst/>
            <a:ahLst/>
            <a:cxnLst/>
            <a:rect l="l" t="t" r="r" b="b"/>
            <a:pathLst>
              <a:path w="8297545" h="50800">
                <a:moveTo>
                  <a:pt x="8297342" y="20320"/>
                </a:moveTo>
                <a:lnTo>
                  <a:pt x="0" y="20320"/>
                </a:lnTo>
                <a:lnTo>
                  <a:pt x="0" y="50800"/>
                </a:lnTo>
                <a:lnTo>
                  <a:pt x="8297342" y="50800"/>
                </a:lnTo>
                <a:lnTo>
                  <a:pt x="8297342" y="20320"/>
                </a:lnTo>
                <a:close/>
              </a:path>
              <a:path w="8297545" h="50800">
                <a:moveTo>
                  <a:pt x="8297342" y="0"/>
                </a:moveTo>
                <a:lnTo>
                  <a:pt x="0" y="0"/>
                </a:lnTo>
                <a:lnTo>
                  <a:pt x="0" y="10160"/>
                </a:lnTo>
                <a:lnTo>
                  <a:pt x="8297342" y="10160"/>
                </a:lnTo>
                <a:lnTo>
                  <a:pt x="8297342" y="0"/>
                </a:lnTo>
                <a:close/>
              </a:path>
            </a:pathLst>
          </a:custGeom>
          <a:solidFill>
            <a:srgbClr val="FBBA03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72308" y="3058065"/>
            <a:ext cx="64515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57E36-A4D3-4216-9467-98056BDF6F20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68187" y="6346231"/>
            <a:ext cx="299796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2204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80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4.png"/><Relationship Id="rId9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83" name="Rectangle 11"/>
          <p:cNvSpPr>
            <a:spLocks noChangeArrowheads="1"/>
          </p:cNvSpPr>
          <p:nvPr/>
        </p:nvSpPr>
        <p:spPr bwMode="auto">
          <a:xfrm>
            <a:off x="2843213" y="1254125"/>
            <a:ext cx="15376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AU" sz="2400" dirty="0">
                <a:solidFill>
                  <a:srgbClr val="000099"/>
                </a:solidFill>
                <a:latin typeface="Arial" charset="0"/>
              </a:rPr>
              <a:t>Chapter 5</a:t>
            </a:r>
            <a:endParaRPr lang="en-GB" sz="2400" dirty="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233484" name="Rectangle 12"/>
          <p:cNvSpPr>
            <a:spLocks noChangeArrowheads="1"/>
          </p:cNvSpPr>
          <p:nvPr/>
        </p:nvSpPr>
        <p:spPr bwMode="auto">
          <a:xfrm>
            <a:off x="2843213" y="2060575"/>
            <a:ext cx="5832475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solidFill>
                  <a:srgbClr val="0332B7"/>
                </a:solidFill>
                <a:latin typeface="Arial MT"/>
                <a:cs typeface="Arial MT"/>
              </a:rPr>
              <a:t>Multiprocessors</a:t>
            </a:r>
            <a:endParaRPr lang="en-US" sz="2800" dirty="0">
              <a:latin typeface="Arial MT"/>
              <a:cs typeface="Arial MT"/>
            </a:endParaRPr>
          </a:p>
        </p:txBody>
      </p:sp>
      <p:sp>
        <p:nvSpPr>
          <p:cNvPr id="233485" name="Text Box 13"/>
          <p:cNvSpPr txBox="1">
            <a:spLocks noChangeArrowheads="1"/>
          </p:cNvSpPr>
          <p:nvPr/>
        </p:nvSpPr>
        <p:spPr bwMode="auto">
          <a:xfrm>
            <a:off x="3299585" y="-100013"/>
            <a:ext cx="3481466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</a:rPr>
              <a:t>Computer Architecture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rial" charset="0"/>
              </a:rPr>
              <a:t>A Quantitative Approach</a:t>
            </a:r>
            <a:endParaRPr lang="en-GB" sz="2000" dirty="0">
              <a:solidFill>
                <a:schemeClr val="bg1"/>
              </a:solidFill>
              <a:latin typeface="Arial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342" y="1252817"/>
            <a:ext cx="6938820" cy="3521175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278481" indent="-267275">
              <a:spcBef>
                <a:spcPts val="618"/>
              </a:spcBef>
              <a:buChar char="•"/>
              <a:tabLst>
                <a:tab pos="278481" algn="l"/>
              </a:tabLst>
            </a:pPr>
            <a:r>
              <a:rPr sz="2400" spc="-9" dirty="0">
                <a:latin typeface="Calibri"/>
                <a:cs typeface="Calibri"/>
              </a:rPr>
              <a:t>Coherence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Write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Consistency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613"/>
              </a:spcBef>
              <a:buChar char="•"/>
              <a:tabLst>
                <a:tab pos="278481" algn="l"/>
              </a:tabLst>
            </a:pPr>
            <a:r>
              <a:rPr sz="2400" spc="-9" dirty="0">
                <a:latin typeface="Calibri"/>
                <a:cs typeface="Calibri"/>
              </a:rPr>
              <a:t>Snooping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Building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Blocks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61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Snooping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protocols</a:t>
            </a:r>
            <a:r>
              <a:rPr sz="2400" spc="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examples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Coherence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traffic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Performance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MP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61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Directory-based</a:t>
            </a:r>
            <a:r>
              <a:rPr sz="2400" spc="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protocols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9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examples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spc="-9" dirty="0">
                <a:latin typeface="Calibri"/>
                <a:cs typeface="Calibri"/>
              </a:rPr>
              <a:t>Conclusion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41D886-A8E3-B584-BD40-7D4F321BA6C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</a:t>
            </a:fld>
            <a:endParaRPr lang="en-US" spc="-4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729" y="1273118"/>
            <a:ext cx="7768121" cy="446019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090" y="677131"/>
            <a:ext cx="6681405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Uniprocessor</a:t>
            </a:r>
            <a:r>
              <a:rPr spc="-119" dirty="0"/>
              <a:t> </a:t>
            </a:r>
            <a:r>
              <a:rPr b="0" dirty="0">
                <a:latin typeface="Calibri"/>
                <a:cs typeface="Calibri"/>
              </a:rPr>
              <a:t>Performance</a:t>
            </a:r>
            <a:r>
              <a:rPr spc="-115" dirty="0"/>
              <a:t> </a:t>
            </a:r>
            <a:r>
              <a:rPr spc="-9" dirty="0"/>
              <a:t>(SPECint)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83209" y="1374737"/>
            <a:ext cx="2990849" cy="69583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1206" marR="4483">
              <a:lnSpc>
                <a:spcPct val="100600"/>
              </a:lnSpc>
              <a:spcBef>
                <a:spcPts val="75"/>
              </a:spcBef>
            </a:pP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-22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Hennessy</a:t>
            </a:r>
            <a:r>
              <a:rPr sz="1500" spc="-26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6" dirty="0">
                <a:latin typeface="Times New Roman"/>
                <a:cs typeface="Times New Roman"/>
              </a:rPr>
              <a:t> </a:t>
            </a:r>
            <a:r>
              <a:rPr sz="1500" spc="-9" dirty="0">
                <a:latin typeface="Times New Roman"/>
                <a:cs typeface="Times New Roman"/>
              </a:rPr>
              <a:t>Patterson, </a:t>
            </a:r>
            <a:r>
              <a:rPr sz="1500" i="1" dirty="0">
                <a:latin typeface="Times New Roman"/>
                <a:cs typeface="Times New Roman"/>
              </a:rPr>
              <a:t>Computer</a:t>
            </a:r>
            <a:r>
              <a:rPr sz="1500" i="1" spc="-57" dirty="0">
                <a:latin typeface="Times New Roman"/>
                <a:cs typeface="Times New Roman"/>
              </a:rPr>
              <a:t> </a:t>
            </a:r>
            <a:r>
              <a:rPr sz="1500" i="1" spc="-9" dirty="0">
                <a:latin typeface="Times New Roman"/>
                <a:cs typeface="Times New Roman"/>
              </a:rPr>
              <a:t>Architecture:</a:t>
            </a:r>
            <a:r>
              <a:rPr sz="1500" i="1" spc="-53" dirty="0">
                <a:latin typeface="Times New Roman"/>
                <a:cs typeface="Times New Roman"/>
              </a:rPr>
              <a:t> </a:t>
            </a:r>
            <a:r>
              <a:rPr sz="1500" i="1" dirty="0">
                <a:latin typeface="Times New Roman"/>
                <a:cs typeface="Times New Roman"/>
              </a:rPr>
              <a:t>A</a:t>
            </a:r>
            <a:r>
              <a:rPr sz="1500" i="1" spc="-57" dirty="0">
                <a:latin typeface="Times New Roman"/>
                <a:cs typeface="Times New Roman"/>
              </a:rPr>
              <a:t> </a:t>
            </a:r>
            <a:r>
              <a:rPr sz="1500" i="1" spc="-9" dirty="0">
                <a:latin typeface="Times New Roman"/>
                <a:cs typeface="Times New Roman"/>
              </a:rPr>
              <a:t>Quantitative Approach</a:t>
            </a:r>
            <a:r>
              <a:rPr sz="1500" spc="-9" dirty="0">
                <a:latin typeface="Times New Roman"/>
                <a:cs typeface="Times New Roman"/>
              </a:rPr>
              <a:t>,</a:t>
            </a:r>
            <a:r>
              <a:rPr sz="1500" spc="-26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5th</a:t>
            </a:r>
            <a:r>
              <a:rPr sz="1500" spc="-26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edition,</a:t>
            </a:r>
            <a:r>
              <a:rPr sz="1500" spc="-22" dirty="0">
                <a:latin typeface="Times New Roman"/>
                <a:cs typeface="Times New Roman"/>
              </a:rPr>
              <a:t> </a:t>
            </a:r>
            <a:r>
              <a:rPr sz="1500" spc="-18" dirty="0">
                <a:latin typeface="Times New Roman"/>
                <a:cs typeface="Times New Roman"/>
              </a:rPr>
              <a:t>2012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2480" y="5873900"/>
            <a:ext cx="7612156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49046" indent="-137840">
              <a:spcBef>
                <a:spcPts val="88"/>
              </a:spcBef>
              <a:buFont typeface="Times New Roman"/>
              <a:buChar char="•"/>
              <a:tabLst>
                <a:tab pos="149046" algn="l"/>
              </a:tabLst>
            </a:pPr>
            <a:r>
              <a:rPr sz="1853" b="1" spc="-40" dirty="0">
                <a:latin typeface="Times New Roman"/>
                <a:cs typeface="Times New Roman"/>
              </a:rPr>
              <a:t>VAX</a:t>
            </a:r>
            <a:r>
              <a:rPr sz="1853" b="1" spc="18" dirty="0">
                <a:latin typeface="Times New Roman"/>
                <a:cs typeface="Times New Roman"/>
              </a:rPr>
              <a:t> </a:t>
            </a:r>
            <a:r>
              <a:rPr sz="1853" b="1" dirty="0">
                <a:latin typeface="Times New Roman"/>
                <a:cs typeface="Times New Roman"/>
              </a:rPr>
              <a:t>:</a:t>
            </a:r>
            <a:r>
              <a:rPr sz="1853" b="1" spc="4" dirty="0"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0099FF"/>
                </a:solidFill>
                <a:latin typeface="Times New Roman"/>
                <a:cs typeface="Times New Roman"/>
              </a:rPr>
              <a:t>25%/year</a:t>
            </a:r>
            <a:r>
              <a:rPr sz="1853" b="1" spc="-26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0099FF"/>
                </a:solidFill>
                <a:latin typeface="Times New Roman"/>
                <a:cs typeface="Times New Roman"/>
              </a:rPr>
              <a:t>1978</a:t>
            </a:r>
            <a:r>
              <a:rPr sz="1853" b="1" spc="9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0099FF"/>
                </a:solidFill>
                <a:latin typeface="Times New Roman"/>
                <a:cs typeface="Times New Roman"/>
              </a:rPr>
              <a:t>to</a:t>
            </a:r>
            <a:r>
              <a:rPr sz="1853" b="1" spc="13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1853" b="1" spc="-9" dirty="0">
                <a:solidFill>
                  <a:srgbClr val="0099FF"/>
                </a:solidFill>
                <a:latin typeface="Times New Roman"/>
                <a:cs typeface="Times New Roman"/>
              </a:rPr>
              <a:t>mid-</a:t>
            </a:r>
            <a:r>
              <a:rPr sz="1853" b="1" dirty="0">
                <a:solidFill>
                  <a:srgbClr val="0099FF"/>
                </a:solidFill>
                <a:latin typeface="Times New Roman"/>
                <a:cs typeface="Times New Roman"/>
              </a:rPr>
              <a:t>1980</a:t>
            </a:r>
            <a:r>
              <a:rPr sz="1853" b="1" spc="9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0099FF"/>
                </a:solidFill>
                <a:latin typeface="Times New Roman"/>
                <a:cs typeface="Times New Roman"/>
              </a:rPr>
              <a:t>(architectural and</a:t>
            </a:r>
            <a:r>
              <a:rPr sz="1853" b="1" spc="9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0099FF"/>
                </a:solidFill>
                <a:latin typeface="Times New Roman"/>
                <a:cs typeface="Times New Roman"/>
              </a:rPr>
              <a:t>organizational </a:t>
            </a:r>
            <a:r>
              <a:rPr sz="1853" b="1" spc="-9" dirty="0">
                <a:solidFill>
                  <a:srgbClr val="0099FF"/>
                </a:solidFill>
                <a:latin typeface="Times New Roman"/>
                <a:cs typeface="Times New Roman"/>
              </a:rPr>
              <a:t>idea)</a:t>
            </a:r>
            <a:endParaRPr sz="1853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2481" y="6280001"/>
            <a:ext cx="6519022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53529" indent="-142322">
              <a:spcBef>
                <a:spcPts val="88"/>
              </a:spcBef>
              <a:buFont typeface="Times New Roman"/>
              <a:buChar char="•"/>
              <a:tabLst>
                <a:tab pos="153529" algn="l"/>
              </a:tabLst>
            </a:pPr>
            <a:r>
              <a:rPr sz="1853" b="1" dirty="0">
                <a:latin typeface="Times New Roman"/>
                <a:cs typeface="Times New Roman"/>
              </a:rPr>
              <a:t>RISC</a:t>
            </a:r>
            <a:r>
              <a:rPr sz="1853" b="1" spc="31" dirty="0">
                <a:latin typeface="Times New Roman"/>
                <a:cs typeface="Times New Roman"/>
              </a:rPr>
              <a:t> </a:t>
            </a:r>
            <a:r>
              <a:rPr sz="1853" b="1" dirty="0">
                <a:latin typeface="Times New Roman"/>
                <a:cs typeface="Times New Roman"/>
              </a:rPr>
              <a:t>+</a:t>
            </a:r>
            <a:r>
              <a:rPr sz="1853" b="1" spc="26" dirty="0">
                <a:latin typeface="Times New Roman"/>
                <a:cs typeface="Times New Roman"/>
              </a:rPr>
              <a:t> </a:t>
            </a:r>
            <a:r>
              <a:rPr sz="1853" b="1" dirty="0">
                <a:latin typeface="Times New Roman"/>
                <a:cs typeface="Times New Roman"/>
              </a:rPr>
              <a:t>x86:</a:t>
            </a:r>
            <a:r>
              <a:rPr sz="1853" b="1" spc="13" dirty="0"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43C602"/>
                </a:solidFill>
                <a:latin typeface="Times New Roman"/>
                <a:cs typeface="Times New Roman"/>
              </a:rPr>
              <a:t>52%/year</a:t>
            </a:r>
            <a:r>
              <a:rPr sz="1853" b="1" spc="-13" dirty="0">
                <a:solidFill>
                  <a:srgbClr val="43C602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43C602"/>
                </a:solidFill>
                <a:latin typeface="Times New Roman"/>
                <a:cs typeface="Times New Roman"/>
              </a:rPr>
              <a:t>1986</a:t>
            </a:r>
            <a:r>
              <a:rPr sz="1853" b="1" spc="26" dirty="0">
                <a:solidFill>
                  <a:srgbClr val="43C602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43C602"/>
                </a:solidFill>
                <a:latin typeface="Times New Roman"/>
                <a:cs typeface="Times New Roman"/>
              </a:rPr>
              <a:t>to</a:t>
            </a:r>
            <a:r>
              <a:rPr sz="1853" b="1" spc="22" dirty="0">
                <a:solidFill>
                  <a:srgbClr val="43C602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43C602"/>
                </a:solidFill>
                <a:latin typeface="Times New Roman"/>
                <a:cs typeface="Times New Roman"/>
              </a:rPr>
              <a:t>2002;</a:t>
            </a:r>
            <a:r>
              <a:rPr sz="1853" b="1" spc="22" dirty="0">
                <a:solidFill>
                  <a:srgbClr val="55FC02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FF0000"/>
                </a:solidFill>
                <a:latin typeface="Times New Roman"/>
                <a:cs typeface="Times New Roman"/>
              </a:rPr>
              <a:t>22%/year</a:t>
            </a:r>
            <a:r>
              <a:rPr sz="1853" b="1" spc="-1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FF0000"/>
                </a:solidFill>
                <a:latin typeface="Times New Roman"/>
                <a:cs typeface="Times New Roman"/>
              </a:rPr>
              <a:t>2002</a:t>
            </a:r>
            <a:r>
              <a:rPr sz="1853" b="1" spc="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1853" b="1" spc="26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3" b="1" spc="-9" dirty="0">
                <a:solidFill>
                  <a:srgbClr val="FF0000"/>
                </a:solidFill>
                <a:latin typeface="Times New Roman"/>
                <a:cs typeface="Times New Roman"/>
              </a:rPr>
              <a:t>present</a:t>
            </a:r>
            <a:endParaRPr sz="1853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44042" y="3487719"/>
            <a:ext cx="1158128" cy="75735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lnSpc>
                <a:spcPct val="153700"/>
              </a:lnSpc>
              <a:spcBef>
                <a:spcPts val="88"/>
              </a:spcBef>
            </a:pPr>
            <a:r>
              <a:rPr sz="1677" b="1" dirty="0">
                <a:solidFill>
                  <a:srgbClr val="FF0000"/>
                </a:solidFill>
                <a:latin typeface="Times New Roman"/>
                <a:cs typeface="Times New Roman"/>
              </a:rPr>
              <a:t>Power</a:t>
            </a:r>
            <a:r>
              <a:rPr sz="1677" b="1" spc="-4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77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&amp; </a:t>
            </a:r>
            <a:r>
              <a:rPr sz="1677" b="1" dirty="0">
                <a:solidFill>
                  <a:srgbClr val="FF0000"/>
                </a:solidFill>
                <a:latin typeface="Times New Roman"/>
                <a:cs typeface="Times New Roman"/>
              </a:rPr>
              <a:t>Limited</a:t>
            </a:r>
            <a:r>
              <a:rPr sz="1677" b="1" spc="-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77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ILP</a:t>
            </a:r>
            <a:endParaRPr sz="1677" dirty="0">
              <a:latin typeface="Times New Roman"/>
              <a:cs typeface="Times New Roman"/>
            </a:endParaRP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A3BFAE9C-8BC1-0A5A-4C74-3F7669E2C7E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</a:t>
            </a:fld>
            <a:endParaRPr lang="en-US" spc="-4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C6852-DAF5-6DD3-CA0B-93B5AE0EECF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</a:t>
            </a:fld>
            <a:endParaRPr lang="en-US" spc="-44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4867B456-F7B5-8203-B1D6-12DB39B5450C}"/>
              </a:ext>
            </a:extLst>
          </p:cNvPr>
          <p:cNvSpPr txBox="1">
            <a:spLocks/>
          </p:cNvSpPr>
          <p:nvPr/>
        </p:nvSpPr>
        <p:spPr>
          <a:xfrm>
            <a:off x="912090" y="677131"/>
            <a:ext cx="6681405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>
            <a:lvl1pPr>
              <a:defRPr sz="3000" b="0" i="0">
                <a:solidFill>
                  <a:srgbClr val="0332B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1206" defTabSz="914400">
              <a:spcBef>
                <a:spcPts val="88"/>
              </a:spcBef>
            </a:pPr>
            <a:r>
              <a:rPr lang="en-US" kern="0" dirty="0"/>
              <a:t>Uniprocessor</a:t>
            </a:r>
            <a:r>
              <a:rPr lang="en-US" kern="0" spc="-119" dirty="0"/>
              <a:t> </a:t>
            </a:r>
            <a:r>
              <a:rPr lang="en-US" kern="0" dirty="0"/>
              <a:t>Performance</a:t>
            </a:r>
            <a:r>
              <a:rPr lang="en-US" kern="0" spc="-115" dirty="0"/>
              <a:t> </a:t>
            </a:r>
            <a:r>
              <a:rPr lang="en-US" kern="0" spc="-9" dirty="0"/>
              <a:t>(</a:t>
            </a:r>
            <a:r>
              <a:rPr lang="en-US" kern="0" spc="-9" dirty="0" err="1"/>
              <a:t>SPECint</a:t>
            </a:r>
            <a:r>
              <a:rPr lang="en-US" kern="0" spc="-9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7BDE21-4234-E833-802D-71A0EEE86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172" y="1259754"/>
            <a:ext cx="8365655" cy="4673624"/>
          </a:xfrm>
          <a:prstGeom prst="rect">
            <a:avLst/>
          </a:prstGeom>
        </p:spPr>
      </p:pic>
      <p:sp>
        <p:nvSpPr>
          <p:cNvPr id="8" name="object 5">
            <a:extLst>
              <a:ext uri="{FF2B5EF4-FFF2-40B4-BE49-F238E27FC236}">
                <a16:creationId xmlns:a16="http://schemas.microsoft.com/office/drawing/2014/main" id="{9DC5CD93-B639-E32C-852C-ECDDF9E2A95E}"/>
              </a:ext>
            </a:extLst>
          </p:cNvPr>
          <p:cNvSpPr txBox="1"/>
          <p:nvPr/>
        </p:nvSpPr>
        <p:spPr>
          <a:xfrm>
            <a:off x="1164382" y="1743936"/>
            <a:ext cx="3088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Hennessy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Patterson,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br>
              <a:rPr lang="en-US" sz="1500" spc="35" dirty="0">
                <a:latin typeface="Times New Roman"/>
                <a:cs typeface="Times New Roman"/>
              </a:rPr>
            </a:br>
            <a:r>
              <a:rPr lang="en-US" sz="1500" i="1" dirty="0">
                <a:latin typeface="Times New Roman"/>
                <a:cs typeface="Times New Roman"/>
              </a:rPr>
              <a:t>Computer</a:t>
            </a:r>
            <a:r>
              <a:rPr lang="en-US" sz="1500" i="1" spc="-57" dirty="0">
                <a:latin typeface="Times New Roman"/>
                <a:cs typeface="Times New Roman"/>
              </a:rPr>
              <a:t> </a:t>
            </a:r>
            <a:r>
              <a:rPr lang="en-US" sz="1500" i="1" spc="-9" dirty="0">
                <a:latin typeface="Times New Roman"/>
                <a:cs typeface="Times New Roman"/>
              </a:rPr>
              <a:t>Architecture:</a:t>
            </a:r>
            <a:r>
              <a:rPr lang="en-US" sz="1500" i="1" spc="-53" dirty="0">
                <a:latin typeface="Times New Roman"/>
                <a:cs typeface="Times New Roman"/>
              </a:rPr>
              <a:t> </a:t>
            </a:r>
            <a:r>
              <a:rPr lang="en-US" sz="1500" i="1" dirty="0">
                <a:latin typeface="Times New Roman"/>
                <a:cs typeface="Times New Roman"/>
              </a:rPr>
              <a:t>A</a:t>
            </a:r>
            <a:r>
              <a:rPr lang="en-US" sz="1500" i="1" spc="-57" dirty="0">
                <a:latin typeface="Times New Roman"/>
                <a:cs typeface="Times New Roman"/>
              </a:rPr>
              <a:t> </a:t>
            </a:r>
            <a:r>
              <a:rPr lang="en-US" sz="1500" i="1" spc="-9" dirty="0">
                <a:latin typeface="Times New Roman"/>
                <a:cs typeface="Times New Roman"/>
              </a:rPr>
              <a:t>Quantitative </a:t>
            </a:r>
            <a:br>
              <a:rPr lang="en-US" sz="1500" i="1" spc="-9" dirty="0">
                <a:latin typeface="Times New Roman"/>
                <a:cs typeface="Times New Roman"/>
              </a:rPr>
            </a:br>
            <a:r>
              <a:rPr lang="en-US" sz="1500" i="1" spc="-9" dirty="0">
                <a:latin typeface="Times New Roman"/>
                <a:cs typeface="Times New Roman"/>
              </a:rPr>
              <a:t>Approach</a:t>
            </a:r>
            <a:r>
              <a:rPr lang="en-US" sz="1500" spc="-9" dirty="0">
                <a:latin typeface="Times New Roman"/>
                <a:cs typeface="Times New Roman"/>
              </a:rPr>
              <a:t>,</a:t>
            </a:r>
            <a:r>
              <a:rPr lang="en-US" sz="1500" spc="-26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6th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edition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3CBBF7AC-E2DB-9878-1463-2352B2E1DE08}"/>
              </a:ext>
            </a:extLst>
          </p:cNvPr>
          <p:cNvSpPr txBox="1"/>
          <p:nvPr/>
        </p:nvSpPr>
        <p:spPr>
          <a:xfrm>
            <a:off x="722480" y="5988200"/>
            <a:ext cx="7612156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49046" indent="-137840">
              <a:spcBef>
                <a:spcPts val="88"/>
              </a:spcBef>
              <a:buFont typeface="Times New Roman"/>
              <a:buChar char="•"/>
              <a:tabLst>
                <a:tab pos="149046" algn="l"/>
              </a:tabLst>
            </a:pPr>
            <a:r>
              <a:rPr sz="1853" b="1" spc="-40" dirty="0">
                <a:latin typeface="Times New Roman"/>
                <a:cs typeface="Times New Roman"/>
              </a:rPr>
              <a:t>VAX</a:t>
            </a:r>
            <a:r>
              <a:rPr sz="1853" b="1" spc="18" dirty="0">
                <a:latin typeface="Times New Roman"/>
                <a:cs typeface="Times New Roman"/>
              </a:rPr>
              <a:t> </a:t>
            </a:r>
            <a:r>
              <a:rPr sz="1853" b="1" dirty="0">
                <a:latin typeface="Times New Roman"/>
                <a:cs typeface="Times New Roman"/>
              </a:rPr>
              <a:t>:</a:t>
            </a:r>
            <a:r>
              <a:rPr sz="1853" b="1" spc="4" dirty="0"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0099FF"/>
                </a:solidFill>
                <a:latin typeface="Times New Roman"/>
                <a:cs typeface="Times New Roman"/>
              </a:rPr>
              <a:t>25%/year</a:t>
            </a:r>
            <a:r>
              <a:rPr sz="1853" b="1" spc="-26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0099FF"/>
                </a:solidFill>
                <a:latin typeface="Times New Roman"/>
                <a:cs typeface="Times New Roman"/>
              </a:rPr>
              <a:t>1978</a:t>
            </a:r>
            <a:r>
              <a:rPr sz="1853" b="1" spc="9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0099FF"/>
                </a:solidFill>
                <a:latin typeface="Times New Roman"/>
                <a:cs typeface="Times New Roman"/>
              </a:rPr>
              <a:t>to</a:t>
            </a:r>
            <a:r>
              <a:rPr sz="1853" b="1" spc="13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1853" b="1" spc="-9" dirty="0">
                <a:solidFill>
                  <a:srgbClr val="0099FF"/>
                </a:solidFill>
                <a:latin typeface="Times New Roman"/>
                <a:cs typeface="Times New Roman"/>
              </a:rPr>
              <a:t>mid-</a:t>
            </a:r>
            <a:r>
              <a:rPr sz="1853" b="1" dirty="0">
                <a:solidFill>
                  <a:srgbClr val="0099FF"/>
                </a:solidFill>
                <a:latin typeface="Times New Roman"/>
                <a:cs typeface="Times New Roman"/>
              </a:rPr>
              <a:t>1980</a:t>
            </a:r>
            <a:r>
              <a:rPr sz="1853" b="1" spc="9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0099FF"/>
                </a:solidFill>
                <a:latin typeface="Times New Roman"/>
                <a:cs typeface="Times New Roman"/>
              </a:rPr>
              <a:t>(architectural and</a:t>
            </a:r>
            <a:r>
              <a:rPr sz="1853" b="1" spc="9" dirty="0">
                <a:solidFill>
                  <a:srgbClr val="0099FF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0099FF"/>
                </a:solidFill>
                <a:latin typeface="Times New Roman"/>
                <a:cs typeface="Times New Roman"/>
              </a:rPr>
              <a:t>organizational </a:t>
            </a:r>
            <a:r>
              <a:rPr sz="1853" b="1" spc="-9" dirty="0">
                <a:solidFill>
                  <a:srgbClr val="0099FF"/>
                </a:solidFill>
                <a:latin typeface="Times New Roman"/>
                <a:cs typeface="Times New Roman"/>
              </a:rPr>
              <a:t>idea)</a:t>
            </a:r>
            <a:endParaRPr sz="1853" dirty="0">
              <a:latin typeface="Times New Roman"/>
              <a:cs typeface="Times New Roman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E0A74B23-1240-D8DD-8FE5-67736524E135}"/>
              </a:ext>
            </a:extLst>
          </p:cNvPr>
          <p:cNvSpPr txBox="1"/>
          <p:nvPr/>
        </p:nvSpPr>
        <p:spPr>
          <a:xfrm>
            <a:off x="722481" y="6394301"/>
            <a:ext cx="6519022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53529" indent="-142322">
              <a:spcBef>
                <a:spcPts val="88"/>
              </a:spcBef>
              <a:buFont typeface="Times New Roman"/>
              <a:buChar char="•"/>
              <a:tabLst>
                <a:tab pos="153529" algn="l"/>
              </a:tabLst>
            </a:pPr>
            <a:r>
              <a:rPr sz="1853" b="1" dirty="0">
                <a:latin typeface="Times New Roman"/>
                <a:cs typeface="Times New Roman"/>
              </a:rPr>
              <a:t>RISC</a:t>
            </a:r>
            <a:r>
              <a:rPr sz="1853" b="1" spc="31" dirty="0">
                <a:latin typeface="Times New Roman"/>
                <a:cs typeface="Times New Roman"/>
              </a:rPr>
              <a:t> </a:t>
            </a:r>
            <a:r>
              <a:rPr sz="1853" b="1" dirty="0">
                <a:latin typeface="Times New Roman"/>
                <a:cs typeface="Times New Roman"/>
              </a:rPr>
              <a:t>+</a:t>
            </a:r>
            <a:r>
              <a:rPr sz="1853" b="1" spc="26" dirty="0">
                <a:latin typeface="Times New Roman"/>
                <a:cs typeface="Times New Roman"/>
              </a:rPr>
              <a:t> </a:t>
            </a:r>
            <a:r>
              <a:rPr sz="1853" b="1" dirty="0">
                <a:latin typeface="Times New Roman"/>
                <a:cs typeface="Times New Roman"/>
              </a:rPr>
              <a:t>x86:</a:t>
            </a:r>
            <a:r>
              <a:rPr sz="1853" b="1" spc="13" dirty="0"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43C602"/>
                </a:solidFill>
                <a:latin typeface="Times New Roman"/>
                <a:cs typeface="Times New Roman"/>
              </a:rPr>
              <a:t>52%/year</a:t>
            </a:r>
            <a:r>
              <a:rPr sz="1853" b="1" spc="-13" dirty="0">
                <a:solidFill>
                  <a:srgbClr val="43C602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43C602"/>
                </a:solidFill>
                <a:latin typeface="Times New Roman"/>
                <a:cs typeface="Times New Roman"/>
              </a:rPr>
              <a:t>1986</a:t>
            </a:r>
            <a:r>
              <a:rPr sz="1853" b="1" spc="26" dirty="0">
                <a:solidFill>
                  <a:srgbClr val="43C602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43C602"/>
                </a:solidFill>
                <a:latin typeface="Times New Roman"/>
                <a:cs typeface="Times New Roman"/>
              </a:rPr>
              <a:t>to</a:t>
            </a:r>
            <a:r>
              <a:rPr sz="1853" b="1" spc="22" dirty="0">
                <a:solidFill>
                  <a:srgbClr val="43C602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43C602"/>
                </a:solidFill>
                <a:latin typeface="Times New Roman"/>
                <a:cs typeface="Times New Roman"/>
              </a:rPr>
              <a:t>2002;</a:t>
            </a:r>
            <a:r>
              <a:rPr sz="1853" b="1" spc="22" dirty="0">
                <a:solidFill>
                  <a:srgbClr val="55FC02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lang="en-US" sz="1853" b="1" dirty="0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  <a:r>
              <a:rPr sz="1853" b="1" dirty="0">
                <a:solidFill>
                  <a:srgbClr val="FF0000"/>
                </a:solidFill>
                <a:latin typeface="Times New Roman"/>
                <a:cs typeface="Times New Roman"/>
              </a:rPr>
              <a:t>%/year</a:t>
            </a:r>
            <a:r>
              <a:rPr sz="1853" b="1" spc="-1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FF0000"/>
                </a:solidFill>
                <a:latin typeface="Times New Roman"/>
                <a:cs typeface="Times New Roman"/>
              </a:rPr>
              <a:t>2002</a:t>
            </a:r>
            <a:r>
              <a:rPr sz="1853" b="1" spc="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1853" b="1" spc="26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853" b="1" spc="-9" dirty="0">
                <a:solidFill>
                  <a:srgbClr val="FF0000"/>
                </a:solidFill>
                <a:latin typeface="Times New Roman"/>
                <a:cs typeface="Times New Roman"/>
              </a:rPr>
              <a:t>2010</a:t>
            </a:r>
            <a:endParaRPr sz="1853" dirty="0">
              <a:latin typeface="Times New Roman"/>
              <a:cs typeface="Times New Roman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ED67645B-B12C-373D-D312-D2745044CEF5}"/>
              </a:ext>
            </a:extLst>
          </p:cNvPr>
          <p:cNvSpPr txBox="1"/>
          <p:nvPr/>
        </p:nvSpPr>
        <p:spPr>
          <a:xfrm>
            <a:off x="5869342" y="4046519"/>
            <a:ext cx="1158128" cy="75735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lnSpc>
                <a:spcPct val="153700"/>
              </a:lnSpc>
              <a:spcBef>
                <a:spcPts val="88"/>
              </a:spcBef>
            </a:pPr>
            <a:r>
              <a:rPr sz="1677" b="1" dirty="0">
                <a:solidFill>
                  <a:srgbClr val="FF0000"/>
                </a:solidFill>
                <a:latin typeface="Times New Roman"/>
                <a:cs typeface="Times New Roman"/>
              </a:rPr>
              <a:t>Power</a:t>
            </a:r>
            <a:r>
              <a:rPr sz="1677" b="1" spc="-4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77" b="1" spc="-44" dirty="0">
                <a:solidFill>
                  <a:srgbClr val="FF0000"/>
                </a:solidFill>
                <a:latin typeface="Times New Roman"/>
                <a:cs typeface="Times New Roman"/>
              </a:rPr>
              <a:t>&amp; </a:t>
            </a:r>
            <a:r>
              <a:rPr sz="1677" b="1" dirty="0">
                <a:solidFill>
                  <a:srgbClr val="FF0000"/>
                </a:solidFill>
                <a:latin typeface="Times New Roman"/>
                <a:cs typeface="Times New Roman"/>
              </a:rPr>
              <a:t>Limited</a:t>
            </a:r>
            <a:r>
              <a:rPr sz="1677" b="1" spc="-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77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ILP</a:t>
            </a:r>
            <a:endParaRPr sz="1677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07732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80031"/>
            <a:ext cx="7736609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Growth</a:t>
            </a:r>
            <a:r>
              <a:rPr spc="-22" dirty="0"/>
              <a:t> </a:t>
            </a:r>
            <a:r>
              <a:rPr b="0" dirty="0">
                <a:latin typeface="Calibri"/>
                <a:cs typeface="Calibri"/>
              </a:rPr>
              <a:t>in</a:t>
            </a:r>
            <a:r>
              <a:rPr spc="-18" dirty="0"/>
              <a:t> </a:t>
            </a:r>
            <a:r>
              <a:rPr b="0" dirty="0">
                <a:latin typeface="Calibri"/>
                <a:cs typeface="Calibri"/>
              </a:rPr>
              <a:t>Clock</a:t>
            </a:r>
            <a:r>
              <a:rPr spc="-31" dirty="0"/>
              <a:t> </a:t>
            </a:r>
            <a:r>
              <a:rPr b="0" dirty="0">
                <a:latin typeface="Calibri"/>
                <a:cs typeface="Calibri"/>
              </a:rPr>
              <a:t>Rate</a:t>
            </a:r>
            <a:r>
              <a:rPr spc="-31" dirty="0"/>
              <a:t> </a:t>
            </a:r>
            <a:r>
              <a:rPr b="0" dirty="0">
                <a:latin typeface="Calibri"/>
                <a:cs typeface="Calibri"/>
              </a:rPr>
              <a:t>of</a:t>
            </a:r>
            <a:r>
              <a:rPr spc="-26" dirty="0"/>
              <a:t> </a:t>
            </a:r>
            <a:r>
              <a:rPr spc="-9" dirty="0"/>
              <a:t>Microprocessors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270" y="1314686"/>
            <a:ext cx="7607459" cy="486986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8732DE-DA6B-8656-AC5B-1B7BCBB174E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5</a:t>
            </a:fld>
            <a:endParaRPr lang="en-US" spc="-44" dirty="0"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2CE1873E-EE06-665C-ABB5-93939EBA0BFB}"/>
              </a:ext>
            </a:extLst>
          </p:cNvPr>
          <p:cNvSpPr txBox="1"/>
          <p:nvPr/>
        </p:nvSpPr>
        <p:spPr>
          <a:xfrm>
            <a:off x="1608882" y="1451836"/>
            <a:ext cx="3088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Hennessy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Patterson,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br>
              <a:rPr lang="en-US" sz="1500" spc="35" dirty="0">
                <a:latin typeface="Times New Roman"/>
                <a:cs typeface="Times New Roman"/>
              </a:rPr>
            </a:br>
            <a:r>
              <a:rPr lang="en-US" sz="1500" i="1" dirty="0">
                <a:latin typeface="Times New Roman"/>
                <a:cs typeface="Times New Roman"/>
              </a:rPr>
              <a:t>Computer</a:t>
            </a:r>
            <a:r>
              <a:rPr lang="en-US" sz="1500" i="1" spc="-57" dirty="0">
                <a:latin typeface="Times New Roman"/>
                <a:cs typeface="Times New Roman"/>
              </a:rPr>
              <a:t> </a:t>
            </a:r>
            <a:r>
              <a:rPr lang="en-US" sz="1500" i="1" spc="-9" dirty="0">
                <a:latin typeface="Times New Roman"/>
                <a:cs typeface="Times New Roman"/>
              </a:rPr>
              <a:t>Architecture:</a:t>
            </a:r>
            <a:r>
              <a:rPr lang="en-US" sz="1500" i="1" spc="-53" dirty="0">
                <a:latin typeface="Times New Roman"/>
                <a:cs typeface="Times New Roman"/>
              </a:rPr>
              <a:t> </a:t>
            </a:r>
            <a:r>
              <a:rPr lang="en-US" sz="1500" i="1" dirty="0">
                <a:latin typeface="Times New Roman"/>
                <a:cs typeface="Times New Roman"/>
              </a:rPr>
              <a:t>A</a:t>
            </a:r>
            <a:r>
              <a:rPr lang="en-US" sz="1500" i="1" spc="-57" dirty="0">
                <a:latin typeface="Times New Roman"/>
                <a:cs typeface="Times New Roman"/>
              </a:rPr>
              <a:t> </a:t>
            </a:r>
            <a:r>
              <a:rPr lang="en-US" sz="1500" i="1" spc="-9" dirty="0">
                <a:latin typeface="Times New Roman"/>
                <a:cs typeface="Times New Roman"/>
              </a:rPr>
              <a:t>Quantitative </a:t>
            </a:r>
            <a:br>
              <a:rPr lang="en-US" sz="1500" i="1" spc="-9" dirty="0">
                <a:latin typeface="Times New Roman"/>
                <a:cs typeface="Times New Roman"/>
              </a:rPr>
            </a:br>
            <a:r>
              <a:rPr lang="en-US" sz="1500" i="1" spc="-9" dirty="0">
                <a:latin typeface="Times New Roman"/>
                <a:cs typeface="Times New Roman"/>
              </a:rPr>
              <a:t>Approach</a:t>
            </a:r>
            <a:r>
              <a:rPr lang="en-US" sz="1500" spc="-9" dirty="0">
                <a:latin typeface="Times New Roman"/>
                <a:cs typeface="Times New Roman"/>
              </a:rPr>
              <a:t>,</a:t>
            </a:r>
            <a:r>
              <a:rPr lang="en-US" sz="1500" spc="-26" dirty="0">
                <a:latin typeface="Times New Roman"/>
                <a:cs typeface="Times New Roman"/>
              </a:rPr>
              <a:t> 5</a:t>
            </a:r>
            <a:r>
              <a:rPr sz="1500" dirty="0">
                <a:latin typeface="Times New Roman"/>
                <a:cs typeface="Times New Roman"/>
              </a:rPr>
              <a:t>th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edition</a:t>
            </a:r>
            <a:endParaRPr sz="15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4D33C6-70F1-0D4C-9E28-E2EC702A3AB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6</a:t>
            </a:fld>
            <a:endParaRPr lang="en-US" spc="-44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79F62826-822B-A78A-9C33-C8762536C87D}"/>
              </a:ext>
            </a:extLst>
          </p:cNvPr>
          <p:cNvSpPr txBox="1">
            <a:spLocks/>
          </p:cNvSpPr>
          <p:nvPr/>
        </p:nvSpPr>
        <p:spPr>
          <a:xfrm>
            <a:off x="912090" y="680031"/>
            <a:ext cx="517121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>
            <a:lvl1pPr>
              <a:defRPr sz="3000" b="0" i="0">
                <a:solidFill>
                  <a:srgbClr val="0332B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1206" defTabSz="914400">
              <a:spcBef>
                <a:spcPts val="88"/>
              </a:spcBef>
            </a:pPr>
            <a:r>
              <a:rPr lang="en-US" kern="0" dirty="0"/>
              <a:t>Growth</a:t>
            </a:r>
            <a:r>
              <a:rPr lang="en-US" kern="0" spc="-22" dirty="0"/>
              <a:t> </a:t>
            </a:r>
            <a:r>
              <a:rPr lang="en-US" kern="0" dirty="0"/>
              <a:t>in</a:t>
            </a:r>
            <a:r>
              <a:rPr lang="en-US" kern="0" spc="-18" dirty="0"/>
              <a:t> </a:t>
            </a:r>
            <a:r>
              <a:rPr lang="en-US" kern="0" dirty="0"/>
              <a:t>Clock</a:t>
            </a:r>
            <a:r>
              <a:rPr lang="en-US" kern="0" spc="-31" dirty="0"/>
              <a:t> </a:t>
            </a:r>
            <a:r>
              <a:rPr lang="en-US" kern="0" dirty="0"/>
              <a:t>Rate</a:t>
            </a:r>
            <a:r>
              <a:rPr lang="en-US" kern="0" spc="-31" dirty="0"/>
              <a:t> and Power</a:t>
            </a:r>
            <a:endParaRPr lang="en-US" kern="0" spc="-9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04F971-1899-DF83-7442-A8CC5ADB4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95" y="1233686"/>
            <a:ext cx="7640205" cy="5320567"/>
          </a:xfrm>
          <a:prstGeom prst="rect">
            <a:avLst/>
          </a:prstGeom>
        </p:spPr>
      </p:pic>
      <p:sp>
        <p:nvSpPr>
          <p:cNvPr id="2" name="object 5">
            <a:extLst>
              <a:ext uri="{FF2B5EF4-FFF2-40B4-BE49-F238E27FC236}">
                <a16:creationId xmlns:a16="http://schemas.microsoft.com/office/drawing/2014/main" id="{13A34B24-31B5-35C8-ECC8-A713F15690E2}"/>
              </a:ext>
            </a:extLst>
          </p:cNvPr>
          <p:cNvSpPr txBox="1"/>
          <p:nvPr/>
        </p:nvSpPr>
        <p:spPr>
          <a:xfrm>
            <a:off x="1608882" y="1451836"/>
            <a:ext cx="3088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2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Hennessy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Patterson,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br>
              <a:rPr lang="en-US" sz="1500" spc="35" dirty="0">
                <a:latin typeface="Times New Roman"/>
                <a:cs typeface="Times New Roman"/>
              </a:rPr>
            </a:br>
            <a:r>
              <a:rPr lang="en-US" sz="1500" i="1" dirty="0">
                <a:latin typeface="Times New Roman"/>
                <a:cs typeface="Times New Roman"/>
              </a:rPr>
              <a:t>Computer</a:t>
            </a:r>
            <a:r>
              <a:rPr lang="en-US" sz="1500" i="1" spc="-57" dirty="0">
                <a:latin typeface="Times New Roman"/>
                <a:cs typeface="Times New Roman"/>
              </a:rPr>
              <a:t> </a:t>
            </a:r>
            <a:r>
              <a:rPr lang="en-US" sz="1500" i="1" spc="-9" dirty="0">
                <a:latin typeface="Times New Roman"/>
                <a:cs typeface="Times New Roman"/>
              </a:rPr>
              <a:t>Architecture:</a:t>
            </a:r>
            <a:r>
              <a:rPr lang="en-US" sz="1500" i="1" spc="-53" dirty="0">
                <a:latin typeface="Times New Roman"/>
                <a:cs typeface="Times New Roman"/>
              </a:rPr>
              <a:t> </a:t>
            </a:r>
            <a:r>
              <a:rPr lang="en-US" sz="1500" i="1" dirty="0">
                <a:latin typeface="Times New Roman"/>
                <a:cs typeface="Times New Roman"/>
              </a:rPr>
              <a:t>A</a:t>
            </a:r>
            <a:r>
              <a:rPr lang="en-US" sz="1500" i="1" spc="-57" dirty="0">
                <a:latin typeface="Times New Roman"/>
                <a:cs typeface="Times New Roman"/>
              </a:rPr>
              <a:t> </a:t>
            </a:r>
            <a:r>
              <a:rPr lang="en-US" sz="1500" i="1" spc="-9" dirty="0">
                <a:latin typeface="Times New Roman"/>
                <a:cs typeface="Times New Roman"/>
              </a:rPr>
              <a:t>Quantitative </a:t>
            </a:r>
            <a:br>
              <a:rPr lang="en-US" sz="1500" i="1" spc="-9" dirty="0">
                <a:latin typeface="Times New Roman"/>
                <a:cs typeface="Times New Roman"/>
              </a:rPr>
            </a:br>
            <a:r>
              <a:rPr lang="en-US" sz="1500" i="1" spc="-9" dirty="0">
                <a:latin typeface="Times New Roman"/>
                <a:cs typeface="Times New Roman"/>
              </a:rPr>
              <a:t>Approach</a:t>
            </a:r>
            <a:r>
              <a:rPr lang="en-US" sz="1500" spc="-9" dirty="0">
                <a:latin typeface="Times New Roman"/>
                <a:cs typeface="Times New Roman"/>
              </a:rPr>
              <a:t>,</a:t>
            </a:r>
            <a:r>
              <a:rPr lang="en-US" sz="1500" spc="-26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6th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edition</a:t>
            </a:r>
            <a:endParaRPr sz="15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6042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77546" y="212912"/>
            <a:ext cx="1675279" cy="1001806"/>
          </a:xfrm>
          <a:custGeom>
            <a:avLst/>
            <a:gdLst/>
            <a:ahLst/>
            <a:cxnLst/>
            <a:rect l="l" t="t" r="r" b="b"/>
            <a:pathLst>
              <a:path w="1898650" h="1135380">
                <a:moveTo>
                  <a:pt x="1898446" y="0"/>
                </a:moveTo>
                <a:lnTo>
                  <a:pt x="0" y="0"/>
                </a:lnTo>
                <a:lnTo>
                  <a:pt x="0" y="1135362"/>
                </a:lnTo>
                <a:lnTo>
                  <a:pt x="1898446" y="1135362"/>
                </a:lnTo>
                <a:lnTo>
                  <a:pt x="18984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Déjà</a:t>
            </a:r>
            <a:r>
              <a:rPr spc="-22" dirty="0"/>
              <a:t> </a:t>
            </a:r>
            <a:r>
              <a:rPr b="0" dirty="0">
                <a:latin typeface="Calibri"/>
                <a:cs typeface="Calibri"/>
              </a:rPr>
              <a:t>vu</a:t>
            </a:r>
            <a:r>
              <a:rPr spc="-18" dirty="0"/>
              <a:t> </a:t>
            </a:r>
            <a:r>
              <a:rPr b="0" dirty="0">
                <a:latin typeface="Calibri"/>
                <a:cs typeface="Calibri"/>
              </a:rPr>
              <a:t>all</a:t>
            </a:r>
            <a:r>
              <a:rPr spc="-18" dirty="0"/>
              <a:t> </a:t>
            </a:r>
            <a:r>
              <a:rPr b="0" dirty="0">
                <a:latin typeface="Calibri"/>
                <a:cs typeface="Calibri"/>
              </a:rPr>
              <a:t>over</a:t>
            </a:r>
            <a:r>
              <a:rPr spc="-26" dirty="0"/>
              <a:t> </a:t>
            </a:r>
            <a:r>
              <a:rPr spc="-9" dirty="0"/>
              <a:t>again?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2739" y="1319156"/>
            <a:ext cx="7140768" cy="890613"/>
          </a:xfrm>
          <a:prstGeom prst="rect">
            <a:avLst/>
          </a:prstGeom>
        </p:spPr>
        <p:txBody>
          <a:bodyPr vert="horz" wrap="square" lIns="0" tIns="32497" rIns="0" bIns="0" rtlCol="0">
            <a:spAutoFit/>
          </a:bodyPr>
          <a:lstStyle/>
          <a:p>
            <a:pPr marL="278481" marR="4483" indent="-267835">
              <a:spcBef>
                <a:spcPts val="256"/>
              </a:spcBef>
              <a:buFont typeface="Calibri"/>
              <a:buChar char="•"/>
              <a:tabLst>
                <a:tab pos="278481" algn="l"/>
                <a:tab pos="3435346" algn="l"/>
              </a:tabLst>
            </a:pP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“…</a:t>
            </a:r>
            <a:r>
              <a:rPr sz="2000" b="1" spc="22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today’s</a:t>
            </a:r>
            <a:r>
              <a:rPr sz="2000" b="1" spc="1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processors</a:t>
            </a:r>
            <a:r>
              <a:rPr sz="2000" b="1" spc="1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…</a:t>
            </a:r>
            <a:r>
              <a:rPr sz="2000" b="1" spc="26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are</a:t>
            </a:r>
            <a:r>
              <a:rPr sz="2000" b="1" spc="22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nearing</a:t>
            </a:r>
            <a:r>
              <a:rPr sz="2000" b="1" spc="1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an</a:t>
            </a:r>
            <a:r>
              <a:rPr sz="2000" b="1" spc="22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impasse</a:t>
            </a:r>
            <a:r>
              <a:rPr sz="2000" b="1" spc="22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as</a:t>
            </a:r>
            <a:r>
              <a:rPr sz="2000" b="1" spc="1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spc="-9" dirty="0">
                <a:solidFill>
                  <a:srgbClr val="0070C0"/>
                </a:solidFill>
                <a:latin typeface="Calibri"/>
                <a:cs typeface="Calibri"/>
              </a:rPr>
              <a:t>technologies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approach</a:t>
            </a:r>
            <a:r>
              <a:rPr sz="2000" b="1" spc="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sz="2000" b="1" spc="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speed</a:t>
            </a:r>
            <a:r>
              <a:rPr sz="2000" b="1" spc="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sz="2000" b="1" spc="3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spc="-9" dirty="0">
                <a:solidFill>
                  <a:srgbClr val="0070C0"/>
                </a:solidFill>
                <a:latin typeface="Calibri"/>
                <a:cs typeface="Calibri"/>
              </a:rPr>
              <a:t>light..”</a:t>
            </a:r>
            <a:r>
              <a:rPr sz="2000" b="1" dirty="0">
                <a:solidFill>
                  <a:srgbClr val="33CCFF"/>
                </a:solidFill>
                <a:latin typeface="Calibri"/>
                <a:cs typeface="Calibri"/>
              </a:rPr>
              <a:t>	</a:t>
            </a:r>
            <a:endParaRPr lang="en-US" sz="2000" b="1" dirty="0">
              <a:solidFill>
                <a:srgbClr val="33CCFF"/>
              </a:solidFill>
              <a:latin typeface="Calibri"/>
              <a:cs typeface="Calibri"/>
            </a:endParaRPr>
          </a:p>
          <a:p>
            <a:pPr marL="285750" marR="4483">
              <a:spcBef>
                <a:spcPts val="256"/>
              </a:spcBef>
              <a:tabLst>
                <a:tab pos="278481" algn="l"/>
                <a:tab pos="3435346" algn="l"/>
              </a:tabLst>
            </a:pPr>
            <a:r>
              <a:rPr sz="1147" dirty="0">
                <a:latin typeface="Calibri"/>
                <a:cs typeface="Calibri"/>
              </a:rPr>
              <a:t>-</a:t>
            </a:r>
            <a:r>
              <a:rPr sz="1147" spc="-31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David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spc="-9" dirty="0">
                <a:latin typeface="Calibri"/>
                <a:cs typeface="Calibri"/>
              </a:rPr>
              <a:t>Mitchell,</a:t>
            </a:r>
            <a:r>
              <a:rPr sz="1324" spc="-18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The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spc="-9" dirty="0">
                <a:latin typeface="Calibri"/>
                <a:cs typeface="Calibri"/>
              </a:rPr>
              <a:t>Transputer: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The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Time</a:t>
            </a:r>
            <a:r>
              <a:rPr sz="1324" spc="-22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Is</a:t>
            </a:r>
            <a:r>
              <a:rPr sz="1324" spc="-22" dirty="0">
                <a:latin typeface="Calibri"/>
                <a:cs typeface="Calibri"/>
              </a:rPr>
              <a:t> Now </a:t>
            </a:r>
            <a:r>
              <a:rPr sz="1324" spc="-9" dirty="0">
                <a:latin typeface="Calibri"/>
                <a:cs typeface="Calibri"/>
              </a:rPr>
              <a:t>(1989</a:t>
            </a:r>
            <a:r>
              <a:rPr sz="1147" spc="-9" dirty="0">
                <a:latin typeface="Calibri"/>
                <a:cs typeface="Calibri"/>
              </a:rPr>
              <a:t>)</a:t>
            </a:r>
            <a:endParaRPr sz="1147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1992" y="2440641"/>
            <a:ext cx="7398558" cy="62988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78481" indent="-267275">
              <a:spcBef>
                <a:spcPts val="88"/>
              </a:spcBef>
              <a:buChar char="•"/>
              <a:tabLst>
                <a:tab pos="278481" algn="l"/>
              </a:tabLst>
            </a:pPr>
            <a:r>
              <a:rPr sz="2000" dirty="0">
                <a:latin typeface="Calibri"/>
                <a:cs typeface="Calibri"/>
              </a:rPr>
              <a:t>Transputer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was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premature</a:t>
            </a:r>
            <a:endParaRPr sz="2000" dirty="0">
              <a:latin typeface="Calibri"/>
              <a:cs typeface="Calibri"/>
            </a:endParaRPr>
          </a:p>
          <a:p>
            <a:pPr marL="278481" marR="4483">
              <a:spcBef>
                <a:spcPts val="185"/>
              </a:spcBef>
            </a:pPr>
            <a:r>
              <a:rPr sz="1853" dirty="0">
                <a:latin typeface="Symbol"/>
                <a:cs typeface="Symbol"/>
              </a:rPr>
              <a:t></a:t>
            </a:r>
            <a:r>
              <a:rPr sz="1853" spc="-22" dirty="0">
                <a:latin typeface="Times New Roman"/>
                <a:cs typeface="Times New Roman"/>
              </a:rPr>
              <a:t> </a:t>
            </a:r>
            <a:r>
              <a:rPr sz="1853" dirty="0">
                <a:latin typeface="Calibri"/>
                <a:cs typeface="Calibri"/>
              </a:rPr>
              <a:t>Custom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multiprocessors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strove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to</a:t>
            </a:r>
            <a:r>
              <a:rPr sz="1853" spc="4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lead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uniprocessors. 2x</a:t>
            </a:r>
            <a:r>
              <a:rPr sz="1853" spc="-4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perf</a:t>
            </a:r>
            <a:r>
              <a:rPr sz="1853" spc="4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/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spc="-22" dirty="0">
                <a:latin typeface="Calibri"/>
                <a:cs typeface="Calibri"/>
              </a:rPr>
              <a:t>1.2 yr</a:t>
            </a:r>
            <a:endParaRPr sz="1853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9151" y="3626672"/>
            <a:ext cx="7144356" cy="871566"/>
          </a:xfrm>
          <a:prstGeom prst="rect">
            <a:avLst/>
          </a:prstGeom>
        </p:spPr>
        <p:txBody>
          <a:bodyPr vert="horz" wrap="square" lIns="0" tIns="26334" rIns="0" bIns="0" rtlCol="0">
            <a:spAutoFit/>
          </a:bodyPr>
          <a:lstStyle/>
          <a:p>
            <a:pPr marL="278481" marR="4483" indent="-267835" algn="just">
              <a:spcBef>
                <a:spcPts val="207"/>
              </a:spcBef>
              <a:buFont typeface="Calibri"/>
              <a:buChar char="•"/>
              <a:tabLst>
                <a:tab pos="278481" algn="l"/>
              </a:tabLst>
            </a:pP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“We</a:t>
            </a:r>
            <a:r>
              <a:rPr sz="2000" b="1" spc="3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are</a:t>
            </a:r>
            <a:r>
              <a:rPr sz="2000" b="1" spc="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dedicating</a:t>
            </a:r>
            <a:r>
              <a:rPr sz="2000" b="1" spc="26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all</a:t>
            </a:r>
            <a:r>
              <a:rPr sz="2000" b="1" spc="18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sz="2000" b="1" spc="22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our</a:t>
            </a:r>
            <a:r>
              <a:rPr sz="2000" b="1" spc="26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future</a:t>
            </a:r>
            <a:r>
              <a:rPr sz="2000" b="1" spc="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product</a:t>
            </a:r>
            <a:r>
              <a:rPr sz="2000" b="1" spc="18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development</a:t>
            </a:r>
            <a:r>
              <a:rPr sz="2000" b="1" spc="1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to</a:t>
            </a:r>
            <a:r>
              <a:rPr sz="2000" b="1" spc="26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spc="-9" dirty="0">
                <a:solidFill>
                  <a:srgbClr val="0070C0"/>
                </a:solidFill>
                <a:latin typeface="Calibri"/>
                <a:cs typeface="Calibri"/>
              </a:rPr>
              <a:t>multi-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core</a:t>
            </a:r>
            <a:r>
              <a:rPr sz="2000" b="1" spc="1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designs.</a:t>
            </a:r>
            <a:r>
              <a:rPr sz="2000" b="1" spc="18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…</a:t>
            </a:r>
            <a:r>
              <a:rPr sz="2000" b="1" spc="22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This</a:t>
            </a:r>
            <a:r>
              <a:rPr sz="2000" b="1" spc="1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is</a:t>
            </a:r>
            <a:r>
              <a:rPr sz="2000" b="1" spc="1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r>
              <a:rPr sz="2000" b="1" spc="1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sea</a:t>
            </a:r>
            <a:r>
              <a:rPr sz="2000" b="1" spc="18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change</a:t>
            </a:r>
            <a:r>
              <a:rPr sz="2000" b="1" spc="18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in</a:t>
            </a:r>
            <a:r>
              <a:rPr sz="2000" b="1" spc="18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computing”</a:t>
            </a:r>
            <a:r>
              <a:rPr sz="2000" b="1" spc="-106" dirty="0">
                <a:solidFill>
                  <a:srgbClr val="33CCFF"/>
                </a:solidFill>
                <a:latin typeface="Calibri"/>
                <a:cs typeface="Calibri"/>
              </a:rPr>
              <a:t> </a:t>
            </a:r>
            <a:endParaRPr lang="en-US" sz="2000" b="1" spc="-106" dirty="0">
              <a:solidFill>
                <a:srgbClr val="33CCFF"/>
              </a:solidFill>
              <a:latin typeface="Calibri"/>
              <a:cs typeface="Calibri"/>
            </a:endParaRPr>
          </a:p>
          <a:p>
            <a:pPr marL="285750" marR="4483" algn="just">
              <a:spcBef>
                <a:spcPts val="207"/>
              </a:spcBef>
              <a:tabLst>
                <a:tab pos="278481" algn="l"/>
              </a:tabLst>
            </a:pPr>
            <a:r>
              <a:rPr sz="1324" dirty="0">
                <a:latin typeface="Calibri"/>
                <a:cs typeface="Calibri"/>
              </a:rPr>
              <a:t>-</a:t>
            </a:r>
            <a:r>
              <a:rPr sz="1324" spc="-13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Paul</a:t>
            </a:r>
            <a:r>
              <a:rPr sz="1324" spc="-4" dirty="0">
                <a:latin typeface="Calibri"/>
                <a:cs typeface="Calibri"/>
              </a:rPr>
              <a:t> </a:t>
            </a:r>
            <a:r>
              <a:rPr sz="1324" spc="-9" dirty="0">
                <a:latin typeface="Calibri"/>
                <a:cs typeface="Calibri"/>
              </a:rPr>
              <a:t>Otellini, President, </a:t>
            </a:r>
            <a:r>
              <a:rPr sz="1324" dirty="0">
                <a:latin typeface="Calibri"/>
                <a:cs typeface="Calibri"/>
              </a:rPr>
              <a:t>Intel</a:t>
            </a:r>
            <a:r>
              <a:rPr sz="1324" spc="-44" dirty="0">
                <a:latin typeface="Calibri"/>
                <a:cs typeface="Calibri"/>
              </a:rPr>
              <a:t> </a:t>
            </a:r>
            <a:r>
              <a:rPr sz="1324" spc="-9" dirty="0">
                <a:latin typeface="Calibri"/>
                <a:cs typeface="Calibri"/>
              </a:rPr>
              <a:t>(2004)</a:t>
            </a:r>
            <a:endParaRPr sz="1324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6830" y="4769672"/>
            <a:ext cx="6871658" cy="1271264"/>
          </a:xfrm>
          <a:prstGeom prst="rect">
            <a:avLst/>
          </a:prstGeom>
        </p:spPr>
        <p:txBody>
          <a:bodyPr vert="horz" wrap="square" lIns="0" tIns="40340" rIns="0" bIns="0" rtlCol="0">
            <a:spAutoFit/>
          </a:bodyPr>
          <a:lstStyle/>
          <a:p>
            <a:pPr marL="278481" marR="4483" indent="-267835">
              <a:lnSpc>
                <a:spcPct val="105000"/>
              </a:lnSpc>
              <a:spcBef>
                <a:spcPts val="317"/>
              </a:spcBef>
              <a:buChar char="•"/>
              <a:tabLst>
                <a:tab pos="278481" algn="l"/>
              </a:tabLst>
            </a:pPr>
            <a:r>
              <a:rPr sz="2000" dirty="0">
                <a:latin typeface="Calibri"/>
                <a:cs typeface="Calibri"/>
              </a:rPr>
              <a:t>Difference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microprocessor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companies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switched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multi-</a:t>
            </a:r>
            <a:r>
              <a:rPr sz="2000" spc="-18" dirty="0">
                <a:latin typeface="Calibri"/>
                <a:cs typeface="Calibri"/>
              </a:rPr>
              <a:t>core </a:t>
            </a:r>
            <a:r>
              <a:rPr sz="2000" dirty="0">
                <a:latin typeface="Calibri"/>
                <a:cs typeface="Calibri"/>
              </a:rPr>
              <a:t>(AMD,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Intel,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IBM;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Apples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2-4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CPUs)</a:t>
            </a:r>
            <a:endParaRPr sz="2000" dirty="0">
              <a:latin typeface="Calibri"/>
              <a:cs typeface="Calibri"/>
            </a:endParaRPr>
          </a:p>
          <a:p>
            <a:pPr marL="278481">
              <a:lnSpc>
                <a:spcPct val="105000"/>
              </a:lnSpc>
            </a:pPr>
            <a:r>
              <a:rPr sz="1853" dirty="0">
                <a:latin typeface="Symbol"/>
                <a:cs typeface="Symbol"/>
              </a:rPr>
              <a:t></a:t>
            </a:r>
            <a:r>
              <a:rPr sz="1853" spc="-13" dirty="0">
                <a:latin typeface="Times New Roman"/>
                <a:cs typeface="Times New Roman"/>
              </a:rPr>
              <a:t> </a:t>
            </a:r>
            <a:r>
              <a:rPr sz="1853" dirty="0">
                <a:latin typeface="Calibri"/>
                <a:cs typeface="Calibri"/>
              </a:rPr>
              <a:t>2X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sequential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perf.</a:t>
            </a:r>
            <a:r>
              <a:rPr sz="1853" spc="9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/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5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spc="-22" dirty="0">
                <a:latin typeface="Calibri"/>
                <a:cs typeface="Calibri"/>
              </a:rPr>
              <a:t>yrs</a:t>
            </a:r>
            <a:endParaRPr sz="1853" dirty="0">
              <a:latin typeface="Calibri"/>
              <a:cs typeface="Calibri"/>
            </a:endParaRPr>
          </a:p>
          <a:p>
            <a:pPr marL="278481">
              <a:lnSpc>
                <a:spcPct val="105000"/>
              </a:lnSpc>
            </a:pPr>
            <a:r>
              <a:rPr sz="1853" dirty="0">
                <a:latin typeface="Symbol"/>
                <a:cs typeface="Symbol"/>
              </a:rPr>
              <a:t></a:t>
            </a:r>
            <a:r>
              <a:rPr sz="1853" spc="-13" dirty="0">
                <a:latin typeface="Times New Roman"/>
                <a:cs typeface="Times New Roman"/>
              </a:rPr>
              <a:t> </a:t>
            </a:r>
            <a:r>
              <a:rPr sz="1853" dirty="0">
                <a:latin typeface="Calibri"/>
                <a:cs typeface="Calibri"/>
              </a:rPr>
              <a:t>Biggest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programming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challenge: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1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to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2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spc="-18" dirty="0">
                <a:latin typeface="Calibri"/>
                <a:cs typeface="Calibri"/>
              </a:rPr>
              <a:t>CPUs</a:t>
            </a:r>
            <a:endParaRPr sz="1853" dirty="0">
              <a:latin typeface="Calibri"/>
              <a:cs typeface="Calibri"/>
            </a:endParaRP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1A791412-B03C-09FB-6CA1-69C9731C5C7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7</a:t>
            </a:fld>
            <a:endParaRPr lang="en-US" spc="-4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80031"/>
            <a:ext cx="7450859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Other</a:t>
            </a:r>
            <a:r>
              <a:rPr spc="-44" dirty="0"/>
              <a:t> </a:t>
            </a:r>
            <a:r>
              <a:rPr b="0" dirty="0">
                <a:latin typeface="Calibri"/>
                <a:cs typeface="Calibri"/>
              </a:rPr>
              <a:t>Factors</a:t>
            </a:r>
            <a:r>
              <a:rPr spc="-44" dirty="0"/>
              <a:t> </a:t>
            </a:r>
            <a:r>
              <a:rPr b="0" dirty="0">
                <a:latin typeface="Symbol"/>
                <a:cs typeface="Symbol"/>
              </a:rPr>
              <a:t></a:t>
            </a:r>
            <a:r>
              <a:rPr spc="-1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Calibri"/>
                <a:cs typeface="Calibri"/>
              </a:rPr>
              <a:t>Multiprocessors</a:t>
            </a:r>
            <a:r>
              <a:rPr spc="-44" dirty="0"/>
              <a:t> </a:t>
            </a:r>
            <a:r>
              <a:rPr b="0" dirty="0">
                <a:latin typeface="Calibri"/>
                <a:cs typeface="Calibri"/>
              </a:rPr>
              <a:t>Work</a:t>
            </a:r>
            <a:r>
              <a:rPr spc="-49" dirty="0"/>
              <a:t> </a:t>
            </a:r>
            <a:r>
              <a:rPr spc="-18" dirty="0"/>
              <a:t>Well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09625" y="1279068"/>
            <a:ext cx="7743825" cy="4902474"/>
          </a:xfrm>
          <a:prstGeom prst="rect">
            <a:avLst/>
          </a:prstGeom>
        </p:spPr>
        <p:txBody>
          <a:bodyPr vert="horz" wrap="square" lIns="0" tIns="77321" rIns="0" bIns="0" rtlCol="0">
            <a:spAutoFit/>
          </a:bodyPr>
          <a:lstStyle/>
          <a:p>
            <a:pPr marL="278481" indent="-267275">
              <a:spcBef>
                <a:spcPts val="609"/>
              </a:spcBef>
              <a:buChar char="•"/>
              <a:tabLst>
                <a:tab pos="278481" algn="l"/>
              </a:tabLst>
            </a:pPr>
            <a:r>
              <a:rPr sz="2200" dirty="0"/>
              <a:t>Growth</a:t>
            </a:r>
            <a:r>
              <a:rPr sz="2200" spc="79" dirty="0"/>
              <a:t> </a:t>
            </a:r>
            <a:r>
              <a:rPr sz="2200" dirty="0"/>
              <a:t>in</a:t>
            </a:r>
            <a:r>
              <a:rPr sz="2200" spc="79" dirty="0"/>
              <a:t> </a:t>
            </a:r>
            <a:r>
              <a:rPr sz="2200" dirty="0"/>
              <a:t>data-intensive</a:t>
            </a:r>
            <a:r>
              <a:rPr sz="2200" spc="84" dirty="0"/>
              <a:t> </a:t>
            </a:r>
            <a:r>
              <a:rPr sz="2200" spc="-9" dirty="0"/>
              <a:t>applications</a:t>
            </a:r>
          </a:p>
          <a:p>
            <a:pPr marL="652777" lvl="1" indent="-213483">
              <a:spcBef>
                <a:spcPts val="437"/>
              </a:spcBef>
              <a:spcAft>
                <a:spcPts val="600"/>
              </a:spcAft>
              <a:buChar char="–"/>
              <a:tabLst>
                <a:tab pos="652777" algn="l"/>
              </a:tabLst>
            </a:pPr>
            <a:r>
              <a:rPr sz="2000" dirty="0">
                <a:latin typeface="Calibri"/>
                <a:cs typeface="Calibri"/>
              </a:rPr>
              <a:t>Databases,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file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servers,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web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servers,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…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(All: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many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separate</a:t>
            </a:r>
            <a:r>
              <a:rPr sz="2000" b="1" i="1" spc="22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tasks)</a:t>
            </a:r>
            <a:endParaRPr sz="2000" dirty="0">
              <a:latin typeface="Calibri"/>
              <a:cs typeface="Calibri"/>
            </a:endParaRPr>
          </a:p>
          <a:p>
            <a:pPr marL="278481" indent="-267275">
              <a:spcBef>
                <a:spcPts val="600"/>
              </a:spcBef>
              <a:spcAft>
                <a:spcPts val="600"/>
              </a:spcAft>
              <a:buChar char="•"/>
              <a:tabLst>
                <a:tab pos="278481" algn="l"/>
              </a:tabLst>
            </a:pPr>
            <a:r>
              <a:rPr sz="2200" dirty="0"/>
              <a:t>Growing</a:t>
            </a:r>
            <a:r>
              <a:rPr sz="2200" spc="66" dirty="0"/>
              <a:t> </a:t>
            </a:r>
            <a:r>
              <a:rPr sz="2200" dirty="0"/>
              <a:t>interest</a:t>
            </a:r>
            <a:r>
              <a:rPr sz="2200" spc="62" dirty="0"/>
              <a:t> </a:t>
            </a:r>
            <a:r>
              <a:rPr sz="2200" dirty="0"/>
              <a:t>in</a:t>
            </a:r>
            <a:r>
              <a:rPr sz="2200" spc="75" dirty="0"/>
              <a:t> </a:t>
            </a:r>
            <a:r>
              <a:rPr sz="2200" dirty="0"/>
              <a:t>servers,</a:t>
            </a:r>
            <a:r>
              <a:rPr sz="2200" spc="66" dirty="0"/>
              <a:t> </a:t>
            </a:r>
            <a:r>
              <a:rPr sz="2200" dirty="0"/>
              <a:t>server</a:t>
            </a:r>
            <a:r>
              <a:rPr sz="2200" spc="66" dirty="0"/>
              <a:t> </a:t>
            </a:r>
            <a:r>
              <a:rPr sz="2200" spc="-9" dirty="0"/>
              <a:t>performance</a:t>
            </a: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200" dirty="0"/>
              <a:t>Increasing</a:t>
            </a:r>
            <a:r>
              <a:rPr sz="2200" spc="93" dirty="0"/>
              <a:t> </a:t>
            </a:r>
            <a:r>
              <a:rPr sz="2200" dirty="0"/>
              <a:t>desktop</a:t>
            </a:r>
            <a:r>
              <a:rPr sz="2200" spc="101" dirty="0"/>
              <a:t> </a:t>
            </a:r>
            <a:r>
              <a:rPr sz="2200" dirty="0"/>
              <a:t>performance</a:t>
            </a:r>
            <a:r>
              <a:rPr sz="2200" spc="106" dirty="0"/>
              <a:t> </a:t>
            </a:r>
            <a:r>
              <a:rPr sz="2200" dirty="0"/>
              <a:t>less</a:t>
            </a:r>
            <a:r>
              <a:rPr sz="2200" spc="93" dirty="0"/>
              <a:t> </a:t>
            </a:r>
            <a:r>
              <a:rPr sz="2200" spc="-9" dirty="0"/>
              <a:t>important</a:t>
            </a:r>
          </a:p>
          <a:p>
            <a:pPr marL="652777" lvl="1" indent="-213483">
              <a:spcBef>
                <a:spcPts val="521"/>
              </a:spcBef>
              <a:spcAft>
                <a:spcPts val="600"/>
              </a:spcAft>
              <a:buChar char="–"/>
              <a:tabLst>
                <a:tab pos="652777" algn="l"/>
              </a:tabLst>
            </a:pPr>
            <a:r>
              <a:rPr sz="2000" dirty="0">
                <a:latin typeface="Calibri"/>
                <a:cs typeface="Calibri"/>
              </a:rPr>
              <a:t>Outside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graphics</a:t>
            </a:r>
            <a:endParaRPr sz="2000" dirty="0">
              <a:latin typeface="Calibri"/>
              <a:cs typeface="Calibri"/>
            </a:endParaRPr>
          </a:p>
          <a:p>
            <a:pPr marL="278481" marR="346280" indent="-267835">
              <a:spcBef>
                <a:spcPts val="825"/>
              </a:spcBef>
              <a:buChar char="•"/>
              <a:tabLst>
                <a:tab pos="278481" algn="l"/>
              </a:tabLst>
            </a:pPr>
            <a:r>
              <a:rPr sz="2200" dirty="0"/>
              <a:t>Improved</a:t>
            </a:r>
            <a:r>
              <a:rPr sz="2200" spc="79" dirty="0"/>
              <a:t> </a:t>
            </a:r>
            <a:r>
              <a:rPr sz="2200" dirty="0"/>
              <a:t>understanding</a:t>
            </a:r>
            <a:r>
              <a:rPr sz="2200" spc="71" dirty="0"/>
              <a:t> </a:t>
            </a:r>
            <a:r>
              <a:rPr sz="2200" dirty="0"/>
              <a:t>in</a:t>
            </a:r>
            <a:r>
              <a:rPr sz="2200" spc="84" dirty="0"/>
              <a:t> </a:t>
            </a:r>
            <a:r>
              <a:rPr sz="2200" dirty="0"/>
              <a:t>how</a:t>
            </a:r>
            <a:r>
              <a:rPr sz="2200" spc="84" dirty="0"/>
              <a:t> </a:t>
            </a:r>
            <a:r>
              <a:rPr sz="2200" dirty="0"/>
              <a:t>to</a:t>
            </a:r>
            <a:r>
              <a:rPr sz="2200" spc="79" dirty="0"/>
              <a:t> </a:t>
            </a:r>
            <a:r>
              <a:rPr sz="2200" dirty="0"/>
              <a:t>use</a:t>
            </a:r>
            <a:r>
              <a:rPr sz="2200" spc="84" dirty="0"/>
              <a:t> </a:t>
            </a:r>
            <a:r>
              <a:rPr sz="2200" spc="-9" dirty="0"/>
              <a:t>multiprocessors effectively</a:t>
            </a:r>
          </a:p>
          <a:p>
            <a:pPr marL="439294">
              <a:spcBef>
                <a:spcPts val="507"/>
              </a:spcBef>
              <a:spcAft>
                <a:spcPts val="600"/>
              </a:spcAft>
            </a:pPr>
            <a:r>
              <a:rPr sz="2200" dirty="0"/>
              <a:t>–</a:t>
            </a:r>
            <a:r>
              <a:rPr sz="2200" spc="357" dirty="0"/>
              <a:t> </a:t>
            </a:r>
            <a:r>
              <a:rPr sz="2000" dirty="0"/>
              <a:t>Especially</a:t>
            </a:r>
            <a:r>
              <a:rPr sz="2000" spc="18" dirty="0"/>
              <a:t> </a:t>
            </a:r>
            <a:r>
              <a:rPr sz="2000" dirty="0"/>
              <a:t>servers,</a:t>
            </a:r>
            <a:r>
              <a:rPr sz="2000" spc="18" dirty="0"/>
              <a:t> </a:t>
            </a:r>
            <a:r>
              <a:rPr sz="2000" dirty="0"/>
              <a:t>where</a:t>
            </a:r>
            <a:r>
              <a:rPr sz="2000" spc="22" dirty="0"/>
              <a:t> </a:t>
            </a:r>
            <a:r>
              <a:rPr sz="2000" i="1" dirty="0">
                <a:latin typeface="Calibri"/>
                <a:cs typeface="Calibri"/>
              </a:rPr>
              <a:t>significant</a:t>
            </a:r>
            <a:r>
              <a:rPr sz="2000" i="1" spc="22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natural</a:t>
            </a:r>
            <a:r>
              <a:rPr sz="2000" i="1" spc="22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TLP</a:t>
            </a:r>
            <a:r>
              <a:rPr sz="2000" i="1" spc="26" dirty="0">
                <a:latin typeface="Calibri"/>
                <a:cs typeface="Calibri"/>
              </a:rPr>
              <a:t> </a:t>
            </a:r>
            <a:r>
              <a:rPr sz="2000" dirty="0"/>
              <a:t>(separate</a:t>
            </a:r>
            <a:r>
              <a:rPr sz="2000" spc="26" dirty="0"/>
              <a:t> </a:t>
            </a:r>
            <a:r>
              <a:rPr sz="2000" spc="-9" dirty="0"/>
              <a:t>tasks)</a:t>
            </a:r>
            <a:endParaRPr sz="2000" dirty="0">
              <a:latin typeface="Calibri"/>
              <a:cs typeface="Calibri"/>
            </a:endParaRPr>
          </a:p>
          <a:p>
            <a:pPr marL="278481" marR="80687" indent="-267835">
              <a:spcBef>
                <a:spcPts val="759"/>
              </a:spcBef>
              <a:buChar char="•"/>
              <a:tabLst>
                <a:tab pos="278481" algn="l"/>
              </a:tabLst>
            </a:pPr>
            <a:r>
              <a:rPr sz="2200" dirty="0"/>
              <a:t>Huge</a:t>
            </a:r>
            <a:r>
              <a:rPr sz="2200" spc="75" dirty="0"/>
              <a:t> </a:t>
            </a:r>
            <a:r>
              <a:rPr sz="2200" dirty="0"/>
              <a:t>cost</a:t>
            </a:r>
            <a:r>
              <a:rPr sz="2200" spc="66" dirty="0"/>
              <a:t> </a:t>
            </a:r>
            <a:r>
              <a:rPr sz="2200" dirty="0"/>
              <a:t>$$$</a:t>
            </a:r>
            <a:r>
              <a:rPr sz="2200" spc="71" dirty="0"/>
              <a:t> </a:t>
            </a:r>
            <a:r>
              <a:rPr sz="2200" dirty="0"/>
              <a:t>advantage</a:t>
            </a:r>
            <a:r>
              <a:rPr sz="2200" spc="79" dirty="0"/>
              <a:t> </a:t>
            </a:r>
            <a:r>
              <a:rPr sz="2200" dirty="0"/>
              <a:t>of</a:t>
            </a:r>
            <a:r>
              <a:rPr sz="2200" spc="66" dirty="0"/>
              <a:t> </a:t>
            </a:r>
            <a:r>
              <a:rPr sz="2200" dirty="0"/>
              <a:t>leveraging</a:t>
            </a:r>
            <a:r>
              <a:rPr sz="2200" spc="71" dirty="0"/>
              <a:t> </a:t>
            </a:r>
            <a:r>
              <a:rPr sz="2200" dirty="0"/>
              <a:t>design</a:t>
            </a:r>
            <a:r>
              <a:rPr sz="2200" spc="75" dirty="0"/>
              <a:t> </a:t>
            </a:r>
            <a:r>
              <a:rPr sz="2200" spc="-9" dirty="0"/>
              <a:t>investment </a:t>
            </a:r>
            <a:r>
              <a:rPr sz="2200" dirty="0"/>
              <a:t>by</a:t>
            </a:r>
            <a:r>
              <a:rPr sz="2200" spc="22" dirty="0"/>
              <a:t> </a:t>
            </a:r>
            <a:r>
              <a:rPr sz="2200" spc="-9" dirty="0"/>
              <a:t>replication</a:t>
            </a:r>
          </a:p>
          <a:p>
            <a:pPr marL="652777" lvl="1" indent="-213483">
              <a:spcBef>
                <a:spcPts val="415"/>
              </a:spcBef>
              <a:buChar char="–"/>
              <a:tabLst>
                <a:tab pos="652777" algn="l"/>
              </a:tabLst>
            </a:pPr>
            <a:r>
              <a:rPr sz="2000" dirty="0">
                <a:latin typeface="Calibri"/>
                <a:cs typeface="Calibri"/>
              </a:rPr>
              <a:t>Rather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unique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designs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higher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performance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8" dirty="0">
                <a:latin typeface="Calibri"/>
                <a:cs typeface="Calibri"/>
              </a:rPr>
              <a:t>chip</a:t>
            </a:r>
            <a:endParaRPr sz="2000" dirty="0">
              <a:latin typeface="Calibri"/>
              <a:cs typeface="Calibri"/>
            </a:endParaRPr>
          </a:p>
          <a:p>
            <a:pPr marL="920612"/>
            <a:r>
              <a:rPr sz="2000" dirty="0">
                <a:solidFill>
                  <a:srgbClr val="3366FF"/>
                </a:solidFill>
              </a:rPr>
              <a:t>(a</a:t>
            </a:r>
            <a:r>
              <a:rPr sz="2000" spc="18" dirty="0">
                <a:solidFill>
                  <a:srgbClr val="3366FF"/>
                </a:solidFill>
              </a:rPr>
              <a:t> </a:t>
            </a:r>
            <a:r>
              <a:rPr sz="2000" dirty="0">
                <a:solidFill>
                  <a:srgbClr val="3366FF"/>
                </a:solidFill>
              </a:rPr>
              <a:t>fast</a:t>
            </a:r>
            <a:r>
              <a:rPr sz="2000" spc="18" dirty="0">
                <a:solidFill>
                  <a:srgbClr val="3366FF"/>
                </a:solidFill>
              </a:rPr>
              <a:t> </a:t>
            </a:r>
            <a:r>
              <a:rPr sz="2000" dirty="0">
                <a:solidFill>
                  <a:srgbClr val="3366FF"/>
                </a:solidFill>
              </a:rPr>
              <a:t>new</a:t>
            </a:r>
            <a:r>
              <a:rPr sz="2000" spc="18" dirty="0">
                <a:solidFill>
                  <a:srgbClr val="3366FF"/>
                </a:solidFill>
              </a:rPr>
              <a:t> </a:t>
            </a:r>
            <a:r>
              <a:rPr sz="2000" dirty="0">
                <a:solidFill>
                  <a:srgbClr val="3366FF"/>
                </a:solidFill>
              </a:rPr>
              <a:t>design</a:t>
            </a:r>
            <a:r>
              <a:rPr sz="2000" spc="13" dirty="0">
                <a:solidFill>
                  <a:srgbClr val="3366FF"/>
                </a:solidFill>
              </a:rPr>
              <a:t> </a:t>
            </a:r>
            <a:r>
              <a:rPr sz="2000" dirty="0">
                <a:solidFill>
                  <a:srgbClr val="3366FF"/>
                </a:solidFill>
              </a:rPr>
              <a:t>costs</a:t>
            </a:r>
            <a:r>
              <a:rPr sz="2000" spc="18" dirty="0">
                <a:solidFill>
                  <a:srgbClr val="3366FF"/>
                </a:solidFill>
              </a:rPr>
              <a:t> </a:t>
            </a:r>
            <a:r>
              <a:rPr sz="2000" dirty="0">
                <a:solidFill>
                  <a:srgbClr val="3366FF"/>
                </a:solidFill>
              </a:rPr>
              <a:t>billions</a:t>
            </a:r>
            <a:r>
              <a:rPr sz="2000" spc="22" dirty="0">
                <a:solidFill>
                  <a:srgbClr val="3366FF"/>
                </a:solidFill>
              </a:rPr>
              <a:t> </a:t>
            </a:r>
            <a:r>
              <a:rPr sz="2000" dirty="0">
                <a:solidFill>
                  <a:srgbClr val="3366FF"/>
                </a:solidFill>
              </a:rPr>
              <a:t>of</a:t>
            </a:r>
            <a:r>
              <a:rPr sz="2000" spc="13" dirty="0">
                <a:solidFill>
                  <a:srgbClr val="3366FF"/>
                </a:solidFill>
              </a:rPr>
              <a:t> </a:t>
            </a:r>
            <a:r>
              <a:rPr sz="2000" dirty="0">
                <a:solidFill>
                  <a:srgbClr val="3366FF"/>
                </a:solidFill>
              </a:rPr>
              <a:t>dollars</a:t>
            </a:r>
            <a:r>
              <a:rPr sz="2000" spc="22" dirty="0">
                <a:solidFill>
                  <a:srgbClr val="3366FF"/>
                </a:solidFill>
              </a:rPr>
              <a:t> </a:t>
            </a:r>
            <a:r>
              <a:rPr sz="2000" dirty="0">
                <a:solidFill>
                  <a:srgbClr val="3366FF"/>
                </a:solidFill>
              </a:rPr>
              <a:t>in</a:t>
            </a:r>
            <a:r>
              <a:rPr sz="2000" spc="13" dirty="0">
                <a:solidFill>
                  <a:srgbClr val="3366FF"/>
                </a:solidFill>
              </a:rPr>
              <a:t> </a:t>
            </a:r>
            <a:r>
              <a:rPr sz="2000" dirty="0">
                <a:solidFill>
                  <a:srgbClr val="3366FF"/>
                </a:solidFill>
              </a:rPr>
              <a:t>R&amp;D</a:t>
            </a:r>
            <a:r>
              <a:rPr sz="2000" spc="9" dirty="0">
                <a:solidFill>
                  <a:srgbClr val="3366FF"/>
                </a:solidFill>
              </a:rPr>
              <a:t> </a:t>
            </a:r>
            <a:r>
              <a:rPr sz="2000" dirty="0">
                <a:solidFill>
                  <a:srgbClr val="3366FF"/>
                </a:solidFill>
              </a:rPr>
              <a:t>and</a:t>
            </a:r>
            <a:r>
              <a:rPr sz="2000" spc="18" dirty="0">
                <a:solidFill>
                  <a:srgbClr val="3366FF"/>
                </a:solidFill>
              </a:rPr>
              <a:t> </a:t>
            </a:r>
            <a:r>
              <a:rPr sz="2000" spc="-9" dirty="0">
                <a:solidFill>
                  <a:srgbClr val="3366FF"/>
                </a:solidFill>
              </a:rPr>
              <a:t>factories)</a:t>
            </a:r>
            <a:endParaRPr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0BEECD-9381-D703-E146-79AD19C6B96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8</a:t>
            </a:fld>
            <a:endParaRPr lang="en-US" spc="-4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8451" y="679748"/>
            <a:ext cx="2869826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Flynn’s</a:t>
            </a:r>
            <a:r>
              <a:rPr spc="-115" dirty="0"/>
              <a:t> </a:t>
            </a:r>
            <a:r>
              <a:rPr spc="-9" dirty="0"/>
              <a:t>Taxonomy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212" y="1320052"/>
            <a:ext cx="6369899" cy="35076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78481" indent="-267275">
              <a:spcBef>
                <a:spcPts val="88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Flynn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classified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by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data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and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control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streams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spc="-18" dirty="0">
                <a:latin typeface="Calibri"/>
                <a:cs typeface="Calibri"/>
              </a:rPr>
              <a:t>1966</a:t>
            </a:r>
            <a:endParaRPr sz="2206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9964" y="4411980"/>
            <a:ext cx="6752104" cy="1935077"/>
          </a:xfrm>
          <a:prstGeom prst="rect">
            <a:avLst/>
          </a:prstGeom>
        </p:spPr>
        <p:txBody>
          <a:bodyPr vert="horz" wrap="square" lIns="0" tIns="89087" rIns="0" bIns="0" rtlCol="0">
            <a:spAutoFit/>
          </a:bodyPr>
          <a:lstStyle/>
          <a:p>
            <a:pPr marL="278481" indent="-267275">
              <a:spcBef>
                <a:spcPts val="702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SIMD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Symbol"/>
                <a:cs typeface="Symbol"/>
              </a:rPr>
              <a:t></a:t>
            </a:r>
            <a:r>
              <a:rPr sz="2206" spc="18" dirty="0">
                <a:latin typeface="Times New Roman"/>
                <a:cs typeface="Times New Roman"/>
              </a:rPr>
              <a:t> </a:t>
            </a:r>
            <a:r>
              <a:rPr sz="2206" dirty="0">
                <a:latin typeface="Calibri"/>
                <a:cs typeface="Calibri"/>
              </a:rPr>
              <a:t>Data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Level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Parallelism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(problem: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locked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step)</a:t>
            </a:r>
            <a:endParaRPr sz="2206" dirty="0">
              <a:latin typeface="Calibri"/>
              <a:cs typeface="Calibri"/>
            </a:endParaRPr>
          </a:p>
          <a:p>
            <a:pPr marL="278481" indent="-267275">
              <a:spcBef>
                <a:spcPts val="613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MIMD</a:t>
            </a:r>
            <a:r>
              <a:rPr sz="2206" spc="88" dirty="0">
                <a:latin typeface="Calibri"/>
                <a:cs typeface="Calibri"/>
              </a:rPr>
              <a:t> </a:t>
            </a:r>
            <a:r>
              <a:rPr sz="2206" dirty="0">
                <a:latin typeface="Symbol"/>
                <a:cs typeface="Symbol"/>
              </a:rPr>
              <a:t></a:t>
            </a:r>
            <a:r>
              <a:rPr sz="2206" spc="49" dirty="0">
                <a:latin typeface="Times New Roman"/>
                <a:cs typeface="Times New Roman"/>
              </a:rPr>
              <a:t> </a:t>
            </a:r>
            <a:r>
              <a:rPr sz="2206" dirty="0">
                <a:latin typeface="Calibri"/>
                <a:cs typeface="Calibri"/>
              </a:rPr>
              <a:t>Thread</a:t>
            </a:r>
            <a:r>
              <a:rPr sz="2206" spc="8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Level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Parallelism</a:t>
            </a:r>
            <a:r>
              <a:rPr sz="2206" spc="9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(independent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steps)</a:t>
            </a:r>
            <a:endParaRPr sz="2206" dirty="0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MIMD</a:t>
            </a:r>
            <a:r>
              <a:rPr sz="2206" spc="10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popular</a:t>
            </a:r>
            <a:r>
              <a:rPr sz="2206" spc="88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because</a:t>
            </a:r>
            <a:endParaRPr sz="2206" dirty="0">
              <a:latin typeface="Calibri"/>
              <a:cs typeface="Calibri"/>
            </a:endParaRPr>
          </a:p>
          <a:p>
            <a:pPr marL="652777" lvl="1" indent="-213483">
              <a:spcBef>
                <a:spcPts val="437"/>
              </a:spcBef>
              <a:buChar char="–"/>
              <a:tabLst>
                <a:tab pos="652777" algn="l"/>
              </a:tabLst>
            </a:pPr>
            <a:r>
              <a:rPr sz="1853" dirty="0">
                <a:latin typeface="Calibri"/>
                <a:cs typeface="Calibri"/>
              </a:rPr>
              <a:t>Flexible: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N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programs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or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1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multithreaded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program</a:t>
            </a:r>
            <a:endParaRPr sz="1853" dirty="0">
              <a:latin typeface="Calibri"/>
              <a:cs typeface="Calibri"/>
            </a:endParaRPr>
          </a:p>
          <a:p>
            <a:pPr marL="652777" lvl="1" indent="-213483">
              <a:spcBef>
                <a:spcPts val="529"/>
              </a:spcBef>
              <a:buChar char="–"/>
              <a:tabLst>
                <a:tab pos="652777" algn="l"/>
              </a:tabLst>
            </a:pPr>
            <a:r>
              <a:rPr sz="1853" dirty="0">
                <a:latin typeface="Calibri"/>
                <a:cs typeface="Calibri"/>
              </a:rPr>
              <a:t>Cost-effective: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same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MicroProcUnit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desktop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PC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&amp;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spc="-18" dirty="0">
                <a:latin typeface="Calibri"/>
                <a:cs typeface="Calibri"/>
              </a:rPr>
              <a:t>MIMD</a:t>
            </a:r>
            <a:endParaRPr sz="1853" dirty="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30716" y="1840449"/>
          <a:ext cx="6752104" cy="25106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76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5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1282">
                <a:tc>
                  <a:txBody>
                    <a:bodyPr/>
                    <a:lstStyle/>
                    <a:p>
                      <a:pPr marL="96520" marR="653415">
                        <a:lnSpc>
                          <a:spcPts val="2300"/>
                        </a:lnSpc>
                        <a:spcBef>
                          <a:spcPts val="340"/>
                        </a:spcBef>
                      </a:pPr>
                      <a:r>
                        <a:rPr sz="1900" b="1" dirty="0"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sz="190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dirty="0"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900" b="1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spc="-10" dirty="0">
                          <a:latin typeface="Times New Roman"/>
                          <a:cs typeface="Times New Roman"/>
                        </a:rPr>
                        <a:t>Stream, </a:t>
                      </a:r>
                      <a:r>
                        <a:rPr sz="1900" b="1" dirty="0"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sz="19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9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dirty="0"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19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900" b="1" spc="-10" dirty="0">
                          <a:solidFill>
                            <a:srgbClr val="114FFB"/>
                          </a:solidFill>
                          <a:latin typeface="Times New Roman"/>
                          <a:cs typeface="Times New Roman"/>
                        </a:rPr>
                        <a:t>SISD</a:t>
                      </a:r>
                      <a:r>
                        <a:rPr sz="1900" b="1" spc="-10" dirty="0">
                          <a:latin typeface="Times New Roman"/>
                          <a:cs typeface="Times New Roman"/>
                        </a:rPr>
                        <a:t>)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900" b="1" spc="-10" dirty="0">
                          <a:solidFill>
                            <a:srgbClr val="0332B7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900" b="1" spc="-10" dirty="0">
                          <a:solidFill>
                            <a:srgbClr val="114FFB"/>
                          </a:solidFill>
                          <a:latin typeface="Times New Roman"/>
                          <a:cs typeface="Times New Roman"/>
                        </a:rPr>
                        <a:t>Uniprocessors</a:t>
                      </a:r>
                      <a:r>
                        <a:rPr sz="1900" b="1" spc="-10" dirty="0">
                          <a:solidFill>
                            <a:srgbClr val="0332B7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marR="445134">
                        <a:lnSpc>
                          <a:spcPts val="2300"/>
                        </a:lnSpc>
                        <a:spcBef>
                          <a:spcPts val="340"/>
                        </a:spcBef>
                      </a:pPr>
                      <a:r>
                        <a:rPr sz="1900" b="1" dirty="0"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sz="190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dirty="0"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900" b="1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spc="-10" dirty="0">
                          <a:latin typeface="Times New Roman"/>
                          <a:cs typeface="Times New Roman"/>
                        </a:rPr>
                        <a:t>Stream, </a:t>
                      </a:r>
                      <a:r>
                        <a:rPr sz="1900" b="1" dirty="0"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sz="19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9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dirty="0"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19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u="sng" spc="-20" dirty="0">
                          <a:solidFill>
                            <a:srgbClr val="0332B7"/>
                          </a:solidFill>
                          <a:uFill>
                            <a:solidFill>
                              <a:srgbClr val="0332B7"/>
                            </a:solidFill>
                          </a:uFill>
                          <a:latin typeface="Times New Roman"/>
                          <a:cs typeface="Times New Roman"/>
                        </a:rPr>
                        <a:t>SIMD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900" b="1" dirty="0">
                          <a:solidFill>
                            <a:srgbClr val="0332B7"/>
                          </a:solidFill>
                          <a:latin typeface="Times New Roman"/>
                          <a:cs typeface="Times New Roman"/>
                        </a:rPr>
                        <a:t>(Single</a:t>
                      </a:r>
                      <a:r>
                        <a:rPr sz="1900" b="1" spc="15" dirty="0">
                          <a:solidFill>
                            <a:srgbClr val="0332B7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dirty="0">
                          <a:solidFill>
                            <a:srgbClr val="0332B7"/>
                          </a:solidFill>
                          <a:latin typeface="Times New Roman"/>
                          <a:cs typeface="Times New Roman"/>
                        </a:rPr>
                        <a:t>ProgCtr:</a:t>
                      </a:r>
                      <a:r>
                        <a:rPr sz="1900" b="1" spc="5" dirty="0">
                          <a:solidFill>
                            <a:srgbClr val="0332B7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dirty="0">
                          <a:solidFill>
                            <a:srgbClr val="0332B7"/>
                          </a:solidFill>
                          <a:latin typeface="Times New Roman"/>
                          <a:cs typeface="Times New Roman"/>
                        </a:rPr>
                        <a:t>CM-</a:t>
                      </a:r>
                      <a:r>
                        <a:rPr sz="1900" b="1" spc="-25" dirty="0">
                          <a:solidFill>
                            <a:srgbClr val="0332B7"/>
                          </a:solidFill>
                          <a:latin typeface="Times New Roman"/>
                          <a:cs typeface="Times New Roman"/>
                        </a:rPr>
                        <a:t>2)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8444">
                <a:tc>
                  <a:txBody>
                    <a:bodyPr/>
                    <a:lstStyle/>
                    <a:p>
                      <a:pPr marL="96520" marR="418465">
                        <a:lnSpc>
                          <a:spcPts val="2300"/>
                        </a:lnSpc>
                        <a:spcBef>
                          <a:spcPts val="350"/>
                        </a:spcBef>
                      </a:pPr>
                      <a:r>
                        <a:rPr sz="1900" b="1" dirty="0"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sz="19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dirty="0"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9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spc="-10" dirty="0">
                          <a:latin typeface="Times New Roman"/>
                          <a:cs typeface="Times New Roman"/>
                        </a:rPr>
                        <a:t>Stream, </a:t>
                      </a:r>
                      <a:r>
                        <a:rPr sz="1900" b="1" dirty="0"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sz="19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9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dirty="0"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19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900" b="1" spc="-10" dirty="0">
                          <a:solidFill>
                            <a:srgbClr val="FF6600"/>
                          </a:solidFill>
                          <a:latin typeface="Times New Roman"/>
                          <a:cs typeface="Times New Roman"/>
                        </a:rPr>
                        <a:t>MISD</a:t>
                      </a:r>
                      <a:r>
                        <a:rPr sz="1900" b="1" spc="-10" dirty="0">
                          <a:latin typeface="Times New Roman"/>
                          <a:cs typeface="Times New Roman"/>
                        </a:rPr>
                        <a:t>)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900" b="1" dirty="0">
                          <a:solidFill>
                            <a:srgbClr val="FF6600"/>
                          </a:solidFill>
                          <a:latin typeface="Times New Roman"/>
                          <a:cs typeface="Times New Roman"/>
                        </a:rPr>
                        <a:t>(???</a:t>
                      </a:r>
                      <a:r>
                        <a:rPr sz="1900" b="1" spc="-114" dirty="0">
                          <a:solidFill>
                            <a:srgbClr val="FF66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dirty="0">
                          <a:solidFill>
                            <a:srgbClr val="FF6600"/>
                          </a:solidFill>
                          <a:latin typeface="Times New Roman"/>
                          <a:cs typeface="Times New Roman"/>
                        </a:rPr>
                        <a:t>Arguably,</a:t>
                      </a:r>
                      <a:r>
                        <a:rPr sz="1900" b="1" spc="-10" dirty="0">
                          <a:solidFill>
                            <a:srgbClr val="FF66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dirty="0">
                          <a:solidFill>
                            <a:srgbClr val="FF6600"/>
                          </a:solidFill>
                          <a:latin typeface="Times New Roman"/>
                          <a:cs typeface="Times New Roman"/>
                        </a:rPr>
                        <a:t>no </a:t>
                      </a:r>
                      <a:r>
                        <a:rPr sz="1900" b="1" spc="-10" dirty="0">
                          <a:solidFill>
                            <a:srgbClr val="FF6600"/>
                          </a:solidFill>
                          <a:latin typeface="Times New Roman"/>
                          <a:cs typeface="Times New Roman"/>
                        </a:rPr>
                        <a:t>designs)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9221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marR="338455">
                        <a:lnSpc>
                          <a:spcPts val="2300"/>
                        </a:lnSpc>
                        <a:spcBef>
                          <a:spcPts val="350"/>
                        </a:spcBef>
                      </a:pPr>
                      <a:r>
                        <a:rPr sz="1900" b="1" dirty="0"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sz="19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dirty="0"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9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spc="-10" dirty="0">
                          <a:latin typeface="Times New Roman"/>
                          <a:cs typeface="Times New Roman"/>
                        </a:rPr>
                        <a:t>Stream, </a:t>
                      </a:r>
                      <a:r>
                        <a:rPr sz="1900" b="1" dirty="0"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sz="19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9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dirty="0"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19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u="sng" spc="-20" dirty="0">
                          <a:solidFill>
                            <a:srgbClr val="0332B7"/>
                          </a:solidFill>
                          <a:uFill>
                            <a:solidFill>
                              <a:srgbClr val="0332B7"/>
                            </a:solidFill>
                          </a:uFill>
                          <a:latin typeface="Times New Roman"/>
                          <a:cs typeface="Times New Roman"/>
                        </a:rPr>
                        <a:t>MIMD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900" b="1" dirty="0">
                          <a:solidFill>
                            <a:srgbClr val="0332B7"/>
                          </a:solidFill>
                          <a:latin typeface="Times New Roman"/>
                          <a:cs typeface="Times New Roman"/>
                        </a:rPr>
                        <a:t>(Clusters,</a:t>
                      </a:r>
                      <a:r>
                        <a:rPr sz="1900" b="1" spc="20" dirty="0">
                          <a:solidFill>
                            <a:srgbClr val="0332B7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dirty="0">
                          <a:solidFill>
                            <a:srgbClr val="0332B7"/>
                          </a:solidFill>
                          <a:latin typeface="Times New Roman"/>
                          <a:cs typeface="Times New Roman"/>
                        </a:rPr>
                        <a:t>SMP</a:t>
                      </a:r>
                      <a:r>
                        <a:rPr sz="1900" b="1" spc="-85" dirty="0">
                          <a:solidFill>
                            <a:srgbClr val="0332B7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0332B7"/>
                          </a:solidFill>
                          <a:latin typeface="Times New Roman"/>
                          <a:cs typeface="Times New Roman"/>
                        </a:rPr>
                        <a:t>servers)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9221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624416" y="233531"/>
            <a:ext cx="3082178" cy="354924"/>
          </a:xfrm>
          <a:prstGeom prst="rect">
            <a:avLst/>
          </a:prstGeom>
        </p:spPr>
        <p:txBody>
          <a:bodyPr vert="horz" wrap="square" lIns="0" tIns="21291" rIns="0" bIns="0" rtlCol="0">
            <a:spAutoFit/>
          </a:bodyPr>
          <a:lstStyle/>
          <a:p>
            <a:pPr marL="11206" marR="4483" indent="173140">
              <a:lnSpc>
                <a:spcPts val="1332"/>
              </a:lnSpc>
              <a:spcBef>
                <a:spcPts val="168"/>
              </a:spcBef>
            </a:pPr>
            <a:r>
              <a:rPr sz="1147" b="1" i="1" dirty="0">
                <a:latin typeface="Arial"/>
                <a:cs typeface="Arial"/>
              </a:rPr>
              <a:t>M.J.</a:t>
            </a:r>
            <a:r>
              <a:rPr sz="1147" b="1" i="1" spc="-53" dirty="0">
                <a:latin typeface="Arial"/>
                <a:cs typeface="Arial"/>
              </a:rPr>
              <a:t> </a:t>
            </a:r>
            <a:r>
              <a:rPr sz="1147" b="1" i="1" spc="-9" dirty="0">
                <a:latin typeface="Arial"/>
                <a:cs typeface="Arial"/>
              </a:rPr>
              <a:t>Flynn,</a:t>
            </a:r>
            <a:r>
              <a:rPr sz="1147" b="1" i="1" spc="-53" dirty="0">
                <a:latin typeface="Arial"/>
                <a:cs typeface="Arial"/>
              </a:rPr>
              <a:t> </a:t>
            </a:r>
            <a:r>
              <a:rPr sz="1147" b="1" i="1" spc="-18" dirty="0">
                <a:latin typeface="Arial"/>
                <a:cs typeface="Arial"/>
              </a:rPr>
              <a:t>"Very</a:t>
            </a:r>
            <a:r>
              <a:rPr sz="1147" b="1" i="1" spc="-62" dirty="0">
                <a:latin typeface="Arial"/>
                <a:cs typeface="Arial"/>
              </a:rPr>
              <a:t> </a:t>
            </a:r>
            <a:r>
              <a:rPr sz="1147" b="1" i="1" spc="-22" dirty="0">
                <a:latin typeface="Arial"/>
                <a:cs typeface="Arial"/>
              </a:rPr>
              <a:t>High-</a:t>
            </a:r>
            <a:r>
              <a:rPr sz="1147" b="1" i="1" spc="-9" dirty="0">
                <a:latin typeface="Arial"/>
                <a:cs typeface="Arial"/>
              </a:rPr>
              <a:t>Speed</a:t>
            </a:r>
            <a:r>
              <a:rPr sz="1147" b="1" i="1" spc="-57" dirty="0">
                <a:latin typeface="Arial"/>
                <a:cs typeface="Arial"/>
              </a:rPr>
              <a:t> </a:t>
            </a:r>
            <a:r>
              <a:rPr sz="1147" b="1" i="1" spc="-9" dirty="0">
                <a:latin typeface="Arial"/>
                <a:cs typeface="Arial"/>
              </a:rPr>
              <a:t>Computers", Proc.</a:t>
            </a:r>
            <a:r>
              <a:rPr sz="1147" b="1" i="1" spc="-44" dirty="0">
                <a:latin typeface="Arial"/>
                <a:cs typeface="Arial"/>
              </a:rPr>
              <a:t> </a:t>
            </a:r>
            <a:r>
              <a:rPr sz="1147" b="1" i="1" dirty="0">
                <a:latin typeface="Arial"/>
                <a:cs typeface="Arial"/>
              </a:rPr>
              <a:t>of</a:t>
            </a:r>
            <a:r>
              <a:rPr sz="1147" b="1" i="1" spc="-49" dirty="0">
                <a:latin typeface="Arial"/>
                <a:cs typeface="Arial"/>
              </a:rPr>
              <a:t> </a:t>
            </a:r>
            <a:r>
              <a:rPr sz="1147" b="1" i="1" dirty="0">
                <a:latin typeface="Arial"/>
                <a:cs typeface="Arial"/>
              </a:rPr>
              <a:t>the</a:t>
            </a:r>
            <a:r>
              <a:rPr sz="1147" b="1" i="1" spc="-53" dirty="0">
                <a:latin typeface="Arial"/>
                <a:cs typeface="Arial"/>
              </a:rPr>
              <a:t> </a:t>
            </a:r>
            <a:r>
              <a:rPr sz="1147" b="1" i="1" dirty="0">
                <a:latin typeface="Arial"/>
                <a:cs typeface="Arial"/>
              </a:rPr>
              <a:t>IEEE,</a:t>
            </a:r>
            <a:r>
              <a:rPr sz="1147" b="1" i="1" spc="-40" dirty="0">
                <a:latin typeface="Arial"/>
                <a:cs typeface="Arial"/>
              </a:rPr>
              <a:t> </a:t>
            </a:r>
            <a:r>
              <a:rPr sz="1147" b="1" i="1" dirty="0">
                <a:latin typeface="Arial"/>
                <a:cs typeface="Arial"/>
              </a:rPr>
              <a:t>V</a:t>
            </a:r>
            <a:r>
              <a:rPr sz="1147" b="1" i="1" spc="-57" dirty="0">
                <a:latin typeface="Arial"/>
                <a:cs typeface="Arial"/>
              </a:rPr>
              <a:t> </a:t>
            </a:r>
            <a:r>
              <a:rPr sz="1147" b="1" i="1" dirty="0">
                <a:latin typeface="Arial"/>
                <a:cs typeface="Arial"/>
              </a:rPr>
              <a:t>54,</a:t>
            </a:r>
            <a:r>
              <a:rPr sz="1147" b="1" i="1" spc="-40" dirty="0">
                <a:latin typeface="Arial"/>
                <a:cs typeface="Arial"/>
              </a:rPr>
              <a:t> </a:t>
            </a:r>
            <a:r>
              <a:rPr sz="1147" b="1" i="1" spc="-31" dirty="0">
                <a:latin typeface="Arial"/>
                <a:cs typeface="Arial"/>
              </a:rPr>
              <a:t>1900-</a:t>
            </a:r>
            <a:r>
              <a:rPr sz="1147" b="1" i="1" spc="-9" dirty="0">
                <a:latin typeface="Arial"/>
                <a:cs typeface="Arial"/>
              </a:rPr>
              <a:t>1909,</a:t>
            </a:r>
            <a:r>
              <a:rPr sz="1147" b="1" i="1" spc="-44" dirty="0">
                <a:latin typeface="Arial"/>
                <a:cs typeface="Arial"/>
              </a:rPr>
              <a:t> </a:t>
            </a:r>
            <a:r>
              <a:rPr sz="1147" b="1" i="1" spc="-9" dirty="0">
                <a:latin typeface="Arial"/>
                <a:cs typeface="Arial"/>
              </a:rPr>
              <a:t>Dec.</a:t>
            </a:r>
            <a:r>
              <a:rPr sz="1147" b="1" i="1" spc="-44" dirty="0">
                <a:latin typeface="Arial"/>
                <a:cs typeface="Arial"/>
              </a:rPr>
              <a:t> </a:t>
            </a:r>
            <a:r>
              <a:rPr sz="1147" b="1" i="1" spc="-9" dirty="0">
                <a:latin typeface="Arial"/>
                <a:cs typeface="Arial"/>
              </a:rPr>
              <a:t>1966.</a:t>
            </a:r>
            <a:endParaRPr sz="114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68466" y="728383"/>
            <a:ext cx="3739403" cy="356620"/>
          </a:xfrm>
          <a:prstGeom prst="rect">
            <a:avLst/>
          </a:prstGeom>
        </p:spPr>
        <p:txBody>
          <a:bodyPr vert="horz" wrap="square" lIns="0" tIns="22971" rIns="0" bIns="0" rtlCol="0">
            <a:spAutoFit/>
          </a:bodyPr>
          <a:lstStyle/>
          <a:p>
            <a:pPr marL="368133" marR="4483" indent="-357487">
              <a:lnSpc>
                <a:spcPts val="1315"/>
              </a:lnSpc>
              <a:spcBef>
                <a:spcPts val="180"/>
              </a:spcBef>
            </a:pPr>
            <a:r>
              <a:rPr sz="1147" b="1" i="1" dirty="0">
                <a:latin typeface="Arial"/>
                <a:cs typeface="Arial"/>
              </a:rPr>
              <a:t>M.J.</a:t>
            </a:r>
            <a:r>
              <a:rPr sz="1147" b="1" i="1" spc="-71" dirty="0">
                <a:latin typeface="Arial"/>
                <a:cs typeface="Arial"/>
              </a:rPr>
              <a:t> </a:t>
            </a:r>
            <a:r>
              <a:rPr sz="1147" b="1" i="1" spc="-9" dirty="0">
                <a:latin typeface="Arial"/>
                <a:cs typeface="Arial"/>
              </a:rPr>
              <a:t>Flynn</a:t>
            </a:r>
            <a:r>
              <a:rPr sz="1147" b="1" i="1" spc="-53" dirty="0">
                <a:latin typeface="Arial"/>
                <a:cs typeface="Arial"/>
              </a:rPr>
              <a:t> </a:t>
            </a:r>
            <a:r>
              <a:rPr sz="1147" b="1" i="1" dirty="0">
                <a:latin typeface="Arial"/>
                <a:cs typeface="Arial"/>
              </a:rPr>
              <a:t>and</a:t>
            </a:r>
            <a:r>
              <a:rPr sz="1147" b="1" i="1" spc="-53" dirty="0">
                <a:latin typeface="Arial"/>
                <a:cs typeface="Arial"/>
              </a:rPr>
              <a:t> </a:t>
            </a:r>
            <a:r>
              <a:rPr sz="1147" b="1" i="1" spc="-9" dirty="0">
                <a:latin typeface="Arial"/>
                <a:cs typeface="Arial"/>
              </a:rPr>
              <a:t>Kevin</a:t>
            </a:r>
            <a:r>
              <a:rPr sz="1147" b="1" i="1" spc="-53" dirty="0">
                <a:latin typeface="Arial"/>
                <a:cs typeface="Arial"/>
              </a:rPr>
              <a:t> </a:t>
            </a:r>
            <a:r>
              <a:rPr sz="1147" b="1" i="1" dirty="0">
                <a:latin typeface="Arial"/>
                <a:cs typeface="Arial"/>
              </a:rPr>
              <a:t>W.</a:t>
            </a:r>
            <a:r>
              <a:rPr sz="1147" b="1" i="1" spc="224" dirty="0">
                <a:latin typeface="Arial"/>
                <a:cs typeface="Arial"/>
              </a:rPr>
              <a:t> </a:t>
            </a:r>
            <a:r>
              <a:rPr sz="1147" b="1" i="1" spc="-9" dirty="0">
                <a:latin typeface="Arial"/>
                <a:cs typeface="Arial"/>
              </a:rPr>
              <a:t>Rudd</a:t>
            </a:r>
            <a:r>
              <a:rPr sz="1147" b="1" i="1" spc="-49" dirty="0">
                <a:latin typeface="Arial"/>
                <a:cs typeface="Arial"/>
              </a:rPr>
              <a:t> </a:t>
            </a:r>
            <a:r>
              <a:rPr sz="1147" b="1" i="1" spc="-18" dirty="0">
                <a:latin typeface="Arial"/>
                <a:cs typeface="Arial"/>
              </a:rPr>
              <a:t>“Parallel</a:t>
            </a:r>
            <a:r>
              <a:rPr sz="1147" b="1" i="1" spc="-62" dirty="0">
                <a:latin typeface="Arial"/>
                <a:cs typeface="Arial"/>
              </a:rPr>
              <a:t> </a:t>
            </a:r>
            <a:r>
              <a:rPr sz="1147" b="1" i="1" spc="-9" dirty="0">
                <a:latin typeface="Arial"/>
                <a:cs typeface="Arial"/>
              </a:rPr>
              <a:t>Architectures” ACM</a:t>
            </a:r>
            <a:r>
              <a:rPr sz="1147" b="1" i="1" spc="-53" dirty="0">
                <a:latin typeface="Arial"/>
                <a:cs typeface="Arial"/>
              </a:rPr>
              <a:t> </a:t>
            </a:r>
            <a:r>
              <a:rPr sz="1147" b="1" i="1" spc="-18" dirty="0">
                <a:latin typeface="Arial"/>
                <a:cs typeface="Arial"/>
              </a:rPr>
              <a:t>Computing</a:t>
            </a:r>
            <a:r>
              <a:rPr sz="1147" b="1" i="1" spc="-44" dirty="0">
                <a:latin typeface="Arial"/>
                <a:cs typeface="Arial"/>
              </a:rPr>
              <a:t> </a:t>
            </a:r>
            <a:r>
              <a:rPr sz="1147" b="1" i="1" spc="-18" dirty="0">
                <a:latin typeface="Arial"/>
                <a:cs typeface="Arial"/>
              </a:rPr>
              <a:t>Surveys,</a:t>
            </a:r>
            <a:r>
              <a:rPr sz="1147" b="1" i="1" spc="-44" dirty="0">
                <a:latin typeface="Arial"/>
                <a:cs typeface="Arial"/>
              </a:rPr>
              <a:t> </a:t>
            </a:r>
            <a:r>
              <a:rPr sz="1147" b="1" i="1" spc="-18" dirty="0">
                <a:latin typeface="Arial"/>
                <a:cs typeface="Arial"/>
              </a:rPr>
              <a:t>Vol</a:t>
            </a:r>
            <a:r>
              <a:rPr sz="1147" b="1" i="1" spc="-40" dirty="0">
                <a:latin typeface="Arial"/>
                <a:cs typeface="Arial"/>
              </a:rPr>
              <a:t> </a:t>
            </a:r>
            <a:r>
              <a:rPr sz="1147" b="1" i="1" dirty="0">
                <a:latin typeface="Arial"/>
                <a:cs typeface="Arial"/>
              </a:rPr>
              <a:t>28,</a:t>
            </a:r>
            <a:r>
              <a:rPr sz="1147" b="1" i="1" spc="-40" dirty="0">
                <a:latin typeface="Arial"/>
                <a:cs typeface="Arial"/>
              </a:rPr>
              <a:t> </a:t>
            </a:r>
            <a:r>
              <a:rPr sz="1147" b="1" i="1" dirty="0">
                <a:latin typeface="Arial"/>
                <a:cs typeface="Arial"/>
              </a:rPr>
              <a:t>No.</a:t>
            </a:r>
            <a:r>
              <a:rPr sz="1147" b="1" i="1" spc="-40" dirty="0">
                <a:latin typeface="Arial"/>
                <a:cs typeface="Arial"/>
              </a:rPr>
              <a:t> </a:t>
            </a:r>
            <a:r>
              <a:rPr sz="1147" b="1" i="1" dirty="0">
                <a:latin typeface="Arial"/>
                <a:cs typeface="Arial"/>
              </a:rPr>
              <a:t>1</a:t>
            </a:r>
            <a:r>
              <a:rPr sz="1147" b="1" i="1" spc="-49" dirty="0">
                <a:latin typeface="Arial"/>
                <a:cs typeface="Arial"/>
              </a:rPr>
              <a:t> </a:t>
            </a:r>
            <a:r>
              <a:rPr sz="1147" b="1" i="1" spc="-22" dirty="0">
                <a:latin typeface="Arial"/>
                <a:cs typeface="Arial"/>
              </a:rPr>
              <a:t>Mar.</a:t>
            </a:r>
            <a:r>
              <a:rPr sz="1147" b="1" i="1" spc="-40" dirty="0">
                <a:latin typeface="Arial"/>
                <a:cs typeface="Arial"/>
              </a:rPr>
              <a:t> </a:t>
            </a:r>
            <a:r>
              <a:rPr sz="1147" b="1" i="1" spc="-9" dirty="0">
                <a:latin typeface="Arial"/>
                <a:cs typeface="Arial"/>
              </a:rPr>
              <a:t>1996.</a:t>
            </a:r>
            <a:endParaRPr sz="1147">
              <a:latin typeface="Arial"/>
              <a:cs typeface="Arial"/>
            </a:endParaRP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539CBE5-E376-953A-4AEE-9AA365AE936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9</a:t>
            </a:fld>
            <a:endParaRPr lang="en-US" spc="-4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Back</a:t>
            </a:r>
            <a:r>
              <a:rPr spc="-31" dirty="0"/>
              <a:t> </a:t>
            </a:r>
            <a:r>
              <a:rPr b="0" dirty="0">
                <a:latin typeface="Calibri"/>
                <a:cs typeface="Calibri"/>
              </a:rPr>
              <a:t>to</a:t>
            </a:r>
            <a:r>
              <a:rPr spc="-22" dirty="0"/>
              <a:t> </a:t>
            </a:r>
            <a:r>
              <a:rPr spc="-9" dirty="0"/>
              <a:t>Basics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9625" y="1262902"/>
            <a:ext cx="7891789" cy="5294546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117108" indent="-267835">
              <a:spcBef>
                <a:spcPts val="393"/>
              </a:spcBef>
              <a:spcAft>
                <a:spcPts val="600"/>
              </a:spcAft>
              <a:buFont typeface="Calibri"/>
              <a:buChar char="•"/>
              <a:tabLst>
                <a:tab pos="278481" algn="l"/>
              </a:tabLst>
            </a:pPr>
            <a:r>
              <a:rPr sz="2206" i="1" dirty="0">
                <a:latin typeface="Calibri"/>
                <a:cs typeface="Calibri"/>
              </a:rPr>
              <a:t>“A</a:t>
            </a:r>
            <a:r>
              <a:rPr sz="2206" i="1" spc="53" dirty="0">
                <a:latin typeface="Calibri"/>
                <a:cs typeface="Calibri"/>
              </a:rPr>
              <a:t> </a:t>
            </a:r>
            <a:r>
              <a:rPr sz="2206" i="1" dirty="0">
                <a:latin typeface="Calibri"/>
                <a:cs typeface="Calibri"/>
              </a:rPr>
              <a:t>parallel</a:t>
            </a:r>
            <a:r>
              <a:rPr sz="2206" i="1" spc="31" dirty="0">
                <a:latin typeface="Calibri"/>
                <a:cs typeface="Calibri"/>
              </a:rPr>
              <a:t> </a:t>
            </a:r>
            <a:r>
              <a:rPr sz="2206" i="1" dirty="0">
                <a:latin typeface="Calibri"/>
                <a:cs typeface="Calibri"/>
              </a:rPr>
              <a:t>computer</a:t>
            </a:r>
            <a:r>
              <a:rPr sz="2206" i="1" spc="44" dirty="0">
                <a:latin typeface="Calibri"/>
                <a:cs typeface="Calibri"/>
              </a:rPr>
              <a:t> </a:t>
            </a:r>
            <a:r>
              <a:rPr sz="2206" i="1" dirty="0">
                <a:latin typeface="Calibri"/>
                <a:cs typeface="Calibri"/>
              </a:rPr>
              <a:t>is</a:t>
            </a:r>
            <a:r>
              <a:rPr sz="2206" i="1" spc="49" dirty="0">
                <a:latin typeface="Calibri"/>
                <a:cs typeface="Calibri"/>
              </a:rPr>
              <a:t> </a:t>
            </a:r>
            <a:r>
              <a:rPr sz="2206" i="1" dirty="0">
                <a:latin typeface="Calibri"/>
                <a:cs typeface="Calibri"/>
              </a:rPr>
              <a:t>a</a:t>
            </a:r>
            <a:r>
              <a:rPr sz="2206" i="1" spc="53" dirty="0">
                <a:latin typeface="Calibri"/>
                <a:cs typeface="Calibri"/>
              </a:rPr>
              <a:t> </a:t>
            </a:r>
            <a:r>
              <a:rPr sz="2206" i="1" dirty="0">
                <a:latin typeface="Calibri"/>
                <a:cs typeface="Calibri"/>
              </a:rPr>
              <a:t>collection</a:t>
            </a:r>
            <a:r>
              <a:rPr sz="2206" i="1" spc="53" dirty="0">
                <a:latin typeface="Calibri"/>
                <a:cs typeface="Calibri"/>
              </a:rPr>
              <a:t> </a:t>
            </a:r>
            <a:r>
              <a:rPr sz="2206" i="1" dirty="0">
                <a:latin typeface="Calibri"/>
                <a:cs typeface="Calibri"/>
              </a:rPr>
              <a:t>of</a:t>
            </a:r>
            <a:r>
              <a:rPr sz="2206" i="1" spc="44" dirty="0">
                <a:latin typeface="Calibri"/>
                <a:cs typeface="Calibri"/>
              </a:rPr>
              <a:t> </a:t>
            </a:r>
            <a:r>
              <a:rPr sz="2206" i="1" dirty="0">
                <a:latin typeface="Calibri"/>
                <a:cs typeface="Calibri"/>
              </a:rPr>
              <a:t>processing</a:t>
            </a:r>
            <a:r>
              <a:rPr sz="2206" i="1" spc="53" dirty="0">
                <a:latin typeface="Calibri"/>
                <a:cs typeface="Calibri"/>
              </a:rPr>
              <a:t> </a:t>
            </a:r>
            <a:r>
              <a:rPr sz="2206" i="1" dirty="0">
                <a:latin typeface="Calibri"/>
                <a:cs typeface="Calibri"/>
              </a:rPr>
              <a:t>elements</a:t>
            </a:r>
            <a:r>
              <a:rPr sz="2206" i="1" spc="49" dirty="0">
                <a:latin typeface="Calibri"/>
                <a:cs typeface="Calibri"/>
              </a:rPr>
              <a:t> </a:t>
            </a:r>
            <a:r>
              <a:rPr sz="2206" i="1" spc="-18" dirty="0">
                <a:latin typeface="Calibri"/>
                <a:cs typeface="Calibri"/>
              </a:rPr>
              <a:t>that </a:t>
            </a:r>
            <a:r>
              <a:rPr sz="2206" i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cooperate</a:t>
            </a:r>
            <a:r>
              <a:rPr sz="2206" i="1" spc="71" dirty="0">
                <a:latin typeface="Calibri"/>
                <a:cs typeface="Calibri"/>
              </a:rPr>
              <a:t> </a:t>
            </a:r>
            <a:r>
              <a:rPr sz="2206" i="1" dirty="0">
                <a:latin typeface="Calibri"/>
                <a:cs typeface="Calibri"/>
              </a:rPr>
              <a:t>and</a:t>
            </a:r>
            <a:r>
              <a:rPr sz="2206" i="1" spc="75" dirty="0">
                <a:latin typeface="Calibri"/>
                <a:cs typeface="Calibri"/>
              </a:rPr>
              <a:t> </a:t>
            </a:r>
            <a:r>
              <a:rPr sz="2206" i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communicate</a:t>
            </a:r>
            <a:r>
              <a:rPr sz="2206" i="1" spc="75" dirty="0">
                <a:latin typeface="Calibri"/>
                <a:cs typeface="Calibri"/>
              </a:rPr>
              <a:t> </a:t>
            </a:r>
            <a:r>
              <a:rPr sz="2206" i="1" dirty="0">
                <a:latin typeface="Calibri"/>
                <a:cs typeface="Calibri"/>
              </a:rPr>
              <a:t>to</a:t>
            </a:r>
            <a:r>
              <a:rPr sz="2206" i="1" spc="84" dirty="0">
                <a:latin typeface="Calibri"/>
                <a:cs typeface="Calibri"/>
              </a:rPr>
              <a:t> </a:t>
            </a:r>
            <a:r>
              <a:rPr sz="2206" i="1" dirty="0">
                <a:latin typeface="Calibri"/>
                <a:cs typeface="Calibri"/>
              </a:rPr>
              <a:t>solve</a:t>
            </a:r>
            <a:r>
              <a:rPr sz="2206" i="1" spc="75" dirty="0">
                <a:latin typeface="Calibri"/>
                <a:cs typeface="Calibri"/>
              </a:rPr>
              <a:t> </a:t>
            </a:r>
            <a:r>
              <a:rPr sz="2206" i="1" dirty="0">
                <a:latin typeface="Calibri"/>
                <a:cs typeface="Calibri"/>
              </a:rPr>
              <a:t>large</a:t>
            </a:r>
            <a:r>
              <a:rPr sz="2206" i="1" spc="75" dirty="0">
                <a:latin typeface="Calibri"/>
                <a:cs typeface="Calibri"/>
              </a:rPr>
              <a:t> </a:t>
            </a:r>
            <a:r>
              <a:rPr sz="2206" i="1" dirty="0">
                <a:latin typeface="Calibri"/>
                <a:cs typeface="Calibri"/>
              </a:rPr>
              <a:t>problems</a:t>
            </a:r>
            <a:r>
              <a:rPr sz="2206" i="1" spc="75" dirty="0">
                <a:latin typeface="Calibri"/>
                <a:cs typeface="Calibri"/>
              </a:rPr>
              <a:t> </a:t>
            </a:r>
            <a:r>
              <a:rPr sz="2206" i="1" spc="-9" dirty="0">
                <a:latin typeface="Calibri"/>
                <a:cs typeface="Calibri"/>
              </a:rPr>
              <a:t>fast.”</a:t>
            </a:r>
            <a:endParaRPr sz="2206" dirty="0">
              <a:latin typeface="Calibri"/>
              <a:cs typeface="Calibri"/>
            </a:endParaRPr>
          </a:p>
          <a:p>
            <a:pPr marL="278481" marR="4483" indent="-267835">
              <a:spcBef>
                <a:spcPts val="874"/>
              </a:spcBef>
              <a:spcAft>
                <a:spcPts val="600"/>
              </a:spcAft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Parallel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Architecture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=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Processor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Architecture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+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Communication Architecture</a:t>
            </a:r>
            <a:endParaRPr sz="2206" dirty="0">
              <a:latin typeface="Calibri"/>
              <a:cs typeface="Calibri"/>
            </a:endParaRPr>
          </a:p>
          <a:p>
            <a:pPr marL="278481" indent="-267275">
              <a:spcBef>
                <a:spcPts val="494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Two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classes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of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multiprocessors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W.R.T.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memory:</a:t>
            </a:r>
            <a:endParaRPr sz="2206" dirty="0">
              <a:latin typeface="Calibri"/>
              <a:cs typeface="Calibri"/>
            </a:endParaRPr>
          </a:p>
          <a:p>
            <a:pPr marL="685800" indent="-427038">
              <a:spcBef>
                <a:spcPts val="613"/>
              </a:spcBef>
              <a:buAutoNum type="arabicPeriod"/>
              <a:tabLst>
                <a:tab pos="438734" algn="l"/>
              </a:tabLst>
            </a:pP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Centralized</a:t>
            </a:r>
            <a:r>
              <a:rPr sz="2206" spc="9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Memory</a:t>
            </a:r>
            <a:r>
              <a:rPr sz="2206" spc="8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spc="-9" dirty="0">
                <a:solidFill>
                  <a:srgbClr val="3366FF"/>
                </a:solidFill>
                <a:latin typeface="Calibri"/>
                <a:cs typeface="Calibri"/>
              </a:rPr>
              <a:t>Multiprocessor</a:t>
            </a:r>
            <a:endParaRPr sz="2206" dirty="0">
              <a:latin typeface="Calibri"/>
              <a:cs typeface="Calibri"/>
            </a:endParaRPr>
          </a:p>
          <a:p>
            <a:pPr marL="914400" lvl="1" indent="-212725">
              <a:spcBef>
                <a:spcPts val="437"/>
              </a:spcBef>
              <a:buChar char="–"/>
              <a:tabLst>
                <a:tab pos="800100" algn="l"/>
              </a:tabLst>
            </a:pPr>
            <a:r>
              <a:rPr sz="1853" dirty="0">
                <a:latin typeface="Calibri"/>
                <a:cs typeface="Calibri"/>
              </a:rPr>
              <a:t>&lt;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few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dozen</a:t>
            </a:r>
            <a:r>
              <a:rPr sz="1853" spc="9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processor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chips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(and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&lt;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100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cores)</a:t>
            </a:r>
            <a:endParaRPr sz="1853" dirty="0">
              <a:latin typeface="Calibri"/>
              <a:cs typeface="Calibri"/>
            </a:endParaRPr>
          </a:p>
          <a:p>
            <a:pPr marL="914400" lvl="1" indent="-212725">
              <a:spcBef>
                <a:spcPts val="512"/>
              </a:spcBef>
              <a:buChar char="–"/>
              <a:tabLst>
                <a:tab pos="800100" algn="l"/>
              </a:tabLst>
            </a:pPr>
            <a:r>
              <a:rPr sz="1853" dirty="0">
                <a:latin typeface="Calibri"/>
                <a:cs typeface="Calibri"/>
              </a:rPr>
              <a:t>Small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enough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to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share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single,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centralized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memory</a:t>
            </a:r>
            <a:endParaRPr sz="1853" dirty="0">
              <a:latin typeface="Calibri"/>
              <a:cs typeface="Calibri"/>
            </a:endParaRPr>
          </a:p>
          <a:p>
            <a:pPr marL="685800" indent="-427038">
              <a:spcBef>
                <a:spcPts val="512"/>
              </a:spcBef>
              <a:buAutoNum type="arabicPeriod"/>
              <a:tabLst>
                <a:tab pos="438734" algn="l"/>
              </a:tabLst>
            </a:pP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Physically</a:t>
            </a:r>
            <a:r>
              <a:rPr sz="2206" spc="13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Distributed-Memory</a:t>
            </a:r>
            <a:r>
              <a:rPr sz="2206" spc="13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spc="-9" dirty="0">
                <a:solidFill>
                  <a:srgbClr val="3366FF"/>
                </a:solidFill>
                <a:latin typeface="Calibri"/>
                <a:cs typeface="Calibri"/>
              </a:rPr>
              <a:t>Multiprocessor</a:t>
            </a:r>
            <a:endParaRPr sz="2206" dirty="0">
              <a:latin typeface="Calibri"/>
              <a:cs typeface="Calibri"/>
            </a:endParaRPr>
          </a:p>
          <a:p>
            <a:pPr marL="914400" lvl="1" indent="-212725">
              <a:spcBef>
                <a:spcPts val="547"/>
              </a:spcBef>
              <a:buChar char="–"/>
              <a:tabLst>
                <a:tab pos="914400" algn="l"/>
              </a:tabLst>
            </a:pPr>
            <a:r>
              <a:rPr sz="1853" dirty="0">
                <a:latin typeface="Calibri"/>
                <a:cs typeface="Calibri"/>
              </a:rPr>
              <a:t>Larger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number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of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chips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and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cores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than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centralized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class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spc="-22" dirty="0">
                <a:latin typeface="Calibri"/>
                <a:cs typeface="Calibri"/>
              </a:rPr>
              <a:t>1.</a:t>
            </a:r>
            <a:endParaRPr sz="1853" dirty="0">
              <a:latin typeface="Calibri"/>
              <a:cs typeface="Calibri"/>
            </a:endParaRPr>
          </a:p>
          <a:p>
            <a:pPr marL="914400" lvl="1" indent="-212725">
              <a:spcBef>
                <a:spcPts val="424"/>
              </a:spcBef>
              <a:buChar char="–"/>
              <a:tabLst>
                <a:tab pos="914400" algn="l"/>
              </a:tabLst>
            </a:pPr>
            <a:r>
              <a:rPr sz="1853" dirty="0">
                <a:latin typeface="Calibri"/>
                <a:cs typeface="Calibri"/>
              </a:rPr>
              <a:t>BW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demands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Symbol"/>
                <a:cs typeface="Symbol"/>
              </a:rPr>
              <a:t></a:t>
            </a:r>
            <a:r>
              <a:rPr sz="1853" dirty="0">
                <a:latin typeface="Times New Roman"/>
                <a:cs typeface="Times New Roman"/>
              </a:rPr>
              <a:t> </a:t>
            </a:r>
            <a:r>
              <a:rPr sz="1853" dirty="0">
                <a:latin typeface="Calibri"/>
                <a:cs typeface="Calibri"/>
              </a:rPr>
              <a:t>Memory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distributed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among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processors</a:t>
            </a:r>
            <a:endParaRPr sz="1853" dirty="0">
              <a:latin typeface="Calibri"/>
              <a:cs typeface="Calibri"/>
            </a:endParaRPr>
          </a:p>
          <a:p>
            <a:pPr marL="914400" lvl="1" indent="-212725">
              <a:spcBef>
                <a:spcPts val="401"/>
              </a:spcBef>
              <a:buChar char="–"/>
              <a:tabLst>
                <a:tab pos="914400" algn="l"/>
              </a:tabLst>
            </a:pPr>
            <a:r>
              <a:rPr sz="1853" dirty="0">
                <a:latin typeface="Calibri"/>
                <a:cs typeface="Calibri"/>
              </a:rPr>
              <a:t>Distributed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shared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memory</a:t>
            </a:r>
            <a:r>
              <a:rPr sz="1853" spc="9" dirty="0"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≤</a:t>
            </a:r>
            <a:r>
              <a:rPr sz="1853" spc="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256</a:t>
            </a:r>
            <a:r>
              <a:rPr sz="1853" spc="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processors</a:t>
            </a:r>
            <a:r>
              <a:rPr sz="1853" dirty="0">
                <a:latin typeface="Calibri"/>
                <a:cs typeface="Calibri"/>
              </a:rPr>
              <a:t>,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but</a:t>
            </a:r>
            <a:r>
              <a:rPr sz="1853" spc="-234" dirty="0">
                <a:latin typeface="Calibri"/>
                <a:cs typeface="Calibri"/>
              </a:rPr>
              <a:t> </a:t>
            </a:r>
            <a:r>
              <a:rPr sz="1853" u="sng" spc="-21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easier</a:t>
            </a:r>
            <a:r>
              <a:rPr sz="1853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853" u="sng" spc="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spc="-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code</a:t>
            </a:r>
            <a:endParaRPr sz="1853" dirty="0">
              <a:latin typeface="Calibri"/>
              <a:cs typeface="Calibri"/>
            </a:endParaRPr>
          </a:p>
          <a:p>
            <a:pPr marL="914400" lvl="1" indent="-212725">
              <a:spcBef>
                <a:spcPts val="529"/>
              </a:spcBef>
              <a:buChar char="–"/>
              <a:tabLst>
                <a:tab pos="914400" algn="l"/>
              </a:tabLst>
            </a:pPr>
            <a:r>
              <a:rPr sz="1853" dirty="0">
                <a:latin typeface="Calibri"/>
                <a:cs typeface="Calibri"/>
              </a:rPr>
              <a:t>Distributed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distinct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memories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&gt;</a:t>
            </a:r>
            <a:r>
              <a:rPr sz="1853" spc="2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1</a:t>
            </a:r>
            <a:r>
              <a:rPr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million</a:t>
            </a:r>
            <a:r>
              <a:rPr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spc="-9" dirty="0">
                <a:solidFill>
                  <a:srgbClr val="3366FF"/>
                </a:solidFill>
                <a:latin typeface="Calibri"/>
                <a:cs typeface="Calibri"/>
              </a:rPr>
              <a:t>processors</a:t>
            </a:r>
            <a:endParaRPr sz="1853" dirty="0">
              <a:latin typeface="Calibri"/>
              <a:cs typeface="Calibri"/>
            </a:endParaRPr>
          </a:p>
          <a:p>
            <a:pPr marL="914400" lvl="1" indent="-212725">
              <a:spcBef>
                <a:spcPts val="424"/>
              </a:spcBef>
              <a:buChar char="–"/>
              <a:tabLst>
                <a:tab pos="914400" algn="l"/>
              </a:tabLst>
            </a:pPr>
            <a:r>
              <a:rPr sz="1853" dirty="0">
                <a:latin typeface="Calibri"/>
                <a:cs typeface="Calibri"/>
              </a:rPr>
              <a:t>(</a:t>
            </a: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Shared</a:t>
            </a:r>
            <a:r>
              <a:rPr sz="1853" spc="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address</a:t>
            </a:r>
            <a:r>
              <a:rPr sz="1853" spc="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space</a:t>
            </a:r>
            <a:r>
              <a:rPr sz="1853" spc="4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versus</a:t>
            </a:r>
            <a:r>
              <a:rPr sz="1853" spc="40" dirty="0"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separate</a:t>
            </a:r>
            <a:r>
              <a:rPr sz="1853" spc="4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address</a:t>
            </a:r>
            <a:r>
              <a:rPr sz="1853" spc="4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spc="-9" dirty="0">
                <a:solidFill>
                  <a:srgbClr val="3366FF"/>
                </a:solidFill>
                <a:latin typeface="Calibri"/>
                <a:cs typeface="Calibri"/>
              </a:rPr>
              <a:t>spaces</a:t>
            </a:r>
            <a:r>
              <a:rPr sz="1853" spc="-9" dirty="0">
                <a:latin typeface="Calibri"/>
                <a:cs typeface="Calibri"/>
              </a:rPr>
              <a:t>)</a:t>
            </a:r>
            <a:endParaRPr sz="1853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831BB5-859C-0E1B-601A-4EDD33860F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10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80031"/>
            <a:ext cx="7484669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Centralized</a:t>
            </a:r>
            <a:r>
              <a:rPr spc="-31" dirty="0"/>
              <a:t> </a:t>
            </a:r>
            <a:r>
              <a:rPr b="0" dirty="0">
                <a:latin typeface="Calibri"/>
                <a:cs typeface="Calibri"/>
              </a:rPr>
              <a:t>vs.</a:t>
            </a:r>
            <a:r>
              <a:rPr spc="-26" dirty="0"/>
              <a:t> </a:t>
            </a:r>
            <a:r>
              <a:rPr b="0" dirty="0">
                <a:latin typeface="Calibri"/>
                <a:cs typeface="Calibri"/>
              </a:rPr>
              <a:t>Distributed</a:t>
            </a:r>
            <a:r>
              <a:rPr spc="-26" dirty="0"/>
              <a:t> </a:t>
            </a:r>
            <a:r>
              <a:rPr b="0" dirty="0">
                <a:latin typeface="Calibri"/>
                <a:cs typeface="Calibri"/>
              </a:rPr>
              <a:t>Shared</a:t>
            </a:r>
            <a:r>
              <a:rPr spc="-26" dirty="0"/>
              <a:t> </a:t>
            </a:r>
            <a:r>
              <a:rPr spc="-9" dirty="0"/>
              <a:t>Memory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05107" y="1802510"/>
            <a:ext cx="604557" cy="780490"/>
            <a:chOff x="5406721" y="2042844"/>
            <a:chExt cx="685165" cy="884555"/>
          </a:xfrm>
        </p:grpSpPr>
        <p:sp>
          <p:nvSpPr>
            <p:cNvPr id="4" name="object 4"/>
            <p:cNvSpPr/>
            <p:nvPr/>
          </p:nvSpPr>
          <p:spPr>
            <a:xfrm>
              <a:off x="5420197" y="2056320"/>
              <a:ext cx="657860" cy="681990"/>
            </a:xfrm>
            <a:custGeom>
              <a:avLst/>
              <a:gdLst/>
              <a:ahLst/>
              <a:cxnLst/>
              <a:rect l="l" t="t" r="r" b="b"/>
              <a:pathLst>
                <a:path w="657860" h="681989">
                  <a:moveTo>
                    <a:pt x="657619" y="336637"/>
                  </a:moveTo>
                  <a:lnTo>
                    <a:pt x="651434" y="285177"/>
                  </a:lnTo>
                  <a:lnTo>
                    <a:pt x="641127" y="233716"/>
                  </a:lnTo>
                  <a:lnTo>
                    <a:pt x="618450" y="182256"/>
                  </a:lnTo>
                  <a:lnTo>
                    <a:pt x="595774" y="137228"/>
                  </a:lnTo>
                  <a:lnTo>
                    <a:pt x="562790" y="96488"/>
                  </a:lnTo>
                  <a:lnTo>
                    <a:pt x="525683" y="62181"/>
                  </a:lnTo>
                  <a:lnTo>
                    <a:pt x="482391" y="40739"/>
                  </a:lnTo>
                  <a:lnTo>
                    <a:pt x="432915" y="17153"/>
                  </a:lnTo>
                  <a:lnTo>
                    <a:pt x="383439" y="6432"/>
                  </a:lnTo>
                  <a:lnTo>
                    <a:pt x="327778" y="0"/>
                  </a:lnTo>
                  <a:lnTo>
                    <a:pt x="274179" y="6432"/>
                  </a:lnTo>
                  <a:lnTo>
                    <a:pt x="224703" y="17153"/>
                  </a:lnTo>
                  <a:lnTo>
                    <a:pt x="181412" y="40739"/>
                  </a:lnTo>
                  <a:lnTo>
                    <a:pt x="138120" y="62181"/>
                  </a:lnTo>
                  <a:lnTo>
                    <a:pt x="98952" y="96488"/>
                  </a:lnTo>
                  <a:lnTo>
                    <a:pt x="65968" y="137228"/>
                  </a:lnTo>
                  <a:lnTo>
                    <a:pt x="39168" y="182256"/>
                  </a:lnTo>
                  <a:lnTo>
                    <a:pt x="16492" y="233716"/>
                  </a:lnTo>
                  <a:lnTo>
                    <a:pt x="6184" y="285177"/>
                  </a:lnTo>
                  <a:lnTo>
                    <a:pt x="0" y="340925"/>
                  </a:lnTo>
                  <a:lnTo>
                    <a:pt x="6184" y="398818"/>
                  </a:lnTo>
                  <a:lnTo>
                    <a:pt x="16492" y="450279"/>
                  </a:lnTo>
                  <a:lnTo>
                    <a:pt x="39168" y="495307"/>
                  </a:lnTo>
                  <a:lnTo>
                    <a:pt x="65968" y="540335"/>
                  </a:lnTo>
                  <a:lnTo>
                    <a:pt x="98952" y="581075"/>
                  </a:lnTo>
                  <a:lnTo>
                    <a:pt x="138120" y="615381"/>
                  </a:lnTo>
                  <a:lnTo>
                    <a:pt x="181412" y="643256"/>
                  </a:lnTo>
                  <a:lnTo>
                    <a:pt x="224703" y="664698"/>
                  </a:lnTo>
                  <a:lnTo>
                    <a:pt x="274179" y="677563"/>
                  </a:lnTo>
                  <a:lnTo>
                    <a:pt x="327778" y="681851"/>
                  </a:lnTo>
                  <a:lnTo>
                    <a:pt x="383439" y="677563"/>
                  </a:lnTo>
                  <a:lnTo>
                    <a:pt x="432915" y="664698"/>
                  </a:lnTo>
                  <a:lnTo>
                    <a:pt x="482391" y="643256"/>
                  </a:lnTo>
                  <a:lnTo>
                    <a:pt x="525683" y="615381"/>
                  </a:lnTo>
                  <a:lnTo>
                    <a:pt x="562790" y="581075"/>
                  </a:lnTo>
                  <a:lnTo>
                    <a:pt x="595774" y="540335"/>
                  </a:lnTo>
                  <a:lnTo>
                    <a:pt x="618450" y="495307"/>
                  </a:lnTo>
                  <a:lnTo>
                    <a:pt x="641127" y="450279"/>
                  </a:lnTo>
                  <a:lnTo>
                    <a:pt x="651434" y="398818"/>
                  </a:lnTo>
                  <a:lnTo>
                    <a:pt x="657619" y="340925"/>
                  </a:lnTo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5775807" y="2741851"/>
              <a:ext cx="0" cy="185420"/>
            </a:xfrm>
            <a:custGeom>
              <a:avLst/>
              <a:gdLst/>
              <a:ahLst/>
              <a:cxnLst/>
              <a:rect l="l" t="t" r="r" b="b"/>
              <a:pathLst>
                <a:path h="185419">
                  <a:moveTo>
                    <a:pt x="0" y="0"/>
                  </a:moveTo>
                  <a:lnTo>
                    <a:pt x="0" y="185011"/>
                  </a:lnTo>
                </a:path>
              </a:pathLst>
            </a:custGeom>
            <a:ln w="290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229142" y="1802354"/>
            <a:ext cx="4421841" cy="1981760"/>
            <a:chOff x="4640628" y="2042667"/>
            <a:chExt cx="5011420" cy="2245995"/>
          </a:xfrm>
        </p:grpSpPr>
        <p:sp>
          <p:nvSpPr>
            <p:cNvPr id="7" name="object 7"/>
            <p:cNvSpPr/>
            <p:nvPr/>
          </p:nvSpPr>
          <p:spPr>
            <a:xfrm>
              <a:off x="8982472" y="2056320"/>
              <a:ext cx="655955" cy="681990"/>
            </a:xfrm>
            <a:custGeom>
              <a:avLst/>
              <a:gdLst/>
              <a:ahLst/>
              <a:cxnLst/>
              <a:rect l="l" t="t" r="r" b="b"/>
              <a:pathLst>
                <a:path w="655954" h="681989">
                  <a:moveTo>
                    <a:pt x="655557" y="340925"/>
                  </a:moveTo>
                  <a:lnTo>
                    <a:pt x="651434" y="289465"/>
                  </a:lnTo>
                  <a:lnTo>
                    <a:pt x="641127" y="231572"/>
                  </a:lnTo>
                  <a:lnTo>
                    <a:pt x="618450" y="186544"/>
                  </a:lnTo>
                  <a:lnTo>
                    <a:pt x="595774" y="141516"/>
                  </a:lnTo>
                  <a:lnTo>
                    <a:pt x="562790" y="100776"/>
                  </a:lnTo>
                  <a:lnTo>
                    <a:pt x="525682" y="66469"/>
                  </a:lnTo>
                  <a:lnTo>
                    <a:pt x="482391" y="38595"/>
                  </a:lnTo>
                  <a:lnTo>
                    <a:pt x="432915" y="17153"/>
                  </a:lnTo>
                  <a:lnTo>
                    <a:pt x="383439" y="4288"/>
                  </a:lnTo>
                  <a:lnTo>
                    <a:pt x="327778" y="0"/>
                  </a:lnTo>
                  <a:lnTo>
                    <a:pt x="274179" y="4288"/>
                  </a:lnTo>
                  <a:lnTo>
                    <a:pt x="224703" y="17153"/>
                  </a:lnTo>
                  <a:lnTo>
                    <a:pt x="181412" y="38595"/>
                  </a:lnTo>
                  <a:lnTo>
                    <a:pt x="138120" y="66469"/>
                  </a:lnTo>
                  <a:lnTo>
                    <a:pt x="98952" y="100776"/>
                  </a:lnTo>
                  <a:lnTo>
                    <a:pt x="65968" y="141516"/>
                  </a:lnTo>
                  <a:lnTo>
                    <a:pt x="39168" y="186544"/>
                  </a:lnTo>
                  <a:lnTo>
                    <a:pt x="16492" y="231572"/>
                  </a:lnTo>
                  <a:lnTo>
                    <a:pt x="6184" y="289465"/>
                  </a:lnTo>
                  <a:lnTo>
                    <a:pt x="0" y="340925"/>
                  </a:lnTo>
                  <a:lnTo>
                    <a:pt x="6184" y="396674"/>
                  </a:lnTo>
                  <a:lnTo>
                    <a:pt x="16492" y="448135"/>
                  </a:lnTo>
                  <a:lnTo>
                    <a:pt x="39168" y="499595"/>
                  </a:lnTo>
                  <a:lnTo>
                    <a:pt x="65968" y="544623"/>
                  </a:lnTo>
                  <a:lnTo>
                    <a:pt x="98952" y="585363"/>
                  </a:lnTo>
                  <a:lnTo>
                    <a:pt x="138120" y="619670"/>
                  </a:lnTo>
                  <a:lnTo>
                    <a:pt x="181412" y="647544"/>
                  </a:lnTo>
                  <a:lnTo>
                    <a:pt x="224703" y="664698"/>
                  </a:lnTo>
                  <a:lnTo>
                    <a:pt x="274179" y="681851"/>
                  </a:lnTo>
                  <a:lnTo>
                    <a:pt x="327778" y="681851"/>
                  </a:lnTo>
                  <a:lnTo>
                    <a:pt x="383439" y="681851"/>
                  </a:lnTo>
                  <a:lnTo>
                    <a:pt x="432915" y="664698"/>
                  </a:lnTo>
                  <a:lnTo>
                    <a:pt x="482391" y="647544"/>
                  </a:lnTo>
                  <a:lnTo>
                    <a:pt x="525682" y="619670"/>
                  </a:lnTo>
                  <a:lnTo>
                    <a:pt x="562790" y="585363"/>
                  </a:lnTo>
                  <a:lnTo>
                    <a:pt x="595774" y="544623"/>
                  </a:lnTo>
                  <a:lnTo>
                    <a:pt x="618450" y="499595"/>
                  </a:lnTo>
                  <a:lnTo>
                    <a:pt x="641127" y="448135"/>
                  </a:lnTo>
                  <a:lnTo>
                    <a:pt x="651434" y="396674"/>
                  </a:lnTo>
                  <a:lnTo>
                    <a:pt x="655557" y="340925"/>
                  </a:lnTo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5775807" y="3347123"/>
              <a:ext cx="3459479" cy="426720"/>
            </a:xfrm>
            <a:custGeom>
              <a:avLst/>
              <a:gdLst/>
              <a:ahLst/>
              <a:cxnLst/>
              <a:rect l="l" t="t" r="r" b="b"/>
              <a:pathLst>
                <a:path w="3459479" h="426720">
                  <a:moveTo>
                    <a:pt x="3459199" y="0"/>
                  </a:moveTo>
                  <a:lnTo>
                    <a:pt x="3459199" y="426693"/>
                  </a:lnTo>
                </a:path>
                <a:path w="3459479" h="426720">
                  <a:moveTo>
                    <a:pt x="0" y="6431"/>
                  </a:moveTo>
                  <a:lnTo>
                    <a:pt x="0" y="426693"/>
                  </a:lnTo>
                </a:path>
              </a:pathLst>
            </a:custGeom>
            <a:ln w="290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4645073" y="3773816"/>
              <a:ext cx="4916805" cy="510540"/>
            </a:xfrm>
            <a:custGeom>
              <a:avLst/>
              <a:gdLst/>
              <a:ahLst/>
              <a:cxnLst/>
              <a:rect l="l" t="t" r="r" b="b"/>
              <a:pathLst>
                <a:path w="4916805" h="510539">
                  <a:moveTo>
                    <a:pt x="0" y="0"/>
                  </a:moveTo>
                  <a:lnTo>
                    <a:pt x="4916680" y="0"/>
                  </a:lnTo>
                  <a:lnTo>
                    <a:pt x="4916680" y="510316"/>
                  </a:lnTo>
                  <a:lnTo>
                    <a:pt x="0" y="510316"/>
                  </a:lnTo>
                  <a:lnTo>
                    <a:pt x="0" y="0"/>
                  </a:lnTo>
                  <a:close/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5284139" y="3502576"/>
              <a:ext cx="504190" cy="0"/>
            </a:xfrm>
            <a:custGeom>
              <a:avLst/>
              <a:gdLst/>
              <a:ahLst/>
              <a:cxnLst/>
              <a:rect l="l" t="t" r="r" b="b"/>
              <a:pathLst>
                <a:path w="504189">
                  <a:moveTo>
                    <a:pt x="0" y="0"/>
                  </a:moveTo>
                  <a:lnTo>
                    <a:pt x="504113" y="0"/>
                  </a:lnTo>
                </a:path>
              </a:pathLst>
            </a:custGeom>
            <a:ln w="29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114391" y="2009886"/>
            <a:ext cx="230281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412" spc="-44" dirty="0">
                <a:latin typeface="Arial MT"/>
                <a:cs typeface="Arial MT"/>
              </a:rPr>
              <a:t>P</a:t>
            </a:r>
            <a:r>
              <a:rPr sz="1721" spc="-66" baseline="-12820" dirty="0">
                <a:latin typeface="Arial MT"/>
                <a:cs typeface="Arial MT"/>
              </a:rPr>
              <a:t>1</a:t>
            </a:r>
            <a:endParaRPr sz="1721" baseline="-1282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40643" y="2578977"/>
            <a:ext cx="580465" cy="312820"/>
          </a:xfrm>
          <a:prstGeom prst="rect">
            <a:avLst/>
          </a:prstGeom>
          <a:ln w="8423">
            <a:solidFill>
              <a:srgbClr val="000000"/>
            </a:solidFill>
          </a:ln>
        </p:spPr>
        <p:txBody>
          <a:bodyPr vert="horz" wrap="square" lIns="0" tIns="67796" rIns="0" bIns="0" rtlCol="0">
            <a:spAutoFit/>
          </a:bodyPr>
          <a:lstStyle/>
          <a:p>
            <a:pPr marL="8405" algn="ctr">
              <a:spcBef>
                <a:spcPts val="534"/>
              </a:spcBef>
            </a:pPr>
            <a:r>
              <a:rPr sz="1588" spc="-44" dirty="0">
                <a:latin typeface="Arial MT"/>
                <a:cs typeface="Arial MT"/>
              </a:rPr>
              <a:t>$</a:t>
            </a:r>
            <a:endParaRPr sz="1588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14590" y="2402610"/>
            <a:ext cx="4092388" cy="785531"/>
            <a:chOff x="4624135" y="2722957"/>
            <a:chExt cx="4638040" cy="890269"/>
          </a:xfrm>
        </p:grpSpPr>
        <p:sp>
          <p:nvSpPr>
            <p:cNvPr id="14" name="object 14"/>
            <p:cNvSpPr/>
            <p:nvPr/>
          </p:nvSpPr>
          <p:spPr>
            <a:xfrm>
              <a:off x="4628580" y="2926862"/>
              <a:ext cx="655955" cy="681990"/>
            </a:xfrm>
            <a:custGeom>
              <a:avLst/>
              <a:gdLst/>
              <a:ahLst/>
              <a:cxnLst/>
              <a:rect l="l" t="t" r="r" b="b"/>
              <a:pathLst>
                <a:path w="655954" h="681989">
                  <a:moveTo>
                    <a:pt x="0" y="0"/>
                  </a:moveTo>
                  <a:lnTo>
                    <a:pt x="655557" y="0"/>
                  </a:lnTo>
                  <a:lnTo>
                    <a:pt x="655557" y="681851"/>
                  </a:lnTo>
                  <a:lnTo>
                    <a:pt x="0" y="681851"/>
                  </a:lnTo>
                  <a:lnTo>
                    <a:pt x="0" y="0"/>
                  </a:lnTo>
                  <a:close/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8743337" y="3496143"/>
              <a:ext cx="504190" cy="0"/>
            </a:xfrm>
            <a:custGeom>
              <a:avLst/>
              <a:gdLst/>
              <a:ahLst/>
              <a:cxnLst/>
              <a:rect l="l" t="t" r="r" b="b"/>
              <a:pathLst>
                <a:path w="504190">
                  <a:moveTo>
                    <a:pt x="0" y="0"/>
                  </a:moveTo>
                  <a:lnTo>
                    <a:pt x="504113" y="0"/>
                  </a:lnTo>
                </a:path>
              </a:pathLst>
            </a:custGeom>
            <a:ln w="29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9235006" y="2737562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80">
                  <a:moveTo>
                    <a:pt x="0" y="0"/>
                  </a:moveTo>
                  <a:lnTo>
                    <a:pt x="0" y="182867"/>
                  </a:lnTo>
                </a:path>
              </a:pathLst>
            </a:custGeom>
            <a:ln w="290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233065" y="3329838"/>
            <a:ext cx="4338357" cy="318575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100292" rIns="0" bIns="0" rtlCol="0">
            <a:spAutoFit/>
          </a:bodyPr>
          <a:lstStyle/>
          <a:p>
            <a:pPr marL="172019" algn="ctr">
              <a:spcBef>
                <a:spcPts val="789"/>
              </a:spcBef>
            </a:pPr>
            <a:r>
              <a:rPr sz="1412" spc="-26" dirty="0">
                <a:latin typeface="Arial MT"/>
                <a:cs typeface="Arial MT"/>
              </a:rPr>
              <a:t>Interconnection</a:t>
            </a:r>
            <a:r>
              <a:rPr sz="1412" spc="-22" dirty="0">
                <a:latin typeface="Arial MT"/>
                <a:cs typeface="Arial MT"/>
              </a:rPr>
              <a:t> </a:t>
            </a:r>
            <a:r>
              <a:rPr sz="1412" spc="-9" dirty="0">
                <a:latin typeface="Arial MT"/>
                <a:cs typeface="Arial MT"/>
              </a:rPr>
              <a:t>network</a:t>
            </a:r>
            <a:endParaRPr sz="1412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92879" y="2578977"/>
            <a:ext cx="578784" cy="297643"/>
          </a:xfrm>
          <a:prstGeom prst="rect">
            <a:avLst/>
          </a:prstGeom>
          <a:ln w="8423">
            <a:solidFill>
              <a:srgbClr val="000000"/>
            </a:solidFill>
          </a:ln>
        </p:spPr>
        <p:txBody>
          <a:bodyPr vert="horz" wrap="square" lIns="0" tIns="79562" rIns="0" bIns="0" rtlCol="0">
            <a:spAutoFit/>
          </a:bodyPr>
          <a:lstStyle/>
          <a:p>
            <a:pPr marL="5043" algn="ctr">
              <a:spcBef>
                <a:spcPts val="627"/>
              </a:spcBef>
            </a:pPr>
            <a:r>
              <a:rPr sz="1412" spc="-44" dirty="0">
                <a:latin typeface="Arial MT"/>
                <a:cs typeface="Arial MT"/>
              </a:rPr>
              <a:t>$</a:t>
            </a:r>
            <a:endParaRPr sz="1412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72082" y="1974924"/>
            <a:ext cx="224678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412" spc="-66" dirty="0">
                <a:latin typeface="Arial MT"/>
                <a:cs typeface="Arial MT"/>
              </a:rPr>
              <a:t>P</a:t>
            </a:r>
            <a:r>
              <a:rPr sz="1721" spc="-99" baseline="-12820" dirty="0">
                <a:latin typeface="Arial MT"/>
                <a:cs typeface="Arial MT"/>
              </a:rPr>
              <a:t>n</a:t>
            </a:r>
            <a:endParaRPr sz="1721" baseline="-1282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25867" y="2768301"/>
            <a:ext cx="567578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03099">
              <a:spcBef>
                <a:spcPts val="88"/>
              </a:spcBef>
            </a:pPr>
            <a:r>
              <a:rPr sz="1412" spc="-22" dirty="0">
                <a:latin typeface="Arial MT"/>
                <a:cs typeface="Arial MT"/>
              </a:rPr>
              <a:t>Mem</a:t>
            </a:r>
            <a:endParaRPr sz="1412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70747" y="2578978"/>
            <a:ext cx="578784" cy="436869"/>
          </a:xfrm>
          <a:prstGeom prst="rect">
            <a:avLst/>
          </a:prstGeom>
          <a:ln w="8423">
            <a:solidFill>
              <a:srgbClr val="000000"/>
            </a:solidFill>
          </a:ln>
        </p:spPr>
        <p:txBody>
          <a:bodyPr vert="horz" wrap="square" lIns="0" tIns="2241" rIns="0" bIns="0" rtlCol="0">
            <a:spAutoFit/>
          </a:bodyPr>
          <a:lstStyle/>
          <a:p>
            <a:pPr>
              <a:spcBef>
                <a:spcPts val="18"/>
              </a:spcBef>
            </a:pPr>
            <a:endParaRPr sz="1412">
              <a:latin typeface="Times New Roman"/>
              <a:cs typeface="Times New Roman"/>
            </a:endParaRPr>
          </a:p>
          <a:p>
            <a:pPr marL="112625"/>
            <a:r>
              <a:rPr sz="1412" spc="-22" dirty="0">
                <a:latin typeface="Arial MT"/>
                <a:cs typeface="Arial MT"/>
              </a:rPr>
              <a:t>Mem</a:t>
            </a:r>
            <a:endParaRPr sz="1412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001869" y="2773139"/>
            <a:ext cx="806263" cy="116541"/>
            <a:chOff x="6649718" y="3142891"/>
            <a:chExt cx="913765" cy="13208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49718" y="3142891"/>
              <a:ext cx="128142" cy="13186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24911" y="3142891"/>
              <a:ext cx="130204" cy="13186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35149" y="3142891"/>
              <a:ext cx="128142" cy="131864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644151" y="1770436"/>
            <a:ext cx="3290047" cy="1730748"/>
            <a:chOff x="577638" y="2006494"/>
            <a:chExt cx="3728720" cy="1961514"/>
          </a:xfrm>
        </p:grpSpPr>
        <p:sp>
          <p:nvSpPr>
            <p:cNvPr id="27" name="object 27"/>
            <p:cNvSpPr/>
            <p:nvPr/>
          </p:nvSpPr>
          <p:spPr>
            <a:xfrm>
              <a:off x="3487589" y="3182261"/>
              <a:ext cx="354965" cy="770255"/>
            </a:xfrm>
            <a:custGeom>
              <a:avLst/>
              <a:gdLst/>
              <a:ahLst/>
              <a:cxnLst/>
              <a:rect l="l" t="t" r="r" b="b"/>
              <a:pathLst>
                <a:path w="354964" h="770254">
                  <a:moveTo>
                    <a:pt x="0" y="603073"/>
                  </a:moveTo>
                  <a:lnTo>
                    <a:pt x="0" y="769712"/>
                  </a:lnTo>
                </a:path>
                <a:path w="354964" h="770254">
                  <a:moveTo>
                    <a:pt x="354548" y="0"/>
                  </a:moveTo>
                  <a:lnTo>
                    <a:pt x="354548" y="141674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1004642" y="3161202"/>
              <a:ext cx="0" cy="157480"/>
            </a:xfrm>
            <a:custGeom>
              <a:avLst/>
              <a:gdLst/>
              <a:ahLst/>
              <a:cxnLst/>
              <a:rect l="l" t="t" r="r" b="b"/>
              <a:pathLst>
                <a:path h="157479">
                  <a:moveTo>
                    <a:pt x="0" y="0"/>
                  </a:moveTo>
                  <a:lnTo>
                    <a:pt x="0" y="157064"/>
                  </a:lnTo>
                </a:path>
              </a:pathLst>
            </a:custGeom>
            <a:ln w="336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582083" y="3323936"/>
              <a:ext cx="3719829" cy="461645"/>
            </a:xfrm>
            <a:custGeom>
              <a:avLst/>
              <a:gdLst/>
              <a:ahLst/>
              <a:cxnLst/>
              <a:rect l="l" t="t" r="r" b="b"/>
              <a:pathLst>
                <a:path w="3719829" h="461645">
                  <a:moveTo>
                    <a:pt x="0" y="0"/>
                  </a:moveTo>
                  <a:lnTo>
                    <a:pt x="6689" y="5742"/>
                  </a:lnTo>
                  <a:lnTo>
                    <a:pt x="6689" y="461398"/>
                  </a:lnTo>
                  <a:lnTo>
                    <a:pt x="3719406" y="461398"/>
                  </a:lnTo>
                  <a:lnTo>
                    <a:pt x="3719406" y="57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582083" y="3323936"/>
              <a:ext cx="3719829" cy="461645"/>
            </a:xfrm>
            <a:custGeom>
              <a:avLst/>
              <a:gdLst/>
              <a:ahLst/>
              <a:cxnLst/>
              <a:rect l="l" t="t" r="r" b="b"/>
              <a:pathLst>
                <a:path w="3719829" h="461645">
                  <a:moveTo>
                    <a:pt x="0" y="0"/>
                  </a:moveTo>
                  <a:lnTo>
                    <a:pt x="3719406" y="5743"/>
                  </a:lnTo>
                  <a:lnTo>
                    <a:pt x="3719406" y="461399"/>
                  </a:lnTo>
                  <a:lnTo>
                    <a:pt x="6689" y="461399"/>
                  </a:lnTo>
                  <a:lnTo>
                    <a:pt x="6689" y="5743"/>
                  </a:lnTo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999067" y="2609745"/>
              <a:ext cx="0" cy="167005"/>
            </a:xfrm>
            <a:custGeom>
              <a:avLst/>
              <a:gdLst/>
              <a:ahLst/>
              <a:cxnLst/>
              <a:rect l="l" t="t" r="r" b="b"/>
              <a:pathLst>
                <a:path h="167005">
                  <a:moveTo>
                    <a:pt x="0" y="0"/>
                  </a:moveTo>
                  <a:lnTo>
                    <a:pt x="0" y="16663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646749" y="2020147"/>
              <a:ext cx="709295" cy="608965"/>
            </a:xfrm>
            <a:custGeom>
              <a:avLst/>
              <a:gdLst/>
              <a:ahLst/>
              <a:cxnLst/>
              <a:rect l="l" t="t" r="r" b="b"/>
              <a:pathLst>
                <a:path w="709294" h="608964">
                  <a:moveTo>
                    <a:pt x="354548" y="0"/>
                  </a:moveTo>
                  <a:lnTo>
                    <a:pt x="296571" y="5742"/>
                  </a:lnTo>
                  <a:lnTo>
                    <a:pt x="243054" y="15316"/>
                  </a:lnTo>
                  <a:lnTo>
                    <a:pt x="189538" y="36375"/>
                  </a:lnTo>
                  <a:lnTo>
                    <a:pt x="142711" y="55520"/>
                  </a:lnTo>
                  <a:lnTo>
                    <a:pt x="100343" y="86152"/>
                  </a:lnTo>
                  <a:lnTo>
                    <a:pt x="66895" y="122529"/>
                  </a:lnTo>
                  <a:lnTo>
                    <a:pt x="35677" y="162733"/>
                  </a:lnTo>
                  <a:lnTo>
                    <a:pt x="0" y="254631"/>
                  </a:lnTo>
                  <a:lnTo>
                    <a:pt x="0" y="356100"/>
                  </a:lnTo>
                  <a:lnTo>
                    <a:pt x="17838" y="400135"/>
                  </a:lnTo>
                  <a:lnTo>
                    <a:pt x="35677" y="442254"/>
                  </a:lnTo>
                  <a:lnTo>
                    <a:pt x="66895" y="482459"/>
                  </a:lnTo>
                  <a:lnTo>
                    <a:pt x="100343" y="516920"/>
                  </a:lnTo>
                  <a:lnTo>
                    <a:pt x="142711" y="547552"/>
                  </a:lnTo>
                  <a:lnTo>
                    <a:pt x="189538" y="574356"/>
                  </a:lnTo>
                  <a:lnTo>
                    <a:pt x="243054" y="593501"/>
                  </a:lnTo>
                  <a:lnTo>
                    <a:pt x="296571" y="603073"/>
                  </a:lnTo>
                  <a:lnTo>
                    <a:pt x="354548" y="608817"/>
                  </a:lnTo>
                  <a:lnTo>
                    <a:pt x="408064" y="603073"/>
                  </a:lnTo>
                  <a:lnTo>
                    <a:pt x="468270" y="593501"/>
                  </a:lnTo>
                  <a:lnTo>
                    <a:pt x="515098" y="574356"/>
                  </a:lnTo>
                  <a:lnTo>
                    <a:pt x="561925" y="547552"/>
                  </a:lnTo>
                  <a:lnTo>
                    <a:pt x="604292" y="516920"/>
                  </a:lnTo>
                  <a:lnTo>
                    <a:pt x="639970" y="482459"/>
                  </a:lnTo>
                  <a:lnTo>
                    <a:pt x="668959" y="442254"/>
                  </a:lnTo>
                  <a:lnTo>
                    <a:pt x="693486" y="400135"/>
                  </a:lnTo>
                  <a:lnTo>
                    <a:pt x="704635" y="356100"/>
                  </a:lnTo>
                  <a:lnTo>
                    <a:pt x="704635" y="298664"/>
                  </a:lnTo>
                  <a:lnTo>
                    <a:pt x="709096" y="304408"/>
                  </a:lnTo>
                  <a:lnTo>
                    <a:pt x="704635" y="254631"/>
                  </a:lnTo>
                  <a:lnTo>
                    <a:pt x="693486" y="208682"/>
                  </a:lnTo>
                  <a:lnTo>
                    <a:pt x="668959" y="162733"/>
                  </a:lnTo>
                  <a:lnTo>
                    <a:pt x="639970" y="122529"/>
                  </a:lnTo>
                  <a:lnTo>
                    <a:pt x="604292" y="86152"/>
                  </a:lnTo>
                  <a:lnTo>
                    <a:pt x="561925" y="55520"/>
                  </a:lnTo>
                  <a:lnTo>
                    <a:pt x="515098" y="36375"/>
                  </a:lnTo>
                  <a:lnTo>
                    <a:pt x="468270" y="15316"/>
                  </a:lnTo>
                  <a:lnTo>
                    <a:pt x="408064" y="5742"/>
                  </a:lnTo>
                  <a:lnTo>
                    <a:pt x="3545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646749" y="2020147"/>
              <a:ext cx="709295" cy="608965"/>
            </a:xfrm>
            <a:custGeom>
              <a:avLst/>
              <a:gdLst/>
              <a:ahLst/>
              <a:cxnLst/>
              <a:rect l="l" t="t" r="r" b="b"/>
              <a:pathLst>
                <a:path w="709294" h="608964">
                  <a:moveTo>
                    <a:pt x="704636" y="298665"/>
                  </a:moveTo>
                  <a:lnTo>
                    <a:pt x="704636" y="254631"/>
                  </a:lnTo>
                  <a:lnTo>
                    <a:pt x="693486" y="208682"/>
                  </a:lnTo>
                  <a:lnTo>
                    <a:pt x="668958" y="162734"/>
                  </a:lnTo>
                  <a:lnTo>
                    <a:pt x="639970" y="122529"/>
                  </a:lnTo>
                  <a:lnTo>
                    <a:pt x="604292" y="86153"/>
                  </a:lnTo>
                  <a:lnTo>
                    <a:pt x="561925" y="55521"/>
                  </a:lnTo>
                  <a:lnTo>
                    <a:pt x="515097" y="36375"/>
                  </a:lnTo>
                  <a:lnTo>
                    <a:pt x="468270" y="15316"/>
                  </a:lnTo>
                  <a:lnTo>
                    <a:pt x="408064" y="5743"/>
                  </a:lnTo>
                  <a:lnTo>
                    <a:pt x="354547" y="0"/>
                  </a:lnTo>
                  <a:lnTo>
                    <a:pt x="296571" y="5743"/>
                  </a:lnTo>
                  <a:lnTo>
                    <a:pt x="243054" y="15316"/>
                  </a:lnTo>
                  <a:lnTo>
                    <a:pt x="189538" y="36375"/>
                  </a:lnTo>
                  <a:lnTo>
                    <a:pt x="142711" y="55521"/>
                  </a:lnTo>
                  <a:lnTo>
                    <a:pt x="100343" y="86153"/>
                  </a:lnTo>
                  <a:lnTo>
                    <a:pt x="66895" y="122529"/>
                  </a:lnTo>
                  <a:lnTo>
                    <a:pt x="35677" y="162734"/>
                  </a:lnTo>
                  <a:lnTo>
                    <a:pt x="17838" y="208682"/>
                  </a:lnTo>
                  <a:lnTo>
                    <a:pt x="0" y="254631"/>
                  </a:lnTo>
                  <a:lnTo>
                    <a:pt x="0" y="304408"/>
                  </a:lnTo>
                  <a:lnTo>
                    <a:pt x="0" y="356101"/>
                  </a:lnTo>
                  <a:lnTo>
                    <a:pt x="17838" y="400134"/>
                  </a:lnTo>
                  <a:lnTo>
                    <a:pt x="35677" y="442254"/>
                  </a:lnTo>
                  <a:lnTo>
                    <a:pt x="66895" y="482459"/>
                  </a:lnTo>
                  <a:lnTo>
                    <a:pt x="100343" y="516920"/>
                  </a:lnTo>
                  <a:lnTo>
                    <a:pt x="142711" y="547553"/>
                  </a:lnTo>
                  <a:lnTo>
                    <a:pt x="189538" y="574356"/>
                  </a:lnTo>
                  <a:lnTo>
                    <a:pt x="243054" y="593501"/>
                  </a:lnTo>
                  <a:lnTo>
                    <a:pt x="296571" y="603074"/>
                  </a:lnTo>
                  <a:lnTo>
                    <a:pt x="354547" y="608817"/>
                  </a:lnTo>
                  <a:lnTo>
                    <a:pt x="408064" y="603074"/>
                  </a:lnTo>
                  <a:lnTo>
                    <a:pt x="468270" y="593501"/>
                  </a:lnTo>
                  <a:lnTo>
                    <a:pt x="515097" y="574356"/>
                  </a:lnTo>
                  <a:lnTo>
                    <a:pt x="561925" y="547553"/>
                  </a:lnTo>
                  <a:lnTo>
                    <a:pt x="604292" y="516920"/>
                  </a:lnTo>
                  <a:lnTo>
                    <a:pt x="639970" y="482459"/>
                  </a:lnTo>
                  <a:lnTo>
                    <a:pt x="668958" y="442254"/>
                  </a:lnTo>
                  <a:lnTo>
                    <a:pt x="693486" y="400134"/>
                  </a:lnTo>
                  <a:lnTo>
                    <a:pt x="704636" y="356101"/>
                  </a:lnTo>
                  <a:lnTo>
                    <a:pt x="709095" y="304408"/>
                  </a:lnTo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642289" y="2776383"/>
              <a:ext cx="713740" cy="385445"/>
            </a:xfrm>
            <a:custGeom>
              <a:avLst/>
              <a:gdLst/>
              <a:ahLst/>
              <a:cxnLst/>
              <a:rect l="l" t="t" r="r" b="b"/>
              <a:pathLst>
                <a:path w="713740" h="385444">
                  <a:moveTo>
                    <a:pt x="0" y="0"/>
                  </a:moveTo>
                  <a:lnTo>
                    <a:pt x="713554" y="5743"/>
                  </a:lnTo>
                  <a:lnTo>
                    <a:pt x="713554" y="384819"/>
                  </a:lnTo>
                  <a:lnTo>
                    <a:pt x="4459" y="384819"/>
                  </a:lnTo>
                  <a:lnTo>
                    <a:pt x="4459" y="5743"/>
                  </a:lnTo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84606" y="1939961"/>
            <a:ext cx="255494" cy="82461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4826">
              <a:spcBef>
                <a:spcPts val="88"/>
              </a:spcBef>
            </a:pPr>
            <a:r>
              <a:rPr sz="1412" spc="-22" dirty="0">
                <a:latin typeface="Arial MT"/>
                <a:cs typeface="Arial MT"/>
              </a:rPr>
              <a:t>P</a:t>
            </a:r>
            <a:r>
              <a:rPr sz="1721" spc="-33" baseline="-8547" dirty="0">
                <a:latin typeface="Arial MT"/>
                <a:cs typeface="Arial MT"/>
              </a:rPr>
              <a:t>1</a:t>
            </a:r>
            <a:endParaRPr sz="1721" baseline="-8547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47">
              <a:latin typeface="Arial MT"/>
              <a:cs typeface="Arial MT"/>
            </a:endParaRPr>
          </a:p>
          <a:p>
            <a:pPr>
              <a:spcBef>
                <a:spcPts val="176"/>
              </a:spcBef>
            </a:pPr>
            <a:endParaRPr sz="1147">
              <a:latin typeface="Arial MT"/>
              <a:cs typeface="Arial MT"/>
            </a:endParaRPr>
          </a:p>
          <a:p>
            <a:pPr marL="81807"/>
            <a:r>
              <a:rPr sz="1412" spc="-44" dirty="0">
                <a:latin typeface="Arial MT"/>
                <a:cs typeface="Arial MT"/>
              </a:rPr>
              <a:t>$</a:t>
            </a:r>
            <a:endParaRPr sz="1412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48074" y="2932885"/>
            <a:ext cx="3282202" cy="301037"/>
          </a:xfrm>
          <a:prstGeom prst="rect">
            <a:avLst/>
          </a:prstGeom>
        </p:spPr>
        <p:txBody>
          <a:bodyPr vert="horz" wrap="square" lIns="0" tIns="82924" rIns="0" bIns="0" rtlCol="0">
            <a:spAutoFit/>
          </a:bodyPr>
          <a:lstStyle/>
          <a:p>
            <a:pPr marL="725620">
              <a:spcBef>
                <a:spcPts val="653"/>
              </a:spcBef>
            </a:pPr>
            <a:r>
              <a:rPr sz="1412" spc="-9" dirty="0">
                <a:latin typeface="Arial MT"/>
                <a:cs typeface="Arial MT"/>
              </a:rPr>
              <a:t>Interconnection</a:t>
            </a:r>
            <a:r>
              <a:rPr sz="1412" spc="-84" dirty="0">
                <a:latin typeface="Arial MT"/>
                <a:cs typeface="Arial MT"/>
              </a:rPr>
              <a:t> </a:t>
            </a:r>
            <a:r>
              <a:rPr sz="1412" spc="-9" dirty="0">
                <a:latin typeface="Arial MT"/>
                <a:cs typeface="Arial MT"/>
              </a:rPr>
              <a:t>network</a:t>
            </a:r>
            <a:endParaRPr sz="1412" dirty="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201677" y="1783950"/>
            <a:ext cx="649941" cy="1028140"/>
            <a:chOff x="3476167" y="2021810"/>
            <a:chExt cx="736600" cy="1165225"/>
          </a:xfrm>
        </p:grpSpPr>
        <p:sp>
          <p:nvSpPr>
            <p:cNvPr id="38" name="object 38"/>
            <p:cNvSpPr/>
            <p:nvPr/>
          </p:nvSpPr>
          <p:spPr>
            <a:xfrm>
              <a:off x="3842138" y="2630804"/>
              <a:ext cx="0" cy="167005"/>
            </a:xfrm>
            <a:custGeom>
              <a:avLst/>
              <a:gdLst/>
              <a:ahLst/>
              <a:cxnLst/>
              <a:rect l="l" t="t" r="r" b="b"/>
              <a:pathLst>
                <a:path h="167005">
                  <a:moveTo>
                    <a:pt x="0" y="0"/>
                  </a:moveTo>
                  <a:lnTo>
                    <a:pt x="0" y="16663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3489820" y="2035463"/>
              <a:ext cx="709295" cy="608965"/>
            </a:xfrm>
            <a:custGeom>
              <a:avLst/>
              <a:gdLst/>
              <a:ahLst/>
              <a:cxnLst/>
              <a:rect l="l" t="t" r="r" b="b"/>
              <a:pathLst>
                <a:path w="709295" h="608964">
                  <a:moveTo>
                    <a:pt x="354548" y="0"/>
                  </a:moveTo>
                  <a:lnTo>
                    <a:pt x="296571" y="5742"/>
                  </a:lnTo>
                  <a:lnTo>
                    <a:pt x="243055" y="15316"/>
                  </a:lnTo>
                  <a:lnTo>
                    <a:pt x="189538" y="36375"/>
                  </a:lnTo>
                  <a:lnTo>
                    <a:pt x="142711" y="61264"/>
                  </a:lnTo>
                  <a:lnTo>
                    <a:pt x="100343" y="91895"/>
                  </a:lnTo>
                  <a:lnTo>
                    <a:pt x="66895" y="126357"/>
                  </a:lnTo>
                  <a:lnTo>
                    <a:pt x="35678" y="166563"/>
                  </a:lnTo>
                  <a:lnTo>
                    <a:pt x="17839" y="208682"/>
                  </a:lnTo>
                  <a:lnTo>
                    <a:pt x="0" y="258460"/>
                  </a:lnTo>
                  <a:lnTo>
                    <a:pt x="0" y="356100"/>
                  </a:lnTo>
                  <a:lnTo>
                    <a:pt x="17839" y="400135"/>
                  </a:lnTo>
                  <a:lnTo>
                    <a:pt x="35678" y="446082"/>
                  </a:lnTo>
                  <a:lnTo>
                    <a:pt x="66895" y="486288"/>
                  </a:lnTo>
                  <a:lnTo>
                    <a:pt x="100343" y="522663"/>
                  </a:lnTo>
                  <a:lnTo>
                    <a:pt x="142711" y="553295"/>
                  </a:lnTo>
                  <a:lnTo>
                    <a:pt x="189538" y="578185"/>
                  </a:lnTo>
                  <a:lnTo>
                    <a:pt x="296571" y="608817"/>
                  </a:lnTo>
                  <a:lnTo>
                    <a:pt x="408064" y="608817"/>
                  </a:lnTo>
                  <a:lnTo>
                    <a:pt x="468271" y="593501"/>
                  </a:lnTo>
                  <a:lnTo>
                    <a:pt x="515098" y="578185"/>
                  </a:lnTo>
                  <a:lnTo>
                    <a:pt x="561925" y="553295"/>
                  </a:lnTo>
                  <a:lnTo>
                    <a:pt x="604292" y="522663"/>
                  </a:lnTo>
                  <a:lnTo>
                    <a:pt x="639970" y="486288"/>
                  </a:lnTo>
                  <a:lnTo>
                    <a:pt x="668958" y="446082"/>
                  </a:lnTo>
                  <a:lnTo>
                    <a:pt x="693487" y="400135"/>
                  </a:lnTo>
                  <a:lnTo>
                    <a:pt x="704636" y="356100"/>
                  </a:lnTo>
                  <a:lnTo>
                    <a:pt x="704636" y="304408"/>
                  </a:lnTo>
                  <a:lnTo>
                    <a:pt x="709096" y="304408"/>
                  </a:lnTo>
                  <a:lnTo>
                    <a:pt x="704636" y="258460"/>
                  </a:lnTo>
                  <a:lnTo>
                    <a:pt x="693487" y="208682"/>
                  </a:lnTo>
                  <a:lnTo>
                    <a:pt x="668958" y="166563"/>
                  </a:lnTo>
                  <a:lnTo>
                    <a:pt x="639970" y="126357"/>
                  </a:lnTo>
                  <a:lnTo>
                    <a:pt x="604292" y="91895"/>
                  </a:lnTo>
                  <a:lnTo>
                    <a:pt x="561925" y="61264"/>
                  </a:lnTo>
                  <a:lnTo>
                    <a:pt x="515098" y="36375"/>
                  </a:lnTo>
                  <a:lnTo>
                    <a:pt x="468271" y="15316"/>
                  </a:lnTo>
                  <a:lnTo>
                    <a:pt x="408064" y="5742"/>
                  </a:lnTo>
                  <a:lnTo>
                    <a:pt x="3545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0" name="object 40"/>
            <p:cNvSpPr/>
            <p:nvPr/>
          </p:nvSpPr>
          <p:spPr>
            <a:xfrm>
              <a:off x="3489820" y="2035463"/>
              <a:ext cx="709295" cy="608965"/>
            </a:xfrm>
            <a:custGeom>
              <a:avLst/>
              <a:gdLst/>
              <a:ahLst/>
              <a:cxnLst/>
              <a:rect l="l" t="t" r="r" b="b"/>
              <a:pathLst>
                <a:path w="709295" h="608964">
                  <a:moveTo>
                    <a:pt x="704636" y="304408"/>
                  </a:moveTo>
                  <a:lnTo>
                    <a:pt x="704636" y="258460"/>
                  </a:lnTo>
                  <a:lnTo>
                    <a:pt x="693486" y="208682"/>
                  </a:lnTo>
                  <a:lnTo>
                    <a:pt x="668958" y="166563"/>
                  </a:lnTo>
                  <a:lnTo>
                    <a:pt x="639970" y="126358"/>
                  </a:lnTo>
                  <a:lnTo>
                    <a:pt x="604292" y="91897"/>
                  </a:lnTo>
                  <a:lnTo>
                    <a:pt x="561925" y="61264"/>
                  </a:lnTo>
                  <a:lnTo>
                    <a:pt x="515097" y="36375"/>
                  </a:lnTo>
                  <a:lnTo>
                    <a:pt x="468270" y="15316"/>
                  </a:lnTo>
                  <a:lnTo>
                    <a:pt x="408064" y="5743"/>
                  </a:lnTo>
                  <a:lnTo>
                    <a:pt x="354547" y="0"/>
                  </a:lnTo>
                  <a:lnTo>
                    <a:pt x="296571" y="5743"/>
                  </a:lnTo>
                  <a:lnTo>
                    <a:pt x="243054" y="15316"/>
                  </a:lnTo>
                  <a:lnTo>
                    <a:pt x="189538" y="36375"/>
                  </a:lnTo>
                  <a:lnTo>
                    <a:pt x="142711" y="61264"/>
                  </a:lnTo>
                  <a:lnTo>
                    <a:pt x="100343" y="91897"/>
                  </a:lnTo>
                  <a:lnTo>
                    <a:pt x="66895" y="126358"/>
                  </a:lnTo>
                  <a:lnTo>
                    <a:pt x="35677" y="166563"/>
                  </a:lnTo>
                  <a:lnTo>
                    <a:pt x="17838" y="208682"/>
                  </a:lnTo>
                  <a:lnTo>
                    <a:pt x="0" y="258460"/>
                  </a:lnTo>
                  <a:lnTo>
                    <a:pt x="0" y="304408"/>
                  </a:lnTo>
                  <a:lnTo>
                    <a:pt x="0" y="356101"/>
                  </a:lnTo>
                  <a:lnTo>
                    <a:pt x="17838" y="400134"/>
                  </a:lnTo>
                  <a:lnTo>
                    <a:pt x="35677" y="446083"/>
                  </a:lnTo>
                  <a:lnTo>
                    <a:pt x="66895" y="486288"/>
                  </a:lnTo>
                  <a:lnTo>
                    <a:pt x="100343" y="522664"/>
                  </a:lnTo>
                  <a:lnTo>
                    <a:pt x="142711" y="553296"/>
                  </a:lnTo>
                  <a:lnTo>
                    <a:pt x="189538" y="578185"/>
                  </a:lnTo>
                  <a:lnTo>
                    <a:pt x="243054" y="593501"/>
                  </a:lnTo>
                  <a:lnTo>
                    <a:pt x="296571" y="608817"/>
                  </a:lnTo>
                  <a:lnTo>
                    <a:pt x="354547" y="608817"/>
                  </a:lnTo>
                  <a:lnTo>
                    <a:pt x="408064" y="608817"/>
                  </a:lnTo>
                  <a:lnTo>
                    <a:pt x="468270" y="593501"/>
                  </a:lnTo>
                  <a:lnTo>
                    <a:pt x="515097" y="578185"/>
                  </a:lnTo>
                  <a:lnTo>
                    <a:pt x="561925" y="553296"/>
                  </a:lnTo>
                  <a:lnTo>
                    <a:pt x="604292" y="522664"/>
                  </a:lnTo>
                  <a:lnTo>
                    <a:pt x="639970" y="486288"/>
                  </a:lnTo>
                  <a:lnTo>
                    <a:pt x="668958" y="446083"/>
                  </a:lnTo>
                  <a:lnTo>
                    <a:pt x="693486" y="400134"/>
                  </a:lnTo>
                  <a:lnTo>
                    <a:pt x="704636" y="356101"/>
                  </a:lnTo>
                  <a:lnTo>
                    <a:pt x="709095" y="304408"/>
                  </a:lnTo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3485359" y="2797442"/>
              <a:ext cx="713740" cy="385445"/>
            </a:xfrm>
            <a:custGeom>
              <a:avLst/>
              <a:gdLst/>
              <a:ahLst/>
              <a:cxnLst/>
              <a:rect l="l" t="t" r="r" b="b"/>
              <a:pathLst>
                <a:path w="713739" h="385444">
                  <a:moveTo>
                    <a:pt x="0" y="0"/>
                  </a:moveTo>
                  <a:lnTo>
                    <a:pt x="713554" y="3829"/>
                  </a:lnTo>
                  <a:lnTo>
                    <a:pt x="713554" y="384819"/>
                  </a:lnTo>
                  <a:lnTo>
                    <a:pt x="4459" y="384819"/>
                  </a:lnTo>
                  <a:lnTo>
                    <a:pt x="4459" y="3829"/>
                  </a:lnTo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3464200" y="2526254"/>
            <a:ext cx="122144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spc="-44" dirty="0">
                <a:latin typeface="Arial MT"/>
                <a:cs typeface="Arial MT"/>
              </a:rPr>
              <a:t>$</a:t>
            </a:r>
            <a:endParaRPr sz="1412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404404" y="1931893"/>
            <a:ext cx="237004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412" spc="-22" dirty="0">
                <a:latin typeface="Arial MT"/>
                <a:cs typeface="Arial MT"/>
              </a:rPr>
              <a:t>P</a:t>
            </a:r>
            <a:r>
              <a:rPr sz="1721" spc="-33" baseline="-8547" dirty="0">
                <a:latin typeface="Arial MT"/>
                <a:cs typeface="Arial MT"/>
              </a:rPr>
              <a:t>n</a:t>
            </a:r>
            <a:endParaRPr sz="1721" baseline="-8547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220537" y="2572663"/>
            <a:ext cx="1440516" cy="933450"/>
            <a:chOff x="1230875" y="2915685"/>
            <a:chExt cx="1632585" cy="1057910"/>
          </a:xfrm>
        </p:grpSpPr>
        <p:sp>
          <p:nvSpPr>
            <p:cNvPr id="45" name="object 45"/>
            <p:cNvSpPr/>
            <p:nvPr/>
          </p:nvSpPr>
          <p:spPr>
            <a:xfrm>
              <a:off x="1244351" y="3821713"/>
              <a:ext cx="2540" cy="138430"/>
            </a:xfrm>
            <a:custGeom>
              <a:avLst/>
              <a:gdLst/>
              <a:ahLst/>
              <a:cxnLst/>
              <a:rect l="l" t="t" r="r" b="b"/>
              <a:pathLst>
                <a:path w="2540" h="138429">
                  <a:moveTo>
                    <a:pt x="0" y="0"/>
                  </a:moveTo>
                  <a:lnTo>
                    <a:pt x="2229" y="137845"/>
                  </a:lnTo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77782" y="2915685"/>
              <a:ext cx="135719" cy="12152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85847" y="2915685"/>
              <a:ext cx="135719" cy="12152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27360" y="2915685"/>
              <a:ext cx="135719" cy="121529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941234" y="3508085"/>
            <a:ext cx="635934" cy="331588"/>
          </a:xfrm>
          <a:prstGeom prst="rect">
            <a:avLst/>
          </a:prstGeom>
          <a:ln w="8423">
            <a:solidFill>
              <a:srgbClr val="000000"/>
            </a:solidFill>
          </a:ln>
        </p:spPr>
        <p:txBody>
          <a:bodyPr vert="horz" wrap="square" lIns="0" tIns="113179" rIns="0" bIns="0" rtlCol="0">
            <a:spAutoFit/>
          </a:bodyPr>
          <a:lstStyle/>
          <a:p>
            <a:pPr marL="119909">
              <a:spcBef>
                <a:spcPts val="891"/>
              </a:spcBef>
            </a:pPr>
            <a:r>
              <a:rPr sz="1412" spc="-22" dirty="0">
                <a:latin typeface="Arial MT"/>
                <a:cs typeface="Arial MT"/>
              </a:rPr>
              <a:t>Mem</a:t>
            </a:r>
            <a:endParaRPr sz="1412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916627" y="3508086"/>
            <a:ext cx="623047" cy="309523"/>
          </a:xfrm>
          <a:prstGeom prst="rect">
            <a:avLst/>
          </a:prstGeom>
          <a:ln w="8423">
            <a:solidFill>
              <a:srgbClr val="000000"/>
            </a:solidFill>
          </a:ln>
        </p:spPr>
        <p:txBody>
          <a:bodyPr vert="horz" wrap="square" lIns="0" tIns="91328" rIns="0" bIns="0" rtlCol="0">
            <a:spAutoFit/>
          </a:bodyPr>
          <a:lstStyle/>
          <a:p>
            <a:pPr marL="125513">
              <a:spcBef>
                <a:spcPts val="719"/>
              </a:spcBef>
            </a:pPr>
            <a:r>
              <a:rPr sz="1412" spc="-22" dirty="0">
                <a:latin typeface="Arial MT"/>
                <a:cs typeface="Arial MT"/>
              </a:rPr>
              <a:t>Mem</a:t>
            </a:r>
            <a:endParaRPr sz="1412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77625" y="4021679"/>
            <a:ext cx="3175746" cy="193517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04781" marR="98057" algn="ctr">
              <a:lnSpc>
                <a:spcPct val="148000"/>
              </a:lnSpc>
              <a:spcBef>
                <a:spcPts val="88"/>
              </a:spcBef>
            </a:pPr>
            <a:r>
              <a:rPr sz="2647" b="1" spc="-18" dirty="0">
                <a:solidFill>
                  <a:srgbClr val="FF0000"/>
                </a:solidFill>
                <a:latin typeface="Times New Roman"/>
                <a:cs typeface="Times New Roman"/>
              </a:rPr>
              <a:t>Centralized</a:t>
            </a:r>
            <a:r>
              <a:rPr sz="2647" b="1" spc="-66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47" b="1" spc="-9" dirty="0">
                <a:solidFill>
                  <a:srgbClr val="FF0000"/>
                </a:solidFill>
                <a:latin typeface="Times New Roman"/>
                <a:cs typeface="Times New Roman"/>
              </a:rPr>
              <a:t>Memory </a:t>
            </a:r>
            <a:r>
              <a:rPr sz="2647" b="1" dirty="0">
                <a:solidFill>
                  <a:srgbClr val="FF0000"/>
                </a:solidFill>
                <a:latin typeface="Times New Roman"/>
                <a:cs typeface="Times New Roman"/>
              </a:rPr>
              <a:t>(Dance</a:t>
            </a:r>
            <a:r>
              <a:rPr sz="2647" b="1" spc="-1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47" b="1" dirty="0">
                <a:solidFill>
                  <a:srgbClr val="FF0000"/>
                </a:solidFill>
                <a:latin typeface="Times New Roman"/>
                <a:cs typeface="Times New Roman"/>
              </a:rPr>
              <a:t>Hall</a:t>
            </a:r>
            <a:r>
              <a:rPr sz="2647" b="1" spc="-106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47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MP)</a:t>
            </a:r>
            <a:endParaRPr sz="2647" dirty="0">
              <a:latin typeface="Times New Roman"/>
              <a:cs typeface="Times New Roman"/>
            </a:endParaRPr>
          </a:p>
          <a:p>
            <a:pPr marL="11206" marR="4483" algn="ctr">
              <a:lnSpc>
                <a:spcPts val="2206"/>
              </a:lnSpc>
              <a:spcBef>
                <a:spcPts val="1218"/>
              </a:spcBef>
            </a:pPr>
            <a:r>
              <a:rPr sz="1853" b="1" dirty="0">
                <a:solidFill>
                  <a:srgbClr val="FF0000"/>
                </a:solidFill>
                <a:latin typeface="Times New Roman"/>
                <a:cs typeface="Times New Roman"/>
              </a:rPr>
              <a:t>(Bad:</a:t>
            </a:r>
            <a:r>
              <a:rPr sz="1853" b="1" spc="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FF0000"/>
                </a:solidFill>
                <a:latin typeface="Times New Roman"/>
                <a:cs typeface="Times New Roman"/>
              </a:rPr>
              <a:t>all</a:t>
            </a:r>
            <a:r>
              <a:rPr sz="1853" b="1" spc="1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FF0000"/>
                </a:solidFill>
                <a:latin typeface="Times New Roman"/>
                <a:cs typeface="Times New Roman"/>
              </a:rPr>
              <a:t>memory</a:t>
            </a:r>
            <a:r>
              <a:rPr sz="1853" b="1" spc="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FF0000"/>
                </a:solidFill>
                <a:latin typeface="Times New Roman"/>
                <a:cs typeface="Times New Roman"/>
              </a:rPr>
              <a:t>access</a:t>
            </a:r>
            <a:r>
              <a:rPr sz="1853" b="1" spc="1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3" b="1" spc="-9" dirty="0">
                <a:solidFill>
                  <a:srgbClr val="FF0000"/>
                </a:solidFill>
                <a:latin typeface="Times New Roman"/>
                <a:cs typeface="Times New Roman"/>
              </a:rPr>
              <a:t>delays </a:t>
            </a:r>
            <a:r>
              <a:rPr sz="1853" b="1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1853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3" b="1" spc="-18" dirty="0">
                <a:solidFill>
                  <a:srgbClr val="FF0000"/>
                </a:solidFill>
                <a:latin typeface="Times New Roman"/>
                <a:cs typeface="Times New Roman"/>
              </a:rPr>
              <a:t>big)</a:t>
            </a:r>
            <a:endParaRPr sz="1853" dirty="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162162" y="4054336"/>
            <a:ext cx="2954430" cy="1438960"/>
          </a:xfrm>
          <a:prstGeom prst="rect">
            <a:avLst/>
          </a:prstGeom>
        </p:spPr>
        <p:txBody>
          <a:bodyPr vert="horz" wrap="square" lIns="0" tIns="220195" rIns="0" bIns="0" rtlCol="0">
            <a:spAutoFit/>
          </a:bodyPr>
          <a:lstStyle/>
          <a:p>
            <a:pPr algn="ctr">
              <a:spcBef>
                <a:spcPts val="1733"/>
              </a:spcBef>
            </a:pPr>
            <a:r>
              <a:rPr sz="2647" b="1" spc="-9" dirty="0">
                <a:solidFill>
                  <a:srgbClr val="3366FF"/>
                </a:solidFill>
                <a:latin typeface="Times New Roman"/>
                <a:cs typeface="Times New Roman"/>
              </a:rPr>
              <a:t>Distributed</a:t>
            </a:r>
            <a:r>
              <a:rPr sz="2647" b="1" spc="-110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647" b="1" spc="-9" dirty="0">
                <a:solidFill>
                  <a:srgbClr val="3366FF"/>
                </a:solidFill>
                <a:latin typeface="Times New Roman"/>
                <a:cs typeface="Times New Roman"/>
              </a:rPr>
              <a:t>Memory</a:t>
            </a:r>
            <a:endParaRPr sz="2647" dirty="0">
              <a:latin typeface="Times New Roman"/>
              <a:cs typeface="Times New Roman"/>
            </a:endParaRPr>
          </a:p>
          <a:p>
            <a:pPr marL="196674" marR="251025" algn="ctr">
              <a:lnSpc>
                <a:spcPct val="150500"/>
              </a:lnSpc>
              <a:spcBef>
                <a:spcPts val="31"/>
              </a:spcBef>
            </a:pPr>
            <a:r>
              <a:rPr sz="1853" b="1" dirty="0">
                <a:solidFill>
                  <a:srgbClr val="3366FF"/>
                </a:solidFill>
                <a:latin typeface="Times New Roman"/>
                <a:cs typeface="Times New Roman"/>
              </a:rPr>
              <a:t>(Good:</a:t>
            </a:r>
            <a:r>
              <a:rPr sz="1853" b="1" spc="9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3366FF"/>
                </a:solidFill>
                <a:latin typeface="Times New Roman"/>
                <a:cs typeface="Times New Roman"/>
              </a:rPr>
              <a:t>most</a:t>
            </a:r>
            <a:r>
              <a:rPr sz="1853" b="1" spc="9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1853" b="1" spc="-9" dirty="0">
                <a:solidFill>
                  <a:srgbClr val="3366FF"/>
                </a:solidFill>
                <a:latin typeface="Times New Roman"/>
                <a:cs typeface="Times New Roman"/>
              </a:rPr>
              <a:t>memory </a:t>
            </a:r>
            <a:r>
              <a:rPr sz="1853" b="1" dirty="0">
                <a:solidFill>
                  <a:srgbClr val="3366FF"/>
                </a:solidFill>
                <a:latin typeface="Times New Roman"/>
                <a:cs typeface="Times New Roman"/>
              </a:rPr>
              <a:t>accesses</a:t>
            </a:r>
            <a:r>
              <a:rPr sz="1853" b="1" spc="-22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3366FF"/>
                </a:solidFill>
                <a:latin typeface="Times New Roman"/>
                <a:cs typeface="Times New Roman"/>
              </a:rPr>
              <a:t>are</a:t>
            </a:r>
            <a:r>
              <a:rPr sz="1853" b="1" spc="-13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3366FF"/>
                </a:solidFill>
                <a:latin typeface="Times New Roman"/>
                <a:cs typeface="Times New Roman"/>
              </a:rPr>
              <a:t>local</a:t>
            </a:r>
            <a:r>
              <a:rPr sz="1853" b="1" spc="-18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1853" b="1" dirty="0">
                <a:solidFill>
                  <a:srgbClr val="3366FF"/>
                </a:solidFill>
                <a:latin typeface="Times New Roman"/>
                <a:cs typeface="Times New Roman"/>
              </a:rPr>
              <a:t>&amp;</a:t>
            </a:r>
            <a:r>
              <a:rPr sz="1853" b="1" spc="-4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1853" b="1" spc="-18" dirty="0">
                <a:solidFill>
                  <a:srgbClr val="3366FF"/>
                </a:solidFill>
                <a:latin typeface="Times New Roman"/>
                <a:cs typeface="Times New Roman"/>
              </a:rPr>
              <a:t>fast)</a:t>
            </a:r>
            <a:endParaRPr sz="1853" dirty="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216461" y="1372254"/>
            <a:ext cx="2212041" cy="107016"/>
          </a:xfrm>
          <a:custGeom>
            <a:avLst/>
            <a:gdLst/>
            <a:ahLst/>
            <a:cxnLst/>
            <a:rect l="l" t="t" r="r" b="b"/>
            <a:pathLst>
              <a:path w="2506979" h="121285">
                <a:moveTo>
                  <a:pt x="2385272" y="0"/>
                </a:moveTo>
                <a:lnTo>
                  <a:pt x="2385272" y="121285"/>
                </a:lnTo>
                <a:lnTo>
                  <a:pt x="2466127" y="80857"/>
                </a:lnTo>
                <a:lnTo>
                  <a:pt x="2405485" y="80857"/>
                </a:lnTo>
                <a:lnTo>
                  <a:pt x="2405485" y="40429"/>
                </a:lnTo>
                <a:lnTo>
                  <a:pt x="2466130" y="40429"/>
                </a:lnTo>
                <a:lnTo>
                  <a:pt x="2385272" y="0"/>
                </a:lnTo>
                <a:close/>
              </a:path>
              <a:path w="2506979" h="121285">
                <a:moveTo>
                  <a:pt x="2385272" y="40429"/>
                </a:moveTo>
                <a:lnTo>
                  <a:pt x="0" y="40429"/>
                </a:lnTo>
                <a:lnTo>
                  <a:pt x="0" y="80857"/>
                </a:lnTo>
                <a:lnTo>
                  <a:pt x="2385272" y="80857"/>
                </a:lnTo>
                <a:lnTo>
                  <a:pt x="2385272" y="40429"/>
                </a:lnTo>
                <a:close/>
              </a:path>
              <a:path w="2506979" h="121285">
                <a:moveTo>
                  <a:pt x="2466130" y="40429"/>
                </a:moveTo>
                <a:lnTo>
                  <a:pt x="2405485" y="40429"/>
                </a:lnTo>
                <a:lnTo>
                  <a:pt x="2405485" y="80857"/>
                </a:lnTo>
                <a:lnTo>
                  <a:pt x="2466127" y="80857"/>
                </a:lnTo>
                <a:lnTo>
                  <a:pt x="2506557" y="60642"/>
                </a:lnTo>
                <a:lnTo>
                  <a:pt x="2466130" y="404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4" name="object 54"/>
          <p:cNvSpPr txBox="1"/>
          <p:nvPr/>
        </p:nvSpPr>
        <p:spPr>
          <a:xfrm>
            <a:off x="4066736" y="1528931"/>
            <a:ext cx="642097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b="1" spc="-9" dirty="0">
                <a:latin typeface="Arial"/>
                <a:cs typeface="Arial"/>
              </a:rPr>
              <a:t>Scale</a:t>
            </a:r>
            <a:endParaRPr sz="1853">
              <a:latin typeface="Arial"/>
              <a:cs typeface="Arial"/>
            </a:endParaRPr>
          </a:p>
        </p:txBody>
      </p:sp>
      <p:sp>
        <p:nvSpPr>
          <p:cNvPr id="56" name="Slide Number Placeholder 4">
            <a:extLst>
              <a:ext uri="{FF2B5EF4-FFF2-40B4-BE49-F238E27FC236}">
                <a16:creationId xmlns:a16="http://schemas.microsoft.com/office/drawing/2014/main" id="{C7A32976-27F9-372F-0852-E21E8AF9FA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11</a:t>
            </a:fld>
            <a:endParaRPr lang="en-US" spc="-4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6850784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Centralized</a:t>
            </a:r>
            <a:r>
              <a:rPr spc="-49" dirty="0"/>
              <a:t> </a:t>
            </a:r>
            <a:r>
              <a:rPr b="0" dirty="0">
                <a:latin typeface="Calibri"/>
                <a:cs typeface="Calibri"/>
              </a:rPr>
              <a:t>Memory</a:t>
            </a:r>
            <a:r>
              <a:rPr spc="-49" dirty="0"/>
              <a:t> </a:t>
            </a:r>
            <a:r>
              <a:rPr spc="-9" dirty="0"/>
              <a:t>Multiprocessor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9151" y="1320052"/>
            <a:ext cx="7524750" cy="4646521"/>
          </a:xfrm>
          <a:prstGeom prst="rect">
            <a:avLst/>
          </a:prstGeom>
        </p:spPr>
        <p:txBody>
          <a:bodyPr vert="horz" wrap="square" lIns="0" tIns="44824" rIns="0" bIns="0" rtlCol="0">
            <a:spAutoFit/>
          </a:bodyPr>
          <a:lstStyle/>
          <a:p>
            <a:pPr marL="277360" marR="375977" indent="-266714" algn="just">
              <a:spcBef>
                <a:spcPts val="353"/>
              </a:spcBef>
              <a:spcAft>
                <a:spcPts val="600"/>
              </a:spcAft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Also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symmetric</a:t>
            </a:r>
            <a:r>
              <a:rPr sz="2400" u="sng" spc="71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multiprocessors</a:t>
            </a:r>
            <a:r>
              <a:rPr sz="2400" u="sng" spc="71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(SMPs)</a:t>
            </a:r>
            <a:r>
              <a:rPr sz="2400" spc="4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because 	</a:t>
            </a: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symmetric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relationship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all </a:t>
            </a:r>
            <a:r>
              <a:rPr sz="2400" spc="-9" dirty="0">
                <a:latin typeface="Calibri"/>
                <a:cs typeface="Calibri"/>
              </a:rPr>
              <a:t>processors</a:t>
            </a:r>
            <a:endParaRPr sz="2400" dirty="0">
              <a:latin typeface="Calibri"/>
              <a:cs typeface="Calibri"/>
            </a:endParaRPr>
          </a:p>
          <a:p>
            <a:pPr marL="278481" marR="42585" indent="-267835">
              <a:spcBef>
                <a:spcPts val="833"/>
              </a:spcBef>
              <a:spcAft>
                <a:spcPts val="600"/>
              </a:spcAft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Large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caches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satisfy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memory </a:t>
            </a:r>
            <a:r>
              <a:rPr sz="2400" dirty="0">
                <a:latin typeface="Calibri"/>
                <a:cs typeface="Calibri"/>
              </a:rPr>
              <a:t>demands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small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(&lt;17)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processors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spc="-44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single,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shared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bus</a:t>
            </a:r>
            <a:endParaRPr sz="2400" dirty="0">
              <a:latin typeface="Calibri"/>
              <a:cs typeface="Calibri"/>
            </a:endParaRPr>
          </a:p>
          <a:p>
            <a:pPr marL="278481" marR="4483" indent="-267835">
              <a:spcBef>
                <a:spcPts val="838"/>
              </a:spcBef>
              <a:spcAft>
                <a:spcPts val="600"/>
              </a:spcAft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Can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scale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few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dozen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processors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(&lt;65)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crossbar </a:t>
            </a:r>
            <a:r>
              <a:rPr sz="2400" dirty="0">
                <a:latin typeface="Calibri"/>
                <a:cs typeface="Calibri"/>
              </a:rPr>
              <a:t>(Xbar)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switch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banks</a:t>
            </a:r>
            <a:endParaRPr sz="2400" dirty="0">
              <a:latin typeface="Calibri"/>
              <a:cs typeface="Calibri"/>
            </a:endParaRPr>
          </a:p>
          <a:p>
            <a:pPr marL="278481" marR="98057" indent="-267835">
              <a:spcBef>
                <a:spcPts val="821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Although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scaling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beyond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technically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conceivable,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it </a:t>
            </a:r>
            <a:r>
              <a:rPr sz="2400" dirty="0">
                <a:latin typeface="Calibri"/>
                <a:cs typeface="Calibri"/>
              </a:rPr>
              <a:t>becomes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less</a:t>
            </a:r>
            <a:r>
              <a:rPr sz="2400" i="1" spc="53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attractive</a:t>
            </a:r>
            <a:r>
              <a:rPr sz="2400" i="1" spc="62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as</a:t>
            </a:r>
            <a:r>
              <a:rPr sz="2400" i="1" spc="57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the</a:t>
            </a:r>
            <a:r>
              <a:rPr sz="2400" i="1" spc="57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number</a:t>
            </a:r>
            <a:r>
              <a:rPr sz="2400" i="1" spc="53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of</a:t>
            </a:r>
            <a:r>
              <a:rPr sz="2400" i="1" spc="53" dirty="0">
                <a:latin typeface="Calibri"/>
                <a:cs typeface="Calibri"/>
              </a:rPr>
              <a:t> </a:t>
            </a:r>
            <a:r>
              <a:rPr sz="2400" i="1" spc="-9" dirty="0">
                <a:latin typeface="Calibri"/>
                <a:cs typeface="Calibri"/>
              </a:rPr>
              <a:t>processors </a:t>
            </a:r>
            <a:r>
              <a:rPr sz="2400" i="1" dirty="0">
                <a:latin typeface="Calibri"/>
                <a:cs typeface="Calibri"/>
              </a:rPr>
              <a:t>sharing</a:t>
            </a:r>
            <a:r>
              <a:rPr sz="2400" i="1" spc="88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centralized</a:t>
            </a:r>
            <a:r>
              <a:rPr sz="2400" i="1" spc="88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memory</a:t>
            </a:r>
            <a:r>
              <a:rPr sz="2400" i="1" spc="84" dirty="0">
                <a:latin typeface="Calibri"/>
                <a:cs typeface="Calibri"/>
              </a:rPr>
              <a:t> </a:t>
            </a:r>
            <a:r>
              <a:rPr sz="2400" i="1" spc="-9" dirty="0">
                <a:latin typeface="Calibri"/>
                <a:cs typeface="Calibri"/>
              </a:rPr>
              <a:t>increases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79C06-DDAE-ABFD-42A6-C89EE049CAE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12</a:t>
            </a:fld>
            <a:endParaRPr lang="en-US" spc="-4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80032"/>
            <a:ext cx="7047071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Distributed</a:t>
            </a:r>
            <a:r>
              <a:rPr spc="-53" dirty="0"/>
              <a:t> </a:t>
            </a:r>
            <a:r>
              <a:rPr b="0" dirty="0">
                <a:latin typeface="Calibri"/>
                <a:cs typeface="Calibri"/>
              </a:rPr>
              <a:t>Memory</a:t>
            </a:r>
            <a:r>
              <a:rPr spc="-53" dirty="0"/>
              <a:t> </a:t>
            </a:r>
            <a:r>
              <a:rPr spc="-9" dirty="0"/>
              <a:t>Multiprocessor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9150" y="1249278"/>
            <a:ext cx="7553325" cy="3981105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Pro:</a:t>
            </a:r>
            <a:r>
              <a:rPr sz="2400" spc="4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Cost-effective</a:t>
            </a:r>
            <a:r>
              <a:rPr sz="2400" spc="6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way</a:t>
            </a:r>
            <a:r>
              <a:rPr sz="2400" spc="6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to</a:t>
            </a:r>
            <a:r>
              <a:rPr sz="2400" spc="57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scale</a:t>
            </a:r>
            <a:r>
              <a:rPr sz="2400" spc="6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memory</a:t>
            </a:r>
            <a:r>
              <a:rPr sz="2400" spc="6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3366FF"/>
                </a:solidFill>
                <a:latin typeface="Calibri"/>
                <a:cs typeface="Calibri"/>
              </a:rPr>
              <a:t>bandwidth</a:t>
            </a:r>
            <a:endParaRPr sz="2400" dirty="0">
              <a:latin typeface="Calibri"/>
              <a:cs typeface="Calibri"/>
            </a:endParaRPr>
          </a:p>
          <a:p>
            <a:pPr marL="628650" marR="4483" indent="-188913">
              <a:spcBef>
                <a:spcPts val="675"/>
              </a:spcBef>
              <a:spcAft>
                <a:spcPts val="600"/>
              </a:spcAft>
            </a:pPr>
            <a:r>
              <a:rPr sz="2200" dirty="0">
                <a:latin typeface="Calibri"/>
                <a:cs typeface="Calibri"/>
              </a:rPr>
              <a:t>–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 most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memory references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 local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memory and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 much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less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than </a:t>
            </a:r>
            <a:r>
              <a:rPr sz="2200" dirty="0">
                <a:latin typeface="Calibri"/>
                <a:cs typeface="Calibri"/>
              </a:rPr>
              <a:t>10%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memory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references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 writes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shared </a:t>
            </a:r>
            <a:r>
              <a:rPr sz="2200" spc="-9" dirty="0">
                <a:latin typeface="Calibri"/>
                <a:cs typeface="Calibri"/>
              </a:rPr>
              <a:t>variables</a:t>
            </a:r>
            <a:endParaRPr sz="2200" dirty="0">
              <a:latin typeface="Calibri"/>
              <a:cs typeface="Calibri"/>
            </a:endParaRPr>
          </a:p>
          <a:p>
            <a:pPr marL="278481" indent="-267275">
              <a:spcBef>
                <a:spcPts val="525"/>
              </a:spcBef>
              <a:spcAft>
                <a:spcPts val="1200"/>
              </a:spcAft>
              <a:buChar char="•"/>
              <a:tabLst>
                <a:tab pos="278481" algn="l"/>
              </a:tabLst>
            </a:pP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Pro:</a:t>
            </a:r>
            <a:r>
              <a:rPr sz="2400" spc="5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Reduces</a:t>
            </a:r>
            <a:r>
              <a:rPr sz="2400" spc="6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latency</a:t>
            </a:r>
            <a:r>
              <a:rPr sz="2400" spc="71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of</a:t>
            </a:r>
            <a:r>
              <a:rPr sz="2400" spc="6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3366FF"/>
                </a:solidFill>
                <a:latin typeface="Calibri"/>
                <a:cs typeface="Calibri"/>
              </a:rPr>
              <a:t>local</a:t>
            </a:r>
            <a:r>
              <a:rPr sz="2400" i="1" spc="57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memory</a:t>
            </a:r>
            <a:r>
              <a:rPr sz="2400" spc="6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3366FF"/>
                </a:solidFill>
                <a:latin typeface="Calibri"/>
                <a:cs typeface="Calibri"/>
              </a:rPr>
              <a:t>accesses</a:t>
            </a:r>
            <a:endParaRPr sz="2400" dirty="0">
              <a:latin typeface="Calibri"/>
              <a:cs typeface="Calibri"/>
            </a:endParaRPr>
          </a:p>
          <a:p>
            <a:pPr marL="278481" marR="119909" indent="-267835">
              <a:spcBef>
                <a:spcPts val="922"/>
              </a:spcBef>
              <a:spcAft>
                <a:spcPts val="600"/>
              </a:spcAft>
              <a:buChar char="•"/>
              <a:tabLst>
                <a:tab pos="278481" algn="l"/>
                <a:tab pos="934060" algn="l"/>
              </a:tabLst>
            </a:pPr>
            <a:r>
              <a:rPr sz="2400" spc="-18" dirty="0">
                <a:solidFill>
                  <a:srgbClr val="FF0000"/>
                </a:solidFill>
                <a:latin typeface="Calibri"/>
                <a:cs typeface="Calibri"/>
              </a:rPr>
              <a:t>Con: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	Communicating</a:t>
            </a:r>
            <a:r>
              <a:rPr sz="2400" spc="7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2400" spc="8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rapidly</a:t>
            </a:r>
            <a:r>
              <a:rPr sz="2400" spc="8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between</a:t>
            </a:r>
            <a:r>
              <a:rPr sz="2400" spc="9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FF0000"/>
                </a:solidFill>
                <a:latin typeface="Calibri"/>
                <a:cs typeface="Calibri"/>
              </a:rPr>
              <a:t>processors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needs</a:t>
            </a:r>
            <a:r>
              <a:rPr sz="2400" spc="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more</a:t>
            </a:r>
            <a:r>
              <a:rPr sz="2400" spc="5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complex</a:t>
            </a:r>
            <a:r>
              <a:rPr sz="2400" spc="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FF0000"/>
                </a:solidFill>
                <a:latin typeface="Calibri"/>
                <a:cs typeface="Calibri"/>
              </a:rPr>
              <a:t>hardware</a:t>
            </a:r>
            <a:endParaRPr sz="2400" dirty="0">
              <a:latin typeface="Calibri"/>
              <a:cs typeface="Calibri"/>
            </a:endParaRPr>
          </a:p>
          <a:p>
            <a:pPr marL="278481" marR="810788" indent="-267835">
              <a:spcBef>
                <a:spcPts val="715"/>
              </a:spcBef>
              <a:buChar char="•"/>
              <a:tabLst>
                <a:tab pos="278481" algn="l"/>
              </a:tabLst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Con:</a:t>
            </a:r>
            <a:r>
              <a:rPr sz="2400" spc="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Must</a:t>
            </a:r>
            <a:r>
              <a:rPr sz="2400" spc="5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change</a:t>
            </a:r>
            <a:r>
              <a:rPr sz="2400" spc="7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software</a:t>
            </a:r>
            <a:r>
              <a:rPr sz="2400" spc="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400" spc="6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take</a:t>
            </a:r>
            <a:r>
              <a:rPr sz="2400" spc="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advantage</a:t>
            </a:r>
            <a:r>
              <a:rPr sz="2400" spc="7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2" dirty="0">
                <a:solidFill>
                  <a:srgbClr val="FF0000"/>
                </a:solidFill>
                <a:latin typeface="Calibri"/>
                <a:cs typeface="Calibri"/>
              </a:rPr>
              <a:t>of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increased</a:t>
            </a:r>
            <a:r>
              <a:rPr sz="2400" spc="7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memory</a:t>
            </a:r>
            <a:r>
              <a:rPr sz="2400" spc="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2" dirty="0">
                <a:solidFill>
                  <a:srgbClr val="FF0000"/>
                </a:solidFill>
                <a:latin typeface="Calibri"/>
                <a:cs typeface="Calibri"/>
              </a:rPr>
              <a:t>BW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54E2D-B508-F2F4-F0A1-0A520FE607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13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8451" y="265803"/>
            <a:ext cx="4935149" cy="890892"/>
          </a:xfrm>
          <a:prstGeom prst="rect">
            <a:avLst/>
          </a:prstGeom>
        </p:spPr>
        <p:txBody>
          <a:bodyPr vert="horz" wrap="square" lIns="0" tIns="69476" rIns="0" bIns="0" rtlCol="0">
            <a:spAutoFit/>
          </a:bodyPr>
          <a:lstStyle/>
          <a:p>
            <a:pPr marL="11206" marR="4483">
              <a:lnSpc>
                <a:spcPts val="3177"/>
              </a:lnSpc>
              <a:spcBef>
                <a:spcPts val="547"/>
              </a:spcBef>
            </a:pPr>
            <a:r>
              <a:rPr b="0" dirty="0">
                <a:latin typeface="Calibri"/>
                <a:cs typeface="Calibri"/>
              </a:rPr>
              <a:t>Models</a:t>
            </a:r>
            <a:r>
              <a:rPr spc="-49" dirty="0"/>
              <a:t> </a:t>
            </a:r>
            <a:r>
              <a:rPr b="0" dirty="0">
                <a:latin typeface="Calibri"/>
                <a:cs typeface="Calibri"/>
              </a:rPr>
              <a:t>for</a:t>
            </a:r>
            <a:r>
              <a:rPr spc="-49" dirty="0"/>
              <a:t> </a:t>
            </a:r>
            <a:r>
              <a:rPr b="0" dirty="0">
                <a:latin typeface="Calibri"/>
                <a:cs typeface="Calibri"/>
              </a:rPr>
              <a:t>Communication</a:t>
            </a:r>
            <a:r>
              <a:rPr spc="-44" dirty="0"/>
              <a:t> </a:t>
            </a:r>
            <a:r>
              <a:rPr spc="-22" dirty="0"/>
              <a:t>and </a:t>
            </a:r>
            <a:r>
              <a:rPr b="0" dirty="0">
                <a:latin typeface="Calibri"/>
                <a:cs typeface="Calibri"/>
              </a:rPr>
              <a:t>Memory</a:t>
            </a:r>
            <a:r>
              <a:rPr spc="-66" dirty="0"/>
              <a:t> </a:t>
            </a:r>
            <a:r>
              <a:rPr spc="-9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8676" y="1272427"/>
            <a:ext cx="8086724" cy="5211548"/>
          </a:xfrm>
          <a:prstGeom prst="rect">
            <a:avLst/>
          </a:prstGeom>
        </p:spPr>
        <p:txBody>
          <a:bodyPr vert="horz" wrap="square" lIns="0" tIns="44824" rIns="0" bIns="0" rtlCol="0">
            <a:spAutoFit/>
          </a:bodyPr>
          <a:lstStyle/>
          <a:p>
            <a:pPr marL="278481" marR="4483" indent="-267835">
              <a:lnSpc>
                <a:spcPct val="105000"/>
              </a:lnSpc>
              <a:spcBef>
                <a:spcPts val="353"/>
              </a:spcBef>
              <a:buChar char="•"/>
              <a:tabLst>
                <a:tab pos="278481" algn="l"/>
              </a:tabLst>
            </a:pPr>
            <a:r>
              <a:rPr sz="2200" dirty="0">
                <a:latin typeface="Calibri"/>
                <a:cs typeface="Calibri"/>
              </a:rPr>
              <a:t>Communication</a:t>
            </a:r>
            <a:r>
              <a:rPr sz="2200" spc="7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occurs</a:t>
            </a:r>
            <a:r>
              <a:rPr sz="2200" spc="7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7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explicitly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passing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(high</a:t>
            </a:r>
            <a:r>
              <a:rPr sz="2200" spc="7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latency) </a:t>
            </a:r>
            <a:r>
              <a:rPr sz="2200" dirty="0">
                <a:latin typeface="Calibri"/>
                <a:cs typeface="Calibri"/>
              </a:rPr>
              <a:t>messages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among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2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processors:</a:t>
            </a:r>
            <a:r>
              <a:rPr sz="2200" spc="106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message-</a:t>
            </a:r>
            <a:r>
              <a:rPr sz="2200" b="1" spc="-9" dirty="0">
                <a:latin typeface="Calibri"/>
                <a:cs typeface="Calibri"/>
              </a:rPr>
              <a:t>passing multiprocessors</a:t>
            </a:r>
            <a:endParaRPr sz="2200" dirty="0">
              <a:latin typeface="Calibri"/>
              <a:cs typeface="Calibri"/>
            </a:endParaRPr>
          </a:p>
          <a:p>
            <a:pPr marL="651657" marR="373175" lvl="1" indent="-212363">
              <a:lnSpc>
                <a:spcPct val="105000"/>
              </a:lnSpc>
              <a:spcBef>
                <a:spcPts val="609"/>
              </a:spcBef>
              <a:spcAft>
                <a:spcPts val="600"/>
              </a:spcAft>
              <a:buChar char="–"/>
              <a:tabLst>
                <a:tab pos="653338" algn="l"/>
              </a:tabLst>
            </a:pPr>
            <a:r>
              <a:rPr sz="2000" dirty="0">
                <a:latin typeface="Calibri"/>
                <a:cs typeface="Calibri"/>
              </a:rPr>
              <a:t>e.g., </a:t>
            </a:r>
            <a:r>
              <a:rPr sz="2000" spc="-9" dirty="0">
                <a:latin typeface="Calibri"/>
                <a:cs typeface="Calibri"/>
              </a:rPr>
              <a:t>warehouse-</a:t>
            </a:r>
            <a:r>
              <a:rPr sz="2000" dirty="0">
                <a:latin typeface="Calibri"/>
                <a:cs typeface="Calibri"/>
              </a:rPr>
              <a:t>scale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computers: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processor cannot </a:t>
            </a:r>
            <a:r>
              <a:rPr sz="2000" spc="-22" dirty="0">
                <a:latin typeface="Calibri"/>
                <a:cs typeface="Calibri"/>
              </a:rPr>
              <a:t>be 	</a:t>
            </a:r>
            <a:r>
              <a:rPr sz="2000" dirty="0">
                <a:latin typeface="Calibri"/>
                <a:cs typeface="Calibri"/>
              </a:rPr>
              <a:t>directly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accessed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another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processor</a:t>
            </a:r>
            <a:endParaRPr sz="2000" dirty="0">
              <a:latin typeface="Calibri"/>
              <a:cs typeface="Calibri"/>
            </a:endParaRPr>
          </a:p>
          <a:p>
            <a:pPr marL="278481" marR="260551" indent="-267835">
              <a:lnSpc>
                <a:spcPct val="105000"/>
              </a:lnSpc>
              <a:spcBef>
                <a:spcPts val="781"/>
              </a:spcBef>
              <a:buChar char="•"/>
              <a:tabLst>
                <a:tab pos="278481" algn="l"/>
              </a:tabLst>
            </a:pPr>
            <a:r>
              <a:rPr sz="2200" dirty="0">
                <a:latin typeface="Calibri"/>
                <a:cs typeface="Calibri"/>
              </a:rPr>
              <a:t>Communication</a:t>
            </a:r>
            <a:r>
              <a:rPr sz="2200" spc="8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occurs</a:t>
            </a:r>
            <a:r>
              <a:rPr sz="2200" spc="8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through</a:t>
            </a:r>
            <a:r>
              <a:rPr sz="2200" spc="8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79" dirty="0"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shared</a:t>
            </a:r>
            <a:r>
              <a:rPr sz="2200" spc="8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address</a:t>
            </a:r>
            <a:r>
              <a:rPr sz="2200" spc="8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FF0000"/>
                </a:solidFill>
                <a:latin typeface="Calibri"/>
                <a:cs typeface="Calibri"/>
              </a:rPr>
              <a:t>space </a:t>
            </a:r>
            <a:r>
              <a:rPr sz="2200" dirty="0">
                <a:latin typeface="Calibri"/>
                <a:cs typeface="Calibri"/>
              </a:rPr>
              <a:t>(via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loads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7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stores):</a:t>
            </a:r>
            <a:r>
              <a:rPr sz="2200" spc="71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distributed</a:t>
            </a:r>
            <a:r>
              <a:rPr sz="2200" b="1" spc="84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shared</a:t>
            </a:r>
            <a:r>
              <a:rPr sz="2200" b="1" spc="84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memory </a:t>
            </a:r>
            <a:r>
              <a:rPr sz="2200" b="1" dirty="0">
                <a:latin typeface="Calibri"/>
                <a:cs typeface="Calibri"/>
              </a:rPr>
              <a:t>multiprocessors</a:t>
            </a:r>
            <a:r>
              <a:rPr sz="2200" b="1" spc="176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either</a:t>
            </a:r>
            <a:endParaRPr sz="2200" dirty="0">
              <a:latin typeface="Calibri"/>
              <a:cs typeface="Calibri"/>
            </a:endParaRPr>
          </a:p>
          <a:p>
            <a:pPr marL="651657" marR="334513" lvl="1" indent="-212363">
              <a:lnSpc>
                <a:spcPct val="105000"/>
              </a:lnSpc>
              <a:spcBef>
                <a:spcPts val="803"/>
              </a:spcBef>
              <a:buChar char="–"/>
              <a:tabLst>
                <a:tab pos="653338" algn="l"/>
              </a:tabLst>
            </a:pPr>
            <a:r>
              <a:rPr sz="2000" dirty="0">
                <a:latin typeface="Calibri"/>
                <a:cs typeface="Calibri"/>
              </a:rPr>
              <a:t>UMA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(Uniform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time)</a:t>
            </a:r>
            <a:r>
              <a:rPr sz="2000" spc="-4" dirty="0">
                <a:latin typeface="Calibri"/>
                <a:cs typeface="Calibri"/>
              </a:rPr>
              <a:t> </a:t>
            </a:r>
            <a:br>
              <a:rPr lang="en-US" sz="2000" spc="-4" dirty="0">
                <a:latin typeface="Calibri"/>
                <a:cs typeface="Calibri"/>
              </a:rPr>
            </a:br>
            <a:r>
              <a:rPr sz="2000" dirty="0">
                <a:latin typeface="Calibri"/>
                <a:cs typeface="Calibri"/>
              </a:rPr>
              <a:t>for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shared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address,</a:t>
            </a:r>
            <a:r>
              <a:rPr sz="2000" spc="-9" dirty="0">
                <a:latin typeface="Calibri"/>
                <a:cs typeface="Calibri"/>
              </a:rPr>
              <a:t> centralized </a:t>
            </a:r>
            <a:r>
              <a:rPr sz="2000" dirty="0">
                <a:latin typeface="Calibri"/>
                <a:cs typeface="Calibri"/>
              </a:rPr>
              <a:t>memory MP;</a:t>
            </a:r>
            <a:r>
              <a:rPr sz="2000" spc="9" dirty="0">
                <a:latin typeface="Calibri"/>
                <a:cs typeface="Calibri"/>
              </a:rPr>
              <a:t> </a:t>
            </a:r>
            <a:br>
              <a:rPr lang="en-US" sz="2000" spc="9" dirty="0">
                <a:latin typeface="Calibri"/>
                <a:cs typeface="Calibri"/>
              </a:rPr>
            </a:br>
            <a:r>
              <a:rPr sz="2000" dirty="0">
                <a:latin typeface="Calibri"/>
                <a:cs typeface="Calibri"/>
              </a:rPr>
              <a:t>Symmetric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shared-</a:t>
            </a:r>
            <a:r>
              <a:rPr sz="2000" dirty="0">
                <a:latin typeface="Calibri"/>
                <a:cs typeface="Calibri"/>
              </a:rPr>
              <a:t>memory </a:t>
            </a:r>
            <a:r>
              <a:rPr sz="2000" spc="-9" dirty="0">
                <a:latin typeface="Calibri"/>
                <a:cs typeface="Calibri"/>
              </a:rPr>
              <a:t>architecture</a:t>
            </a:r>
            <a:endParaRPr sz="2000" dirty="0">
              <a:latin typeface="Calibri"/>
              <a:cs typeface="Calibri"/>
            </a:endParaRPr>
          </a:p>
          <a:p>
            <a:pPr marL="651657" marR="202277" lvl="1" indent="-212363">
              <a:lnSpc>
                <a:spcPct val="105000"/>
              </a:lnSpc>
              <a:spcBef>
                <a:spcPts val="578"/>
              </a:spcBef>
              <a:buChar char="–"/>
              <a:tabLst>
                <a:tab pos="653338" algn="l"/>
              </a:tabLst>
            </a:pPr>
            <a:r>
              <a:rPr sz="2000" dirty="0">
                <a:latin typeface="Calibri"/>
                <a:cs typeface="Calibri"/>
              </a:rPr>
              <a:t>NUMA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(Non-Uniform Memory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 multiprocessor)</a:t>
            </a:r>
            <a:r>
              <a:rPr sz="2000" spc="-4" dirty="0">
                <a:latin typeface="Calibri"/>
                <a:cs typeface="Calibri"/>
              </a:rPr>
              <a:t> </a:t>
            </a:r>
            <a:br>
              <a:rPr lang="en-US" sz="2000" spc="-4" dirty="0">
                <a:latin typeface="Calibri"/>
                <a:cs typeface="Calibri"/>
              </a:rPr>
            </a:br>
            <a:r>
              <a:rPr sz="2000" dirty="0">
                <a:latin typeface="Calibri"/>
                <a:cs typeface="Calibri"/>
              </a:rPr>
              <a:t>for</a:t>
            </a:r>
            <a:r>
              <a:rPr sz="2000" spc="-9" dirty="0">
                <a:latin typeface="Calibri"/>
                <a:cs typeface="Calibri"/>
              </a:rPr>
              <a:t> shared </a:t>
            </a:r>
            <a:r>
              <a:rPr sz="2000" dirty="0">
                <a:latin typeface="Calibri"/>
                <a:cs typeface="Calibri"/>
              </a:rPr>
              <a:t>address,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distributed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MP;</a:t>
            </a:r>
            <a:r>
              <a:rPr sz="2000" spc="-13" dirty="0">
                <a:latin typeface="Calibri"/>
                <a:cs typeface="Calibri"/>
              </a:rPr>
              <a:t> </a:t>
            </a:r>
            <a:br>
              <a:rPr lang="en-US" sz="2000" spc="-13" dirty="0">
                <a:latin typeface="Calibri"/>
                <a:cs typeface="Calibri"/>
              </a:rPr>
            </a:br>
            <a:r>
              <a:rPr sz="2000" dirty="0">
                <a:latin typeface="Calibri"/>
                <a:cs typeface="Calibri"/>
              </a:rPr>
              <a:t>Distributed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shared-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(DSM)</a:t>
            </a:r>
            <a:r>
              <a:rPr lang="en-US" sz="2000" spc="-9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architecture</a:t>
            </a:r>
            <a:endParaRPr sz="2000" dirty="0">
              <a:latin typeface="Calibri"/>
              <a:cs typeface="Calibri"/>
            </a:endParaRPr>
          </a:p>
          <a:p>
            <a:pPr marL="651657" marR="194992" lvl="1" indent="-212363">
              <a:lnSpc>
                <a:spcPct val="105000"/>
              </a:lnSpc>
              <a:spcBef>
                <a:spcPts val="737"/>
              </a:spcBef>
              <a:buChar char="–"/>
              <a:tabLst>
                <a:tab pos="653338" algn="l"/>
              </a:tabLst>
            </a:pPr>
            <a:r>
              <a:rPr sz="2000" dirty="0">
                <a:latin typeface="Calibri"/>
                <a:cs typeface="Calibri"/>
              </a:rPr>
              <a:t>(In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past,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confusion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whether</a:t>
            </a:r>
            <a:r>
              <a:rPr sz="2000" spc="-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“sharing”</a:t>
            </a:r>
            <a:r>
              <a:rPr sz="2000" spc="-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meant</a:t>
            </a:r>
            <a:r>
              <a:rPr sz="2000" spc="-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sharing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physical</a:t>
            </a:r>
            <a:r>
              <a:rPr sz="2000" spc="-22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memory 	</a:t>
            </a:r>
            <a:r>
              <a:rPr sz="2000" dirty="0">
                <a:latin typeface="Calibri"/>
                <a:cs typeface="Calibri"/>
              </a:rPr>
              <a:t>UMA</a:t>
            </a:r>
            <a:r>
              <a:rPr sz="2000" spc="-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{Symmetric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MP</a:t>
            </a:r>
            <a:r>
              <a:rPr sz="2000" spc="-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“dancehall”}</a:t>
            </a:r>
            <a:r>
              <a:rPr sz="2000" spc="-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sharing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address</a:t>
            </a:r>
            <a:r>
              <a:rPr sz="2000" spc="-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space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NUMA)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6EC45C-CC11-7194-5126-F091DC0A7FC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14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Challenges</a:t>
            </a:r>
            <a:r>
              <a:rPr spc="-31" dirty="0"/>
              <a:t> </a:t>
            </a:r>
            <a:r>
              <a:rPr b="0" dirty="0">
                <a:latin typeface="Calibri"/>
                <a:cs typeface="Calibri"/>
              </a:rPr>
              <a:t>of</a:t>
            </a:r>
            <a:r>
              <a:rPr spc="-26" dirty="0"/>
              <a:t> </a:t>
            </a:r>
            <a:r>
              <a:rPr b="0" dirty="0">
                <a:latin typeface="Calibri"/>
                <a:cs typeface="Calibri"/>
              </a:rPr>
              <a:t>Parallel</a:t>
            </a:r>
            <a:r>
              <a:rPr spc="-22" dirty="0"/>
              <a:t> </a:t>
            </a:r>
            <a:r>
              <a:rPr spc="-9" dirty="0"/>
              <a:t>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8675" y="1320053"/>
            <a:ext cx="8039308" cy="1725170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707129" indent="-267835"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200" dirty="0">
                <a:latin typeface="Calibri"/>
                <a:cs typeface="Calibri"/>
              </a:rPr>
              <a:t>First</a:t>
            </a:r>
            <a:r>
              <a:rPr sz="2200" spc="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challenge</a:t>
            </a:r>
            <a:r>
              <a:rPr lang="en-US" sz="2200" spc="49" dirty="0">
                <a:latin typeface="Calibri"/>
                <a:cs typeface="Calibri"/>
              </a:rPr>
              <a:t>: </a:t>
            </a:r>
            <a:r>
              <a:rPr sz="2200" b="1" dirty="0">
                <a:latin typeface="Calibri"/>
                <a:cs typeface="Calibri"/>
              </a:rPr>
              <a:t>%</a:t>
            </a:r>
            <a:r>
              <a:rPr sz="2200" b="1" spc="49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of</a:t>
            </a:r>
            <a:r>
              <a:rPr sz="2200" b="1" spc="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program</a:t>
            </a:r>
            <a:r>
              <a:rPr lang="en-US" sz="2200" b="1" dirty="0">
                <a:latin typeface="Calibri"/>
                <a:cs typeface="Calibri"/>
              </a:rPr>
              <a:t> that</a:t>
            </a:r>
            <a:r>
              <a:rPr sz="2200" b="1" spc="57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is</a:t>
            </a:r>
            <a:r>
              <a:rPr sz="2200" b="1" spc="40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inherently sequential</a:t>
            </a:r>
            <a:endParaRPr sz="2200" dirty="0">
              <a:latin typeface="Calibri"/>
              <a:cs typeface="Calibri"/>
            </a:endParaRPr>
          </a:p>
          <a:p>
            <a:pPr marL="278481" marR="4483" indent="-267835">
              <a:spcBef>
                <a:spcPts val="874"/>
              </a:spcBef>
              <a:spcAft>
                <a:spcPts val="1200"/>
              </a:spcAft>
              <a:buChar char="•"/>
              <a:tabLst>
                <a:tab pos="278481" algn="l"/>
              </a:tabLst>
            </a:pPr>
            <a:r>
              <a:rPr sz="2200" dirty="0">
                <a:latin typeface="Calibri"/>
                <a:cs typeface="Calibri"/>
              </a:rPr>
              <a:t>For</a:t>
            </a:r>
            <a:r>
              <a:rPr sz="2200" spc="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80X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speedup</a:t>
            </a:r>
            <a:r>
              <a:rPr sz="2200" spc="7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7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100</a:t>
            </a:r>
            <a:r>
              <a:rPr sz="2200" spc="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processors</a:t>
            </a:r>
            <a:r>
              <a:rPr lang="en-US" sz="2200" dirty="0">
                <a:latin typeface="Calibri"/>
                <a:cs typeface="Calibri"/>
              </a:rPr>
              <a:t>:</a:t>
            </a:r>
            <a:r>
              <a:rPr sz="2200" spc="62" dirty="0">
                <a:latin typeface="Calibri"/>
                <a:cs typeface="Calibri"/>
              </a:rPr>
              <a:t> </a:t>
            </a:r>
            <a:br>
              <a:rPr lang="en-US" sz="2200" spc="62" dirty="0">
                <a:latin typeface="Calibri"/>
                <a:cs typeface="Calibri"/>
              </a:rPr>
            </a:br>
            <a:r>
              <a:rPr lang="en-US" sz="2200" spc="62" dirty="0">
                <a:latin typeface="Calibri"/>
                <a:cs typeface="Calibri"/>
              </a:rPr>
              <a:t>W</a:t>
            </a:r>
            <a:r>
              <a:rPr sz="2200" dirty="0">
                <a:latin typeface="Calibri"/>
                <a:cs typeface="Calibri"/>
              </a:rPr>
              <a:t>hat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fraction</a:t>
            </a:r>
            <a:r>
              <a:rPr sz="2200" spc="79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of </a:t>
            </a:r>
            <a:r>
              <a:rPr sz="2200" dirty="0">
                <a:latin typeface="Calibri"/>
                <a:cs typeface="Calibri"/>
              </a:rPr>
              <a:t>original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program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sequential?</a:t>
            </a:r>
            <a:endParaRPr sz="2200" dirty="0">
              <a:latin typeface="Calibri"/>
              <a:cs typeface="Calibri"/>
            </a:endParaRPr>
          </a:p>
          <a:p>
            <a:pPr marL="761480" lvl="1" indent="-428088">
              <a:spcBef>
                <a:spcPts val="410"/>
              </a:spcBef>
              <a:buClr>
                <a:srgbClr val="000090"/>
              </a:buClr>
              <a:buSzPct val="89473"/>
              <a:buAutoNum type="alphaLcPeriod"/>
              <a:tabLst>
                <a:tab pos="761480" algn="l"/>
              </a:tabLst>
            </a:pPr>
            <a:r>
              <a:rPr sz="2200" spc="-22" dirty="0">
                <a:latin typeface="Calibri"/>
                <a:cs typeface="Calibri"/>
              </a:rPr>
              <a:t>10%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2554" y="3057808"/>
            <a:ext cx="933031" cy="34987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438734" algn="l"/>
              </a:tabLst>
            </a:pPr>
            <a:r>
              <a:rPr sz="2200" spc="-22" dirty="0">
                <a:solidFill>
                  <a:srgbClr val="000090"/>
                </a:solidFill>
                <a:latin typeface="Calibri"/>
                <a:cs typeface="Calibri"/>
              </a:rPr>
              <a:t>b.</a:t>
            </a:r>
            <a:r>
              <a:rPr sz="2200" dirty="0">
                <a:solidFill>
                  <a:srgbClr val="000090"/>
                </a:solidFill>
                <a:latin typeface="Calibri"/>
                <a:cs typeface="Calibri"/>
              </a:rPr>
              <a:t>	</a:t>
            </a:r>
            <a:r>
              <a:rPr sz="2200" spc="-22" dirty="0">
                <a:latin typeface="Calibri"/>
                <a:cs typeface="Calibri"/>
              </a:rPr>
              <a:t>5%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2554" y="3410570"/>
            <a:ext cx="933031" cy="34987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438734" algn="l"/>
              </a:tabLst>
            </a:pPr>
            <a:r>
              <a:rPr sz="2200" spc="-22" dirty="0">
                <a:solidFill>
                  <a:srgbClr val="000090"/>
                </a:solidFill>
                <a:latin typeface="Calibri"/>
                <a:cs typeface="Calibri"/>
              </a:rPr>
              <a:t>c.</a:t>
            </a:r>
            <a:r>
              <a:rPr sz="2200" dirty="0">
                <a:solidFill>
                  <a:srgbClr val="000090"/>
                </a:solidFill>
                <a:latin typeface="Calibri"/>
                <a:cs typeface="Calibri"/>
              </a:rPr>
              <a:t>	</a:t>
            </a:r>
            <a:r>
              <a:rPr sz="2200" spc="-22" dirty="0">
                <a:latin typeface="Calibri"/>
                <a:cs typeface="Calibri"/>
              </a:rPr>
              <a:t>1%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2555" y="3759409"/>
            <a:ext cx="1184090" cy="34987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438734" algn="l"/>
              </a:tabLst>
            </a:pPr>
            <a:r>
              <a:rPr sz="2200" spc="-22" dirty="0">
                <a:solidFill>
                  <a:srgbClr val="000090"/>
                </a:solidFill>
                <a:latin typeface="Calibri"/>
                <a:cs typeface="Calibri"/>
              </a:rPr>
              <a:t>d.</a:t>
            </a:r>
            <a:r>
              <a:rPr sz="2200" dirty="0">
                <a:solidFill>
                  <a:srgbClr val="000090"/>
                </a:solidFill>
                <a:latin typeface="Calibri"/>
                <a:cs typeface="Calibri"/>
              </a:rPr>
              <a:t>	</a:t>
            </a:r>
            <a:r>
              <a:rPr sz="2200" spc="-18" dirty="0">
                <a:latin typeface="Calibri"/>
                <a:cs typeface="Calibri"/>
              </a:rPr>
              <a:t>1/4%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74346" y="3384152"/>
            <a:ext cx="5321930" cy="243063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974346" y="2993072"/>
            <a:ext cx="2009775" cy="35076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06" b="1" dirty="0">
                <a:solidFill>
                  <a:srgbClr val="0332B7"/>
                </a:solidFill>
                <a:latin typeface="Arial"/>
                <a:cs typeface="Arial"/>
              </a:rPr>
              <a:t>Amdahl</a:t>
            </a:r>
            <a:r>
              <a:rPr sz="3243" baseline="1133" dirty="0">
                <a:solidFill>
                  <a:srgbClr val="0332B7"/>
                </a:solidFill>
                <a:latin typeface="MS PGothic"/>
                <a:cs typeface="MS PGothic"/>
              </a:rPr>
              <a:t>’</a:t>
            </a:r>
            <a:r>
              <a:rPr sz="2206" b="1" dirty="0">
                <a:solidFill>
                  <a:srgbClr val="0332B7"/>
                </a:solidFill>
                <a:latin typeface="Arial"/>
                <a:cs typeface="Arial"/>
              </a:rPr>
              <a:t>s</a:t>
            </a:r>
            <a:r>
              <a:rPr sz="2206" b="1" spc="243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206" b="1" spc="-22" dirty="0">
                <a:solidFill>
                  <a:srgbClr val="0332B7"/>
                </a:solidFill>
                <a:latin typeface="Arial"/>
                <a:cs typeface="Arial"/>
              </a:rPr>
              <a:t>Law</a:t>
            </a:r>
            <a:endParaRPr sz="2206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74346" y="5968632"/>
            <a:ext cx="3546101" cy="41867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647" b="1" spc="-9" dirty="0">
                <a:solidFill>
                  <a:srgbClr val="FF0000"/>
                </a:solidFill>
                <a:latin typeface="Times New Roman"/>
                <a:cs typeface="Times New Roman"/>
              </a:rPr>
              <a:t>Insufficient</a:t>
            </a:r>
            <a:r>
              <a:rPr sz="2647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47" b="1" spc="-9" dirty="0">
                <a:solidFill>
                  <a:srgbClr val="FF0000"/>
                </a:solidFill>
                <a:latin typeface="Times New Roman"/>
                <a:cs typeface="Times New Roman"/>
              </a:rPr>
              <a:t>parallelism!!</a:t>
            </a:r>
            <a:endParaRPr sz="2647" dirty="0">
              <a:latin typeface="Times New Roman"/>
              <a:cs typeface="Times New Roman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112A9EB-45B6-C2D6-8624-2B2808B8934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15</a:t>
            </a:fld>
            <a:endParaRPr lang="en-US" spc="-44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2DE6867-738F-54F8-9E8A-7BA3F76DD429}"/>
              </a:ext>
            </a:extLst>
          </p:cNvPr>
          <p:cNvSpPr/>
          <p:nvPr/>
        </p:nvSpPr>
        <p:spPr>
          <a:xfrm>
            <a:off x="950191" y="3734009"/>
            <a:ext cx="1414554" cy="45710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0507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Challenges</a:t>
            </a:r>
            <a:r>
              <a:rPr spc="-31" dirty="0"/>
              <a:t> </a:t>
            </a:r>
            <a:r>
              <a:rPr b="0" dirty="0">
                <a:latin typeface="Calibri"/>
                <a:cs typeface="Calibri"/>
              </a:rPr>
              <a:t>of</a:t>
            </a:r>
            <a:r>
              <a:rPr spc="-26" dirty="0"/>
              <a:t> </a:t>
            </a:r>
            <a:r>
              <a:rPr b="0" dirty="0">
                <a:latin typeface="Calibri"/>
                <a:cs typeface="Calibri"/>
              </a:rPr>
              <a:t>Parallel</a:t>
            </a:r>
            <a:r>
              <a:rPr spc="-22" dirty="0"/>
              <a:t> </a:t>
            </a:r>
            <a:r>
              <a:rPr spc="-9" dirty="0"/>
              <a:t>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9150" y="1252817"/>
            <a:ext cx="7584402" cy="2315717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278481" indent="-267275">
              <a:spcBef>
                <a:spcPts val="618"/>
              </a:spcBef>
              <a:buChar char="•"/>
              <a:tabLst>
                <a:tab pos="278481" algn="l"/>
              </a:tabLst>
            </a:pPr>
            <a:r>
              <a:rPr lang="en-US" sz="2200" dirty="0">
                <a:latin typeface="Calibri"/>
                <a:cs typeface="Calibri"/>
              </a:rPr>
              <a:t>Second c</a:t>
            </a:r>
            <a:r>
              <a:rPr sz="2200" dirty="0">
                <a:latin typeface="Calibri"/>
                <a:cs typeface="Calibri"/>
              </a:rPr>
              <a:t>hallenge</a:t>
            </a:r>
            <a:r>
              <a:rPr lang="en-US" sz="2200" spc="49" dirty="0">
                <a:latin typeface="Calibri"/>
                <a:cs typeface="Calibri"/>
              </a:rPr>
              <a:t>:</a:t>
            </a:r>
            <a:r>
              <a:rPr sz="2200" spc="44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long</a:t>
            </a:r>
            <a:r>
              <a:rPr sz="2200" b="1" spc="44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latency</a:t>
            </a:r>
            <a:r>
              <a:rPr sz="2200" b="1" spc="49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to</a:t>
            </a:r>
            <a:r>
              <a:rPr sz="2200" b="1" spc="44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remote</a:t>
            </a:r>
            <a:r>
              <a:rPr sz="2200" b="1" spc="53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memory</a:t>
            </a:r>
            <a:endParaRPr sz="2200" dirty="0">
              <a:latin typeface="Calibri"/>
              <a:cs typeface="Calibri"/>
            </a:endParaRPr>
          </a:p>
          <a:p>
            <a:pPr marL="278481" marR="4483" indent="-267835">
              <a:spcBef>
                <a:spcPts val="750"/>
              </a:spcBef>
              <a:buChar char="•"/>
              <a:tabLst>
                <a:tab pos="278481" algn="l"/>
              </a:tabLst>
            </a:pPr>
            <a:r>
              <a:rPr sz="2200" dirty="0">
                <a:latin typeface="Calibri"/>
                <a:cs typeface="Calibri"/>
              </a:rPr>
              <a:t>Suppose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32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CPU</a:t>
            </a:r>
            <a:r>
              <a:rPr sz="2200" spc="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MP,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3.33GHz,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200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ns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(=</a:t>
            </a:r>
            <a:r>
              <a:rPr sz="2200" spc="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666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clocks)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for </a:t>
            </a:r>
            <a:r>
              <a:rPr sz="2200" dirty="0">
                <a:latin typeface="Calibri"/>
                <a:cs typeface="Calibri"/>
              </a:rPr>
              <a:t>remote</a:t>
            </a:r>
            <a:r>
              <a:rPr sz="2200" spc="7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memory</a:t>
            </a:r>
            <a:r>
              <a:rPr sz="2200" spc="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access,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local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memory</a:t>
            </a:r>
            <a:r>
              <a:rPr sz="2200" spc="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references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are </a:t>
            </a:r>
            <a:r>
              <a:rPr sz="2200" dirty="0">
                <a:latin typeface="Calibri"/>
                <a:cs typeface="Calibri"/>
              </a:rPr>
              <a:t>hit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(assume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HT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0),</a:t>
            </a:r>
            <a:r>
              <a:rPr sz="2200" spc="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128" dirty="0">
                <a:latin typeface="Calibri"/>
                <a:cs typeface="Calibri"/>
              </a:rPr>
              <a:t> </a:t>
            </a:r>
            <a:r>
              <a:rPr sz="2200" u="heavy" spc="-39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base</a:t>
            </a:r>
            <a:r>
              <a:rPr sz="2200" u="sng" spc="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CPI</a:t>
            </a:r>
            <a:r>
              <a:rPr sz="2200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2200" u="sng" spc="3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spc="-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0.5</a:t>
            </a:r>
            <a:r>
              <a:rPr sz="2200" spc="-18" dirty="0">
                <a:latin typeface="Calibri"/>
                <a:cs typeface="Calibri"/>
              </a:rPr>
              <a:t>.</a:t>
            </a:r>
            <a:endParaRPr lang="en-US" sz="2200" spc="-18" dirty="0">
              <a:latin typeface="Calibri"/>
              <a:cs typeface="Calibri"/>
            </a:endParaRPr>
          </a:p>
          <a:p>
            <a:pPr marL="278481" marR="4483" indent="-267835">
              <a:spcBef>
                <a:spcPts val="750"/>
              </a:spcBef>
              <a:buChar char="•"/>
              <a:tabLst>
                <a:tab pos="278481" algn="l"/>
              </a:tabLst>
            </a:pPr>
            <a:r>
              <a:rPr sz="2200" dirty="0">
                <a:latin typeface="Calibri"/>
                <a:cs typeface="Calibri"/>
              </a:rPr>
              <a:t>How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much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faster</a:t>
            </a:r>
            <a:r>
              <a:rPr lang="en-US" sz="2200" dirty="0">
                <a:latin typeface="Calibri"/>
                <a:cs typeface="Calibri"/>
              </a:rPr>
              <a:t> is the system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0.2%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instructions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access</a:t>
            </a:r>
            <a:r>
              <a:rPr lang="en-US"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remote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lang="en-US" sz="2200" dirty="0">
                <a:latin typeface="Calibri"/>
                <a:cs typeface="Calibri"/>
              </a:rPr>
              <a:t>,</a:t>
            </a:r>
            <a:r>
              <a:rPr sz="2200" spc="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were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local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access</a:t>
            </a:r>
            <a:r>
              <a:rPr lang="en-US" sz="2200" spc="-9" dirty="0">
                <a:latin typeface="Calibri"/>
                <a:cs typeface="Calibri"/>
              </a:rPr>
              <a:t> instead</a:t>
            </a:r>
            <a:r>
              <a:rPr sz="2200" spc="-9" dirty="0">
                <a:latin typeface="Calibri"/>
                <a:cs typeface="Calibri"/>
              </a:rPr>
              <a:t>?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2555" y="3746794"/>
            <a:ext cx="1199574" cy="1178226"/>
          </a:xfrm>
          <a:prstGeom prst="rect">
            <a:avLst/>
          </a:prstGeom>
        </p:spPr>
        <p:txBody>
          <a:bodyPr vert="horz" wrap="square" lIns="0" tIns="59391" rIns="0" bIns="0" rtlCol="0">
            <a:spAutoFit/>
          </a:bodyPr>
          <a:lstStyle/>
          <a:p>
            <a:pPr marL="400050" indent="-400050">
              <a:spcBef>
                <a:spcPts val="468"/>
              </a:spcBef>
              <a:buClr>
                <a:srgbClr val="000090"/>
              </a:buClr>
              <a:buSzPct val="89473"/>
              <a:buAutoNum type="alphaLcPeriod"/>
              <a:tabLst>
                <a:tab pos="488042" algn="l"/>
              </a:tabLst>
            </a:pPr>
            <a:r>
              <a:rPr sz="2200" spc="-18" dirty="0">
                <a:latin typeface="Calibri"/>
                <a:cs typeface="Calibri"/>
              </a:rPr>
              <a:t>1.4X</a:t>
            </a:r>
            <a:endParaRPr sz="2200" dirty="0">
              <a:latin typeface="Calibri"/>
              <a:cs typeface="Calibri"/>
            </a:endParaRPr>
          </a:p>
          <a:p>
            <a:pPr marL="400050" indent="-400050">
              <a:spcBef>
                <a:spcPts val="379"/>
              </a:spcBef>
              <a:buClr>
                <a:srgbClr val="000090"/>
              </a:buClr>
              <a:buSzPct val="89473"/>
              <a:buAutoNum type="alphaLcPeriod"/>
              <a:tabLst>
                <a:tab pos="488042" algn="l"/>
              </a:tabLst>
            </a:pPr>
            <a:r>
              <a:rPr sz="2200" spc="-18" dirty="0">
                <a:latin typeface="Calibri"/>
                <a:cs typeface="Calibri"/>
              </a:rPr>
              <a:t>2.0X</a:t>
            </a:r>
            <a:endParaRPr sz="2200" dirty="0">
              <a:latin typeface="Calibri"/>
              <a:cs typeface="Calibri"/>
            </a:endParaRPr>
          </a:p>
          <a:p>
            <a:pPr marL="400050" indent="-400050">
              <a:spcBef>
                <a:spcPts val="361"/>
              </a:spcBef>
              <a:buClr>
                <a:srgbClr val="000090"/>
              </a:buClr>
              <a:buSzPct val="89473"/>
              <a:buAutoNum type="alphaLcPeriod"/>
              <a:tabLst>
                <a:tab pos="488042" algn="l"/>
              </a:tabLst>
            </a:pPr>
            <a:r>
              <a:rPr sz="2200" spc="-18" dirty="0">
                <a:latin typeface="Calibri"/>
                <a:cs typeface="Calibri"/>
              </a:rPr>
              <a:t>3.6X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28303" y="3843587"/>
            <a:ext cx="5675249" cy="17109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lnSpc>
                <a:spcPct val="110000"/>
              </a:lnSpc>
              <a:spcBef>
                <a:spcPts val="88"/>
              </a:spcBef>
            </a:pPr>
            <a:r>
              <a:rPr sz="2780" baseline="10582" dirty="0">
                <a:solidFill>
                  <a:srgbClr val="000090"/>
                </a:solidFill>
                <a:latin typeface="Times New Roman"/>
                <a:cs typeface="Times New Roman"/>
              </a:rPr>
              <a:t>CPI</a:t>
            </a:r>
            <a:r>
              <a:rPr sz="1235" dirty="0">
                <a:solidFill>
                  <a:srgbClr val="000090"/>
                </a:solidFill>
                <a:latin typeface="Times New Roman"/>
                <a:cs typeface="Times New Roman"/>
              </a:rPr>
              <a:t>0.2%</a:t>
            </a:r>
            <a:r>
              <a:rPr sz="1235" spc="163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780" baseline="10582" dirty="0">
                <a:solidFill>
                  <a:srgbClr val="000090"/>
                </a:solidFill>
                <a:latin typeface="Times New Roman"/>
                <a:cs typeface="Times New Roman"/>
              </a:rPr>
              <a:t>=</a:t>
            </a:r>
            <a:r>
              <a:rPr sz="2780" spc="26" baseline="10582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780" baseline="10582" dirty="0">
                <a:solidFill>
                  <a:srgbClr val="000090"/>
                </a:solidFill>
                <a:latin typeface="Times New Roman"/>
                <a:cs typeface="Times New Roman"/>
              </a:rPr>
              <a:t>Base</a:t>
            </a:r>
            <a:r>
              <a:rPr sz="2780" spc="26" baseline="10582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780" baseline="10582" dirty="0">
                <a:solidFill>
                  <a:srgbClr val="000090"/>
                </a:solidFill>
                <a:latin typeface="Times New Roman"/>
                <a:cs typeface="Times New Roman"/>
              </a:rPr>
              <a:t>CPI</a:t>
            </a:r>
            <a:r>
              <a:rPr sz="1235" dirty="0">
                <a:solidFill>
                  <a:srgbClr val="000090"/>
                </a:solidFill>
                <a:latin typeface="Times New Roman"/>
                <a:cs typeface="Times New Roman"/>
              </a:rPr>
              <a:t>(no</a:t>
            </a:r>
            <a:r>
              <a:rPr sz="1235" spc="13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235" dirty="0">
                <a:solidFill>
                  <a:srgbClr val="000090"/>
                </a:solidFill>
                <a:latin typeface="Times New Roman"/>
                <a:cs typeface="Times New Roman"/>
              </a:rPr>
              <a:t>remote</a:t>
            </a:r>
            <a:r>
              <a:rPr sz="1235" spc="13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235" dirty="0">
                <a:solidFill>
                  <a:srgbClr val="000090"/>
                </a:solidFill>
                <a:latin typeface="Times New Roman"/>
                <a:cs typeface="Times New Roman"/>
              </a:rPr>
              <a:t>access)</a:t>
            </a:r>
            <a:r>
              <a:rPr sz="1235" spc="176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2780" b="1" spc="-66" baseline="10582" dirty="0">
                <a:solidFill>
                  <a:srgbClr val="000090"/>
                </a:solidFill>
                <a:latin typeface="Times New Roman"/>
                <a:cs typeface="Times New Roman"/>
              </a:rPr>
              <a:t>+</a:t>
            </a:r>
            <a:endParaRPr sz="2780" b="1" baseline="10582" dirty="0">
              <a:latin typeface="Times New Roman"/>
              <a:cs typeface="Times New Roman"/>
            </a:endParaRPr>
          </a:p>
          <a:p>
            <a:pPr marL="889233">
              <a:lnSpc>
                <a:spcPct val="110000"/>
              </a:lnSpc>
            </a:pPr>
            <a:r>
              <a:rPr lang="en-US" sz="1853" dirty="0">
                <a:solidFill>
                  <a:srgbClr val="000090"/>
                </a:solidFill>
                <a:latin typeface="Times New Roman"/>
                <a:cs typeface="Times New Roman"/>
              </a:rPr>
              <a:t> 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Remote</a:t>
            </a:r>
            <a:r>
              <a:rPr sz="1853" spc="9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request rate</a:t>
            </a:r>
            <a:r>
              <a:rPr sz="1853" spc="9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x</a:t>
            </a:r>
            <a:r>
              <a:rPr sz="1853" spc="9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Remote</a:t>
            </a:r>
            <a:r>
              <a:rPr sz="1853" spc="9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request </a:t>
            </a:r>
            <a:r>
              <a:rPr sz="1853" spc="-18" dirty="0">
                <a:solidFill>
                  <a:srgbClr val="000090"/>
                </a:solidFill>
                <a:latin typeface="Times New Roman"/>
                <a:cs typeface="Times New Roman"/>
              </a:rPr>
              <a:t>cost</a:t>
            </a:r>
            <a:endParaRPr sz="1853" dirty="0">
              <a:latin typeface="Times New Roman"/>
              <a:cs typeface="Times New Roman"/>
            </a:endParaRPr>
          </a:p>
          <a:p>
            <a:pPr marL="33619">
              <a:lnSpc>
                <a:spcPct val="110000"/>
              </a:lnSpc>
              <a:spcBef>
                <a:spcPts val="424"/>
              </a:spcBef>
            </a:pP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CPI</a:t>
            </a:r>
            <a:r>
              <a:rPr sz="1853" baseline="-15873" dirty="0">
                <a:solidFill>
                  <a:srgbClr val="000090"/>
                </a:solidFill>
                <a:latin typeface="Times New Roman"/>
                <a:cs typeface="Times New Roman"/>
              </a:rPr>
              <a:t>0.2%</a:t>
            </a:r>
            <a:r>
              <a:rPr sz="1853" spc="251" baseline="-15873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=</a:t>
            </a:r>
            <a:r>
              <a:rPr sz="1853" spc="13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0.5</a:t>
            </a:r>
            <a:r>
              <a:rPr sz="1853" spc="13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+</a:t>
            </a:r>
            <a:r>
              <a:rPr sz="1853" spc="13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0.2%</a:t>
            </a:r>
            <a:r>
              <a:rPr sz="1853" spc="22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x</a:t>
            </a:r>
            <a:r>
              <a:rPr sz="1853" spc="13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666</a:t>
            </a:r>
            <a:r>
              <a:rPr sz="1853" spc="18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=</a:t>
            </a:r>
            <a:r>
              <a:rPr sz="1853" spc="9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0.5</a:t>
            </a:r>
            <a:r>
              <a:rPr sz="1853" spc="18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+</a:t>
            </a:r>
            <a:r>
              <a:rPr sz="1853" spc="13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1.3</a:t>
            </a:r>
            <a:r>
              <a:rPr sz="1853" spc="13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=</a:t>
            </a:r>
            <a:r>
              <a:rPr sz="1853" spc="13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spc="-22" dirty="0">
                <a:solidFill>
                  <a:srgbClr val="000090"/>
                </a:solidFill>
                <a:latin typeface="Times New Roman"/>
                <a:cs typeface="Times New Roman"/>
              </a:rPr>
              <a:t>1.8</a:t>
            </a:r>
            <a:endParaRPr sz="1853" dirty="0">
              <a:latin typeface="Times New Roman"/>
              <a:cs typeface="Times New Roman"/>
            </a:endParaRPr>
          </a:p>
          <a:p>
            <a:pPr marL="33619" marR="26896">
              <a:lnSpc>
                <a:spcPct val="110000"/>
              </a:lnSpc>
              <a:spcBef>
                <a:spcPts val="799"/>
              </a:spcBef>
            </a:pP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No</a:t>
            </a:r>
            <a:r>
              <a:rPr sz="1853" spc="4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remote</a:t>
            </a:r>
            <a:r>
              <a:rPr sz="1853" spc="9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communication</a:t>
            </a:r>
            <a:r>
              <a:rPr sz="1853" spc="13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is</a:t>
            </a:r>
            <a:r>
              <a:rPr sz="1853" spc="4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1.8/0.5</a:t>
            </a:r>
            <a:r>
              <a:rPr sz="1853" spc="9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or</a:t>
            </a:r>
            <a:r>
              <a:rPr sz="1853" spc="-172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u="sng" spc="-300" dirty="0">
                <a:solidFill>
                  <a:srgbClr val="000090"/>
                </a:solidFill>
                <a:uFill>
                  <a:solidFill>
                    <a:srgbClr val="00009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53" u="sng" dirty="0">
                <a:solidFill>
                  <a:srgbClr val="000090"/>
                </a:solidFill>
                <a:uFill>
                  <a:solidFill>
                    <a:srgbClr val="000090"/>
                  </a:solidFill>
                </a:uFill>
                <a:latin typeface="Times New Roman"/>
                <a:cs typeface="Times New Roman"/>
              </a:rPr>
              <a:t>3.6</a:t>
            </a:r>
            <a:r>
              <a:rPr sz="1853" u="sng" spc="9" dirty="0">
                <a:solidFill>
                  <a:srgbClr val="000090"/>
                </a:solidFill>
                <a:uFill>
                  <a:solidFill>
                    <a:srgbClr val="00009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53" u="sng" dirty="0">
                <a:solidFill>
                  <a:srgbClr val="000090"/>
                </a:solidFill>
                <a:uFill>
                  <a:solidFill>
                    <a:srgbClr val="000090"/>
                  </a:solidFill>
                </a:uFill>
                <a:latin typeface="Times New Roman"/>
                <a:cs typeface="Times New Roman"/>
              </a:rPr>
              <a:t>times</a:t>
            </a:r>
            <a:r>
              <a:rPr sz="1853" u="sng" spc="4" dirty="0">
                <a:solidFill>
                  <a:srgbClr val="000090"/>
                </a:solidFill>
                <a:uFill>
                  <a:solidFill>
                    <a:srgbClr val="00009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53" u="sng" dirty="0">
                <a:solidFill>
                  <a:srgbClr val="000090"/>
                </a:solidFill>
                <a:uFill>
                  <a:solidFill>
                    <a:srgbClr val="000090"/>
                  </a:solidFill>
                </a:uFill>
                <a:latin typeface="Times New Roman"/>
                <a:cs typeface="Times New Roman"/>
              </a:rPr>
              <a:t>faster</a:t>
            </a:r>
            <a:r>
              <a:rPr sz="1853" spc="4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than</a:t>
            </a:r>
            <a:r>
              <a:rPr sz="1853" spc="9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spc="-22" dirty="0">
                <a:solidFill>
                  <a:srgbClr val="000090"/>
                </a:solidFill>
                <a:latin typeface="Times New Roman"/>
                <a:cs typeface="Times New Roman"/>
              </a:rPr>
              <a:t>if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0.2%</a:t>
            </a:r>
            <a:r>
              <a:rPr sz="1853" spc="4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of</a:t>
            </a:r>
            <a:r>
              <a:rPr sz="1853" spc="-9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instructions</a:t>
            </a:r>
            <a:r>
              <a:rPr sz="1853" spc="-9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access</a:t>
            </a:r>
            <a:r>
              <a:rPr sz="1853" spc="-4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one</a:t>
            </a:r>
            <a:r>
              <a:rPr sz="1853" spc="-4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dirty="0">
                <a:solidFill>
                  <a:srgbClr val="000090"/>
                </a:solidFill>
                <a:latin typeface="Times New Roman"/>
                <a:cs typeface="Times New Roman"/>
              </a:rPr>
              <a:t>remote</a:t>
            </a:r>
            <a:r>
              <a:rPr sz="1853" spc="-4" dirty="0">
                <a:solidFill>
                  <a:srgbClr val="000090"/>
                </a:solidFill>
                <a:latin typeface="Times New Roman"/>
                <a:cs typeface="Times New Roman"/>
              </a:rPr>
              <a:t> </a:t>
            </a:r>
            <a:r>
              <a:rPr sz="1853" spc="-9" dirty="0">
                <a:solidFill>
                  <a:srgbClr val="000090"/>
                </a:solidFill>
                <a:latin typeface="Times New Roman"/>
                <a:cs typeface="Times New Roman"/>
              </a:rPr>
              <a:t>datum.</a:t>
            </a:r>
            <a:endParaRPr sz="1853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28303" y="5709619"/>
            <a:ext cx="5764908" cy="41867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z="2647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2647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ong-</a:t>
            </a:r>
            <a:r>
              <a:rPr sz="2647" b="1" dirty="0">
                <a:solidFill>
                  <a:srgbClr val="FF0000"/>
                </a:solidFill>
                <a:latin typeface="Times New Roman"/>
                <a:cs typeface="Times New Roman"/>
              </a:rPr>
              <a:t>latency</a:t>
            </a:r>
            <a:r>
              <a:rPr sz="2647" b="1" spc="-1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47" b="1" spc="-9" dirty="0">
                <a:solidFill>
                  <a:srgbClr val="FF0000"/>
                </a:solidFill>
                <a:latin typeface="Times New Roman"/>
                <a:cs typeface="Times New Roman"/>
              </a:rPr>
              <a:t>remote</a:t>
            </a:r>
            <a:r>
              <a:rPr sz="2647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47" b="1" spc="-18" dirty="0">
                <a:solidFill>
                  <a:srgbClr val="FF0000"/>
                </a:solidFill>
                <a:latin typeface="Times New Roman"/>
                <a:cs typeface="Times New Roman"/>
              </a:rPr>
              <a:t>communication</a:t>
            </a:r>
            <a:r>
              <a:rPr sz="2647" b="1" spc="-10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47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!!</a:t>
            </a:r>
            <a:endParaRPr sz="2647" dirty="0">
              <a:latin typeface="Times New Roman"/>
              <a:cs typeface="Times New Roman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728FEED-F366-BFBD-D155-ED7B1908F3F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16</a:t>
            </a:fld>
            <a:endParaRPr lang="en-US" spc="-44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C04E65-7232-5799-0669-91EFE2C96A23}"/>
              </a:ext>
            </a:extLst>
          </p:cNvPr>
          <p:cNvSpPr/>
          <p:nvPr/>
        </p:nvSpPr>
        <p:spPr>
          <a:xfrm>
            <a:off x="1009665" y="4531708"/>
            <a:ext cx="1414554" cy="45710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70506"/>
            <a:ext cx="6669809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Solving</a:t>
            </a:r>
            <a:r>
              <a:rPr spc="-4" dirty="0"/>
              <a:t> </a:t>
            </a:r>
            <a:r>
              <a:rPr b="0" dirty="0">
                <a:latin typeface="Calibri"/>
                <a:cs typeface="Calibri"/>
              </a:rPr>
              <a:t>Challenges</a:t>
            </a:r>
            <a:r>
              <a:rPr spc="-13" dirty="0"/>
              <a:t> </a:t>
            </a:r>
            <a:r>
              <a:rPr b="0" dirty="0">
                <a:latin typeface="Calibri"/>
                <a:cs typeface="Calibri"/>
              </a:rPr>
              <a:t>of</a:t>
            </a:r>
            <a:r>
              <a:rPr spc="-13" dirty="0"/>
              <a:t> </a:t>
            </a:r>
            <a:r>
              <a:rPr b="0" dirty="0">
                <a:latin typeface="Calibri"/>
                <a:cs typeface="Calibri"/>
              </a:rPr>
              <a:t>Parallel</a:t>
            </a:r>
            <a:r>
              <a:rPr spc="-4" dirty="0"/>
              <a:t> </a:t>
            </a:r>
            <a:r>
              <a:rPr spc="-9" dirty="0"/>
              <a:t>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9625" y="1320053"/>
            <a:ext cx="7851775" cy="4549020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4483" indent="-267835">
              <a:spcBef>
                <a:spcPts val="393"/>
              </a:spcBef>
              <a:spcAft>
                <a:spcPts val="2400"/>
              </a:spcAft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Application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parallelism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Symbol"/>
                <a:cs typeface="Symbol"/>
              </a:rPr>
              <a:t></a:t>
            </a:r>
            <a:r>
              <a:rPr sz="2400" spc="1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primarily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algorithms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better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parallel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performance</a:t>
            </a:r>
            <a:endParaRPr lang="en-US" sz="2400" spc="-9" dirty="0">
              <a:latin typeface="Calibri"/>
              <a:cs typeface="Calibri"/>
            </a:endParaRPr>
          </a:p>
          <a:p>
            <a:pPr marL="278481" marR="4483" indent="-267835"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Long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remote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latency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impact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Symbol"/>
                <a:cs typeface="Symbol"/>
              </a:rPr>
              <a:t></a:t>
            </a:r>
            <a:r>
              <a:rPr sz="2400" spc="22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work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architect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programmer</a:t>
            </a:r>
            <a:endParaRPr sz="2400" dirty="0">
              <a:latin typeface="Calibri"/>
              <a:cs typeface="Calibri"/>
            </a:endParaRPr>
          </a:p>
          <a:p>
            <a:pPr marL="439294">
              <a:spcBef>
                <a:spcPts val="405"/>
              </a:spcBef>
            </a:pPr>
            <a:r>
              <a:rPr sz="2400" dirty="0">
                <a:latin typeface="Calibri"/>
                <a:cs typeface="Calibri"/>
              </a:rPr>
              <a:t>–</a:t>
            </a:r>
            <a:r>
              <a:rPr sz="2400" spc="43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Reduce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frequency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remote accesses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either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by</a:t>
            </a:r>
            <a:endParaRPr sz="2200" dirty="0">
              <a:latin typeface="Calibri"/>
              <a:cs typeface="Calibri"/>
            </a:endParaRPr>
          </a:p>
          <a:p>
            <a:pPr marL="867382">
              <a:spcBef>
                <a:spcPts val="446"/>
              </a:spcBef>
            </a:pP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»</a:t>
            </a:r>
            <a:r>
              <a:rPr sz="2200" spc="4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Caching shared</a:t>
            </a:r>
            <a:r>
              <a:rPr sz="2200" spc="-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2200" spc="-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8" dirty="0">
                <a:solidFill>
                  <a:srgbClr val="FF0000"/>
                </a:solidFill>
                <a:latin typeface="Calibri"/>
                <a:cs typeface="Calibri"/>
              </a:rPr>
              <a:t>(HW)</a:t>
            </a:r>
            <a:endParaRPr lang="en-US" sz="2200" dirty="0">
              <a:latin typeface="Calibri"/>
              <a:cs typeface="Calibri"/>
            </a:endParaRPr>
          </a:p>
          <a:p>
            <a:pPr marL="1143000" indent="-276225">
              <a:spcBef>
                <a:spcPts val="383"/>
              </a:spcBef>
              <a:spcAft>
                <a:spcPts val="2400"/>
              </a:spcAft>
            </a:pPr>
            <a:r>
              <a:rPr lang="en-US" sz="2200" dirty="0">
                <a:latin typeface="Calibri"/>
                <a:cs typeface="Calibri"/>
              </a:rPr>
              <a:t>»</a:t>
            </a:r>
            <a:r>
              <a:rPr lang="en-US" sz="2200" spc="40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Restructuring</a:t>
            </a:r>
            <a:r>
              <a:rPr lang="en-US" sz="2200" spc="-4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the data</a:t>
            </a:r>
            <a:r>
              <a:rPr lang="en-US" sz="2200" spc="-9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layout</a:t>
            </a:r>
            <a:r>
              <a:rPr lang="en-US" sz="2200" spc="-13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to</a:t>
            </a:r>
            <a:r>
              <a:rPr lang="en-US" sz="2200" spc="-4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make</a:t>
            </a:r>
            <a:r>
              <a:rPr lang="en-US" sz="2200" spc="-4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more </a:t>
            </a:r>
            <a:br>
              <a:rPr lang="en-US" sz="2200" dirty="0">
                <a:latin typeface="Calibri"/>
                <a:cs typeface="Calibri"/>
              </a:rPr>
            </a:br>
            <a:r>
              <a:rPr lang="en-US" sz="2200" dirty="0">
                <a:latin typeface="Calibri"/>
                <a:cs typeface="Calibri"/>
              </a:rPr>
              <a:t>accesses</a:t>
            </a:r>
            <a:r>
              <a:rPr lang="en-US" sz="2200" spc="-13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local</a:t>
            </a:r>
            <a:r>
              <a:rPr lang="en-US" sz="2200" spc="-13" dirty="0">
                <a:latin typeface="Calibri"/>
                <a:cs typeface="Calibri"/>
              </a:rPr>
              <a:t> </a:t>
            </a:r>
            <a:r>
              <a:rPr lang="en-US" sz="2200" spc="-18" dirty="0">
                <a:latin typeface="Calibri"/>
                <a:cs typeface="Calibri"/>
              </a:rPr>
              <a:t>(SW)</a:t>
            </a:r>
            <a:endParaRPr lang="en-US" sz="2400" dirty="0">
              <a:latin typeface="Calibri"/>
              <a:cs typeface="Calibri"/>
            </a:endParaRPr>
          </a:p>
          <a:p>
            <a:pPr marL="278481" marR="664544" indent="-267835">
              <a:spcBef>
                <a:spcPts val="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Will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discuss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methods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reduce</a:t>
            </a:r>
            <a:r>
              <a:rPr sz="2400" i="1" u="sng" spc="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memory</a:t>
            </a:r>
            <a:r>
              <a:rPr sz="2400" i="1" u="sng" spc="7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access</a:t>
            </a:r>
            <a:r>
              <a:rPr sz="2400" i="1" u="sng" spc="-9" dirty="0"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latency</a:t>
            </a:r>
            <a:r>
              <a:rPr sz="2400" i="1" u="sng" spc="5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via</a:t>
            </a:r>
            <a:r>
              <a:rPr sz="2400" i="1" u="sng" spc="6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local</a:t>
            </a:r>
            <a:r>
              <a:rPr sz="2400" i="1" u="sng" spc="4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caches</a:t>
            </a:r>
            <a:endParaRPr sz="2400" u="sng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FCA243-49F7-C347-0FC8-0121A73046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17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0506"/>
            <a:ext cx="7612784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0" dirty="0">
                <a:latin typeface="Calibri"/>
                <a:cs typeface="Calibri"/>
              </a:rPr>
              <a:t>Symmetric</a:t>
            </a:r>
            <a:r>
              <a:rPr spc="-44" dirty="0"/>
              <a:t> </a:t>
            </a:r>
            <a:r>
              <a:rPr spc="-9" dirty="0"/>
              <a:t>Shared-</a:t>
            </a:r>
            <a:r>
              <a:rPr b="0" dirty="0">
                <a:latin typeface="Calibri"/>
                <a:cs typeface="Calibri"/>
              </a:rPr>
              <a:t>Memory</a:t>
            </a:r>
            <a:r>
              <a:rPr spc="-35" dirty="0"/>
              <a:t> </a:t>
            </a:r>
            <a:r>
              <a:rPr spc="-9" dirty="0"/>
              <a:t>Architectures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9625" y="1320052"/>
            <a:ext cx="7237364" cy="4496763"/>
          </a:xfrm>
          <a:prstGeom prst="rect">
            <a:avLst/>
          </a:prstGeom>
          <a:ln>
            <a:noFill/>
          </a:ln>
        </p:spPr>
        <p:txBody>
          <a:bodyPr vert="horz" wrap="square" lIns="0" tIns="49866" rIns="0" bIns="0" rtlCol="0">
            <a:spAutoFit/>
          </a:bodyPr>
          <a:lstStyle/>
          <a:p>
            <a:pPr marL="278481" marR="4483" indent="-267835"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Evolve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“multiple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boards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shared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bus”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multiple </a:t>
            </a:r>
            <a:r>
              <a:rPr sz="2400" dirty="0">
                <a:latin typeface="Calibri"/>
                <a:cs typeface="Calibri"/>
              </a:rPr>
              <a:t>processor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“cores”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chip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244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Caches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both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46"/>
              </a:spcBef>
              <a:buFont typeface="Calibri"/>
              <a:buChar char="–"/>
              <a:tabLst>
                <a:tab pos="651657" algn="l"/>
              </a:tabLst>
            </a:pPr>
            <a:r>
              <a:rPr sz="2200" b="1" dirty="0">
                <a:latin typeface="Calibri"/>
                <a:cs typeface="Calibri"/>
              </a:rPr>
              <a:t>Private</a:t>
            </a:r>
            <a:r>
              <a:rPr sz="2200" b="1" spc="-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used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single</a:t>
            </a:r>
            <a:r>
              <a:rPr sz="2200" spc="-9" dirty="0">
                <a:latin typeface="Calibri"/>
                <a:cs typeface="Calibri"/>
              </a:rPr>
              <a:t> processor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spcBef>
                <a:spcPts val="357"/>
              </a:spcBef>
              <a:buFont typeface="Calibri"/>
              <a:buChar char="–"/>
              <a:tabLst>
                <a:tab pos="651657" algn="l"/>
              </a:tabLst>
            </a:pPr>
            <a:r>
              <a:rPr sz="2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Shared</a:t>
            </a:r>
            <a:r>
              <a:rPr sz="2200" b="1" u="sng" spc="-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data</a:t>
            </a:r>
            <a:r>
              <a:rPr sz="2200" u="sng" spc="-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used</a:t>
            </a:r>
            <a:r>
              <a:rPr sz="2200" u="sng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by</a:t>
            </a:r>
            <a:r>
              <a:rPr sz="2200" u="sng" spc="-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multiple</a:t>
            </a:r>
            <a:r>
              <a:rPr sz="2200" u="sng" spc="-1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processors</a:t>
            </a:r>
            <a:endParaRPr sz="2200" dirty="0">
              <a:latin typeface="Calibri"/>
              <a:cs typeface="Calibri"/>
            </a:endParaRPr>
          </a:p>
          <a:p>
            <a:pPr lvl="1">
              <a:spcBef>
                <a:spcPts val="366"/>
              </a:spcBef>
              <a:buFont typeface="Calibri"/>
              <a:buChar char="–"/>
            </a:pPr>
            <a:endParaRPr sz="1677" dirty="0">
              <a:latin typeface="Calibri"/>
              <a:cs typeface="Calibri"/>
            </a:endParaRPr>
          </a:p>
          <a:p>
            <a:pPr marL="278481" indent="-267275">
              <a:spcBef>
                <a:spcPts val="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Caching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shared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reduce: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24"/>
              </a:spcBef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Latency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shared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data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spcBef>
                <a:spcPts val="463"/>
              </a:spcBef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Memory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bandwidth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shared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data,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and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spcBef>
                <a:spcPts val="361"/>
              </a:spcBef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Interconnect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bandwidth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needed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spcBef>
                <a:spcPts val="379"/>
              </a:spcBef>
              <a:buChar char="–"/>
              <a:tabLst>
                <a:tab pos="651657" algn="l"/>
              </a:tabLst>
            </a:pPr>
            <a:r>
              <a:rPr lang="en-US" sz="2200" dirty="0">
                <a:latin typeface="Calibri"/>
                <a:cs typeface="Calibri"/>
              </a:rPr>
              <a:t>But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i="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introduces</a:t>
            </a:r>
            <a:r>
              <a:rPr sz="2200" i="1" spc="18" dirty="0">
                <a:latin typeface="Calibri"/>
                <a:cs typeface="Calibri"/>
              </a:rPr>
              <a:t> </a:t>
            </a:r>
            <a:r>
              <a:rPr sz="22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cache</a:t>
            </a:r>
            <a:r>
              <a:rPr sz="2200" b="1" u="sng" spc="26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200" b="1" u="sng" spc="-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coherenc</a:t>
            </a:r>
            <a:r>
              <a:rPr lang="en-US" sz="2200" b="1" u="sng" spc="-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e problem</a:t>
            </a:r>
            <a:endParaRPr sz="2200" b="1" u="sng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0BFA2-312C-2627-8E1E-E82CE6F7C5B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18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1"/>
            <a:ext cx="7498484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1" dirty="0">
                <a:latin typeface="Calibri"/>
                <a:cs typeface="Calibri"/>
              </a:rPr>
              <a:t>Cache</a:t>
            </a:r>
            <a:r>
              <a:rPr b="1" spc="-62" dirty="0"/>
              <a:t> </a:t>
            </a:r>
            <a:r>
              <a:rPr b="1" dirty="0">
                <a:latin typeface="Calibri"/>
                <a:cs typeface="Calibri"/>
              </a:rPr>
              <a:t>Coherence</a:t>
            </a:r>
            <a:r>
              <a:rPr b="1" spc="-62" dirty="0"/>
              <a:t> </a:t>
            </a:r>
            <a:r>
              <a:rPr b="1" dirty="0">
                <a:latin typeface="Calibri"/>
                <a:cs typeface="Calibri"/>
              </a:rPr>
              <a:t>Problem</a:t>
            </a:r>
            <a:r>
              <a:rPr dirty="0"/>
              <a:t>:</a:t>
            </a:r>
            <a:r>
              <a:rPr spc="-57" dirty="0"/>
              <a:t> </a:t>
            </a:r>
            <a:r>
              <a:rPr dirty="0"/>
              <a:t>P</a:t>
            </a:r>
            <a:r>
              <a:rPr sz="3044" baseline="-16908" dirty="0"/>
              <a:t>3</a:t>
            </a:r>
            <a:r>
              <a:rPr sz="3044" spc="218" baseline="-16908" dirty="0"/>
              <a:t> </a:t>
            </a:r>
            <a:r>
              <a:rPr dirty="0"/>
              <a:t>Changes</a:t>
            </a:r>
            <a:r>
              <a:rPr spc="-66" dirty="0"/>
              <a:t> </a:t>
            </a:r>
            <a:r>
              <a:rPr dirty="0"/>
              <a:t>U</a:t>
            </a:r>
            <a:r>
              <a:rPr spc="-71" dirty="0"/>
              <a:t> </a:t>
            </a:r>
            <a:r>
              <a:rPr dirty="0"/>
              <a:t>to</a:t>
            </a:r>
            <a:r>
              <a:rPr spc="-62" dirty="0"/>
              <a:t> </a:t>
            </a:r>
            <a:r>
              <a:rPr spc="-44" dirty="0"/>
              <a:t>7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19150" y="4577490"/>
            <a:ext cx="7498484" cy="1809696"/>
          </a:xfrm>
          <a:prstGeom prst="rect">
            <a:avLst/>
          </a:prstGeom>
        </p:spPr>
        <p:txBody>
          <a:bodyPr vert="horz" wrap="square" lIns="0" tIns="64994" rIns="0" bIns="0" rtlCol="0">
            <a:spAutoFit/>
          </a:bodyPr>
          <a:lstStyle/>
          <a:p>
            <a:pPr marL="278481" indent="-267275">
              <a:spcBef>
                <a:spcPts val="512"/>
              </a:spcBef>
              <a:buChar char="•"/>
              <a:tabLst>
                <a:tab pos="278481" algn="l"/>
              </a:tabLst>
            </a:pPr>
            <a:r>
              <a:rPr sz="2000" dirty="0">
                <a:latin typeface="Calibri"/>
                <a:cs typeface="Calibri"/>
              </a:rPr>
              <a:t>Processors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see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different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values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u</a:t>
            </a:r>
            <a:r>
              <a:rPr sz="2000" spc="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after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event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(new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7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vs.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old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5)</a:t>
            </a:r>
            <a:endParaRPr sz="2000" dirty="0">
              <a:latin typeface="Calibri"/>
              <a:cs typeface="Calibri"/>
            </a:endParaRPr>
          </a:p>
          <a:p>
            <a:pPr marL="278481" marR="88531" indent="-267835">
              <a:spcBef>
                <a:spcPts val="653"/>
              </a:spcBef>
              <a:buChar char="•"/>
              <a:tabLst>
                <a:tab pos="278481" algn="l"/>
              </a:tabLst>
            </a:pPr>
            <a:r>
              <a:rPr sz="2000" dirty="0">
                <a:latin typeface="Calibri"/>
                <a:cs typeface="Calibri"/>
              </a:rPr>
              <a:t>With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write-back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caches,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written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back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depends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on </a:t>
            </a:r>
            <a:r>
              <a:rPr sz="2000" dirty="0">
                <a:latin typeface="Calibri"/>
                <a:cs typeface="Calibri"/>
              </a:rPr>
              <a:t>happenstance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cache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flushes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writes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back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spc="-18" dirty="0">
                <a:latin typeface="Calibri"/>
                <a:cs typeface="Calibri"/>
              </a:rPr>
              <a:t>when</a:t>
            </a:r>
            <a:endParaRPr sz="2000" dirty="0">
              <a:latin typeface="Calibri"/>
              <a:cs typeface="Calibri"/>
            </a:endParaRPr>
          </a:p>
          <a:p>
            <a:pPr marL="439294">
              <a:spcBef>
                <a:spcPts val="397"/>
              </a:spcBef>
            </a:pPr>
            <a:r>
              <a:rPr sz="2000" dirty="0">
                <a:latin typeface="Calibri"/>
                <a:cs typeface="Calibri"/>
              </a:rPr>
              <a:t>–</a:t>
            </a:r>
            <a:r>
              <a:rPr sz="2000" spc="42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Processes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accessing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main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may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see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very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stale</a:t>
            </a:r>
            <a:r>
              <a:rPr sz="2000" dirty="0">
                <a:latin typeface="Calibri"/>
                <a:cs typeface="Calibri"/>
              </a:rPr>
              <a:t>”</a:t>
            </a:r>
            <a:r>
              <a:rPr sz="2000" spc="-9" dirty="0">
                <a:latin typeface="Calibri"/>
                <a:cs typeface="Calibri"/>
              </a:rPr>
              <a:t> values</a:t>
            </a:r>
            <a:endParaRPr sz="2000" dirty="0">
              <a:latin typeface="Calibri"/>
              <a:cs typeface="Calibri"/>
            </a:endParaRPr>
          </a:p>
          <a:p>
            <a:pPr marL="278481" indent="-267275">
              <a:spcBef>
                <a:spcPts val="459"/>
              </a:spcBef>
              <a:buChar char="•"/>
              <a:tabLst>
                <a:tab pos="278481" algn="l"/>
              </a:tabLst>
            </a:pPr>
            <a:r>
              <a:rPr sz="2000" dirty="0">
                <a:latin typeface="Calibri"/>
                <a:cs typeface="Calibri"/>
              </a:rPr>
              <a:t>Unacceptable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programming;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writes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shared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often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critical!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1FB2FE6-28ED-8277-AFB9-E74059752566}"/>
              </a:ext>
            </a:extLst>
          </p:cNvPr>
          <p:cNvGrpSpPr/>
          <p:nvPr/>
        </p:nvGrpSpPr>
        <p:grpSpPr>
          <a:xfrm>
            <a:off x="1931270" y="1375866"/>
            <a:ext cx="5200496" cy="3003837"/>
            <a:chOff x="1931270" y="1261566"/>
            <a:chExt cx="5200496" cy="3003837"/>
          </a:xfrm>
        </p:grpSpPr>
        <p:grpSp>
          <p:nvGrpSpPr>
            <p:cNvPr id="4" name="object 4"/>
            <p:cNvGrpSpPr/>
            <p:nvPr/>
          </p:nvGrpSpPr>
          <p:grpSpPr>
            <a:xfrm>
              <a:off x="1931270" y="2990174"/>
              <a:ext cx="5061697" cy="1275229"/>
              <a:chOff x="2036373" y="3388864"/>
              <a:chExt cx="5736590" cy="1445260"/>
            </a:xfrm>
          </p:grpSpPr>
          <p:sp>
            <p:nvSpPr>
              <p:cNvPr id="5" name="object 5"/>
              <p:cNvSpPr/>
              <p:nvPr/>
            </p:nvSpPr>
            <p:spPr>
              <a:xfrm>
                <a:off x="2050978" y="3403469"/>
                <a:ext cx="5707380" cy="1905"/>
              </a:xfrm>
              <a:custGeom>
                <a:avLst/>
                <a:gdLst/>
                <a:ahLst/>
                <a:cxnLst/>
                <a:rect l="l" t="t" r="r" b="b"/>
                <a:pathLst>
                  <a:path w="5707380" h="1904">
                    <a:moveTo>
                      <a:pt x="0" y="0"/>
                    </a:moveTo>
                    <a:lnTo>
                      <a:pt x="5707132" y="1683"/>
                    </a:lnTo>
                  </a:path>
                </a:pathLst>
              </a:custGeom>
              <a:ln w="2863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3663059" y="3403469"/>
                <a:ext cx="1905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1904" h="355600">
                    <a:moveTo>
                      <a:pt x="0" y="0"/>
                    </a:moveTo>
                    <a:lnTo>
                      <a:pt x="1683" y="355431"/>
                    </a:lnTo>
                  </a:path>
                </a:pathLst>
              </a:custGeom>
              <a:ln w="2863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2765212" y="3758901"/>
                <a:ext cx="1784350" cy="1069975"/>
              </a:xfrm>
              <a:custGeom>
                <a:avLst/>
                <a:gdLst/>
                <a:ahLst/>
                <a:cxnLst/>
                <a:rect l="l" t="t" r="r" b="b"/>
                <a:pathLst>
                  <a:path w="1784350" h="1069975">
                    <a:moveTo>
                      <a:pt x="0" y="0"/>
                    </a:moveTo>
                    <a:lnTo>
                      <a:pt x="1783900" y="0"/>
                    </a:lnTo>
                    <a:lnTo>
                      <a:pt x="1783900" y="1069666"/>
                    </a:lnTo>
                    <a:lnTo>
                      <a:pt x="0" y="1069666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8" name="object 8"/>
            <p:cNvSpPr txBox="1"/>
            <p:nvPr/>
          </p:nvSpPr>
          <p:spPr>
            <a:xfrm>
              <a:off x="5709732" y="3366696"/>
              <a:ext cx="737347" cy="18783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147" dirty="0">
                  <a:latin typeface="Arial MT"/>
                  <a:cs typeface="Arial MT"/>
                </a:rPr>
                <a:t>I/O</a:t>
              </a:r>
              <a:r>
                <a:rPr sz="1147" spc="-44" dirty="0">
                  <a:latin typeface="Arial MT"/>
                  <a:cs typeface="Arial MT"/>
                </a:rPr>
                <a:t> </a:t>
              </a:r>
              <a:r>
                <a:rPr sz="1147" spc="-9" dirty="0">
                  <a:latin typeface="Arial MT"/>
                  <a:cs typeface="Arial MT"/>
                </a:rPr>
                <a:t>devices</a:t>
              </a:r>
              <a:endParaRPr sz="1147">
                <a:latin typeface="Arial MT"/>
                <a:cs typeface="Arial MT"/>
              </a:endParaRPr>
            </a:p>
          </p:txBody>
        </p:sp>
        <p:grpSp>
          <p:nvGrpSpPr>
            <p:cNvPr id="9" name="object 9"/>
            <p:cNvGrpSpPr/>
            <p:nvPr/>
          </p:nvGrpSpPr>
          <p:grpSpPr>
            <a:xfrm>
              <a:off x="1939675" y="1261566"/>
              <a:ext cx="954741" cy="1767728"/>
              <a:chOff x="2045898" y="1429774"/>
              <a:chExt cx="1082040" cy="2003425"/>
            </a:xfrm>
          </p:grpSpPr>
          <p:sp>
            <p:nvSpPr>
              <p:cNvPr id="10" name="object 10"/>
              <p:cNvSpPr/>
              <p:nvPr/>
            </p:nvSpPr>
            <p:spPr>
              <a:xfrm>
                <a:off x="2589182" y="2142610"/>
                <a:ext cx="0" cy="1275715"/>
              </a:xfrm>
              <a:custGeom>
                <a:avLst/>
                <a:gdLst/>
                <a:ahLst/>
                <a:cxnLst/>
                <a:rect l="l" t="t" r="r" b="b"/>
                <a:pathLst>
                  <a:path h="1275714">
                    <a:moveTo>
                      <a:pt x="0" y="903742"/>
                    </a:moveTo>
                    <a:lnTo>
                      <a:pt x="0" y="1275178"/>
                    </a:lnTo>
                  </a:path>
                  <a:path h="1275714">
                    <a:moveTo>
                      <a:pt x="0" y="0"/>
                    </a:moveTo>
                    <a:lnTo>
                      <a:pt x="0" y="191192"/>
                    </a:lnTo>
                  </a:path>
                </a:pathLst>
              </a:custGeom>
              <a:ln w="3032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2232906" y="1444379"/>
                <a:ext cx="713105" cy="713105"/>
              </a:xfrm>
              <a:custGeom>
                <a:avLst/>
                <a:gdLst/>
                <a:ahLst/>
                <a:cxnLst/>
                <a:rect l="l" t="t" r="r" b="b"/>
                <a:pathLst>
                  <a:path w="713105" h="713105">
                    <a:moveTo>
                      <a:pt x="355433" y="0"/>
                    </a:moveTo>
                    <a:lnTo>
                      <a:pt x="299844" y="5053"/>
                    </a:lnTo>
                    <a:lnTo>
                      <a:pt x="242571" y="18529"/>
                    </a:lnTo>
                    <a:lnTo>
                      <a:pt x="190350" y="37058"/>
                    </a:lnTo>
                    <a:lnTo>
                      <a:pt x="146552" y="65695"/>
                    </a:lnTo>
                    <a:lnTo>
                      <a:pt x="104440" y="104439"/>
                    </a:lnTo>
                    <a:lnTo>
                      <a:pt x="65697" y="143183"/>
                    </a:lnTo>
                    <a:lnTo>
                      <a:pt x="37059" y="190350"/>
                    </a:lnTo>
                    <a:lnTo>
                      <a:pt x="18530" y="242569"/>
                    </a:lnTo>
                    <a:lnTo>
                      <a:pt x="5054" y="299843"/>
                    </a:lnTo>
                    <a:lnTo>
                      <a:pt x="0" y="357116"/>
                    </a:lnTo>
                    <a:lnTo>
                      <a:pt x="5054" y="412705"/>
                    </a:lnTo>
                    <a:lnTo>
                      <a:pt x="18530" y="464925"/>
                    </a:lnTo>
                    <a:lnTo>
                      <a:pt x="37059" y="517145"/>
                    </a:lnTo>
                    <a:lnTo>
                      <a:pt x="65697" y="565997"/>
                    </a:lnTo>
                    <a:lnTo>
                      <a:pt x="104440" y="608109"/>
                    </a:lnTo>
                    <a:lnTo>
                      <a:pt x="146552" y="641799"/>
                    </a:lnTo>
                    <a:lnTo>
                      <a:pt x="190350" y="670436"/>
                    </a:lnTo>
                    <a:lnTo>
                      <a:pt x="242571" y="694019"/>
                    </a:lnTo>
                    <a:lnTo>
                      <a:pt x="299844" y="707495"/>
                    </a:lnTo>
                    <a:lnTo>
                      <a:pt x="355433" y="712550"/>
                    </a:lnTo>
                    <a:lnTo>
                      <a:pt x="412706" y="707495"/>
                    </a:lnTo>
                    <a:lnTo>
                      <a:pt x="469980" y="694019"/>
                    </a:lnTo>
                    <a:lnTo>
                      <a:pt x="517146" y="670436"/>
                    </a:lnTo>
                    <a:lnTo>
                      <a:pt x="565997" y="641799"/>
                    </a:lnTo>
                    <a:lnTo>
                      <a:pt x="608110" y="608109"/>
                    </a:lnTo>
                    <a:lnTo>
                      <a:pt x="641800" y="565997"/>
                    </a:lnTo>
                    <a:lnTo>
                      <a:pt x="670438" y="517145"/>
                    </a:lnTo>
                    <a:lnTo>
                      <a:pt x="694020" y="464925"/>
                    </a:lnTo>
                    <a:lnTo>
                      <a:pt x="707496" y="412705"/>
                    </a:lnTo>
                    <a:lnTo>
                      <a:pt x="707496" y="352063"/>
                    </a:lnTo>
                    <a:lnTo>
                      <a:pt x="712550" y="357116"/>
                    </a:lnTo>
                    <a:lnTo>
                      <a:pt x="707496" y="299843"/>
                    </a:lnTo>
                    <a:lnTo>
                      <a:pt x="694020" y="242569"/>
                    </a:lnTo>
                    <a:lnTo>
                      <a:pt x="670438" y="190350"/>
                    </a:lnTo>
                    <a:lnTo>
                      <a:pt x="641800" y="143183"/>
                    </a:lnTo>
                    <a:lnTo>
                      <a:pt x="608110" y="104439"/>
                    </a:lnTo>
                    <a:lnTo>
                      <a:pt x="565997" y="65695"/>
                    </a:lnTo>
                    <a:lnTo>
                      <a:pt x="517146" y="37058"/>
                    </a:lnTo>
                    <a:lnTo>
                      <a:pt x="469980" y="18529"/>
                    </a:lnTo>
                    <a:lnTo>
                      <a:pt x="412706" y="5053"/>
                    </a:lnTo>
                    <a:lnTo>
                      <a:pt x="355433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2232906" y="1444379"/>
                <a:ext cx="713105" cy="713105"/>
              </a:xfrm>
              <a:custGeom>
                <a:avLst/>
                <a:gdLst/>
                <a:ahLst/>
                <a:cxnLst/>
                <a:rect l="l" t="t" r="r" b="b"/>
                <a:pathLst>
                  <a:path w="713105" h="713105">
                    <a:moveTo>
                      <a:pt x="707496" y="352063"/>
                    </a:moveTo>
                    <a:lnTo>
                      <a:pt x="707496" y="299843"/>
                    </a:lnTo>
                    <a:lnTo>
                      <a:pt x="694020" y="242570"/>
                    </a:lnTo>
                    <a:lnTo>
                      <a:pt x="670436" y="190350"/>
                    </a:lnTo>
                    <a:lnTo>
                      <a:pt x="641800" y="143183"/>
                    </a:lnTo>
                    <a:lnTo>
                      <a:pt x="608109" y="104439"/>
                    </a:lnTo>
                    <a:lnTo>
                      <a:pt x="565997" y="65696"/>
                    </a:lnTo>
                    <a:lnTo>
                      <a:pt x="517146" y="37059"/>
                    </a:lnTo>
                    <a:lnTo>
                      <a:pt x="469979" y="18529"/>
                    </a:lnTo>
                    <a:lnTo>
                      <a:pt x="412706" y="5053"/>
                    </a:lnTo>
                    <a:lnTo>
                      <a:pt x="355432" y="0"/>
                    </a:lnTo>
                    <a:lnTo>
                      <a:pt x="299843" y="5053"/>
                    </a:lnTo>
                    <a:lnTo>
                      <a:pt x="242570" y="18529"/>
                    </a:lnTo>
                    <a:lnTo>
                      <a:pt x="190350" y="37059"/>
                    </a:lnTo>
                    <a:lnTo>
                      <a:pt x="146552" y="65696"/>
                    </a:lnTo>
                    <a:lnTo>
                      <a:pt x="104439" y="104439"/>
                    </a:lnTo>
                    <a:lnTo>
                      <a:pt x="65696" y="143183"/>
                    </a:lnTo>
                    <a:lnTo>
                      <a:pt x="37059" y="190350"/>
                    </a:lnTo>
                    <a:lnTo>
                      <a:pt x="18529" y="242570"/>
                    </a:lnTo>
                    <a:lnTo>
                      <a:pt x="5053" y="299843"/>
                    </a:lnTo>
                    <a:lnTo>
                      <a:pt x="0" y="357117"/>
                    </a:lnTo>
                    <a:lnTo>
                      <a:pt x="5053" y="412706"/>
                    </a:lnTo>
                    <a:lnTo>
                      <a:pt x="18529" y="464926"/>
                    </a:lnTo>
                    <a:lnTo>
                      <a:pt x="37059" y="517146"/>
                    </a:lnTo>
                    <a:lnTo>
                      <a:pt x="65696" y="565997"/>
                    </a:lnTo>
                    <a:lnTo>
                      <a:pt x="104439" y="608109"/>
                    </a:lnTo>
                    <a:lnTo>
                      <a:pt x="146552" y="641800"/>
                    </a:lnTo>
                    <a:lnTo>
                      <a:pt x="190350" y="670436"/>
                    </a:lnTo>
                    <a:lnTo>
                      <a:pt x="242570" y="694020"/>
                    </a:lnTo>
                    <a:lnTo>
                      <a:pt x="299843" y="707496"/>
                    </a:lnTo>
                    <a:lnTo>
                      <a:pt x="355432" y="712549"/>
                    </a:lnTo>
                    <a:lnTo>
                      <a:pt x="412706" y="707496"/>
                    </a:lnTo>
                    <a:lnTo>
                      <a:pt x="469979" y="694020"/>
                    </a:lnTo>
                    <a:lnTo>
                      <a:pt x="517146" y="670436"/>
                    </a:lnTo>
                    <a:lnTo>
                      <a:pt x="565997" y="641800"/>
                    </a:lnTo>
                    <a:lnTo>
                      <a:pt x="608109" y="608109"/>
                    </a:lnTo>
                    <a:lnTo>
                      <a:pt x="641800" y="565997"/>
                    </a:lnTo>
                    <a:lnTo>
                      <a:pt x="670436" y="517146"/>
                    </a:lnTo>
                    <a:lnTo>
                      <a:pt x="694020" y="464926"/>
                    </a:lnTo>
                    <a:lnTo>
                      <a:pt x="707496" y="412706"/>
                    </a:lnTo>
                    <a:lnTo>
                      <a:pt x="712549" y="357117"/>
                    </a:lnTo>
                  </a:path>
                </a:pathLst>
              </a:custGeom>
              <a:ln w="2863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2050978" y="2333802"/>
                <a:ext cx="1071880" cy="713105"/>
              </a:xfrm>
              <a:custGeom>
                <a:avLst/>
                <a:gdLst/>
                <a:ahLst/>
                <a:cxnLst/>
                <a:rect l="l" t="t" r="r" b="b"/>
                <a:pathLst>
                  <a:path w="1071880" h="713105">
                    <a:moveTo>
                      <a:pt x="0" y="0"/>
                    </a:moveTo>
                    <a:lnTo>
                      <a:pt x="1071350" y="0"/>
                    </a:lnTo>
                    <a:lnTo>
                      <a:pt x="1071350" y="712549"/>
                    </a:lnTo>
                    <a:lnTo>
                      <a:pt x="0" y="712549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14" name="object 14"/>
            <p:cNvSpPr txBox="1"/>
            <p:nvPr/>
          </p:nvSpPr>
          <p:spPr>
            <a:xfrm>
              <a:off x="2296987" y="1484107"/>
              <a:ext cx="202826" cy="18783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33619">
                <a:spcBef>
                  <a:spcPts val="88"/>
                </a:spcBef>
              </a:pPr>
              <a:r>
                <a:rPr sz="1147" spc="-22" dirty="0">
                  <a:latin typeface="Arial MT"/>
                  <a:cs typeface="Arial MT"/>
                </a:rPr>
                <a:t>P</a:t>
              </a:r>
              <a:r>
                <a:rPr sz="1456" spc="-33" baseline="-15151" dirty="0">
                  <a:latin typeface="Arial MT"/>
                  <a:cs typeface="Arial MT"/>
                </a:rPr>
                <a:t>1</a:t>
              </a:r>
              <a:endParaRPr sz="1456" baseline="-15151">
                <a:latin typeface="Arial MT"/>
                <a:cs typeface="Arial MT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2358045" y="2121498"/>
              <a:ext cx="103654" cy="18783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147" spc="-44" dirty="0">
                  <a:latin typeface="Arial MT"/>
                  <a:cs typeface="Arial MT"/>
                </a:rPr>
                <a:t>$</a:t>
              </a:r>
              <a:endParaRPr sz="1147">
                <a:latin typeface="Arial MT"/>
                <a:cs typeface="Arial MT"/>
              </a:endParaRPr>
            </a:p>
          </p:txBody>
        </p:sp>
        <p:grpSp>
          <p:nvGrpSpPr>
            <p:cNvPr id="16" name="object 16"/>
            <p:cNvGrpSpPr/>
            <p:nvPr/>
          </p:nvGrpSpPr>
          <p:grpSpPr>
            <a:xfrm>
              <a:off x="3987846" y="1261566"/>
              <a:ext cx="2063003" cy="2068046"/>
              <a:chOff x="4367159" y="1429774"/>
              <a:chExt cx="2338070" cy="2343785"/>
            </a:xfrm>
          </p:grpSpPr>
          <p:sp>
            <p:nvSpPr>
              <p:cNvPr id="17" name="object 17"/>
              <p:cNvSpPr/>
              <p:nvPr/>
            </p:nvSpPr>
            <p:spPr>
              <a:xfrm>
                <a:off x="6688447" y="3403469"/>
                <a:ext cx="1905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1904" h="355600">
                    <a:moveTo>
                      <a:pt x="0" y="0"/>
                    </a:moveTo>
                    <a:lnTo>
                      <a:pt x="1683" y="355431"/>
                    </a:lnTo>
                  </a:path>
                </a:pathLst>
              </a:custGeom>
              <a:ln w="2863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4905388" y="2142610"/>
                <a:ext cx="0" cy="1275715"/>
              </a:xfrm>
              <a:custGeom>
                <a:avLst/>
                <a:gdLst/>
                <a:ahLst/>
                <a:cxnLst/>
                <a:rect l="l" t="t" r="r" b="b"/>
                <a:pathLst>
                  <a:path h="1275714">
                    <a:moveTo>
                      <a:pt x="0" y="903742"/>
                    </a:moveTo>
                    <a:lnTo>
                      <a:pt x="0" y="1275178"/>
                    </a:lnTo>
                  </a:path>
                  <a:path h="1275714">
                    <a:moveTo>
                      <a:pt x="0" y="0"/>
                    </a:moveTo>
                    <a:lnTo>
                      <a:pt x="0" y="191192"/>
                    </a:lnTo>
                  </a:path>
                </a:pathLst>
              </a:custGeom>
              <a:ln w="3032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4549114" y="1444379"/>
                <a:ext cx="713105" cy="713105"/>
              </a:xfrm>
              <a:custGeom>
                <a:avLst/>
                <a:gdLst/>
                <a:ahLst/>
                <a:cxnLst/>
                <a:rect l="l" t="t" r="r" b="b"/>
                <a:pathLst>
                  <a:path w="713104" h="713105">
                    <a:moveTo>
                      <a:pt x="355431" y="0"/>
                    </a:moveTo>
                    <a:lnTo>
                      <a:pt x="298157" y="5053"/>
                    </a:lnTo>
                    <a:lnTo>
                      <a:pt x="245938" y="18529"/>
                    </a:lnTo>
                    <a:lnTo>
                      <a:pt x="193718" y="37058"/>
                    </a:lnTo>
                    <a:lnTo>
                      <a:pt x="146551" y="65695"/>
                    </a:lnTo>
                    <a:lnTo>
                      <a:pt x="104439" y="104439"/>
                    </a:lnTo>
                    <a:lnTo>
                      <a:pt x="70749" y="143183"/>
                    </a:lnTo>
                    <a:lnTo>
                      <a:pt x="42111" y="190350"/>
                    </a:lnTo>
                    <a:lnTo>
                      <a:pt x="18529" y="242569"/>
                    </a:lnTo>
                    <a:lnTo>
                      <a:pt x="3368" y="299843"/>
                    </a:lnTo>
                    <a:lnTo>
                      <a:pt x="0" y="357116"/>
                    </a:lnTo>
                    <a:lnTo>
                      <a:pt x="3368" y="412705"/>
                    </a:lnTo>
                    <a:lnTo>
                      <a:pt x="18529" y="464925"/>
                    </a:lnTo>
                    <a:lnTo>
                      <a:pt x="42111" y="517145"/>
                    </a:lnTo>
                    <a:lnTo>
                      <a:pt x="70749" y="565997"/>
                    </a:lnTo>
                    <a:lnTo>
                      <a:pt x="104439" y="608109"/>
                    </a:lnTo>
                    <a:lnTo>
                      <a:pt x="146551" y="641799"/>
                    </a:lnTo>
                    <a:lnTo>
                      <a:pt x="193718" y="670436"/>
                    </a:lnTo>
                    <a:lnTo>
                      <a:pt x="245938" y="694019"/>
                    </a:lnTo>
                    <a:lnTo>
                      <a:pt x="298157" y="707495"/>
                    </a:lnTo>
                    <a:lnTo>
                      <a:pt x="355431" y="712550"/>
                    </a:lnTo>
                    <a:lnTo>
                      <a:pt x="412705" y="707495"/>
                    </a:lnTo>
                    <a:lnTo>
                      <a:pt x="469978" y="694019"/>
                    </a:lnTo>
                    <a:lnTo>
                      <a:pt x="522198" y="670436"/>
                    </a:lnTo>
                    <a:lnTo>
                      <a:pt x="569365" y="641799"/>
                    </a:lnTo>
                    <a:lnTo>
                      <a:pt x="608109" y="608109"/>
                    </a:lnTo>
                    <a:lnTo>
                      <a:pt x="646852" y="565997"/>
                    </a:lnTo>
                    <a:lnTo>
                      <a:pt x="673804" y="517145"/>
                    </a:lnTo>
                    <a:lnTo>
                      <a:pt x="694018" y="464925"/>
                    </a:lnTo>
                    <a:lnTo>
                      <a:pt x="707495" y="412705"/>
                    </a:lnTo>
                    <a:lnTo>
                      <a:pt x="712332" y="354661"/>
                    </a:lnTo>
                    <a:lnTo>
                      <a:pt x="707495" y="299843"/>
                    </a:lnTo>
                    <a:lnTo>
                      <a:pt x="694018" y="242569"/>
                    </a:lnTo>
                    <a:lnTo>
                      <a:pt x="673804" y="190350"/>
                    </a:lnTo>
                    <a:lnTo>
                      <a:pt x="646852" y="143183"/>
                    </a:lnTo>
                    <a:lnTo>
                      <a:pt x="569365" y="65695"/>
                    </a:lnTo>
                    <a:lnTo>
                      <a:pt x="522198" y="37058"/>
                    </a:lnTo>
                    <a:lnTo>
                      <a:pt x="469978" y="18529"/>
                    </a:lnTo>
                    <a:lnTo>
                      <a:pt x="412705" y="5053"/>
                    </a:lnTo>
                    <a:lnTo>
                      <a:pt x="355431" y="0"/>
                    </a:lnTo>
                    <a:close/>
                  </a:path>
                  <a:path w="713104" h="713105">
                    <a:moveTo>
                      <a:pt x="712548" y="352063"/>
                    </a:moveTo>
                    <a:lnTo>
                      <a:pt x="712332" y="354661"/>
                    </a:lnTo>
                    <a:lnTo>
                      <a:pt x="712548" y="357116"/>
                    </a:lnTo>
                    <a:lnTo>
                      <a:pt x="712548" y="35206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4549114" y="1444379"/>
                <a:ext cx="713105" cy="713105"/>
              </a:xfrm>
              <a:custGeom>
                <a:avLst/>
                <a:gdLst/>
                <a:ahLst/>
                <a:cxnLst/>
                <a:rect l="l" t="t" r="r" b="b"/>
                <a:pathLst>
                  <a:path w="713104" h="713105">
                    <a:moveTo>
                      <a:pt x="712548" y="352063"/>
                    </a:moveTo>
                    <a:lnTo>
                      <a:pt x="707495" y="299843"/>
                    </a:lnTo>
                    <a:lnTo>
                      <a:pt x="694019" y="242570"/>
                    </a:lnTo>
                    <a:lnTo>
                      <a:pt x="673804" y="190350"/>
                    </a:lnTo>
                    <a:lnTo>
                      <a:pt x="646852" y="143183"/>
                    </a:lnTo>
                    <a:lnTo>
                      <a:pt x="608109" y="104439"/>
                    </a:lnTo>
                    <a:lnTo>
                      <a:pt x="569365" y="65696"/>
                    </a:lnTo>
                    <a:lnTo>
                      <a:pt x="522198" y="37059"/>
                    </a:lnTo>
                    <a:lnTo>
                      <a:pt x="469979" y="18529"/>
                    </a:lnTo>
                    <a:lnTo>
                      <a:pt x="412705" y="5053"/>
                    </a:lnTo>
                    <a:lnTo>
                      <a:pt x="355432" y="0"/>
                    </a:lnTo>
                    <a:lnTo>
                      <a:pt x="298158" y="5053"/>
                    </a:lnTo>
                    <a:lnTo>
                      <a:pt x="245938" y="18529"/>
                    </a:lnTo>
                    <a:lnTo>
                      <a:pt x="193718" y="37059"/>
                    </a:lnTo>
                    <a:lnTo>
                      <a:pt x="146552" y="65696"/>
                    </a:lnTo>
                    <a:lnTo>
                      <a:pt x="104439" y="104439"/>
                    </a:lnTo>
                    <a:lnTo>
                      <a:pt x="70749" y="143183"/>
                    </a:lnTo>
                    <a:lnTo>
                      <a:pt x="42112" y="190350"/>
                    </a:lnTo>
                    <a:lnTo>
                      <a:pt x="18529" y="242570"/>
                    </a:lnTo>
                    <a:lnTo>
                      <a:pt x="3369" y="299843"/>
                    </a:lnTo>
                    <a:lnTo>
                      <a:pt x="0" y="357117"/>
                    </a:lnTo>
                    <a:lnTo>
                      <a:pt x="3369" y="412706"/>
                    </a:lnTo>
                    <a:lnTo>
                      <a:pt x="18529" y="464926"/>
                    </a:lnTo>
                    <a:lnTo>
                      <a:pt x="42112" y="517146"/>
                    </a:lnTo>
                    <a:lnTo>
                      <a:pt x="70749" y="565997"/>
                    </a:lnTo>
                    <a:lnTo>
                      <a:pt x="104439" y="608109"/>
                    </a:lnTo>
                    <a:lnTo>
                      <a:pt x="146552" y="641800"/>
                    </a:lnTo>
                    <a:lnTo>
                      <a:pt x="193718" y="670436"/>
                    </a:lnTo>
                    <a:lnTo>
                      <a:pt x="245938" y="694020"/>
                    </a:lnTo>
                    <a:lnTo>
                      <a:pt x="298158" y="707496"/>
                    </a:lnTo>
                    <a:lnTo>
                      <a:pt x="355432" y="712549"/>
                    </a:lnTo>
                    <a:lnTo>
                      <a:pt x="412705" y="707496"/>
                    </a:lnTo>
                    <a:lnTo>
                      <a:pt x="469979" y="694020"/>
                    </a:lnTo>
                    <a:lnTo>
                      <a:pt x="522198" y="670436"/>
                    </a:lnTo>
                    <a:lnTo>
                      <a:pt x="569365" y="641800"/>
                    </a:lnTo>
                    <a:lnTo>
                      <a:pt x="608109" y="608109"/>
                    </a:lnTo>
                    <a:lnTo>
                      <a:pt x="646852" y="565997"/>
                    </a:lnTo>
                    <a:lnTo>
                      <a:pt x="673804" y="517146"/>
                    </a:lnTo>
                    <a:lnTo>
                      <a:pt x="694019" y="464926"/>
                    </a:lnTo>
                    <a:lnTo>
                      <a:pt x="707495" y="412706"/>
                    </a:lnTo>
                    <a:lnTo>
                      <a:pt x="712548" y="357117"/>
                    </a:lnTo>
                  </a:path>
                </a:pathLst>
              </a:custGeom>
              <a:ln w="2863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4372239" y="2333802"/>
                <a:ext cx="1069975" cy="713105"/>
              </a:xfrm>
              <a:custGeom>
                <a:avLst/>
                <a:gdLst/>
                <a:ahLst/>
                <a:cxnLst/>
                <a:rect l="l" t="t" r="r" b="b"/>
                <a:pathLst>
                  <a:path w="1069975" h="713105">
                    <a:moveTo>
                      <a:pt x="0" y="0"/>
                    </a:moveTo>
                    <a:lnTo>
                      <a:pt x="1069666" y="0"/>
                    </a:lnTo>
                    <a:lnTo>
                      <a:pt x="1069666" y="712549"/>
                    </a:lnTo>
                    <a:lnTo>
                      <a:pt x="0" y="712549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22" name="object 22"/>
            <p:cNvSpPr txBox="1"/>
            <p:nvPr/>
          </p:nvSpPr>
          <p:spPr>
            <a:xfrm>
              <a:off x="4441202" y="2121498"/>
              <a:ext cx="92449" cy="18783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>
                <a:spcBef>
                  <a:spcPts val="88"/>
                </a:spcBef>
              </a:pPr>
              <a:r>
                <a:rPr sz="1147" spc="-44" dirty="0">
                  <a:latin typeface="Arial MT"/>
                  <a:cs typeface="Arial MT"/>
                </a:rPr>
                <a:t>$</a:t>
              </a:r>
              <a:endParaRPr sz="1147">
                <a:latin typeface="Arial MT"/>
                <a:cs typeface="Arial MT"/>
              </a:endParaRPr>
            </a:p>
          </p:txBody>
        </p:sp>
        <p:grpSp>
          <p:nvGrpSpPr>
            <p:cNvPr id="23" name="object 23"/>
            <p:cNvGrpSpPr/>
            <p:nvPr/>
          </p:nvGrpSpPr>
          <p:grpSpPr>
            <a:xfrm>
              <a:off x="6031560" y="1261566"/>
              <a:ext cx="953060" cy="1767728"/>
              <a:chOff x="6683367" y="1429774"/>
              <a:chExt cx="1080135" cy="2003425"/>
            </a:xfrm>
          </p:grpSpPr>
          <p:sp>
            <p:nvSpPr>
              <p:cNvPr id="24" name="object 24"/>
              <p:cNvSpPr/>
              <p:nvPr/>
            </p:nvSpPr>
            <p:spPr>
              <a:xfrm>
                <a:off x="7226648" y="3069935"/>
                <a:ext cx="0" cy="347980"/>
              </a:xfrm>
              <a:custGeom>
                <a:avLst/>
                <a:gdLst/>
                <a:ahLst/>
                <a:cxnLst/>
                <a:rect l="l" t="t" r="r" b="b"/>
                <a:pathLst>
                  <a:path h="347979">
                    <a:moveTo>
                      <a:pt x="0" y="0"/>
                    </a:moveTo>
                    <a:lnTo>
                      <a:pt x="0" y="347852"/>
                    </a:lnTo>
                  </a:path>
                </a:pathLst>
              </a:custGeom>
              <a:ln w="3032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7225805" y="2156928"/>
                <a:ext cx="1905" cy="177165"/>
              </a:xfrm>
              <a:custGeom>
                <a:avLst/>
                <a:gdLst/>
                <a:ahLst/>
                <a:cxnLst/>
                <a:rect l="l" t="t" r="r" b="b"/>
                <a:pathLst>
                  <a:path w="1904" h="177164">
                    <a:moveTo>
                      <a:pt x="0" y="0"/>
                    </a:moveTo>
                    <a:lnTo>
                      <a:pt x="1685" y="176873"/>
                    </a:lnTo>
                  </a:path>
                </a:pathLst>
              </a:custGeom>
              <a:ln w="2863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6" name="object 26"/>
              <p:cNvSpPr/>
              <p:nvPr/>
            </p:nvSpPr>
            <p:spPr>
              <a:xfrm>
                <a:off x="6868688" y="1444379"/>
                <a:ext cx="714375" cy="713105"/>
              </a:xfrm>
              <a:custGeom>
                <a:avLst/>
                <a:gdLst/>
                <a:ahLst/>
                <a:cxnLst/>
                <a:rect l="l" t="t" r="r" b="b"/>
                <a:pathLst>
                  <a:path w="714375" h="713105">
                    <a:moveTo>
                      <a:pt x="357117" y="0"/>
                    </a:moveTo>
                    <a:lnTo>
                      <a:pt x="299844" y="5053"/>
                    </a:lnTo>
                    <a:lnTo>
                      <a:pt x="242570" y="18529"/>
                    </a:lnTo>
                    <a:lnTo>
                      <a:pt x="190350" y="37058"/>
                    </a:lnTo>
                    <a:lnTo>
                      <a:pt x="148238" y="65695"/>
                    </a:lnTo>
                    <a:lnTo>
                      <a:pt x="104440" y="104439"/>
                    </a:lnTo>
                    <a:lnTo>
                      <a:pt x="67381" y="143183"/>
                    </a:lnTo>
                    <a:lnTo>
                      <a:pt x="38743" y="190350"/>
                    </a:lnTo>
                    <a:lnTo>
                      <a:pt x="20214" y="242569"/>
                    </a:lnTo>
                    <a:lnTo>
                      <a:pt x="5054" y="299843"/>
                    </a:lnTo>
                    <a:lnTo>
                      <a:pt x="0" y="357116"/>
                    </a:lnTo>
                    <a:lnTo>
                      <a:pt x="5054" y="412705"/>
                    </a:lnTo>
                    <a:lnTo>
                      <a:pt x="20214" y="464925"/>
                    </a:lnTo>
                    <a:lnTo>
                      <a:pt x="38743" y="517145"/>
                    </a:lnTo>
                    <a:lnTo>
                      <a:pt x="67381" y="565997"/>
                    </a:lnTo>
                    <a:lnTo>
                      <a:pt x="104440" y="608109"/>
                    </a:lnTo>
                    <a:lnTo>
                      <a:pt x="148238" y="641799"/>
                    </a:lnTo>
                    <a:lnTo>
                      <a:pt x="190350" y="670436"/>
                    </a:lnTo>
                    <a:lnTo>
                      <a:pt x="242570" y="694019"/>
                    </a:lnTo>
                    <a:lnTo>
                      <a:pt x="299844" y="707495"/>
                    </a:lnTo>
                    <a:lnTo>
                      <a:pt x="357117" y="712550"/>
                    </a:lnTo>
                    <a:lnTo>
                      <a:pt x="414390" y="707495"/>
                    </a:lnTo>
                    <a:lnTo>
                      <a:pt x="471664" y="694019"/>
                    </a:lnTo>
                    <a:lnTo>
                      <a:pt x="518830" y="670436"/>
                    </a:lnTo>
                    <a:lnTo>
                      <a:pt x="565997" y="641799"/>
                    </a:lnTo>
                    <a:lnTo>
                      <a:pt x="609794" y="608109"/>
                    </a:lnTo>
                    <a:lnTo>
                      <a:pt x="641800" y="565997"/>
                    </a:lnTo>
                    <a:lnTo>
                      <a:pt x="670436" y="517145"/>
                    </a:lnTo>
                    <a:lnTo>
                      <a:pt x="694020" y="464925"/>
                    </a:lnTo>
                    <a:lnTo>
                      <a:pt x="709180" y="412705"/>
                    </a:lnTo>
                    <a:lnTo>
                      <a:pt x="709180" y="352063"/>
                    </a:lnTo>
                    <a:lnTo>
                      <a:pt x="714234" y="357116"/>
                    </a:lnTo>
                    <a:lnTo>
                      <a:pt x="709180" y="299843"/>
                    </a:lnTo>
                    <a:lnTo>
                      <a:pt x="694020" y="242569"/>
                    </a:lnTo>
                    <a:lnTo>
                      <a:pt x="670436" y="190350"/>
                    </a:lnTo>
                    <a:lnTo>
                      <a:pt x="641800" y="143183"/>
                    </a:lnTo>
                    <a:lnTo>
                      <a:pt x="609794" y="104439"/>
                    </a:lnTo>
                    <a:lnTo>
                      <a:pt x="565997" y="65695"/>
                    </a:lnTo>
                    <a:lnTo>
                      <a:pt x="518830" y="37058"/>
                    </a:lnTo>
                    <a:lnTo>
                      <a:pt x="471664" y="18529"/>
                    </a:lnTo>
                    <a:lnTo>
                      <a:pt x="414390" y="5053"/>
                    </a:lnTo>
                    <a:lnTo>
                      <a:pt x="357117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7" name="object 27"/>
              <p:cNvSpPr/>
              <p:nvPr/>
            </p:nvSpPr>
            <p:spPr>
              <a:xfrm>
                <a:off x="6868688" y="1444379"/>
                <a:ext cx="714375" cy="713105"/>
              </a:xfrm>
              <a:custGeom>
                <a:avLst/>
                <a:gdLst/>
                <a:ahLst/>
                <a:cxnLst/>
                <a:rect l="l" t="t" r="r" b="b"/>
                <a:pathLst>
                  <a:path w="714375" h="713105">
                    <a:moveTo>
                      <a:pt x="709180" y="352063"/>
                    </a:moveTo>
                    <a:lnTo>
                      <a:pt x="709180" y="299843"/>
                    </a:lnTo>
                    <a:lnTo>
                      <a:pt x="694019" y="242570"/>
                    </a:lnTo>
                    <a:lnTo>
                      <a:pt x="670436" y="190350"/>
                    </a:lnTo>
                    <a:lnTo>
                      <a:pt x="641799" y="143183"/>
                    </a:lnTo>
                    <a:lnTo>
                      <a:pt x="609793" y="104439"/>
                    </a:lnTo>
                    <a:lnTo>
                      <a:pt x="565996" y="65696"/>
                    </a:lnTo>
                    <a:lnTo>
                      <a:pt x="518830" y="37059"/>
                    </a:lnTo>
                    <a:lnTo>
                      <a:pt x="471663" y="18529"/>
                    </a:lnTo>
                    <a:lnTo>
                      <a:pt x="414390" y="5053"/>
                    </a:lnTo>
                    <a:lnTo>
                      <a:pt x="357116" y="0"/>
                    </a:lnTo>
                    <a:lnTo>
                      <a:pt x="299843" y="5053"/>
                    </a:lnTo>
                    <a:lnTo>
                      <a:pt x="242569" y="18529"/>
                    </a:lnTo>
                    <a:lnTo>
                      <a:pt x="190350" y="37059"/>
                    </a:lnTo>
                    <a:lnTo>
                      <a:pt x="148237" y="65696"/>
                    </a:lnTo>
                    <a:lnTo>
                      <a:pt x="104439" y="104439"/>
                    </a:lnTo>
                    <a:lnTo>
                      <a:pt x="67380" y="143183"/>
                    </a:lnTo>
                    <a:lnTo>
                      <a:pt x="38743" y="190350"/>
                    </a:lnTo>
                    <a:lnTo>
                      <a:pt x="20214" y="242570"/>
                    </a:lnTo>
                    <a:lnTo>
                      <a:pt x="5053" y="299843"/>
                    </a:lnTo>
                    <a:lnTo>
                      <a:pt x="0" y="357117"/>
                    </a:lnTo>
                    <a:lnTo>
                      <a:pt x="5053" y="412706"/>
                    </a:lnTo>
                    <a:lnTo>
                      <a:pt x="20214" y="464926"/>
                    </a:lnTo>
                    <a:lnTo>
                      <a:pt x="38743" y="517146"/>
                    </a:lnTo>
                    <a:lnTo>
                      <a:pt x="67380" y="565997"/>
                    </a:lnTo>
                    <a:lnTo>
                      <a:pt x="104439" y="608109"/>
                    </a:lnTo>
                    <a:lnTo>
                      <a:pt x="148237" y="641800"/>
                    </a:lnTo>
                    <a:lnTo>
                      <a:pt x="190350" y="670436"/>
                    </a:lnTo>
                    <a:lnTo>
                      <a:pt x="242569" y="694020"/>
                    </a:lnTo>
                    <a:lnTo>
                      <a:pt x="299843" y="707496"/>
                    </a:lnTo>
                    <a:lnTo>
                      <a:pt x="357116" y="712549"/>
                    </a:lnTo>
                    <a:lnTo>
                      <a:pt x="414390" y="707496"/>
                    </a:lnTo>
                    <a:lnTo>
                      <a:pt x="471663" y="694020"/>
                    </a:lnTo>
                    <a:lnTo>
                      <a:pt x="518830" y="670436"/>
                    </a:lnTo>
                    <a:lnTo>
                      <a:pt x="565996" y="641800"/>
                    </a:lnTo>
                    <a:lnTo>
                      <a:pt x="609793" y="608109"/>
                    </a:lnTo>
                    <a:lnTo>
                      <a:pt x="641799" y="565997"/>
                    </a:lnTo>
                    <a:lnTo>
                      <a:pt x="670436" y="517146"/>
                    </a:lnTo>
                    <a:lnTo>
                      <a:pt x="694019" y="464926"/>
                    </a:lnTo>
                    <a:lnTo>
                      <a:pt x="709180" y="412706"/>
                    </a:lnTo>
                    <a:lnTo>
                      <a:pt x="714233" y="357117"/>
                    </a:lnTo>
                  </a:path>
                </a:pathLst>
              </a:custGeom>
              <a:ln w="2863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8" name="object 28"/>
              <p:cNvSpPr/>
              <p:nvPr/>
            </p:nvSpPr>
            <p:spPr>
              <a:xfrm>
                <a:off x="6688447" y="2333802"/>
                <a:ext cx="1069975" cy="713105"/>
              </a:xfrm>
              <a:custGeom>
                <a:avLst/>
                <a:gdLst/>
                <a:ahLst/>
                <a:cxnLst/>
                <a:rect l="l" t="t" r="r" b="b"/>
                <a:pathLst>
                  <a:path w="1069975" h="713105">
                    <a:moveTo>
                      <a:pt x="0" y="0"/>
                    </a:moveTo>
                    <a:lnTo>
                      <a:pt x="1069665" y="0"/>
                    </a:lnTo>
                    <a:lnTo>
                      <a:pt x="1069665" y="712549"/>
                    </a:lnTo>
                    <a:lnTo>
                      <a:pt x="0" y="712549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29" name="object 29"/>
            <p:cNvSpPr txBox="1"/>
            <p:nvPr/>
          </p:nvSpPr>
          <p:spPr>
            <a:xfrm>
              <a:off x="4352590" y="1470660"/>
              <a:ext cx="207309" cy="18783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33619">
                <a:spcBef>
                  <a:spcPts val="88"/>
                </a:spcBef>
              </a:pPr>
              <a:r>
                <a:rPr sz="1147" spc="-22" dirty="0">
                  <a:latin typeface="Arial MT"/>
                  <a:cs typeface="Arial MT"/>
                </a:rPr>
                <a:t>P</a:t>
              </a:r>
              <a:r>
                <a:rPr sz="1456" spc="-33" baseline="-17676" dirty="0">
                  <a:latin typeface="Arial MT"/>
                  <a:cs typeface="Arial MT"/>
                </a:rPr>
                <a:t>2</a:t>
              </a:r>
              <a:endParaRPr sz="1456" baseline="-17676">
                <a:latin typeface="Arial MT"/>
                <a:cs typeface="Arial MT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6362232" y="1345155"/>
              <a:ext cx="193862" cy="357564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lnSpc>
                  <a:spcPts val="1672"/>
                </a:lnSpc>
                <a:spcBef>
                  <a:spcPts val="88"/>
                </a:spcBef>
              </a:pPr>
              <a:r>
                <a:rPr sz="1500" b="1" spc="-44" dirty="0">
                  <a:solidFill>
                    <a:srgbClr val="0000FF"/>
                  </a:solidFill>
                  <a:latin typeface="Arial"/>
                  <a:cs typeface="Arial"/>
                </a:rPr>
                <a:t>P</a:t>
              </a:r>
              <a:endParaRPr sz="1500">
                <a:latin typeface="Arial"/>
                <a:cs typeface="Arial"/>
              </a:endParaRPr>
            </a:p>
            <a:p>
              <a:pPr marL="113746">
                <a:lnSpc>
                  <a:spcPts val="1037"/>
                </a:lnSpc>
              </a:pPr>
              <a:r>
                <a:rPr sz="971" spc="-44" dirty="0">
                  <a:latin typeface="Arial MT"/>
                  <a:cs typeface="Arial MT"/>
                </a:rPr>
                <a:t>3</a:t>
              </a:r>
              <a:endParaRPr sz="971">
                <a:latin typeface="Arial MT"/>
                <a:cs typeface="Arial MT"/>
              </a:endParaRPr>
            </a:p>
          </p:txBody>
        </p:sp>
        <p:grpSp>
          <p:nvGrpSpPr>
            <p:cNvPr id="31" name="object 31"/>
            <p:cNvGrpSpPr/>
            <p:nvPr/>
          </p:nvGrpSpPr>
          <p:grpSpPr>
            <a:xfrm>
              <a:off x="2141840" y="2025029"/>
              <a:ext cx="2904565" cy="688601"/>
              <a:chOff x="2275019" y="2295032"/>
              <a:chExt cx="3291840" cy="780415"/>
            </a:xfrm>
          </p:grpSpPr>
          <p:pic>
            <p:nvPicPr>
              <p:cNvPr id="32" name="object 32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275019" y="2913275"/>
                <a:ext cx="96017" cy="161713"/>
              </a:xfrm>
              <a:prstGeom prst="rect">
                <a:avLst/>
              </a:prstGeom>
            </p:spPr>
          </p:pic>
          <p:sp>
            <p:nvSpPr>
              <p:cNvPr id="33" name="object 33"/>
              <p:cNvSpPr/>
              <p:nvPr/>
            </p:nvSpPr>
            <p:spPr>
              <a:xfrm>
                <a:off x="5206060" y="2300122"/>
                <a:ext cx="3556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355600" h="355600">
                    <a:moveTo>
                      <a:pt x="355434" y="151599"/>
                    </a:moveTo>
                    <a:lnTo>
                      <a:pt x="336905" y="99377"/>
                    </a:lnTo>
                    <a:lnTo>
                      <a:pt x="303212" y="52209"/>
                    </a:lnTo>
                    <a:lnTo>
                      <a:pt x="261099" y="18529"/>
                    </a:lnTo>
                    <a:lnTo>
                      <a:pt x="208889" y="5054"/>
                    </a:lnTo>
                    <a:lnTo>
                      <a:pt x="180251" y="0"/>
                    </a:lnTo>
                    <a:lnTo>
                      <a:pt x="151612" y="5054"/>
                    </a:lnTo>
                    <a:lnTo>
                      <a:pt x="122974" y="8420"/>
                    </a:lnTo>
                    <a:lnTo>
                      <a:pt x="99390" y="18529"/>
                    </a:lnTo>
                    <a:lnTo>
                      <a:pt x="75806" y="32004"/>
                    </a:lnTo>
                    <a:lnTo>
                      <a:pt x="52222" y="52209"/>
                    </a:lnTo>
                    <a:lnTo>
                      <a:pt x="37058" y="75793"/>
                    </a:lnTo>
                    <a:lnTo>
                      <a:pt x="23583" y="99377"/>
                    </a:lnTo>
                    <a:lnTo>
                      <a:pt x="8432" y="122961"/>
                    </a:lnTo>
                    <a:lnTo>
                      <a:pt x="3378" y="151599"/>
                    </a:lnTo>
                    <a:lnTo>
                      <a:pt x="0" y="180238"/>
                    </a:lnTo>
                    <a:lnTo>
                      <a:pt x="3378" y="208876"/>
                    </a:lnTo>
                    <a:lnTo>
                      <a:pt x="8432" y="237515"/>
                    </a:lnTo>
                    <a:lnTo>
                      <a:pt x="23583" y="261099"/>
                    </a:lnTo>
                    <a:lnTo>
                      <a:pt x="37058" y="284683"/>
                    </a:lnTo>
                    <a:lnTo>
                      <a:pt x="75806" y="323418"/>
                    </a:lnTo>
                    <a:lnTo>
                      <a:pt x="122974" y="347002"/>
                    </a:lnTo>
                    <a:lnTo>
                      <a:pt x="151612" y="355434"/>
                    </a:lnTo>
                    <a:lnTo>
                      <a:pt x="208889" y="355434"/>
                    </a:lnTo>
                    <a:lnTo>
                      <a:pt x="237515" y="347002"/>
                    </a:lnTo>
                    <a:lnTo>
                      <a:pt x="261099" y="336892"/>
                    </a:lnTo>
                    <a:lnTo>
                      <a:pt x="284683" y="323418"/>
                    </a:lnTo>
                    <a:lnTo>
                      <a:pt x="303212" y="303212"/>
                    </a:lnTo>
                    <a:lnTo>
                      <a:pt x="323430" y="284683"/>
                    </a:lnTo>
                    <a:lnTo>
                      <a:pt x="336905" y="261099"/>
                    </a:lnTo>
                    <a:lnTo>
                      <a:pt x="347014" y="237515"/>
                    </a:lnTo>
                    <a:lnTo>
                      <a:pt x="355434" y="208876"/>
                    </a:lnTo>
                    <a:lnTo>
                      <a:pt x="355434" y="180238"/>
                    </a:lnTo>
                    <a:lnTo>
                      <a:pt x="355434" y="175183"/>
                    </a:lnTo>
                    <a:lnTo>
                      <a:pt x="355434" y="151599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4" name="object 34"/>
              <p:cNvSpPr/>
              <p:nvPr/>
            </p:nvSpPr>
            <p:spPr>
              <a:xfrm>
                <a:off x="5206070" y="2300112"/>
                <a:ext cx="3556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355600" h="355600">
                    <a:moveTo>
                      <a:pt x="355432" y="175189"/>
                    </a:moveTo>
                    <a:lnTo>
                      <a:pt x="355432" y="151606"/>
                    </a:lnTo>
                    <a:lnTo>
                      <a:pt x="347010" y="122969"/>
                    </a:lnTo>
                    <a:lnTo>
                      <a:pt x="323427" y="75803"/>
                    </a:lnTo>
                    <a:lnTo>
                      <a:pt x="284683" y="32005"/>
                    </a:lnTo>
                    <a:lnTo>
                      <a:pt x="237516" y="8422"/>
                    </a:lnTo>
                    <a:lnTo>
                      <a:pt x="208880" y="5053"/>
                    </a:lnTo>
                    <a:lnTo>
                      <a:pt x="180243" y="0"/>
                    </a:lnTo>
                    <a:lnTo>
                      <a:pt x="151606" y="5053"/>
                    </a:lnTo>
                    <a:lnTo>
                      <a:pt x="122969" y="8422"/>
                    </a:lnTo>
                    <a:lnTo>
                      <a:pt x="99386" y="18529"/>
                    </a:lnTo>
                    <a:lnTo>
                      <a:pt x="75803" y="32005"/>
                    </a:lnTo>
                    <a:lnTo>
                      <a:pt x="52219" y="52219"/>
                    </a:lnTo>
                    <a:lnTo>
                      <a:pt x="37059" y="75803"/>
                    </a:lnTo>
                    <a:lnTo>
                      <a:pt x="23583" y="99386"/>
                    </a:lnTo>
                    <a:lnTo>
                      <a:pt x="8422" y="122969"/>
                    </a:lnTo>
                    <a:lnTo>
                      <a:pt x="3369" y="151606"/>
                    </a:lnTo>
                    <a:lnTo>
                      <a:pt x="0" y="180243"/>
                    </a:lnTo>
                    <a:lnTo>
                      <a:pt x="3369" y="208880"/>
                    </a:lnTo>
                    <a:lnTo>
                      <a:pt x="8422" y="237516"/>
                    </a:lnTo>
                    <a:lnTo>
                      <a:pt x="23583" y="261100"/>
                    </a:lnTo>
                    <a:lnTo>
                      <a:pt x="37059" y="284683"/>
                    </a:lnTo>
                    <a:lnTo>
                      <a:pt x="75803" y="323427"/>
                    </a:lnTo>
                    <a:lnTo>
                      <a:pt x="122969" y="347010"/>
                    </a:lnTo>
                    <a:lnTo>
                      <a:pt x="151606" y="355432"/>
                    </a:lnTo>
                    <a:lnTo>
                      <a:pt x="180243" y="355432"/>
                    </a:lnTo>
                    <a:lnTo>
                      <a:pt x="208880" y="355432"/>
                    </a:lnTo>
                    <a:lnTo>
                      <a:pt x="237516" y="347010"/>
                    </a:lnTo>
                    <a:lnTo>
                      <a:pt x="261100" y="336903"/>
                    </a:lnTo>
                    <a:lnTo>
                      <a:pt x="284683" y="323427"/>
                    </a:lnTo>
                    <a:lnTo>
                      <a:pt x="303212" y="303212"/>
                    </a:lnTo>
                    <a:lnTo>
                      <a:pt x="323427" y="284683"/>
                    </a:lnTo>
                    <a:lnTo>
                      <a:pt x="336903" y="261100"/>
                    </a:lnTo>
                    <a:lnTo>
                      <a:pt x="347010" y="237516"/>
                    </a:lnTo>
                    <a:lnTo>
                      <a:pt x="355432" y="208880"/>
                    </a:lnTo>
                    <a:lnTo>
                      <a:pt x="355432" y="180243"/>
                    </a:lnTo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5" name="object 35"/>
              <p:cNvSpPr/>
              <p:nvPr/>
            </p:nvSpPr>
            <p:spPr>
              <a:xfrm>
                <a:off x="5329039" y="2399499"/>
                <a:ext cx="81280" cy="195580"/>
              </a:xfrm>
              <a:custGeom>
                <a:avLst/>
                <a:gdLst/>
                <a:ahLst/>
                <a:cxnLst/>
                <a:rect l="l" t="t" r="r" b="b"/>
                <a:pathLst>
                  <a:path w="81279" h="195580">
                    <a:moveTo>
                      <a:pt x="80855" y="0"/>
                    </a:moveTo>
                    <a:lnTo>
                      <a:pt x="0" y="0"/>
                    </a:lnTo>
                    <a:lnTo>
                      <a:pt x="0" y="195403"/>
                    </a:lnTo>
                    <a:lnTo>
                      <a:pt x="80855" y="195403"/>
                    </a:lnTo>
                    <a:lnTo>
                      <a:pt x="80855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36" name="object 36"/>
            <p:cNvSpPr txBox="1"/>
            <p:nvPr/>
          </p:nvSpPr>
          <p:spPr>
            <a:xfrm>
              <a:off x="4836564" y="2094604"/>
              <a:ext cx="92449" cy="18783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>
                <a:spcBef>
                  <a:spcPts val="88"/>
                </a:spcBef>
              </a:pPr>
              <a:r>
                <a:rPr sz="1147" spc="-44" dirty="0">
                  <a:latin typeface="Arial MT"/>
                  <a:cs typeface="Arial MT"/>
                </a:rPr>
                <a:t>5</a:t>
              </a:r>
              <a:endParaRPr sz="1147">
                <a:latin typeface="Arial MT"/>
                <a:cs typeface="Arial MT"/>
              </a:endParaRPr>
            </a:p>
          </p:txBody>
        </p:sp>
        <p:grpSp>
          <p:nvGrpSpPr>
            <p:cNvPr id="37" name="object 37"/>
            <p:cNvGrpSpPr/>
            <p:nvPr/>
          </p:nvGrpSpPr>
          <p:grpSpPr>
            <a:xfrm>
              <a:off x="2427214" y="1647522"/>
              <a:ext cx="2262468" cy="1246094"/>
              <a:chOff x="2598443" y="1867191"/>
              <a:chExt cx="2564130" cy="1412240"/>
            </a:xfrm>
          </p:grpSpPr>
          <p:pic>
            <p:nvPicPr>
              <p:cNvPr id="38" name="object 38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024142" y="1948048"/>
                <a:ext cx="96017" cy="161713"/>
              </a:xfrm>
              <a:prstGeom prst="rect">
                <a:avLst/>
              </a:prstGeom>
            </p:spPr>
          </p:pic>
          <p:sp>
            <p:nvSpPr>
              <p:cNvPr id="39" name="object 39"/>
              <p:cNvSpPr/>
              <p:nvPr/>
            </p:nvSpPr>
            <p:spPr>
              <a:xfrm>
                <a:off x="5076361" y="2094602"/>
                <a:ext cx="81280" cy="1179195"/>
              </a:xfrm>
              <a:custGeom>
                <a:avLst/>
                <a:gdLst/>
                <a:ahLst/>
                <a:cxnLst/>
                <a:rect l="l" t="t" r="r" b="b"/>
                <a:pathLst>
                  <a:path w="81279" h="1179195">
                    <a:moveTo>
                      <a:pt x="0" y="0"/>
                    </a:moveTo>
                    <a:lnTo>
                      <a:pt x="57274" y="1179159"/>
                    </a:lnTo>
                    <a:lnTo>
                      <a:pt x="67381" y="1066297"/>
                    </a:lnTo>
                    <a:lnTo>
                      <a:pt x="77487" y="827096"/>
                    </a:lnTo>
                    <a:lnTo>
                      <a:pt x="80857" y="709179"/>
                    </a:lnTo>
                    <a:lnTo>
                      <a:pt x="80857" y="586210"/>
                    </a:lnTo>
                    <a:lnTo>
                      <a:pt x="77487" y="466609"/>
                    </a:lnTo>
                    <a:lnTo>
                      <a:pt x="67381" y="347009"/>
                    </a:lnTo>
                    <a:lnTo>
                      <a:pt x="52219" y="229094"/>
                    </a:lnTo>
                    <a:lnTo>
                      <a:pt x="28637" y="1145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0" name="object 40"/>
              <p:cNvSpPr/>
              <p:nvPr/>
            </p:nvSpPr>
            <p:spPr>
              <a:xfrm>
                <a:off x="5076361" y="2094602"/>
                <a:ext cx="81280" cy="1179195"/>
              </a:xfrm>
              <a:custGeom>
                <a:avLst/>
                <a:gdLst/>
                <a:ahLst/>
                <a:cxnLst/>
                <a:rect l="l" t="t" r="r" b="b"/>
                <a:pathLst>
                  <a:path w="81279" h="1179195">
                    <a:moveTo>
                      <a:pt x="57273" y="1179159"/>
                    </a:moveTo>
                    <a:lnTo>
                      <a:pt x="67380" y="1066297"/>
                    </a:lnTo>
                    <a:lnTo>
                      <a:pt x="72434" y="946696"/>
                    </a:lnTo>
                    <a:lnTo>
                      <a:pt x="77487" y="827096"/>
                    </a:lnTo>
                    <a:lnTo>
                      <a:pt x="80856" y="709180"/>
                    </a:lnTo>
                    <a:lnTo>
                      <a:pt x="80856" y="586210"/>
                    </a:lnTo>
                    <a:lnTo>
                      <a:pt x="77487" y="466610"/>
                    </a:lnTo>
                    <a:lnTo>
                      <a:pt x="67380" y="347009"/>
                    </a:lnTo>
                    <a:lnTo>
                      <a:pt x="52219" y="229093"/>
                    </a:lnTo>
                    <a:lnTo>
                      <a:pt x="28636" y="114546"/>
                    </a:lnTo>
                    <a:lnTo>
                      <a:pt x="0" y="0"/>
                    </a:lnTo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pic>
            <p:nvPicPr>
              <p:cNvPr id="41" name="object 41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598443" y="1867191"/>
                <a:ext cx="129708" cy="158344"/>
              </a:xfrm>
              <a:prstGeom prst="rect">
                <a:avLst/>
              </a:prstGeom>
            </p:spPr>
          </p:pic>
          <p:sp>
            <p:nvSpPr>
              <p:cNvPr id="42" name="object 42"/>
              <p:cNvSpPr/>
              <p:nvPr/>
            </p:nvSpPr>
            <p:spPr>
              <a:xfrm>
                <a:off x="2694461" y="1996899"/>
                <a:ext cx="67945" cy="636905"/>
              </a:xfrm>
              <a:custGeom>
                <a:avLst/>
                <a:gdLst/>
                <a:ahLst/>
                <a:cxnLst/>
                <a:rect l="l" t="t" r="r" b="b"/>
                <a:pathLst>
                  <a:path w="67944" h="636905">
                    <a:moveTo>
                      <a:pt x="0" y="0"/>
                    </a:moveTo>
                    <a:lnTo>
                      <a:pt x="23583" y="636746"/>
                    </a:lnTo>
                    <a:lnTo>
                      <a:pt x="33690" y="579473"/>
                    </a:lnTo>
                    <a:lnTo>
                      <a:pt x="42113" y="513777"/>
                    </a:lnTo>
                    <a:lnTo>
                      <a:pt x="47166" y="446396"/>
                    </a:lnTo>
                    <a:lnTo>
                      <a:pt x="57274" y="380700"/>
                    </a:lnTo>
                    <a:lnTo>
                      <a:pt x="62327" y="308265"/>
                    </a:lnTo>
                    <a:lnTo>
                      <a:pt x="67381" y="242570"/>
                    </a:lnTo>
                    <a:lnTo>
                      <a:pt x="62327" y="175190"/>
                    </a:lnTo>
                    <a:lnTo>
                      <a:pt x="47166" y="112862"/>
                    </a:lnTo>
                    <a:lnTo>
                      <a:pt x="28637" y="572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3" name="object 43"/>
              <p:cNvSpPr/>
              <p:nvPr/>
            </p:nvSpPr>
            <p:spPr>
              <a:xfrm>
                <a:off x="2694461" y="1996899"/>
                <a:ext cx="67945" cy="636905"/>
              </a:xfrm>
              <a:custGeom>
                <a:avLst/>
                <a:gdLst/>
                <a:ahLst/>
                <a:cxnLst/>
                <a:rect l="l" t="t" r="r" b="b"/>
                <a:pathLst>
                  <a:path w="67944" h="636905">
                    <a:moveTo>
                      <a:pt x="23583" y="636746"/>
                    </a:moveTo>
                    <a:lnTo>
                      <a:pt x="33690" y="579472"/>
                    </a:lnTo>
                    <a:lnTo>
                      <a:pt x="42112" y="513776"/>
                    </a:lnTo>
                    <a:lnTo>
                      <a:pt x="47166" y="446396"/>
                    </a:lnTo>
                    <a:lnTo>
                      <a:pt x="57273" y="380700"/>
                    </a:lnTo>
                    <a:lnTo>
                      <a:pt x="62327" y="308266"/>
                    </a:lnTo>
                    <a:lnTo>
                      <a:pt x="67380" y="242569"/>
                    </a:lnTo>
                    <a:lnTo>
                      <a:pt x="62327" y="175189"/>
                    </a:lnTo>
                    <a:lnTo>
                      <a:pt x="47166" y="112862"/>
                    </a:lnTo>
                    <a:lnTo>
                      <a:pt x="28636" y="57273"/>
                    </a:lnTo>
                    <a:lnTo>
                      <a:pt x="0" y="0"/>
                    </a:lnTo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4" name="object 44"/>
              <p:cNvSpPr/>
              <p:nvPr/>
            </p:nvSpPr>
            <p:spPr>
              <a:xfrm>
                <a:off x="2793847" y="2224315"/>
                <a:ext cx="357505" cy="357505"/>
              </a:xfrm>
              <a:custGeom>
                <a:avLst/>
                <a:gdLst/>
                <a:ahLst/>
                <a:cxnLst/>
                <a:rect l="l" t="t" r="r" b="b"/>
                <a:pathLst>
                  <a:path w="357505" h="357505">
                    <a:moveTo>
                      <a:pt x="357111" y="180238"/>
                    </a:moveTo>
                    <a:lnTo>
                      <a:pt x="352056" y="153289"/>
                    </a:lnTo>
                    <a:lnTo>
                      <a:pt x="347002" y="124650"/>
                    </a:lnTo>
                    <a:lnTo>
                      <a:pt x="338582" y="99390"/>
                    </a:lnTo>
                    <a:lnTo>
                      <a:pt x="323418" y="75806"/>
                    </a:lnTo>
                    <a:lnTo>
                      <a:pt x="304888" y="52222"/>
                    </a:lnTo>
                    <a:lnTo>
                      <a:pt x="281305" y="33693"/>
                    </a:lnTo>
                    <a:lnTo>
                      <a:pt x="262775" y="18529"/>
                    </a:lnTo>
                    <a:lnTo>
                      <a:pt x="234137" y="10109"/>
                    </a:lnTo>
                    <a:lnTo>
                      <a:pt x="176872" y="0"/>
                    </a:lnTo>
                    <a:lnTo>
                      <a:pt x="119595" y="10109"/>
                    </a:lnTo>
                    <a:lnTo>
                      <a:pt x="72428" y="33693"/>
                    </a:lnTo>
                    <a:lnTo>
                      <a:pt x="33680" y="75806"/>
                    </a:lnTo>
                    <a:lnTo>
                      <a:pt x="10096" y="124650"/>
                    </a:lnTo>
                    <a:lnTo>
                      <a:pt x="0" y="153289"/>
                    </a:lnTo>
                    <a:lnTo>
                      <a:pt x="0" y="208876"/>
                    </a:lnTo>
                    <a:lnTo>
                      <a:pt x="20205" y="261099"/>
                    </a:lnTo>
                    <a:lnTo>
                      <a:pt x="52209" y="304901"/>
                    </a:lnTo>
                    <a:lnTo>
                      <a:pt x="96012" y="338582"/>
                    </a:lnTo>
                    <a:lnTo>
                      <a:pt x="148234" y="357111"/>
                    </a:lnTo>
                    <a:lnTo>
                      <a:pt x="205511" y="357111"/>
                    </a:lnTo>
                    <a:lnTo>
                      <a:pt x="234137" y="347014"/>
                    </a:lnTo>
                    <a:lnTo>
                      <a:pt x="262775" y="338582"/>
                    </a:lnTo>
                    <a:lnTo>
                      <a:pt x="281305" y="323430"/>
                    </a:lnTo>
                    <a:lnTo>
                      <a:pt x="304888" y="304901"/>
                    </a:lnTo>
                    <a:lnTo>
                      <a:pt x="323418" y="286372"/>
                    </a:lnTo>
                    <a:lnTo>
                      <a:pt x="338582" y="261099"/>
                    </a:lnTo>
                    <a:lnTo>
                      <a:pt x="347002" y="237515"/>
                    </a:lnTo>
                    <a:lnTo>
                      <a:pt x="352056" y="208876"/>
                    </a:lnTo>
                    <a:lnTo>
                      <a:pt x="357111" y="180238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5" name="object 45"/>
              <p:cNvSpPr/>
              <p:nvPr/>
            </p:nvSpPr>
            <p:spPr>
              <a:xfrm>
                <a:off x="2793848" y="2224309"/>
                <a:ext cx="357505" cy="357505"/>
              </a:xfrm>
              <a:custGeom>
                <a:avLst/>
                <a:gdLst/>
                <a:ahLst/>
                <a:cxnLst/>
                <a:rect l="l" t="t" r="r" b="b"/>
                <a:pathLst>
                  <a:path w="357505" h="357505">
                    <a:moveTo>
                      <a:pt x="352063" y="176873"/>
                    </a:moveTo>
                    <a:lnTo>
                      <a:pt x="352063" y="153290"/>
                    </a:lnTo>
                    <a:lnTo>
                      <a:pt x="347009" y="124654"/>
                    </a:lnTo>
                    <a:lnTo>
                      <a:pt x="338587" y="99386"/>
                    </a:lnTo>
                    <a:lnTo>
                      <a:pt x="323426" y="75803"/>
                    </a:lnTo>
                    <a:lnTo>
                      <a:pt x="304896" y="52219"/>
                    </a:lnTo>
                    <a:lnTo>
                      <a:pt x="281313" y="33690"/>
                    </a:lnTo>
                    <a:lnTo>
                      <a:pt x="262784" y="18529"/>
                    </a:lnTo>
                    <a:lnTo>
                      <a:pt x="234147" y="10107"/>
                    </a:lnTo>
                    <a:lnTo>
                      <a:pt x="205510" y="5053"/>
                    </a:lnTo>
                    <a:lnTo>
                      <a:pt x="176873" y="0"/>
                    </a:lnTo>
                    <a:lnTo>
                      <a:pt x="148237" y="5053"/>
                    </a:lnTo>
                    <a:lnTo>
                      <a:pt x="119600" y="10107"/>
                    </a:lnTo>
                    <a:lnTo>
                      <a:pt x="96017" y="18529"/>
                    </a:lnTo>
                    <a:lnTo>
                      <a:pt x="52219" y="52219"/>
                    </a:lnTo>
                    <a:lnTo>
                      <a:pt x="20214" y="99386"/>
                    </a:lnTo>
                    <a:lnTo>
                      <a:pt x="0" y="153290"/>
                    </a:lnTo>
                    <a:lnTo>
                      <a:pt x="0" y="180242"/>
                    </a:lnTo>
                    <a:lnTo>
                      <a:pt x="0" y="208879"/>
                    </a:lnTo>
                    <a:lnTo>
                      <a:pt x="20214" y="261099"/>
                    </a:lnTo>
                    <a:lnTo>
                      <a:pt x="52219" y="304896"/>
                    </a:lnTo>
                    <a:lnTo>
                      <a:pt x="96017" y="338587"/>
                    </a:lnTo>
                    <a:lnTo>
                      <a:pt x="148237" y="357116"/>
                    </a:lnTo>
                    <a:lnTo>
                      <a:pt x="176873" y="357116"/>
                    </a:lnTo>
                    <a:lnTo>
                      <a:pt x="205510" y="357116"/>
                    </a:lnTo>
                    <a:lnTo>
                      <a:pt x="234147" y="347009"/>
                    </a:lnTo>
                    <a:lnTo>
                      <a:pt x="262784" y="338587"/>
                    </a:lnTo>
                    <a:lnTo>
                      <a:pt x="281313" y="323426"/>
                    </a:lnTo>
                    <a:lnTo>
                      <a:pt x="323426" y="286367"/>
                    </a:lnTo>
                    <a:lnTo>
                      <a:pt x="347009" y="237516"/>
                    </a:lnTo>
                    <a:lnTo>
                      <a:pt x="352063" y="208879"/>
                    </a:lnTo>
                    <a:lnTo>
                      <a:pt x="357116" y="180242"/>
                    </a:lnTo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6" name="object 46"/>
              <p:cNvSpPr/>
              <p:nvPr/>
            </p:nvSpPr>
            <p:spPr>
              <a:xfrm>
                <a:off x="2913448" y="2325380"/>
                <a:ext cx="81280" cy="195580"/>
              </a:xfrm>
              <a:custGeom>
                <a:avLst/>
                <a:gdLst/>
                <a:ahLst/>
                <a:cxnLst/>
                <a:rect l="l" t="t" r="r" b="b"/>
                <a:pathLst>
                  <a:path w="81280" h="195580">
                    <a:moveTo>
                      <a:pt x="80857" y="0"/>
                    </a:moveTo>
                    <a:lnTo>
                      <a:pt x="0" y="0"/>
                    </a:lnTo>
                    <a:lnTo>
                      <a:pt x="0" y="195404"/>
                    </a:lnTo>
                    <a:lnTo>
                      <a:pt x="80857" y="195404"/>
                    </a:lnTo>
                    <a:lnTo>
                      <a:pt x="80857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47" name="object 47"/>
            <p:cNvSpPr txBox="1"/>
            <p:nvPr/>
          </p:nvSpPr>
          <p:spPr>
            <a:xfrm>
              <a:off x="4748870" y="1828856"/>
              <a:ext cx="326651" cy="166712"/>
            </a:xfrm>
            <a:prstGeom prst="rect">
              <a:avLst/>
            </a:prstGeom>
            <a:solidFill>
              <a:srgbClr val="FFFF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1293"/>
                </a:lnSpc>
              </a:pPr>
              <a:r>
                <a:rPr sz="1147" dirty="0">
                  <a:latin typeface="Arial MT"/>
                  <a:cs typeface="Arial MT"/>
                </a:rPr>
                <a:t>u</a:t>
              </a:r>
              <a:r>
                <a:rPr sz="1147" spc="-53" dirty="0">
                  <a:latin typeface="Arial MT"/>
                  <a:cs typeface="Arial MT"/>
                </a:rPr>
                <a:t> </a:t>
              </a:r>
              <a:r>
                <a:rPr sz="1147" dirty="0">
                  <a:latin typeface="Arial MT"/>
                  <a:cs typeface="Arial MT"/>
                </a:rPr>
                <a:t>=</a:t>
              </a:r>
              <a:r>
                <a:rPr sz="1147" spc="-22" dirty="0">
                  <a:latin typeface="Arial MT"/>
                  <a:cs typeface="Arial MT"/>
                </a:rPr>
                <a:t> </a:t>
              </a:r>
              <a:r>
                <a:rPr sz="1147" spc="-44" dirty="0">
                  <a:latin typeface="Arial MT"/>
                  <a:cs typeface="Arial MT"/>
                </a:rPr>
                <a:t>?</a:t>
              </a:r>
              <a:endParaRPr sz="1147">
                <a:latin typeface="Arial MT"/>
                <a:cs typeface="Arial MT"/>
              </a:endParaRPr>
            </a:p>
          </p:txBody>
        </p:sp>
        <p:sp>
          <p:nvSpPr>
            <p:cNvPr id="48" name="object 48"/>
            <p:cNvSpPr txBox="1"/>
            <p:nvPr/>
          </p:nvSpPr>
          <p:spPr>
            <a:xfrm>
              <a:off x="2693955" y="2030058"/>
              <a:ext cx="103654" cy="18783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147" spc="-44" dirty="0">
                  <a:latin typeface="Arial MT"/>
                  <a:cs typeface="Arial MT"/>
                </a:rPr>
                <a:t>4</a:t>
              </a:r>
              <a:endParaRPr sz="1147">
                <a:latin typeface="Arial MT"/>
                <a:cs typeface="Arial MT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2659078" y="1724820"/>
              <a:ext cx="295835" cy="172571"/>
            </a:xfrm>
            <a:custGeom>
              <a:avLst/>
              <a:gdLst/>
              <a:ahLst/>
              <a:cxnLst/>
              <a:rect l="l" t="t" r="r" b="b"/>
              <a:pathLst>
                <a:path w="335280" h="195580">
                  <a:moveTo>
                    <a:pt x="80860" y="0"/>
                  </a:moveTo>
                  <a:lnTo>
                    <a:pt x="0" y="0"/>
                  </a:lnTo>
                  <a:lnTo>
                    <a:pt x="0" y="195402"/>
                  </a:lnTo>
                  <a:lnTo>
                    <a:pt x="80860" y="195402"/>
                  </a:lnTo>
                  <a:lnTo>
                    <a:pt x="80860" y="0"/>
                  </a:lnTo>
                  <a:close/>
                </a:path>
                <a:path w="335280" h="195580">
                  <a:moveTo>
                    <a:pt x="335216" y="0"/>
                  </a:moveTo>
                  <a:lnTo>
                    <a:pt x="89281" y="0"/>
                  </a:lnTo>
                  <a:lnTo>
                    <a:pt x="89281" y="195402"/>
                  </a:lnTo>
                  <a:lnTo>
                    <a:pt x="335216" y="195402"/>
                  </a:lnTo>
                  <a:lnTo>
                    <a:pt x="33521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0" name="object 50"/>
            <p:cNvSpPr txBox="1"/>
            <p:nvPr/>
          </p:nvSpPr>
          <p:spPr>
            <a:xfrm>
              <a:off x="2647878" y="1701950"/>
              <a:ext cx="345701" cy="18783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147" dirty="0">
                  <a:latin typeface="Arial MT"/>
                  <a:cs typeface="Arial MT"/>
                </a:rPr>
                <a:t>u</a:t>
              </a:r>
              <a:r>
                <a:rPr sz="1147" spc="-31" dirty="0">
                  <a:latin typeface="Arial MT"/>
                  <a:cs typeface="Arial MT"/>
                </a:rPr>
                <a:t> </a:t>
              </a:r>
              <a:r>
                <a:rPr sz="1147" dirty="0">
                  <a:latin typeface="Arial MT"/>
                  <a:cs typeface="Arial MT"/>
                </a:rPr>
                <a:t>=</a:t>
              </a:r>
              <a:r>
                <a:rPr sz="1147" spc="-22" dirty="0">
                  <a:latin typeface="Arial MT"/>
                  <a:cs typeface="Arial MT"/>
                </a:rPr>
                <a:t> </a:t>
              </a:r>
              <a:r>
                <a:rPr sz="1147" spc="-44" dirty="0">
                  <a:latin typeface="Arial MT"/>
                  <a:cs typeface="Arial MT"/>
                </a:rPr>
                <a:t>?</a:t>
              </a:r>
              <a:endParaRPr sz="1147">
                <a:latin typeface="Arial MT"/>
                <a:cs typeface="Arial MT"/>
              </a:endParaRPr>
            </a:p>
          </p:txBody>
        </p:sp>
        <p:sp>
          <p:nvSpPr>
            <p:cNvPr id="51" name="object 51"/>
            <p:cNvSpPr txBox="1"/>
            <p:nvPr/>
          </p:nvSpPr>
          <p:spPr>
            <a:xfrm>
              <a:off x="2578823" y="3595294"/>
              <a:ext cx="1565461" cy="612634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363650">
                <a:spcBef>
                  <a:spcPts val="88"/>
                </a:spcBef>
              </a:pPr>
              <a:r>
                <a:rPr sz="1677" spc="22" dirty="0">
                  <a:solidFill>
                    <a:srgbClr val="FF0000"/>
                  </a:solidFill>
                  <a:latin typeface="Arial MT"/>
                  <a:cs typeface="Arial MT"/>
                </a:rPr>
                <a:t>u:5</a:t>
              </a:r>
              <a:endParaRPr sz="1677">
                <a:latin typeface="Arial MT"/>
                <a:cs typeface="Arial MT"/>
              </a:endParaRPr>
            </a:p>
            <a:p>
              <a:pPr marL="531747">
                <a:spcBef>
                  <a:spcPts val="1310"/>
                </a:spcBef>
              </a:pPr>
              <a:r>
                <a:rPr sz="1147" spc="-9" dirty="0">
                  <a:latin typeface="Arial MT"/>
                  <a:cs typeface="Arial MT"/>
                </a:rPr>
                <a:t>Memory</a:t>
              </a:r>
              <a:endParaRPr sz="1147">
                <a:latin typeface="Arial MT"/>
                <a:cs typeface="Arial MT"/>
              </a:endParaRPr>
            </a:p>
          </p:txBody>
        </p:sp>
        <p:sp>
          <p:nvSpPr>
            <p:cNvPr id="52" name="object 52"/>
            <p:cNvSpPr txBox="1"/>
            <p:nvPr/>
          </p:nvSpPr>
          <p:spPr>
            <a:xfrm>
              <a:off x="2139554" y="3296771"/>
              <a:ext cx="103654" cy="18783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147" spc="-44" dirty="0">
                  <a:latin typeface="Arial MT"/>
                  <a:cs typeface="Arial MT"/>
                </a:rPr>
                <a:t>1</a:t>
              </a:r>
              <a:endParaRPr sz="1147">
                <a:latin typeface="Arial MT"/>
                <a:cs typeface="Arial MT"/>
              </a:endParaRPr>
            </a:p>
          </p:txBody>
        </p:sp>
        <p:grpSp>
          <p:nvGrpSpPr>
            <p:cNvPr id="53" name="object 53"/>
            <p:cNvGrpSpPr/>
            <p:nvPr/>
          </p:nvGrpSpPr>
          <p:grpSpPr>
            <a:xfrm>
              <a:off x="2028856" y="2554388"/>
              <a:ext cx="4111999" cy="1242732"/>
              <a:chOff x="2146970" y="2894973"/>
              <a:chExt cx="4660265" cy="1408430"/>
            </a:xfrm>
          </p:grpSpPr>
          <p:sp>
            <p:nvSpPr>
              <p:cNvPr id="54" name="object 54"/>
              <p:cNvSpPr/>
              <p:nvPr/>
            </p:nvSpPr>
            <p:spPr>
              <a:xfrm>
                <a:off x="2303656" y="2989079"/>
                <a:ext cx="571500" cy="108839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1088389">
                    <a:moveTo>
                      <a:pt x="0" y="0"/>
                    </a:moveTo>
                    <a:lnTo>
                      <a:pt x="18529" y="128023"/>
                    </a:lnTo>
                    <a:lnTo>
                      <a:pt x="38743" y="257730"/>
                    </a:lnTo>
                    <a:lnTo>
                      <a:pt x="67380" y="380700"/>
                    </a:lnTo>
                    <a:lnTo>
                      <a:pt x="104439" y="500300"/>
                    </a:lnTo>
                    <a:lnTo>
                      <a:pt x="156659" y="618216"/>
                    </a:lnTo>
                    <a:lnTo>
                      <a:pt x="213933" y="727709"/>
                    </a:lnTo>
                    <a:lnTo>
                      <a:pt x="284683" y="832149"/>
                    </a:lnTo>
                    <a:lnTo>
                      <a:pt x="365539" y="928167"/>
                    </a:lnTo>
                    <a:lnTo>
                      <a:pt x="466610" y="1012392"/>
                    </a:lnTo>
                    <a:lnTo>
                      <a:pt x="571050" y="1088195"/>
                    </a:lnTo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55" name="object 55"/>
              <p:cNvSpPr/>
              <p:nvPr/>
            </p:nvSpPr>
            <p:spPr>
              <a:xfrm>
                <a:off x="2152050" y="3678045"/>
                <a:ext cx="355600" cy="357505"/>
              </a:xfrm>
              <a:custGeom>
                <a:avLst/>
                <a:gdLst/>
                <a:ahLst/>
                <a:cxnLst/>
                <a:rect l="l" t="t" r="r" b="b"/>
                <a:pathLst>
                  <a:path w="355600" h="357504">
                    <a:moveTo>
                      <a:pt x="352063" y="176873"/>
                    </a:moveTo>
                    <a:lnTo>
                      <a:pt x="352063" y="153290"/>
                    </a:lnTo>
                    <a:lnTo>
                      <a:pt x="347010" y="124654"/>
                    </a:lnTo>
                    <a:lnTo>
                      <a:pt x="323427" y="77487"/>
                    </a:lnTo>
                    <a:lnTo>
                      <a:pt x="279629" y="33690"/>
                    </a:lnTo>
                    <a:lnTo>
                      <a:pt x="232463" y="10107"/>
                    </a:lnTo>
                    <a:lnTo>
                      <a:pt x="203826" y="5053"/>
                    </a:lnTo>
                    <a:lnTo>
                      <a:pt x="175189" y="0"/>
                    </a:lnTo>
                    <a:lnTo>
                      <a:pt x="117916" y="10107"/>
                    </a:lnTo>
                    <a:lnTo>
                      <a:pt x="70749" y="33690"/>
                    </a:lnTo>
                    <a:lnTo>
                      <a:pt x="32005" y="77487"/>
                    </a:lnTo>
                    <a:lnTo>
                      <a:pt x="8422" y="124654"/>
                    </a:lnTo>
                    <a:lnTo>
                      <a:pt x="0" y="153290"/>
                    </a:lnTo>
                    <a:lnTo>
                      <a:pt x="0" y="181927"/>
                    </a:lnTo>
                    <a:lnTo>
                      <a:pt x="0" y="210564"/>
                    </a:lnTo>
                    <a:lnTo>
                      <a:pt x="8422" y="239200"/>
                    </a:lnTo>
                    <a:lnTo>
                      <a:pt x="18529" y="262784"/>
                    </a:lnTo>
                    <a:lnTo>
                      <a:pt x="32005" y="286367"/>
                    </a:lnTo>
                    <a:lnTo>
                      <a:pt x="52219" y="304896"/>
                    </a:lnTo>
                    <a:lnTo>
                      <a:pt x="70749" y="323426"/>
                    </a:lnTo>
                    <a:lnTo>
                      <a:pt x="94332" y="338587"/>
                    </a:lnTo>
                    <a:lnTo>
                      <a:pt x="117916" y="347009"/>
                    </a:lnTo>
                    <a:lnTo>
                      <a:pt x="146552" y="357116"/>
                    </a:lnTo>
                    <a:lnTo>
                      <a:pt x="175189" y="357116"/>
                    </a:lnTo>
                    <a:lnTo>
                      <a:pt x="203826" y="357116"/>
                    </a:lnTo>
                    <a:lnTo>
                      <a:pt x="232463" y="347009"/>
                    </a:lnTo>
                    <a:lnTo>
                      <a:pt x="261100" y="338587"/>
                    </a:lnTo>
                    <a:lnTo>
                      <a:pt x="279629" y="323426"/>
                    </a:lnTo>
                    <a:lnTo>
                      <a:pt x="323427" y="286367"/>
                    </a:lnTo>
                    <a:lnTo>
                      <a:pt x="347010" y="239200"/>
                    </a:lnTo>
                    <a:lnTo>
                      <a:pt x="352063" y="210564"/>
                    </a:lnTo>
                    <a:lnTo>
                      <a:pt x="355432" y="181927"/>
                    </a:lnTo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pic>
            <p:nvPicPr>
              <p:cNvPr id="56" name="object 56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6666506" y="2894973"/>
                <a:ext cx="140647" cy="143322"/>
              </a:xfrm>
              <a:prstGeom prst="rect">
                <a:avLst/>
              </a:prstGeom>
            </p:spPr>
          </p:pic>
          <p:sp>
            <p:nvSpPr>
              <p:cNvPr id="57" name="object 57"/>
              <p:cNvSpPr/>
              <p:nvPr/>
            </p:nvSpPr>
            <p:spPr>
              <a:xfrm>
                <a:off x="3654637" y="3004576"/>
                <a:ext cx="3062605" cy="1228090"/>
              </a:xfrm>
              <a:custGeom>
                <a:avLst/>
                <a:gdLst/>
                <a:ahLst/>
                <a:cxnLst/>
                <a:rect l="l" t="t" r="r" b="b"/>
                <a:pathLst>
                  <a:path w="3062604" h="1228089">
                    <a:moveTo>
                      <a:pt x="0" y="1227604"/>
                    </a:moveTo>
                    <a:lnTo>
                      <a:pt x="240128" y="1183761"/>
                    </a:lnTo>
                    <a:lnTo>
                      <a:pt x="481869" y="1155094"/>
                    </a:lnTo>
                    <a:lnTo>
                      <a:pt x="726833" y="1128114"/>
                    </a:lnTo>
                    <a:lnTo>
                      <a:pt x="978243" y="1102821"/>
                    </a:lnTo>
                    <a:lnTo>
                      <a:pt x="1223207" y="1075840"/>
                    </a:lnTo>
                    <a:lnTo>
                      <a:pt x="1469783" y="1037056"/>
                    </a:lnTo>
                    <a:lnTo>
                      <a:pt x="1709912" y="979722"/>
                    </a:lnTo>
                    <a:lnTo>
                      <a:pt x="1937148" y="903840"/>
                    </a:lnTo>
                    <a:lnTo>
                      <a:pt x="2161161" y="804350"/>
                    </a:lnTo>
                    <a:lnTo>
                      <a:pt x="2370669" y="671135"/>
                    </a:lnTo>
                    <a:lnTo>
                      <a:pt x="2448026" y="608743"/>
                    </a:lnTo>
                    <a:lnTo>
                      <a:pt x="2520549" y="546351"/>
                    </a:lnTo>
                    <a:lnTo>
                      <a:pt x="2588236" y="480586"/>
                    </a:lnTo>
                    <a:lnTo>
                      <a:pt x="2655923" y="413136"/>
                    </a:lnTo>
                    <a:lnTo>
                      <a:pt x="2725222" y="342312"/>
                    </a:lnTo>
                    <a:lnTo>
                      <a:pt x="2792909" y="271489"/>
                    </a:lnTo>
                    <a:lnTo>
                      <a:pt x="2857374" y="204038"/>
                    </a:lnTo>
                    <a:lnTo>
                      <a:pt x="2925061" y="133215"/>
                    </a:lnTo>
                    <a:lnTo>
                      <a:pt x="2992748" y="65764"/>
                    </a:lnTo>
                    <a:lnTo>
                      <a:pt x="3062048" y="0"/>
                    </a:lnTo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58" name="object 58"/>
              <p:cNvSpPr/>
              <p:nvPr/>
            </p:nvSpPr>
            <p:spPr>
              <a:xfrm>
                <a:off x="5464468" y="3942142"/>
                <a:ext cx="342265" cy="356235"/>
              </a:xfrm>
              <a:custGeom>
                <a:avLst/>
                <a:gdLst/>
                <a:ahLst/>
                <a:cxnLst/>
                <a:rect l="l" t="t" r="r" b="b"/>
                <a:pathLst>
                  <a:path w="342264" h="356235">
                    <a:moveTo>
                      <a:pt x="341659" y="175372"/>
                    </a:moveTo>
                    <a:lnTo>
                      <a:pt x="336824" y="146705"/>
                    </a:lnTo>
                    <a:lnTo>
                      <a:pt x="331990" y="118038"/>
                    </a:lnTo>
                    <a:lnTo>
                      <a:pt x="323932" y="94431"/>
                    </a:lnTo>
                    <a:lnTo>
                      <a:pt x="291700" y="52274"/>
                    </a:lnTo>
                    <a:lnTo>
                      <a:pt x="251409" y="18548"/>
                    </a:lnTo>
                    <a:lnTo>
                      <a:pt x="196615" y="0"/>
                    </a:lnTo>
                    <a:lnTo>
                      <a:pt x="169218" y="0"/>
                    </a:lnTo>
                    <a:lnTo>
                      <a:pt x="141820" y="0"/>
                    </a:lnTo>
                    <a:lnTo>
                      <a:pt x="114423" y="8431"/>
                    </a:lnTo>
                    <a:lnTo>
                      <a:pt x="91861" y="18548"/>
                    </a:lnTo>
                    <a:lnTo>
                      <a:pt x="69298" y="32039"/>
                    </a:lnTo>
                    <a:lnTo>
                      <a:pt x="49959" y="52274"/>
                    </a:lnTo>
                    <a:lnTo>
                      <a:pt x="32232" y="70823"/>
                    </a:lnTo>
                    <a:lnTo>
                      <a:pt x="19339" y="94431"/>
                    </a:lnTo>
                    <a:lnTo>
                      <a:pt x="9669" y="118038"/>
                    </a:lnTo>
                    <a:lnTo>
                      <a:pt x="0" y="146705"/>
                    </a:lnTo>
                    <a:lnTo>
                      <a:pt x="0" y="175372"/>
                    </a:lnTo>
                    <a:lnTo>
                      <a:pt x="0" y="204038"/>
                    </a:lnTo>
                    <a:lnTo>
                      <a:pt x="19339" y="256313"/>
                    </a:lnTo>
                    <a:lnTo>
                      <a:pt x="49959" y="303528"/>
                    </a:lnTo>
                    <a:lnTo>
                      <a:pt x="69298" y="318705"/>
                    </a:lnTo>
                    <a:lnTo>
                      <a:pt x="91861" y="337254"/>
                    </a:lnTo>
                    <a:lnTo>
                      <a:pt x="114423" y="347371"/>
                    </a:lnTo>
                    <a:lnTo>
                      <a:pt x="141820" y="352430"/>
                    </a:lnTo>
                    <a:lnTo>
                      <a:pt x="169218" y="355803"/>
                    </a:lnTo>
                    <a:lnTo>
                      <a:pt x="196615" y="352430"/>
                    </a:lnTo>
                    <a:lnTo>
                      <a:pt x="224012" y="347371"/>
                    </a:lnTo>
                    <a:lnTo>
                      <a:pt x="251409" y="337254"/>
                    </a:lnTo>
                    <a:lnTo>
                      <a:pt x="269137" y="318705"/>
                    </a:lnTo>
                    <a:lnTo>
                      <a:pt x="291700" y="303528"/>
                    </a:lnTo>
                    <a:lnTo>
                      <a:pt x="309427" y="279921"/>
                    </a:lnTo>
                    <a:lnTo>
                      <a:pt x="323932" y="256313"/>
                    </a:lnTo>
                    <a:lnTo>
                      <a:pt x="331990" y="232705"/>
                    </a:lnTo>
                    <a:lnTo>
                      <a:pt x="336824" y="204038"/>
                    </a:lnTo>
                    <a:lnTo>
                      <a:pt x="341659" y="175372"/>
                    </a:lnTo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59" name="object 59"/>
            <p:cNvSpPr txBox="1"/>
            <p:nvPr/>
          </p:nvSpPr>
          <p:spPr>
            <a:xfrm>
              <a:off x="1986460" y="2202179"/>
              <a:ext cx="365312" cy="26939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677" dirty="0">
                  <a:solidFill>
                    <a:srgbClr val="FF0000"/>
                  </a:solidFill>
                  <a:latin typeface="Arial MT"/>
                  <a:cs typeface="Arial MT"/>
                </a:rPr>
                <a:t>u</a:t>
              </a:r>
              <a:r>
                <a:rPr sz="1677" spc="-115" dirty="0">
                  <a:solidFill>
                    <a:srgbClr val="FF0000"/>
                  </a:solidFill>
                  <a:latin typeface="Arial MT"/>
                  <a:cs typeface="Arial MT"/>
                </a:rPr>
                <a:t> </a:t>
              </a:r>
              <a:r>
                <a:rPr sz="1677" spc="-22" dirty="0">
                  <a:solidFill>
                    <a:srgbClr val="FF0000"/>
                  </a:solidFill>
                  <a:latin typeface="Arial MT"/>
                  <a:cs typeface="Arial MT"/>
                </a:rPr>
                <a:t>:5</a:t>
              </a:r>
              <a:endParaRPr sz="1677">
                <a:latin typeface="Arial MT"/>
                <a:cs typeface="Arial MT"/>
              </a:endParaRPr>
            </a:p>
          </p:txBody>
        </p:sp>
        <p:sp>
          <p:nvSpPr>
            <p:cNvPr id="60" name="object 60"/>
            <p:cNvSpPr txBox="1"/>
            <p:nvPr/>
          </p:nvSpPr>
          <p:spPr>
            <a:xfrm>
              <a:off x="5030175" y="3536128"/>
              <a:ext cx="103654" cy="18783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147" spc="-44" dirty="0">
                  <a:latin typeface="Arial MT"/>
                  <a:cs typeface="Arial MT"/>
                </a:rPr>
                <a:t>2</a:t>
              </a:r>
              <a:endParaRPr sz="1147">
                <a:latin typeface="Arial MT"/>
                <a:cs typeface="Arial MT"/>
              </a:endParaRPr>
            </a:p>
          </p:txBody>
        </p:sp>
        <p:grpSp>
          <p:nvGrpSpPr>
            <p:cNvPr id="61" name="object 61"/>
            <p:cNvGrpSpPr/>
            <p:nvPr/>
          </p:nvGrpSpPr>
          <p:grpSpPr>
            <a:xfrm>
              <a:off x="6611253" y="1675763"/>
              <a:ext cx="520513" cy="718296"/>
              <a:chOff x="7340353" y="1899197"/>
              <a:chExt cx="589915" cy="814069"/>
            </a:xfrm>
          </p:grpSpPr>
          <p:sp>
            <p:nvSpPr>
              <p:cNvPr id="62" name="object 62"/>
              <p:cNvSpPr/>
              <p:nvPr/>
            </p:nvSpPr>
            <p:spPr>
              <a:xfrm>
                <a:off x="7345407" y="2584794"/>
                <a:ext cx="136525" cy="128270"/>
              </a:xfrm>
              <a:custGeom>
                <a:avLst/>
                <a:gdLst/>
                <a:ahLst/>
                <a:cxnLst/>
                <a:rect l="l" t="t" r="r" b="b"/>
                <a:pathLst>
                  <a:path w="136525" h="128269">
                    <a:moveTo>
                      <a:pt x="80857" y="0"/>
                    </a:moveTo>
                    <a:lnTo>
                      <a:pt x="0" y="128022"/>
                    </a:lnTo>
                    <a:lnTo>
                      <a:pt x="136446" y="60642"/>
                    </a:lnTo>
                    <a:lnTo>
                      <a:pt x="104439" y="28635"/>
                    </a:lnTo>
                    <a:lnTo>
                      <a:pt x="80857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63" name="object 63"/>
              <p:cNvSpPr/>
              <p:nvPr/>
            </p:nvSpPr>
            <p:spPr>
              <a:xfrm>
                <a:off x="7345407" y="1904250"/>
                <a:ext cx="189230" cy="709295"/>
              </a:xfrm>
              <a:custGeom>
                <a:avLst/>
                <a:gdLst/>
                <a:ahLst/>
                <a:cxnLst/>
                <a:rect l="l" t="t" r="r" b="b"/>
                <a:pathLst>
                  <a:path w="189229" h="709294">
                    <a:moveTo>
                      <a:pt x="0" y="0"/>
                    </a:moveTo>
                    <a:lnTo>
                      <a:pt x="37059" y="62326"/>
                    </a:lnTo>
                    <a:lnTo>
                      <a:pt x="75803" y="133076"/>
                    </a:lnTo>
                    <a:lnTo>
                      <a:pt x="112862" y="208879"/>
                    </a:lnTo>
                    <a:lnTo>
                      <a:pt x="141499" y="284682"/>
                    </a:lnTo>
                    <a:lnTo>
                      <a:pt x="170135" y="365539"/>
                    </a:lnTo>
                    <a:lnTo>
                      <a:pt x="185296" y="441342"/>
                    </a:lnTo>
                    <a:lnTo>
                      <a:pt x="188665" y="518829"/>
                    </a:lnTo>
                    <a:lnTo>
                      <a:pt x="180242" y="589579"/>
                    </a:lnTo>
                    <a:lnTo>
                      <a:pt x="156659" y="651906"/>
                    </a:lnTo>
                    <a:lnTo>
                      <a:pt x="112862" y="709179"/>
                    </a:lnTo>
                  </a:path>
                </a:pathLst>
              </a:custGeom>
              <a:ln w="10107">
                <a:solidFill>
                  <a:srgbClr val="114FFB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64" name="object 64"/>
              <p:cNvSpPr/>
              <p:nvPr/>
            </p:nvSpPr>
            <p:spPr>
              <a:xfrm>
                <a:off x="7572815" y="1961525"/>
                <a:ext cx="357505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357504" h="355600">
                    <a:moveTo>
                      <a:pt x="176874" y="0"/>
                    </a:moveTo>
                    <a:lnTo>
                      <a:pt x="148236" y="5053"/>
                    </a:lnTo>
                    <a:lnTo>
                      <a:pt x="119600" y="8422"/>
                    </a:lnTo>
                    <a:lnTo>
                      <a:pt x="96017" y="18529"/>
                    </a:lnTo>
                    <a:lnTo>
                      <a:pt x="52219" y="52219"/>
                    </a:lnTo>
                    <a:lnTo>
                      <a:pt x="18529" y="99386"/>
                    </a:lnTo>
                    <a:lnTo>
                      <a:pt x="0" y="151606"/>
                    </a:lnTo>
                    <a:lnTo>
                      <a:pt x="0" y="208879"/>
                    </a:lnTo>
                    <a:lnTo>
                      <a:pt x="18529" y="261099"/>
                    </a:lnTo>
                    <a:lnTo>
                      <a:pt x="33690" y="284683"/>
                    </a:lnTo>
                    <a:lnTo>
                      <a:pt x="52219" y="303212"/>
                    </a:lnTo>
                    <a:lnTo>
                      <a:pt x="70749" y="323427"/>
                    </a:lnTo>
                    <a:lnTo>
                      <a:pt x="96017" y="336903"/>
                    </a:lnTo>
                    <a:lnTo>
                      <a:pt x="119600" y="347009"/>
                    </a:lnTo>
                    <a:lnTo>
                      <a:pt x="148236" y="355432"/>
                    </a:lnTo>
                    <a:lnTo>
                      <a:pt x="205510" y="355432"/>
                    </a:lnTo>
                    <a:lnTo>
                      <a:pt x="261099" y="336903"/>
                    </a:lnTo>
                    <a:lnTo>
                      <a:pt x="304896" y="303212"/>
                    </a:lnTo>
                    <a:lnTo>
                      <a:pt x="338587" y="261099"/>
                    </a:lnTo>
                    <a:lnTo>
                      <a:pt x="352063" y="208879"/>
                    </a:lnTo>
                    <a:lnTo>
                      <a:pt x="352063" y="175188"/>
                    </a:lnTo>
                    <a:lnTo>
                      <a:pt x="357116" y="180242"/>
                    </a:lnTo>
                    <a:lnTo>
                      <a:pt x="347009" y="122969"/>
                    </a:lnTo>
                    <a:lnTo>
                      <a:pt x="323427" y="75802"/>
                    </a:lnTo>
                    <a:lnTo>
                      <a:pt x="281313" y="32005"/>
                    </a:lnTo>
                    <a:lnTo>
                      <a:pt x="232463" y="8422"/>
                    </a:lnTo>
                    <a:lnTo>
                      <a:pt x="205510" y="5053"/>
                    </a:lnTo>
                    <a:lnTo>
                      <a:pt x="176874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65" name="object 65"/>
              <p:cNvSpPr/>
              <p:nvPr/>
            </p:nvSpPr>
            <p:spPr>
              <a:xfrm>
                <a:off x="7535757" y="1966578"/>
                <a:ext cx="357505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357504" h="355600">
                    <a:moveTo>
                      <a:pt x="352063" y="175189"/>
                    </a:moveTo>
                    <a:lnTo>
                      <a:pt x="352063" y="151606"/>
                    </a:lnTo>
                    <a:lnTo>
                      <a:pt x="347009" y="122969"/>
                    </a:lnTo>
                    <a:lnTo>
                      <a:pt x="323426" y="75803"/>
                    </a:lnTo>
                    <a:lnTo>
                      <a:pt x="281313" y="32005"/>
                    </a:lnTo>
                    <a:lnTo>
                      <a:pt x="232462" y="8422"/>
                    </a:lnTo>
                    <a:lnTo>
                      <a:pt x="205510" y="5053"/>
                    </a:lnTo>
                    <a:lnTo>
                      <a:pt x="176873" y="0"/>
                    </a:lnTo>
                    <a:lnTo>
                      <a:pt x="148237" y="5053"/>
                    </a:lnTo>
                    <a:lnTo>
                      <a:pt x="119600" y="8422"/>
                    </a:lnTo>
                    <a:lnTo>
                      <a:pt x="96017" y="18529"/>
                    </a:lnTo>
                    <a:lnTo>
                      <a:pt x="52219" y="52219"/>
                    </a:lnTo>
                    <a:lnTo>
                      <a:pt x="18529" y="99386"/>
                    </a:lnTo>
                    <a:lnTo>
                      <a:pt x="0" y="151606"/>
                    </a:lnTo>
                    <a:lnTo>
                      <a:pt x="0" y="180243"/>
                    </a:lnTo>
                    <a:lnTo>
                      <a:pt x="0" y="208880"/>
                    </a:lnTo>
                    <a:lnTo>
                      <a:pt x="10107" y="237516"/>
                    </a:lnTo>
                    <a:lnTo>
                      <a:pt x="18529" y="261100"/>
                    </a:lnTo>
                    <a:lnTo>
                      <a:pt x="33690" y="284683"/>
                    </a:lnTo>
                    <a:lnTo>
                      <a:pt x="52219" y="303212"/>
                    </a:lnTo>
                    <a:lnTo>
                      <a:pt x="70749" y="323427"/>
                    </a:lnTo>
                    <a:lnTo>
                      <a:pt x="96017" y="336903"/>
                    </a:lnTo>
                    <a:lnTo>
                      <a:pt x="119600" y="347010"/>
                    </a:lnTo>
                    <a:lnTo>
                      <a:pt x="148237" y="355432"/>
                    </a:lnTo>
                    <a:lnTo>
                      <a:pt x="176873" y="355432"/>
                    </a:lnTo>
                    <a:lnTo>
                      <a:pt x="205510" y="355432"/>
                    </a:lnTo>
                    <a:lnTo>
                      <a:pt x="261099" y="336903"/>
                    </a:lnTo>
                    <a:lnTo>
                      <a:pt x="304896" y="303212"/>
                    </a:lnTo>
                    <a:lnTo>
                      <a:pt x="338587" y="261100"/>
                    </a:lnTo>
                    <a:lnTo>
                      <a:pt x="352063" y="208880"/>
                    </a:lnTo>
                    <a:lnTo>
                      <a:pt x="357116" y="180243"/>
                    </a:lnTo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66" name="object 66"/>
            <p:cNvSpPr txBox="1"/>
            <p:nvPr/>
          </p:nvSpPr>
          <p:spPr>
            <a:xfrm>
              <a:off x="6879477" y="1727948"/>
              <a:ext cx="153521" cy="29645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853" b="1" spc="-44" dirty="0">
                  <a:solidFill>
                    <a:srgbClr val="FF0000"/>
                  </a:solidFill>
                  <a:latin typeface="Arial"/>
                  <a:cs typeface="Arial"/>
                </a:rPr>
                <a:t>3</a:t>
              </a:r>
              <a:endParaRPr sz="1853">
                <a:latin typeface="Arial"/>
                <a:cs typeface="Arial"/>
              </a:endParaRPr>
            </a:p>
          </p:txBody>
        </p:sp>
        <p:sp>
          <p:nvSpPr>
            <p:cNvPr id="67" name="object 67"/>
            <p:cNvSpPr txBox="1"/>
            <p:nvPr/>
          </p:nvSpPr>
          <p:spPr>
            <a:xfrm>
              <a:off x="6040871" y="2042090"/>
              <a:ext cx="934571" cy="578311"/>
            </a:xfrm>
            <a:prstGeom prst="rect">
              <a:avLst/>
            </a:prstGeom>
          </p:spPr>
          <p:txBody>
            <a:bodyPr vert="horz" wrap="square" lIns="0" tIns="66115" rIns="0" bIns="0" rtlCol="0">
              <a:spAutoFit/>
            </a:bodyPr>
            <a:lstStyle/>
            <a:p>
              <a:pPr marR="8965" algn="ctr">
                <a:spcBef>
                  <a:spcPts val="521"/>
                </a:spcBef>
              </a:pPr>
              <a:r>
                <a:rPr sz="1147" spc="-44" dirty="0">
                  <a:latin typeface="Arial MT"/>
                  <a:cs typeface="Arial MT"/>
                </a:rPr>
                <a:t>$</a:t>
              </a:r>
              <a:endParaRPr sz="1147">
                <a:latin typeface="Arial MT"/>
                <a:cs typeface="Arial MT"/>
              </a:endParaRPr>
            </a:p>
            <a:p>
              <a:pPr marL="124952">
                <a:spcBef>
                  <a:spcPts val="635"/>
                </a:spcBef>
              </a:pPr>
              <a:r>
                <a:rPr sz="2515" baseline="1461" dirty="0">
                  <a:solidFill>
                    <a:srgbClr val="FF0000"/>
                  </a:solidFill>
                  <a:latin typeface="Arial MT"/>
                  <a:cs typeface="Arial MT"/>
                </a:rPr>
                <a:t>u</a:t>
              </a:r>
              <a:r>
                <a:rPr sz="2515" strike="sngStrike" spc="-6" baseline="1461" dirty="0">
                  <a:solidFill>
                    <a:srgbClr val="FF0000"/>
                  </a:solidFill>
                  <a:latin typeface="Times New Roman"/>
                  <a:cs typeface="Times New Roman"/>
                </a:rPr>
                <a:t> </a:t>
              </a:r>
              <a:r>
                <a:rPr sz="2515" strike="sngStrike" baseline="1461" dirty="0">
                  <a:solidFill>
                    <a:srgbClr val="FF0000"/>
                  </a:solidFill>
                  <a:latin typeface="Arial MT"/>
                  <a:cs typeface="Arial MT"/>
                </a:rPr>
                <a:t>:5</a:t>
              </a:r>
              <a:r>
                <a:rPr sz="2515" spc="-106" baseline="1461" dirty="0">
                  <a:solidFill>
                    <a:srgbClr val="FF0000"/>
                  </a:solidFill>
                  <a:latin typeface="Arial MT"/>
                  <a:cs typeface="Arial MT"/>
                </a:rPr>
                <a:t> </a:t>
              </a:r>
              <a:r>
                <a:rPr sz="1677" spc="-22" dirty="0">
                  <a:solidFill>
                    <a:srgbClr val="114FFB"/>
                  </a:solidFill>
                  <a:latin typeface="Arial MT"/>
                  <a:cs typeface="Arial MT"/>
                </a:rPr>
                <a:t>u=7</a:t>
              </a:r>
              <a:endParaRPr sz="1677">
                <a:latin typeface="Arial MT"/>
                <a:cs typeface="Arial MT"/>
              </a:endParaRPr>
            </a:p>
          </p:txBody>
        </p:sp>
      </p:grpSp>
      <p:sp>
        <p:nvSpPr>
          <p:cNvPr id="69" name="Slide Number Placeholder 4">
            <a:extLst>
              <a:ext uri="{FF2B5EF4-FFF2-40B4-BE49-F238E27FC236}">
                <a16:creationId xmlns:a16="http://schemas.microsoft.com/office/drawing/2014/main" id="{A165A076-B9DE-0372-B8F8-31C05A132D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19</a:t>
            </a:fld>
            <a:endParaRPr lang="en-US" spc="-4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1"/>
            <a:ext cx="7233364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Example</a:t>
            </a:r>
            <a:r>
              <a:rPr spc="-79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b="1" dirty="0">
                <a:latin typeface="Calibri"/>
                <a:cs typeface="Calibri"/>
              </a:rPr>
              <a:t>Memory</a:t>
            </a:r>
            <a:r>
              <a:rPr b="1" spc="-75" dirty="0"/>
              <a:t> </a:t>
            </a:r>
            <a:r>
              <a:rPr b="1" dirty="0">
                <a:latin typeface="Calibri"/>
                <a:cs typeface="Calibri"/>
              </a:rPr>
              <a:t>Consistency</a:t>
            </a:r>
            <a:r>
              <a:rPr b="1" spc="-75" dirty="0"/>
              <a:t> </a:t>
            </a:r>
            <a:r>
              <a:rPr b="1" spc="-9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7771" y="2814528"/>
            <a:ext cx="7581853" cy="2440261"/>
          </a:xfrm>
          <a:prstGeom prst="rect">
            <a:avLst/>
          </a:prstGeom>
        </p:spPr>
        <p:txBody>
          <a:bodyPr vert="horz" wrap="square" lIns="0" tIns="77321" rIns="0" bIns="0" rtlCol="0">
            <a:spAutoFit/>
          </a:bodyPr>
          <a:lstStyle/>
          <a:p>
            <a:pPr marL="278481" indent="-267275">
              <a:spcBef>
                <a:spcPts val="609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Expected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guaranteed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coherence</a:t>
            </a:r>
            <a:endParaRPr sz="2400" dirty="0">
              <a:latin typeface="Calibri"/>
              <a:cs typeface="Calibri"/>
            </a:endParaRPr>
          </a:p>
          <a:p>
            <a:pPr marL="653338" marR="4483" lvl="1" indent="-214044">
              <a:spcBef>
                <a:spcPts val="666"/>
              </a:spcBef>
              <a:buFont typeface="Calibri"/>
              <a:buChar char="–"/>
              <a:tabLst>
                <a:tab pos="653338" algn="l"/>
              </a:tabLst>
            </a:pPr>
            <a:r>
              <a:rPr sz="2200" b="1" dirty="0">
                <a:latin typeface="Calibri"/>
                <a:cs typeface="Calibri"/>
              </a:rPr>
              <a:t>Expect</a:t>
            </a:r>
            <a:r>
              <a:rPr sz="2200" b="1" spc="22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memory</a:t>
            </a:r>
            <a:r>
              <a:rPr sz="2200" b="1" spc="31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to</a:t>
            </a:r>
            <a:r>
              <a:rPr sz="2200" b="1" spc="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respect</a:t>
            </a:r>
            <a:r>
              <a:rPr sz="2200" b="1" spc="22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order</a:t>
            </a:r>
            <a:r>
              <a:rPr sz="2200" b="1" spc="31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between</a:t>
            </a:r>
            <a:r>
              <a:rPr sz="2200" b="1" spc="31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accesses</a:t>
            </a:r>
            <a:r>
              <a:rPr sz="2200" b="1" spc="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to</a:t>
            </a:r>
            <a:r>
              <a:rPr sz="2200" b="1" spc="31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different </a:t>
            </a:r>
            <a:r>
              <a:rPr sz="2200" b="1" dirty="0">
                <a:latin typeface="Calibri"/>
                <a:cs typeface="Calibri"/>
              </a:rPr>
              <a:t>locations</a:t>
            </a:r>
            <a:r>
              <a:rPr sz="2200" b="1" spc="22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issued</a:t>
            </a:r>
            <a:r>
              <a:rPr sz="2200" b="1" spc="26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by</a:t>
            </a:r>
            <a:r>
              <a:rPr sz="2200" b="1" spc="26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</a:t>
            </a:r>
            <a:r>
              <a:rPr sz="2200" b="1" spc="26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given</a:t>
            </a:r>
            <a:r>
              <a:rPr sz="2200" b="1" spc="26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process</a:t>
            </a:r>
            <a:endParaRPr sz="2200" dirty="0">
              <a:latin typeface="Calibri"/>
              <a:cs typeface="Calibri"/>
            </a:endParaRPr>
          </a:p>
          <a:p>
            <a:pPr marL="653338" marR="356366" lvl="1" indent="-214044">
              <a:spcBef>
                <a:spcPts val="767"/>
              </a:spcBef>
              <a:buFont typeface="Calibri"/>
              <a:buChar char="–"/>
              <a:tabLst>
                <a:tab pos="653338" algn="l"/>
              </a:tabLst>
            </a:pPr>
            <a:r>
              <a:rPr sz="2200" b="1" dirty="0">
                <a:latin typeface="Calibri"/>
                <a:cs typeface="Calibri"/>
              </a:rPr>
              <a:t>Also,</a:t>
            </a:r>
            <a:r>
              <a:rPr sz="2200" b="1" spc="22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expect</a:t>
            </a:r>
            <a:r>
              <a:rPr sz="2200" b="1" spc="22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memory</a:t>
            </a:r>
            <a:r>
              <a:rPr sz="2200" b="1" spc="31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to</a:t>
            </a:r>
            <a:r>
              <a:rPr sz="2200" b="1" spc="26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preserve</a:t>
            </a:r>
            <a:r>
              <a:rPr sz="2200" b="1" spc="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orders</a:t>
            </a:r>
            <a:r>
              <a:rPr sz="2200" b="1" spc="26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among</a:t>
            </a:r>
            <a:r>
              <a:rPr sz="2200" b="1" spc="31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accesses</a:t>
            </a:r>
            <a:r>
              <a:rPr sz="2200" b="1" spc="31" dirty="0">
                <a:latin typeface="Calibri"/>
                <a:cs typeface="Calibri"/>
              </a:rPr>
              <a:t> </a:t>
            </a:r>
            <a:r>
              <a:rPr sz="2200" b="1" spc="-22" dirty="0">
                <a:latin typeface="Calibri"/>
                <a:cs typeface="Calibri"/>
              </a:rPr>
              <a:t>to </a:t>
            </a:r>
            <a:r>
              <a:rPr sz="2200" b="1" dirty="0">
                <a:latin typeface="Calibri"/>
                <a:cs typeface="Calibri"/>
              </a:rPr>
              <a:t>same</a:t>
            </a:r>
            <a:r>
              <a:rPr sz="2200" b="1" spc="26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location</a:t>
            </a:r>
            <a:r>
              <a:rPr sz="2200" b="1" spc="31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by</a:t>
            </a:r>
            <a:r>
              <a:rPr sz="2200" b="1" spc="26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different</a:t>
            </a:r>
            <a:r>
              <a:rPr sz="2200" b="1" spc="13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processes</a:t>
            </a:r>
            <a:endParaRPr sz="2200" dirty="0">
              <a:latin typeface="Calibri"/>
              <a:cs typeface="Calibri"/>
            </a:endParaRPr>
          </a:p>
          <a:p>
            <a:pPr marL="278481" indent="-267275">
              <a:spcBef>
                <a:spcPts val="582"/>
              </a:spcBef>
              <a:buFont typeface="Calibri"/>
              <a:buChar char="•"/>
              <a:tabLst>
                <a:tab pos="278481" algn="l"/>
              </a:tabLst>
            </a:pPr>
            <a:r>
              <a:rPr sz="2400" i="1" dirty="0">
                <a:latin typeface="Calibri"/>
                <a:cs typeface="Calibri"/>
              </a:rPr>
              <a:t>Cache</a:t>
            </a:r>
            <a:r>
              <a:rPr sz="2400" i="1" spc="62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coherence</a:t>
            </a:r>
            <a:r>
              <a:rPr sz="2400" i="1" spc="66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is</a:t>
            </a:r>
            <a:r>
              <a:rPr sz="2400" i="1" spc="57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not</a:t>
            </a:r>
            <a:r>
              <a:rPr sz="2400" i="1" spc="49" dirty="0">
                <a:latin typeface="Calibri"/>
                <a:cs typeface="Calibri"/>
              </a:rPr>
              <a:t> </a:t>
            </a:r>
            <a:r>
              <a:rPr sz="2400" i="1" spc="-9" dirty="0">
                <a:latin typeface="Calibri"/>
                <a:cs typeface="Calibri"/>
              </a:rPr>
              <a:t>enough!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7910" y="5270702"/>
            <a:ext cx="3957712" cy="34987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00" dirty="0">
                <a:latin typeface="Calibri"/>
                <a:cs typeface="Calibri"/>
              </a:rPr>
              <a:t>–</a:t>
            </a:r>
            <a:r>
              <a:rPr sz="2200" spc="33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P</a:t>
            </a:r>
            <a:r>
              <a:rPr sz="2200" dirty="0">
                <a:latin typeface="Calibri"/>
                <a:cs typeface="Calibri"/>
              </a:rPr>
              <a:t>ertains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only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single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location</a:t>
            </a:r>
            <a:endParaRPr sz="2200" dirty="0">
              <a:latin typeface="Calibri"/>
              <a:cs typeface="Calibri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1387E75-A16E-E242-3A47-9CD46D877B91}"/>
              </a:ext>
            </a:extLst>
          </p:cNvPr>
          <p:cNvGrpSpPr/>
          <p:nvPr/>
        </p:nvGrpSpPr>
        <p:grpSpPr>
          <a:xfrm>
            <a:off x="1076138" y="1393563"/>
            <a:ext cx="7041216" cy="1290875"/>
            <a:chOff x="1076138" y="1545963"/>
            <a:chExt cx="7041216" cy="1290875"/>
          </a:xfrm>
        </p:grpSpPr>
        <p:sp>
          <p:nvSpPr>
            <p:cNvPr id="5" name="object 5"/>
            <p:cNvSpPr txBox="1"/>
            <p:nvPr/>
          </p:nvSpPr>
          <p:spPr>
            <a:xfrm>
              <a:off x="1870409" y="1545963"/>
              <a:ext cx="289112" cy="26939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33619">
                <a:spcBef>
                  <a:spcPts val="88"/>
                </a:spcBef>
              </a:pPr>
              <a:r>
                <a:rPr sz="1677" spc="-22" dirty="0">
                  <a:latin typeface="Arial MT"/>
                  <a:cs typeface="Arial MT"/>
                </a:rPr>
                <a:t>P</a:t>
              </a:r>
              <a:r>
                <a:rPr sz="2118" spc="-33" baseline="-19097" dirty="0">
                  <a:latin typeface="Arial MT"/>
                  <a:cs typeface="Arial MT"/>
                </a:rPr>
                <a:t>1</a:t>
              </a:r>
              <a:endParaRPr sz="2118" baseline="-19097">
                <a:latin typeface="Arial MT"/>
                <a:cs typeface="Arial MT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5678403" y="1545963"/>
              <a:ext cx="287431" cy="26939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33619">
                <a:spcBef>
                  <a:spcPts val="88"/>
                </a:spcBef>
              </a:pPr>
              <a:r>
                <a:rPr sz="1677" b="1" spc="-22" dirty="0">
                  <a:solidFill>
                    <a:srgbClr val="114FFB"/>
                  </a:solidFill>
                  <a:latin typeface="Arial"/>
                  <a:cs typeface="Arial"/>
                </a:rPr>
                <a:t>P</a:t>
              </a:r>
              <a:r>
                <a:rPr sz="2118" b="1" spc="-33" baseline="-19097" dirty="0">
                  <a:solidFill>
                    <a:srgbClr val="114FFB"/>
                  </a:solidFill>
                  <a:latin typeface="Arial"/>
                  <a:cs typeface="Arial"/>
                </a:rPr>
                <a:t>2</a:t>
              </a:r>
              <a:endParaRPr sz="2118" baseline="-19097">
                <a:latin typeface="Arial"/>
                <a:cs typeface="Arial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2117258" y="1909033"/>
              <a:ext cx="4087346" cy="26939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677" dirty="0">
                  <a:latin typeface="Arial MT"/>
                  <a:cs typeface="Arial MT"/>
                </a:rPr>
                <a:t>/*Assume</a:t>
              </a:r>
              <a:r>
                <a:rPr sz="1677" spc="-22" dirty="0">
                  <a:latin typeface="Arial MT"/>
                  <a:cs typeface="Arial MT"/>
                </a:rPr>
                <a:t> </a:t>
              </a:r>
              <a:r>
                <a:rPr sz="1677" dirty="0">
                  <a:latin typeface="Arial MT"/>
                  <a:cs typeface="Arial MT"/>
                </a:rPr>
                <a:t>initial</a:t>
              </a:r>
              <a:r>
                <a:rPr sz="1677" spc="-22" dirty="0">
                  <a:latin typeface="Arial MT"/>
                  <a:cs typeface="Arial MT"/>
                </a:rPr>
                <a:t> </a:t>
              </a:r>
              <a:r>
                <a:rPr sz="1677" dirty="0">
                  <a:latin typeface="Arial MT"/>
                  <a:cs typeface="Arial MT"/>
                </a:rPr>
                <a:t>values</a:t>
              </a:r>
              <a:r>
                <a:rPr sz="1677" spc="-22" dirty="0">
                  <a:latin typeface="Arial MT"/>
                  <a:cs typeface="Arial MT"/>
                </a:rPr>
                <a:t> </a:t>
              </a:r>
              <a:r>
                <a:rPr sz="1677" dirty="0">
                  <a:latin typeface="Arial MT"/>
                  <a:cs typeface="Arial MT"/>
                </a:rPr>
                <a:t>of</a:t>
              </a:r>
              <a:r>
                <a:rPr sz="1677" spc="-110" dirty="0">
                  <a:latin typeface="Arial MT"/>
                  <a:cs typeface="Arial MT"/>
                </a:rPr>
                <a:t> </a:t>
              </a:r>
              <a:r>
                <a:rPr sz="1677" dirty="0">
                  <a:latin typeface="Arial MT"/>
                  <a:cs typeface="Arial MT"/>
                </a:rPr>
                <a:t>A</a:t>
              </a:r>
              <a:r>
                <a:rPr sz="1677" spc="-110" dirty="0">
                  <a:latin typeface="Arial MT"/>
                  <a:cs typeface="Arial MT"/>
                </a:rPr>
                <a:t> </a:t>
              </a:r>
              <a:r>
                <a:rPr sz="1677" dirty="0">
                  <a:latin typeface="Arial MT"/>
                  <a:cs typeface="Arial MT"/>
                </a:rPr>
                <a:t>and</a:t>
              </a:r>
              <a:r>
                <a:rPr sz="1677" spc="-18" dirty="0">
                  <a:latin typeface="Arial MT"/>
                  <a:cs typeface="Arial MT"/>
                </a:rPr>
                <a:t> </a:t>
              </a:r>
              <a:r>
                <a:rPr sz="1677" dirty="0">
                  <a:latin typeface="Arial MT"/>
                  <a:cs typeface="Arial MT"/>
                </a:rPr>
                <a:t>flag</a:t>
              </a:r>
              <a:r>
                <a:rPr sz="1677" spc="-22" dirty="0">
                  <a:latin typeface="Arial MT"/>
                  <a:cs typeface="Arial MT"/>
                </a:rPr>
                <a:t> </a:t>
              </a:r>
              <a:r>
                <a:rPr sz="1677" dirty="0">
                  <a:latin typeface="Arial MT"/>
                  <a:cs typeface="Arial MT"/>
                </a:rPr>
                <a:t>are</a:t>
              </a:r>
              <a:r>
                <a:rPr sz="1677" spc="-18" dirty="0">
                  <a:latin typeface="Arial MT"/>
                  <a:cs typeface="Arial MT"/>
                </a:rPr>
                <a:t> </a:t>
              </a:r>
              <a:r>
                <a:rPr sz="1677" spc="-22" dirty="0">
                  <a:latin typeface="Arial MT"/>
                  <a:cs typeface="Arial MT"/>
                </a:rPr>
                <a:t>0*/</a:t>
              </a:r>
              <a:endParaRPr sz="1677">
                <a:latin typeface="Arial MT"/>
                <a:cs typeface="Arial MT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1353281" y="2153770"/>
              <a:ext cx="1173256" cy="683068"/>
            </a:xfrm>
            <a:prstGeom prst="rect">
              <a:avLst/>
            </a:prstGeom>
          </p:spPr>
          <p:txBody>
            <a:bodyPr vert="horz" wrap="square" lIns="0" tIns="89087" rIns="0" bIns="0" rtlCol="0">
              <a:spAutoFit/>
            </a:bodyPr>
            <a:lstStyle/>
            <a:p>
              <a:pPr marL="11206">
                <a:spcBef>
                  <a:spcPts val="702"/>
                </a:spcBef>
              </a:pPr>
              <a:r>
                <a:rPr sz="1677" b="1" dirty="0">
                  <a:latin typeface="Courier New"/>
                  <a:cs typeface="Courier New"/>
                </a:rPr>
                <a:t>A </a:t>
              </a:r>
              <a:r>
                <a:rPr sz="1677" dirty="0">
                  <a:latin typeface="Courier New"/>
                  <a:cs typeface="Courier New"/>
                </a:rPr>
                <a:t>= </a:t>
              </a:r>
              <a:r>
                <a:rPr sz="1677" spc="-22" dirty="0">
                  <a:latin typeface="Courier New"/>
                  <a:cs typeface="Courier New"/>
                </a:rPr>
                <a:t>1;</a:t>
              </a:r>
              <a:endParaRPr sz="1677">
                <a:latin typeface="Courier New"/>
                <a:cs typeface="Courier New"/>
              </a:endParaRPr>
            </a:p>
            <a:p>
              <a:pPr marL="11206">
                <a:spcBef>
                  <a:spcPts val="613"/>
                </a:spcBef>
              </a:pPr>
              <a:r>
                <a:rPr sz="1677" b="1" dirty="0">
                  <a:latin typeface="Courier New"/>
                  <a:cs typeface="Courier New"/>
                </a:rPr>
                <a:t>flag </a:t>
              </a:r>
              <a:r>
                <a:rPr sz="1677" dirty="0">
                  <a:latin typeface="Courier New"/>
                  <a:cs typeface="Courier New"/>
                </a:rPr>
                <a:t>= </a:t>
              </a:r>
              <a:r>
                <a:rPr sz="1677" spc="-22" dirty="0">
                  <a:latin typeface="Courier New"/>
                  <a:cs typeface="Courier New"/>
                </a:rPr>
                <a:t>1;</a:t>
              </a:r>
              <a:endParaRPr sz="1677">
                <a:latin typeface="Courier New"/>
                <a:cs typeface="Courier New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4091113" y="2153770"/>
              <a:ext cx="3518087" cy="683068"/>
            </a:xfrm>
            <a:prstGeom prst="rect">
              <a:avLst/>
            </a:prstGeom>
          </p:spPr>
          <p:txBody>
            <a:bodyPr vert="horz" wrap="square" lIns="0" tIns="89087" rIns="0" bIns="0" rtlCol="0">
              <a:spAutoFit/>
            </a:bodyPr>
            <a:lstStyle/>
            <a:p>
              <a:pPr marL="11206">
                <a:spcBef>
                  <a:spcPts val="702"/>
                </a:spcBef>
              </a:pPr>
              <a:r>
                <a:rPr sz="1677" dirty="0">
                  <a:latin typeface="Courier New"/>
                  <a:cs typeface="Courier New"/>
                </a:rPr>
                <a:t>while</a:t>
              </a:r>
              <a:r>
                <a:rPr sz="1677" spc="-9" dirty="0">
                  <a:latin typeface="Courier New"/>
                  <a:cs typeface="Courier New"/>
                </a:rPr>
                <a:t> </a:t>
              </a:r>
              <a:r>
                <a:rPr sz="1677" dirty="0">
                  <a:latin typeface="Courier New"/>
                  <a:cs typeface="Courier New"/>
                </a:rPr>
                <a:t>(</a:t>
              </a:r>
              <a:r>
                <a:rPr sz="1677" b="1" dirty="0">
                  <a:latin typeface="Courier New"/>
                  <a:cs typeface="Courier New"/>
                </a:rPr>
                <a:t>flag</a:t>
              </a:r>
              <a:r>
                <a:rPr sz="1677" b="1" spc="-4" dirty="0">
                  <a:latin typeface="Courier New"/>
                  <a:cs typeface="Courier New"/>
                </a:rPr>
                <a:t> </a:t>
              </a:r>
              <a:r>
                <a:rPr sz="1677" dirty="0">
                  <a:latin typeface="Courier New"/>
                  <a:cs typeface="Courier New"/>
                </a:rPr>
                <a:t>==</a:t>
              </a:r>
              <a:r>
                <a:rPr sz="1677" spc="-4" dirty="0">
                  <a:latin typeface="Courier New"/>
                  <a:cs typeface="Courier New"/>
                </a:rPr>
                <a:t> </a:t>
              </a:r>
              <a:r>
                <a:rPr sz="1677" dirty="0">
                  <a:latin typeface="Courier New"/>
                  <a:cs typeface="Courier New"/>
                </a:rPr>
                <a:t>0);</a:t>
              </a:r>
              <a:r>
                <a:rPr sz="1677" spc="66" dirty="0">
                  <a:latin typeface="Courier New"/>
                  <a:cs typeface="Courier New"/>
                </a:rPr>
                <a:t> </a:t>
              </a:r>
              <a:r>
                <a:rPr sz="2515" baseline="2923" dirty="0">
                  <a:latin typeface="Arial MT"/>
                  <a:cs typeface="Arial MT"/>
                </a:rPr>
                <a:t>/*spin </a:t>
              </a:r>
              <a:r>
                <a:rPr sz="2515" spc="-13" baseline="2923" dirty="0">
                  <a:latin typeface="Arial MT"/>
                  <a:cs typeface="Arial MT"/>
                </a:rPr>
                <a:t>idly*/</a:t>
              </a:r>
              <a:endParaRPr sz="2515" baseline="2923" dirty="0">
                <a:latin typeface="Arial MT"/>
                <a:cs typeface="Arial MT"/>
              </a:endParaRPr>
            </a:p>
            <a:p>
              <a:pPr marL="11206">
                <a:spcBef>
                  <a:spcPts val="613"/>
                </a:spcBef>
              </a:pPr>
              <a:r>
                <a:rPr sz="1677" dirty="0">
                  <a:latin typeface="Courier New"/>
                  <a:cs typeface="Courier New"/>
                </a:rPr>
                <a:t>print </a:t>
              </a:r>
              <a:r>
                <a:rPr sz="1677" b="1" spc="-22" dirty="0">
                  <a:latin typeface="Courier New"/>
                  <a:cs typeface="Courier New"/>
                </a:rPr>
                <a:t>A</a:t>
              </a:r>
              <a:r>
                <a:rPr sz="1677" spc="-22" dirty="0">
                  <a:latin typeface="Courier New"/>
                  <a:cs typeface="Courier New"/>
                </a:rPr>
                <a:t>;</a:t>
              </a:r>
              <a:endParaRPr sz="1677" dirty="0">
                <a:latin typeface="Courier New"/>
                <a:cs typeface="Courier New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076138" y="1883554"/>
              <a:ext cx="7041216" cy="1681"/>
            </a:xfrm>
            <a:custGeom>
              <a:avLst/>
              <a:gdLst/>
              <a:ahLst/>
              <a:cxnLst/>
              <a:rect l="l" t="t" r="r" b="b"/>
              <a:pathLst>
                <a:path w="7980045" h="1905">
                  <a:moveTo>
                    <a:pt x="0" y="0"/>
                  </a:moveTo>
                  <a:lnTo>
                    <a:pt x="7979543" y="1685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556896" y="5829922"/>
            <a:ext cx="2805393" cy="622487"/>
            <a:chOff x="5940310" y="6574860"/>
            <a:chExt cx="3179445" cy="705485"/>
          </a:xfrm>
        </p:grpSpPr>
        <p:sp>
          <p:nvSpPr>
            <p:cNvPr id="12" name="object 12"/>
            <p:cNvSpPr/>
            <p:nvPr/>
          </p:nvSpPr>
          <p:spPr>
            <a:xfrm>
              <a:off x="5980950" y="6615500"/>
              <a:ext cx="3098165" cy="1905"/>
            </a:xfrm>
            <a:custGeom>
              <a:avLst/>
              <a:gdLst/>
              <a:ahLst/>
              <a:cxnLst/>
              <a:rect l="l" t="t" r="r" b="b"/>
              <a:pathLst>
                <a:path w="3098165" h="1904">
                  <a:moveTo>
                    <a:pt x="0" y="0"/>
                  </a:moveTo>
                  <a:lnTo>
                    <a:pt x="3097820" y="1685"/>
                  </a:lnTo>
                </a:path>
              </a:pathLst>
            </a:custGeom>
            <a:ln w="80856">
              <a:solidFill>
                <a:srgbClr val="114FF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6764248" y="6647506"/>
              <a:ext cx="1905" cy="224154"/>
            </a:xfrm>
            <a:custGeom>
              <a:avLst/>
              <a:gdLst/>
              <a:ahLst/>
              <a:cxnLst/>
              <a:rect l="l" t="t" r="r" b="b"/>
              <a:pathLst>
                <a:path w="1904" h="224154">
                  <a:moveTo>
                    <a:pt x="0" y="0"/>
                  </a:moveTo>
                  <a:lnTo>
                    <a:pt x="1685" y="224039"/>
                  </a:lnTo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6223520" y="6871546"/>
              <a:ext cx="1455420" cy="404495"/>
            </a:xfrm>
            <a:custGeom>
              <a:avLst/>
              <a:gdLst/>
              <a:ahLst/>
              <a:cxnLst/>
              <a:rect l="l" t="t" r="r" b="b"/>
              <a:pathLst>
                <a:path w="1455420" h="404495">
                  <a:moveTo>
                    <a:pt x="0" y="0"/>
                  </a:moveTo>
                  <a:lnTo>
                    <a:pt x="1455419" y="0"/>
                  </a:lnTo>
                  <a:lnTo>
                    <a:pt x="1455419" y="404283"/>
                  </a:lnTo>
                  <a:lnTo>
                    <a:pt x="5471" y="404283"/>
                  </a:lnTo>
                  <a:lnTo>
                    <a:pt x="5471" y="0"/>
                  </a:lnTo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815331" y="6134436"/>
            <a:ext cx="1272428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62756">
              <a:spcBef>
                <a:spcPts val="88"/>
              </a:spcBef>
            </a:pPr>
            <a:r>
              <a:rPr sz="1412" dirty="0">
                <a:latin typeface="Arial MT"/>
                <a:cs typeface="Arial MT"/>
              </a:rPr>
              <a:t>Mem</a:t>
            </a:r>
            <a:r>
              <a:rPr sz="1412" spc="-49" dirty="0">
                <a:latin typeface="Arial MT"/>
                <a:cs typeface="Arial MT"/>
              </a:rPr>
              <a:t> </a:t>
            </a:r>
            <a:r>
              <a:rPr sz="1412" dirty="0">
                <a:latin typeface="Arial MT"/>
                <a:cs typeface="Arial MT"/>
              </a:rPr>
              <a:t>with</a:t>
            </a:r>
            <a:r>
              <a:rPr sz="1412" spc="-40" dirty="0">
                <a:latin typeface="Arial MT"/>
                <a:cs typeface="Arial MT"/>
              </a:rPr>
              <a:t> </a:t>
            </a:r>
            <a:r>
              <a:rPr sz="1412" b="1" spc="-18" dirty="0">
                <a:latin typeface="Arial"/>
                <a:cs typeface="Arial"/>
              </a:rPr>
              <a:t>flag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89866" y="5152184"/>
            <a:ext cx="2283759" cy="726141"/>
            <a:chOff x="6317677" y="5806757"/>
            <a:chExt cx="2588260" cy="822960"/>
          </a:xfrm>
        </p:grpSpPr>
        <p:sp>
          <p:nvSpPr>
            <p:cNvPr id="17" name="object 17"/>
            <p:cNvSpPr/>
            <p:nvPr/>
          </p:nvSpPr>
          <p:spPr>
            <a:xfrm>
              <a:off x="6331329" y="5820410"/>
              <a:ext cx="427990" cy="448309"/>
            </a:xfrm>
            <a:custGeom>
              <a:avLst/>
              <a:gdLst/>
              <a:ahLst/>
              <a:cxnLst/>
              <a:rect l="l" t="t" r="r" b="b"/>
              <a:pathLst>
                <a:path w="427990" h="448310">
                  <a:moveTo>
                    <a:pt x="423842" y="224040"/>
                  </a:moveTo>
                  <a:lnTo>
                    <a:pt x="423842" y="185995"/>
                  </a:lnTo>
                  <a:lnTo>
                    <a:pt x="417136" y="152178"/>
                  </a:lnTo>
                  <a:lnTo>
                    <a:pt x="384945" y="88770"/>
                  </a:lnTo>
                  <a:lnTo>
                    <a:pt x="338001" y="40862"/>
                  </a:lnTo>
                  <a:lnTo>
                    <a:pt x="281667" y="11272"/>
                  </a:lnTo>
                  <a:lnTo>
                    <a:pt x="214603" y="0"/>
                  </a:lnTo>
                  <a:lnTo>
                    <a:pt x="178389" y="2818"/>
                  </a:lnTo>
                  <a:lnTo>
                    <a:pt x="114008" y="25363"/>
                  </a:lnTo>
                  <a:lnTo>
                    <a:pt x="61698" y="63407"/>
                  </a:lnTo>
                  <a:lnTo>
                    <a:pt x="21460" y="119770"/>
                  </a:lnTo>
                  <a:lnTo>
                    <a:pt x="0" y="185995"/>
                  </a:lnTo>
                  <a:lnTo>
                    <a:pt x="0" y="224040"/>
                  </a:lnTo>
                  <a:lnTo>
                    <a:pt x="0" y="260675"/>
                  </a:lnTo>
                  <a:lnTo>
                    <a:pt x="21460" y="324083"/>
                  </a:lnTo>
                  <a:lnTo>
                    <a:pt x="61698" y="380445"/>
                  </a:lnTo>
                  <a:lnTo>
                    <a:pt x="114008" y="421308"/>
                  </a:lnTo>
                  <a:lnTo>
                    <a:pt x="178389" y="443853"/>
                  </a:lnTo>
                  <a:lnTo>
                    <a:pt x="214603" y="448080"/>
                  </a:lnTo>
                  <a:lnTo>
                    <a:pt x="245453" y="443853"/>
                  </a:lnTo>
                  <a:lnTo>
                    <a:pt x="309834" y="421308"/>
                  </a:lnTo>
                  <a:lnTo>
                    <a:pt x="363485" y="380445"/>
                  </a:lnTo>
                  <a:lnTo>
                    <a:pt x="402382" y="324083"/>
                  </a:lnTo>
                  <a:lnTo>
                    <a:pt x="423842" y="260675"/>
                  </a:lnTo>
                  <a:lnTo>
                    <a:pt x="427866" y="224040"/>
                  </a:lnTo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8708177" y="6229747"/>
              <a:ext cx="1905" cy="386080"/>
            </a:xfrm>
            <a:custGeom>
              <a:avLst/>
              <a:gdLst/>
              <a:ahLst/>
              <a:cxnLst/>
              <a:rect l="l" t="t" r="r" b="b"/>
              <a:pathLst>
                <a:path w="1904" h="386079">
                  <a:moveTo>
                    <a:pt x="0" y="0"/>
                  </a:moveTo>
                  <a:lnTo>
                    <a:pt x="1685" y="385753"/>
                  </a:lnTo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8465607" y="5825464"/>
              <a:ext cx="426720" cy="448309"/>
            </a:xfrm>
            <a:custGeom>
              <a:avLst/>
              <a:gdLst/>
              <a:ahLst/>
              <a:cxnLst/>
              <a:rect l="l" t="t" r="r" b="b"/>
              <a:pathLst>
                <a:path w="426720" h="448310">
                  <a:moveTo>
                    <a:pt x="213090" y="0"/>
                  </a:moveTo>
                  <a:lnTo>
                    <a:pt x="146081" y="9862"/>
                  </a:lnTo>
                  <a:lnTo>
                    <a:pt x="85773" y="43680"/>
                  </a:lnTo>
                  <a:lnTo>
                    <a:pt x="38865" y="92997"/>
                  </a:lnTo>
                  <a:lnTo>
                    <a:pt x="10721" y="152177"/>
                  </a:lnTo>
                  <a:lnTo>
                    <a:pt x="0" y="190221"/>
                  </a:lnTo>
                  <a:lnTo>
                    <a:pt x="0" y="260675"/>
                  </a:lnTo>
                  <a:lnTo>
                    <a:pt x="21442" y="328310"/>
                  </a:lnTo>
                  <a:lnTo>
                    <a:pt x="60308" y="384672"/>
                  </a:lnTo>
                  <a:lnTo>
                    <a:pt x="113916" y="425535"/>
                  </a:lnTo>
                  <a:lnTo>
                    <a:pt x="146081" y="436807"/>
                  </a:lnTo>
                  <a:lnTo>
                    <a:pt x="176905" y="448080"/>
                  </a:lnTo>
                  <a:lnTo>
                    <a:pt x="245256" y="448080"/>
                  </a:lnTo>
                  <a:lnTo>
                    <a:pt x="280101" y="436807"/>
                  </a:lnTo>
                  <a:lnTo>
                    <a:pt x="337729" y="405808"/>
                  </a:lnTo>
                  <a:lnTo>
                    <a:pt x="383296" y="357899"/>
                  </a:lnTo>
                  <a:lnTo>
                    <a:pt x="415461" y="294492"/>
                  </a:lnTo>
                  <a:lnTo>
                    <a:pt x="422161" y="260675"/>
                  </a:lnTo>
                  <a:lnTo>
                    <a:pt x="422161" y="224039"/>
                  </a:lnTo>
                  <a:lnTo>
                    <a:pt x="426182" y="224039"/>
                  </a:lnTo>
                  <a:lnTo>
                    <a:pt x="415461" y="152177"/>
                  </a:lnTo>
                  <a:lnTo>
                    <a:pt x="383296" y="92997"/>
                  </a:lnTo>
                  <a:lnTo>
                    <a:pt x="337729" y="43680"/>
                  </a:lnTo>
                  <a:lnTo>
                    <a:pt x="280101" y="9862"/>
                  </a:lnTo>
                  <a:lnTo>
                    <a:pt x="245256" y="2818"/>
                  </a:lnTo>
                  <a:lnTo>
                    <a:pt x="2130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8465607" y="5825464"/>
              <a:ext cx="426720" cy="448309"/>
            </a:xfrm>
            <a:custGeom>
              <a:avLst/>
              <a:gdLst/>
              <a:ahLst/>
              <a:cxnLst/>
              <a:rect l="l" t="t" r="r" b="b"/>
              <a:pathLst>
                <a:path w="426720" h="448310">
                  <a:moveTo>
                    <a:pt x="422161" y="224040"/>
                  </a:moveTo>
                  <a:lnTo>
                    <a:pt x="422161" y="190222"/>
                  </a:lnTo>
                  <a:lnTo>
                    <a:pt x="415460" y="152178"/>
                  </a:lnTo>
                  <a:lnTo>
                    <a:pt x="383296" y="92997"/>
                  </a:lnTo>
                  <a:lnTo>
                    <a:pt x="337729" y="43680"/>
                  </a:lnTo>
                  <a:lnTo>
                    <a:pt x="280101" y="9863"/>
                  </a:lnTo>
                  <a:lnTo>
                    <a:pt x="213091" y="0"/>
                  </a:lnTo>
                  <a:lnTo>
                    <a:pt x="176905" y="2818"/>
                  </a:lnTo>
                  <a:lnTo>
                    <a:pt x="113916" y="25363"/>
                  </a:lnTo>
                  <a:lnTo>
                    <a:pt x="60308" y="66225"/>
                  </a:lnTo>
                  <a:lnTo>
                    <a:pt x="21443" y="122588"/>
                  </a:lnTo>
                  <a:lnTo>
                    <a:pt x="0" y="190222"/>
                  </a:lnTo>
                  <a:lnTo>
                    <a:pt x="0" y="224040"/>
                  </a:lnTo>
                  <a:lnTo>
                    <a:pt x="0" y="260675"/>
                  </a:lnTo>
                  <a:lnTo>
                    <a:pt x="10721" y="294493"/>
                  </a:lnTo>
                  <a:lnTo>
                    <a:pt x="21443" y="328310"/>
                  </a:lnTo>
                  <a:lnTo>
                    <a:pt x="38865" y="357900"/>
                  </a:lnTo>
                  <a:lnTo>
                    <a:pt x="60308" y="384673"/>
                  </a:lnTo>
                  <a:lnTo>
                    <a:pt x="85772" y="405808"/>
                  </a:lnTo>
                  <a:lnTo>
                    <a:pt x="113916" y="425535"/>
                  </a:lnTo>
                  <a:lnTo>
                    <a:pt x="146081" y="436808"/>
                  </a:lnTo>
                  <a:lnTo>
                    <a:pt x="176905" y="448080"/>
                  </a:lnTo>
                  <a:lnTo>
                    <a:pt x="213091" y="448080"/>
                  </a:lnTo>
                  <a:lnTo>
                    <a:pt x="245255" y="448080"/>
                  </a:lnTo>
                  <a:lnTo>
                    <a:pt x="280101" y="436808"/>
                  </a:lnTo>
                  <a:lnTo>
                    <a:pt x="337729" y="405808"/>
                  </a:lnTo>
                  <a:lnTo>
                    <a:pt x="383296" y="357900"/>
                  </a:lnTo>
                  <a:lnTo>
                    <a:pt x="415460" y="294493"/>
                  </a:lnTo>
                  <a:lnTo>
                    <a:pt x="422161" y="260675"/>
                  </a:lnTo>
                  <a:lnTo>
                    <a:pt x="426182" y="224040"/>
                  </a:lnTo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857556" y="5271134"/>
            <a:ext cx="218515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412" spc="-88" dirty="0">
                <a:latin typeface="Arial MT"/>
                <a:cs typeface="Arial MT"/>
              </a:rPr>
              <a:t>P</a:t>
            </a:r>
            <a:r>
              <a:rPr sz="1721" spc="-132" baseline="-21367" dirty="0">
                <a:latin typeface="Arial MT"/>
                <a:cs typeface="Arial MT"/>
              </a:rPr>
              <a:t>n</a:t>
            </a:r>
            <a:endParaRPr sz="1721" baseline="-21367" dirty="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103898" y="5508905"/>
            <a:ext cx="2347072" cy="931769"/>
            <a:chOff x="6560246" y="6211040"/>
            <a:chExt cx="2660015" cy="1056005"/>
          </a:xfrm>
        </p:grpSpPr>
        <p:sp>
          <p:nvSpPr>
            <p:cNvPr id="23" name="object 23"/>
            <p:cNvSpPr/>
            <p:nvPr/>
          </p:nvSpPr>
          <p:spPr>
            <a:xfrm>
              <a:off x="6573899" y="6224692"/>
              <a:ext cx="1905" cy="386080"/>
            </a:xfrm>
            <a:custGeom>
              <a:avLst/>
              <a:gdLst/>
              <a:ahLst/>
              <a:cxnLst/>
              <a:rect l="l" t="t" r="r" b="b"/>
              <a:pathLst>
                <a:path w="1904" h="386079">
                  <a:moveTo>
                    <a:pt x="0" y="0"/>
                  </a:moveTo>
                  <a:lnTo>
                    <a:pt x="1683" y="385754"/>
                  </a:lnTo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8543095" y="6634030"/>
              <a:ext cx="1905" cy="224154"/>
            </a:xfrm>
            <a:custGeom>
              <a:avLst/>
              <a:gdLst/>
              <a:ahLst/>
              <a:cxnLst/>
              <a:rect l="l" t="t" r="r" b="b"/>
              <a:pathLst>
                <a:path w="1904" h="224154">
                  <a:moveTo>
                    <a:pt x="0" y="0"/>
                  </a:moveTo>
                  <a:lnTo>
                    <a:pt x="1685" y="224039"/>
                  </a:lnTo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8002366" y="6858070"/>
              <a:ext cx="1212850" cy="404495"/>
            </a:xfrm>
            <a:custGeom>
              <a:avLst/>
              <a:gdLst/>
              <a:ahLst/>
              <a:cxnLst/>
              <a:rect l="l" t="t" r="r" b="b"/>
              <a:pathLst>
                <a:path w="1212850" h="404495">
                  <a:moveTo>
                    <a:pt x="0" y="0"/>
                  </a:moveTo>
                  <a:lnTo>
                    <a:pt x="1212849" y="0"/>
                  </a:lnTo>
                  <a:lnTo>
                    <a:pt x="1212849" y="404283"/>
                  </a:lnTo>
                  <a:lnTo>
                    <a:pt x="4559" y="404283"/>
                  </a:lnTo>
                  <a:lnTo>
                    <a:pt x="4559" y="0"/>
                  </a:lnTo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756037" y="5943936"/>
            <a:ext cx="92560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9" dirty="0">
                <a:latin typeface="Arial"/>
                <a:cs typeface="Arial"/>
              </a:rPr>
              <a:t>Conceptual</a:t>
            </a:r>
            <a:endParaRPr sz="1324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56037" y="6247840"/>
            <a:ext cx="587188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9" dirty="0">
                <a:latin typeface="Arial"/>
                <a:cs typeface="Arial"/>
              </a:rPr>
              <a:t>Picture</a:t>
            </a:r>
            <a:endParaRPr sz="1324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84096" y="6123678"/>
            <a:ext cx="1058956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63317">
              <a:spcBef>
                <a:spcPts val="88"/>
              </a:spcBef>
            </a:pPr>
            <a:r>
              <a:rPr sz="1412" dirty="0">
                <a:latin typeface="Arial MT"/>
                <a:cs typeface="Arial MT"/>
              </a:rPr>
              <a:t>Mem</a:t>
            </a:r>
            <a:r>
              <a:rPr sz="1412" spc="-49" dirty="0">
                <a:latin typeface="Arial MT"/>
                <a:cs typeface="Arial MT"/>
              </a:rPr>
              <a:t> </a:t>
            </a:r>
            <a:r>
              <a:rPr sz="1412" dirty="0">
                <a:latin typeface="Arial MT"/>
                <a:cs typeface="Arial MT"/>
              </a:rPr>
              <a:t>with</a:t>
            </a:r>
            <a:r>
              <a:rPr sz="1412" spc="-40" dirty="0">
                <a:latin typeface="Arial MT"/>
                <a:cs typeface="Arial MT"/>
              </a:rPr>
              <a:t> </a:t>
            </a:r>
            <a:r>
              <a:rPr sz="1412" b="1" spc="-44" dirty="0">
                <a:latin typeface="Arial"/>
                <a:cs typeface="Arial"/>
              </a:rPr>
              <a:t>A</a:t>
            </a:r>
            <a:endParaRPr sz="1412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703047" y="5156800"/>
            <a:ext cx="400050" cy="721098"/>
            <a:chOff x="7239282" y="5811988"/>
            <a:chExt cx="453390" cy="817244"/>
          </a:xfrm>
        </p:grpSpPr>
        <p:sp>
          <p:nvSpPr>
            <p:cNvPr id="30" name="object 30"/>
            <p:cNvSpPr/>
            <p:nvPr/>
          </p:nvSpPr>
          <p:spPr>
            <a:xfrm>
              <a:off x="7495328" y="6229747"/>
              <a:ext cx="1905" cy="386080"/>
            </a:xfrm>
            <a:custGeom>
              <a:avLst/>
              <a:gdLst/>
              <a:ahLst/>
              <a:cxnLst/>
              <a:rect l="l" t="t" r="r" b="b"/>
              <a:pathLst>
                <a:path w="1904" h="386079">
                  <a:moveTo>
                    <a:pt x="0" y="0"/>
                  </a:moveTo>
                  <a:lnTo>
                    <a:pt x="1685" y="385753"/>
                  </a:lnTo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7252758" y="5825464"/>
              <a:ext cx="426720" cy="448309"/>
            </a:xfrm>
            <a:custGeom>
              <a:avLst/>
              <a:gdLst/>
              <a:ahLst/>
              <a:cxnLst/>
              <a:rect l="l" t="t" r="r" b="b"/>
              <a:pathLst>
                <a:path w="426720" h="448310">
                  <a:moveTo>
                    <a:pt x="213092" y="0"/>
                  </a:moveTo>
                  <a:lnTo>
                    <a:pt x="146081" y="9862"/>
                  </a:lnTo>
                  <a:lnTo>
                    <a:pt x="85773" y="43680"/>
                  </a:lnTo>
                  <a:lnTo>
                    <a:pt x="38865" y="92997"/>
                  </a:lnTo>
                  <a:lnTo>
                    <a:pt x="10722" y="152177"/>
                  </a:lnTo>
                  <a:lnTo>
                    <a:pt x="0" y="190221"/>
                  </a:lnTo>
                  <a:lnTo>
                    <a:pt x="0" y="260675"/>
                  </a:lnTo>
                  <a:lnTo>
                    <a:pt x="21443" y="328310"/>
                  </a:lnTo>
                  <a:lnTo>
                    <a:pt x="60309" y="384672"/>
                  </a:lnTo>
                  <a:lnTo>
                    <a:pt x="113917" y="425535"/>
                  </a:lnTo>
                  <a:lnTo>
                    <a:pt x="146081" y="436807"/>
                  </a:lnTo>
                  <a:lnTo>
                    <a:pt x="176905" y="448080"/>
                  </a:lnTo>
                  <a:lnTo>
                    <a:pt x="245256" y="448080"/>
                  </a:lnTo>
                  <a:lnTo>
                    <a:pt x="280102" y="436807"/>
                  </a:lnTo>
                  <a:lnTo>
                    <a:pt x="337729" y="405808"/>
                  </a:lnTo>
                  <a:lnTo>
                    <a:pt x="383297" y="357899"/>
                  </a:lnTo>
                  <a:lnTo>
                    <a:pt x="415461" y="294492"/>
                  </a:lnTo>
                  <a:lnTo>
                    <a:pt x="422161" y="260675"/>
                  </a:lnTo>
                  <a:lnTo>
                    <a:pt x="422161" y="224039"/>
                  </a:lnTo>
                  <a:lnTo>
                    <a:pt x="426182" y="224039"/>
                  </a:lnTo>
                  <a:lnTo>
                    <a:pt x="415461" y="152177"/>
                  </a:lnTo>
                  <a:lnTo>
                    <a:pt x="383297" y="92997"/>
                  </a:lnTo>
                  <a:lnTo>
                    <a:pt x="337729" y="43680"/>
                  </a:lnTo>
                  <a:lnTo>
                    <a:pt x="280102" y="9862"/>
                  </a:lnTo>
                  <a:lnTo>
                    <a:pt x="245256" y="2818"/>
                  </a:lnTo>
                  <a:lnTo>
                    <a:pt x="2130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7252758" y="5825464"/>
              <a:ext cx="426720" cy="448309"/>
            </a:xfrm>
            <a:custGeom>
              <a:avLst/>
              <a:gdLst/>
              <a:ahLst/>
              <a:cxnLst/>
              <a:rect l="l" t="t" r="r" b="b"/>
              <a:pathLst>
                <a:path w="426720" h="448310">
                  <a:moveTo>
                    <a:pt x="422161" y="224040"/>
                  </a:moveTo>
                  <a:lnTo>
                    <a:pt x="422161" y="190222"/>
                  </a:lnTo>
                  <a:lnTo>
                    <a:pt x="415460" y="152178"/>
                  </a:lnTo>
                  <a:lnTo>
                    <a:pt x="383296" y="92997"/>
                  </a:lnTo>
                  <a:lnTo>
                    <a:pt x="337729" y="43680"/>
                  </a:lnTo>
                  <a:lnTo>
                    <a:pt x="280101" y="9863"/>
                  </a:lnTo>
                  <a:lnTo>
                    <a:pt x="213091" y="0"/>
                  </a:lnTo>
                  <a:lnTo>
                    <a:pt x="176905" y="2818"/>
                  </a:lnTo>
                  <a:lnTo>
                    <a:pt x="113916" y="25363"/>
                  </a:lnTo>
                  <a:lnTo>
                    <a:pt x="60308" y="66225"/>
                  </a:lnTo>
                  <a:lnTo>
                    <a:pt x="21443" y="122588"/>
                  </a:lnTo>
                  <a:lnTo>
                    <a:pt x="0" y="190222"/>
                  </a:lnTo>
                  <a:lnTo>
                    <a:pt x="0" y="224040"/>
                  </a:lnTo>
                  <a:lnTo>
                    <a:pt x="0" y="260675"/>
                  </a:lnTo>
                  <a:lnTo>
                    <a:pt x="10721" y="294493"/>
                  </a:lnTo>
                  <a:lnTo>
                    <a:pt x="21443" y="328310"/>
                  </a:lnTo>
                  <a:lnTo>
                    <a:pt x="38865" y="357900"/>
                  </a:lnTo>
                  <a:lnTo>
                    <a:pt x="60308" y="384673"/>
                  </a:lnTo>
                  <a:lnTo>
                    <a:pt x="85772" y="405808"/>
                  </a:lnTo>
                  <a:lnTo>
                    <a:pt x="113916" y="425535"/>
                  </a:lnTo>
                  <a:lnTo>
                    <a:pt x="146081" y="436808"/>
                  </a:lnTo>
                  <a:lnTo>
                    <a:pt x="176905" y="448080"/>
                  </a:lnTo>
                  <a:lnTo>
                    <a:pt x="213091" y="448080"/>
                  </a:lnTo>
                  <a:lnTo>
                    <a:pt x="245255" y="448080"/>
                  </a:lnTo>
                  <a:lnTo>
                    <a:pt x="280101" y="436808"/>
                  </a:lnTo>
                  <a:lnTo>
                    <a:pt x="337729" y="405808"/>
                  </a:lnTo>
                  <a:lnTo>
                    <a:pt x="383296" y="357900"/>
                  </a:lnTo>
                  <a:lnTo>
                    <a:pt x="415460" y="294493"/>
                  </a:lnTo>
                  <a:lnTo>
                    <a:pt x="422161" y="260675"/>
                  </a:lnTo>
                  <a:lnTo>
                    <a:pt x="426182" y="224040"/>
                  </a:lnTo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939264" y="5178350"/>
            <a:ext cx="1680735" cy="93086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56032">
              <a:spcBef>
                <a:spcPts val="88"/>
              </a:spcBef>
              <a:tabLst>
                <a:tab pos="877467" algn="l"/>
                <a:tab pos="1308357" algn="l"/>
              </a:tabLst>
            </a:pPr>
            <a:r>
              <a:rPr sz="2118" spc="-33" baseline="1736" dirty="0">
                <a:latin typeface="Arial MT"/>
                <a:cs typeface="Arial MT"/>
              </a:rPr>
              <a:t>P</a:t>
            </a:r>
            <a:r>
              <a:rPr sz="1721" spc="-33" baseline="-17094" dirty="0">
                <a:latin typeface="Arial MT"/>
                <a:cs typeface="Arial MT"/>
              </a:rPr>
              <a:t>1</a:t>
            </a:r>
            <a:r>
              <a:rPr sz="1721" baseline="-17094" dirty="0">
                <a:latin typeface="Arial MT"/>
                <a:cs typeface="Arial MT"/>
              </a:rPr>
              <a:t>	</a:t>
            </a:r>
            <a:r>
              <a:rPr sz="2118" b="1" spc="-33" baseline="1736" dirty="0">
                <a:solidFill>
                  <a:srgbClr val="114FFB"/>
                </a:solidFill>
                <a:latin typeface="Arial"/>
                <a:cs typeface="Arial"/>
              </a:rPr>
              <a:t>P</a:t>
            </a:r>
            <a:r>
              <a:rPr sz="1721" b="1" spc="-33" baseline="-19230" dirty="0">
                <a:solidFill>
                  <a:srgbClr val="114FFB"/>
                </a:solidFill>
                <a:latin typeface="Arial"/>
                <a:cs typeface="Arial"/>
              </a:rPr>
              <a:t>2</a:t>
            </a:r>
            <a:r>
              <a:rPr sz="1721" b="1" baseline="-19230" dirty="0">
                <a:solidFill>
                  <a:srgbClr val="114FFB"/>
                </a:solidFill>
                <a:latin typeface="Arial"/>
                <a:cs typeface="Arial"/>
              </a:rPr>
              <a:t>	</a:t>
            </a:r>
            <a:r>
              <a:rPr sz="2206" b="1" spc="-44" dirty="0">
                <a:latin typeface="Arial"/>
                <a:cs typeface="Arial"/>
              </a:rPr>
              <a:t>…</a:t>
            </a:r>
            <a:endParaRPr sz="2206" dirty="0">
              <a:latin typeface="Arial"/>
              <a:cs typeface="Arial"/>
            </a:endParaRPr>
          </a:p>
          <a:p>
            <a:pPr>
              <a:spcBef>
                <a:spcPts val="543"/>
              </a:spcBef>
            </a:pPr>
            <a:endParaRPr sz="1147" dirty="0">
              <a:latin typeface="Arial"/>
              <a:cs typeface="Arial"/>
            </a:endParaRPr>
          </a:p>
          <a:p>
            <a:pPr marR="26896" algn="r"/>
            <a:r>
              <a:rPr sz="2206" b="1" spc="-44" dirty="0">
                <a:latin typeface="Arial"/>
                <a:cs typeface="Arial"/>
              </a:rPr>
              <a:t>…</a:t>
            </a:r>
            <a:endParaRPr sz="2206" dirty="0">
              <a:latin typeface="Arial"/>
              <a:cs typeface="Arial"/>
            </a:endParaRPr>
          </a:p>
        </p:txBody>
      </p:sp>
      <p:sp>
        <p:nvSpPr>
          <p:cNvPr id="36" name="Slide Number Placeholder 4">
            <a:extLst>
              <a:ext uri="{FF2B5EF4-FFF2-40B4-BE49-F238E27FC236}">
                <a16:creationId xmlns:a16="http://schemas.microsoft.com/office/drawing/2014/main" id="{6300A5DE-F94A-D7E6-6654-2CF629C7FC8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20</a:t>
            </a:fld>
            <a:endParaRPr lang="en-US" spc="-44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Intuitive</a:t>
            </a:r>
            <a:r>
              <a:rPr spc="-40" dirty="0"/>
              <a:t> </a:t>
            </a:r>
            <a:r>
              <a:rPr dirty="0"/>
              <a:t>Memory</a:t>
            </a:r>
            <a:r>
              <a:rPr spc="-35" dirty="0"/>
              <a:t> </a:t>
            </a:r>
            <a:r>
              <a:rPr spc="-9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342" y="3705560"/>
            <a:ext cx="7014882" cy="2628879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278481" indent="-267275">
              <a:spcBef>
                <a:spcPts val="618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Too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vague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and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simplistic;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two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issues</a:t>
            </a:r>
            <a:endParaRPr sz="2206" dirty="0">
              <a:latin typeface="Calibri"/>
              <a:cs typeface="Calibri"/>
            </a:endParaRPr>
          </a:p>
          <a:p>
            <a:pPr marL="438734" indent="-427527">
              <a:spcBef>
                <a:spcPts val="529"/>
              </a:spcBef>
              <a:buAutoNum type="arabicPeriod"/>
              <a:tabLst>
                <a:tab pos="438734" algn="l"/>
              </a:tabLst>
            </a:pPr>
            <a:r>
              <a:rPr sz="2206" b="1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Coherence</a:t>
            </a:r>
            <a:r>
              <a:rPr sz="2206" spc="62" dirty="0">
                <a:solidFill>
                  <a:srgbClr val="3366FF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6" dirty="0">
                <a:latin typeface="Calibri"/>
                <a:cs typeface="Calibri"/>
              </a:rPr>
              <a:t>defines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3366FF"/>
                </a:solidFill>
                <a:latin typeface="Calibri"/>
                <a:cs typeface="Calibri"/>
              </a:rPr>
              <a:t>values</a:t>
            </a:r>
            <a:r>
              <a:rPr sz="2206" b="1" spc="4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returned</a:t>
            </a:r>
            <a:r>
              <a:rPr sz="2206" spc="57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by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spc="-18" dirty="0">
                <a:latin typeface="Calibri"/>
                <a:cs typeface="Calibri"/>
              </a:rPr>
              <a:t>read</a:t>
            </a:r>
            <a:endParaRPr sz="2206" dirty="0">
              <a:latin typeface="Calibri"/>
              <a:cs typeface="Calibri"/>
            </a:endParaRPr>
          </a:p>
          <a:p>
            <a:pPr marL="439294" marR="4483" indent="-428088">
              <a:spcBef>
                <a:spcPts val="904"/>
              </a:spcBef>
              <a:buAutoNum type="arabicPeriod"/>
              <a:tabLst>
                <a:tab pos="439294" algn="l"/>
              </a:tabLst>
            </a:pPr>
            <a:r>
              <a:rPr sz="2206" b="1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Consistency</a:t>
            </a:r>
            <a:r>
              <a:rPr sz="2206" b="1" spc="6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determines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3366FF"/>
                </a:solidFill>
                <a:latin typeface="Calibri"/>
                <a:cs typeface="Calibri"/>
              </a:rPr>
              <a:t>when</a:t>
            </a:r>
            <a:r>
              <a:rPr sz="2206" b="1" spc="6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each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written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value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will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be </a:t>
            </a:r>
            <a:r>
              <a:rPr sz="2206" dirty="0">
                <a:latin typeface="Calibri"/>
                <a:cs typeface="Calibri"/>
              </a:rPr>
              <a:t>returned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by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read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from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the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same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or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different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PU.</a:t>
            </a:r>
            <a:endParaRPr sz="2206" dirty="0">
              <a:latin typeface="Calibri"/>
              <a:cs typeface="Calibri"/>
            </a:endParaRPr>
          </a:p>
          <a:p>
            <a:pPr marL="278481" lvl="1" indent="-267275">
              <a:spcBef>
                <a:spcPts val="1999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Coherence</a:t>
            </a:r>
            <a:r>
              <a:rPr sz="2206" spc="8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defines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behavior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same</a:t>
            </a:r>
            <a:r>
              <a:rPr sz="2206" spc="8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location</a:t>
            </a:r>
            <a:r>
              <a:rPr sz="2206" dirty="0">
                <a:latin typeface="Calibri"/>
                <a:cs typeface="Calibri"/>
              </a:rPr>
              <a:t>,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and</a:t>
            </a:r>
            <a:endParaRPr sz="2206" dirty="0">
              <a:latin typeface="Calibri"/>
              <a:cs typeface="Calibri"/>
            </a:endParaRPr>
          </a:p>
          <a:p>
            <a:pPr marL="278481" lvl="1" indent="-267275">
              <a:spcBef>
                <a:spcPts val="613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Consistency</a:t>
            </a:r>
            <a:r>
              <a:rPr sz="2206" spc="8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defines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behavior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multiple</a:t>
            </a:r>
            <a:r>
              <a:rPr sz="2206" spc="8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spc="-9" dirty="0">
                <a:solidFill>
                  <a:srgbClr val="3366FF"/>
                </a:solidFill>
                <a:latin typeface="Calibri"/>
                <a:cs typeface="Calibri"/>
              </a:rPr>
              <a:t>locations</a:t>
            </a:r>
            <a:endParaRPr sz="2206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xfrm>
            <a:off x="4399351" y="1509276"/>
            <a:ext cx="4000518" cy="1707255"/>
          </a:xfrm>
          <a:prstGeom prst="rect">
            <a:avLst/>
          </a:prstGeom>
        </p:spPr>
        <p:txBody>
          <a:bodyPr vert="horz" wrap="square" lIns="0" tIns="44824" rIns="0" bIns="0" rtlCol="0">
            <a:spAutoFit/>
          </a:bodyPr>
          <a:lstStyle/>
          <a:p>
            <a:pPr marL="11206" marR="4483">
              <a:spcBef>
                <a:spcPts val="353"/>
              </a:spcBef>
            </a:pPr>
            <a:r>
              <a:rPr sz="2200" b="1" dirty="0">
                <a:solidFill>
                  <a:srgbClr val="000000"/>
                </a:solidFill>
              </a:rPr>
              <a:t>Reading</a:t>
            </a:r>
            <a:r>
              <a:rPr sz="2200" b="1" spc="49" dirty="0">
                <a:solidFill>
                  <a:srgbClr val="000000"/>
                </a:solidFill>
              </a:rPr>
              <a:t> </a:t>
            </a:r>
            <a:r>
              <a:rPr sz="2200" b="1" dirty="0">
                <a:solidFill>
                  <a:srgbClr val="000000"/>
                </a:solidFill>
              </a:rPr>
              <a:t>an</a:t>
            </a:r>
            <a:r>
              <a:rPr sz="2200" b="1" spc="53" dirty="0">
                <a:solidFill>
                  <a:srgbClr val="000000"/>
                </a:solidFill>
              </a:rPr>
              <a:t> </a:t>
            </a:r>
            <a:r>
              <a:rPr sz="2200" b="1" dirty="0">
                <a:solidFill>
                  <a:srgbClr val="000000"/>
                </a:solidFill>
              </a:rPr>
              <a:t>address</a:t>
            </a:r>
            <a:r>
              <a:rPr sz="2200" b="1" spc="57" dirty="0">
                <a:solidFill>
                  <a:srgbClr val="000000"/>
                </a:solidFill>
              </a:rPr>
              <a:t> </a:t>
            </a:r>
            <a:r>
              <a:rPr sz="2200" b="1" dirty="0">
                <a:solidFill>
                  <a:srgbClr val="FF0000"/>
                </a:solidFill>
              </a:rPr>
              <a:t>should</a:t>
            </a:r>
            <a:r>
              <a:rPr sz="2200" b="1" spc="53" dirty="0">
                <a:solidFill>
                  <a:srgbClr val="FF0000"/>
                </a:solidFill>
              </a:rPr>
              <a:t> </a:t>
            </a:r>
            <a:r>
              <a:rPr sz="2200" b="1" spc="-9" dirty="0">
                <a:solidFill>
                  <a:srgbClr val="FF0000"/>
                </a:solidFill>
              </a:rPr>
              <a:t>return </a:t>
            </a:r>
            <a:r>
              <a:rPr sz="2200" b="1" dirty="0">
                <a:solidFill>
                  <a:srgbClr val="FF0000"/>
                </a:solidFill>
              </a:rPr>
              <a:t>the</a:t>
            </a:r>
            <a:r>
              <a:rPr sz="2200" b="1" spc="31" dirty="0">
                <a:solidFill>
                  <a:srgbClr val="FF0000"/>
                </a:solidFill>
              </a:rPr>
              <a:t> </a:t>
            </a:r>
            <a:r>
              <a:rPr sz="2200" b="1" dirty="0">
                <a:solidFill>
                  <a:srgbClr val="FF0000"/>
                </a:solidFill>
              </a:rPr>
              <a:t>last</a:t>
            </a:r>
            <a:r>
              <a:rPr sz="2200" b="1" spc="26" dirty="0">
                <a:solidFill>
                  <a:srgbClr val="FF0000"/>
                </a:solidFill>
              </a:rPr>
              <a:t> </a:t>
            </a:r>
            <a:r>
              <a:rPr sz="2200" b="1" dirty="0">
                <a:solidFill>
                  <a:srgbClr val="FF0000"/>
                </a:solidFill>
              </a:rPr>
              <a:t>value</a:t>
            </a:r>
            <a:r>
              <a:rPr sz="2200" b="1" spc="35" dirty="0">
                <a:solidFill>
                  <a:srgbClr val="FF0000"/>
                </a:solidFill>
              </a:rPr>
              <a:t> </a:t>
            </a:r>
            <a:r>
              <a:rPr sz="2200" b="1" dirty="0">
                <a:solidFill>
                  <a:srgbClr val="FF0000"/>
                </a:solidFill>
              </a:rPr>
              <a:t>written</a:t>
            </a:r>
            <a:r>
              <a:rPr sz="2200" b="1" spc="26" dirty="0"/>
              <a:t> </a:t>
            </a:r>
            <a:r>
              <a:rPr sz="2200" b="1" dirty="0">
                <a:solidFill>
                  <a:srgbClr val="000000"/>
                </a:solidFill>
              </a:rPr>
              <a:t>to</a:t>
            </a:r>
            <a:r>
              <a:rPr sz="2200" b="1" spc="26" dirty="0">
                <a:solidFill>
                  <a:srgbClr val="000000"/>
                </a:solidFill>
              </a:rPr>
              <a:t> </a:t>
            </a:r>
            <a:r>
              <a:rPr sz="2200" b="1" spc="-18" dirty="0">
                <a:solidFill>
                  <a:srgbClr val="000000"/>
                </a:solidFill>
              </a:rPr>
              <a:t>that </a:t>
            </a:r>
            <a:r>
              <a:rPr sz="2200" b="1" spc="-9" dirty="0">
                <a:solidFill>
                  <a:srgbClr val="000000"/>
                </a:solidFill>
              </a:rPr>
              <a:t>address</a:t>
            </a:r>
          </a:p>
          <a:p>
            <a:pPr marL="278481" marR="314902" indent="-267835">
              <a:spcBef>
                <a:spcPts val="644"/>
              </a:spcBef>
              <a:buFont typeface="Arial MT"/>
              <a:buChar char="•"/>
              <a:tabLst>
                <a:tab pos="278481" algn="l"/>
              </a:tabLst>
            </a:pPr>
            <a:r>
              <a:rPr sz="1850" b="1" dirty="0">
                <a:solidFill>
                  <a:srgbClr val="000000"/>
                </a:solidFill>
              </a:rPr>
              <a:t>Easy</a:t>
            </a:r>
            <a:r>
              <a:rPr sz="1850" b="1" spc="-35" dirty="0">
                <a:solidFill>
                  <a:srgbClr val="000000"/>
                </a:solidFill>
              </a:rPr>
              <a:t> </a:t>
            </a:r>
            <a:r>
              <a:rPr sz="1850" b="1" dirty="0">
                <a:solidFill>
                  <a:srgbClr val="000000"/>
                </a:solidFill>
              </a:rPr>
              <a:t>in</a:t>
            </a:r>
            <a:r>
              <a:rPr sz="1850" b="1" spc="-31" dirty="0">
                <a:solidFill>
                  <a:srgbClr val="000000"/>
                </a:solidFill>
              </a:rPr>
              <a:t> </a:t>
            </a:r>
            <a:r>
              <a:rPr sz="1850" b="1" spc="-9" dirty="0">
                <a:solidFill>
                  <a:srgbClr val="000000"/>
                </a:solidFill>
              </a:rPr>
              <a:t>uniprocessors</a:t>
            </a:r>
            <a:r>
              <a:rPr sz="1850" b="1" spc="-40" dirty="0">
                <a:solidFill>
                  <a:srgbClr val="000000"/>
                </a:solidFill>
              </a:rPr>
              <a:t> </a:t>
            </a:r>
            <a:r>
              <a:rPr sz="1850" b="1" spc="-9" dirty="0">
                <a:solidFill>
                  <a:srgbClr val="000000"/>
                </a:solidFill>
              </a:rPr>
              <a:t>{except</a:t>
            </a:r>
            <a:r>
              <a:rPr sz="1850" b="1" spc="-31" dirty="0">
                <a:solidFill>
                  <a:srgbClr val="000000"/>
                </a:solidFill>
              </a:rPr>
              <a:t> </a:t>
            </a:r>
            <a:r>
              <a:rPr sz="1850" b="1" dirty="0">
                <a:solidFill>
                  <a:srgbClr val="000000"/>
                </a:solidFill>
              </a:rPr>
              <a:t>for</a:t>
            </a:r>
            <a:r>
              <a:rPr sz="1850" b="1" spc="-35" dirty="0">
                <a:solidFill>
                  <a:srgbClr val="000000"/>
                </a:solidFill>
              </a:rPr>
              <a:t> </a:t>
            </a:r>
            <a:r>
              <a:rPr sz="1850" b="1" spc="-22" dirty="0">
                <a:solidFill>
                  <a:srgbClr val="000000"/>
                </a:solidFill>
              </a:rPr>
              <a:t>DMA </a:t>
            </a:r>
            <a:r>
              <a:rPr sz="1850" b="1" dirty="0">
                <a:solidFill>
                  <a:srgbClr val="000000"/>
                </a:solidFill>
              </a:rPr>
              <a:t>changes</a:t>
            </a:r>
            <a:r>
              <a:rPr sz="1850" b="1" spc="-40" dirty="0">
                <a:solidFill>
                  <a:srgbClr val="000000"/>
                </a:solidFill>
              </a:rPr>
              <a:t> </a:t>
            </a:r>
            <a:r>
              <a:rPr sz="1850" b="1" dirty="0">
                <a:solidFill>
                  <a:srgbClr val="000000"/>
                </a:solidFill>
              </a:rPr>
              <a:t>to</a:t>
            </a:r>
            <a:r>
              <a:rPr sz="1850" b="1" spc="-40" dirty="0">
                <a:solidFill>
                  <a:srgbClr val="000000"/>
                </a:solidFill>
              </a:rPr>
              <a:t> </a:t>
            </a:r>
            <a:r>
              <a:rPr sz="1850" b="1" dirty="0">
                <a:solidFill>
                  <a:srgbClr val="000000"/>
                </a:solidFill>
              </a:rPr>
              <a:t>I/O</a:t>
            </a:r>
            <a:r>
              <a:rPr sz="1850" b="1" spc="-31" dirty="0">
                <a:solidFill>
                  <a:srgbClr val="000000"/>
                </a:solidFill>
              </a:rPr>
              <a:t> </a:t>
            </a:r>
            <a:r>
              <a:rPr sz="1850" b="1" spc="-9" dirty="0">
                <a:solidFill>
                  <a:srgbClr val="000000"/>
                </a:solidFill>
              </a:rPr>
              <a:t>buffers}</a:t>
            </a:r>
            <a:endParaRPr sz="1850" b="1" dirty="0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947A99D9-FA21-20DE-D938-A80DA429FA7F}"/>
              </a:ext>
            </a:extLst>
          </p:cNvPr>
          <p:cNvSpPr txBox="1">
            <a:spLocks/>
          </p:cNvSpPr>
          <p:nvPr/>
        </p:nvSpPr>
        <p:spPr>
          <a:xfrm>
            <a:off x="8493211" y="6346231"/>
            <a:ext cx="374772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500" b="0" i="0" kern="1200">
                <a:solidFill>
                  <a:schemeClr val="tx1"/>
                </a:solidFill>
                <a:latin typeface="Arial MT"/>
                <a:ea typeface="+mn-ea"/>
                <a:cs typeface="Arial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21</a:t>
            </a:fld>
            <a:endParaRPr lang="en-US" spc="-44" dirty="0"/>
          </a:p>
        </p:txBody>
      </p:sp>
      <p:pic>
        <p:nvPicPr>
          <p:cNvPr id="23" name="Picture 22" descr="A diagram of a pyramid&#10;&#10;AI-generated content may be incorrect.">
            <a:extLst>
              <a:ext uri="{FF2B5EF4-FFF2-40B4-BE49-F238E27FC236}">
                <a16:creationId xmlns:a16="http://schemas.microsoft.com/office/drawing/2014/main" id="{E89A0FF4-A774-007F-DFB3-FE2F73058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013" y="1365816"/>
            <a:ext cx="2801667" cy="233974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2090" y="680032"/>
            <a:ext cx="6765059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Defining</a:t>
            </a:r>
            <a:r>
              <a:rPr spc="-66" dirty="0"/>
              <a:t> </a:t>
            </a:r>
            <a:r>
              <a:rPr b="1" dirty="0">
                <a:latin typeface="Calibri"/>
                <a:cs typeface="Calibri"/>
              </a:rPr>
              <a:t>Coherent</a:t>
            </a:r>
            <a:r>
              <a:rPr b="1" spc="-62" dirty="0"/>
              <a:t> </a:t>
            </a:r>
            <a:r>
              <a:rPr dirty="0"/>
              <a:t>Memory</a:t>
            </a:r>
            <a:r>
              <a:rPr spc="-57" dirty="0"/>
              <a:t> </a:t>
            </a:r>
            <a:r>
              <a:rPr spc="-9" dirty="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8675" y="1234327"/>
            <a:ext cx="7543800" cy="5416543"/>
          </a:xfrm>
          <a:prstGeom prst="rect">
            <a:avLst/>
          </a:prstGeom>
        </p:spPr>
        <p:txBody>
          <a:bodyPr vert="horz" wrap="square" lIns="0" tIns="41462" rIns="0" bIns="0" rtlCol="0">
            <a:spAutoFit/>
          </a:bodyPr>
          <a:lstStyle/>
          <a:p>
            <a:pPr marL="292100" marR="84049" indent="-282575">
              <a:spcBef>
                <a:spcPts val="326"/>
              </a:spcBef>
              <a:spcAft>
                <a:spcPts val="600"/>
              </a:spcAft>
              <a:buFont typeface="+mj-lt"/>
              <a:buAutoNum type="arabicPeriod"/>
              <a:tabLst>
                <a:tab pos="278481" algn="l"/>
              </a:tabLst>
            </a:pPr>
            <a:r>
              <a:rPr sz="2206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Preserve</a:t>
            </a:r>
            <a:r>
              <a:rPr sz="2206" u="sng" spc="62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 </a:t>
            </a:r>
            <a:r>
              <a:rPr sz="2206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Program</a:t>
            </a:r>
            <a:r>
              <a:rPr sz="2206" u="sng" spc="71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 </a:t>
            </a:r>
            <a:r>
              <a:rPr sz="2206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Order</a:t>
            </a:r>
            <a:r>
              <a:rPr sz="2206" dirty="0">
                <a:latin typeface="Calibri"/>
                <a:cs typeface="Calibri"/>
              </a:rPr>
              <a:t>: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write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by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processor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to </a:t>
            </a:r>
            <a:r>
              <a:rPr sz="2206" dirty="0">
                <a:latin typeface="Calibri"/>
                <a:cs typeface="Calibri"/>
              </a:rPr>
              <a:t>location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X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followed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by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read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by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from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X,</a:t>
            </a:r>
            <a:r>
              <a:rPr sz="2206" spc="3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if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no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write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spc="-44" dirty="0">
                <a:latin typeface="Calibri"/>
                <a:cs typeface="Calibri"/>
              </a:rPr>
              <a:t>X </a:t>
            </a:r>
            <a:r>
              <a:rPr sz="2206" dirty="0">
                <a:latin typeface="Calibri"/>
                <a:cs typeface="Calibri"/>
              </a:rPr>
              <a:t>by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another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processor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occurs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between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the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write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and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the </a:t>
            </a:r>
            <a:r>
              <a:rPr sz="2206" dirty="0">
                <a:latin typeface="Calibri"/>
                <a:cs typeface="Calibri"/>
              </a:rPr>
              <a:t>read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by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P,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always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returns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the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value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written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by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spc="-44" dirty="0">
                <a:latin typeface="Calibri"/>
                <a:cs typeface="Calibri"/>
              </a:rPr>
              <a:t>P</a:t>
            </a:r>
            <a:endParaRPr sz="2206" dirty="0">
              <a:latin typeface="Calibri"/>
              <a:cs typeface="Calibri"/>
            </a:endParaRPr>
          </a:p>
          <a:p>
            <a:pPr marL="292100" marR="151287" indent="-282575">
              <a:spcBef>
                <a:spcPts val="750"/>
              </a:spcBef>
              <a:spcAft>
                <a:spcPts val="600"/>
              </a:spcAft>
              <a:buFont typeface="+mj-lt"/>
              <a:buAutoNum type="arabicPeriod"/>
              <a:tabLst>
                <a:tab pos="278481" algn="l"/>
              </a:tabLst>
            </a:pPr>
            <a:r>
              <a:rPr sz="2206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Coherent</a:t>
            </a:r>
            <a:r>
              <a:rPr sz="2206" u="sng" spc="44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 </a:t>
            </a:r>
            <a:r>
              <a:rPr sz="2206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view</a:t>
            </a:r>
            <a:r>
              <a:rPr sz="2206" u="sng" spc="66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 </a:t>
            </a:r>
            <a:r>
              <a:rPr sz="2206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of</a:t>
            </a:r>
            <a:r>
              <a:rPr sz="2206" u="sng" spc="57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 </a:t>
            </a:r>
            <a:r>
              <a:rPr sz="2206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memory</a:t>
            </a:r>
            <a:r>
              <a:rPr sz="2206" dirty="0">
                <a:latin typeface="Calibri"/>
                <a:cs typeface="Calibri"/>
              </a:rPr>
              <a:t>: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write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by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one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processor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to </a:t>
            </a:r>
            <a:r>
              <a:rPr sz="2206" dirty="0">
                <a:latin typeface="Calibri"/>
                <a:cs typeface="Calibri"/>
              </a:rPr>
              <a:t>location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X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followed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by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read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of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X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by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another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processor </a:t>
            </a:r>
            <a:r>
              <a:rPr sz="2206" dirty="0">
                <a:latin typeface="Calibri"/>
                <a:cs typeface="Calibri"/>
              </a:rPr>
              <a:t>returns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the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newly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written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value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if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the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read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and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write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i="1" spc="-22" dirty="0">
                <a:solidFill>
                  <a:srgbClr val="3366FF"/>
                </a:solidFill>
                <a:latin typeface="Calibri"/>
                <a:cs typeface="Calibri"/>
              </a:rPr>
              <a:t>are </a:t>
            </a:r>
            <a:r>
              <a:rPr sz="2206" i="1" dirty="0">
                <a:solidFill>
                  <a:srgbClr val="3366FF"/>
                </a:solidFill>
                <a:latin typeface="Calibri"/>
                <a:cs typeface="Calibri"/>
              </a:rPr>
              <a:t>sufficiently</a:t>
            </a:r>
            <a:r>
              <a:rPr sz="2206" i="1" spc="4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i="1" dirty="0">
                <a:solidFill>
                  <a:srgbClr val="3366FF"/>
                </a:solidFill>
                <a:latin typeface="Calibri"/>
                <a:cs typeface="Calibri"/>
              </a:rPr>
              <a:t>separated</a:t>
            </a:r>
            <a:r>
              <a:rPr sz="2206" i="1" spc="57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i="1" dirty="0">
                <a:solidFill>
                  <a:srgbClr val="3366FF"/>
                </a:solidFill>
                <a:latin typeface="Calibri"/>
                <a:cs typeface="Calibri"/>
              </a:rPr>
              <a:t>in</a:t>
            </a:r>
            <a:r>
              <a:rPr sz="2206" i="1" spc="57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i="1" dirty="0">
                <a:solidFill>
                  <a:srgbClr val="3366FF"/>
                </a:solidFill>
                <a:latin typeface="Calibri"/>
                <a:cs typeface="Calibri"/>
              </a:rPr>
              <a:t>time</a:t>
            </a:r>
            <a:r>
              <a:rPr sz="2206" i="1" spc="71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and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no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other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writes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spc="-44" dirty="0">
                <a:latin typeface="Calibri"/>
                <a:cs typeface="Calibri"/>
              </a:rPr>
              <a:t>X </a:t>
            </a:r>
            <a:r>
              <a:rPr sz="2206" dirty="0">
                <a:latin typeface="Calibri"/>
                <a:cs typeface="Calibri"/>
              </a:rPr>
              <a:t>occur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between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the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two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accesses</a:t>
            </a:r>
            <a:endParaRPr sz="2206" dirty="0">
              <a:latin typeface="Calibri"/>
              <a:cs typeface="Calibri"/>
            </a:endParaRPr>
          </a:p>
          <a:p>
            <a:pPr marL="292100" marR="345720" indent="-282575">
              <a:spcBef>
                <a:spcPts val="750"/>
              </a:spcBef>
              <a:buFont typeface="+mj-lt"/>
              <a:buAutoNum type="arabicPeriod"/>
              <a:tabLst>
                <a:tab pos="278481" algn="l"/>
              </a:tabLst>
            </a:pPr>
            <a:r>
              <a:rPr sz="2206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Write</a:t>
            </a:r>
            <a:r>
              <a:rPr sz="2206" u="sng" spc="57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 </a:t>
            </a:r>
            <a:r>
              <a:rPr sz="2206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serialization</a:t>
            </a:r>
            <a:r>
              <a:rPr sz="2206" dirty="0">
                <a:latin typeface="Calibri"/>
                <a:cs typeface="Calibri"/>
              </a:rPr>
              <a:t>: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Two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writes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same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location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by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any </a:t>
            </a:r>
            <a:r>
              <a:rPr sz="2206" dirty="0">
                <a:latin typeface="Calibri"/>
                <a:cs typeface="Calibri"/>
              </a:rPr>
              <a:t>two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processors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are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seen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the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same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order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by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all </a:t>
            </a:r>
            <a:r>
              <a:rPr sz="2206" spc="-9" dirty="0">
                <a:latin typeface="Calibri"/>
                <a:cs typeface="Calibri"/>
              </a:rPr>
              <a:t>processors</a:t>
            </a:r>
            <a:endParaRPr sz="2206" dirty="0">
              <a:latin typeface="Calibri"/>
              <a:cs typeface="Calibri"/>
            </a:endParaRPr>
          </a:p>
          <a:p>
            <a:pPr marL="653338" marR="4483" lvl="1" indent="-214044">
              <a:spcBef>
                <a:spcPts val="666"/>
              </a:spcBef>
              <a:buChar char="–"/>
              <a:tabLst>
                <a:tab pos="653338" algn="l"/>
              </a:tabLst>
            </a:pPr>
            <a:r>
              <a:rPr sz="1853" dirty="0">
                <a:latin typeface="Calibri"/>
                <a:cs typeface="Calibri"/>
              </a:rPr>
              <a:t>For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example,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if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the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values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1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and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then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2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are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written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to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location, </a:t>
            </a:r>
            <a:r>
              <a:rPr sz="1853" dirty="0">
                <a:latin typeface="Calibri"/>
                <a:cs typeface="Calibri"/>
              </a:rPr>
              <a:t>processors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can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never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read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the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value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of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the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location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as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2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and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spc="-18" dirty="0">
                <a:latin typeface="Calibri"/>
                <a:cs typeface="Calibri"/>
              </a:rPr>
              <a:t>then </a:t>
            </a:r>
            <a:r>
              <a:rPr sz="1853" dirty="0">
                <a:latin typeface="Calibri"/>
                <a:cs typeface="Calibri"/>
              </a:rPr>
              <a:t>later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read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it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as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1</a:t>
            </a:r>
            <a:r>
              <a:rPr sz="1853" spc="437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“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Writes</a:t>
            </a:r>
            <a:r>
              <a:rPr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1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=&gt;</a:t>
            </a:r>
            <a:r>
              <a:rPr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2:</a:t>
            </a:r>
            <a:r>
              <a:rPr sz="1853" spc="1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same</a:t>
            </a:r>
            <a:r>
              <a:rPr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order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spc="-9" dirty="0">
                <a:solidFill>
                  <a:srgbClr val="3366FF"/>
                </a:solidFill>
                <a:latin typeface="Calibri"/>
                <a:cs typeface="Calibri"/>
              </a:rPr>
              <a:t>everywhere</a:t>
            </a:r>
            <a:r>
              <a:rPr sz="1853" spc="-9" dirty="0">
                <a:latin typeface="Calibri"/>
                <a:cs typeface="Calibri"/>
              </a:rPr>
              <a:t>”</a:t>
            </a:r>
            <a:endParaRPr sz="1853" dirty="0">
              <a:latin typeface="Calibri"/>
              <a:cs typeface="Calibri"/>
            </a:endParaRPr>
          </a:p>
          <a:p>
            <a:pPr marL="652777" lvl="1" indent="-213483">
              <a:spcBef>
                <a:spcPts val="397"/>
              </a:spcBef>
              <a:buChar char="–"/>
              <a:tabLst>
                <a:tab pos="652777" algn="l"/>
              </a:tabLst>
            </a:pPr>
            <a:r>
              <a:rPr sz="1853" dirty="0">
                <a:latin typeface="Calibri"/>
                <a:cs typeface="Calibri"/>
              </a:rPr>
              <a:t>If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not,</a:t>
            </a:r>
            <a:r>
              <a:rPr sz="1853" spc="9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processor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could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keep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value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1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if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saw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it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as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last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write</a:t>
            </a:r>
            <a:endParaRPr sz="1853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23B177-798D-1DE2-BD44-9B7616D7BB1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22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1"/>
            <a:ext cx="7307984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Write</a:t>
            </a:r>
            <a:r>
              <a:rPr spc="-35" dirty="0"/>
              <a:t> </a:t>
            </a:r>
            <a:r>
              <a:rPr dirty="0"/>
              <a:t>Consistency</a:t>
            </a:r>
            <a:r>
              <a:rPr spc="-26" dirty="0"/>
              <a:t> </a:t>
            </a:r>
            <a:r>
              <a:rPr dirty="0"/>
              <a:t>(for</a:t>
            </a:r>
            <a:r>
              <a:rPr spc="-31" dirty="0"/>
              <a:t> </a:t>
            </a:r>
            <a:r>
              <a:rPr dirty="0"/>
              <a:t>writes</a:t>
            </a:r>
            <a:r>
              <a:rPr spc="-26" dirty="0"/>
              <a:t> </a:t>
            </a:r>
            <a:r>
              <a:rPr dirty="0"/>
              <a:t>to</a:t>
            </a:r>
            <a:r>
              <a:rPr spc="-44" dirty="0"/>
              <a:t> </a:t>
            </a:r>
            <a:r>
              <a:rPr dirty="0">
                <a:solidFill>
                  <a:srgbClr val="FF0000"/>
                </a:solidFill>
              </a:rPr>
              <a:t>2</a:t>
            </a:r>
            <a:r>
              <a:rPr sz="3044" baseline="24154" dirty="0">
                <a:solidFill>
                  <a:srgbClr val="FF0000"/>
                </a:solidFill>
              </a:rPr>
              <a:t>+</a:t>
            </a:r>
            <a:r>
              <a:rPr sz="3044" spc="265" baseline="24154" dirty="0">
                <a:solidFill>
                  <a:srgbClr val="FF0000"/>
                </a:solidFill>
              </a:rPr>
              <a:t> </a:t>
            </a:r>
            <a:r>
              <a:rPr spc="-9" dirty="0"/>
              <a:t>variables)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28675" y="1252817"/>
            <a:ext cx="7600949" cy="5021586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11206">
              <a:spcBef>
                <a:spcPts val="618"/>
              </a:spcBef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now,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assume:</a:t>
            </a:r>
            <a:endParaRPr sz="2400" dirty="0">
              <a:latin typeface="Calibri"/>
              <a:cs typeface="Calibri"/>
            </a:endParaRPr>
          </a:p>
          <a:p>
            <a:pPr marL="439294" marR="198915" indent="-428088">
              <a:spcBef>
                <a:spcPts val="750"/>
              </a:spcBef>
              <a:buAutoNum type="arabicPeriod"/>
              <a:tabLst>
                <a:tab pos="439294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write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complete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(and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write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occur)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until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processors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seen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effect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that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26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write</a:t>
            </a:r>
            <a:endParaRPr sz="2400" dirty="0">
              <a:latin typeface="Calibri"/>
              <a:cs typeface="Calibri"/>
            </a:endParaRPr>
          </a:p>
          <a:p>
            <a:pPr marL="439294" marR="360849" indent="-428088">
              <a:spcBef>
                <a:spcPts val="772"/>
              </a:spcBef>
              <a:buAutoNum type="arabicPeriod"/>
              <a:tabLst>
                <a:tab pos="439294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processor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order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write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respect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access</a:t>
            </a:r>
            <a:endParaRPr sz="2400" dirty="0">
              <a:latin typeface="Calibri"/>
              <a:cs typeface="Calibri"/>
            </a:endParaRPr>
          </a:p>
          <a:p>
            <a:pPr marL="742950" marR="4483" indent="-303213">
              <a:spcBef>
                <a:spcPts val="728"/>
              </a:spcBef>
              <a:spcAft>
                <a:spcPts val="2400"/>
              </a:spcAft>
            </a:pPr>
            <a:r>
              <a:rPr sz="2200" dirty="0">
                <a:latin typeface="Symbol"/>
                <a:cs typeface="Symbol"/>
              </a:rPr>
              <a:t></a:t>
            </a:r>
            <a:r>
              <a:rPr lang="en-US" sz="2200" dirty="0">
                <a:latin typeface="Symbol"/>
                <a:cs typeface="Symbol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processor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writes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location</a:t>
            </a:r>
            <a:r>
              <a:rPr sz="2200" spc="7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7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followed</a:t>
            </a:r>
            <a:r>
              <a:rPr sz="2200" spc="7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66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location </a:t>
            </a:r>
            <a:r>
              <a:rPr sz="2200" dirty="0">
                <a:latin typeface="Calibri"/>
                <a:cs typeface="Calibri"/>
              </a:rPr>
              <a:t>B,</a:t>
            </a:r>
            <a:r>
              <a:rPr sz="2200" spc="26" dirty="0">
                <a:latin typeface="Calibri"/>
                <a:cs typeface="Calibri"/>
              </a:rPr>
              <a:t> </a:t>
            </a:r>
            <a:r>
              <a:rPr sz="2200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any</a:t>
            </a:r>
            <a:r>
              <a:rPr sz="2200" spc="4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processor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sees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new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</a:t>
            </a:r>
            <a:r>
              <a:rPr sz="2200" spc="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</a:t>
            </a:r>
            <a:r>
              <a:rPr sz="2200" spc="31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must </a:t>
            </a:r>
            <a:r>
              <a:rPr sz="2200" dirty="0">
                <a:latin typeface="Calibri"/>
                <a:cs typeface="Calibri"/>
              </a:rPr>
              <a:t>also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see</a:t>
            </a:r>
            <a:r>
              <a:rPr sz="2200" spc="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new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</a:t>
            </a:r>
            <a:r>
              <a:rPr sz="2200" spc="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44" dirty="0">
                <a:latin typeface="Calibri"/>
                <a:cs typeface="Calibri"/>
              </a:rPr>
              <a:t>A</a:t>
            </a:r>
            <a:endParaRPr sz="2400" dirty="0">
              <a:latin typeface="Calibri"/>
              <a:cs typeface="Calibri"/>
            </a:endParaRPr>
          </a:p>
          <a:p>
            <a:pPr marL="278481" marR="258870" lvl="1" indent="-267835">
              <a:buFont typeface="Calibri"/>
              <a:buChar char="•"/>
              <a:tabLst>
                <a:tab pos="278481" algn="l"/>
              </a:tabLst>
            </a:pPr>
            <a:r>
              <a:rPr sz="2400" i="1" dirty="0">
                <a:latin typeface="Calibri"/>
                <a:cs typeface="Calibri"/>
              </a:rPr>
              <a:t>These</a:t>
            </a:r>
            <a:r>
              <a:rPr sz="2400" i="1" spc="66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restrictions</a:t>
            </a:r>
            <a:r>
              <a:rPr sz="2400" i="1" spc="66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allow</a:t>
            </a:r>
            <a:r>
              <a:rPr sz="2400" i="1" spc="71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processors</a:t>
            </a:r>
            <a:r>
              <a:rPr sz="2400" i="1" spc="66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to</a:t>
            </a:r>
            <a:r>
              <a:rPr sz="2400" i="1" spc="7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reorder</a:t>
            </a:r>
            <a:r>
              <a:rPr sz="2400" i="1" spc="62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reads,</a:t>
            </a:r>
            <a:r>
              <a:rPr sz="2400" i="1" spc="57" dirty="0">
                <a:latin typeface="Calibri"/>
                <a:cs typeface="Calibri"/>
              </a:rPr>
              <a:t> </a:t>
            </a:r>
            <a:r>
              <a:rPr sz="2400" i="1" spc="-22" dirty="0">
                <a:latin typeface="Calibri"/>
                <a:cs typeface="Calibri"/>
              </a:rPr>
              <a:t>but </a:t>
            </a:r>
            <a:r>
              <a:rPr sz="2400" i="1" dirty="0">
                <a:latin typeface="Calibri"/>
                <a:cs typeface="Calibri"/>
              </a:rPr>
              <a:t>forces</a:t>
            </a:r>
            <a:r>
              <a:rPr sz="2400" i="1" spc="44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3366FF"/>
                </a:solidFill>
                <a:latin typeface="Calibri"/>
                <a:cs typeface="Calibri"/>
              </a:rPr>
              <a:t>all</a:t>
            </a:r>
            <a:r>
              <a:rPr sz="2400" i="1" spc="3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3366FF"/>
                </a:solidFill>
                <a:latin typeface="Calibri"/>
                <a:cs typeface="Calibri"/>
              </a:rPr>
              <a:t>processors</a:t>
            </a:r>
            <a:r>
              <a:rPr sz="2400" i="1" spc="4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to</a:t>
            </a:r>
            <a:r>
              <a:rPr sz="2400" i="1" spc="57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3366FF"/>
                </a:solidFill>
                <a:latin typeface="Calibri"/>
                <a:cs typeface="Calibri"/>
              </a:rPr>
              <a:t>finish</a:t>
            </a:r>
            <a:r>
              <a:rPr sz="2400" i="1" spc="5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3366FF"/>
                </a:solidFill>
                <a:latin typeface="Calibri"/>
                <a:cs typeface="Calibri"/>
              </a:rPr>
              <a:t>writes</a:t>
            </a:r>
            <a:r>
              <a:rPr sz="2400" i="1" spc="4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3366FF"/>
                </a:solidFill>
                <a:latin typeface="Calibri"/>
                <a:cs typeface="Calibri"/>
              </a:rPr>
              <a:t>in</a:t>
            </a:r>
            <a:r>
              <a:rPr sz="2400" i="1" spc="4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3366FF"/>
                </a:solidFill>
                <a:latin typeface="Calibri"/>
                <a:cs typeface="Calibri"/>
              </a:rPr>
              <a:t>program</a:t>
            </a:r>
            <a:r>
              <a:rPr sz="2400" i="1" spc="6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i="1" spc="-9" dirty="0">
                <a:solidFill>
                  <a:srgbClr val="3366FF"/>
                </a:solidFill>
                <a:latin typeface="Calibri"/>
                <a:cs typeface="Calibri"/>
              </a:rPr>
              <a:t>order</a:t>
            </a:r>
            <a:endParaRPr sz="2400" dirty="0">
              <a:latin typeface="Calibri"/>
              <a:cs typeface="Calibri"/>
            </a:endParaRPr>
          </a:p>
          <a:p>
            <a:pPr marL="278481"/>
            <a:r>
              <a:rPr sz="2400" dirty="0">
                <a:latin typeface="Calibri"/>
                <a:cs typeface="Calibri"/>
              </a:rPr>
              <a:t>{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Reads</a:t>
            </a:r>
            <a:r>
              <a:rPr sz="2400" spc="4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not</a:t>
            </a:r>
            <a:r>
              <a:rPr sz="2400" spc="4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change</a:t>
            </a:r>
            <a:r>
              <a:rPr sz="2400" spc="57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data</a:t>
            </a:r>
            <a:r>
              <a:rPr sz="2400" spc="5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=&gt;</a:t>
            </a:r>
            <a:r>
              <a:rPr sz="2400" spc="5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any</a:t>
            </a:r>
            <a:r>
              <a:rPr sz="2400" spc="5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order</a:t>
            </a:r>
            <a:r>
              <a:rPr sz="2400" spc="4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spc="-22" dirty="0">
                <a:solidFill>
                  <a:srgbClr val="3366FF"/>
                </a:solidFill>
                <a:latin typeface="Calibri"/>
                <a:cs typeface="Calibri"/>
              </a:rPr>
              <a:t>OK</a:t>
            </a:r>
            <a:r>
              <a:rPr sz="2400" spc="-22" dirty="0">
                <a:latin typeface="Calibri"/>
                <a:cs typeface="Calibri"/>
              </a:rPr>
              <a:t>}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2D0F6-C2DC-4694-7D6F-4010147E7CC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23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1"/>
            <a:ext cx="6698384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Basic</a:t>
            </a:r>
            <a:r>
              <a:rPr spc="-53" dirty="0"/>
              <a:t> </a:t>
            </a:r>
            <a:r>
              <a:rPr dirty="0"/>
              <a:t>Schemes</a:t>
            </a:r>
            <a:r>
              <a:rPr spc="-49" dirty="0"/>
              <a:t> </a:t>
            </a:r>
            <a:r>
              <a:rPr dirty="0"/>
              <a:t>for</a:t>
            </a:r>
            <a:r>
              <a:rPr spc="-49" dirty="0"/>
              <a:t> </a:t>
            </a:r>
            <a:r>
              <a:rPr dirty="0"/>
              <a:t>Enforcing</a:t>
            </a:r>
            <a:r>
              <a:rPr spc="-40" dirty="0"/>
              <a:t> </a:t>
            </a:r>
            <a:r>
              <a:rPr spc="-9" dirty="0"/>
              <a:t>Coherence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9150" y="1234327"/>
            <a:ext cx="7695126" cy="5237479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4483" indent="-267835">
              <a:lnSpc>
                <a:spcPct val="105000"/>
              </a:lnSpc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A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program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on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multiple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processors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will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normally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have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copies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of </a:t>
            </a:r>
            <a:r>
              <a:rPr sz="2206" dirty="0">
                <a:latin typeface="Calibri"/>
                <a:cs typeface="Calibri"/>
              </a:rPr>
              <a:t>the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same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data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several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caches</a:t>
            </a:r>
            <a:endParaRPr sz="2206" dirty="0">
              <a:latin typeface="Calibri"/>
              <a:cs typeface="Calibri"/>
            </a:endParaRPr>
          </a:p>
          <a:p>
            <a:pPr marL="652777" lvl="1" indent="-213483">
              <a:lnSpc>
                <a:spcPct val="105000"/>
              </a:lnSpc>
              <a:spcBef>
                <a:spcPts val="512"/>
              </a:spcBef>
              <a:buChar char="–"/>
              <a:tabLst>
                <a:tab pos="652777" algn="l"/>
              </a:tabLst>
            </a:pPr>
            <a:r>
              <a:rPr sz="1853" dirty="0">
                <a:latin typeface="Calibri"/>
                <a:cs typeface="Calibri"/>
              </a:rPr>
              <a:t>Unlike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I/O,</a:t>
            </a:r>
            <a:r>
              <a:rPr sz="1853" spc="9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where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it’s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spc="-18" dirty="0">
                <a:latin typeface="Calibri"/>
                <a:cs typeface="Calibri"/>
              </a:rPr>
              <a:t>rare</a:t>
            </a:r>
            <a:endParaRPr sz="1853" dirty="0">
              <a:latin typeface="Calibri"/>
              <a:cs typeface="Calibri"/>
            </a:endParaRPr>
          </a:p>
          <a:p>
            <a:pPr marL="278481" indent="-267275">
              <a:lnSpc>
                <a:spcPct val="105000"/>
              </a:lnSpc>
              <a:spcBef>
                <a:spcPts val="494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Rather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than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trying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avoid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sharing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SW,</a:t>
            </a:r>
            <a:endParaRPr sz="2206" dirty="0">
              <a:latin typeface="Calibri"/>
              <a:cs typeface="Calibri"/>
            </a:endParaRPr>
          </a:p>
          <a:p>
            <a:pPr marL="278481">
              <a:lnSpc>
                <a:spcPct val="105000"/>
              </a:lnSpc>
            </a:pPr>
            <a:r>
              <a:rPr sz="2206" dirty="0">
                <a:solidFill>
                  <a:srgbClr val="FF0000"/>
                </a:solidFill>
                <a:latin typeface="Calibri"/>
                <a:cs typeface="Calibri"/>
              </a:rPr>
              <a:t>SMPs</a:t>
            </a:r>
            <a:r>
              <a:rPr sz="2206" spc="4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FF0000"/>
                </a:solidFill>
                <a:latin typeface="Calibri"/>
                <a:cs typeface="Calibri"/>
              </a:rPr>
              <a:t>use</a:t>
            </a:r>
            <a:r>
              <a:rPr sz="2206" spc="6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6" spc="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FF0000"/>
                </a:solidFill>
                <a:latin typeface="Calibri"/>
                <a:cs typeface="Calibri"/>
              </a:rPr>
              <a:t>HW</a:t>
            </a:r>
            <a:r>
              <a:rPr sz="2206" spc="7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FF0000"/>
                </a:solidFill>
                <a:latin typeface="Calibri"/>
                <a:cs typeface="Calibri"/>
              </a:rPr>
              <a:t>protocol</a:t>
            </a:r>
            <a:r>
              <a:rPr sz="2206" spc="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206" spc="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FF0000"/>
                </a:solidFill>
                <a:latin typeface="Calibri"/>
                <a:cs typeface="Calibri"/>
              </a:rPr>
              <a:t>maintain</a:t>
            </a:r>
            <a:r>
              <a:rPr sz="2206" spc="5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FF0000"/>
                </a:solidFill>
                <a:latin typeface="Calibri"/>
                <a:cs typeface="Calibri"/>
              </a:rPr>
              <a:t>coherent</a:t>
            </a:r>
            <a:r>
              <a:rPr sz="2206" spc="4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6" spc="-9" dirty="0">
                <a:solidFill>
                  <a:srgbClr val="FF0000"/>
                </a:solidFill>
                <a:latin typeface="Calibri"/>
                <a:cs typeface="Calibri"/>
              </a:rPr>
              <a:t>caches</a:t>
            </a:r>
            <a:endParaRPr sz="2206" dirty="0">
              <a:latin typeface="Calibri"/>
              <a:cs typeface="Calibri"/>
            </a:endParaRPr>
          </a:p>
          <a:p>
            <a:pPr marL="652777" lvl="1" indent="-213483">
              <a:lnSpc>
                <a:spcPct val="105000"/>
              </a:lnSpc>
              <a:spcBef>
                <a:spcPts val="521"/>
              </a:spcBef>
              <a:buFont typeface="Calibri"/>
              <a:buChar char="–"/>
              <a:tabLst>
                <a:tab pos="652777" algn="l"/>
              </a:tabLst>
            </a:pPr>
            <a:r>
              <a:rPr sz="1853" i="1" dirty="0">
                <a:solidFill>
                  <a:srgbClr val="3366FF"/>
                </a:solidFill>
                <a:latin typeface="Calibri"/>
                <a:cs typeface="Calibri"/>
              </a:rPr>
              <a:t>Migration</a:t>
            </a:r>
            <a:r>
              <a:rPr sz="1853" i="1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i="1" dirty="0">
                <a:solidFill>
                  <a:srgbClr val="3366FF"/>
                </a:solidFill>
                <a:latin typeface="Calibri"/>
                <a:cs typeface="Calibri"/>
              </a:rPr>
              <a:t>and</a:t>
            </a:r>
            <a:r>
              <a:rPr sz="1853" i="1" spc="2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i="1" dirty="0">
                <a:solidFill>
                  <a:srgbClr val="3366FF"/>
                </a:solidFill>
                <a:latin typeface="Calibri"/>
                <a:cs typeface="Calibri"/>
              </a:rPr>
              <a:t>replication</a:t>
            </a:r>
            <a:r>
              <a:rPr sz="1853" i="1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i="1" dirty="0">
                <a:solidFill>
                  <a:srgbClr val="3366FF"/>
                </a:solidFill>
                <a:latin typeface="Calibri"/>
                <a:cs typeface="Calibri"/>
              </a:rPr>
              <a:t>are</a:t>
            </a:r>
            <a:r>
              <a:rPr sz="1853" i="1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i="1" dirty="0">
                <a:solidFill>
                  <a:srgbClr val="3366FF"/>
                </a:solidFill>
                <a:latin typeface="Calibri"/>
                <a:cs typeface="Calibri"/>
              </a:rPr>
              <a:t>keys</a:t>
            </a:r>
            <a:r>
              <a:rPr sz="1853" i="1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i="1" dirty="0">
                <a:solidFill>
                  <a:srgbClr val="3366FF"/>
                </a:solidFill>
                <a:latin typeface="Calibri"/>
                <a:cs typeface="Calibri"/>
              </a:rPr>
              <a:t>to</a:t>
            </a:r>
            <a:r>
              <a:rPr sz="1853" i="1" spc="2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i="1" dirty="0">
                <a:solidFill>
                  <a:srgbClr val="3366FF"/>
                </a:solidFill>
                <a:latin typeface="Calibri"/>
                <a:cs typeface="Calibri"/>
              </a:rPr>
              <a:t>performance</a:t>
            </a:r>
            <a:r>
              <a:rPr sz="1853" i="1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i="1" dirty="0">
                <a:solidFill>
                  <a:srgbClr val="3366FF"/>
                </a:solidFill>
                <a:latin typeface="Calibri"/>
                <a:cs typeface="Calibri"/>
              </a:rPr>
              <a:t>for</a:t>
            </a:r>
            <a:r>
              <a:rPr sz="1853" i="1" spc="2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i="1" dirty="0">
                <a:solidFill>
                  <a:srgbClr val="3366FF"/>
                </a:solidFill>
                <a:latin typeface="Calibri"/>
                <a:cs typeface="Calibri"/>
              </a:rPr>
              <a:t>shared</a:t>
            </a:r>
            <a:r>
              <a:rPr sz="1853" i="1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i="1" spc="-18" dirty="0">
                <a:solidFill>
                  <a:srgbClr val="3366FF"/>
                </a:solidFill>
                <a:latin typeface="Calibri"/>
                <a:cs typeface="Calibri"/>
              </a:rPr>
              <a:t>data</a:t>
            </a:r>
            <a:endParaRPr sz="1853" dirty="0">
              <a:latin typeface="Calibri"/>
              <a:cs typeface="Calibri"/>
            </a:endParaRPr>
          </a:p>
          <a:p>
            <a:pPr marL="278481" marR="189389" indent="-267835">
              <a:lnSpc>
                <a:spcPct val="105000"/>
              </a:lnSpc>
              <a:spcBef>
                <a:spcPts val="737"/>
              </a:spcBef>
              <a:buChar char="•"/>
              <a:tabLst>
                <a:tab pos="278481" algn="l"/>
              </a:tabLst>
            </a:pPr>
            <a:r>
              <a:rPr sz="2206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Migration</a:t>
            </a:r>
            <a:r>
              <a:rPr sz="2206" spc="5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–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(private)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data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can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be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moved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local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cache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and </a:t>
            </a:r>
            <a:r>
              <a:rPr sz="2206" dirty="0">
                <a:latin typeface="Calibri"/>
                <a:cs typeface="Calibri"/>
              </a:rPr>
              <a:t>used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there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transparent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fashion</a:t>
            </a:r>
            <a:endParaRPr sz="2206" dirty="0">
              <a:latin typeface="Calibri"/>
              <a:cs typeface="Calibri"/>
            </a:endParaRPr>
          </a:p>
          <a:p>
            <a:pPr marL="653338" marR="94134" lvl="1" indent="-214044">
              <a:lnSpc>
                <a:spcPct val="105000"/>
              </a:lnSpc>
              <a:spcBef>
                <a:spcPts val="613"/>
              </a:spcBef>
              <a:buChar char="–"/>
              <a:tabLst>
                <a:tab pos="653338" algn="l"/>
              </a:tabLst>
            </a:pPr>
            <a:r>
              <a:rPr sz="1853" dirty="0">
                <a:solidFill>
                  <a:srgbClr val="FF6600"/>
                </a:solidFill>
                <a:latin typeface="Calibri"/>
                <a:cs typeface="Calibri"/>
              </a:rPr>
              <a:t>Reduces</a:t>
            </a:r>
            <a:r>
              <a:rPr sz="1853" spc="22" dirty="0">
                <a:solidFill>
                  <a:srgbClr val="FF6600"/>
                </a:solidFill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both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FF6600"/>
                </a:solidFill>
                <a:latin typeface="Calibri"/>
                <a:cs typeface="Calibri"/>
              </a:rPr>
              <a:t>latency</a:t>
            </a:r>
            <a:r>
              <a:rPr sz="1853" spc="13" dirty="0">
                <a:solidFill>
                  <a:srgbClr val="FF6600"/>
                </a:solidFill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to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access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shared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data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that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is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allocated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remotely </a:t>
            </a:r>
            <a:r>
              <a:rPr sz="1853" dirty="0">
                <a:latin typeface="Calibri"/>
                <a:cs typeface="Calibri"/>
              </a:rPr>
              <a:t>and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FF6600"/>
                </a:solidFill>
                <a:latin typeface="Calibri"/>
                <a:cs typeface="Calibri"/>
              </a:rPr>
              <a:t>bandwidth</a:t>
            </a:r>
            <a:r>
              <a:rPr sz="1853" spc="35" dirty="0">
                <a:solidFill>
                  <a:srgbClr val="FF6600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FF6600"/>
                </a:solidFill>
                <a:latin typeface="Calibri"/>
                <a:cs typeface="Calibri"/>
              </a:rPr>
              <a:t>demand</a:t>
            </a:r>
            <a:r>
              <a:rPr sz="1853" spc="26" dirty="0">
                <a:solidFill>
                  <a:srgbClr val="FF6600"/>
                </a:solidFill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on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the</a:t>
            </a:r>
            <a:r>
              <a:rPr sz="1853" spc="4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shared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memory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and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interconnection</a:t>
            </a:r>
            <a:endParaRPr sz="1853" dirty="0">
              <a:latin typeface="Calibri"/>
              <a:cs typeface="Calibri"/>
            </a:endParaRPr>
          </a:p>
          <a:p>
            <a:pPr marL="278481" marR="388305" indent="-267835">
              <a:lnSpc>
                <a:spcPct val="105000"/>
              </a:lnSpc>
              <a:spcBef>
                <a:spcPts val="723"/>
              </a:spcBef>
              <a:buChar char="•"/>
              <a:tabLst>
                <a:tab pos="278481" algn="l"/>
              </a:tabLst>
            </a:pPr>
            <a:r>
              <a:rPr sz="2206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Replication</a:t>
            </a:r>
            <a:r>
              <a:rPr sz="2206" spc="57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–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for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reading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shared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data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simultaneously,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since </a:t>
            </a:r>
            <a:r>
              <a:rPr sz="2206" dirty="0">
                <a:latin typeface="Calibri"/>
                <a:cs typeface="Calibri"/>
              </a:rPr>
              <a:t>caches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make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copy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of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data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local</a:t>
            </a:r>
            <a:r>
              <a:rPr sz="2206" spc="31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cache</a:t>
            </a:r>
            <a:endParaRPr sz="2206" dirty="0">
              <a:latin typeface="Calibri"/>
              <a:cs typeface="Calibri"/>
            </a:endParaRPr>
          </a:p>
          <a:p>
            <a:pPr marL="652777" lvl="1" indent="-213483">
              <a:lnSpc>
                <a:spcPct val="105000"/>
              </a:lnSpc>
              <a:spcBef>
                <a:spcPts val="393"/>
              </a:spcBef>
              <a:buChar char="–"/>
              <a:tabLst>
                <a:tab pos="652777" algn="l"/>
              </a:tabLst>
            </a:pPr>
            <a:r>
              <a:rPr sz="1853" dirty="0">
                <a:solidFill>
                  <a:srgbClr val="FF6600"/>
                </a:solidFill>
                <a:latin typeface="Calibri"/>
                <a:cs typeface="Calibri"/>
              </a:rPr>
              <a:t>Reduces</a:t>
            </a:r>
            <a:r>
              <a:rPr sz="1853" spc="26" dirty="0">
                <a:solidFill>
                  <a:srgbClr val="FF6600"/>
                </a:solidFill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both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FF6600"/>
                </a:solidFill>
                <a:latin typeface="Calibri"/>
                <a:cs typeface="Calibri"/>
              </a:rPr>
              <a:t>latency</a:t>
            </a:r>
            <a:r>
              <a:rPr sz="1853" spc="18" dirty="0">
                <a:solidFill>
                  <a:srgbClr val="FF6600"/>
                </a:solidFill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of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access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and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FF6600"/>
                </a:solidFill>
                <a:latin typeface="Calibri"/>
                <a:cs typeface="Calibri"/>
              </a:rPr>
              <a:t>contention</a:t>
            </a:r>
            <a:r>
              <a:rPr sz="1853" spc="26" dirty="0">
                <a:solidFill>
                  <a:srgbClr val="FF6600"/>
                </a:solidFill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for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read-shared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spc="-18" dirty="0">
                <a:latin typeface="Calibri"/>
                <a:cs typeface="Calibri"/>
              </a:rPr>
              <a:t>data</a:t>
            </a:r>
            <a:endParaRPr sz="1853" dirty="0">
              <a:latin typeface="Calibri"/>
              <a:cs typeface="Calibri"/>
            </a:endParaRPr>
          </a:p>
          <a:p>
            <a:pPr marL="652777" lvl="1" indent="-213483">
              <a:lnSpc>
                <a:spcPct val="105000"/>
              </a:lnSpc>
              <a:spcBef>
                <a:spcPts val="424"/>
              </a:spcBef>
              <a:buChar char="–"/>
              <a:tabLst>
                <a:tab pos="652777" algn="l"/>
              </a:tabLst>
            </a:pPr>
            <a:r>
              <a:rPr sz="1853" dirty="0">
                <a:latin typeface="Calibri"/>
                <a:cs typeface="Calibri"/>
              </a:rPr>
              <a:t>Like</a:t>
            </a:r>
            <a:r>
              <a:rPr sz="1853" spc="9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“mirror”</a:t>
            </a:r>
            <a:r>
              <a:rPr sz="1853" spc="9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sites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for</a:t>
            </a:r>
            <a:r>
              <a:rPr sz="1853" spc="9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web</a:t>
            </a:r>
            <a:r>
              <a:rPr sz="1853" spc="4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downloads.</a:t>
            </a:r>
            <a:endParaRPr sz="1853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235D20-286E-E929-4021-FE33FD2E8D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24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1"/>
            <a:ext cx="6850784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Two</a:t>
            </a:r>
            <a:r>
              <a:rPr spc="-40" dirty="0"/>
              <a:t> </a:t>
            </a:r>
            <a:r>
              <a:rPr dirty="0"/>
              <a:t>Classes</a:t>
            </a:r>
            <a:r>
              <a:rPr spc="-3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Cache</a:t>
            </a:r>
            <a:r>
              <a:rPr spc="-35" dirty="0"/>
              <a:t> </a:t>
            </a:r>
            <a:r>
              <a:rPr dirty="0"/>
              <a:t>Coherence</a:t>
            </a:r>
            <a:r>
              <a:rPr spc="-40" dirty="0"/>
              <a:t> </a:t>
            </a:r>
            <a:r>
              <a:rPr spc="-9" dirty="0"/>
              <a:t>Protocols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0575" y="1320053"/>
            <a:ext cx="7886700" cy="4985076"/>
          </a:xfrm>
          <a:prstGeom prst="rect">
            <a:avLst/>
          </a:prstGeom>
        </p:spPr>
        <p:txBody>
          <a:bodyPr vert="horz" wrap="square" lIns="0" tIns="44824" rIns="0" bIns="0" rtlCol="0">
            <a:spAutoFit/>
          </a:bodyPr>
          <a:lstStyle/>
          <a:p>
            <a:pPr marL="278481" marR="15129" indent="-267835">
              <a:buChar char="•"/>
              <a:tabLst>
                <a:tab pos="278481" algn="l"/>
              </a:tabLst>
            </a:pPr>
            <a:r>
              <a:rPr lang="en-US" sz="2400" dirty="0">
                <a:solidFill>
                  <a:srgbClr val="3366FF"/>
                </a:solidFill>
                <a:latin typeface="Calibri"/>
                <a:cs typeface="Calibri"/>
              </a:rPr>
              <a:t>Snooping</a:t>
            </a:r>
            <a:r>
              <a:rPr lang="en-US" sz="2400" spc="4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366FF"/>
                </a:solidFill>
                <a:latin typeface="Calibri"/>
                <a:cs typeface="Calibri"/>
              </a:rPr>
              <a:t>(“Snoopy”)</a:t>
            </a:r>
            <a:r>
              <a:rPr lang="en-US" sz="2400" spc="4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—</a:t>
            </a:r>
            <a:r>
              <a:rPr lang="en-US" sz="2400" spc="66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Every</a:t>
            </a:r>
            <a:r>
              <a:rPr lang="en-US" sz="2400" spc="49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cache</a:t>
            </a:r>
            <a:r>
              <a:rPr lang="en-US" sz="2400" spc="57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with</a:t>
            </a:r>
            <a:r>
              <a:rPr lang="en-US" sz="2400" spc="49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49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copy</a:t>
            </a:r>
            <a:r>
              <a:rPr lang="en-US" sz="2400" spc="49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of</a:t>
            </a:r>
            <a:r>
              <a:rPr lang="en-US" sz="2400" spc="44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49" dirty="0">
                <a:latin typeface="Calibri"/>
                <a:cs typeface="Calibri"/>
              </a:rPr>
              <a:t> </a:t>
            </a:r>
            <a:r>
              <a:rPr lang="en-US" sz="2400" spc="-18" dirty="0">
                <a:latin typeface="Calibri"/>
                <a:cs typeface="Calibri"/>
              </a:rPr>
              <a:t>data </a:t>
            </a:r>
            <a:r>
              <a:rPr lang="en-US" sz="2400" dirty="0">
                <a:latin typeface="Calibri"/>
                <a:cs typeface="Calibri"/>
              </a:rPr>
              <a:t>block</a:t>
            </a:r>
            <a:r>
              <a:rPr lang="en-US" sz="2400" spc="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also</a:t>
            </a:r>
            <a:r>
              <a:rPr lang="en-US" sz="2400" spc="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has</a:t>
            </a:r>
            <a:r>
              <a:rPr lang="en-US" sz="2400" spc="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44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copy</a:t>
            </a:r>
            <a:r>
              <a:rPr lang="en-US" sz="2400" spc="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of</a:t>
            </a:r>
            <a:r>
              <a:rPr lang="en-US" sz="2400" spc="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49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sharing</a:t>
            </a:r>
            <a:r>
              <a:rPr lang="en-US" sz="2400" spc="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status</a:t>
            </a:r>
            <a:r>
              <a:rPr lang="en-US" sz="2400" spc="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of</a:t>
            </a:r>
            <a:r>
              <a:rPr lang="en-US" sz="2400" spc="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44" dirty="0">
                <a:latin typeface="Calibri"/>
                <a:cs typeface="Calibri"/>
              </a:rPr>
              <a:t> </a:t>
            </a:r>
            <a:r>
              <a:rPr lang="en-US" sz="2400" spc="-9" dirty="0">
                <a:latin typeface="Calibri"/>
                <a:cs typeface="Calibri"/>
              </a:rPr>
              <a:t>block, </a:t>
            </a:r>
            <a:r>
              <a:rPr lang="en-US" sz="2400" dirty="0">
                <a:latin typeface="Calibri"/>
                <a:cs typeface="Calibri"/>
              </a:rPr>
              <a:t>but</a:t>
            </a:r>
            <a:r>
              <a:rPr lang="en-US" sz="2400" spc="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no</a:t>
            </a:r>
            <a:r>
              <a:rPr lang="en-US" sz="2400" spc="49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centralized</a:t>
            </a:r>
            <a:r>
              <a:rPr lang="en-US" sz="2400" spc="53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state</a:t>
            </a:r>
            <a:r>
              <a:rPr lang="en-US" sz="2400" spc="53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lang="en-US" sz="2400" spc="44" dirty="0">
                <a:latin typeface="Calibri"/>
                <a:cs typeface="Calibri"/>
              </a:rPr>
              <a:t> </a:t>
            </a:r>
            <a:r>
              <a:rPr lang="en-US" sz="2400" spc="-18" dirty="0">
                <a:latin typeface="Calibri"/>
                <a:cs typeface="Calibri"/>
              </a:rPr>
              <a:t>kept</a:t>
            </a:r>
          </a:p>
          <a:p>
            <a:pPr marL="651657" marR="4483" lvl="1" indent="-212363">
              <a:spcBef>
                <a:spcPts val="644"/>
              </a:spcBef>
              <a:spcAft>
                <a:spcPts val="600"/>
              </a:spcAft>
              <a:buChar char="–"/>
              <a:tabLst>
                <a:tab pos="653338" algn="l"/>
              </a:tabLst>
            </a:pPr>
            <a:r>
              <a:rPr lang="en-US" sz="2200" dirty="0">
                <a:solidFill>
                  <a:srgbClr val="3366FF"/>
                </a:solidFill>
                <a:cs typeface="Calibri"/>
              </a:rPr>
              <a:t>All</a:t>
            </a:r>
            <a:r>
              <a:rPr lang="en-US" sz="2200" spc="-9" dirty="0">
                <a:solidFill>
                  <a:srgbClr val="3366FF"/>
                </a:solidFill>
                <a:cs typeface="Calibri"/>
              </a:rPr>
              <a:t> </a:t>
            </a:r>
            <a:r>
              <a:rPr lang="en-US" sz="2200" dirty="0">
                <a:solidFill>
                  <a:srgbClr val="3366FF"/>
                </a:solidFill>
                <a:cs typeface="Calibri"/>
              </a:rPr>
              <a:t>caches</a:t>
            </a:r>
            <a:r>
              <a:rPr lang="en-US" sz="2200" spc="-4" dirty="0">
                <a:solidFill>
                  <a:srgbClr val="3366FF"/>
                </a:solidFill>
                <a:cs typeface="Calibri"/>
              </a:rPr>
              <a:t> </a:t>
            </a:r>
            <a:r>
              <a:rPr lang="en-US" sz="2200" dirty="0">
                <a:solidFill>
                  <a:srgbClr val="3366FF"/>
                </a:solidFill>
                <a:cs typeface="Calibri"/>
              </a:rPr>
              <a:t>have</a:t>
            </a:r>
            <a:r>
              <a:rPr lang="en-US" sz="2200" spc="4" dirty="0">
                <a:solidFill>
                  <a:srgbClr val="3366FF"/>
                </a:solidFill>
                <a:cs typeface="Calibri"/>
              </a:rPr>
              <a:t> </a:t>
            </a:r>
            <a:r>
              <a:rPr lang="en-US" sz="2200" dirty="0">
                <a:solidFill>
                  <a:srgbClr val="3366FF"/>
                </a:solidFill>
                <a:cs typeface="Calibri"/>
              </a:rPr>
              <a:t>access</a:t>
            </a:r>
            <a:r>
              <a:rPr lang="en-US" sz="2200" spc="-4" dirty="0">
                <a:solidFill>
                  <a:srgbClr val="3366FF"/>
                </a:solidFill>
                <a:cs typeface="Calibri"/>
              </a:rPr>
              <a:t> </a:t>
            </a:r>
            <a:r>
              <a:rPr lang="en-US" sz="2200" dirty="0">
                <a:solidFill>
                  <a:srgbClr val="3366FF"/>
                </a:solidFill>
                <a:cs typeface="Calibri"/>
              </a:rPr>
              <a:t>to addresses</a:t>
            </a:r>
            <a:r>
              <a:rPr lang="en-US" sz="2200" spc="-9" dirty="0">
                <a:solidFill>
                  <a:srgbClr val="3366FF"/>
                </a:solidFill>
                <a:cs typeface="Calibri"/>
              </a:rPr>
              <a:t> </a:t>
            </a:r>
            <a:r>
              <a:rPr lang="en-US" sz="2200" dirty="0">
                <a:cs typeface="Calibri"/>
              </a:rPr>
              <a:t>of writes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and</a:t>
            </a:r>
            <a:r>
              <a:rPr lang="en-US" sz="2200" spc="4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cache-</a:t>
            </a:r>
            <a:r>
              <a:rPr lang="en-US" sz="2200" dirty="0">
                <a:cs typeface="Calibri"/>
              </a:rPr>
              <a:t>misses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solidFill>
                  <a:srgbClr val="FF0000"/>
                </a:solidFill>
                <a:cs typeface="Calibri"/>
              </a:rPr>
              <a:t>via </a:t>
            </a:r>
            <a:r>
              <a:rPr lang="en-US" sz="2200" spc="-18" dirty="0">
                <a:solidFill>
                  <a:srgbClr val="FF0000"/>
                </a:solidFill>
                <a:cs typeface="Calibri"/>
              </a:rPr>
              <a:t>some </a:t>
            </a:r>
            <a:r>
              <a:rPr lang="en-US" sz="2200" dirty="0">
                <a:solidFill>
                  <a:srgbClr val="FF0000"/>
                </a:solidFill>
                <a:cs typeface="Calibri"/>
              </a:rPr>
              <a:t>broadcast medium</a:t>
            </a:r>
            <a:r>
              <a:rPr lang="en-US" sz="2200" spc="9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sz="2200" dirty="0">
                <a:cs typeface="Calibri"/>
              </a:rPr>
              <a:t>(a</a:t>
            </a:r>
            <a:r>
              <a:rPr lang="en-US" sz="2200" spc="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bus or</a:t>
            </a:r>
            <a:r>
              <a:rPr lang="en-US" sz="2200" spc="4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cross-</a:t>
            </a:r>
            <a:r>
              <a:rPr lang="en-US" sz="2200" dirty="0">
                <a:cs typeface="Calibri"/>
              </a:rPr>
              <a:t>bar </a:t>
            </a:r>
            <a:r>
              <a:rPr lang="en-US" sz="2200" spc="-9" dirty="0">
                <a:cs typeface="Calibri"/>
              </a:rPr>
              <a:t>switch)</a:t>
            </a:r>
            <a:endParaRPr lang="en-US" sz="2200" dirty="0">
              <a:cs typeface="Calibri"/>
            </a:endParaRPr>
          </a:p>
          <a:p>
            <a:pPr marL="651657" marR="282403" lvl="1" indent="-212363">
              <a:spcBef>
                <a:spcPts val="560"/>
              </a:spcBef>
              <a:spcAft>
                <a:spcPts val="3000"/>
              </a:spcAft>
              <a:buChar char="–"/>
              <a:tabLst>
                <a:tab pos="653338" algn="l"/>
              </a:tabLst>
            </a:pPr>
            <a:r>
              <a:rPr lang="en-US" sz="2200" dirty="0">
                <a:solidFill>
                  <a:srgbClr val="3366FF"/>
                </a:solidFill>
                <a:cs typeface="Calibri"/>
              </a:rPr>
              <a:t>All</a:t>
            </a:r>
            <a:r>
              <a:rPr lang="en-US" sz="2200" spc="-9" dirty="0">
                <a:solidFill>
                  <a:srgbClr val="3366FF"/>
                </a:solidFill>
                <a:cs typeface="Calibri"/>
              </a:rPr>
              <a:t> </a:t>
            </a:r>
            <a:r>
              <a:rPr lang="en-US" sz="2200" dirty="0">
                <a:solidFill>
                  <a:srgbClr val="3366FF"/>
                </a:solidFill>
                <a:cs typeface="Calibri"/>
              </a:rPr>
              <a:t>cache controllers </a:t>
            </a:r>
            <a:r>
              <a:rPr lang="en-US" sz="2200" dirty="0">
                <a:cs typeface="Calibri"/>
              </a:rPr>
              <a:t>monitor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or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solidFill>
                  <a:srgbClr val="3366FF"/>
                </a:solidFill>
                <a:cs typeface="Calibri"/>
              </a:rPr>
              <a:t>snoop </a:t>
            </a:r>
            <a:r>
              <a:rPr lang="en-US" sz="2200" dirty="0">
                <a:cs typeface="Calibri"/>
              </a:rPr>
              <a:t>on</a:t>
            </a:r>
            <a:r>
              <a:rPr lang="en-US" sz="2200" spc="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the shared</a:t>
            </a:r>
            <a:r>
              <a:rPr lang="en-US" sz="2200" spc="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medium </a:t>
            </a:r>
            <a:r>
              <a:rPr lang="en-US" sz="2200" spc="-22" dirty="0">
                <a:cs typeface="Calibri"/>
              </a:rPr>
              <a:t>to </a:t>
            </a:r>
            <a:r>
              <a:rPr lang="en-US" sz="2200" dirty="0">
                <a:cs typeface="Calibri"/>
              </a:rPr>
              <a:t>determine whether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or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not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they have a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local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cache copy of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each </a:t>
            </a:r>
            <a:r>
              <a:rPr lang="en-US" sz="2200" spc="-9" dirty="0">
                <a:cs typeface="Calibri"/>
              </a:rPr>
              <a:t>block </a:t>
            </a:r>
            <a:r>
              <a:rPr lang="en-US" sz="2200" dirty="0">
                <a:cs typeface="Calibri"/>
              </a:rPr>
              <a:t>that</a:t>
            </a:r>
            <a:r>
              <a:rPr lang="en-US" sz="2200" spc="-13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is</a:t>
            </a:r>
            <a:r>
              <a:rPr lang="en-US" sz="2200" spc="-13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requested by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a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bus</a:t>
            </a:r>
            <a:r>
              <a:rPr lang="en-US" sz="2200" spc="-13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or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switch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access</a:t>
            </a:r>
            <a:endParaRPr lang="en-US" sz="2400" dirty="0">
              <a:latin typeface="Calibri"/>
              <a:cs typeface="Calibri"/>
            </a:endParaRPr>
          </a:p>
          <a:p>
            <a:pPr marL="278481" marR="15129" indent="-267835">
              <a:buChar char="•"/>
              <a:tabLst>
                <a:tab pos="278481" algn="l"/>
              </a:tabLst>
            </a:pPr>
            <a:r>
              <a:rPr lang="en-US" sz="2400" dirty="0">
                <a:solidFill>
                  <a:srgbClr val="3366FF"/>
                </a:solidFill>
                <a:cs typeface="Calibri"/>
              </a:rPr>
              <a:t>Directory-based</a:t>
            </a:r>
            <a:r>
              <a:rPr lang="en-US" sz="2400" spc="66" dirty="0">
                <a:solidFill>
                  <a:srgbClr val="3366FF"/>
                </a:solidFill>
                <a:cs typeface="Calibri"/>
              </a:rPr>
              <a:t> </a:t>
            </a:r>
            <a:r>
              <a:rPr lang="en-US" sz="2400" dirty="0">
                <a:cs typeface="Calibri"/>
              </a:rPr>
              <a:t>—</a:t>
            </a:r>
            <a:r>
              <a:rPr lang="en-US" sz="2400" spc="79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Sharing</a:t>
            </a:r>
            <a:r>
              <a:rPr lang="en-US" sz="2400" spc="57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status</a:t>
            </a:r>
            <a:r>
              <a:rPr lang="en-US" sz="2400" spc="57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of</a:t>
            </a:r>
            <a:r>
              <a:rPr lang="en-US" sz="2400" spc="57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a</a:t>
            </a:r>
            <a:r>
              <a:rPr lang="en-US" sz="2400" spc="62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physical</a:t>
            </a:r>
            <a:r>
              <a:rPr lang="en-US" sz="2400" spc="49" dirty="0">
                <a:cs typeface="Calibri"/>
              </a:rPr>
              <a:t> </a:t>
            </a:r>
            <a:r>
              <a:rPr lang="en-US" sz="2400" spc="-9" dirty="0">
                <a:cs typeface="Calibri"/>
              </a:rPr>
              <a:t>memory 	</a:t>
            </a:r>
            <a:r>
              <a:rPr lang="en-US" sz="2400" dirty="0">
                <a:cs typeface="Calibri"/>
              </a:rPr>
              <a:t>block</a:t>
            </a:r>
            <a:r>
              <a:rPr lang="en-US" sz="2400" spc="3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is</a:t>
            </a:r>
            <a:r>
              <a:rPr lang="en-US" sz="2400" spc="40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kept</a:t>
            </a:r>
            <a:r>
              <a:rPr lang="en-US" sz="2400" spc="31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in</a:t>
            </a:r>
            <a:r>
              <a:rPr lang="en-US" sz="2400" spc="49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just</a:t>
            </a:r>
            <a:r>
              <a:rPr lang="en-US" sz="2400" spc="31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one</a:t>
            </a:r>
            <a:r>
              <a:rPr lang="en-US" sz="2400" spc="49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location,</a:t>
            </a:r>
            <a:r>
              <a:rPr lang="en-US" sz="2400" spc="31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the</a:t>
            </a:r>
            <a:r>
              <a:rPr lang="en-US" sz="2400" spc="49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directory</a:t>
            </a:r>
            <a:r>
              <a:rPr lang="en-US" sz="2400" spc="44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entry</a:t>
            </a:r>
            <a:r>
              <a:rPr lang="en-US" sz="2400" spc="40" dirty="0">
                <a:cs typeface="Calibri"/>
              </a:rPr>
              <a:t> </a:t>
            </a:r>
            <a:r>
              <a:rPr lang="en-US" sz="2400" spc="-22" dirty="0">
                <a:cs typeface="Calibri"/>
              </a:rPr>
              <a:t>for 	</a:t>
            </a:r>
            <a:r>
              <a:rPr lang="en-US" sz="2400" dirty="0">
                <a:cs typeface="Calibri"/>
              </a:rPr>
              <a:t>that</a:t>
            </a:r>
            <a:r>
              <a:rPr lang="en-US" sz="2400" spc="40" dirty="0">
                <a:cs typeface="Calibri"/>
              </a:rPr>
              <a:t> </a:t>
            </a:r>
            <a:r>
              <a:rPr lang="en-US" sz="2400" spc="-18" dirty="0">
                <a:cs typeface="Calibri"/>
              </a:rPr>
              <a:t>block</a:t>
            </a:r>
            <a:endParaRPr lang="en-US" sz="2400" dirty="0">
              <a:cs typeface="Calibri"/>
            </a:endParaRPr>
          </a:p>
          <a:p>
            <a:pPr marL="0" marR="282403" lvl="1">
              <a:spcBef>
                <a:spcPts val="560"/>
              </a:spcBef>
              <a:tabLst>
                <a:tab pos="653338" algn="l"/>
              </a:tabLst>
            </a:pPr>
            <a:endParaRPr lang="en-US" sz="2200" spc="-9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4F4EC-2277-7434-E7B3-8DC2BC8A63D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25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342" y="1252817"/>
            <a:ext cx="7333083" cy="3521175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278481" indent="-267275">
              <a:spcBef>
                <a:spcPts val="618"/>
              </a:spcBef>
              <a:buChar char="•"/>
              <a:tabLst>
                <a:tab pos="278481" algn="l"/>
              </a:tabLst>
            </a:pPr>
            <a:r>
              <a:rPr sz="2400" spc="-9" dirty="0">
                <a:solidFill>
                  <a:srgbClr val="A6A6A6"/>
                </a:solidFill>
                <a:latin typeface="Calibri"/>
                <a:cs typeface="Calibri"/>
              </a:rPr>
              <a:t>Coherence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dirty="0">
                <a:solidFill>
                  <a:srgbClr val="A6A6A6"/>
                </a:solidFill>
                <a:latin typeface="Calibri"/>
                <a:cs typeface="Calibri"/>
              </a:rPr>
              <a:t>Write</a:t>
            </a:r>
            <a:r>
              <a:rPr sz="2400" spc="3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A6A6A6"/>
                </a:solidFill>
                <a:latin typeface="Calibri"/>
                <a:cs typeface="Calibri"/>
              </a:rPr>
              <a:t>Consistency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613"/>
              </a:spcBef>
              <a:buChar char="•"/>
              <a:tabLst>
                <a:tab pos="278481" algn="l"/>
              </a:tabLst>
            </a:pPr>
            <a:r>
              <a:rPr sz="2400" spc="-9" dirty="0">
                <a:solidFill>
                  <a:srgbClr val="A6A6A6"/>
                </a:solidFill>
                <a:latin typeface="Calibri"/>
                <a:cs typeface="Calibri"/>
              </a:rPr>
              <a:t>Snooping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dirty="0">
                <a:solidFill>
                  <a:srgbClr val="A6A6A6"/>
                </a:solidFill>
                <a:latin typeface="Calibri"/>
                <a:cs typeface="Calibri"/>
              </a:rPr>
              <a:t>Building</a:t>
            </a:r>
            <a:r>
              <a:rPr sz="2400" spc="84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A6A6A6"/>
                </a:solidFill>
                <a:latin typeface="Calibri"/>
                <a:cs typeface="Calibri"/>
              </a:rPr>
              <a:t>Blocks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61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Snooping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protocols</a:t>
            </a:r>
            <a:r>
              <a:rPr sz="2400" spc="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examples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Coherence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traffic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Performance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MP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61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Directory-based</a:t>
            </a:r>
            <a:r>
              <a:rPr sz="2400" spc="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protocols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9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examples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spc="-9" dirty="0">
                <a:latin typeface="Calibri"/>
                <a:cs typeface="Calibri"/>
              </a:rPr>
              <a:t>Conclusion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31F2F-122D-DDAD-2727-FDFAD05327D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26</a:t>
            </a:fld>
            <a:endParaRPr lang="en-US" spc="-44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7107" y="3092823"/>
            <a:ext cx="7732059" cy="108853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4244"/>
              </a:lnSpc>
              <a:spcBef>
                <a:spcPts val="88"/>
              </a:spcBef>
            </a:pPr>
            <a:r>
              <a:rPr sz="3706" b="1" spc="-9" dirty="0">
                <a:latin typeface="Arial"/>
                <a:cs typeface="Arial"/>
              </a:rPr>
              <a:t>SNOOPY</a:t>
            </a:r>
            <a:endParaRPr sz="3706">
              <a:latin typeface="Arial"/>
              <a:cs typeface="Arial"/>
            </a:endParaRPr>
          </a:p>
          <a:p>
            <a:pPr marL="11206">
              <a:lnSpc>
                <a:spcPts val="4244"/>
              </a:lnSpc>
            </a:pPr>
            <a:r>
              <a:rPr sz="3706" b="1" spc="-9" dirty="0">
                <a:latin typeface="Arial"/>
                <a:cs typeface="Arial"/>
              </a:rPr>
              <a:t>CACHE-</a:t>
            </a:r>
            <a:r>
              <a:rPr sz="3706" b="1" dirty="0">
                <a:latin typeface="Arial"/>
                <a:cs typeface="Arial"/>
              </a:rPr>
              <a:t>COHERENCE</a:t>
            </a:r>
            <a:r>
              <a:rPr sz="3706" b="1" spc="97" dirty="0">
                <a:latin typeface="Arial"/>
                <a:cs typeface="Arial"/>
              </a:rPr>
              <a:t> </a:t>
            </a:r>
            <a:r>
              <a:rPr sz="3706" b="1" spc="-9" dirty="0">
                <a:latin typeface="Arial"/>
                <a:cs typeface="Arial"/>
              </a:rPr>
              <a:t>PROTOCOL</a:t>
            </a:r>
            <a:endParaRPr sz="3706">
              <a:latin typeface="Arial"/>
              <a:cs typeface="Arial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D31A6B3D-4907-56C4-25CB-21EEEF0FB22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27</a:t>
            </a:fld>
            <a:endParaRPr lang="en-US" spc="-44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80032"/>
            <a:ext cx="7203209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Snoopy</a:t>
            </a:r>
            <a:r>
              <a:rPr spc="-22" dirty="0"/>
              <a:t> </a:t>
            </a:r>
            <a:r>
              <a:rPr spc="-9" dirty="0"/>
              <a:t>Cache-</a:t>
            </a:r>
            <a:r>
              <a:rPr dirty="0"/>
              <a:t>Coherence</a:t>
            </a:r>
            <a:r>
              <a:rPr spc="-22" dirty="0"/>
              <a:t> </a:t>
            </a:r>
            <a:r>
              <a:rPr spc="-9" dirty="0"/>
              <a:t>Protocols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3" y="3713518"/>
            <a:ext cx="7391552" cy="2977663"/>
          </a:xfrm>
          <a:prstGeom prst="rect">
            <a:avLst/>
          </a:prstGeom>
        </p:spPr>
        <p:txBody>
          <a:bodyPr vert="horz" wrap="square" lIns="0" tIns="48185" rIns="0" bIns="0" rtlCol="0">
            <a:spAutoFit/>
          </a:bodyPr>
          <a:lstStyle/>
          <a:p>
            <a:pPr marL="300894" marR="26896" indent="-267835">
              <a:spcBef>
                <a:spcPts val="379"/>
              </a:spcBef>
              <a:spcAft>
                <a:spcPts val="600"/>
              </a:spcAft>
              <a:buChar char="•"/>
              <a:tabLst>
                <a:tab pos="300894" algn="l"/>
              </a:tabLst>
            </a:pPr>
            <a:r>
              <a:rPr sz="2200" dirty="0">
                <a:latin typeface="Calibri"/>
                <a:cs typeface="Calibri"/>
              </a:rPr>
              <a:t>Cache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Controller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“</a:t>
            </a:r>
            <a:r>
              <a:rPr sz="2200" dirty="0">
                <a:solidFill>
                  <a:srgbClr val="3366FF"/>
                </a:solidFill>
                <a:latin typeface="Calibri"/>
                <a:cs typeface="Calibri"/>
              </a:rPr>
              <a:t>snoops</a:t>
            </a:r>
            <a:r>
              <a:rPr sz="2200" dirty="0">
                <a:latin typeface="Calibri"/>
                <a:cs typeface="Calibri"/>
              </a:rPr>
              <a:t>”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transactions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shared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medium </a:t>
            </a:r>
            <a:r>
              <a:rPr sz="2200" dirty="0">
                <a:latin typeface="Calibri"/>
                <a:cs typeface="Calibri"/>
              </a:rPr>
              <a:t>(bus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FF0000"/>
                </a:solidFill>
                <a:latin typeface="Calibri"/>
                <a:cs typeface="Calibri"/>
              </a:rPr>
              <a:t>switch</a:t>
            </a:r>
            <a:r>
              <a:rPr sz="2200" spc="-9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  <a:p>
            <a:pPr marL="674070" lvl="1" indent="-212363">
              <a:spcBef>
                <a:spcPts val="410"/>
              </a:spcBef>
              <a:buFont typeface="Calibri"/>
              <a:buChar char="–"/>
              <a:tabLst>
                <a:tab pos="674070" algn="l"/>
              </a:tabLst>
            </a:pPr>
            <a:r>
              <a:rPr sz="185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Relevant</a:t>
            </a:r>
            <a:r>
              <a:rPr sz="1850" u="sng" spc="22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5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transaction</a:t>
            </a:r>
            <a:r>
              <a:rPr sz="1850" b="1" spc="-1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if</a:t>
            </a:r>
            <a:r>
              <a:rPr sz="1850" spc="-18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it</a:t>
            </a:r>
            <a:r>
              <a:rPr sz="1850" spc="-18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is</a:t>
            </a:r>
            <a:r>
              <a:rPr sz="1850" spc="-22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for</a:t>
            </a:r>
            <a:r>
              <a:rPr sz="1850" spc="-22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-18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block</a:t>
            </a:r>
            <a:r>
              <a:rPr sz="1850" spc="-22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the</a:t>
            </a:r>
            <a:r>
              <a:rPr sz="1850" spc="-13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cache</a:t>
            </a:r>
            <a:r>
              <a:rPr sz="1850" spc="-13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(e.g.,</a:t>
            </a:r>
            <a:r>
              <a:rPr sz="1850" spc="-13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P</a:t>
            </a:r>
            <a:r>
              <a:rPr sz="1850" baseline="-17094" dirty="0">
                <a:latin typeface="Calibri"/>
                <a:cs typeface="Calibri"/>
              </a:rPr>
              <a:t>1</a:t>
            </a:r>
            <a:r>
              <a:rPr sz="1850" dirty="0">
                <a:latin typeface="Calibri"/>
                <a:cs typeface="Calibri"/>
              </a:rPr>
              <a:t>)</a:t>
            </a:r>
            <a:r>
              <a:rPr sz="1850" spc="-13" dirty="0">
                <a:latin typeface="Calibri"/>
                <a:cs typeface="Calibri"/>
              </a:rPr>
              <a:t> </a:t>
            </a:r>
            <a:r>
              <a:rPr sz="1850" spc="-9" dirty="0">
                <a:latin typeface="Calibri"/>
                <a:cs typeface="Calibri"/>
              </a:rPr>
              <a:t>contains</a:t>
            </a:r>
            <a:endParaRPr sz="1850" dirty="0">
              <a:latin typeface="Calibri"/>
              <a:cs typeface="Calibri"/>
            </a:endParaRPr>
          </a:p>
          <a:p>
            <a:pPr marL="674070" lvl="1" indent="-212363">
              <a:spcBef>
                <a:spcPts val="446"/>
              </a:spcBef>
              <a:buChar char="–"/>
              <a:tabLst>
                <a:tab pos="674070" algn="l"/>
              </a:tabLst>
            </a:pPr>
            <a:r>
              <a:rPr sz="1850" dirty="0">
                <a:latin typeface="Calibri"/>
                <a:cs typeface="Calibri"/>
              </a:rPr>
              <a:t>If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relevant,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i="1" dirty="0">
                <a:latin typeface="Calibri"/>
                <a:cs typeface="Calibri"/>
              </a:rPr>
              <a:t>a cache controller</a:t>
            </a:r>
            <a:r>
              <a:rPr sz="1850" i="1" spc="-13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takes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action to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ensure</a:t>
            </a:r>
            <a:r>
              <a:rPr sz="1850" spc="4" dirty="0">
                <a:latin typeface="Calibri"/>
                <a:cs typeface="Calibri"/>
              </a:rPr>
              <a:t> </a:t>
            </a:r>
            <a:r>
              <a:rPr sz="1850" spc="-9" dirty="0">
                <a:latin typeface="Calibri"/>
                <a:cs typeface="Calibri"/>
              </a:rPr>
              <a:t>coherence</a:t>
            </a:r>
            <a:endParaRPr sz="1850" dirty="0">
              <a:latin typeface="Calibri"/>
              <a:cs typeface="Calibri"/>
            </a:endParaRPr>
          </a:p>
          <a:p>
            <a:pPr marL="889795">
              <a:spcBef>
                <a:spcPts val="366"/>
              </a:spcBef>
              <a:tabLst>
                <a:tab pos="1103278" algn="l"/>
              </a:tabLst>
            </a:pPr>
            <a:r>
              <a:rPr sz="1850" spc="-44" dirty="0">
                <a:latin typeface="Calibri"/>
                <a:cs typeface="Calibri"/>
              </a:rPr>
              <a:t>»</a:t>
            </a:r>
            <a:r>
              <a:rPr sz="1850" dirty="0">
                <a:latin typeface="Calibri"/>
                <a:cs typeface="Calibri"/>
              </a:rPr>
              <a:t>	invalidate,</a:t>
            </a:r>
            <a:r>
              <a:rPr sz="1850" spc="-3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update,</a:t>
            </a:r>
            <a:r>
              <a:rPr sz="1850" spc="-3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or</a:t>
            </a:r>
            <a:r>
              <a:rPr sz="1850" spc="-3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supply</a:t>
            </a:r>
            <a:r>
              <a:rPr sz="1850" spc="-4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the</a:t>
            </a:r>
            <a:r>
              <a:rPr sz="1850" spc="-3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latest</a:t>
            </a:r>
            <a:r>
              <a:rPr sz="1850" spc="-35" dirty="0">
                <a:latin typeface="Calibri"/>
                <a:cs typeface="Calibri"/>
              </a:rPr>
              <a:t> </a:t>
            </a:r>
            <a:r>
              <a:rPr sz="1850" spc="-9" dirty="0">
                <a:latin typeface="Calibri"/>
                <a:cs typeface="Calibri"/>
              </a:rPr>
              <a:t>value</a:t>
            </a:r>
            <a:endParaRPr sz="1850" dirty="0">
              <a:latin typeface="Calibri"/>
              <a:cs typeface="Calibri"/>
            </a:endParaRPr>
          </a:p>
          <a:p>
            <a:pPr marL="674070" lvl="1" indent="-212363">
              <a:spcBef>
                <a:spcPts val="331"/>
              </a:spcBef>
              <a:spcAft>
                <a:spcPts val="600"/>
              </a:spcAft>
              <a:buChar char="–"/>
              <a:tabLst>
                <a:tab pos="674070" algn="l"/>
              </a:tabLst>
            </a:pPr>
            <a:r>
              <a:rPr sz="1850" dirty="0">
                <a:latin typeface="Calibri"/>
                <a:cs typeface="Calibri"/>
              </a:rPr>
              <a:t>depends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on state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of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the block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and the </a:t>
            </a:r>
            <a:r>
              <a:rPr sz="1850" spc="-9" dirty="0">
                <a:latin typeface="Calibri"/>
                <a:cs typeface="Calibri"/>
              </a:rPr>
              <a:t>protocol</a:t>
            </a:r>
            <a:endParaRPr sz="1850" dirty="0">
              <a:latin typeface="Calibri"/>
              <a:cs typeface="Calibri"/>
            </a:endParaRPr>
          </a:p>
          <a:p>
            <a:pPr marL="300894" marR="910527" indent="-267835">
              <a:spcBef>
                <a:spcPts val="688"/>
              </a:spcBef>
              <a:buChar char="•"/>
              <a:tabLst>
                <a:tab pos="300894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either</a:t>
            </a:r>
            <a:r>
              <a:rPr sz="2200" spc="18" dirty="0"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gets</a:t>
            </a:r>
            <a:r>
              <a:rPr sz="2200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exclusive</a:t>
            </a:r>
            <a:r>
              <a:rPr sz="2200" i="1" u="sng" spc="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access</a:t>
            </a:r>
            <a:r>
              <a:rPr sz="2200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before</a:t>
            </a:r>
            <a:r>
              <a:rPr sz="2200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2200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write</a:t>
            </a:r>
            <a:r>
              <a:rPr sz="2200" u="sng" spc="2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via</a:t>
            </a:r>
            <a:r>
              <a:rPr sz="2200" spc="-202" dirty="0">
                <a:latin typeface="Calibri"/>
                <a:cs typeface="Calibri"/>
              </a:rPr>
              <a:t> </a:t>
            </a:r>
            <a:br>
              <a:rPr lang="en-US" sz="2200" spc="-202" dirty="0">
                <a:latin typeface="Calibri"/>
                <a:cs typeface="Calibri"/>
              </a:rPr>
            </a:br>
            <a:r>
              <a:rPr sz="2200" u="sng" spc="-9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write</a:t>
            </a:r>
            <a:r>
              <a:rPr sz="2200" u="sng" spc="-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0" u="sng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invalidate</a:t>
            </a:r>
            <a:r>
              <a:rPr sz="2200" dirty="0">
                <a:solidFill>
                  <a:srgbClr val="3366FF"/>
                </a:solidFill>
                <a:latin typeface="Calibri"/>
                <a:cs typeface="Calibri"/>
              </a:rPr>
              <a:t>,</a:t>
            </a:r>
            <a:r>
              <a:rPr sz="2200" spc="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updates</a:t>
            </a:r>
            <a:r>
              <a:rPr sz="2200" u="sng" spc="2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all</a:t>
            </a:r>
            <a:r>
              <a:rPr sz="2200" u="sng" spc="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copies</a:t>
            </a:r>
            <a:r>
              <a:rPr sz="2200" u="sng" spc="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when</a:t>
            </a:r>
            <a:r>
              <a:rPr sz="2200" u="sng" spc="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</a:t>
            </a:r>
            <a:r>
              <a:rPr sz="2200" u="sng" spc="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writes</a:t>
            </a:r>
            <a:endParaRPr sz="22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519377"/>
              </p:ext>
            </p:extLst>
          </p:nvPr>
        </p:nvGraphicFramePr>
        <p:xfrm>
          <a:off x="570784" y="2150153"/>
          <a:ext cx="1200710" cy="243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8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203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9144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914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2570">
                        <a:lnSpc>
                          <a:spcPts val="1065"/>
                        </a:lnSpc>
                      </a:pPr>
                      <a:r>
                        <a:rPr sz="1300" spc="-20" dirty="0">
                          <a:solidFill>
                            <a:srgbClr val="FC0128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endParaRPr sz="1300" dirty="0">
                        <a:latin typeface="Arial MT"/>
                        <a:cs typeface="Arial MT"/>
                      </a:endParaRPr>
                    </a:p>
                  </a:txBody>
                  <a:tcPr marL="0" marR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221996" y="1692537"/>
            <a:ext cx="864534" cy="41886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spcBef>
                <a:spcPts val="88"/>
              </a:spcBef>
            </a:pPr>
            <a:r>
              <a:rPr sz="1324" dirty="0">
                <a:solidFill>
                  <a:srgbClr val="FC0128"/>
                </a:solidFill>
                <a:latin typeface="Arial MT"/>
                <a:cs typeface="Arial MT"/>
              </a:rPr>
              <a:t>Block</a:t>
            </a:r>
            <a:r>
              <a:rPr sz="1324" spc="-71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C0128"/>
                </a:solidFill>
                <a:latin typeface="Arial MT"/>
                <a:cs typeface="Arial MT"/>
              </a:rPr>
              <a:t>State Address</a:t>
            </a:r>
            <a:endParaRPr sz="1324" dirty="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01582" y="1793432"/>
            <a:ext cx="520414" cy="356907"/>
            <a:chOff x="642725" y="2075736"/>
            <a:chExt cx="512445" cy="404495"/>
          </a:xfrm>
        </p:grpSpPr>
        <p:sp>
          <p:nvSpPr>
            <p:cNvPr id="7" name="object 7"/>
            <p:cNvSpPr/>
            <p:nvPr/>
          </p:nvSpPr>
          <p:spPr>
            <a:xfrm>
              <a:off x="892033" y="2325044"/>
              <a:ext cx="256540" cy="148590"/>
            </a:xfrm>
            <a:custGeom>
              <a:avLst/>
              <a:gdLst/>
              <a:ahLst/>
              <a:cxnLst/>
              <a:rect l="l" t="t" r="r" b="b"/>
              <a:pathLst>
                <a:path w="256540" h="148589">
                  <a:moveTo>
                    <a:pt x="256046" y="0"/>
                  </a:moveTo>
                  <a:lnTo>
                    <a:pt x="0" y="148237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649463" y="2082474"/>
              <a:ext cx="499109" cy="391160"/>
            </a:xfrm>
            <a:custGeom>
              <a:avLst/>
              <a:gdLst/>
              <a:ahLst/>
              <a:cxnLst/>
              <a:rect l="l" t="t" r="r" b="b"/>
              <a:pathLst>
                <a:path w="499109" h="391160">
                  <a:moveTo>
                    <a:pt x="498616" y="0"/>
                  </a:moveTo>
                  <a:lnTo>
                    <a:pt x="0" y="390807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FED71F5-2331-DF9A-64FE-BFAC0757F44F}"/>
              </a:ext>
            </a:extLst>
          </p:cNvPr>
          <p:cNvGrpSpPr/>
          <p:nvPr/>
        </p:nvGrpSpPr>
        <p:grpSpPr>
          <a:xfrm>
            <a:off x="2261979" y="1377935"/>
            <a:ext cx="6241761" cy="2160009"/>
            <a:chOff x="2261979" y="1425560"/>
            <a:chExt cx="6241761" cy="2160009"/>
          </a:xfrm>
        </p:grpSpPr>
        <p:grpSp>
          <p:nvGrpSpPr>
            <p:cNvPr id="9" name="object 9"/>
            <p:cNvGrpSpPr/>
            <p:nvPr/>
          </p:nvGrpSpPr>
          <p:grpSpPr>
            <a:xfrm>
              <a:off x="2938093" y="2843740"/>
              <a:ext cx="1697130" cy="741829"/>
              <a:chOff x="3177439" y="3222905"/>
              <a:chExt cx="1923414" cy="840740"/>
            </a:xfrm>
          </p:grpSpPr>
          <p:sp>
            <p:nvSpPr>
              <p:cNvPr id="10" name="object 10"/>
              <p:cNvSpPr/>
              <p:nvPr/>
            </p:nvSpPr>
            <p:spPr>
              <a:xfrm>
                <a:off x="4146630" y="3238462"/>
                <a:ext cx="0" cy="337820"/>
              </a:xfrm>
              <a:custGeom>
                <a:avLst/>
                <a:gdLst/>
                <a:ahLst/>
                <a:cxnLst/>
                <a:rect l="l" t="t" r="r" b="b"/>
                <a:pathLst>
                  <a:path h="337820">
                    <a:moveTo>
                      <a:pt x="0" y="0"/>
                    </a:moveTo>
                    <a:lnTo>
                      <a:pt x="0" y="337548"/>
                    </a:lnTo>
                  </a:path>
                </a:pathLst>
              </a:custGeom>
              <a:ln w="3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3179661" y="3571683"/>
                <a:ext cx="1918970" cy="489584"/>
              </a:xfrm>
              <a:custGeom>
                <a:avLst/>
                <a:gdLst/>
                <a:ahLst/>
                <a:cxnLst/>
                <a:rect l="l" t="t" r="r" b="b"/>
                <a:pathLst>
                  <a:path w="1918970" h="489585">
                    <a:moveTo>
                      <a:pt x="0" y="2163"/>
                    </a:moveTo>
                    <a:lnTo>
                      <a:pt x="1918670" y="2163"/>
                    </a:lnTo>
                  </a:path>
                  <a:path w="1918970" h="489585">
                    <a:moveTo>
                      <a:pt x="1916124" y="0"/>
                    </a:moveTo>
                    <a:lnTo>
                      <a:pt x="1916124" y="489012"/>
                    </a:lnTo>
                  </a:path>
                  <a:path w="1918970" h="489585">
                    <a:moveTo>
                      <a:pt x="5089" y="486848"/>
                    </a:moveTo>
                    <a:lnTo>
                      <a:pt x="1918670" y="486848"/>
                    </a:lnTo>
                  </a:path>
                  <a:path w="1918970" h="489585">
                    <a:moveTo>
                      <a:pt x="7633" y="0"/>
                    </a:moveTo>
                    <a:lnTo>
                      <a:pt x="7633" y="489012"/>
                    </a:lnTo>
                  </a:path>
                </a:pathLst>
              </a:custGeom>
              <a:ln w="47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12" name="object 12"/>
            <p:cNvSpPr txBox="1"/>
            <p:nvPr/>
          </p:nvSpPr>
          <p:spPr>
            <a:xfrm>
              <a:off x="6274320" y="3197555"/>
              <a:ext cx="743509" cy="163544"/>
            </a:xfrm>
            <a:prstGeom prst="rect">
              <a:avLst/>
            </a:prstGeom>
          </p:spPr>
          <p:txBody>
            <a:bodyPr vert="horz" wrap="square" lIns="0" tIns="14007" rIns="0" bIns="0" rtlCol="0">
              <a:spAutoFit/>
            </a:bodyPr>
            <a:lstStyle/>
            <a:p>
              <a:pPr marL="11206">
                <a:spcBef>
                  <a:spcPts val="110"/>
                </a:spcBef>
              </a:pPr>
              <a:r>
                <a:rPr sz="971" spc="75" dirty="0">
                  <a:latin typeface="Arial MT"/>
                  <a:cs typeface="Arial MT"/>
                </a:rPr>
                <a:t>I/O</a:t>
              </a:r>
              <a:r>
                <a:rPr sz="971" spc="26" dirty="0">
                  <a:latin typeface="Arial MT"/>
                  <a:cs typeface="Arial MT"/>
                </a:rPr>
                <a:t> </a:t>
              </a:r>
              <a:r>
                <a:rPr sz="971" spc="62" dirty="0">
                  <a:latin typeface="Arial MT"/>
                  <a:cs typeface="Arial MT"/>
                </a:rPr>
                <a:t>devices</a:t>
              </a:r>
              <a:endParaRPr sz="971">
                <a:latin typeface="Arial MT"/>
                <a:cs typeface="Arial MT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3611414" y="3251013"/>
              <a:ext cx="336176" cy="163544"/>
            </a:xfrm>
            <a:prstGeom prst="rect">
              <a:avLst/>
            </a:prstGeom>
          </p:spPr>
          <p:txBody>
            <a:bodyPr vert="horz" wrap="square" lIns="0" tIns="14007" rIns="0" bIns="0" rtlCol="0">
              <a:spAutoFit/>
            </a:bodyPr>
            <a:lstStyle/>
            <a:p>
              <a:pPr marL="11206">
                <a:spcBef>
                  <a:spcPts val="110"/>
                </a:spcBef>
              </a:pPr>
              <a:r>
                <a:rPr sz="971" spc="75" dirty="0">
                  <a:latin typeface="Arial MT"/>
                  <a:cs typeface="Arial MT"/>
                </a:rPr>
                <a:t>Mem</a:t>
              </a:r>
              <a:endParaRPr sz="971">
                <a:latin typeface="Arial MT"/>
                <a:cs typeface="Arial MT"/>
              </a:endParaRPr>
            </a:p>
          </p:txBody>
        </p:sp>
        <p:grpSp>
          <p:nvGrpSpPr>
            <p:cNvPr id="14" name="object 14"/>
            <p:cNvGrpSpPr/>
            <p:nvPr/>
          </p:nvGrpSpPr>
          <p:grpSpPr>
            <a:xfrm>
              <a:off x="2264508" y="1425560"/>
              <a:ext cx="1023657" cy="1469091"/>
              <a:chOff x="2414042" y="1615635"/>
              <a:chExt cx="1160145" cy="1664970"/>
            </a:xfrm>
          </p:grpSpPr>
          <p:sp>
            <p:nvSpPr>
              <p:cNvPr id="15" name="object 15"/>
              <p:cNvSpPr/>
              <p:nvPr/>
            </p:nvSpPr>
            <p:spPr>
              <a:xfrm>
                <a:off x="2996446" y="2264766"/>
                <a:ext cx="0" cy="1000125"/>
              </a:xfrm>
              <a:custGeom>
                <a:avLst/>
                <a:gdLst/>
                <a:ahLst/>
                <a:cxnLst/>
                <a:rect l="l" t="t" r="r" b="b"/>
                <a:pathLst>
                  <a:path h="1000125">
                    <a:moveTo>
                      <a:pt x="0" y="662113"/>
                    </a:moveTo>
                    <a:lnTo>
                      <a:pt x="0" y="999661"/>
                    </a:lnTo>
                  </a:path>
                  <a:path h="1000125">
                    <a:moveTo>
                      <a:pt x="0" y="0"/>
                    </a:moveTo>
                    <a:lnTo>
                      <a:pt x="0" y="173101"/>
                    </a:lnTo>
                  </a:path>
                </a:pathLst>
              </a:custGeom>
              <a:ln w="3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2614748" y="1628618"/>
                <a:ext cx="763905" cy="649605"/>
              </a:xfrm>
              <a:custGeom>
                <a:avLst/>
                <a:gdLst/>
                <a:ahLst/>
                <a:cxnLst/>
                <a:rect l="l" t="t" r="r" b="b"/>
                <a:pathLst>
                  <a:path w="763904" h="649605">
                    <a:moveTo>
                      <a:pt x="381698" y="0"/>
                    </a:moveTo>
                    <a:lnTo>
                      <a:pt x="320626" y="4326"/>
                    </a:lnTo>
                    <a:lnTo>
                      <a:pt x="259554" y="17310"/>
                    </a:lnTo>
                    <a:lnTo>
                      <a:pt x="208660" y="34620"/>
                    </a:lnTo>
                    <a:lnTo>
                      <a:pt x="157768" y="60585"/>
                    </a:lnTo>
                    <a:lnTo>
                      <a:pt x="111964" y="95205"/>
                    </a:lnTo>
                    <a:lnTo>
                      <a:pt x="76339" y="129825"/>
                    </a:lnTo>
                    <a:lnTo>
                      <a:pt x="40713" y="173100"/>
                    </a:lnTo>
                    <a:lnTo>
                      <a:pt x="20356" y="220704"/>
                    </a:lnTo>
                    <a:lnTo>
                      <a:pt x="5088" y="272634"/>
                    </a:lnTo>
                    <a:lnTo>
                      <a:pt x="0" y="324565"/>
                    </a:lnTo>
                    <a:lnTo>
                      <a:pt x="5088" y="376495"/>
                    </a:lnTo>
                    <a:lnTo>
                      <a:pt x="20356" y="424098"/>
                    </a:lnTo>
                    <a:lnTo>
                      <a:pt x="40713" y="471700"/>
                    </a:lnTo>
                    <a:lnTo>
                      <a:pt x="76339" y="514977"/>
                    </a:lnTo>
                    <a:lnTo>
                      <a:pt x="111964" y="553924"/>
                    </a:lnTo>
                    <a:lnTo>
                      <a:pt x="157768" y="584217"/>
                    </a:lnTo>
                    <a:lnTo>
                      <a:pt x="208660" y="610182"/>
                    </a:lnTo>
                    <a:lnTo>
                      <a:pt x="259554" y="631819"/>
                    </a:lnTo>
                    <a:lnTo>
                      <a:pt x="320626" y="644803"/>
                    </a:lnTo>
                    <a:lnTo>
                      <a:pt x="381698" y="649130"/>
                    </a:lnTo>
                    <a:lnTo>
                      <a:pt x="442768" y="644803"/>
                    </a:lnTo>
                    <a:lnTo>
                      <a:pt x="503840" y="631819"/>
                    </a:lnTo>
                    <a:lnTo>
                      <a:pt x="559823" y="610182"/>
                    </a:lnTo>
                    <a:lnTo>
                      <a:pt x="605627" y="584217"/>
                    </a:lnTo>
                    <a:lnTo>
                      <a:pt x="651431" y="553924"/>
                    </a:lnTo>
                    <a:lnTo>
                      <a:pt x="692146" y="514977"/>
                    </a:lnTo>
                    <a:lnTo>
                      <a:pt x="722682" y="471700"/>
                    </a:lnTo>
                    <a:lnTo>
                      <a:pt x="743038" y="424098"/>
                    </a:lnTo>
                    <a:lnTo>
                      <a:pt x="758306" y="376495"/>
                    </a:lnTo>
                    <a:lnTo>
                      <a:pt x="763192" y="322487"/>
                    </a:lnTo>
                    <a:lnTo>
                      <a:pt x="758306" y="272634"/>
                    </a:lnTo>
                    <a:lnTo>
                      <a:pt x="743038" y="220704"/>
                    </a:lnTo>
                    <a:lnTo>
                      <a:pt x="722682" y="173100"/>
                    </a:lnTo>
                    <a:lnTo>
                      <a:pt x="692146" y="129825"/>
                    </a:lnTo>
                    <a:lnTo>
                      <a:pt x="651431" y="95205"/>
                    </a:lnTo>
                    <a:lnTo>
                      <a:pt x="605627" y="60585"/>
                    </a:lnTo>
                    <a:lnTo>
                      <a:pt x="559823" y="34620"/>
                    </a:lnTo>
                    <a:lnTo>
                      <a:pt x="503840" y="17310"/>
                    </a:lnTo>
                    <a:lnTo>
                      <a:pt x="442768" y="4326"/>
                    </a:lnTo>
                    <a:lnTo>
                      <a:pt x="381698" y="0"/>
                    </a:lnTo>
                    <a:close/>
                  </a:path>
                  <a:path w="763904" h="649605">
                    <a:moveTo>
                      <a:pt x="763395" y="320236"/>
                    </a:moveTo>
                    <a:lnTo>
                      <a:pt x="763192" y="322487"/>
                    </a:lnTo>
                    <a:lnTo>
                      <a:pt x="763395" y="324565"/>
                    </a:lnTo>
                    <a:lnTo>
                      <a:pt x="763395" y="32023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2599474" y="1615642"/>
                <a:ext cx="794385" cy="675640"/>
              </a:xfrm>
              <a:custGeom>
                <a:avLst/>
                <a:gdLst/>
                <a:ahLst/>
                <a:cxnLst/>
                <a:rect l="l" t="t" r="r" b="b"/>
                <a:pathLst>
                  <a:path w="794385" h="675639">
                    <a:moveTo>
                      <a:pt x="793927" y="320230"/>
                    </a:moveTo>
                    <a:lnTo>
                      <a:pt x="788847" y="272630"/>
                    </a:lnTo>
                    <a:lnTo>
                      <a:pt x="773569" y="220700"/>
                    </a:lnTo>
                    <a:lnTo>
                      <a:pt x="762279" y="194297"/>
                    </a:lnTo>
                    <a:lnTo>
                      <a:pt x="762279" y="335864"/>
                    </a:lnTo>
                    <a:lnTo>
                      <a:pt x="758304" y="376491"/>
                    </a:lnTo>
                    <a:lnTo>
                      <a:pt x="743038" y="424091"/>
                    </a:lnTo>
                    <a:lnTo>
                      <a:pt x="722680" y="471703"/>
                    </a:lnTo>
                    <a:lnTo>
                      <a:pt x="692150" y="514972"/>
                    </a:lnTo>
                    <a:lnTo>
                      <a:pt x="651433" y="553923"/>
                    </a:lnTo>
                    <a:lnTo>
                      <a:pt x="605624" y="584212"/>
                    </a:lnTo>
                    <a:lnTo>
                      <a:pt x="559828" y="610184"/>
                    </a:lnTo>
                    <a:lnTo>
                      <a:pt x="503847" y="631825"/>
                    </a:lnTo>
                    <a:lnTo>
                      <a:pt x="442772" y="644804"/>
                    </a:lnTo>
                    <a:lnTo>
                      <a:pt x="396963" y="648055"/>
                    </a:lnTo>
                    <a:lnTo>
                      <a:pt x="351167" y="644804"/>
                    </a:lnTo>
                    <a:lnTo>
                      <a:pt x="290093" y="631825"/>
                    </a:lnTo>
                    <a:lnTo>
                      <a:pt x="239191" y="610184"/>
                    </a:lnTo>
                    <a:lnTo>
                      <a:pt x="188302" y="584212"/>
                    </a:lnTo>
                    <a:lnTo>
                      <a:pt x="142506" y="553923"/>
                    </a:lnTo>
                    <a:lnTo>
                      <a:pt x="106870" y="514972"/>
                    </a:lnTo>
                    <a:lnTo>
                      <a:pt x="71247" y="471703"/>
                    </a:lnTo>
                    <a:lnTo>
                      <a:pt x="50888" y="424091"/>
                    </a:lnTo>
                    <a:lnTo>
                      <a:pt x="35623" y="376491"/>
                    </a:lnTo>
                    <a:lnTo>
                      <a:pt x="31800" y="337553"/>
                    </a:lnTo>
                    <a:lnTo>
                      <a:pt x="35623" y="298602"/>
                    </a:lnTo>
                    <a:lnTo>
                      <a:pt x="50888" y="246672"/>
                    </a:lnTo>
                    <a:lnTo>
                      <a:pt x="71247" y="199059"/>
                    </a:lnTo>
                    <a:lnTo>
                      <a:pt x="106870" y="155790"/>
                    </a:lnTo>
                    <a:lnTo>
                      <a:pt x="142506" y="121170"/>
                    </a:lnTo>
                    <a:lnTo>
                      <a:pt x="188302" y="86550"/>
                    </a:lnTo>
                    <a:lnTo>
                      <a:pt x="239191" y="60579"/>
                    </a:lnTo>
                    <a:lnTo>
                      <a:pt x="290093" y="43268"/>
                    </a:lnTo>
                    <a:lnTo>
                      <a:pt x="351167" y="30289"/>
                    </a:lnTo>
                    <a:lnTo>
                      <a:pt x="396963" y="27051"/>
                    </a:lnTo>
                    <a:lnTo>
                      <a:pt x="442772" y="30289"/>
                    </a:lnTo>
                    <a:lnTo>
                      <a:pt x="503847" y="43268"/>
                    </a:lnTo>
                    <a:lnTo>
                      <a:pt x="559828" y="60579"/>
                    </a:lnTo>
                    <a:lnTo>
                      <a:pt x="605624" y="86550"/>
                    </a:lnTo>
                    <a:lnTo>
                      <a:pt x="651433" y="121170"/>
                    </a:lnTo>
                    <a:lnTo>
                      <a:pt x="692150" y="155790"/>
                    </a:lnTo>
                    <a:lnTo>
                      <a:pt x="722680" y="199059"/>
                    </a:lnTo>
                    <a:lnTo>
                      <a:pt x="743038" y="246672"/>
                    </a:lnTo>
                    <a:lnTo>
                      <a:pt x="758304" y="298602"/>
                    </a:lnTo>
                    <a:lnTo>
                      <a:pt x="762279" y="335864"/>
                    </a:lnTo>
                    <a:lnTo>
                      <a:pt x="762279" y="194297"/>
                    </a:lnTo>
                    <a:lnTo>
                      <a:pt x="722680" y="129819"/>
                    </a:lnTo>
                    <a:lnTo>
                      <a:pt x="681964" y="95199"/>
                    </a:lnTo>
                    <a:lnTo>
                      <a:pt x="636168" y="60579"/>
                    </a:lnTo>
                    <a:lnTo>
                      <a:pt x="590359" y="34620"/>
                    </a:lnTo>
                    <a:lnTo>
                      <a:pt x="534377" y="17310"/>
                    </a:lnTo>
                    <a:lnTo>
                      <a:pt x="473303" y="4330"/>
                    </a:lnTo>
                    <a:lnTo>
                      <a:pt x="412229" y="0"/>
                    </a:lnTo>
                    <a:lnTo>
                      <a:pt x="381698" y="0"/>
                    </a:lnTo>
                    <a:lnTo>
                      <a:pt x="320624" y="4330"/>
                    </a:lnTo>
                    <a:lnTo>
                      <a:pt x="259549" y="17310"/>
                    </a:lnTo>
                    <a:lnTo>
                      <a:pt x="208661" y="34620"/>
                    </a:lnTo>
                    <a:lnTo>
                      <a:pt x="157772" y="60579"/>
                    </a:lnTo>
                    <a:lnTo>
                      <a:pt x="111963" y="95199"/>
                    </a:lnTo>
                    <a:lnTo>
                      <a:pt x="76339" y="129819"/>
                    </a:lnTo>
                    <a:lnTo>
                      <a:pt x="40716" y="173101"/>
                    </a:lnTo>
                    <a:lnTo>
                      <a:pt x="20358" y="220700"/>
                    </a:lnTo>
                    <a:lnTo>
                      <a:pt x="5092" y="272630"/>
                    </a:lnTo>
                    <a:lnTo>
                      <a:pt x="0" y="324561"/>
                    </a:lnTo>
                    <a:lnTo>
                      <a:pt x="0" y="350532"/>
                    </a:lnTo>
                    <a:lnTo>
                      <a:pt x="5092" y="402463"/>
                    </a:lnTo>
                    <a:lnTo>
                      <a:pt x="20358" y="450062"/>
                    </a:lnTo>
                    <a:lnTo>
                      <a:pt x="40716" y="497662"/>
                    </a:lnTo>
                    <a:lnTo>
                      <a:pt x="76339" y="540943"/>
                    </a:lnTo>
                    <a:lnTo>
                      <a:pt x="111963" y="579894"/>
                    </a:lnTo>
                    <a:lnTo>
                      <a:pt x="157772" y="610184"/>
                    </a:lnTo>
                    <a:lnTo>
                      <a:pt x="208661" y="636143"/>
                    </a:lnTo>
                    <a:lnTo>
                      <a:pt x="259549" y="657783"/>
                    </a:lnTo>
                    <a:lnTo>
                      <a:pt x="320624" y="670763"/>
                    </a:lnTo>
                    <a:lnTo>
                      <a:pt x="381698" y="675093"/>
                    </a:lnTo>
                    <a:lnTo>
                      <a:pt x="412229" y="675093"/>
                    </a:lnTo>
                    <a:lnTo>
                      <a:pt x="473303" y="670763"/>
                    </a:lnTo>
                    <a:lnTo>
                      <a:pt x="534377" y="657783"/>
                    </a:lnTo>
                    <a:lnTo>
                      <a:pt x="590359" y="636143"/>
                    </a:lnTo>
                    <a:lnTo>
                      <a:pt x="636168" y="610184"/>
                    </a:lnTo>
                    <a:lnTo>
                      <a:pt x="681964" y="579894"/>
                    </a:lnTo>
                    <a:lnTo>
                      <a:pt x="722680" y="540943"/>
                    </a:lnTo>
                    <a:lnTo>
                      <a:pt x="753224" y="497662"/>
                    </a:lnTo>
                    <a:lnTo>
                      <a:pt x="773569" y="450062"/>
                    </a:lnTo>
                    <a:lnTo>
                      <a:pt x="788847" y="402463"/>
                    </a:lnTo>
                    <a:lnTo>
                      <a:pt x="793927" y="350532"/>
                    </a:lnTo>
                    <a:lnTo>
                      <a:pt x="793927" y="346202"/>
                    </a:lnTo>
                    <a:lnTo>
                      <a:pt x="793927" y="324561"/>
                    </a:lnTo>
                    <a:lnTo>
                      <a:pt x="793927" y="32023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3378144" y="1940200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0"/>
                    </a:moveTo>
                    <a:lnTo>
                      <a:pt x="0" y="25965"/>
                    </a:lnTo>
                  </a:path>
                </a:pathLst>
              </a:custGeom>
              <a:ln w="3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2416265" y="2433540"/>
                <a:ext cx="1155700" cy="493395"/>
              </a:xfrm>
              <a:custGeom>
                <a:avLst/>
                <a:gdLst/>
                <a:ahLst/>
                <a:cxnLst/>
                <a:rect l="l" t="t" r="r" b="b"/>
                <a:pathLst>
                  <a:path w="1155700" h="493394">
                    <a:moveTo>
                      <a:pt x="0" y="2163"/>
                    </a:moveTo>
                    <a:lnTo>
                      <a:pt x="1155273" y="2163"/>
                    </a:lnTo>
                  </a:path>
                  <a:path w="1155700" h="493394">
                    <a:moveTo>
                      <a:pt x="1152728" y="0"/>
                    </a:moveTo>
                    <a:lnTo>
                      <a:pt x="1152728" y="493339"/>
                    </a:lnTo>
                  </a:path>
                  <a:path w="1155700" h="493394">
                    <a:moveTo>
                      <a:pt x="5089" y="491175"/>
                    </a:moveTo>
                    <a:lnTo>
                      <a:pt x="1155273" y="491175"/>
                    </a:lnTo>
                  </a:path>
                  <a:path w="1155700" h="493394">
                    <a:moveTo>
                      <a:pt x="7633" y="0"/>
                    </a:moveTo>
                    <a:lnTo>
                      <a:pt x="7633" y="493339"/>
                    </a:lnTo>
                  </a:path>
                </a:pathLst>
              </a:custGeom>
              <a:ln w="47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20" name="object 20"/>
            <p:cNvSpPr txBox="1"/>
            <p:nvPr/>
          </p:nvSpPr>
          <p:spPr>
            <a:xfrm>
              <a:off x="2650475" y="1637710"/>
              <a:ext cx="211231" cy="163544"/>
            </a:xfrm>
            <a:prstGeom prst="rect">
              <a:avLst/>
            </a:prstGeom>
          </p:spPr>
          <p:txBody>
            <a:bodyPr vert="horz" wrap="square" lIns="0" tIns="14007" rIns="0" bIns="0" rtlCol="0">
              <a:spAutoFit/>
            </a:bodyPr>
            <a:lstStyle/>
            <a:p>
              <a:pPr marL="33619">
                <a:spcBef>
                  <a:spcPts val="110"/>
                </a:spcBef>
              </a:pPr>
              <a:r>
                <a:rPr sz="971" spc="-22" dirty="0">
                  <a:latin typeface="Arial MT"/>
                  <a:cs typeface="Arial MT"/>
                </a:rPr>
                <a:t>P</a:t>
              </a:r>
              <a:r>
                <a:rPr sz="1191" spc="-33" baseline="-18518" dirty="0">
                  <a:latin typeface="Arial MT"/>
                  <a:cs typeface="Arial MT"/>
                </a:rPr>
                <a:t>1</a:t>
              </a:r>
              <a:endParaRPr sz="1191" baseline="-18518">
                <a:latin typeface="Arial MT"/>
                <a:cs typeface="Arial MT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2722282" y="2279205"/>
              <a:ext cx="105335" cy="163544"/>
            </a:xfrm>
            <a:prstGeom prst="rect">
              <a:avLst/>
            </a:prstGeom>
          </p:spPr>
          <p:txBody>
            <a:bodyPr vert="horz" wrap="square" lIns="0" tIns="14007" rIns="0" bIns="0" rtlCol="0">
              <a:spAutoFit/>
            </a:bodyPr>
            <a:lstStyle/>
            <a:p>
              <a:pPr marL="11206">
                <a:spcBef>
                  <a:spcPts val="110"/>
                </a:spcBef>
              </a:pPr>
              <a:r>
                <a:rPr sz="971" spc="62" dirty="0">
                  <a:latin typeface="Arial MT"/>
                  <a:cs typeface="Arial MT"/>
                </a:rPr>
                <a:t>$</a:t>
              </a:r>
              <a:endParaRPr sz="971">
                <a:latin typeface="Arial MT"/>
                <a:cs typeface="Arial MT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3133142" y="1967786"/>
              <a:ext cx="907116" cy="794497"/>
            </a:xfrm>
            <a:custGeom>
              <a:avLst/>
              <a:gdLst/>
              <a:ahLst/>
              <a:cxnLst/>
              <a:rect l="l" t="t" r="r" b="b"/>
              <a:pathLst>
                <a:path w="1028064" h="900430">
                  <a:moveTo>
                    <a:pt x="1028039" y="0"/>
                  </a:moveTo>
                  <a:lnTo>
                    <a:pt x="1022946" y="0"/>
                  </a:lnTo>
                  <a:lnTo>
                    <a:pt x="972058" y="77889"/>
                  </a:lnTo>
                  <a:lnTo>
                    <a:pt x="931341" y="155790"/>
                  </a:lnTo>
                  <a:lnTo>
                    <a:pt x="890625" y="233680"/>
                  </a:lnTo>
                  <a:lnTo>
                    <a:pt x="849922" y="315899"/>
                  </a:lnTo>
                  <a:lnTo>
                    <a:pt x="814285" y="402450"/>
                  </a:lnTo>
                  <a:lnTo>
                    <a:pt x="768489" y="480352"/>
                  </a:lnTo>
                  <a:lnTo>
                    <a:pt x="717588" y="562571"/>
                  </a:lnTo>
                  <a:lnTo>
                    <a:pt x="661606" y="636143"/>
                  </a:lnTo>
                  <a:lnTo>
                    <a:pt x="590359" y="705383"/>
                  </a:lnTo>
                  <a:lnTo>
                    <a:pt x="508927" y="770293"/>
                  </a:lnTo>
                  <a:lnTo>
                    <a:pt x="463130" y="796264"/>
                  </a:lnTo>
                  <a:lnTo>
                    <a:pt x="417322" y="817892"/>
                  </a:lnTo>
                  <a:lnTo>
                    <a:pt x="366433" y="839533"/>
                  </a:lnTo>
                  <a:lnTo>
                    <a:pt x="315544" y="852525"/>
                  </a:lnTo>
                  <a:lnTo>
                    <a:pt x="264642" y="861174"/>
                  </a:lnTo>
                  <a:lnTo>
                    <a:pt x="213753" y="874153"/>
                  </a:lnTo>
                  <a:lnTo>
                    <a:pt x="157772" y="878484"/>
                  </a:lnTo>
                  <a:lnTo>
                    <a:pt x="106883" y="887145"/>
                  </a:lnTo>
                  <a:lnTo>
                    <a:pt x="50888" y="891463"/>
                  </a:lnTo>
                  <a:lnTo>
                    <a:pt x="0" y="895794"/>
                  </a:lnTo>
                  <a:lnTo>
                    <a:pt x="0" y="900125"/>
                  </a:lnTo>
                  <a:lnTo>
                    <a:pt x="5092" y="900125"/>
                  </a:lnTo>
                  <a:lnTo>
                    <a:pt x="55981" y="895794"/>
                  </a:lnTo>
                  <a:lnTo>
                    <a:pt x="111963" y="891463"/>
                  </a:lnTo>
                  <a:lnTo>
                    <a:pt x="162864" y="882815"/>
                  </a:lnTo>
                  <a:lnTo>
                    <a:pt x="218846" y="878484"/>
                  </a:lnTo>
                  <a:lnTo>
                    <a:pt x="269735" y="865505"/>
                  </a:lnTo>
                  <a:lnTo>
                    <a:pt x="320624" y="856843"/>
                  </a:lnTo>
                  <a:lnTo>
                    <a:pt x="371525" y="843864"/>
                  </a:lnTo>
                  <a:lnTo>
                    <a:pt x="422414" y="822223"/>
                  </a:lnTo>
                  <a:lnTo>
                    <a:pt x="468223" y="800582"/>
                  </a:lnTo>
                  <a:lnTo>
                    <a:pt x="514019" y="774623"/>
                  </a:lnTo>
                  <a:lnTo>
                    <a:pt x="595452" y="709714"/>
                  </a:lnTo>
                  <a:lnTo>
                    <a:pt x="666699" y="640473"/>
                  </a:lnTo>
                  <a:lnTo>
                    <a:pt x="722680" y="566902"/>
                  </a:lnTo>
                  <a:lnTo>
                    <a:pt x="773582" y="484682"/>
                  </a:lnTo>
                  <a:lnTo>
                    <a:pt x="819378" y="406781"/>
                  </a:lnTo>
                  <a:lnTo>
                    <a:pt x="855002" y="320230"/>
                  </a:lnTo>
                  <a:lnTo>
                    <a:pt x="895718" y="238010"/>
                  </a:lnTo>
                  <a:lnTo>
                    <a:pt x="936434" y="160108"/>
                  </a:lnTo>
                  <a:lnTo>
                    <a:pt x="977150" y="82219"/>
                  </a:lnTo>
                  <a:lnTo>
                    <a:pt x="1028039" y="4318"/>
                  </a:lnTo>
                  <a:lnTo>
                    <a:pt x="10280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3898810" y="1784740"/>
              <a:ext cx="708212" cy="163544"/>
            </a:xfrm>
            <a:prstGeom prst="rect">
              <a:avLst/>
            </a:prstGeom>
          </p:spPr>
          <p:txBody>
            <a:bodyPr vert="horz" wrap="square" lIns="0" tIns="14007" rIns="0" bIns="0" rtlCol="0">
              <a:spAutoFit/>
            </a:bodyPr>
            <a:lstStyle/>
            <a:p>
              <a:pPr marL="11206">
                <a:spcBef>
                  <a:spcPts val="110"/>
                </a:spcBef>
              </a:pPr>
              <a:r>
                <a:rPr sz="971" spc="97" dirty="0">
                  <a:latin typeface="Arial MT"/>
                  <a:cs typeface="Arial MT"/>
                </a:rPr>
                <a:t>Bus</a:t>
              </a:r>
              <a:r>
                <a:rPr sz="971" spc="26" dirty="0">
                  <a:latin typeface="Arial MT"/>
                  <a:cs typeface="Arial MT"/>
                </a:rPr>
                <a:t> </a:t>
              </a:r>
              <a:r>
                <a:rPr sz="971" spc="84" dirty="0">
                  <a:latin typeface="Arial MT"/>
                  <a:cs typeface="Arial MT"/>
                </a:rPr>
                <a:t>snoop</a:t>
              </a:r>
              <a:endParaRPr sz="971">
                <a:latin typeface="Arial MT"/>
                <a:cs typeface="Arial MT"/>
              </a:endParaRPr>
            </a:p>
          </p:txBody>
        </p:sp>
        <p:grpSp>
          <p:nvGrpSpPr>
            <p:cNvPr id="24" name="object 24"/>
            <p:cNvGrpSpPr/>
            <p:nvPr/>
          </p:nvGrpSpPr>
          <p:grpSpPr>
            <a:xfrm>
              <a:off x="6642812" y="1425560"/>
              <a:ext cx="1023657" cy="1469091"/>
              <a:chOff x="7376119" y="1615635"/>
              <a:chExt cx="1160145" cy="1664970"/>
            </a:xfrm>
          </p:grpSpPr>
          <p:sp>
            <p:nvSpPr>
              <p:cNvPr id="25" name="object 25"/>
              <p:cNvSpPr/>
              <p:nvPr/>
            </p:nvSpPr>
            <p:spPr>
              <a:xfrm>
                <a:off x="7958523" y="2264766"/>
                <a:ext cx="0" cy="1000125"/>
              </a:xfrm>
              <a:custGeom>
                <a:avLst/>
                <a:gdLst/>
                <a:ahLst/>
                <a:cxnLst/>
                <a:rect l="l" t="t" r="r" b="b"/>
                <a:pathLst>
                  <a:path h="1000125">
                    <a:moveTo>
                      <a:pt x="0" y="662113"/>
                    </a:moveTo>
                    <a:lnTo>
                      <a:pt x="0" y="999661"/>
                    </a:lnTo>
                  </a:path>
                  <a:path h="1000125">
                    <a:moveTo>
                      <a:pt x="0" y="0"/>
                    </a:moveTo>
                    <a:lnTo>
                      <a:pt x="0" y="173101"/>
                    </a:lnTo>
                  </a:path>
                </a:pathLst>
              </a:custGeom>
              <a:ln w="3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6" name="object 26"/>
              <p:cNvSpPr/>
              <p:nvPr/>
            </p:nvSpPr>
            <p:spPr>
              <a:xfrm>
                <a:off x="7576824" y="1628618"/>
                <a:ext cx="763905" cy="649605"/>
              </a:xfrm>
              <a:custGeom>
                <a:avLst/>
                <a:gdLst/>
                <a:ahLst/>
                <a:cxnLst/>
                <a:rect l="l" t="t" r="r" b="b"/>
                <a:pathLst>
                  <a:path w="763904" h="649605">
                    <a:moveTo>
                      <a:pt x="381698" y="0"/>
                    </a:moveTo>
                    <a:lnTo>
                      <a:pt x="320626" y="4326"/>
                    </a:lnTo>
                    <a:lnTo>
                      <a:pt x="259554" y="17310"/>
                    </a:lnTo>
                    <a:lnTo>
                      <a:pt x="208662" y="34620"/>
                    </a:lnTo>
                    <a:lnTo>
                      <a:pt x="157769" y="60585"/>
                    </a:lnTo>
                    <a:lnTo>
                      <a:pt x="111965" y="95205"/>
                    </a:lnTo>
                    <a:lnTo>
                      <a:pt x="76339" y="129825"/>
                    </a:lnTo>
                    <a:lnTo>
                      <a:pt x="40714" y="173100"/>
                    </a:lnTo>
                    <a:lnTo>
                      <a:pt x="20358" y="220704"/>
                    </a:lnTo>
                    <a:lnTo>
                      <a:pt x="5090" y="272634"/>
                    </a:lnTo>
                    <a:lnTo>
                      <a:pt x="0" y="324565"/>
                    </a:lnTo>
                    <a:lnTo>
                      <a:pt x="5090" y="376495"/>
                    </a:lnTo>
                    <a:lnTo>
                      <a:pt x="20358" y="424098"/>
                    </a:lnTo>
                    <a:lnTo>
                      <a:pt x="40714" y="471700"/>
                    </a:lnTo>
                    <a:lnTo>
                      <a:pt x="76339" y="514977"/>
                    </a:lnTo>
                    <a:lnTo>
                      <a:pt x="111965" y="553924"/>
                    </a:lnTo>
                    <a:lnTo>
                      <a:pt x="157769" y="584217"/>
                    </a:lnTo>
                    <a:lnTo>
                      <a:pt x="208662" y="610182"/>
                    </a:lnTo>
                    <a:lnTo>
                      <a:pt x="259554" y="631819"/>
                    </a:lnTo>
                    <a:lnTo>
                      <a:pt x="320626" y="644803"/>
                    </a:lnTo>
                    <a:lnTo>
                      <a:pt x="381698" y="649130"/>
                    </a:lnTo>
                    <a:lnTo>
                      <a:pt x="442770" y="644803"/>
                    </a:lnTo>
                    <a:lnTo>
                      <a:pt x="503842" y="631819"/>
                    </a:lnTo>
                    <a:lnTo>
                      <a:pt x="559824" y="610182"/>
                    </a:lnTo>
                    <a:lnTo>
                      <a:pt x="605628" y="584217"/>
                    </a:lnTo>
                    <a:lnTo>
                      <a:pt x="651432" y="553924"/>
                    </a:lnTo>
                    <a:lnTo>
                      <a:pt x="692146" y="514977"/>
                    </a:lnTo>
                    <a:lnTo>
                      <a:pt x="722682" y="471700"/>
                    </a:lnTo>
                    <a:lnTo>
                      <a:pt x="743040" y="424098"/>
                    </a:lnTo>
                    <a:lnTo>
                      <a:pt x="758308" y="376495"/>
                    </a:lnTo>
                    <a:lnTo>
                      <a:pt x="763193" y="322487"/>
                    </a:lnTo>
                    <a:lnTo>
                      <a:pt x="758308" y="272634"/>
                    </a:lnTo>
                    <a:lnTo>
                      <a:pt x="743040" y="220704"/>
                    </a:lnTo>
                    <a:lnTo>
                      <a:pt x="722682" y="173100"/>
                    </a:lnTo>
                    <a:lnTo>
                      <a:pt x="692146" y="129825"/>
                    </a:lnTo>
                    <a:lnTo>
                      <a:pt x="651432" y="95205"/>
                    </a:lnTo>
                    <a:lnTo>
                      <a:pt x="605628" y="60585"/>
                    </a:lnTo>
                    <a:lnTo>
                      <a:pt x="559824" y="34620"/>
                    </a:lnTo>
                    <a:lnTo>
                      <a:pt x="503842" y="17310"/>
                    </a:lnTo>
                    <a:lnTo>
                      <a:pt x="442770" y="4326"/>
                    </a:lnTo>
                    <a:lnTo>
                      <a:pt x="381698" y="0"/>
                    </a:lnTo>
                    <a:close/>
                  </a:path>
                  <a:path w="763904" h="649605">
                    <a:moveTo>
                      <a:pt x="763397" y="320236"/>
                    </a:moveTo>
                    <a:lnTo>
                      <a:pt x="763193" y="322487"/>
                    </a:lnTo>
                    <a:lnTo>
                      <a:pt x="763397" y="324565"/>
                    </a:lnTo>
                    <a:lnTo>
                      <a:pt x="763397" y="32023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7" name="object 27"/>
              <p:cNvSpPr/>
              <p:nvPr/>
            </p:nvSpPr>
            <p:spPr>
              <a:xfrm>
                <a:off x="7561555" y="1615642"/>
                <a:ext cx="794385" cy="675640"/>
              </a:xfrm>
              <a:custGeom>
                <a:avLst/>
                <a:gdLst/>
                <a:ahLst/>
                <a:cxnLst/>
                <a:rect l="l" t="t" r="r" b="b"/>
                <a:pathLst>
                  <a:path w="794384" h="675639">
                    <a:moveTo>
                      <a:pt x="793927" y="320230"/>
                    </a:moveTo>
                    <a:lnTo>
                      <a:pt x="788835" y="272630"/>
                    </a:lnTo>
                    <a:lnTo>
                      <a:pt x="773569" y="220700"/>
                    </a:lnTo>
                    <a:lnTo>
                      <a:pt x="762279" y="194310"/>
                    </a:lnTo>
                    <a:lnTo>
                      <a:pt x="762279" y="335864"/>
                    </a:lnTo>
                    <a:lnTo>
                      <a:pt x="758304" y="376491"/>
                    </a:lnTo>
                    <a:lnTo>
                      <a:pt x="743038" y="424091"/>
                    </a:lnTo>
                    <a:lnTo>
                      <a:pt x="722680" y="471703"/>
                    </a:lnTo>
                    <a:lnTo>
                      <a:pt x="692137" y="514972"/>
                    </a:lnTo>
                    <a:lnTo>
                      <a:pt x="651433" y="553923"/>
                    </a:lnTo>
                    <a:lnTo>
                      <a:pt x="605624" y="584212"/>
                    </a:lnTo>
                    <a:lnTo>
                      <a:pt x="559816" y="610184"/>
                    </a:lnTo>
                    <a:lnTo>
                      <a:pt x="503834" y="631825"/>
                    </a:lnTo>
                    <a:lnTo>
                      <a:pt x="442760" y="644804"/>
                    </a:lnTo>
                    <a:lnTo>
                      <a:pt x="396951" y="648055"/>
                    </a:lnTo>
                    <a:lnTo>
                      <a:pt x="351155" y="644804"/>
                    </a:lnTo>
                    <a:lnTo>
                      <a:pt x="290080" y="631825"/>
                    </a:lnTo>
                    <a:lnTo>
                      <a:pt x="239191" y="610184"/>
                    </a:lnTo>
                    <a:lnTo>
                      <a:pt x="188302" y="584212"/>
                    </a:lnTo>
                    <a:lnTo>
                      <a:pt x="142494" y="553923"/>
                    </a:lnTo>
                    <a:lnTo>
                      <a:pt x="106870" y="514972"/>
                    </a:lnTo>
                    <a:lnTo>
                      <a:pt x="71247" y="471703"/>
                    </a:lnTo>
                    <a:lnTo>
                      <a:pt x="50888" y="424091"/>
                    </a:lnTo>
                    <a:lnTo>
                      <a:pt x="35623" y="376491"/>
                    </a:lnTo>
                    <a:lnTo>
                      <a:pt x="31800" y="337553"/>
                    </a:lnTo>
                    <a:lnTo>
                      <a:pt x="35623" y="298602"/>
                    </a:lnTo>
                    <a:lnTo>
                      <a:pt x="50888" y="246672"/>
                    </a:lnTo>
                    <a:lnTo>
                      <a:pt x="71247" y="199059"/>
                    </a:lnTo>
                    <a:lnTo>
                      <a:pt x="106870" y="155790"/>
                    </a:lnTo>
                    <a:lnTo>
                      <a:pt x="142494" y="121170"/>
                    </a:lnTo>
                    <a:lnTo>
                      <a:pt x="188302" y="86550"/>
                    </a:lnTo>
                    <a:lnTo>
                      <a:pt x="239191" y="60579"/>
                    </a:lnTo>
                    <a:lnTo>
                      <a:pt x="290080" y="43268"/>
                    </a:lnTo>
                    <a:lnTo>
                      <a:pt x="351155" y="30289"/>
                    </a:lnTo>
                    <a:lnTo>
                      <a:pt x="396951" y="27051"/>
                    </a:lnTo>
                    <a:lnTo>
                      <a:pt x="442760" y="30289"/>
                    </a:lnTo>
                    <a:lnTo>
                      <a:pt x="503834" y="43268"/>
                    </a:lnTo>
                    <a:lnTo>
                      <a:pt x="559816" y="60579"/>
                    </a:lnTo>
                    <a:lnTo>
                      <a:pt x="605624" y="86550"/>
                    </a:lnTo>
                    <a:lnTo>
                      <a:pt x="651433" y="121170"/>
                    </a:lnTo>
                    <a:lnTo>
                      <a:pt x="692137" y="155790"/>
                    </a:lnTo>
                    <a:lnTo>
                      <a:pt x="722680" y="199059"/>
                    </a:lnTo>
                    <a:lnTo>
                      <a:pt x="743038" y="246672"/>
                    </a:lnTo>
                    <a:lnTo>
                      <a:pt x="758304" y="298602"/>
                    </a:lnTo>
                    <a:lnTo>
                      <a:pt x="762279" y="335864"/>
                    </a:lnTo>
                    <a:lnTo>
                      <a:pt x="762279" y="194310"/>
                    </a:lnTo>
                    <a:lnTo>
                      <a:pt x="722680" y="129819"/>
                    </a:lnTo>
                    <a:lnTo>
                      <a:pt x="681964" y="95199"/>
                    </a:lnTo>
                    <a:lnTo>
                      <a:pt x="636155" y="60579"/>
                    </a:lnTo>
                    <a:lnTo>
                      <a:pt x="590359" y="34620"/>
                    </a:lnTo>
                    <a:lnTo>
                      <a:pt x="534377" y="17310"/>
                    </a:lnTo>
                    <a:lnTo>
                      <a:pt x="473303" y="4330"/>
                    </a:lnTo>
                    <a:lnTo>
                      <a:pt x="412229" y="0"/>
                    </a:lnTo>
                    <a:lnTo>
                      <a:pt x="381698" y="0"/>
                    </a:lnTo>
                    <a:lnTo>
                      <a:pt x="320624" y="4330"/>
                    </a:lnTo>
                    <a:lnTo>
                      <a:pt x="259549" y="17310"/>
                    </a:lnTo>
                    <a:lnTo>
                      <a:pt x="208661" y="34620"/>
                    </a:lnTo>
                    <a:lnTo>
                      <a:pt x="157759" y="60579"/>
                    </a:lnTo>
                    <a:lnTo>
                      <a:pt x="111963" y="95199"/>
                    </a:lnTo>
                    <a:lnTo>
                      <a:pt x="76339" y="129819"/>
                    </a:lnTo>
                    <a:lnTo>
                      <a:pt x="40716" y="173101"/>
                    </a:lnTo>
                    <a:lnTo>
                      <a:pt x="20358" y="220700"/>
                    </a:lnTo>
                    <a:lnTo>
                      <a:pt x="5080" y="272630"/>
                    </a:lnTo>
                    <a:lnTo>
                      <a:pt x="0" y="324561"/>
                    </a:lnTo>
                    <a:lnTo>
                      <a:pt x="0" y="350532"/>
                    </a:lnTo>
                    <a:lnTo>
                      <a:pt x="5080" y="402463"/>
                    </a:lnTo>
                    <a:lnTo>
                      <a:pt x="20358" y="450062"/>
                    </a:lnTo>
                    <a:lnTo>
                      <a:pt x="40716" y="497662"/>
                    </a:lnTo>
                    <a:lnTo>
                      <a:pt x="76339" y="540943"/>
                    </a:lnTo>
                    <a:lnTo>
                      <a:pt x="111963" y="579894"/>
                    </a:lnTo>
                    <a:lnTo>
                      <a:pt x="157759" y="610184"/>
                    </a:lnTo>
                    <a:lnTo>
                      <a:pt x="208661" y="636143"/>
                    </a:lnTo>
                    <a:lnTo>
                      <a:pt x="259549" y="657783"/>
                    </a:lnTo>
                    <a:lnTo>
                      <a:pt x="320624" y="670763"/>
                    </a:lnTo>
                    <a:lnTo>
                      <a:pt x="381698" y="675093"/>
                    </a:lnTo>
                    <a:lnTo>
                      <a:pt x="412229" y="675093"/>
                    </a:lnTo>
                    <a:lnTo>
                      <a:pt x="473303" y="670763"/>
                    </a:lnTo>
                    <a:lnTo>
                      <a:pt x="534377" y="657783"/>
                    </a:lnTo>
                    <a:lnTo>
                      <a:pt x="590359" y="636143"/>
                    </a:lnTo>
                    <a:lnTo>
                      <a:pt x="636155" y="610184"/>
                    </a:lnTo>
                    <a:lnTo>
                      <a:pt x="681964" y="579894"/>
                    </a:lnTo>
                    <a:lnTo>
                      <a:pt x="722680" y="540943"/>
                    </a:lnTo>
                    <a:lnTo>
                      <a:pt x="753211" y="497662"/>
                    </a:lnTo>
                    <a:lnTo>
                      <a:pt x="773569" y="450062"/>
                    </a:lnTo>
                    <a:lnTo>
                      <a:pt x="788835" y="402463"/>
                    </a:lnTo>
                    <a:lnTo>
                      <a:pt x="793927" y="350532"/>
                    </a:lnTo>
                    <a:lnTo>
                      <a:pt x="793927" y="346202"/>
                    </a:lnTo>
                    <a:lnTo>
                      <a:pt x="793927" y="324561"/>
                    </a:lnTo>
                    <a:lnTo>
                      <a:pt x="793927" y="32023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8" name="object 28"/>
              <p:cNvSpPr/>
              <p:nvPr/>
            </p:nvSpPr>
            <p:spPr>
              <a:xfrm>
                <a:off x="8340221" y="1940200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0"/>
                    </a:moveTo>
                    <a:lnTo>
                      <a:pt x="0" y="25965"/>
                    </a:lnTo>
                  </a:path>
                </a:pathLst>
              </a:custGeom>
              <a:ln w="3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9" name="object 29"/>
              <p:cNvSpPr/>
              <p:nvPr/>
            </p:nvSpPr>
            <p:spPr>
              <a:xfrm>
                <a:off x="7378342" y="2433540"/>
                <a:ext cx="1155700" cy="493395"/>
              </a:xfrm>
              <a:custGeom>
                <a:avLst/>
                <a:gdLst/>
                <a:ahLst/>
                <a:cxnLst/>
                <a:rect l="l" t="t" r="r" b="b"/>
                <a:pathLst>
                  <a:path w="1155700" h="493394">
                    <a:moveTo>
                      <a:pt x="0" y="2163"/>
                    </a:moveTo>
                    <a:lnTo>
                      <a:pt x="1155273" y="2163"/>
                    </a:lnTo>
                  </a:path>
                  <a:path w="1155700" h="493394">
                    <a:moveTo>
                      <a:pt x="1152728" y="0"/>
                    </a:moveTo>
                    <a:lnTo>
                      <a:pt x="1152728" y="493339"/>
                    </a:lnTo>
                  </a:path>
                  <a:path w="1155700" h="493394">
                    <a:moveTo>
                      <a:pt x="5089" y="491175"/>
                    </a:moveTo>
                    <a:lnTo>
                      <a:pt x="1155273" y="491175"/>
                    </a:lnTo>
                  </a:path>
                  <a:path w="1155700" h="493394">
                    <a:moveTo>
                      <a:pt x="7633" y="0"/>
                    </a:moveTo>
                    <a:lnTo>
                      <a:pt x="7633" y="493339"/>
                    </a:lnTo>
                  </a:path>
                </a:pathLst>
              </a:custGeom>
              <a:ln w="47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30" name="object 30"/>
            <p:cNvSpPr txBox="1"/>
            <p:nvPr/>
          </p:nvSpPr>
          <p:spPr>
            <a:xfrm>
              <a:off x="7100585" y="2269680"/>
              <a:ext cx="105335" cy="163544"/>
            </a:xfrm>
            <a:prstGeom prst="rect">
              <a:avLst/>
            </a:prstGeom>
          </p:spPr>
          <p:txBody>
            <a:bodyPr vert="horz" wrap="square" lIns="0" tIns="14007" rIns="0" bIns="0" rtlCol="0">
              <a:spAutoFit/>
            </a:bodyPr>
            <a:lstStyle/>
            <a:p>
              <a:pPr marL="11206">
                <a:spcBef>
                  <a:spcPts val="110"/>
                </a:spcBef>
              </a:pPr>
              <a:r>
                <a:rPr sz="971" spc="62" dirty="0">
                  <a:latin typeface="Arial MT"/>
                  <a:cs typeface="Arial MT"/>
                </a:rPr>
                <a:t>$</a:t>
              </a:r>
              <a:endParaRPr sz="971">
                <a:latin typeface="Arial MT"/>
                <a:cs typeface="Arial MT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7051230" y="1616730"/>
              <a:ext cx="206749" cy="163544"/>
            </a:xfrm>
            <a:prstGeom prst="rect">
              <a:avLst/>
            </a:prstGeom>
          </p:spPr>
          <p:txBody>
            <a:bodyPr vert="horz" wrap="square" lIns="0" tIns="14007" rIns="0" bIns="0" rtlCol="0">
              <a:spAutoFit/>
            </a:bodyPr>
            <a:lstStyle/>
            <a:p>
              <a:pPr marL="33619">
                <a:spcBef>
                  <a:spcPts val="110"/>
                </a:spcBef>
              </a:pPr>
              <a:r>
                <a:rPr sz="971" spc="-22" dirty="0">
                  <a:latin typeface="Arial MT"/>
                  <a:cs typeface="Arial MT"/>
                </a:rPr>
                <a:t>P</a:t>
              </a:r>
              <a:r>
                <a:rPr sz="1191" spc="-33" baseline="-15432" dirty="0">
                  <a:latin typeface="Arial MT"/>
                  <a:cs typeface="Arial MT"/>
                </a:rPr>
                <a:t>n</a:t>
              </a:r>
              <a:endParaRPr sz="1191" baseline="-15432">
                <a:latin typeface="Arial MT"/>
                <a:cs typeface="Arial MT"/>
              </a:endParaRPr>
            </a:p>
          </p:txBody>
        </p:sp>
        <p:grpSp>
          <p:nvGrpSpPr>
            <p:cNvPr id="32" name="object 32"/>
            <p:cNvGrpSpPr/>
            <p:nvPr/>
          </p:nvGrpSpPr>
          <p:grpSpPr>
            <a:xfrm>
              <a:off x="3319248" y="2720005"/>
              <a:ext cx="4677335" cy="691403"/>
              <a:chOff x="3609414" y="3082672"/>
              <a:chExt cx="5300980" cy="783590"/>
            </a:xfrm>
          </p:grpSpPr>
          <p:sp>
            <p:nvSpPr>
              <p:cNvPr id="33" name="object 33"/>
              <p:cNvSpPr/>
              <p:nvPr/>
            </p:nvSpPr>
            <p:spPr>
              <a:xfrm>
                <a:off x="4752251" y="3381273"/>
                <a:ext cx="509270" cy="485140"/>
              </a:xfrm>
              <a:custGeom>
                <a:avLst/>
                <a:gdLst/>
                <a:ahLst/>
                <a:cxnLst/>
                <a:rect l="l" t="t" r="r" b="b"/>
                <a:pathLst>
                  <a:path w="509270" h="485139">
                    <a:moveTo>
                      <a:pt x="508927" y="0"/>
                    </a:moveTo>
                    <a:lnTo>
                      <a:pt x="478396" y="0"/>
                    </a:lnTo>
                    <a:lnTo>
                      <a:pt x="422414" y="4330"/>
                    </a:lnTo>
                    <a:lnTo>
                      <a:pt x="366433" y="12992"/>
                    </a:lnTo>
                    <a:lnTo>
                      <a:pt x="310451" y="30302"/>
                    </a:lnTo>
                    <a:lnTo>
                      <a:pt x="259549" y="51930"/>
                    </a:lnTo>
                    <a:lnTo>
                      <a:pt x="208661" y="77901"/>
                    </a:lnTo>
                    <a:lnTo>
                      <a:pt x="167944" y="112522"/>
                    </a:lnTo>
                    <a:lnTo>
                      <a:pt x="127228" y="151472"/>
                    </a:lnTo>
                    <a:lnTo>
                      <a:pt x="96697" y="194741"/>
                    </a:lnTo>
                    <a:lnTo>
                      <a:pt x="71247" y="242341"/>
                    </a:lnTo>
                    <a:lnTo>
                      <a:pt x="50888" y="294271"/>
                    </a:lnTo>
                    <a:lnTo>
                      <a:pt x="50888" y="306400"/>
                    </a:lnTo>
                    <a:lnTo>
                      <a:pt x="30530" y="302933"/>
                    </a:lnTo>
                    <a:lnTo>
                      <a:pt x="0" y="302933"/>
                    </a:lnTo>
                    <a:lnTo>
                      <a:pt x="0" y="328891"/>
                    </a:lnTo>
                    <a:lnTo>
                      <a:pt x="25450" y="484682"/>
                    </a:lnTo>
                    <a:lnTo>
                      <a:pt x="55981" y="484682"/>
                    </a:lnTo>
                    <a:lnTo>
                      <a:pt x="132321" y="346202"/>
                    </a:lnTo>
                    <a:lnTo>
                      <a:pt x="132321" y="320243"/>
                    </a:lnTo>
                    <a:lnTo>
                      <a:pt x="86525" y="308571"/>
                    </a:lnTo>
                    <a:lnTo>
                      <a:pt x="86525" y="307263"/>
                    </a:lnTo>
                    <a:lnTo>
                      <a:pt x="101790" y="268312"/>
                    </a:lnTo>
                    <a:lnTo>
                      <a:pt x="127228" y="220713"/>
                    </a:lnTo>
                    <a:lnTo>
                      <a:pt x="157772" y="177431"/>
                    </a:lnTo>
                    <a:lnTo>
                      <a:pt x="198488" y="138480"/>
                    </a:lnTo>
                    <a:lnTo>
                      <a:pt x="239204" y="103860"/>
                    </a:lnTo>
                    <a:lnTo>
                      <a:pt x="290093" y="77901"/>
                    </a:lnTo>
                    <a:lnTo>
                      <a:pt x="340982" y="56261"/>
                    </a:lnTo>
                    <a:lnTo>
                      <a:pt x="396963" y="38950"/>
                    </a:lnTo>
                    <a:lnTo>
                      <a:pt x="452945" y="30302"/>
                    </a:lnTo>
                    <a:lnTo>
                      <a:pt x="508927" y="25971"/>
                    </a:lnTo>
                    <a:lnTo>
                      <a:pt x="508927" y="0"/>
                    </a:lnTo>
                    <a:close/>
                  </a:path>
                </a:pathLst>
              </a:custGeom>
              <a:solidFill>
                <a:srgbClr val="80808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4" name="object 34"/>
              <p:cNvSpPr/>
              <p:nvPr/>
            </p:nvSpPr>
            <p:spPr>
              <a:xfrm>
                <a:off x="3622431" y="3394254"/>
                <a:ext cx="435165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351655">
                    <a:moveTo>
                      <a:pt x="0" y="0"/>
                    </a:moveTo>
                    <a:lnTo>
                      <a:pt x="4351359" y="0"/>
                    </a:lnTo>
                  </a:path>
                </a:pathLst>
              </a:custGeom>
              <a:ln w="25965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5" name="object 35"/>
              <p:cNvSpPr/>
              <p:nvPr/>
            </p:nvSpPr>
            <p:spPr>
              <a:xfrm>
                <a:off x="8335124" y="3082683"/>
                <a:ext cx="575310" cy="328930"/>
              </a:xfrm>
              <a:custGeom>
                <a:avLst/>
                <a:gdLst/>
                <a:ahLst/>
                <a:cxnLst/>
                <a:rect l="l" t="t" r="r" b="b"/>
                <a:pathLst>
                  <a:path w="575309" h="328929">
                    <a:moveTo>
                      <a:pt x="575094" y="324561"/>
                    </a:moveTo>
                    <a:lnTo>
                      <a:pt x="570001" y="272630"/>
                    </a:lnTo>
                    <a:lnTo>
                      <a:pt x="549643" y="225031"/>
                    </a:lnTo>
                    <a:lnTo>
                      <a:pt x="514019" y="177419"/>
                    </a:lnTo>
                    <a:lnTo>
                      <a:pt x="468223" y="134150"/>
                    </a:lnTo>
                    <a:lnTo>
                      <a:pt x="412229" y="95199"/>
                    </a:lnTo>
                    <a:lnTo>
                      <a:pt x="340982" y="64909"/>
                    </a:lnTo>
                    <a:lnTo>
                      <a:pt x="269735" y="38938"/>
                    </a:lnTo>
                    <a:lnTo>
                      <a:pt x="188302" y="17310"/>
                    </a:lnTo>
                    <a:lnTo>
                      <a:pt x="96697" y="4318"/>
                    </a:lnTo>
                    <a:lnTo>
                      <a:pt x="5092" y="0"/>
                    </a:lnTo>
                    <a:lnTo>
                      <a:pt x="0" y="0"/>
                    </a:lnTo>
                    <a:lnTo>
                      <a:pt x="0" y="4318"/>
                    </a:lnTo>
                    <a:lnTo>
                      <a:pt x="91605" y="8648"/>
                    </a:lnTo>
                    <a:lnTo>
                      <a:pt x="183222" y="21628"/>
                    </a:lnTo>
                    <a:lnTo>
                      <a:pt x="264642" y="43268"/>
                    </a:lnTo>
                    <a:lnTo>
                      <a:pt x="335889" y="69240"/>
                    </a:lnTo>
                    <a:lnTo>
                      <a:pt x="407149" y="99529"/>
                    </a:lnTo>
                    <a:lnTo>
                      <a:pt x="463130" y="138480"/>
                    </a:lnTo>
                    <a:lnTo>
                      <a:pt x="508927" y="181749"/>
                    </a:lnTo>
                    <a:lnTo>
                      <a:pt x="544563" y="229349"/>
                    </a:lnTo>
                    <a:lnTo>
                      <a:pt x="564908" y="276961"/>
                    </a:lnTo>
                    <a:lnTo>
                      <a:pt x="570001" y="328891"/>
                    </a:lnTo>
                    <a:lnTo>
                      <a:pt x="575094" y="328891"/>
                    </a:lnTo>
                    <a:lnTo>
                      <a:pt x="575094" y="32456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36" name="object 36"/>
            <p:cNvSpPr txBox="1"/>
            <p:nvPr/>
          </p:nvSpPr>
          <p:spPr>
            <a:xfrm>
              <a:off x="7504736" y="2998997"/>
              <a:ext cx="999004" cy="163544"/>
            </a:xfrm>
            <a:prstGeom prst="rect">
              <a:avLst/>
            </a:prstGeom>
          </p:spPr>
          <p:txBody>
            <a:bodyPr vert="horz" wrap="square" lIns="0" tIns="14007" rIns="0" bIns="0" rtlCol="0">
              <a:spAutoFit/>
            </a:bodyPr>
            <a:lstStyle/>
            <a:p>
              <a:pPr marL="11206">
                <a:spcBef>
                  <a:spcPts val="110"/>
                </a:spcBef>
              </a:pPr>
              <a:r>
                <a:rPr sz="971" spc="75" dirty="0">
                  <a:latin typeface="Arial MT"/>
                  <a:cs typeface="Arial MT"/>
                </a:rPr>
                <a:t>Cache-</a:t>
              </a:r>
              <a:r>
                <a:rPr sz="971" spc="79" dirty="0">
                  <a:latin typeface="Arial MT"/>
                  <a:cs typeface="Arial MT"/>
                </a:rPr>
                <a:t>memory</a:t>
              </a:r>
              <a:endParaRPr sz="971">
                <a:latin typeface="Arial MT"/>
                <a:cs typeface="Arial MT"/>
              </a:endParaRPr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7504735" y="3140279"/>
              <a:ext cx="725021" cy="163544"/>
            </a:xfrm>
            <a:prstGeom prst="rect">
              <a:avLst/>
            </a:prstGeom>
          </p:spPr>
          <p:txBody>
            <a:bodyPr vert="horz" wrap="square" lIns="0" tIns="14007" rIns="0" bIns="0" rtlCol="0">
              <a:spAutoFit/>
            </a:bodyPr>
            <a:lstStyle/>
            <a:p>
              <a:pPr marL="11206">
                <a:spcBef>
                  <a:spcPts val="110"/>
                </a:spcBef>
              </a:pPr>
              <a:r>
                <a:rPr sz="971" spc="57" dirty="0">
                  <a:latin typeface="Arial MT"/>
                  <a:cs typeface="Arial MT"/>
                </a:rPr>
                <a:t>transaction</a:t>
              </a:r>
              <a:endParaRPr sz="971">
                <a:latin typeface="Arial MT"/>
                <a:cs typeface="Arial MT"/>
              </a:endParaRPr>
            </a:p>
          </p:txBody>
        </p:sp>
        <p:grpSp>
          <p:nvGrpSpPr>
            <p:cNvPr id="38" name="object 38"/>
            <p:cNvGrpSpPr/>
            <p:nvPr/>
          </p:nvGrpSpPr>
          <p:grpSpPr>
            <a:xfrm>
              <a:off x="2261979" y="2372528"/>
              <a:ext cx="5415803" cy="794497"/>
              <a:chOff x="2411176" y="2688865"/>
              <a:chExt cx="6137910" cy="900430"/>
            </a:xfrm>
          </p:grpSpPr>
          <p:sp>
            <p:nvSpPr>
              <p:cNvPr id="39" name="object 39"/>
              <p:cNvSpPr/>
              <p:nvPr/>
            </p:nvSpPr>
            <p:spPr>
              <a:xfrm>
                <a:off x="3245822" y="2814364"/>
                <a:ext cx="407670" cy="584835"/>
              </a:xfrm>
              <a:custGeom>
                <a:avLst/>
                <a:gdLst/>
                <a:ahLst/>
                <a:cxnLst/>
                <a:rect l="l" t="t" r="r" b="b"/>
                <a:pathLst>
                  <a:path w="407670" h="584835">
                    <a:moveTo>
                      <a:pt x="0" y="0"/>
                    </a:moveTo>
                    <a:lnTo>
                      <a:pt x="10177" y="95205"/>
                    </a:lnTo>
                    <a:lnTo>
                      <a:pt x="25445" y="186084"/>
                    </a:lnTo>
                    <a:lnTo>
                      <a:pt x="45803" y="268307"/>
                    </a:lnTo>
                    <a:lnTo>
                      <a:pt x="81428" y="346203"/>
                    </a:lnTo>
                    <a:lnTo>
                      <a:pt x="122143" y="411116"/>
                    </a:lnTo>
                    <a:lnTo>
                      <a:pt x="167947" y="471702"/>
                    </a:lnTo>
                    <a:lnTo>
                      <a:pt x="223928" y="519304"/>
                    </a:lnTo>
                    <a:lnTo>
                      <a:pt x="279911" y="553924"/>
                    </a:lnTo>
                    <a:lnTo>
                      <a:pt x="340983" y="575562"/>
                    </a:lnTo>
                    <a:lnTo>
                      <a:pt x="407144" y="5842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0" name="object 40"/>
              <p:cNvSpPr/>
              <p:nvPr/>
            </p:nvSpPr>
            <p:spPr>
              <a:xfrm>
                <a:off x="3210191" y="2848990"/>
                <a:ext cx="458470" cy="562610"/>
              </a:xfrm>
              <a:custGeom>
                <a:avLst/>
                <a:gdLst/>
                <a:ahLst/>
                <a:cxnLst/>
                <a:rect l="l" t="t" r="r" b="b"/>
                <a:pathLst>
                  <a:path w="458470" h="562610">
                    <a:moveTo>
                      <a:pt x="458038" y="536613"/>
                    </a:moveTo>
                    <a:lnTo>
                      <a:pt x="407149" y="532282"/>
                    </a:lnTo>
                    <a:lnTo>
                      <a:pt x="356247" y="519303"/>
                    </a:lnTo>
                    <a:lnTo>
                      <a:pt x="305358" y="497662"/>
                    </a:lnTo>
                    <a:lnTo>
                      <a:pt x="259549" y="471703"/>
                    </a:lnTo>
                    <a:lnTo>
                      <a:pt x="218846" y="432752"/>
                    </a:lnTo>
                    <a:lnTo>
                      <a:pt x="178130" y="393801"/>
                    </a:lnTo>
                    <a:lnTo>
                      <a:pt x="142506" y="341871"/>
                    </a:lnTo>
                    <a:lnTo>
                      <a:pt x="117055" y="289941"/>
                    </a:lnTo>
                    <a:lnTo>
                      <a:pt x="96697" y="229362"/>
                    </a:lnTo>
                    <a:lnTo>
                      <a:pt x="84416" y="177177"/>
                    </a:lnTo>
                    <a:lnTo>
                      <a:pt x="132321" y="173101"/>
                    </a:lnTo>
                    <a:lnTo>
                      <a:pt x="132321" y="147129"/>
                    </a:lnTo>
                    <a:lnTo>
                      <a:pt x="61074" y="0"/>
                    </a:lnTo>
                    <a:lnTo>
                      <a:pt x="30530" y="0"/>
                    </a:lnTo>
                    <a:lnTo>
                      <a:pt x="0" y="155790"/>
                    </a:lnTo>
                    <a:lnTo>
                      <a:pt x="0" y="181749"/>
                    </a:lnTo>
                    <a:lnTo>
                      <a:pt x="30530" y="181749"/>
                    </a:lnTo>
                    <a:lnTo>
                      <a:pt x="50888" y="179832"/>
                    </a:lnTo>
                    <a:lnTo>
                      <a:pt x="50888" y="186080"/>
                    </a:lnTo>
                    <a:lnTo>
                      <a:pt x="50888" y="190411"/>
                    </a:lnTo>
                    <a:lnTo>
                      <a:pt x="66167" y="255320"/>
                    </a:lnTo>
                    <a:lnTo>
                      <a:pt x="86512" y="315912"/>
                    </a:lnTo>
                    <a:lnTo>
                      <a:pt x="111963" y="367842"/>
                    </a:lnTo>
                    <a:lnTo>
                      <a:pt x="147586" y="419773"/>
                    </a:lnTo>
                    <a:lnTo>
                      <a:pt x="188302" y="458724"/>
                    </a:lnTo>
                    <a:lnTo>
                      <a:pt x="229019" y="497662"/>
                    </a:lnTo>
                    <a:lnTo>
                      <a:pt x="274828" y="523633"/>
                    </a:lnTo>
                    <a:lnTo>
                      <a:pt x="325716" y="545274"/>
                    </a:lnTo>
                    <a:lnTo>
                      <a:pt x="376605" y="558253"/>
                    </a:lnTo>
                    <a:lnTo>
                      <a:pt x="427507" y="562584"/>
                    </a:lnTo>
                    <a:lnTo>
                      <a:pt x="458038" y="562584"/>
                    </a:lnTo>
                    <a:lnTo>
                      <a:pt x="458038" y="53661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1" name="object 41"/>
              <p:cNvSpPr/>
              <p:nvPr/>
            </p:nvSpPr>
            <p:spPr>
              <a:xfrm>
                <a:off x="2411176" y="3251445"/>
                <a:ext cx="613791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137909">
                    <a:moveTo>
                      <a:pt x="0" y="0"/>
                    </a:moveTo>
                    <a:lnTo>
                      <a:pt x="6137706" y="0"/>
                    </a:lnTo>
                  </a:path>
                </a:pathLst>
              </a:custGeom>
              <a:ln w="2596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2" name="object 42"/>
              <p:cNvSpPr/>
              <p:nvPr/>
            </p:nvSpPr>
            <p:spPr>
              <a:xfrm>
                <a:off x="7994142" y="3255784"/>
                <a:ext cx="20891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08915" h="142875">
                    <a:moveTo>
                      <a:pt x="208661" y="73558"/>
                    </a:moveTo>
                    <a:lnTo>
                      <a:pt x="191693" y="51930"/>
                    </a:lnTo>
                    <a:lnTo>
                      <a:pt x="193395" y="51930"/>
                    </a:lnTo>
                    <a:lnTo>
                      <a:pt x="193395" y="38938"/>
                    </a:lnTo>
                    <a:lnTo>
                      <a:pt x="183210" y="30289"/>
                    </a:lnTo>
                    <a:lnTo>
                      <a:pt x="173037" y="30289"/>
                    </a:lnTo>
                    <a:lnTo>
                      <a:pt x="172669" y="30607"/>
                    </a:lnTo>
                    <a:lnTo>
                      <a:pt x="152679" y="0"/>
                    </a:lnTo>
                    <a:lnTo>
                      <a:pt x="122148" y="0"/>
                    </a:lnTo>
                    <a:lnTo>
                      <a:pt x="0" y="116840"/>
                    </a:lnTo>
                    <a:lnTo>
                      <a:pt x="0" y="142798"/>
                    </a:lnTo>
                    <a:lnTo>
                      <a:pt x="30530" y="142798"/>
                    </a:lnTo>
                    <a:lnTo>
                      <a:pt x="208661" y="99529"/>
                    </a:lnTo>
                    <a:lnTo>
                      <a:pt x="208661" y="73558"/>
                    </a:lnTo>
                    <a:close/>
                  </a:path>
                </a:pathLst>
              </a:custGeom>
              <a:solidFill>
                <a:srgbClr val="80808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3" name="object 43"/>
              <p:cNvSpPr/>
              <p:nvPr/>
            </p:nvSpPr>
            <p:spPr>
              <a:xfrm>
                <a:off x="8309685" y="2848984"/>
                <a:ext cx="0" cy="134620"/>
              </a:xfrm>
              <a:custGeom>
                <a:avLst/>
                <a:gdLst/>
                <a:ahLst/>
                <a:cxnLst/>
                <a:rect l="l" t="t" r="r" b="b"/>
                <a:pathLst>
                  <a:path h="134619">
                    <a:moveTo>
                      <a:pt x="0" y="0"/>
                    </a:moveTo>
                    <a:lnTo>
                      <a:pt x="0" y="77895"/>
                    </a:lnTo>
                  </a:path>
                  <a:path h="134619">
                    <a:moveTo>
                      <a:pt x="0" y="51930"/>
                    </a:moveTo>
                    <a:lnTo>
                      <a:pt x="0" y="134153"/>
                    </a:lnTo>
                  </a:path>
                </a:pathLst>
              </a:custGeom>
              <a:ln w="28250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4" name="object 44"/>
              <p:cNvSpPr/>
              <p:nvPr/>
            </p:nvSpPr>
            <p:spPr>
              <a:xfrm>
                <a:off x="8156994" y="2957182"/>
                <a:ext cx="168275" cy="354965"/>
              </a:xfrm>
              <a:custGeom>
                <a:avLst/>
                <a:gdLst/>
                <a:ahLst/>
                <a:cxnLst/>
                <a:rect l="l" t="t" r="r" b="b"/>
                <a:pathLst>
                  <a:path w="168275" h="354964">
                    <a:moveTo>
                      <a:pt x="167957" y="0"/>
                    </a:moveTo>
                    <a:lnTo>
                      <a:pt x="137414" y="0"/>
                    </a:lnTo>
                    <a:lnTo>
                      <a:pt x="132334" y="51930"/>
                    </a:lnTo>
                    <a:lnTo>
                      <a:pt x="127241" y="103860"/>
                    </a:lnTo>
                    <a:lnTo>
                      <a:pt x="117055" y="151460"/>
                    </a:lnTo>
                    <a:lnTo>
                      <a:pt x="101790" y="199059"/>
                    </a:lnTo>
                    <a:lnTo>
                      <a:pt x="86525" y="238010"/>
                    </a:lnTo>
                    <a:lnTo>
                      <a:pt x="61074" y="276961"/>
                    </a:lnTo>
                    <a:lnTo>
                      <a:pt x="35636" y="307251"/>
                    </a:lnTo>
                    <a:lnTo>
                      <a:pt x="0" y="328891"/>
                    </a:lnTo>
                    <a:lnTo>
                      <a:pt x="0" y="354850"/>
                    </a:lnTo>
                    <a:lnTo>
                      <a:pt x="30543" y="354850"/>
                    </a:lnTo>
                    <a:lnTo>
                      <a:pt x="66167" y="333222"/>
                    </a:lnTo>
                    <a:lnTo>
                      <a:pt x="91617" y="302920"/>
                    </a:lnTo>
                    <a:lnTo>
                      <a:pt x="117055" y="263982"/>
                    </a:lnTo>
                    <a:lnTo>
                      <a:pt x="132334" y="225031"/>
                    </a:lnTo>
                    <a:lnTo>
                      <a:pt x="147599" y="177431"/>
                    </a:lnTo>
                    <a:lnTo>
                      <a:pt x="157772" y="129819"/>
                    </a:lnTo>
                    <a:lnTo>
                      <a:pt x="162864" y="77889"/>
                    </a:lnTo>
                    <a:lnTo>
                      <a:pt x="167957" y="25958"/>
                    </a:lnTo>
                    <a:lnTo>
                      <a:pt x="167957" y="0"/>
                    </a:lnTo>
                    <a:close/>
                  </a:path>
                </a:pathLst>
              </a:custGeom>
              <a:solidFill>
                <a:srgbClr val="80808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5" name="object 45"/>
              <p:cNvSpPr/>
              <p:nvPr/>
            </p:nvSpPr>
            <p:spPr>
              <a:xfrm>
                <a:off x="7368162" y="3238463"/>
                <a:ext cx="36195" cy="351155"/>
              </a:xfrm>
              <a:custGeom>
                <a:avLst/>
                <a:gdLst/>
                <a:ahLst/>
                <a:cxnLst/>
                <a:rect l="l" t="t" r="r" b="b"/>
                <a:pathLst>
                  <a:path w="36195" h="351154">
                    <a:moveTo>
                      <a:pt x="30535" y="0"/>
                    </a:moveTo>
                    <a:lnTo>
                      <a:pt x="0" y="0"/>
                    </a:lnTo>
                    <a:lnTo>
                      <a:pt x="0" y="25965"/>
                    </a:lnTo>
                    <a:lnTo>
                      <a:pt x="5088" y="350530"/>
                    </a:lnTo>
                    <a:lnTo>
                      <a:pt x="35624" y="350530"/>
                    </a:lnTo>
                    <a:lnTo>
                      <a:pt x="35624" y="324565"/>
                    </a:lnTo>
                    <a:lnTo>
                      <a:pt x="30535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pic>
            <p:nvPicPr>
              <p:cNvPr id="46" name="object 46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378243" y="2688865"/>
                <a:ext cx="127233" cy="108189"/>
              </a:xfrm>
              <a:prstGeom prst="rect">
                <a:avLst/>
              </a:prstGeom>
            </p:spPr>
          </p:pic>
          <p:pic>
            <p:nvPicPr>
              <p:cNvPr id="47" name="object 47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724315" y="2688865"/>
                <a:ext cx="122144" cy="108189"/>
              </a:xfrm>
              <a:prstGeom prst="rect">
                <a:avLst/>
              </a:prstGeom>
            </p:spPr>
          </p:pic>
          <p:pic>
            <p:nvPicPr>
              <p:cNvPr id="48" name="object 48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095834" y="2688865"/>
                <a:ext cx="122144" cy="108189"/>
              </a:xfrm>
              <a:prstGeom prst="rect">
                <a:avLst/>
              </a:prstGeom>
            </p:spPr>
          </p:pic>
        </p:grpSp>
      </p:grpSp>
      <p:sp>
        <p:nvSpPr>
          <p:cNvPr id="51" name="Slide Number Placeholder 4">
            <a:extLst>
              <a:ext uri="{FF2B5EF4-FFF2-40B4-BE49-F238E27FC236}">
                <a16:creationId xmlns:a16="http://schemas.microsoft.com/office/drawing/2014/main" id="{2C088FB2-B93F-F3ED-59B6-263296D9E26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28</a:t>
            </a:fld>
            <a:endParaRPr lang="en-US" spc="-44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Example:</a:t>
            </a:r>
            <a:r>
              <a:rPr spc="-44" dirty="0"/>
              <a:t> </a:t>
            </a:r>
            <a:r>
              <a:rPr spc="-9" dirty="0"/>
              <a:t>Write-</a:t>
            </a:r>
            <a:r>
              <a:rPr dirty="0"/>
              <a:t>Thru</a:t>
            </a:r>
            <a:r>
              <a:rPr spc="-44" dirty="0"/>
              <a:t> </a:t>
            </a:r>
            <a:r>
              <a:rPr spc="-9" dirty="0"/>
              <a:t>Invalidate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342" y="4694592"/>
            <a:ext cx="7123533" cy="1565448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278481" indent="-267275">
              <a:spcBef>
                <a:spcPts val="618"/>
              </a:spcBef>
              <a:buChar char="•"/>
              <a:tabLst>
                <a:tab pos="278481" algn="l"/>
              </a:tabLst>
            </a:pPr>
            <a:r>
              <a:rPr sz="2200" dirty="0">
                <a:latin typeface="Calibri"/>
                <a:cs typeface="Calibri"/>
              </a:rPr>
              <a:t>Must</a:t>
            </a:r>
            <a:r>
              <a:rPr sz="2200" spc="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invalidate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least</a:t>
            </a:r>
            <a:r>
              <a:rPr sz="2200" spc="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P1’s</a:t>
            </a:r>
            <a:r>
              <a:rPr sz="2200" spc="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copy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u:5</a:t>
            </a:r>
            <a:r>
              <a:rPr sz="2200" spc="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before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step</a:t>
            </a:r>
            <a:r>
              <a:rPr sz="2200" spc="6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44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endParaRPr sz="2200" dirty="0">
              <a:latin typeface="Calibri"/>
              <a:cs typeface="Calibri"/>
            </a:endParaRPr>
          </a:p>
          <a:p>
            <a:pPr marL="278481" marR="279602" indent="-267835">
              <a:spcBef>
                <a:spcPts val="821"/>
              </a:spcBef>
              <a:spcAft>
                <a:spcPts val="600"/>
              </a:spcAft>
              <a:buChar char="•"/>
              <a:tabLst>
                <a:tab pos="278481" algn="l"/>
              </a:tabLst>
            </a:pPr>
            <a:r>
              <a:rPr sz="2200" dirty="0">
                <a:latin typeface="Calibri"/>
                <a:cs typeface="Calibri"/>
              </a:rPr>
              <a:t>Write</a:t>
            </a:r>
            <a:r>
              <a:rPr sz="2200" spc="66" dirty="0"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update</a:t>
            </a:r>
            <a:r>
              <a:rPr sz="2200" spc="6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uses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more</a:t>
            </a:r>
            <a:r>
              <a:rPr sz="2200" spc="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broadcast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medium</a:t>
            </a:r>
            <a:r>
              <a:rPr sz="2200" spc="71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bandwidth </a:t>
            </a:r>
            <a:r>
              <a:rPr sz="2200" dirty="0">
                <a:latin typeface="Calibri"/>
                <a:cs typeface="Calibri"/>
              </a:rPr>
              <a:t>(must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share</a:t>
            </a:r>
            <a:r>
              <a:rPr sz="2200" spc="7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both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full</a:t>
            </a:r>
            <a:r>
              <a:rPr sz="2200" spc="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address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new</a:t>
            </a:r>
            <a:r>
              <a:rPr sz="2200" spc="66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value)</a:t>
            </a:r>
            <a:endParaRPr sz="2200" dirty="0">
              <a:latin typeface="Calibri"/>
              <a:cs typeface="Calibri"/>
            </a:endParaRPr>
          </a:p>
          <a:p>
            <a:pPr marL="628650" indent="-350838">
              <a:lnSpc>
                <a:spcPts val="2422"/>
              </a:lnSpc>
            </a:pPr>
            <a:r>
              <a:rPr sz="1850" dirty="0">
                <a:latin typeface="Symbol"/>
                <a:cs typeface="Symbol"/>
              </a:rPr>
              <a:t></a:t>
            </a:r>
            <a:r>
              <a:rPr sz="1850" spc="26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Calibri"/>
                <a:cs typeface="Calibri"/>
              </a:rPr>
              <a:t>all</a:t>
            </a:r>
            <a:r>
              <a:rPr sz="1850" spc="4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recent</a:t>
            </a:r>
            <a:r>
              <a:rPr sz="1850" spc="53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MPUs</a:t>
            </a:r>
            <a:r>
              <a:rPr sz="1850" spc="57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use</a:t>
            </a:r>
            <a:r>
              <a:rPr sz="1850" spc="71" dirty="0">
                <a:latin typeface="Calibri"/>
                <a:cs typeface="Calibri"/>
              </a:rPr>
              <a:t> </a:t>
            </a:r>
            <a:r>
              <a:rPr sz="1850" dirty="0" err="1">
                <a:latin typeface="Calibri"/>
                <a:cs typeface="Calibri"/>
              </a:rPr>
              <a:t>write_invalidate</a:t>
            </a:r>
            <a:r>
              <a:rPr sz="1850" spc="71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(send</a:t>
            </a:r>
            <a:r>
              <a:rPr sz="1850" spc="62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just</a:t>
            </a:r>
            <a:r>
              <a:rPr sz="1850" spc="53" dirty="0">
                <a:latin typeface="Calibri"/>
                <a:cs typeface="Calibri"/>
              </a:rPr>
              <a:t> </a:t>
            </a:r>
            <a:r>
              <a:rPr sz="1850" spc="-9" dirty="0">
                <a:latin typeface="Calibri"/>
                <a:cs typeface="Calibri"/>
              </a:rPr>
              <a:t>cache</a:t>
            </a:r>
            <a:r>
              <a:rPr lang="en-US" sz="1850" spc="-9" dirty="0">
                <a:latin typeface="Calibri"/>
                <a:cs typeface="Calibri"/>
              </a:rPr>
              <a:t> </a:t>
            </a:r>
            <a:r>
              <a:rPr lang="en-US" sz="1850" dirty="0">
                <a:cs typeface="Calibri"/>
              </a:rPr>
              <a:t>block</a:t>
            </a:r>
            <a:r>
              <a:rPr lang="en-US" sz="1850" spc="35" dirty="0">
                <a:cs typeface="Calibri"/>
              </a:rPr>
              <a:t> </a:t>
            </a:r>
            <a:r>
              <a:rPr lang="en-US" sz="1850" spc="-22" dirty="0">
                <a:cs typeface="Calibri"/>
              </a:rPr>
              <a:t>#)</a:t>
            </a:r>
            <a:endParaRPr lang="en-US" sz="2206" spc="-9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56465" y="1463663"/>
            <a:ext cx="5275169" cy="3003176"/>
            <a:chOff x="1951593" y="1658818"/>
            <a:chExt cx="5978525" cy="3403600"/>
          </a:xfrm>
        </p:grpSpPr>
        <p:sp>
          <p:nvSpPr>
            <p:cNvPr id="5" name="object 5"/>
            <p:cNvSpPr/>
            <p:nvPr/>
          </p:nvSpPr>
          <p:spPr>
            <a:xfrm>
              <a:off x="2050978" y="3632226"/>
              <a:ext cx="5707380" cy="1905"/>
            </a:xfrm>
            <a:custGeom>
              <a:avLst/>
              <a:gdLst/>
              <a:ahLst/>
              <a:cxnLst/>
              <a:rect l="l" t="t" r="r" b="b"/>
              <a:pathLst>
                <a:path w="5707380" h="1904">
                  <a:moveTo>
                    <a:pt x="0" y="0"/>
                  </a:moveTo>
                  <a:lnTo>
                    <a:pt x="5707132" y="1683"/>
                  </a:lnTo>
                </a:path>
              </a:pathLst>
            </a:custGeom>
            <a:ln w="286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1593" y="1658818"/>
              <a:ext cx="5978338" cy="340356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709732" y="3568402"/>
            <a:ext cx="737347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dirty="0">
                <a:latin typeface="Arial MT"/>
                <a:cs typeface="Arial MT"/>
              </a:rPr>
              <a:t>I/O</a:t>
            </a:r>
            <a:r>
              <a:rPr sz="1147" spc="-44" dirty="0">
                <a:latin typeface="Arial MT"/>
                <a:cs typeface="Arial MT"/>
              </a:rPr>
              <a:t> </a:t>
            </a:r>
            <a:r>
              <a:rPr sz="1147" spc="-9" dirty="0">
                <a:latin typeface="Arial MT"/>
                <a:cs typeface="Arial MT"/>
              </a:rPr>
              <a:t>devices</a:t>
            </a:r>
            <a:endParaRPr sz="1147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99726" y="4219239"/>
            <a:ext cx="538443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9" dirty="0">
                <a:latin typeface="Arial MT"/>
                <a:cs typeface="Arial MT"/>
              </a:rPr>
              <a:t>Memory</a:t>
            </a:r>
            <a:endParaRPr sz="1147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96987" y="1685813"/>
            <a:ext cx="202826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147" spc="-22" dirty="0">
                <a:latin typeface="Arial MT"/>
                <a:cs typeface="Arial MT"/>
              </a:rPr>
              <a:t>P</a:t>
            </a:r>
            <a:r>
              <a:rPr sz="1456" spc="-33" baseline="-15151" dirty="0">
                <a:latin typeface="Arial MT"/>
                <a:cs typeface="Arial MT"/>
              </a:rPr>
              <a:t>1</a:t>
            </a:r>
            <a:endParaRPr sz="1456" baseline="-15151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58045" y="2323204"/>
            <a:ext cx="103654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44" dirty="0">
                <a:latin typeface="Arial MT"/>
                <a:cs typeface="Arial MT"/>
              </a:rPr>
              <a:t>$</a:t>
            </a:r>
            <a:endParaRPr sz="1147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29997" y="2323204"/>
            <a:ext cx="103654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44" dirty="0">
                <a:latin typeface="Arial MT"/>
                <a:cs typeface="Arial MT"/>
              </a:rPr>
              <a:t>$</a:t>
            </a:r>
            <a:endParaRPr sz="1147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52590" y="1672365"/>
            <a:ext cx="207309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147" spc="-22" dirty="0">
                <a:latin typeface="Arial MT"/>
                <a:cs typeface="Arial MT"/>
              </a:rPr>
              <a:t>P</a:t>
            </a:r>
            <a:r>
              <a:rPr sz="1456" spc="-33" baseline="-17676" dirty="0">
                <a:latin typeface="Arial MT"/>
                <a:cs typeface="Arial MT"/>
              </a:rPr>
              <a:t>2</a:t>
            </a:r>
            <a:endParaRPr sz="1456" baseline="-17676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75493" y="1685813"/>
            <a:ext cx="202826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147" spc="-22" dirty="0">
                <a:latin typeface="Arial MT"/>
                <a:cs typeface="Arial MT"/>
              </a:rPr>
              <a:t>P</a:t>
            </a:r>
            <a:r>
              <a:rPr sz="1456" spc="-33" baseline="-15151" dirty="0">
                <a:latin typeface="Arial MT"/>
                <a:cs typeface="Arial MT"/>
              </a:rPr>
              <a:t>3</a:t>
            </a:r>
            <a:endParaRPr sz="1456" baseline="-15151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25359" y="2296310"/>
            <a:ext cx="103654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44" dirty="0">
                <a:latin typeface="Arial MT"/>
                <a:cs typeface="Arial MT"/>
              </a:rPr>
              <a:t>5</a:t>
            </a:r>
            <a:endParaRPr sz="1147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37664" y="2008542"/>
            <a:ext cx="342900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dirty="0">
                <a:latin typeface="Arial MT"/>
                <a:cs typeface="Arial MT"/>
              </a:rPr>
              <a:t>u</a:t>
            </a:r>
            <a:r>
              <a:rPr sz="1147" spc="-53" dirty="0">
                <a:latin typeface="Arial MT"/>
                <a:cs typeface="Arial MT"/>
              </a:rPr>
              <a:t> </a:t>
            </a:r>
            <a:r>
              <a:rPr sz="1147" dirty="0">
                <a:latin typeface="Arial MT"/>
                <a:cs typeface="Arial MT"/>
              </a:rPr>
              <a:t>=</a:t>
            </a:r>
            <a:r>
              <a:rPr sz="1147" spc="-22" dirty="0">
                <a:latin typeface="Arial MT"/>
                <a:cs typeface="Arial MT"/>
              </a:rPr>
              <a:t> </a:t>
            </a:r>
            <a:r>
              <a:rPr sz="1147" spc="-44" dirty="0">
                <a:latin typeface="Arial MT"/>
                <a:cs typeface="Arial MT"/>
              </a:rPr>
              <a:t>?</a:t>
            </a:r>
            <a:endParaRPr sz="1147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93955" y="2231764"/>
            <a:ext cx="103654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44" dirty="0">
                <a:latin typeface="Arial MT"/>
                <a:cs typeface="Arial MT"/>
              </a:rPr>
              <a:t>4</a:t>
            </a:r>
            <a:endParaRPr sz="1147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47878" y="1903656"/>
            <a:ext cx="345701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dirty="0">
                <a:latin typeface="Arial MT"/>
                <a:cs typeface="Arial MT"/>
              </a:rPr>
              <a:t>u</a:t>
            </a:r>
            <a:r>
              <a:rPr sz="1147" spc="-31" dirty="0">
                <a:latin typeface="Arial MT"/>
                <a:cs typeface="Arial MT"/>
              </a:rPr>
              <a:t> </a:t>
            </a:r>
            <a:r>
              <a:rPr sz="1147" dirty="0">
                <a:latin typeface="Arial MT"/>
                <a:cs typeface="Arial MT"/>
              </a:rPr>
              <a:t>=</a:t>
            </a:r>
            <a:r>
              <a:rPr sz="1147" spc="-22" dirty="0">
                <a:latin typeface="Arial MT"/>
                <a:cs typeface="Arial MT"/>
              </a:rPr>
              <a:t> </a:t>
            </a:r>
            <a:r>
              <a:rPr sz="1147" spc="-44" dirty="0">
                <a:latin typeface="Arial MT"/>
                <a:cs typeface="Arial MT"/>
              </a:rPr>
              <a:t>?</a:t>
            </a:r>
            <a:endParaRPr sz="1147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31773" y="3797001"/>
            <a:ext cx="340659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22" dirty="0">
                <a:solidFill>
                  <a:srgbClr val="FF0000"/>
                </a:solidFill>
                <a:latin typeface="Arial MT"/>
                <a:cs typeface="Arial MT"/>
              </a:rPr>
              <a:t>u:5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10897" y="3568402"/>
            <a:ext cx="103654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44" dirty="0">
                <a:latin typeface="Arial MT"/>
                <a:cs typeface="Arial MT"/>
              </a:rPr>
              <a:t>1</a:t>
            </a:r>
            <a:endParaRPr sz="1147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99837" y="2473811"/>
            <a:ext cx="365872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solidFill>
                  <a:srgbClr val="FF0000"/>
                </a:solidFill>
                <a:latin typeface="Arial MT"/>
                <a:cs typeface="Arial MT"/>
              </a:rPr>
              <a:t>u</a:t>
            </a:r>
            <a:r>
              <a:rPr sz="1677" spc="-1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77" spc="-22" dirty="0">
                <a:solidFill>
                  <a:srgbClr val="FF0000"/>
                </a:solidFill>
                <a:latin typeface="Arial MT"/>
                <a:cs typeface="Arial MT"/>
              </a:rPr>
              <a:t>:5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63592" y="3737834"/>
            <a:ext cx="103654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44" dirty="0">
                <a:latin typeface="Arial MT"/>
                <a:cs typeface="Arial MT"/>
              </a:rPr>
              <a:t>2</a:t>
            </a:r>
            <a:endParaRPr sz="1147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15150" y="1957443"/>
            <a:ext cx="103654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b="1" spc="-44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endParaRPr sz="1147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00522" y="2264037"/>
            <a:ext cx="940734" cy="532294"/>
          </a:xfrm>
          <a:prstGeom prst="rect">
            <a:avLst/>
          </a:prstGeom>
        </p:spPr>
        <p:txBody>
          <a:bodyPr vert="horz" wrap="square" lIns="0" tIns="45943" rIns="0" bIns="0" rtlCol="0">
            <a:spAutoFit/>
          </a:bodyPr>
          <a:lstStyle/>
          <a:p>
            <a:pPr marR="134478" algn="ctr">
              <a:spcBef>
                <a:spcPts val="361"/>
              </a:spcBef>
            </a:pPr>
            <a:r>
              <a:rPr sz="1147" spc="-44" dirty="0">
                <a:latin typeface="Arial MT"/>
                <a:cs typeface="Arial MT"/>
              </a:rPr>
              <a:t>$</a:t>
            </a:r>
            <a:endParaRPr sz="1147">
              <a:latin typeface="Arial MT"/>
              <a:cs typeface="Arial MT"/>
            </a:endParaRPr>
          </a:p>
          <a:p>
            <a:pPr marL="33619">
              <a:spcBef>
                <a:spcPts val="401"/>
              </a:spcBef>
            </a:pPr>
            <a:r>
              <a:rPr sz="2515" baseline="-5847" dirty="0">
                <a:solidFill>
                  <a:srgbClr val="FF0000"/>
                </a:solidFill>
                <a:latin typeface="Arial MT"/>
                <a:cs typeface="Arial MT"/>
              </a:rPr>
              <a:t>u</a:t>
            </a:r>
            <a:r>
              <a:rPr sz="2515" spc="13" baseline="-584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515" baseline="-5847" dirty="0">
                <a:solidFill>
                  <a:srgbClr val="FF0000"/>
                </a:solidFill>
                <a:latin typeface="Arial MT"/>
                <a:cs typeface="Arial MT"/>
              </a:rPr>
              <a:t>:5</a:t>
            </a:r>
            <a:r>
              <a:rPr sz="2515" spc="205" baseline="-584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77" spc="53" dirty="0">
                <a:solidFill>
                  <a:srgbClr val="114FFB"/>
                </a:solidFill>
                <a:latin typeface="Arial MT"/>
                <a:cs typeface="Arial MT"/>
              </a:rPr>
              <a:t>u=</a:t>
            </a:r>
            <a:r>
              <a:rPr sz="1677" dirty="0">
                <a:solidFill>
                  <a:srgbClr val="114FFB"/>
                </a:solidFill>
                <a:latin typeface="Arial MT"/>
                <a:cs typeface="Arial MT"/>
              </a:rPr>
              <a:t> </a:t>
            </a:r>
            <a:r>
              <a:rPr sz="1677" spc="-44" dirty="0">
                <a:solidFill>
                  <a:srgbClr val="114FFB"/>
                </a:solidFill>
                <a:latin typeface="Arial MT"/>
                <a:cs typeface="Arial MT"/>
              </a:rPr>
              <a:t>7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33555" y="3899199"/>
            <a:ext cx="515471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dirty="0">
                <a:solidFill>
                  <a:srgbClr val="114FFB"/>
                </a:solidFill>
                <a:latin typeface="Arial"/>
                <a:cs typeface="Arial"/>
              </a:rPr>
              <a:t>u</a:t>
            </a:r>
            <a:r>
              <a:rPr sz="1677" b="1" spc="-9" dirty="0">
                <a:solidFill>
                  <a:srgbClr val="114FFB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114FFB"/>
                </a:solidFill>
                <a:latin typeface="Arial"/>
                <a:cs typeface="Arial"/>
              </a:rPr>
              <a:t>=</a:t>
            </a:r>
            <a:r>
              <a:rPr sz="1677" b="1" spc="-4" dirty="0">
                <a:solidFill>
                  <a:srgbClr val="114FFB"/>
                </a:solidFill>
                <a:latin typeface="Arial"/>
                <a:cs typeface="Arial"/>
              </a:rPr>
              <a:t> </a:t>
            </a:r>
            <a:r>
              <a:rPr sz="1677" b="1" spc="-53" dirty="0">
                <a:solidFill>
                  <a:srgbClr val="114FFB"/>
                </a:solidFill>
                <a:latin typeface="Arial"/>
                <a:cs typeface="Arial"/>
              </a:rPr>
              <a:t>7</a:t>
            </a:r>
            <a:endParaRPr sz="1677">
              <a:latin typeface="Arial"/>
              <a:cs typeface="Arial"/>
            </a:endParaRPr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FE15706A-9AB2-F868-9EE8-6AC56D742E8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29</a:t>
            </a:fld>
            <a:endParaRPr lang="en-US" spc="-44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Architectural</a:t>
            </a:r>
            <a:r>
              <a:rPr spc="-79" dirty="0"/>
              <a:t> </a:t>
            </a:r>
            <a:r>
              <a:rPr dirty="0"/>
              <a:t>Building</a:t>
            </a:r>
            <a:r>
              <a:rPr spc="-66" dirty="0"/>
              <a:t> </a:t>
            </a:r>
            <a:r>
              <a:rPr spc="-9" dirty="0"/>
              <a:t>Blocks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8674" y="1201653"/>
            <a:ext cx="8143875" cy="5225163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206" dirty="0">
                <a:solidFill>
                  <a:srgbClr val="00B050"/>
                </a:solidFill>
                <a:latin typeface="Calibri"/>
                <a:cs typeface="Calibri"/>
              </a:rPr>
              <a:t>Cache</a:t>
            </a:r>
            <a:r>
              <a:rPr sz="2206" spc="62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00B050"/>
                </a:solidFill>
                <a:latin typeface="Calibri"/>
                <a:cs typeface="Calibri"/>
              </a:rPr>
              <a:t>block</a:t>
            </a:r>
            <a:r>
              <a:rPr sz="2206" spc="53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state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transition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diagram</a:t>
            </a:r>
            <a:endParaRPr sz="2206" dirty="0">
              <a:latin typeface="Calibri"/>
              <a:cs typeface="Calibri"/>
            </a:endParaRPr>
          </a:p>
          <a:p>
            <a:pPr marL="651657" lvl="1" indent="-212363">
              <a:spcBef>
                <a:spcPts val="424"/>
              </a:spcBef>
              <a:buChar char="–"/>
              <a:tabLst>
                <a:tab pos="651657" algn="l"/>
              </a:tabLst>
            </a:pPr>
            <a:r>
              <a:rPr sz="1850" dirty="0">
                <a:latin typeface="Calibri"/>
                <a:cs typeface="Calibri"/>
              </a:rPr>
              <a:t>Finite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State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Machine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(FSM)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specifying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conditions</a:t>
            </a:r>
            <a:r>
              <a:rPr sz="1850" spc="-13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of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block</a:t>
            </a:r>
            <a:r>
              <a:rPr sz="1850" spc="-13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state</a:t>
            </a:r>
            <a:r>
              <a:rPr sz="1850" spc="-9" dirty="0">
                <a:latin typeface="Calibri"/>
                <a:cs typeface="Calibri"/>
              </a:rPr>
              <a:t> changes</a:t>
            </a:r>
            <a:endParaRPr lang="en-US" sz="1850" spc="-9" dirty="0">
              <a:latin typeface="Calibri"/>
              <a:cs typeface="Calibri"/>
            </a:endParaRPr>
          </a:p>
          <a:p>
            <a:pPr marL="628650" lvl="1">
              <a:spcBef>
                <a:spcPts val="424"/>
              </a:spcBef>
              <a:spcAft>
                <a:spcPts val="600"/>
              </a:spcAft>
              <a:tabLst>
                <a:tab pos="651657" algn="l"/>
              </a:tabLst>
            </a:pPr>
            <a:r>
              <a:rPr sz="1850" dirty="0">
                <a:solidFill>
                  <a:srgbClr val="114FFB"/>
                </a:solidFill>
                <a:latin typeface="Calibri"/>
                <a:cs typeface="Calibri"/>
              </a:rPr>
              <a:t>»</a:t>
            </a:r>
            <a:r>
              <a:rPr sz="1850" spc="405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114FFB"/>
                </a:solidFill>
                <a:latin typeface="Calibri"/>
                <a:cs typeface="Calibri"/>
              </a:rPr>
              <a:t>Minimum</a:t>
            </a:r>
            <a:r>
              <a:rPr sz="1850" spc="-4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114FFB"/>
                </a:solidFill>
                <a:latin typeface="Calibri"/>
                <a:cs typeface="Calibri"/>
              </a:rPr>
              <a:t>number</a:t>
            </a:r>
            <a:r>
              <a:rPr sz="1850" spc="-13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114FFB"/>
                </a:solidFill>
                <a:latin typeface="Calibri"/>
                <a:cs typeface="Calibri"/>
              </a:rPr>
              <a:t>of</a:t>
            </a:r>
            <a:r>
              <a:rPr sz="1850" spc="-4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114FFB"/>
                </a:solidFill>
                <a:latin typeface="Calibri"/>
                <a:cs typeface="Calibri"/>
              </a:rPr>
              <a:t>states</a:t>
            </a:r>
            <a:r>
              <a:rPr sz="1850" spc="-13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114FFB"/>
                </a:solidFill>
                <a:latin typeface="Calibri"/>
                <a:cs typeface="Calibri"/>
              </a:rPr>
              <a:t>is</a:t>
            </a:r>
            <a:r>
              <a:rPr sz="1850" spc="-13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114FFB"/>
                </a:solidFill>
                <a:latin typeface="Calibri"/>
                <a:cs typeface="Calibri"/>
              </a:rPr>
              <a:t>3: invalid,</a:t>
            </a:r>
            <a:r>
              <a:rPr sz="1850" spc="-9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114FFB"/>
                </a:solidFill>
                <a:latin typeface="Calibri"/>
                <a:cs typeface="Calibri"/>
              </a:rPr>
              <a:t>valid/shared,</a:t>
            </a:r>
            <a:r>
              <a:rPr sz="1850" spc="-9" dirty="0">
                <a:solidFill>
                  <a:srgbClr val="114FFB"/>
                </a:solidFill>
                <a:latin typeface="Calibri"/>
                <a:cs typeface="Calibri"/>
              </a:rPr>
              <a:t> dirty</a:t>
            </a:r>
            <a:endParaRPr sz="1850" dirty="0">
              <a:latin typeface="Calibri"/>
              <a:cs typeface="Calibri"/>
            </a:endParaRPr>
          </a:p>
          <a:p>
            <a:pPr marL="278481" indent="-267275">
              <a:spcBef>
                <a:spcPts val="552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Broadcast</a:t>
            </a:r>
            <a:r>
              <a:rPr sz="2206" spc="88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Medium</a:t>
            </a:r>
            <a:r>
              <a:rPr sz="2206" spc="11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Transactions</a:t>
            </a:r>
            <a:r>
              <a:rPr sz="2206" spc="9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(e.g.,</a:t>
            </a:r>
            <a:r>
              <a:rPr sz="2206" spc="88" dirty="0">
                <a:latin typeface="Calibri"/>
                <a:cs typeface="Calibri"/>
              </a:rPr>
              <a:t> </a:t>
            </a:r>
            <a:r>
              <a:rPr sz="2206" spc="-18" dirty="0">
                <a:latin typeface="Calibri"/>
                <a:cs typeface="Calibri"/>
              </a:rPr>
              <a:t>bus)</a:t>
            </a:r>
            <a:endParaRPr sz="2206" dirty="0">
              <a:latin typeface="Calibri"/>
              <a:cs typeface="Calibri"/>
            </a:endParaRPr>
          </a:p>
          <a:p>
            <a:pPr marL="651657" lvl="1" indent="-212363">
              <a:spcBef>
                <a:spcPts val="446"/>
              </a:spcBef>
              <a:buChar char="–"/>
              <a:tabLst>
                <a:tab pos="651657" algn="l"/>
              </a:tabLst>
            </a:pPr>
            <a:r>
              <a:rPr sz="1850" dirty="0">
                <a:latin typeface="Calibri"/>
                <a:cs typeface="Calibri"/>
              </a:rPr>
              <a:t>Fundamental</a:t>
            </a:r>
            <a:r>
              <a:rPr sz="1850" spc="-31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system</a:t>
            </a:r>
            <a:r>
              <a:rPr sz="1850" spc="-18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design</a:t>
            </a:r>
            <a:r>
              <a:rPr sz="1850" spc="-18" dirty="0">
                <a:latin typeface="Calibri"/>
                <a:cs typeface="Calibri"/>
              </a:rPr>
              <a:t> </a:t>
            </a:r>
            <a:r>
              <a:rPr sz="1850" spc="-9" dirty="0">
                <a:latin typeface="Calibri"/>
                <a:cs typeface="Calibri"/>
              </a:rPr>
              <a:t>abstraction</a:t>
            </a:r>
            <a:endParaRPr sz="1850" dirty="0">
              <a:latin typeface="Calibri"/>
              <a:cs typeface="Calibri"/>
            </a:endParaRPr>
          </a:p>
          <a:p>
            <a:pPr marL="651657" lvl="1" indent="-212363">
              <a:spcBef>
                <a:spcPts val="361"/>
              </a:spcBef>
              <a:buChar char="–"/>
              <a:tabLst>
                <a:tab pos="651657" algn="l"/>
              </a:tabLst>
            </a:pPr>
            <a:r>
              <a:rPr sz="1850" dirty="0">
                <a:latin typeface="Calibri"/>
                <a:cs typeface="Calibri"/>
              </a:rPr>
              <a:t>Logically,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single set</a:t>
            </a:r>
            <a:r>
              <a:rPr sz="1850" spc="-13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of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wires</a:t>
            </a:r>
            <a:r>
              <a:rPr sz="1850" spc="-13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connect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several</a:t>
            </a:r>
            <a:r>
              <a:rPr sz="1850" spc="-13" dirty="0">
                <a:latin typeface="Calibri"/>
                <a:cs typeface="Calibri"/>
              </a:rPr>
              <a:t> </a:t>
            </a:r>
            <a:r>
              <a:rPr sz="1850" spc="-9" dirty="0">
                <a:latin typeface="Calibri"/>
                <a:cs typeface="Calibri"/>
              </a:rPr>
              <a:t>devices</a:t>
            </a:r>
            <a:endParaRPr sz="1850" dirty="0">
              <a:latin typeface="Calibri"/>
              <a:cs typeface="Calibri"/>
            </a:endParaRPr>
          </a:p>
          <a:p>
            <a:pPr marL="651657" lvl="1" indent="-212363">
              <a:spcBef>
                <a:spcPts val="463"/>
              </a:spcBef>
              <a:buChar char="–"/>
              <a:tabLst>
                <a:tab pos="651657" algn="l"/>
              </a:tabLst>
            </a:pPr>
            <a:r>
              <a:rPr sz="1850" dirty="0">
                <a:latin typeface="Calibri"/>
                <a:cs typeface="Calibri"/>
              </a:rPr>
              <a:t>Protocol:</a:t>
            </a:r>
            <a:r>
              <a:rPr sz="1850" spc="-22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arbitration,</a:t>
            </a:r>
            <a:r>
              <a:rPr sz="1850" spc="-22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command/address,</a:t>
            </a:r>
            <a:r>
              <a:rPr sz="1850" spc="-18" dirty="0">
                <a:latin typeface="Calibri"/>
                <a:cs typeface="Calibri"/>
              </a:rPr>
              <a:t> data</a:t>
            </a:r>
            <a:endParaRPr sz="1850" dirty="0">
              <a:latin typeface="Calibri"/>
              <a:cs typeface="Calibri"/>
            </a:endParaRPr>
          </a:p>
          <a:p>
            <a:pPr marL="439294">
              <a:spcBef>
                <a:spcPts val="361"/>
              </a:spcBef>
              <a:spcAft>
                <a:spcPts val="600"/>
              </a:spcAft>
            </a:pPr>
            <a:r>
              <a:rPr sz="1850" dirty="0">
                <a:solidFill>
                  <a:srgbClr val="FF0000"/>
                </a:solidFill>
                <a:latin typeface="Wingdings"/>
                <a:cs typeface="Wingdings"/>
              </a:rPr>
              <a:t></a:t>
            </a:r>
            <a:r>
              <a:rPr sz="1850" spc="-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FF0000"/>
                </a:solidFill>
                <a:latin typeface="Calibri"/>
                <a:cs typeface="Calibri"/>
              </a:rPr>
              <a:t>Every</a:t>
            </a:r>
            <a:r>
              <a:rPr sz="1850" spc="-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FF0000"/>
                </a:solidFill>
                <a:latin typeface="Calibri"/>
                <a:cs typeface="Calibri"/>
              </a:rPr>
              <a:t>device</a:t>
            </a:r>
            <a:r>
              <a:rPr sz="1850" spc="-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FF0000"/>
                </a:solidFill>
                <a:latin typeface="Calibri"/>
                <a:cs typeface="Calibri"/>
              </a:rPr>
              <a:t>observes</a:t>
            </a:r>
            <a:r>
              <a:rPr sz="1850" spc="-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FF0000"/>
                </a:solidFill>
                <a:latin typeface="Calibri"/>
                <a:cs typeface="Calibri"/>
              </a:rPr>
              <a:t>every</a:t>
            </a:r>
            <a:r>
              <a:rPr sz="1850" spc="-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0" spc="-9" dirty="0">
                <a:solidFill>
                  <a:srgbClr val="FF0000"/>
                </a:solidFill>
                <a:latin typeface="Calibri"/>
                <a:cs typeface="Calibri"/>
              </a:rPr>
              <a:t>transaction</a:t>
            </a:r>
            <a:endParaRPr sz="1850" dirty="0">
              <a:latin typeface="Calibri"/>
              <a:cs typeface="Calibri"/>
            </a:endParaRPr>
          </a:p>
          <a:p>
            <a:pPr marL="278481" marR="118789" indent="-267835">
              <a:lnSpc>
                <a:spcPts val="2391"/>
              </a:lnSpc>
              <a:spcBef>
                <a:spcPts val="843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Broadcast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medium</a:t>
            </a:r>
            <a:r>
              <a:rPr sz="2206" spc="8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enforces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serialization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of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read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or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write </a:t>
            </a:r>
            <a:r>
              <a:rPr sz="2206" dirty="0">
                <a:latin typeface="Calibri"/>
                <a:cs typeface="Calibri"/>
              </a:rPr>
              <a:t>accesses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Symbol"/>
                <a:cs typeface="Symbol"/>
              </a:rPr>
              <a:t></a:t>
            </a:r>
            <a:r>
              <a:rPr sz="2206" spc="13" dirty="0">
                <a:latin typeface="Times New Roman"/>
                <a:cs typeface="Times New Roman"/>
              </a:rPr>
              <a:t> </a:t>
            </a:r>
            <a:r>
              <a:rPr sz="2206" dirty="0">
                <a:latin typeface="Calibri"/>
                <a:cs typeface="Calibri"/>
              </a:rPr>
              <a:t>Write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serialization</a:t>
            </a:r>
            <a:endParaRPr sz="2206" dirty="0">
              <a:latin typeface="Calibri"/>
              <a:cs typeface="Calibri"/>
            </a:endParaRPr>
          </a:p>
          <a:p>
            <a:pPr marL="651657" lvl="1" indent="-212363">
              <a:spcBef>
                <a:spcPts val="388"/>
              </a:spcBef>
              <a:buChar char="–"/>
              <a:tabLst>
                <a:tab pos="651657" algn="l"/>
              </a:tabLst>
            </a:pPr>
            <a:r>
              <a:rPr sz="1850" dirty="0">
                <a:latin typeface="Calibri"/>
                <a:cs typeface="Calibri"/>
              </a:rPr>
              <a:t>1st</a:t>
            </a:r>
            <a:r>
              <a:rPr sz="1850" spc="-13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processor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to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get</a:t>
            </a:r>
            <a:r>
              <a:rPr sz="1850" spc="-13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medium (e.g.,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bus) invalidates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others’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spc="-9" dirty="0">
                <a:latin typeface="Calibri"/>
                <a:cs typeface="Calibri"/>
              </a:rPr>
              <a:t>copies</a:t>
            </a:r>
            <a:endParaRPr sz="1850" dirty="0">
              <a:latin typeface="Calibri"/>
              <a:cs typeface="Calibri"/>
            </a:endParaRPr>
          </a:p>
          <a:p>
            <a:pPr marL="651657" lvl="1" indent="-212363">
              <a:spcBef>
                <a:spcPts val="468"/>
              </a:spcBef>
              <a:buChar char="–"/>
              <a:tabLst>
                <a:tab pos="651657" algn="l"/>
              </a:tabLst>
            </a:pPr>
            <a:r>
              <a:rPr sz="1850" dirty="0">
                <a:latin typeface="Calibri"/>
                <a:cs typeface="Calibri"/>
              </a:rPr>
              <a:t>Implies</a:t>
            </a:r>
            <a:r>
              <a:rPr sz="1850" spc="-13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that</a:t>
            </a:r>
            <a:r>
              <a:rPr sz="1850" spc="-13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write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to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shared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item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cannot</a:t>
            </a:r>
            <a:r>
              <a:rPr sz="1850" spc="-13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complete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until</a:t>
            </a:r>
            <a:r>
              <a:rPr sz="1850" spc="-13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PU</a:t>
            </a:r>
            <a:r>
              <a:rPr sz="1850" spc="-13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obtains</a:t>
            </a:r>
            <a:r>
              <a:rPr sz="1850" spc="-13" dirty="0">
                <a:latin typeface="Calibri"/>
                <a:cs typeface="Calibri"/>
              </a:rPr>
              <a:t> </a:t>
            </a:r>
            <a:r>
              <a:rPr sz="1850" spc="-22" dirty="0">
                <a:latin typeface="Calibri"/>
                <a:cs typeface="Calibri"/>
              </a:rPr>
              <a:t>bus</a:t>
            </a:r>
            <a:endParaRPr sz="1850" dirty="0">
              <a:latin typeface="Calibri"/>
              <a:cs typeface="Calibri"/>
            </a:endParaRPr>
          </a:p>
          <a:p>
            <a:pPr marL="651657" marR="305937" lvl="1" indent="-212363">
              <a:lnSpc>
                <a:spcPts val="1755"/>
              </a:lnSpc>
              <a:spcBef>
                <a:spcPts val="653"/>
              </a:spcBef>
              <a:spcAft>
                <a:spcPts val="600"/>
              </a:spcAft>
              <a:buChar char="–"/>
              <a:tabLst>
                <a:tab pos="653338" algn="l"/>
              </a:tabLst>
            </a:pPr>
            <a:r>
              <a:rPr sz="1850" dirty="0">
                <a:latin typeface="Calibri"/>
                <a:cs typeface="Calibri"/>
              </a:rPr>
              <a:t>Coherence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schemes</a:t>
            </a:r>
            <a:r>
              <a:rPr sz="1850" spc="-13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require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serializing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all</a:t>
            </a:r>
            <a:r>
              <a:rPr sz="1850" spc="-18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accesses</a:t>
            </a:r>
            <a:r>
              <a:rPr sz="1850" spc="-13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to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the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same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spc="-9" dirty="0">
                <a:latin typeface="Calibri"/>
                <a:cs typeface="Calibri"/>
              </a:rPr>
              <a:t>cache</a:t>
            </a:r>
            <a:r>
              <a:rPr lang="en-US" sz="1850" spc="-9" dirty="0">
                <a:latin typeface="Calibri"/>
                <a:cs typeface="Calibri"/>
              </a:rPr>
              <a:t> </a:t>
            </a:r>
            <a:r>
              <a:rPr sz="1850" spc="-9" dirty="0">
                <a:latin typeface="Calibri"/>
                <a:cs typeface="Calibri"/>
              </a:rPr>
              <a:t>block</a:t>
            </a:r>
            <a:endParaRPr sz="1850" dirty="0">
              <a:latin typeface="Calibri"/>
              <a:cs typeface="Calibri"/>
            </a:endParaRPr>
          </a:p>
          <a:p>
            <a:pPr marL="278481" indent="-267275">
              <a:spcBef>
                <a:spcPts val="534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Also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need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find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up-to-date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copy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of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cache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block</a:t>
            </a:r>
            <a:endParaRPr sz="2206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54B21B-6A35-10A5-FABA-6AD4AC222FD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30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Locate</a:t>
            </a:r>
            <a:r>
              <a:rPr spc="-9" dirty="0"/>
              <a:t> </a:t>
            </a:r>
            <a:r>
              <a:rPr spc="-18" dirty="0"/>
              <a:t>up-</a:t>
            </a:r>
            <a:r>
              <a:rPr spc="-9" dirty="0"/>
              <a:t>to-</a:t>
            </a:r>
            <a:r>
              <a:rPr dirty="0"/>
              <a:t>date copy</a:t>
            </a:r>
            <a:r>
              <a:rPr spc="4" dirty="0"/>
              <a:t> </a:t>
            </a:r>
            <a:r>
              <a:rPr dirty="0"/>
              <a:t>of </a:t>
            </a:r>
            <a:r>
              <a:rPr spc="-18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9150" y="1177684"/>
            <a:ext cx="7639050" cy="5521426"/>
          </a:xfrm>
          <a:prstGeom prst="rect">
            <a:avLst/>
          </a:prstGeom>
        </p:spPr>
        <p:txBody>
          <a:bodyPr vert="horz" wrap="square" lIns="0" tIns="77321" rIns="0" bIns="0" rtlCol="0">
            <a:spAutoFit/>
          </a:bodyPr>
          <a:lstStyle/>
          <a:p>
            <a:pPr marL="278481" indent="-267275">
              <a:spcBef>
                <a:spcPts val="609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Write-through</a:t>
            </a:r>
            <a:r>
              <a:rPr sz="2206" spc="9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(</a:t>
            </a:r>
            <a:r>
              <a:rPr sz="2206" dirty="0">
                <a:solidFill>
                  <a:srgbClr val="FF0000"/>
                </a:solidFill>
                <a:latin typeface="Calibri"/>
                <a:cs typeface="Calibri"/>
              </a:rPr>
              <a:t>old</a:t>
            </a:r>
            <a:r>
              <a:rPr sz="2206" dirty="0">
                <a:latin typeface="Calibri"/>
                <a:cs typeface="Calibri"/>
              </a:rPr>
              <a:t>):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memory</a:t>
            </a:r>
            <a:r>
              <a:rPr sz="2206" spc="9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has</a:t>
            </a:r>
            <a:r>
              <a:rPr sz="2206" spc="88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up-to-date</a:t>
            </a:r>
            <a:r>
              <a:rPr sz="2206" spc="101" dirty="0">
                <a:latin typeface="Calibri"/>
                <a:cs typeface="Calibri"/>
              </a:rPr>
              <a:t> </a:t>
            </a:r>
            <a:r>
              <a:rPr sz="2206" spc="-18" dirty="0">
                <a:latin typeface="Calibri"/>
                <a:cs typeface="Calibri"/>
              </a:rPr>
              <a:t>copy</a:t>
            </a:r>
            <a:endParaRPr sz="2206" dirty="0">
              <a:latin typeface="Calibri"/>
              <a:cs typeface="Calibri"/>
            </a:endParaRPr>
          </a:p>
          <a:p>
            <a:pPr marL="652777" lvl="1" indent="-213483">
              <a:spcBef>
                <a:spcPts val="437"/>
              </a:spcBef>
              <a:spcAft>
                <a:spcPts val="600"/>
              </a:spcAft>
              <a:buChar char="–"/>
              <a:tabLst>
                <a:tab pos="652777" algn="l"/>
              </a:tabLst>
            </a:pPr>
            <a:r>
              <a:rPr sz="1853" dirty="0">
                <a:latin typeface="Calibri"/>
                <a:cs typeface="Calibri"/>
              </a:rPr>
              <a:t>Write-through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simpler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logic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if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enough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memory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BW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to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support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spc="-22" dirty="0">
                <a:latin typeface="Calibri"/>
                <a:cs typeface="Calibri"/>
              </a:rPr>
              <a:t>it</a:t>
            </a:r>
            <a:endParaRPr sz="1853" dirty="0">
              <a:latin typeface="Calibri"/>
              <a:cs typeface="Calibri"/>
            </a:endParaRPr>
          </a:p>
          <a:p>
            <a:pPr marL="278481" indent="-267275">
              <a:spcBef>
                <a:spcPts val="600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Write-back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harder,</a:t>
            </a:r>
            <a:r>
              <a:rPr sz="2206" spc="-97" dirty="0">
                <a:latin typeface="Calibri"/>
                <a:cs typeface="Calibri"/>
              </a:rPr>
              <a:t> </a:t>
            </a:r>
            <a:r>
              <a:rPr sz="2206" u="heavy" spc="-4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6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but</a:t>
            </a:r>
            <a:r>
              <a:rPr sz="2206" u="sng" spc="5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6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uses</a:t>
            </a:r>
            <a:r>
              <a:rPr sz="2206" u="sng" spc="5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6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much</a:t>
            </a:r>
            <a:r>
              <a:rPr sz="2206" u="sng" spc="6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6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less</a:t>
            </a:r>
            <a:r>
              <a:rPr sz="2206" u="sng" spc="5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6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memory</a:t>
            </a:r>
            <a:r>
              <a:rPr sz="2206" u="sng" spc="6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6" u="sng" spc="-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BW</a:t>
            </a:r>
            <a:endParaRPr sz="2206" u="sng" dirty="0">
              <a:latin typeface="Calibri"/>
              <a:cs typeface="Calibri"/>
            </a:endParaRPr>
          </a:p>
          <a:p>
            <a:pPr marL="652777" lvl="1" indent="-213483">
              <a:spcBef>
                <a:spcPts val="437"/>
              </a:spcBef>
              <a:spcAft>
                <a:spcPts val="600"/>
              </a:spcAft>
              <a:buChar char="–"/>
              <a:tabLst>
                <a:tab pos="652777" algn="l"/>
              </a:tabLst>
            </a:pPr>
            <a:r>
              <a:rPr sz="1853" dirty="0">
                <a:latin typeface="Calibri"/>
                <a:cs typeface="Calibri"/>
              </a:rPr>
              <a:t>The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most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recent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version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of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cache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block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may</a:t>
            </a:r>
            <a:r>
              <a:rPr sz="1853" spc="9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not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be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memory</a:t>
            </a:r>
            <a:endParaRPr sz="1853" dirty="0">
              <a:latin typeface="Calibri"/>
              <a:cs typeface="Calibri"/>
            </a:endParaRPr>
          </a:p>
          <a:p>
            <a:pPr marL="278481" indent="-267275">
              <a:spcBef>
                <a:spcPts val="516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Can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use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same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snooping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mechanism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for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write-</a:t>
            </a:r>
            <a:r>
              <a:rPr sz="2206" spc="-18" dirty="0">
                <a:latin typeface="Calibri"/>
                <a:cs typeface="Calibri"/>
              </a:rPr>
              <a:t>back</a:t>
            </a:r>
            <a:endParaRPr sz="2206" dirty="0">
              <a:latin typeface="Calibri"/>
              <a:cs typeface="Calibri"/>
            </a:endParaRPr>
          </a:p>
          <a:p>
            <a:pPr marL="652777" lvl="1" indent="-213483">
              <a:spcBef>
                <a:spcPts val="521"/>
              </a:spcBef>
              <a:buChar char="–"/>
              <a:tabLst>
                <a:tab pos="652777" algn="l"/>
              </a:tabLst>
            </a:pPr>
            <a:r>
              <a:rPr sz="1853" dirty="0">
                <a:latin typeface="Calibri"/>
                <a:cs typeface="Calibri"/>
              </a:rPr>
              <a:t>Snoop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every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address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placed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on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the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bus,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as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for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write-</a:t>
            </a:r>
            <a:r>
              <a:rPr sz="1853" spc="-9" dirty="0">
                <a:latin typeface="Calibri"/>
                <a:cs typeface="Calibri"/>
              </a:rPr>
              <a:t>through</a:t>
            </a:r>
            <a:endParaRPr sz="1853" dirty="0">
              <a:latin typeface="Calibri"/>
              <a:cs typeface="Calibri"/>
            </a:endParaRPr>
          </a:p>
          <a:p>
            <a:pPr marL="653338" marR="406235" lvl="1" indent="-214044">
              <a:spcBef>
                <a:spcPts val="653"/>
              </a:spcBef>
              <a:buChar char="–"/>
              <a:tabLst>
                <a:tab pos="653338" algn="l"/>
              </a:tabLst>
            </a:pP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If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a</a:t>
            </a:r>
            <a:r>
              <a:rPr sz="1853" spc="2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processor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has</a:t>
            </a:r>
            <a:r>
              <a:rPr sz="1853" spc="2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“dirty”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copy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of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a</a:t>
            </a:r>
            <a:r>
              <a:rPr sz="1853" spc="2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requested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cache</a:t>
            </a:r>
            <a:r>
              <a:rPr sz="1853" spc="2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block,</a:t>
            </a:r>
            <a:r>
              <a:rPr sz="1853" spc="1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spc="-31" dirty="0">
                <a:solidFill>
                  <a:srgbClr val="3366FF"/>
                </a:solidFill>
                <a:latin typeface="Calibri"/>
                <a:cs typeface="Calibri"/>
              </a:rPr>
              <a:t>it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provides</a:t>
            </a:r>
            <a:r>
              <a:rPr sz="1853" spc="1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it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in</a:t>
            </a:r>
            <a:r>
              <a:rPr sz="1853" spc="1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response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to</a:t>
            </a:r>
            <a:r>
              <a:rPr sz="1853" spc="1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a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read</a:t>
            </a:r>
            <a:r>
              <a:rPr sz="1853" spc="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request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from</a:t>
            </a:r>
            <a:r>
              <a:rPr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spc="-9" dirty="0">
                <a:solidFill>
                  <a:srgbClr val="3366FF"/>
                </a:solidFill>
                <a:latin typeface="Calibri"/>
                <a:cs typeface="Calibri"/>
              </a:rPr>
              <a:t>another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processor’s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cache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system</a:t>
            </a:r>
            <a:r>
              <a:rPr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and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aborts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the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access</a:t>
            </a:r>
            <a:r>
              <a:rPr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to</a:t>
            </a:r>
            <a:r>
              <a:rPr sz="1853" spc="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spc="-9" dirty="0">
                <a:solidFill>
                  <a:srgbClr val="3366FF"/>
                </a:solidFill>
                <a:latin typeface="Calibri"/>
                <a:cs typeface="Calibri"/>
              </a:rPr>
              <a:t>memory</a:t>
            </a:r>
            <a:endParaRPr sz="1853" dirty="0">
              <a:latin typeface="Calibri"/>
              <a:cs typeface="Calibri"/>
            </a:endParaRPr>
          </a:p>
          <a:p>
            <a:pPr marL="653338" marR="321066" lvl="1" indent="-214044">
              <a:spcBef>
                <a:spcPts val="627"/>
              </a:spcBef>
              <a:spcAft>
                <a:spcPts val="600"/>
              </a:spcAft>
              <a:buChar char="–"/>
              <a:tabLst>
                <a:tab pos="653338" algn="l"/>
              </a:tabLst>
            </a:pPr>
            <a:r>
              <a:rPr sz="1853" dirty="0">
                <a:latin typeface="Calibri"/>
                <a:cs typeface="Calibri"/>
              </a:rPr>
              <a:t>Complexity</a:t>
            </a:r>
            <a:r>
              <a:rPr sz="1853" spc="4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of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retrieving</a:t>
            </a:r>
            <a:r>
              <a:rPr sz="1853" spc="4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cache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block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from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processor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cache, </a:t>
            </a:r>
            <a:r>
              <a:rPr sz="1853" dirty="0">
                <a:latin typeface="Calibri"/>
                <a:cs typeface="Calibri"/>
              </a:rPr>
              <a:t>which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can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take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longer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than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retrieving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it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from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memory</a:t>
            </a:r>
            <a:endParaRPr sz="1853" dirty="0">
              <a:latin typeface="Calibri"/>
              <a:cs typeface="Calibri"/>
            </a:endParaRPr>
          </a:p>
          <a:p>
            <a:pPr marL="278481" indent="-267275">
              <a:spcBef>
                <a:spcPts val="569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Write-back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caches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need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lower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memory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bandwidths</a:t>
            </a:r>
            <a:endParaRPr sz="2206" dirty="0">
              <a:latin typeface="Calibri"/>
              <a:cs typeface="Calibri"/>
            </a:endParaRPr>
          </a:p>
          <a:p>
            <a:pPr marL="652777" lvl="1" indent="-213483">
              <a:spcBef>
                <a:spcPts val="437"/>
              </a:spcBef>
              <a:buChar char="–"/>
              <a:tabLst>
                <a:tab pos="652777" algn="l"/>
              </a:tabLst>
            </a:pPr>
            <a:r>
              <a:rPr sz="1853" dirty="0">
                <a:latin typeface="Calibri"/>
                <a:cs typeface="Calibri"/>
              </a:rPr>
              <a:t>Support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larger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numbers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of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faster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processors</a:t>
            </a:r>
            <a:endParaRPr sz="1853" dirty="0">
              <a:latin typeface="Calibri"/>
              <a:cs typeface="Calibri"/>
            </a:endParaRPr>
          </a:p>
          <a:p>
            <a:pPr marL="652777" lvl="1" indent="-213483">
              <a:spcBef>
                <a:spcPts val="507"/>
              </a:spcBef>
              <a:buChar char="–"/>
              <a:tabLst>
                <a:tab pos="652777" algn="l"/>
              </a:tabLst>
            </a:pPr>
            <a:r>
              <a:rPr sz="1853" dirty="0">
                <a:latin typeface="Calibri"/>
                <a:cs typeface="Calibri"/>
              </a:rPr>
              <a:t>Most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multiprocessor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caches: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write-back,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maybe</a:t>
            </a:r>
            <a:r>
              <a:rPr sz="1853" spc="44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not</a:t>
            </a:r>
            <a:r>
              <a:rPr sz="1853" spc="40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L1</a:t>
            </a:r>
            <a:r>
              <a:rPr sz="1853" spc="-9" dirty="0">
                <a:latin typeface="Wingdings"/>
                <a:cs typeface="Wingdings"/>
              </a:rPr>
              <a:t></a:t>
            </a:r>
            <a:r>
              <a:rPr sz="1853" spc="-9" dirty="0">
                <a:latin typeface="Calibri"/>
                <a:cs typeface="Calibri"/>
              </a:rPr>
              <a:t>L2</a:t>
            </a:r>
            <a:endParaRPr sz="1853" dirty="0">
              <a:latin typeface="Calibri"/>
              <a:cs typeface="Calibri"/>
            </a:endParaRPr>
          </a:p>
          <a:p>
            <a:pPr marL="652777" lvl="1" indent="-213483">
              <a:spcBef>
                <a:spcPts val="424"/>
              </a:spcBef>
              <a:buChar char="–"/>
              <a:tabLst>
                <a:tab pos="652777" algn="l"/>
              </a:tabLst>
            </a:pPr>
            <a:r>
              <a:rPr sz="1853" dirty="0">
                <a:latin typeface="Calibri"/>
                <a:cs typeface="Calibri"/>
              </a:rPr>
              <a:t>All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modern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processors: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write-back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caches</a:t>
            </a:r>
            <a:r>
              <a:rPr sz="1853" spc="-9" dirty="0">
                <a:latin typeface="Wingdings"/>
                <a:cs typeface="Wingdings"/>
              </a:rPr>
              <a:t></a:t>
            </a:r>
            <a:r>
              <a:rPr sz="1853" spc="-9" dirty="0">
                <a:latin typeface="Calibri"/>
                <a:cs typeface="Calibri"/>
              </a:rPr>
              <a:t>memory</a:t>
            </a:r>
            <a:endParaRPr sz="1853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C185B-D3B2-C6DD-D35E-ED8CB6200E3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31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1"/>
            <a:ext cx="7536584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Cache</a:t>
            </a:r>
            <a:r>
              <a:rPr spc="-44" dirty="0"/>
              <a:t> </a:t>
            </a:r>
            <a:r>
              <a:rPr dirty="0"/>
              <a:t>Resources</a:t>
            </a:r>
            <a:r>
              <a:rPr spc="-35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spc="-9" dirty="0"/>
              <a:t>Write-</a:t>
            </a:r>
            <a:r>
              <a:rPr dirty="0"/>
              <a:t>Back</a:t>
            </a:r>
            <a:r>
              <a:rPr spc="-40" dirty="0"/>
              <a:t> </a:t>
            </a:r>
            <a:r>
              <a:rPr spc="-9" dirty="0"/>
              <a:t>Snooping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9625" y="1249278"/>
            <a:ext cx="7924800" cy="3493792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300894" indent="-267275">
              <a:spcBef>
                <a:spcPts val="644"/>
              </a:spcBef>
              <a:buChar char="•"/>
              <a:tabLst>
                <a:tab pos="300894" algn="l"/>
              </a:tabLst>
            </a:pPr>
            <a:r>
              <a:rPr sz="2400" dirty="0">
                <a:latin typeface="Calibri"/>
                <a:cs typeface="Calibri"/>
              </a:rPr>
              <a:t>Normal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indices+tags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snooping</a:t>
            </a:r>
            <a:endParaRPr sz="2400" dirty="0">
              <a:latin typeface="Calibri"/>
              <a:cs typeface="Calibri"/>
            </a:endParaRPr>
          </a:p>
          <a:p>
            <a:pPr marL="674070" lvl="1" indent="-212363">
              <a:spcBef>
                <a:spcPts val="424"/>
              </a:spcBef>
              <a:spcAft>
                <a:spcPts val="600"/>
              </a:spcAft>
              <a:buChar char="–"/>
              <a:tabLst>
                <a:tab pos="674070" algn="l"/>
              </a:tabLst>
            </a:pPr>
            <a:r>
              <a:rPr sz="2000" dirty="0">
                <a:latin typeface="Calibri"/>
                <a:cs typeface="Calibri"/>
              </a:rPr>
              <a:t>But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often have 2</a:t>
            </a:r>
            <a:r>
              <a:rPr sz="2000" baseline="25641" dirty="0">
                <a:latin typeface="Calibri"/>
                <a:cs typeface="Calibri"/>
              </a:rPr>
              <a:t>nd</a:t>
            </a:r>
            <a:r>
              <a:rPr sz="2000" spc="132" baseline="2564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copy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tags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(without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data) for</a:t>
            </a:r>
            <a:r>
              <a:rPr sz="2000" spc="-9" dirty="0">
                <a:latin typeface="Calibri"/>
                <a:cs typeface="Calibri"/>
              </a:rPr>
              <a:t> speed</a:t>
            </a:r>
            <a:endParaRPr sz="2000" dirty="0">
              <a:latin typeface="Calibri"/>
              <a:cs typeface="Calibri"/>
            </a:endParaRPr>
          </a:p>
          <a:p>
            <a:pPr marL="300894" indent="-267275">
              <a:spcBef>
                <a:spcPts val="552"/>
              </a:spcBef>
              <a:spcAft>
                <a:spcPts val="600"/>
              </a:spcAft>
              <a:buChar char="•"/>
              <a:tabLst>
                <a:tab pos="300894" algn="l"/>
              </a:tabLst>
            </a:pP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Valid</a:t>
            </a:r>
            <a:r>
              <a:rPr sz="2400" spc="5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66FF"/>
                </a:solidFill>
                <a:latin typeface="Calibri"/>
                <a:cs typeface="Calibri"/>
              </a:rPr>
              <a:t>bit</a:t>
            </a:r>
            <a:r>
              <a:rPr sz="2400" spc="3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makes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invalidation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easy</a:t>
            </a:r>
            <a:endParaRPr sz="2400" dirty="0">
              <a:latin typeface="Calibri"/>
              <a:cs typeface="Calibri"/>
            </a:endParaRPr>
          </a:p>
          <a:p>
            <a:pPr marL="300894" indent="-267275">
              <a:spcBef>
                <a:spcPts val="529"/>
              </a:spcBef>
              <a:spcAft>
                <a:spcPts val="600"/>
              </a:spcAft>
              <a:buChar char="•"/>
              <a:tabLst>
                <a:tab pos="300894" algn="l"/>
              </a:tabLst>
            </a:pPr>
            <a:r>
              <a:rPr sz="2400" dirty="0">
                <a:latin typeface="Calibri"/>
                <a:cs typeface="Calibri"/>
              </a:rPr>
              <a:t>Read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misses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easy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since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rely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snooping</a:t>
            </a:r>
            <a:endParaRPr sz="2400" dirty="0">
              <a:latin typeface="Calibri"/>
              <a:cs typeface="Calibri"/>
            </a:endParaRPr>
          </a:p>
          <a:p>
            <a:pPr marL="300894" marR="196674" indent="-267835">
              <a:spcBef>
                <a:spcPts val="940"/>
              </a:spcBef>
              <a:buChar char="•"/>
              <a:tabLst>
                <a:tab pos="300894" algn="l"/>
              </a:tabLst>
            </a:pPr>
            <a:r>
              <a:rPr sz="2400" dirty="0">
                <a:latin typeface="Calibri"/>
                <a:cs typeface="Calibri"/>
              </a:rPr>
              <a:t>Writes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(hit)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Symbol"/>
                <a:cs typeface="Symbol"/>
              </a:rPr>
              <a:t></a:t>
            </a:r>
            <a:r>
              <a:rPr sz="2400" spc="18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whether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valid </a:t>
            </a:r>
            <a:r>
              <a:rPr sz="2400" dirty="0">
                <a:latin typeface="Calibri"/>
                <a:cs typeface="Calibri"/>
              </a:rPr>
              <a:t>copies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cached</a:t>
            </a:r>
            <a:endParaRPr sz="2400" dirty="0">
              <a:latin typeface="Calibri"/>
              <a:cs typeface="Calibri"/>
            </a:endParaRPr>
          </a:p>
          <a:p>
            <a:pPr marL="674070" lvl="1" indent="-212363">
              <a:spcBef>
                <a:spcPts val="410"/>
              </a:spcBef>
              <a:buChar char="–"/>
              <a:tabLst>
                <a:tab pos="674070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 other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copies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No need</a:t>
            </a:r>
            <a:r>
              <a:rPr sz="2000" spc="9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 (wait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to)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place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write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bus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spc="-31" dirty="0">
                <a:latin typeface="Calibri"/>
                <a:cs typeface="Calibri"/>
              </a:rPr>
              <a:t>WB</a:t>
            </a:r>
            <a:endParaRPr sz="2000" dirty="0">
              <a:latin typeface="Calibri"/>
              <a:cs typeface="Calibri"/>
            </a:endParaRPr>
          </a:p>
          <a:p>
            <a:pPr marL="674070" lvl="1" indent="-212363">
              <a:spcBef>
                <a:spcPts val="361"/>
              </a:spcBef>
              <a:buChar char="–"/>
              <a:tabLst>
                <a:tab pos="674070" algn="l"/>
              </a:tabLst>
            </a:pP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If</a:t>
            </a:r>
            <a:r>
              <a:rPr sz="2000" spc="-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other</a:t>
            </a:r>
            <a:r>
              <a:rPr sz="2000" spc="-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copies</a:t>
            </a:r>
            <a:r>
              <a:rPr sz="2000" spc="-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Symbol"/>
                <a:cs typeface="Symbol"/>
              </a:rPr>
              <a:t></a:t>
            </a:r>
            <a:r>
              <a:rPr sz="2000" spc="-40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Must</a:t>
            </a:r>
            <a:r>
              <a:rPr sz="2000" spc="-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wait</a:t>
            </a:r>
            <a:r>
              <a:rPr sz="2000" spc="-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for</a:t>
            </a:r>
            <a:r>
              <a:rPr sz="2000" spc="-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bus</a:t>
            </a:r>
            <a:r>
              <a:rPr sz="2000" spc="-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access</a:t>
            </a:r>
            <a:r>
              <a:rPr sz="2000" spc="-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to</a:t>
            </a:r>
            <a:r>
              <a:rPr sz="2000" spc="-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place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invalidate</a:t>
            </a:r>
            <a:r>
              <a:rPr sz="2000" spc="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on </a:t>
            </a:r>
            <a:r>
              <a:rPr sz="2000" spc="-22" dirty="0">
                <a:solidFill>
                  <a:srgbClr val="3366FF"/>
                </a:solidFill>
                <a:latin typeface="Calibri"/>
                <a:cs typeface="Calibri"/>
              </a:rPr>
              <a:t>bus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696AD-F8B7-A441-6144-31FB3CC2DAE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32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80031"/>
            <a:ext cx="779376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Cache</a:t>
            </a:r>
            <a:r>
              <a:rPr spc="-31" dirty="0"/>
              <a:t> </a:t>
            </a:r>
            <a:r>
              <a:rPr dirty="0"/>
              <a:t>Resources</a:t>
            </a:r>
            <a:r>
              <a:rPr spc="-26" dirty="0"/>
              <a:t> </a:t>
            </a:r>
            <a:r>
              <a:rPr dirty="0"/>
              <a:t>for</a:t>
            </a:r>
            <a:r>
              <a:rPr spc="-26" dirty="0"/>
              <a:t> </a:t>
            </a:r>
            <a:r>
              <a:rPr dirty="0"/>
              <a:t>W</a:t>
            </a:r>
            <a:r>
              <a:rPr lang="en-US" dirty="0"/>
              <a:t>rite-Back</a:t>
            </a:r>
            <a:r>
              <a:rPr spc="-26" dirty="0"/>
              <a:t> </a:t>
            </a:r>
            <a:r>
              <a:rPr dirty="0"/>
              <a:t>Snooping</a:t>
            </a:r>
            <a:r>
              <a:rPr spc="-22" dirty="0"/>
              <a:t> </a:t>
            </a:r>
            <a:r>
              <a:rPr spc="-9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9150" y="1177177"/>
            <a:ext cx="7886700" cy="5545935"/>
          </a:xfrm>
          <a:prstGeom prst="rect">
            <a:avLst/>
          </a:prstGeom>
        </p:spPr>
        <p:txBody>
          <a:bodyPr vert="horz" wrap="square" lIns="0" tIns="44824" rIns="0" bIns="0" rtlCol="0">
            <a:spAutoFit/>
          </a:bodyPr>
          <a:lstStyle/>
          <a:p>
            <a:pPr marL="277360" marR="162494" indent="-266714">
              <a:lnSpc>
                <a:spcPct val="105000"/>
              </a:lnSpc>
              <a:spcBef>
                <a:spcPts val="353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To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track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whether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cache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block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is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FF0000"/>
                </a:solidFill>
                <a:latin typeface="Calibri"/>
                <a:cs typeface="Calibri"/>
              </a:rPr>
              <a:t>shared</a:t>
            </a:r>
            <a:r>
              <a:rPr sz="2206" dirty="0">
                <a:latin typeface="Calibri"/>
                <a:cs typeface="Calibri"/>
              </a:rPr>
              <a:t>,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add</a:t>
            </a:r>
            <a:r>
              <a:rPr sz="2206" spc="5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one</a:t>
            </a:r>
            <a:r>
              <a:rPr sz="2206" spc="5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spc="-18" dirty="0">
                <a:solidFill>
                  <a:srgbClr val="3366FF"/>
                </a:solidFill>
                <a:latin typeface="Calibri"/>
                <a:cs typeface="Calibri"/>
              </a:rPr>
              <a:t>more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state</a:t>
            </a:r>
            <a:r>
              <a:rPr sz="2206" spc="4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bit</a:t>
            </a:r>
            <a:r>
              <a:rPr sz="2206" spc="31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to</a:t>
            </a:r>
            <a:r>
              <a:rPr sz="2206" spc="4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each</a:t>
            </a:r>
            <a:r>
              <a:rPr sz="2206" spc="4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cache</a:t>
            </a:r>
            <a:r>
              <a:rPr sz="2206" spc="4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block</a:t>
            </a:r>
            <a:r>
              <a:rPr sz="2206" dirty="0">
                <a:latin typeface="Calibri"/>
                <a:cs typeface="Calibri"/>
              </a:rPr>
              <a:t>,</a:t>
            </a:r>
            <a:r>
              <a:rPr sz="2206" spc="3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like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the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valid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and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dirty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spc="-18" dirty="0">
                <a:latin typeface="Calibri"/>
                <a:cs typeface="Calibri"/>
              </a:rPr>
              <a:t>bits</a:t>
            </a:r>
            <a:r>
              <a:rPr lang="en-US" sz="2206" spc="-18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(Dirty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says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block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needs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WB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if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replaced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or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read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remotely)</a:t>
            </a:r>
            <a:endParaRPr sz="2206" dirty="0">
              <a:latin typeface="Calibri"/>
              <a:cs typeface="Calibri"/>
            </a:endParaRPr>
          </a:p>
          <a:p>
            <a:pPr marL="653338" marR="173140" lvl="1" indent="-214044">
              <a:lnSpc>
                <a:spcPct val="105000"/>
              </a:lnSpc>
              <a:spcBef>
                <a:spcPts val="750"/>
              </a:spcBef>
              <a:spcAft>
                <a:spcPts val="600"/>
              </a:spcAft>
              <a:buChar char="–"/>
              <a:tabLst>
                <a:tab pos="653338" algn="l"/>
              </a:tabLst>
            </a:pP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Write</a:t>
            </a:r>
            <a:r>
              <a:rPr sz="1853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853" u="sng" spc="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Shared</a:t>
            </a:r>
            <a:r>
              <a:rPr sz="1853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block</a:t>
            </a:r>
            <a:r>
              <a:rPr sz="1853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</a:t>
            </a:r>
            <a:r>
              <a:rPr sz="1853" u="sng" spc="-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Put</a:t>
            </a:r>
            <a:r>
              <a:rPr sz="1853" u="sng" spc="2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invalidate</a:t>
            </a:r>
            <a:r>
              <a:rPr sz="1853" u="sng" spc="2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block#</a:t>
            </a:r>
            <a:r>
              <a:rPr sz="1853" u="sng" spc="2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</a:t>
            </a:r>
            <a:r>
              <a:rPr sz="1853" u="sng" spc="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bus</a:t>
            </a:r>
            <a:r>
              <a:rPr sz="1853" u="sng" spc="2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853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spc="-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mark</a:t>
            </a:r>
            <a:r>
              <a:rPr sz="1853" u="sng" spc="-18" dirty="0">
                <a:latin typeface="Calibri"/>
                <a:cs typeface="Calibri"/>
              </a:rPr>
              <a:t> </a:t>
            </a:r>
            <a:br>
              <a:rPr lang="en-US" sz="1853" u="sng" spc="-18" dirty="0">
                <a:latin typeface="Calibri"/>
                <a:cs typeface="Calibri"/>
              </a:rPr>
            </a:b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own</a:t>
            </a:r>
            <a:r>
              <a:rPr sz="1853" u="sng" spc="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cache</a:t>
            </a:r>
            <a:r>
              <a:rPr sz="1853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copy</a:t>
            </a:r>
            <a:r>
              <a:rPr sz="1853" u="sng" spc="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1853" u="sng" spc="1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block</a:t>
            </a:r>
            <a:r>
              <a:rPr sz="1853" u="sng" spc="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as</a:t>
            </a:r>
            <a:r>
              <a:rPr sz="1853" u="sng" spc="1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modified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(valid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but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not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memory)</a:t>
            </a:r>
            <a:endParaRPr sz="1853" dirty="0">
              <a:latin typeface="Calibri"/>
              <a:cs typeface="Calibri"/>
            </a:endParaRPr>
          </a:p>
          <a:p>
            <a:pPr marL="652777" lvl="1" indent="-213483" algn="just">
              <a:lnSpc>
                <a:spcPct val="105000"/>
              </a:lnSpc>
              <a:spcBef>
                <a:spcPts val="393"/>
              </a:spcBef>
              <a:buChar char="–"/>
              <a:tabLst>
                <a:tab pos="652777" algn="l"/>
              </a:tabLst>
            </a:pP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Read</a:t>
            </a:r>
            <a:r>
              <a:rPr sz="1853" u="sng" spc="1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miss</a:t>
            </a:r>
            <a:r>
              <a:rPr sz="1853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=&gt;</a:t>
            </a:r>
            <a:r>
              <a:rPr sz="1853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Put</a:t>
            </a:r>
            <a:r>
              <a:rPr sz="1853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read</a:t>
            </a:r>
            <a:r>
              <a:rPr sz="1853" u="sng" spc="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miss</a:t>
            </a:r>
            <a:r>
              <a:rPr sz="1853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block#</a:t>
            </a:r>
            <a:r>
              <a:rPr sz="1853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</a:t>
            </a:r>
            <a:r>
              <a:rPr sz="1853" u="sng" spc="1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bus</a:t>
            </a:r>
            <a:r>
              <a:rPr sz="1853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1853" u="sng" spc="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memory</a:t>
            </a:r>
            <a:r>
              <a:rPr sz="1853" u="sng" spc="1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853" u="sng" spc="1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satisfy</a:t>
            </a:r>
            <a:endParaRPr sz="1853" dirty="0">
              <a:latin typeface="Calibri"/>
              <a:cs typeface="Calibri"/>
            </a:endParaRPr>
          </a:p>
          <a:p>
            <a:pPr marL="1081425" marR="38662" indent="-214044">
              <a:lnSpc>
                <a:spcPct val="105000"/>
              </a:lnSpc>
              <a:spcBef>
                <a:spcPts val="596"/>
              </a:spcBef>
            </a:pPr>
            <a:r>
              <a:rPr sz="1677" dirty="0">
                <a:latin typeface="Calibri"/>
                <a:cs typeface="Calibri"/>
              </a:rPr>
              <a:t>»</a:t>
            </a:r>
            <a:r>
              <a:rPr sz="1677" spc="415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If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another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cache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has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valid copy or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if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there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is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no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“</a:t>
            </a:r>
            <a:r>
              <a:rPr sz="1677" i="1" dirty="0">
                <a:latin typeface="Calibri"/>
                <a:cs typeface="Calibri"/>
              </a:rPr>
              <a:t>exclusive</a:t>
            </a:r>
            <a:r>
              <a:rPr sz="1677" dirty="0">
                <a:latin typeface="Calibri"/>
                <a:cs typeface="Calibri"/>
              </a:rPr>
              <a:t>”</a:t>
            </a:r>
            <a:r>
              <a:rPr sz="1677" spc="-9" dirty="0">
                <a:latin typeface="Calibri"/>
                <a:cs typeface="Calibri"/>
              </a:rPr>
              <a:t> option </a:t>
            </a:r>
            <a:br>
              <a:rPr lang="en-US" sz="1677" spc="-9" dirty="0">
                <a:latin typeface="Calibri"/>
                <a:cs typeface="Calibri"/>
              </a:rPr>
            </a:br>
            <a:r>
              <a:rPr sz="1677" dirty="0">
                <a:latin typeface="Calibri"/>
                <a:cs typeface="Calibri"/>
              </a:rPr>
              <a:t>in the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protocol, mark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new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copy as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“</a:t>
            </a:r>
            <a:r>
              <a:rPr sz="1677" i="1" spc="-9" dirty="0">
                <a:latin typeface="Calibri"/>
                <a:cs typeface="Calibri"/>
              </a:rPr>
              <a:t>shared</a:t>
            </a:r>
            <a:r>
              <a:rPr sz="1677" spc="-9" dirty="0">
                <a:latin typeface="Calibri"/>
                <a:cs typeface="Calibri"/>
              </a:rPr>
              <a:t>”</a:t>
            </a:r>
            <a:endParaRPr sz="1677" dirty="0">
              <a:latin typeface="Calibri"/>
              <a:cs typeface="Calibri"/>
            </a:endParaRPr>
          </a:p>
          <a:p>
            <a:pPr marL="867382" algn="just">
              <a:lnSpc>
                <a:spcPct val="105000"/>
              </a:lnSpc>
              <a:spcBef>
                <a:spcPts val="326"/>
              </a:spcBef>
              <a:spcAft>
                <a:spcPts val="600"/>
              </a:spcAft>
            </a:pPr>
            <a:r>
              <a:rPr sz="1677" dirty="0">
                <a:latin typeface="Calibri"/>
                <a:cs typeface="Calibri"/>
              </a:rPr>
              <a:t>»</a:t>
            </a:r>
            <a:r>
              <a:rPr sz="1677" spc="401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Otherwise,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mark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new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copy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exclusive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(the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only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valid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copy)</a:t>
            </a:r>
            <a:endParaRPr sz="1677" dirty="0">
              <a:latin typeface="Calibri"/>
              <a:cs typeface="Calibri"/>
            </a:endParaRPr>
          </a:p>
          <a:p>
            <a:pPr marL="653338" marR="105341" lvl="1" indent="-214044">
              <a:lnSpc>
                <a:spcPct val="105000"/>
              </a:lnSpc>
              <a:spcBef>
                <a:spcPts val="723"/>
              </a:spcBef>
              <a:spcAft>
                <a:spcPts val="600"/>
              </a:spcAft>
              <a:buChar char="–"/>
              <a:tabLst>
                <a:tab pos="653338" algn="l"/>
              </a:tabLst>
            </a:pPr>
            <a:r>
              <a:rPr sz="1853" dirty="0">
                <a:latin typeface="Calibri"/>
                <a:cs typeface="Calibri"/>
              </a:rPr>
              <a:t>No</a:t>
            </a:r>
            <a:r>
              <a:rPr sz="1853" spc="9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more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invalidations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are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sent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if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CPU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writes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to</a:t>
            </a:r>
            <a:r>
              <a:rPr sz="1853" spc="9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its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own</a:t>
            </a:r>
            <a:r>
              <a:rPr sz="1853" spc="4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modified </a:t>
            </a:r>
            <a:br>
              <a:rPr lang="en-US" sz="1853" spc="-9" dirty="0">
                <a:latin typeface="Calibri"/>
                <a:cs typeface="Calibri"/>
              </a:rPr>
            </a:br>
            <a:r>
              <a:rPr sz="1853" dirty="0">
                <a:latin typeface="Calibri"/>
                <a:cs typeface="Calibri"/>
              </a:rPr>
              <a:t>or</a:t>
            </a:r>
            <a:r>
              <a:rPr sz="1853" spc="9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exclusive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blocks;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writes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switch</a:t>
            </a:r>
            <a:r>
              <a:rPr sz="1853" spc="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i="1" dirty="0">
                <a:solidFill>
                  <a:srgbClr val="3366FF"/>
                </a:solidFill>
                <a:latin typeface="Calibri"/>
                <a:cs typeface="Calibri"/>
              </a:rPr>
              <a:t>exclusive</a:t>
            </a:r>
            <a:r>
              <a:rPr sz="1853" i="1" spc="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blocks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to</a:t>
            </a:r>
            <a:r>
              <a:rPr sz="1853" spc="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i="1" spc="-9" dirty="0">
                <a:solidFill>
                  <a:srgbClr val="3366FF"/>
                </a:solidFill>
                <a:latin typeface="Calibri"/>
                <a:cs typeface="Calibri"/>
              </a:rPr>
              <a:t>modified</a:t>
            </a:r>
            <a:endParaRPr sz="1853" dirty="0">
              <a:latin typeface="Calibri"/>
              <a:cs typeface="Calibri"/>
            </a:endParaRPr>
          </a:p>
          <a:p>
            <a:pPr marL="653338" marR="4483" lvl="1" indent="-214044">
              <a:lnSpc>
                <a:spcPct val="105000"/>
              </a:lnSpc>
              <a:spcBef>
                <a:spcPts val="622"/>
              </a:spcBef>
              <a:spcAft>
                <a:spcPts val="600"/>
              </a:spcAft>
              <a:buChar char="–"/>
              <a:tabLst>
                <a:tab pos="653338" algn="l"/>
              </a:tabLst>
            </a:pP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853" u="sng" spc="2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last</a:t>
            </a:r>
            <a:r>
              <a:rPr sz="1853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processor</a:t>
            </a:r>
            <a:r>
              <a:rPr sz="1853" u="sng" spc="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that</a:t>
            </a:r>
            <a:r>
              <a:rPr sz="1853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modified</a:t>
            </a:r>
            <a:r>
              <a:rPr sz="1853" u="sng" spc="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1853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cache</a:t>
            </a:r>
            <a:r>
              <a:rPr sz="1853" u="sng" spc="2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block</a:t>
            </a:r>
            <a:r>
              <a:rPr sz="1853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1853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its</a:t>
            </a:r>
            <a:r>
              <a:rPr sz="1853" u="sng" spc="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owner</a:t>
            </a:r>
            <a:r>
              <a:rPr sz="1853" dirty="0">
                <a:latin typeface="Calibri"/>
                <a:cs typeface="Calibri"/>
              </a:rPr>
              <a:t> and,</a:t>
            </a:r>
            <a:r>
              <a:rPr sz="1853" spc="13" dirty="0">
                <a:latin typeface="Calibri"/>
                <a:cs typeface="Calibri"/>
              </a:rPr>
              <a:t> </a:t>
            </a:r>
            <a:br>
              <a:rPr lang="en-US" sz="1853" spc="13" dirty="0">
                <a:latin typeface="Calibri"/>
                <a:cs typeface="Calibri"/>
              </a:rPr>
            </a:br>
            <a:r>
              <a:rPr sz="1853" spc="-22" dirty="0">
                <a:latin typeface="Calibri"/>
                <a:cs typeface="Calibri"/>
              </a:rPr>
              <a:t>if </a:t>
            </a:r>
            <a:r>
              <a:rPr sz="1853" dirty="0">
                <a:latin typeface="Calibri"/>
                <a:cs typeface="Calibri"/>
              </a:rPr>
              <a:t>protocol</a:t>
            </a:r>
            <a:r>
              <a:rPr sz="1853" spc="9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allows,</a:t>
            </a:r>
            <a:r>
              <a:rPr sz="1853" spc="9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may</a:t>
            </a:r>
            <a:r>
              <a:rPr sz="1853" spc="9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send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copies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of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the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block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to</a:t>
            </a:r>
            <a:r>
              <a:rPr sz="1853" spc="9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other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caches</a:t>
            </a:r>
            <a:endParaRPr sz="1853" dirty="0">
              <a:latin typeface="Calibri"/>
              <a:cs typeface="Calibri"/>
            </a:endParaRPr>
          </a:p>
          <a:p>
            <a:pPr marL="652777" lvl="1" indent="-213483">
              <a:lnSpc>
                <a:spcPct val="105000"/>
              </a:lnSpc>
              <a:spcBef>
                <a:spcPts val="388"/>
              </a:spcBef>
              <a:spcAft>
                <a:spcPts val="600"/>
              </a:spcAft>
              <a:buChar char="–"/>
              <a:tabLst>
                <a:tab pos="652777" algn="l"/>
              </a:tabLst>
            </a:pPr>
            <a:r>
              <a:rPr sz="1853" dirty="0">
                <a:latin typeface="Calibri"/>
                <a:cs typeface="Calibri"/>
              </a:rPr>
              <a:t>Cache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states: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b="1" dirty="0">
                <a:solidFill>
                  <a:srgbClr val="3366FF"/>
                </a:solidFill>
                <a:latin typeface="Calibri"/>
                <a:cs typeface="Calibri"/>
              </a:rPr>
              <a:t>M</a:t>
            </a:r>
            <a:r>
              <a:rPr sz="1853" dirty="0">
                <a:latin typeface="Calibri"/>
                <a:cs typeface="Calibri"/>
              </a:rPr>
              <a:t>odified/dirty,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b="1" dirty="0">
                <a:solidFill>
                  <a:srgbClr val="3366FF"/>
                </a:solidFill>
                <a:latin typeface="Calibri"/>
                <a:cs typeface="Calibri"/>
              </a:rPr>
              <a:t>S</a:t>
            </a:r>
            <a:r>
              <a:rPr sz="1853" dirty="0">
                <a:latin typeface="Calibri"/>
                <a:cs typeface="Calibri"/>
              </a:rPr>
              <a:t>hared,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b="1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853" dirty="0">
                <a:latin typeface="Calibri"/>
                <a:cs typeface="Calibri"/>
              </a:rPr>
              <a:t>nvalid,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b="1" dirty="0">
                <a:solidFill>
                  <a:srgbClr val="3366FF"/>
                </a:solidFill>
                <a:latin typeface="Calibri"/>
                <a:cs typeface="Calibri"/>
              </a:rPr>
              <a:t>E</a:t>
            </a:r>
            <a:r>
              <a:rPr sz="1853" dirty="0">
                <a:latin typeface="Calibri"/>
                <a:cs typeface="Calibri"/>
              </a:rPr>
              <a:t>xclusive,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b="1" spc="-9" dirty="0">
                <a:solidFill>
                  <a:srgbClr val="3366FF"/>
                </a:solidFill>
                <a:latin typeface="Calibri"/>
                <a:cs typeface="Calibri"/>
              </a:rPr>
              <a:t>O</a:t>
            </a:r>
            <a:r>
              <a:rPr sz="1853" spc="-9" dirty="0">
                <a:latin typeface="Calibri"/>
                <a:cs typeface="Calibri"/>
              </a:rPr>
              <a:t>wner</a:t>
            </a:r>
            <a:endParaRPr sz="1853" dirty="0">
              <a:latin typeface="Calibri"/>
              <a:cs typeface="Calibri"/>
            </a:endParaRPr>
          </a:p>
          <a:p>
            <a:pPr marL="652777" lvl="1" indent="-213483">
              <a:lnSpc>
                <a:spcPct val="105000"/>
              </a:lnSpc>
              <a:spcBef>
                <a:spcPts val="512"/>
              </a:spcBef>
              <a:buChar char="–"/>
              <a:tabLst>
                <a:tab pos="652777" algn="l"/>
              </a:tabLst>
            </a:pPr>
            <a:r>
              <a:rPr sz="1853" dirty="0">
                <a:latin typeface="Calibri"/>
                <a:cs typeface="Calibri"/>
              </a:rPr>
              <a:t>Common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snoopy</a:t>
            </a:r>
            <a:r>
              <a:rPr sz="1853" spc="9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protocols: </a:t>
            </a:r>
            <a:r>
              <a:rPr sz="1853" b="1" dirty="0">
                <a:solidFill>
                  <a:srgbClr val="3366FF"/>
                </a:solidFill>
                <a:latin typeface="Calibri"/>
                <a:cs typeface="Calibri"/>
              </a:rPr>
              <a:t>MS</a:t>
            </a:r>
            <a:r>
              <a:rPr sz="1853" b="1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853" b="1" dirty="0">
                <a:solidFill>
                  <a:srgbClr val="3366FF"/>
                </a:solidFill>
                <a:latin typeface="Calibri"/>
                <a:cs typeface="Calibri"/>
              </a:rPr>
              <a:t>,</a:t>
            </a:r>
            <a:r>
              <a:rPr sz="1853" b="1" spc="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b="1" dirty="0">
                <a:solidFill>
                  <a:srgbClr val="3366FF"/>
                </a:solidFill>
                <a:latin typeface="Calibri"/>
                <a:cs typeface="Calibri"/>
              </a:rPr>
              <a:t>MES</a:t>
            </a:r>
            <a:r>
              <a:rPr sz="1853" b="1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853" b="1" dirty="0">
                <a:solidFill>
                  <a:srgbClr val="3366FF"/>
                </a:solidFill>
                <a:latin typeface="Calibri"/>
                <a:cs typeface="Calibri"/>
              </a:rPr>
              <a:t>,</a:t>
            </a:r>
            <a:r>
              <a:rPr sz="1853" b="1" spc="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b="1" dirty="0">
                <a:solidFill>
                  <a:srgbClr val="3366FF"/>
                </a:solidFill>
                <a:latin typeface="Calibri"/>
                <a:cs typeface="Calibri"/>
              </a:rPr>
              <a:t>MOS</a:t>
            </a:r>
            <a:r>
              <a:rPr sz="1853" b="1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853" b="1" dirty="0">
                <a:solidFill>
                  <a:srgbClr val="3366FF"/>
                </a:solidFill>
                <a:latin typeface="Calibri"/>
                <a:cs typeface="Calibri"/>
              </a:rPr>
              <a:t>,</a:t>
            </a:r>
            <a:r>
              <a:rPr sz="1853" b="1" spc="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b="1" spc="-9" dirty="0">
                <a:solidFill>
                  <a:srgbClr val="3366FF"/>
                </a:solidFill>
                <a:latin typeface="Calibri"/>
                <a:cs typeface="Calibri"/>
              </a:rPr>
              <a:t>MOES</a:t>
            </a:r>
            <a:r>
              <a:rPr sz="1853" b="1" spc="-9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endParaRPr sz="1853" b="1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3D4AF8-A0B2-D2B0-5BBF-32663B0F7B4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33</a:t>
            </a:fld>
            <a:endParaRPr lang="en-US" spc="-44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80032"/>
            <a:ext cx="6212609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Cache</a:t>
            </a:r>
            <a:r>
              <a:rPr spc="-31" dirty="0"/>
              <a:t> </a:t>
            </a:r>
            <a:r>
              <a:rPr dirty="0"/>
              <a:t>Behavior</a:t>
            </a:r>
            <a:r>
              <a:rPr spc="-22" dirty="0"/>
              <a:t> </a:t>
            </a:r>
            <a:r>
              <a:rPr dirty="0"/>
              <a:t>in</a:t>
            </a:r>
            <a:r>
              <a:rPr spc="-13" dirty="0"/>
              <a:t> </a:t>
            </a:r>
            <a:r>
              <a:rPr dirty="0"/>
              <a:t>Response</a:t>
            </a:r>
            <a:r>
              <a:rPr spc="-26" dirty="0"/>
              <a:t> </a:t>
            </a:r>
            <a:r>
              <a:rPr dirty="0"/>
              <a:t>to</a:t>
            </a:r>
            <a:r>
              <a:rPr spc="-22" dirty="0"/>
              <a:t> Bus</a:t>
            </a:r>
          </a:p>
        </p:txBody>
      </p:sp>
      <p:sp>
        <p:nvSpPr>
          <p:cNvPr id="3" name="object 3"/>
          <p:cNvSpPr/>
          <p:nvPr/>
        </p:nvSpPr>
        <p:spPr>
          <a:xfrm>
            <a:off x="1473621" y="1733812"/>
            <a:ext cx="4968128" cy="291353"/>
          </a:xfrm>
          <a:custGeom>
            <a:avLst/>
            <a:gdLst/>
            <a:ahLst/>
            <a:cxnLst/>
            <a:rect l="l" t="t" r="r" b="b"/>
            <a:pathLst>
              <a:path w="5630545" h="330200">
                <a:moveTo>
                  <a:pt x="5630332" y="0"/>
                </a:moveTo>
                <a:lnTo>
                  <a:pt x="0" y="0"/>
                </a:lnTo>
                <a:lnTo>
                  <a:pt x="0" y="330200"/>
                </a:lnTo>
                <a:lnTo>
                  <a:pt x="5630332" y="330200"/>
                </a:lnTo>
                <a:lnTo>
                  <a:pt x="563033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829842" y="1320052"/>
            <a:ext cx="162485" cy="35076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06" spc="-44" dirty="0">
                <a:latin typeface="Calibri"/>
                <a:cs typeface="Calibri"/>
              </a:rPr>
              <a:t>•</a:t>
            </a:r>
            <a:endParaRPr sz="2206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8586" y="1341364"/>
            <a:ext cx="7168639" cy="6668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68"/>
              </a:lnSpc>
            </a:pPr>
            <a:r>
              <a:rPr sz="2206" b="1" dirty="0">
                <a:latin typeface="Calibri"/>
                <a:cs typeface="Calibri"/>
              </a:rPr>
              <a:t>Every</a:t>
            </a:r>
            <a:r>
              <a:rPr sz="2206" b="1" spc="57" dirty="0">
                <a:latin typeface="Calibri"/>
                <a:cs typeface="Calibri"/>
              </a:rPr>
              <a:t> </a:t>
            </a:r>
            <a:r>
              <a:rPr sz="2206" b="1" dirty="0">
                <a:latin typeface="Calibri"/>
                <a:cs typeface="Calibri"/>
              </a:rPr>
              <a:t>bus</a:t>
            </a:r>
            <a:r>
              <a:rPr sz="2206" b="1" spc="53" dirty="0">
                <a:latin typeface="Calibri"/>
                <a:cs typeface="Calibri"/>
              </a:rPr>
              <a:t> </a:t>
            </a:r>
            <a:r>
              <a:rPr sz="2206" b="1" dirty="0">
                <a:latin typeface="Calibri"/>
                <a:cs typeface="Calibri"/>
              </a:rPr>
              <a:t>transaction</a:t>
            </a:r>
            <a:r>
              <a:rPr sz="2206" b="1" spc="62" dirty="0">
                <a:latin typeface="Calibri"/>
                <a:cs typeface="Calibri"/>
              </a:rPr>
              <a:t> </a:t>
            </a:r>
            <a:r>
              <a:rPr sz="2206" b="1" dirty="0">
                <a:latin typeface="Calibri"/>
                <a:cs typeface="Calibri"/>
              </a:rPr>
              <a:t>must</a:t>
            </a:r>
            <a:r>
              <a:rPr sz="2206" b="1" spc="49" dirty="0">
                <a:latin typeface="Calibri"/>
                <a:cs typeface="Calibri"/>
              </a:rPr>
              <a:t> </a:t>
            </a:r>
            <a:r>
              <a:rPr sz="2206" b="1" dirty="0">
                <a:latin typeface="Calibri"/>
                <a:cs typeface="Calibri"/>
              </a:rPr>
              <a:t>check</a:t>
            </a:r>
            <a:r>
              <a:rPr sz="2206" b="1" spc="53" dirty="0">
                <a:latin typeface="Calibri"/>
                <a:cs typeface="Calibri"/>
              </a:rPr>
              <a:t> </a:t>
            </a:r>
            <a:r>
              <a:rPr sz="2206" b="1" dirty="0">
                <a:latin typeface="Calibri"/>
                <a:cs typeface="Calibri"/>
              </a:rPr>
              <a:t>the</a:t>
            </a:r>
            <a:r>
              <a:rPr sz="2206" b="1" spc="66" dirty="0">
                <a:latin typeface="Calibri"/>
                <a:cs typeface="Calibri"/>
              </a:rPr>
              <a:t> </a:t>
            </a:r>
            <a:r>
              <a:rPr sz="2206" b="1" spc="-9" dirty="0">
                <a:latin typeface="Calibri"/>
                <a:cs typeface="Calibri"/>
              </a:rPr>
              <a:t>cache</a:t>
            </a:r>
            <a:r>
              <a:rPr lang="en-US" sz="2206" b="1" dirty="0">
                <a:cs typeface="Calibri"/>
              </a:rPr>
              <a:t>-address</a:t>
            </a:r>
            <a:r>
              <a:rPr lang="en-US" sz="2206" b="1" spc="97" dirty="0">
                <a:cs typeface="Calibri"/>
              </a:rPr>
              <a:t> </a:t>
            </a:r>
            <a:r>
              <a:rPr lang="en-US" sz="2206" b="1" spc="-18" dirty="0">
                <a:cs typeface="Calibri"/>
              </a:rPr>
              <a:t>tags</a:t>
            </a:r>
            <a:endParaRPr lang="en-US" sz="2206" b="1" dirty="0">
              <a:cs typeface="Calibri"/>
            </a:endParaRPr>
          </a:p>
          <a:p>
            <a:pPr>
              <a:lnSpc>
                <a:spcPts val="2568"/>
              </a:lnSpc>
            </a:pPr>
            <a:endParaRPr sz="2206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8675" y="1711811"/>
            <a:ext cx="7448550" cy="4466638"/>
          </a:xfrm>
          <a:prstGeom prst="rect">
            <a:avLst/>
          </a:prstGeom>
          <a:noFill/>
        </p:spPr>
        <p:txBody>
          <a:bodyPr vert="horz" wrap="square" lIns="0" tIns="11206" rIns="0" bIns="0" rtlCol="0">
            <a:spAutoFit/>
          </a:bodyPr>
          <a:lstStyle/>
          <a:p>
            <a:pPr marL="439294">
              <a:lnSpc>
                <a:spcPct val="105000"/>
              </a:lnSpc>
              <a:spcBef>
                <a:spcPts val="88"/>
              </a:spcBef>
              <a:spcAft>
                <a:spcPts val="2400"/>
              </a:spcAft>
            </a:pPr>
            <a:r>
              <a:rPr sz="1853" dirty="0">
                <a:latin typeface="Calibri"/>
                <a:cs typeface="Calibri"/>
              </a:rPr>
              <a:t>–</a:t>
            </a:r>
            <a:r>
              <a:rPr sz="1853" spc="340" dirty="0"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Could</a:t>
            </a:r>
            <a:r>
              <a:rPr sz="1853" u="sng" spc="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slow</a:t>
            </a:r>
            <a:r>
              <a:rPr sz="1853" u="sng" spc="1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processor</a:t>
            </a:r>
            <a:r>
              <a:rPr sz="1853" u="sng" spc="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memory</a:t>
            </a:r>
            <a:r>
              <a:rPr sz="1853" u="sng" spc="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loads</a:t>
            </a:r>
            <a:r>
              <a:rPr sz="1853" u="sng" spc="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from</a:t>
            </a:r>
            <a:r>
              <a:rPr sz="1853" u="sng" spc="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L1</a:t>
            </a:r>
            <a:r>
              <a:rPr sz="1853" u="sng" spc="1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53" u="sng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caches</a:t>
            </a:r>
            <a:endParaRPr sz="1853" dirty="0">
              <a:latin typeface="Calibri"/>
              <a:cs typeface="Calibri"/>
            </a:endParaRPr>
          </a:p>
          <a:p>
            <a:pPr marL="278481" indent="-267275">
              <a:lnSpc>
                <a:spcPct val="105000"/>
              </a:lnSpc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A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way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reduce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interference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is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FF0000"/>
                </a:solidFill>
                <a:latin typeface="Calibri"/>
                <a:cs typeface="Calibri"/>
              </a:rPr>
              <a:t>duplicate</a:t>
            </a:r>
            <a:r>
              <a:rPr sz="2206" b="1" spc="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6" b="1" spc="-18" dirty="0">
                <a:solidFill>
                  <a:srgbClr val="FF0000"/>
                </a:solidFill>
                <a:latin typeface="Calibri"/>
                <a:cs typeface="Calibri"/>
              </a:rPr>
              <a:t>tags</a:t>
            </a:r>
            <a:endParaRPr sz="2206" b="1" dirty="0">
              <a:latin typeface="Calibri"/>
              <a:cs typeface="Calibri"/>
            </a:endParaRPr>
          </a:p>
          <a:p>
            <a:pPr marL="652777" lvl="1" indent="-213483">
              <a:lnSpc>
                <a:spcPct val="105000"/>
              </a:lnSpc>
              <a:spcBef>
                <a:spcPts val="437"/>
              </a:spcBef>
              <a:spcAft>
                <a:spcPts val="2400"/>
              </a:spcAft>
              <a:buChar char="–"/>
              <a:tabLst>
                <a:tab pos="652777" algn="l"/>
              </a:tabLst>
            </a:pPr>
            <a:r>
              <a:rPr sz="1853" dirty="0">
                <a:latin typeface="Calibri"/>
                <a:cs typeface="Calibri"/>
              </a:rPr>
              <a:t>One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set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for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CPU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cache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accesses,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one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set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for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bus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accesses</a:t>
            </a:r>
            <a:endParaRPr sz="1853" dirty="0">
              <a:latin typeface="Calibri"/>
              <a:cs typeface="Calibri"/>
            </a:endParaRPr>
          </a:p>
          <a:p>
            <a:pPr marL="278481" indent="-267275">
              <a:lnSpc>
                <a:spcPct val="105000"/>
              </a:lnSpc>
              <a:spcBef>
                <a:spcPts val="4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Another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way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reduce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interference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is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FF0000"/>
                </a:solidFill>
                <a:latin typeface="Calibri"/>
                <a:cs typeface="Calibri"/>
              </a:rPr>
              <a:t>use</a:t>
            </a:r>
            <a:r>
              <a:rPr sz="2206" b="1" spc="5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6" b="1" dirty="0">
                <a:solidFill>
                  <a:srgbClr val="FF0000"/>
                </a:solidFill>
                <a:latin typeface="Calibri"/>
                <a:cs typeface="Calibri"/>
              </a:rPr>
              <a:t>L2</a:t>
            </a:r>
            <a:r>
              <a:rPr sz="2206" b="1" spc="4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6" b="1" spc="-18" dirty="0">
                <a:solidFill>
                  <a:srgbClr val="FF0000"/>
                </a:solidFill>
                <a:latin typeface="Calibri"/>
                <a:cs typeface="Calibri"/>
              </a:rPr>
              <a:t>tags</a:t>
            </a:r>
            <a:endParaRPr sz="2206" b="1" dirty="0">
              <a:latin typeface="Calibri"/>
              <a:cs typeface="Calibri"/>
            </a:endParaRPr>
          </a:p>
          <a:p>
            <a:pPr marL="653338" marR="266714" lvl="1" indent="-214044">
              <a:lnSpc>
                <a:spcPct val="105000"/>
              </a:lnSpc>
              <a:spcBef>
                <a:spcPts val="750"/>
              </a:spcBef>
              <a:spcAft>
                <a:spcPts val="600"/>
              </a:spcAft>
              <a:buChar char="–"/>
              <a:tabLst>
                <a:tab pos="653338" algn="l"/>
              </a:tabLst>
            </a:pPr>
            <a:r>
              <a:rPr sz="1853" dirty="0">
                <a:latin typeface="Calibri"/>
                <a:cs typeface="Calibri"/>
              </a:rPr>
              <a:t>Level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2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(L2)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caches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are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less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frequently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used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than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L1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caches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spc="-22" dirty="0">
                <a:latin typeface="Calibri"/>
                <a:cs typeface="Calibri"/>
              </a:rPr>
              <a:t>so </a:t>
            </a:r>
            <a:r>
              <a:rPr sz="1853" dirty="0">
                <a:latin typeface="Calibri"/>
                <a:cs typeface="Calibri"/>
              </a:rPr>
              <a:t>snooping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bursts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of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bus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transactions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rarely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stalls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the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processor</a:t>
            </a:r>
            <a:endParaRPr sz="1853" dirty="0">
              <a:latin typeface="Calibri"/>
              <a:cs typeface="Calibri"/>
            </a:endParaRPr>
          </a:p>
          <a:p>
            <a:pPr marL="1081425" marR="4483" indent="-214044">
              <a:lnSpc>
                <a:spcPct val="105000"/>
              </a:lnSpc>
              <a:spcBef>
                <a:spcPts val="529"/>
              </a:spcBef>
              <a:spcAft>
                <a:spcPts val="600"/>
              </a:spcAft>
              <a:tabLst>
                <a:tab pos="1080865" algn="l"/>
              </a:tabLst>
            </a:pPr>
            <a:r>
              <a:rPr sz="1500" spc="-44" dirty="0">
                <a:latin typeface="Calibri"/>
                <a:cs typeface="Calibri"/>
              </a:rPr>
              <a:t>»</a:t>
            </a:r>
            <a:r>
              <a:rPr sz="1500" dirty="0">
                <a:latin typeface="Calibri"/>
                <a:cs typeface="Calibri"/>
              </a:rPr>
              <a:t>	</a:t>
            </a:r>
            <a:r>
              <a:rPr dirty="0">
                <a:latin typeface="Calibri"/>
                <a:cs typeface="Calibri"/>
              </a:rPr>
              <a:t>Checking</a:t>
            </a:r>
            <a:r>
              <a:rPr spc="-22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L2</a:t>
            </a:r>
            <a:r>
              <a:rPr spc="-22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tags</a:t>
            </a:r>
            <a:r>
              <a:rPr spc="-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requires</a:t>
            </a:r>
            <a:r>
              <a:rPr spc="-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every</a:t>
            </a:r>
            <a:r>
              <a:rPr spc="-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block</a:t>
            </a:r>
            <a:r>
              <a:rPr spc="-22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22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L1</a:t>
            </a:r>
            <a:r>
              <a:rPr spc="-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cache</a:t>
            </a:r>
            <a:r>
              <a:rPr spc="-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always</a:t>
            </a:r>
            <a:r>
              <a:rPr spc="-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</a:t>
            </a:r>
            <a:r>
              <a:rPr spc="-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22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8" dirty="0">
                <a:latin typeface="Calibri"/>
                <a:cs typeface="Calibri"/>
              </a:rPr>
              <a:t> </a:t>
            </a:r>
            <a:r>
              <a:rPr spc="-22" dirty="0">
                <a:latin typeface="Calibri"/>
                <a:cs typeface="Calibri"/>
              </a:rPr>
              <a:t>L2 </a:t>
            </a:r>
            <a:r>
              <a:rPr dirty="0">
                <a:latin typeface="Calibri"/>
                <a:cs typeface="Calibri"/>
              </a:rPr>
              <a:t>cache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also;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this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restriction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31" dirty="0"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FF0000"/>
                </a:solidFill>
                <a:latin typeface="Calibri"/>
                <a:cs typeface="Calibri"/>
              </a:rPr>
              <a:t>“inclusion</a:t>
            </a:r>
            <a:r>
              <a:rPr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spc="-9" dirty="0">
                <a:solidFill>
                  <a:srgbClr val="FF0000"/>
                </a:solidFill>
                <a:latin typeface="Calibri"/>
                <a:cs typeface="Calibri"/>
              </a:rPr>
              <a:t>property”</a:t>
            </a:r>
            <a:endParaRPr b="1" dirty="0">
              <a:latin typeface="Calibri"/>
              <a:cs typeface="Calibri"/>
            </a:endParaRPr>
          </a:p>
          <a:p>
            <a:pPr marL="653338" marR="76764" lvl="1" indent="-214044" algn="just">
              <a:lnSpc>
                <a:spcPct val="105000"/>
              </a:lnSpc>
              <a:spcBef>
                <a:spcPts val="710"/>
              </a:spcBef>
              <a:buChar char="–"/>
              <a:tabLst>
                <a:tab pos="653338" algn="l"/>
              </a:tabLst>
            </a:pPr>
            <a:r>
              <a:rPr sz="1853" dirty="0">
                <a:latin typeface="Calibri"/>
                <a:cs typeface="Calibri"/>
              </a:rPr>
              <a:t>If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Snoop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hits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an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L2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cache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tag,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the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L2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must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arbitrate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with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its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spc="-22" dirty="0">
                <a:latin typeface="Calibri"/>
                <a:cs typeface="Calibri"/>
              </a:rPr>
              <a:t>L1 </a:t>
            </a:r>
            <a:r>
              <a:rPr sz="1853" dirty="0">
                <a:latin typeface="Calibri"/>
                <a:cs typeface="Calibri"/>
              </a:rPr>
              <a:t>cache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to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update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the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L1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block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state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and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maybe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to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retrieve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spc="-22" dirty="0">
                <a:latin typeface="Calibri"/>
                <a:cs typeface="Calibri"/>
              </a:rPr>
              <a:t>new </a:t>
            </a:r>
            <a:r>
              <a:rPr sz="1853" dirty="0">
                <a:latin typeface="Calibri"/>
                <a:cs typeface="Calibri"/>
              </a:rPr>
              <a:t>cache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block;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retrieving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new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L1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data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usually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stalls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the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processor</a:t>
            </a:r>
            <a:endParaRPr sz="1853" dirty="0">
              <a:latin typeface="Calibri"/>
              <a:cs typeface="Calibri"/>
            </a:endParaRP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9A1316DD-D1B7-ABB8-BA52-970C0D4F8CC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34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Example</a:t>
            </a:r>
            <a:r>
              <a:rPr spc="-44" dirty="0"/>
              <a:t> </a:t>
            </a:r>
            <a:r>
              <a:rPr spc="-9" dirty="0"/>
              <a:t>Protocol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2951" y="1320052"/>
            <a:ext cx="8125032" cy="4004807"/>
          </a:xfrm>
          <a:prstGeom prst="rect">
            <a:avLst/>
          </a:prstGeom>
        </p:spPr>
        <p:txBody>
          <a:bodyPr vert="horz" wrap="square" lIns="0" tIns="44824" rIns="0" bIns="0" rtlCol="0">
            <a:spAutoFit/>
          </a:bodyPr>
          <a:lstStyle/>
          <a:p>
            <a:pPr marL="278481" marR="4483" indent="-267835">
              <a:spcBef>
                <a:spcPts val="353"/>
              </a:spcBef>
              <a:spcAft>
                <a:spcPts val="2400"/>
              </a:spcAft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Snooping</a:t>
            </a:r>
            <a:r>
              <a:rPr sz="2206" spc="8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coherence</a:t>
            </a:r>
            <a:r>
              <a:rPr sz="2206" spc="9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protocol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is</a:t>
            </a:r>
            <a:r>
              <a:rPr sz="2206" spc="88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usually</a:t>
            </a:r>
            <a:r>
              <a:rPr sz="2206" spc="88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implemented</a:t>
            </a:r>
            <a:r>
              <a:rPr sz="2206" spc="97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by </a:t>
            </a:r>
            <a:r>
              <a:rPr sz="2206" dirty="0">
                <a:latin typeface="Calibri"/>
                <a:cs typeface="Calibri"/>
              </a:rPr>
              <a:t>incorporating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finite-state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machine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controller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(FSM)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in </a:t>
            </a:r>
            <a:r>
              <a:rPr sz="2206" dirty="0">
                <a:latin typeface="Calibri"/>
                <a:cs typeface="Calibri"/>
              </a:rPr>
              <a:t>each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spc="-18" dirty="0">
                <a:latin typeface="Calibri"/>
                <a:cs typeface="Calibri"/>
              </a:rPr>
              <a:t>node</a:t>
            </a:r>
            <a:endParaRPr sz="2206" dirty="0">
              <a:latin typeface="Calibri"/>
              <a:cs typeface="Calibri"/>
            </a:endParaRPr>
          </a:p>
          <a:p>
            <a:pPr marL="278481" marR="132236" indent="-267835"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Logically,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think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of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separate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controller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associated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spc="-18" dirty="0">
                <a:latin typeface="Calibri"/>
                <a:cs typeface="Calibri"/>
              </a:rPr>
              <a:t>with </a:t>
            </a:r>
            <a:r>
              <a:rPr sz="2206" dirty="0">
                <a:latin typeface="Calibri"/>
                <a:cs typeface="Calibri"/>
              </a:rPr>
              <a:t>each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cache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spc="-18" dirty="0">
                <a:latin typeface="Calibri"/>
                <a:cs typeface="Calibri"/>
              </a:rPr>
              <a:t>block</a:t>
            </a:r>
            <a:endParaRPr sz="2206" dirty="0">
              <a:latin typeface="Calibri"/>
              <a:cs typeface="Calibri"/>
            </a:endParaRPr>
          </a:p>
          <a:p>
            <a:pPr marL="653338" marR="370934" lvl="1" indent="-214044">
              <a:spcBef>
                <a:spcPts val="657"/>
              </a:spcBef>
              <a:spcAft>
                <a:spcPts val="2400"/>
              </a:spcAft>
              <a:buChar char="–"/>
              <a:tabLst>
                <a:tab pos="653338" algn="l"/>
              </a:tabLst>
            </a:pPr>
            <a:r>
              <a:rPr sz="1853" dirty="0">
                <a:latin typeface="Calibri"/>
                <a:cs typeface="Calibri"/>
              </a:rPr>
              <a:t>That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is,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snooping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operations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or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cache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requests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for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different </a:t>
            </a:r>
            <a:r>
              <a:rPr sz="1853" dirty="0">
                <a:latin typeface="Calibri"/>
                <a:cs typeface="Calibri"/>
              </a:rPr>
              <a:t>blocks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can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proceed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independently</a:t>
            </a:r>
            <a:endParaRPr sz="1853" dirty="0">
              <a:latin typeface="Calibri"/>
              <a:cs typeface="Calibri"/>
            </a:endParaRPr>
          </a:p>
          <a:p>
            <a:pPr marL="277360" marR="201717" indent="-266714"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In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implementations,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single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controller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allows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multiple 	</a:t>
            </a:r>
            <a:r>
              <a:rPr sz="2206" dirty="0">
                <a:latin typeface="Calibri"/>
                <a:cs typeface="Calibri"/>
              </a:rPr>
              <a:t>operations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distinct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blocks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proceed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interleaved fashion</a:t>
            </a:r>
            <a:endParaRPr sz="2206" dirty="0">
              <a:latin typeface="Calibri"/>
              <a:cs typeface="Calibri"/>
            </a:endParaRPr>
          </a:p>
          <a:p>
            <a:pPr marL="653338" marR="407916" lvl="1" indent="-214044">
              <a:spcBef>
                <a:spcPts val="635"/>
              </a:spcBef>
              <a:buChar char="–"/>
              <a:tabLst>
                <a:tab pos="653338" algn="l"/>
              </a:tabLst>
            </a:pPr>
            <a:r>
              <a:rPr lang="en-US" sz="1853" dirty="0">
                <a:latin typeface="Calibri"/>
                <a:cs typeface="Calibri"/>
              </a:rPr>
              <a:t>T</a:t>
            </a:r>
            <a:r>
              <a:rPr sz="1853" dirty="0">
                <a:latin typeface="Calibri"/>
                <a:cs typeface="Calibri"/>
              </a:rPr>
              <a:t>hat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is,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one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operation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may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be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initiated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before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another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spc="-22" dirty="0">
                <a:latin typeface="Calibri"/>
                <a:cs typeface="Calibri"/>
              </a:rPr>
              <a:t>is </a:t>
            </a:r>
            <a:r>
              <a:rPr sz="1853" dirty="0">
                <a:latin typeface="Calibri"/>
                <a:cs typeface="Calibri"/>
              </a:rPr>
              <a:t>completed,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even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through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only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one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cache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access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or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one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spc="-22" dirty="0">
                <a:latin typeface="Calibri"/>
                <a:cs typeface="Calibri"/>
              </a:rPr>
              <a:t>bus </a:t>
            </a:r>
            <a:r>
              <a:rPr sz="1853" dirty="0">
                <a:latin typeface="Calibri"/>
                <a:cs typeface="Calibri"/>
              </a:rPr>
              <a:t>access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is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allowed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at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spc="-18" dirty="0">
                <a:latin typeface="Calibri"/>
                <a:cs typeface="Calibri"/>
              </a:rPr>
              <a:t>time</a:t>
            </a:r>
            <a:endParaRPr sz="1853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863405-F66F-5819-85D8-2D77A941371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35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80031"/>
            <a:ext cx="6608047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18" dirty="0"/>
              <a:t>Write-</a:t>
            </a:r>
            <a:r>
              <a:rPr dirty="0"/>
              <a:t>through</a:t>
            </a:r>
            <a:r>
              <a:rPr spc="-31" dirty="0"/>
              <a:t> </a:t>
            </a:r>
            <a:r>
              <a:rPr dirty="0"/>
              <a:t>Snoopy</a:t>
            </a:r>
            <a:r>
              <a:rPr spc="-31" dirty="0"/>
              <a:t> </a:t>
            </a:r>
            <a:r>
              <a:rPr dirty="0"/>
              <a:t>Invalidate</a:t>
            </a:r>
            <a:r>
              <a:rPr spc="-40" dirty="0"/>
              <a:t> </a:t>
            </a:r>
            <a:r>
              <a:rPr spc="-9" dirty="0"/>
              <a:t>Protocol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1731" y="1210305"/>
            <a:ext cx="5110443" cy="1837132"/>
          </a:xfrm>
          <a:prstGeom prst="rect">
            <a:avLst/>
          </a:prstGeom>
        </p:spPr>
        <p:txBody>
          <a:bodyPr vert="horz" wrap="square" lIns="0" tIns="71718" rIns="0" bIns="0" rtlCol="0">
            <a:spAutoFit/>
          </a:bodyPr>
          <a:lstStyle/>
          <a:p>
            <a:pPr marL="278481" indent="-267275">
              <a:spcBef>
                <a:spcPts val="565"/>
              </a:spcBef>
              <a:buChar char="•"/>
              <a:tabLst>
                <a:tab pos="278481" algn="l"/>
              </a:tabLst>
            </a:pPr>
            <a:r>
              <a:rPr sz="1853" dirty="0">
                <a:latin typeface="Calibri"/>
                <a:cs typeface="Calibri"/>
              </a:rPr>
              <a:t>2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states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per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block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any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of</a:t>
            </a:r>
            <a:r>
              <a:rPr sz="1853" spc="4" dirty="0">
                <a:latin typeface="Calibri"/>
                <a:cs typeface="Calibri"/>
              </a:rPr>
              <a:t> </a:t>
            </a:r>
            <a:r>
              <a:rPr sz="1853" i="1" dirty="0">
                <a:latin typeface="Calibri"/>
                <a:cs typeface="Calibri"/>
              </a:rPr>
              <a:t>p</a:t>
            </a:r>
            <a:r>
              <a:rPr sz="1853" i="1" spc="18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caches</a:t>
            </a:r>
            <a:endParaRPr sz="1853">
              <a:latin typeface="Calibri"/>
              <a:cs typeface="Calibri"/>
            </a:endParaRPr>
          </a:p>
          <a:p>
            <a:pPr marL="651096" lvl="1" indent="-212363">
              <a:spcBef>
                <a:spcPts val="427"/>
              </a:spcBef>
              <a:buChar char="–"/>
              <a:tabLst>
                <a:tab pos="651096" algn="l"/>
              </a:tabLst>
            </a:pPr>
            <a:r>
              <a:rPr sz="1677" dirty="0">
                <a:latin typeface="Calibri"/>
                <a:cs typeface="Calibri"/>
              </a:rPr>
              <a:t>as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in uniprocessor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(Valid,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Invalid)</a:t>
            </a:r>
            <a:endParaRPr sz="1677">
              <a:latin typeface="Calibri"/>
              <a:cs typeface="Calibri"/>
            </a:endParaRPr>
          </a:p>
          <a:p>
            <a:pPr marL="651096" lvl="1" indent="-212363">
              <a:spcBef>
                <a:spcPts val="468"/>
              </a:spcBef>
              <a:buChar char="–"/>
              <a:tabLst>
                <a:tab pos="651096" algn="l"/>
              </a:tabLst>
            </a:pPr>
            <a:r>
              <a:rPr sz="1677" dirty="0">
                <a:latin typeface="Calibri"/>
                <a:cs typeface="Calibri"/>
              </a:rPr>
              <a:t>state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memory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block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is a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p-</a:t>
            </a:r>
            <a:r>
              <a:rPr sz="1677" dirty="0">
                <a:latin typeface="Calibri"/>
                <a:cs typeface="Calibri"/>
              </a:rPr>
              <a:t>vector of </a:t>
            </a:r>
            <a:r>
              <a:rPr sz="1677" spc="-9" dirty="0">
                <a:latin typeface="Calibri"/>
                <a:cs typeface="Calibri"/>
              </a:rPr>
              <a:t>states</a:t>
            </a:r>
            <a:endParaRPr sz="1677">
              <a:latin typeface="Calibri"/>
              <a:cs typeface="Calibri"/>
            </a:endParaRPr>
          </a:p>
          <a:p>
            <a:pPr marL="651096" marR="4483" lvl="1" indent="-212363">
              <a:lnSpc>
                <a:spcPts val="1755"/>
              </a:lnSpc>
              <a:spcBef>
                <a:spcPts val="631"/>
              </a:spcBef>
              <a:buChar char="–"/>
              <a:tabLst>
                <a:tab pos="652777" algn="l"/>
              </a:tabLst>
            </a:pPr>
            <a:r>
              <a:rPr sz="1677" dirty="0">
                <a:latin typeface="Calibri"/>
                <a:cs typeface="Calibri"/>
              </a:rPr>
              <a:t>Hardware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state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bits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are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associated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with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blocks</a:t>
            </a:r>
            <a:r>
              <a:rPr sz="1677" spc="-22" dirty="0">
                <a:latin typeface="Calibri"/>
                <a:cs typeface="Calibri"/>
              </a:rPr>
              <a:t> </a:t>
            </a:r>
            <a:r>
              <a:rPr sz="1677" spc="-18" dirty="0">
                <a:latin typeface="Calibri"/>
                <a:cs typeface="Calibri"/>
              </a:rPr>
              <a:t>that 	</a:t>
            </a:r>
            <a:r>
              <a:rPr sz="1677" dirty="0">
                <a:latin typeface="Calibri"/>
                <a:cs typeface="Calibri"/>
              </a:rPr>
              <a:t>are in a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18" dirty="0">
                <a:latin typeface="Calibri"/>
                <a:cs typeface="Calibri"/>
              </a:rPr>
              <a:t>cache</a:t>
            </a:r>
            <a:endParaRPr sz="1677">
              <a:latin typeface="Calibri"/>
              <a:cs typeface="Calibri"/>
            </a:endParaRPr>
          </a:p>
          <a:p>
            <a:pPr marL="651096" lvl="1" indent="-212363">
              <a:spcBef>
                <a:spcPts val="449"/>
              </a:spcBef>
              <a:buChar char="–"/>
              <a:tabLst>
                <a:tab pos="651096" algn="l"/>
              </a:tabLst>
            </a:pPr>
            <a:r>
              <a:rPr sz="1677" dirty="0">
                <a:latin typeface="Calibri"/>
                <a:cs typeface="Calibri"/>
              </a:rPr>
              <a:t>other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blocks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are seen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as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having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invalid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1731" y="3021597"/>
            <a:ext cx="4050366" cy="621019"/>
          </a:xfrm>
          <a:prstGeom prst="rect">
            <a:avLst/>
          </a:prstGeom>
        </p:spPr>
        <p:txBody>
          <a:bodyPr vert="horz" wrap="square" lIns="0" tIns="53228" rIns="0" bIns="0" rtlCol="0">
            <a:spAutoFit/>
          </a:bodyPr>
          <a:lstStyle/>
          <a:p>
            <a:pPr marL="398951" algn="ctr">
              <a:spcBef>
                <a:spcPts val="419"/>
              </a:spcBef>
              <a:tabLst>
                <a:tab pos="612994" algn="l"/>
              </a:tabLst>
            </a:pPr>
            <a:r>
              <a:rPr sz="1500" spc="-44" dirty="0">
                <a:latin typeface="Calibri"/>
                <a:cs typeface="Calibri"/>
              </a:rPr>
              <a:t>»</a:t>
            </a:r>
            <a:r>
              <a:rPr sz="1500" dirty="0">
                <a:latin typeface="Calibri"/>
                <a:cs typeface="Calibri"/>
              </a:rPr>
              <a:t>	</a:t>
            </a:r>
            <a:r>
              <a:rPr sz="1500" spc="-9" dirty="0">
                <a:latin typeface="Calibri"/>
                <a:cs typeface="Calibri"/>
              </a:rPr>
              <a:t>(not-</a:t>
            </a:r>
            <a:r>
              <a:rPr sz="1500" dirty="0">
                <a:latin typeface="Calibri"/>
                <a:cs typeface="Calibri"/>
              </a:rPr>
              <a:t>present)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state</a:t>
            </a:r>
            <a:r>
              <a:rPr sz="1500" spc="-1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-18" dirty="0">
                <a:latin typeface="Calibri"/>
                <a:cs typeface="Calibri"/>
              </a:rPr>
              <a:t> cache</a:t>
            </a:r>
            <a:endParaRPr sz="1500">
              <a:latin typeface="Calibri"/>
              <a:cs typeface="Calibri"/>
            </a:endParaRPr>
          </a:p>
          <a:p>
            <a:pPr marL="278481" indent="-267275">
              <a:spcBef>
                <a:spcPts val="409"/>
              </a:spcBef>
              <a:buFont typeface="Calibri"/>
              <a:buChar char="•"/>
              <a:tabLst>
                <a:tab pos="278481" algn="l"/>
              </a:tabLst>
            </a:pPr>
            <a:r>
              <a:rPr sz="1853" i="1" dirty="0">
                <a:solidFill>
                  <a:srgbClr val="FF0000"/>
                </a:solidFill>
                <a:latin typeface="Calibri"/>
                <a:cs typeface="Calibri"/>
              </a:rPr>
              <a:t>Writes</a:t>
            </a:r>
            <a:r>
              <a:rPr sz="1853" i="1" spc="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i="1" dirty="0">
                <a:solidFill>
                  <a:srgbClr val="FF0000"/>
                </a:solidFill>
                <a:latin typeface="Calibri"/>
                <a:cs typeface="Calibri"/>
              </a:rPr>
              <a:t>invalidate</a:t>
            </a:r>
            <a:r>
              <a:rPr sz="1853" i="1" spc="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i="1" dirty="0">
                <a:solidFill>
                  <a:srgbClr val="FF0000"/>
                </a:solidFill>
                <a:latin typeface="Calibri"/>
                <a:cs typeface="Calibri"/>
              </a:rPr>
              <a:t>all</a:t>
            </a:r>
            <a:r>
              <a:rPr sz="1853" i="1" spc="1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i="1" dirty="0">
                <a:solidFill>
                  <a:srgbClr val="FF0000"/>
                </a:solidFill>
                <a:latin typeface="Calibri"/>
                <a:cs typeface="Calibri"/>
              </a:rPr>
              <a:t>other</a:t>
            </a:r>
            <a:r>
              <a:rPr sz="1853" i="1" spc="1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i="1" dirty="0">
                <a:solidFill>
                  <a:srgbClr val="FF0000"/>
                </a:solidFill>
                <a:latin typeface="Calibri"/>
                <a:cs typeface="Calibri"/>
              </a:rPr>
              <a:t>cache</a:t>
            </a:r>
            <a:r>
              <a:rPr sz="1853" i="1" spc="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i="1" spc="-9" dirty="0">
                <a:solidFill>
                  <a:srgbClr val="FF0000"/>
                </a:solidFill>
                <a:latin typeface="Calibri"/>
                <a:cs typeface="Calibri"/>
              </a:rPr>
              <a:t>copies</a:t>
            </a:r>
            <a:endParaRPr sz="1853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9795" y="3681355"/>
            <a:ext cx="4653803" cy="735394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24690" marR="4483" indent="-214044">
              <a:lnSpc>
                <a:spcPct val="89500"/>
              </a:lnSpc>
              <a:spcBef>
                <a:spcPts val="300"/>
              </a:spcBef>
            </a:pPr>
            <a:r>
              <a:rPr sz="1677" dirty="0">
                <a:latin typeface="Calibri"/>
                <a:cs typeface="Calibri"/>
              </a:rPr>
              <a:t>–</a:t>
            </a:r>
            <a:r>
              <a:rPr sz="1677" spc="432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can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have multiple simultaneous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readers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block, </a:t>
            </a:r>
            <a:r>
              <a:rPr sz="1677" dirty="0">
                <a:latin typeface="Calibri"/>
                <a:cs typeface="Calibri"/>
              </a:rPr>
              <a:t>but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each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write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invalidates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all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other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copies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held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22" dirty="0">
                <a:latin typeface="Calibri"/>
                <a:cs typeface="Calibri"/>
              </a:rPr>
              <a:t>by </a:t>
            </a:r>
            <a:r>
              <a:rPr sz="1677" dirty="0">
                <a:latin typeface="Calibri"/>
                <a:cs typeface="Calibri"/>
              </a:rPr>
              <a:t>multiple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readers</a:t>
            </a:r>
            <a:endParaRPr sz="1677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434916" y="1857166"/>
            <a:ext cx="801221" cy="1979519"/>
            <a:chOff x="7140505" y="2104788"/>
            <a:chExt cx="908050" cy="2243455"/>
          </a:xfrm>
        </p:grpSpPr>
        <p:sp>
          <p:nvSpPr>
            <p:cNvPr id="7" name="object 7"/>
            <p:cNvSpPr/>
            <p:nvPr/>
          </p:nvSpPr>
          <p:spPr>
            <a:xfrm>
              <a:off x="7144950" y="3087359"/>
              <a:ext cx="349250" cy="616585"/>
            </a:xfrm>
            <a:custGeom>
              <a:avLst/>
              <a:gdLst/>
              <a:ahLst/>
              <a:cxnLst/>
              <a:rect l="l" t="t" r="r" b="b"/>
              <a:pathLst>
                <a:path w="349250" h="616585">
                  <a:moveTo>
                    <a:pt x="0" y="0"/>
                  </a:moveTo>
                  <a:lnTo>
                    <a:pt x="3369" y="103181"/>
                  </a:lnTo>
                  <a:lnTo>
                    <a:pt x="15160" y="197390"/>
                  </a:lnTo>
                  <a:lnTo>
                    <a:pt x="40428" y="285618"/>
                  </a:lnTo>
                  <a:lnTo>
                    <a:pt x="67380" y="366369"/>
                  </a:lnTo>
                  <a:lnTo>
                    <a:pt x="102755" y="436652"/>
                  </a:lnTo>
                  <a:lnTo>
                    <a:pt x="143183" y="500954"/>
                  </a:lnTo>
                  <a:lnTo>
                    <a:pt x="186981" y="550302"/>
                  </a:lnTo>
                  <a:lnTo>
                    <a:pt x="237516" y="584695"/>
                  </a:lnTo>
                  <a:lnTo>
                    <a:pt x="289736" y="610117"/>
                  </a:lnTo>
                  <a:lnTo>
                    <a:pt x="348694" y="616099"/>
                  </a:lnTo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7838968" y="4080296"/>
              <a:ext cx="145415" cy="263525"/>
            </a:xfrm>
            <a:custGeom>
              <a:avLst/>
              <a:gdLst/>
              <a:ahLst/>
              <a:cxnLst/>
              <a:rect l="l" t="t" r="r" b="b"/>
              <a:pathLst>
                <a:path w="145415" h="263525">
                  <a:moveTo>
                    <a:pt x="144868" y="263188"/>
                  </a:moveTo>
                  <a:lnTo>
                    <a:pt x="144868" y="218326"/>
                  </a:lnTo>
                  <a:lnTo>
                    <a:pt x="138130" y="179446"/>
                  </a:lnTo>
                  <a:lnTo>
                    <a:pt x="129707" y="140566"/>
                  </a:lnTo>
                  <a:lnTo>
                    <a:pt x="102755" y="77760"/>
                  </a:lnTo>
                  <a:lnTo>
                    <a:pt x="65696" y="28412"/>
                  </a:lnTo>
                  <a:lnTo>
                    <a:pt x="23583" y="2990"/>
                  </a:lnTo>
                  <a:lnTo>
                    <a:pt x="0" y="0"/>
                  </a:lnTo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7434685" y="2116853"/>
              <a:ext cx="593090" cy="528320"/>
            </a:xfrm>
            <a:custGeom>
              <a:avLst/>
              <a:gdLst/>
              <a:ahLst/>
              <a:cxnLst/>
              <a:rect l="l" t="t" r="r" b="b"/>
              <a:pathLst>
                <a:path w="593090" h="528319">
                  <a:moveTo>
                    <a:pt x="589579" y="264683"/>
                  </a:moveTo>
                  <a:lnTo>
                    <a:pt x="589579" y="221317"/>
                  </a:lnTo>
                  <a:lnTo>
                    <a:pt x="577788" y="182437"/>
                  </a:lnTo>
                  <a:lnTo>
                    <a:pt x="557574" y="145052"/>
                  </a:lnTo>
                  <a:lnTo>
                    <a:pt x="533990" y="109163"/>
                  </a:lnTo>
                  <a:lnTo>
                    <a:pt x="507038" y="77760"/>
                  </a:lnTo>
                  <a:lnTo>
                    <a:pt x="469979" y="52338"/>
                  </a:lnTo>
                  <a:lnTo>
                    <a:pt x="431235" y="31403"/>
                  </a:lnTo>
                  <a:lnTo>
                    <a:pt x="390807" y="14953"/>
                  </a:lnTo>
                  <a:lnTo>
                    <a:pt x="343640" y="2990"/>
                  </a:lnTo>
                  <a:lnTo>
                    <a:pt x="296474" y="0"/>
                  </a:lnTo>
                  <a:lnTo>
                    <a:pt x="249308" y="2990"/>
                  </a:lnTo>
                  <a:lnTo>
                    <a:pt x="202141" y="14953"/>
                  </a:lnTo>
                  <a:lnTo>
                    <a:pt x="158344" y="31403"/>
                  </a:lnTo>
                  <a:lnTo>
                    <a:pt x="122969" y="52338"/>
                  </a:lnTo>
                  <a:lnTo>
                    <a:pt x="85910" y="77760"/>
                  </a:lnTo>
                  <a:lnTo>
                    <a:pt x="55588" y="109163"/>
                  </a:lnTo>
                  <a:lnTo>
                    <a:pt x="30321" y="145052"/>
                  </a:lnTo>
                  <a:lnTo>
                    <a:pt x="15160" y="182437"/>
                  </a:lnTo>
                  <a:lnTo>
                    <a:pt x="3369" y="221317"/>
                  </a:lnTo>
                  <a:lnTo>
                    <a:pt x="0" y="264683"/>
                  </a:lnTo>
                  <a:lnTo>
                    <a:pt x="3369" y="309545"/>
                  </a:lnTo>
                  <a:lnTo>
                    <a:pt x="15160" y="348425"/>
                  </a:lnTo>
                  <a:lnTo>
                    <a:pt x="30321" y="387305"/>
                  </a:lnTo>
                  <a:lnTo>
                    <a:pt x="55588" y="421699"/>
                  </a:lnTo>
                  <a:lnTo>
                    <a:pt x="85910" y="450111"/>
                  </a:lnTo>
                  <a:lnTo>
                    <a:pt x="122969" y="478524"/>
                  </a:lnTo>
                  <a:lnTo>
                    <a:pt x="158344" y="499459"/>
                  </a:lnTo>
                  <a:lnTo>
                    <a:pt x="202141" y="517404"/>
                  </a:lnTo>
                  <a:lnTo>
                    <a:pt x="249308" y="524881"/>
                  </a:lnTo>
                  <a:lnTo>
                    <a:pt x="296474" y="527871"/>
                  </a:lnTo>
                  <a:lnTo>
                    <a:pt x="343640" y="524881"/>
                  </a:lnTo>
                  <a:lnTo>
                    <a:pt x="390807" y="517404"/>
                  </a:lnTo>
                  <a:lnTo>
                    <a:pt x="431235" y="499459"/>
                  </a:lnTo>
                  <a:lnTo>
                    <a:pt x="469979" y="478524"/>
                  </a:lnTo>
                  <a:lnTo>
                    <a:pt x="507038" y="450111"/>
                  </a:lnTo>
                  <a:lnTo>
                    <a:pt x="533990" y="421699"/>
                  </a:lnTo>
                  <a:lnTo>
                    <a:pt x="557574" y="387305"/>
                  </a:lnTo>
                  <a:lnTo>
                    <a:pt x="577788" y="348425"/>
                  </a:lnTo>
                  <a:lnTo>
                    <a:pt x="589579" y="309545"/>
                  </a:lnTo>
                  <a:lnTo>
                    <a:pt x="592948" y="264683"/>
                  </a:lnTo>
                </a:path>
              </a:pathLst>
            </a:custGeom>
            <a:ln w="235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7441424" y="3583828"/>
              <a:ext cx="594995" cy="528320"/>
            </a:xfrm>
            <a:custGeom>
              <a:avLst/>
              <a:gdLst/>
              <a:ahLst/>
              <a:cxnLst/>
              <a:rect l="l" t="t" r="r" b="b"/>
              <a:pathLst>
                <a:path w="594995" h="528320">
                  <a:moveTo>
                    <a:pt x="298159" y="0"/>
                  </a:moveTo>
                  <a:lnTo>
                    <a:pt x="250992" y="4485"/>
                  </a:lnTo>
                  <a:lnTo>
                    <a:pt x="202140" y="14952"/>
                  </a:lnTo>
                  <a:lnTo>
                    <a:pt x="158343" y="31402"/>
                  </a:lnTo>
                  <a:lnTo>
                    <a:pt x="122969" y="53832"/>
                  </a:lnTo>
                  <a:lnTo>
                    <a:pt x="87594" y="77759"/>
                  </a:lnTo>
                  <a:lnTo>
                    <a:pt x="55587" y="109162"/>
                  </a:lnTo>
                  <a:lnTo>
                    <a:pt x="32005" y="145051"/>
                  </a:lnTo>
                  <a:lnTo>
                    <a:pt x="16844" y="183931"/>
                  </a:lnTo>
                  <a:lnTo>
                    <a:pt x="5053" y="221316"/>
                  </a:lnTo>
                  <a:lnTo>
                    <a:pt x="0" y="264683"/>
                  </a:lnTo>
                  <a:lnTo>
                    <a:pt x="5053" y="309544"/>
                  </a:lnTo>
                  <a:lnTo>
                    <a:pt x="16844" y="348424"/>
                  </a:lnTo>
                  <a:lnTo>
                    <a:pt x="32005" y="387304"/>
                  </a:lnTo>
                  <a:lnTo>
                    <a:pt x="55587" y="423194"/>
                  </a:lnTo>
                  <a:lnTo>
                    <a:pt x="87594" y="450110"/>
                  </a:lnTo>
                  <a:lnTo>
                    <a:pt x="122969" y="478523"/>
                  </a:lnTo>
                  <a:lnTo>
                    <a:pt x="158343" y="499459"/>
                  </a:lnTo>
                  <a:lnTo>
                    <a:pt x="202140" y="517403"/>
                  </a:lnTo>
                  <a:lnTo>
                    <a:pt x="250992" y="524880"/>
                  </a:lnTo>
                  <a:lnTo>
                    <a:pt x="298159" y="527871"/>
                  </a:lnTo>
                  <a:lnTo>
                    <a:pt x="345324" y="524880"/>
                  </a:lnTo>
                  <a:lnTo>
                    <a:pt x="392490" y="517403"/>
                  </a:lnTo>
                  <a:lnTo>
                    <a:pt x="432920" y="499459"/>
                  </a:lnTo>
                  <a:lnTo>
                    <a:pt x="471664" y="478523"/>
                  </a:lnTo>
                  <a:lnTo>
                    <a:pt x="507038" y="450110"/>
                  </a:lnTo>
                  <a:lnTo>
                    <a:pt x="535675" y="423194"/>
                  </a:lnTo>
                  <a:lnTo>
                    <a:pt x="559258" y="387304"/>
                  </a:lnTo>
                  <a:lnTo>
                    <a:pt x="579473" y="348424"/>
                  </a:lnTo>
                  <a:lnTo>
                    <a:pt x="591263" y="309544"/>
                  </a:lnTo>
                  <a:lnTo>
                    <a:pt x="591263" y="264683"/>
                  </a:lnTo>
                  <a:lnTo>
                    <a:pt x="594633" y="264683"/>
                  </a:lnTo>
                  <a:lnTo>
                    <a:pt x="591263" y="221316"/>
                  </a:lnTo>
                  <a:lnTo>
                    <a:pt x="579473" y="183931"/>
                  </a:lnTo>
                  <a:lnTo>
                    <a:pt x="559258" y="145051"/>
                  </a:lnTo>
                  <a:lnTo>
                    <a:pt x="535675" y="109162"/>
                  </a:lnTo>
                  <a:lnTo>
                    <a:pt x="507038" y="77759"/>
                  </a:lnTo>
                  <a:lnTo>
                    <a:pt x="471664" y="53832"/>
                  </a:lnTo>
                  <a:lnTo>
                    <a:pt x="432920" y="31402"/>
                  </a:lnTo>
                  <a:lnTo>
                    <a:pt x="392490" y="14952"/>
                  </a:lnTo>
                  <a:lnTo>
                    <a:pt x="345324" y="4485"/>
                  </a:lnTo>
                  <a:lnTo>
                    <a:pt x="298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7441424" y="3583828"/>
              <a:ext cx="594995" cy="528320"/>
            </a:xfrm>
            <a:custGeom>
              <a:avLst/>
              <a:gdLst/>
              <a:ahLst/>
              <a:cxnLst/>
              <a:rect l="l" t="t" r="r" b="b"/>
              <a:pathLst>
                <a:path w="594995" h="528320">
                  <a:moveTo>
                    <a:pt x="591264" y="264683"/>
                  </a:moveTo>
                  <a:lnTo>
                    <a:pt x="591264" y="221317"/>
                  </a:lnTo>
                  <a:lnTo>
                    <a:pt x="579473" y="183932"/>
                  </a:lnTo>
                  <a:lnTo>
                    <a:pt x="559259" y="145052"/>
                  </a:lnTo>
                  <a:lnTo>
                    <a:pt x="535675" y="109163"/>
                  </a:lnTo>
                  <a:lnTo>
                    <a:pt x="507039" y="77760"/>
                  </a:lnTo>
                  <a:lnTo>
                    <a:pt x="471664" y="53833"/>
                  </a:lnTo>
                  <a:lnTo>
                    <a:pt x="432920" y="31403"/>
                  </a:lnTo>
                  <a:lnTo>
                    <a:pt x="392492" y="14953"/>
                  </a:lnTo>
                  <a:lnTo>
                    <a:pt x="345325" y="4486"/>
                  </a:lnTo>
                  <a:lnTo>
                    <a:pt x="298159" y="0"/>
                  </a:lnTo>
                  <a:lnTo>
                    <a:pt x="250992" y="4486"/>
                  </a:lnTo>
                  <a:lnTo>
                    <a:pt x="202141" y="14953"/>
                  </a:lnTo>
                  <a:lnTo>
                    <a:pt x="158344" y="31403"/>
                  </a:lnTo>
                  <a:lnTo>
                    <a:pt x="122969" y="53833"/>
                  </a:lnTo>
                  <a:lnTo>
                    <a:pt x="87594" y="77760"/>
                  </a:lnTo>
                  <a:lnTo>
                    <a:pt x="55589" y="109163"/>
                  </a:lnTo>
                  <a:lnTo>
                    <a:pt x="32005" y="145052"/>
                  </a:lnTo>
                  <a:lnTo>
                    <a:pt x="16845" y="183932"/>
                  </a:lnTo>
                  <a:lnTo>
                    <a:pt x="5053" y="221317"/>
                  </a:lnTo>
                  <a:lnTo>
                    <a:pt x="0" y="264683"/>
                  </a:lnTo>
                  <a:lnTo>
                    <a:pt x="5053" y="309545"/>
                  </a:lnTo>
                  <a:lnTo>
                    <a:pt x="16845" y="348425"/>
                  </a:lnTo>
                  <a:lnTo>
                    <a:pt x="32005" y="387305"/>
                  </a:lnTo>
                  <a:lnTo>
                    <a:pt x="55589" y="423194"/>
                  </a:lnTo>
                  <a:lnTo>
                    <a:pt x="87594" y="450111"/>
                  </a:lnTo>
                  <a:lnTo>
                    <a:pt x="122969" y="478524"/>
                  </a:lnTo>
                  <a:lnTo>
                    <a:pt x="158344" y="499459"/>
                  </a:lnTo>
                  <a:lnTo>
                    <a:pt x="202141" y="517404"/>
                  </a:lnTo>
                  <a:lnTo>
                    <a:pt x="250992" y="524881"/>
                  </a:lnTo>
                  <a:lnTo>
                    <a:pt x="298159" y="527871"/>
                  </a:lnTo>
                  <a:lnTo>
                    <a:pt x="345325" y="524881"/>
                  </a:lnTo>
                  <a:lnTo>
                    <a:pt x="392492" y="517404"/>
                  </a:lnTo>
                  <a:lnTo>
                    <a:pt x="432920" y="499459"/>
                  </a:lnTo>
                  <a:lnTo>
                    <a:pt x="471664" y="478524"/>
                  </a:lnTo>
                  <a:lnTo>
                    <a:pt x="507039" y="450111"/>
                  </a:lnTo>
                  <a:lnTo>
                    <a:pt x="535675" y="423194"/>
                  </a:lnTo>
                  <a:lnTo>
                    <a:pt x="559259" y="387305"/>
                  </a:lnTo>
                  <a:lnTo>
                    <a:pt x="579473" y="348425"/>
                  </a:lnTo>
                  <a:lnTo>
                    <a:pt x="591264" y="309545"/>
                  </a:lnTo>
                  <a:lnTo>
                    <a:pt x="594633" y="264683"/>
                  </a:lnTo>
                </a:path>
              </a:pathLst>
            </a:custGeom>
            <a:ln w="235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937445" y="3271669"/>
            <a:ext cx="87966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44" dirty="0">
                <a:latin typeface="Arial MT"/>
                <a:cs typeface="Arial MT"/>
              </a:rPr>
              <a:t>I</a:t>
            </a:r>
            <a:endParaRPr sz="1853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98801" y="1986130"/>
            <a:ext cx="179854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44" dirty="0">
                <a:latin typeface="Arial MT"/>
                <a:cs typeface="Arial MT"/>
              </a:rPr>
              <a:t>V</a:t>
            </a:r>
            <a:endParaRPr sz="1853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435122" y="1507841"/>
            <a:ext cx="1055594" cy="2562225"/>
            <a:chOff x="7140738" y="1708886"/>
            <a:chExt cx="1196340" cy="2903855"/>
          </a:xfrm>
        </p:grpSpPr>
        <p:sp>
          <p:nvSpPr>
            <p:cNvPr id="15" name="object 15"/>
            <p:cNvSpPr/>
            <p:nvPr/>
          </p:nvSpPr>
          <p:spPr>
            <a:xfrm>
              <a:off x="7144950" y="2496681"/>
              <a:ext cx="313690" cy="591185"/>
            </a:xfrm>
            <a:custGeom>
              <a:avLst/>
              <a:gdLst/>
              <a:ahLst/>
              <a:cxnLst/>
              <a:rect l="l" t="t" r="r" b="b"/>
              <a:pathLst>
                <a:path w="313690" h="591185">
                  <a:moveTo>
                    <a:pt x="313319" y="0"/>
                  </a:moveTo>
                  <a:lnTo>
                    <a:pt x="261099" y="7476"/>
                  </a:lnTo>
                  <a:lnTo>
                    <a:pt x="213932" y="28412"/>
                  </a:lnTo>
                  <a:lnTo>
                    <a:pt x="170135" y="64301"/>
                  </a:lnTo>
                  <a:lnTo>
                    <a:pt x="126338" y="113648"/>
                  </a:lnTo>
                  <a:lnTo>
                    <a:pt x="90963" y="173464"/>
                  </a:lnTo>
                  <a:lnTo>
                    <a:pt x="58957" y="243747"/>
                  </a:lnTo>
                  <a:lnTo>
                    <a:pt x="35374" y="320012"/>
                  </a:lnTo>
                  <a:lnTo>
                    <a:pt x="15159" y="405249"/>
                  </a:lnTo>
                  <a:lnTo>
                    <a:pt x="3368" y="496468"/>
                  </a:lnTo>
                  <a:lnTo>
                    <a:pt x="0" y="590678"/>
                  </a:lnTo>
                  <a:lnTo>
                    <a:pt x="3133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5927" y="2496955"/>
              <a:ext cx="134762" cy="8169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144950" y="2550515"/>
              <a:ext cx="182245" cy="537210"/>
            </a:xfrm>
            <a:custGeom>
              <a:avLst/>
              <a:gdLst/>
              <a:ahLst/>
              <a:cxnLst/>
              <a:rect l="l" t="t" r="r" b="b"/>
              <a:pathLst>
                <a:path w="182245" h="537210">
                  <a:moveTo>
                    <a:pt x="0" y="536843"/>
                  </a:moveTo>
                  <a:lnTo>
                    <a:pt x="0" y="466560"/>
                  </a:lnTo>
                  <a:lnTo>
                    <a:pt x="8422" y="396277"/>
                  </a:lnTo>
                  <a:lnTo>
                    <a:pt x="11791" y="325994"/>
                  </a:lnTo>
                  <a:lnTo>
                    <a:pt x="23583" y="260197"/>
                  </a:lnTo>
                  <a:lnTo>
                    <a:pt x="40428" y="200381"/>
                  </a:lnTo>
                  <a:lnTo>
                    <a:pt x="58957" y="143557"/>
                  </a:lnTo>
                  <a:lnTo>
                    <a:pt x="82541" y="94209"/>
                  </a:lnTo>
                  <a:lnTo>
                    <a:pt x="111177" y="52338"/>
                  </a:lnTo>
                  <a:lnTo>
                    <a:pt x="146552" y="20935"/>
                  </a:lnTo>
                  <a:lnTo>
                    <a:pt x="181927" y="0"/>
                  </a:lnTo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8036057" y="2496681"/>
              <a:ext cx="296545" cy="591185"/>
            </a:xfrm>
            <a:custGeom>
              <a:avLst/>
              <a:gdLst/>
              <a:ahLst/>
              <a:cxnLst/>
              <a:rect l="l" t="t" r="r" b="b"/>
              <a:pathLst>
                <a:path w="296545" h="591185">
                  <a:moveTo>
                    <a:pt x="296474" y="590678"/>
                  </a:moveTo>
                  <a:lnTo>
                    <a:pt x="293105" y="496468"/>
                  </a:lnTo>
                  <a:lnTo>
                    <a:pt x="281313" y="405249"/>
                  </a:lnTo>
                  <a:lnTo>
                    <a:pt x="266153" y="320012"/>
                  </a:lnTo>
                  <a:lnTo>
                    <a:pt x="240885" y="243748"/>
                  </a:lnTo>
                  <a:lnTo>
                    <a:pt x="210564" y="173464"/>
                  </a:lnTo>
                  <a:lnTo>
                    <a:pt x="175189" y="113649"/>
                  </a:lnTo>
                  <a:lnTo>
                    <a:pt x="134761" y="64301"/>
                  </a:lnTo>
                  <a:lnTo>
                    <a:pt x="94332" y="28412"/>
                  </a:lnTo>
                  <a:lnTo>
                    <a:pt x="47166" y="7476"/>
                  </a:lnTo>
                  <a:lnTo>
                    <a:pt x="0" y="0"/>
                  </a:lnTo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7988891" y="3087359"/>
              <a:ext cx="344170" cy="616585"/>
            </a:xfrm>
            <a:custGeom>
              <a:avLst/>
              <a:gdLst/>
              <a:ahLst/>
              <a:cxnLst/>
              <a:rect l="l" t="t" r="r" b="b"/>
              <a:pathLst>
                <a:path w="344170" h="616585">
                  <a:moveTo>
                    <a:pt x="343640" y="0"/>
                  </a:moveTo>
                  <a:lnTo>
                    <a:pt x="0" y="616098"/>
                  </a:lnTo>
                  <a:lnTo>
                    <a:pt x="55589" y="610116"/>
                  </a:lnTo>
                  <a:lnTo>
                    <a:pt x="106123" y="584695"/>
                  </a:lnTo>
                  <a:lnTo>
                    <a:pt x="158343" y="550301"/>
                  </a:lnTo>
                  <a:lnTo>
                    <a:pt x="202140" y="500954"/>
                  </a:lnTo>
                  <a:lnTo>
                    <a:pt x="240884" y="436652"/>
                  </a:lnTo>
                  <a:lnTo>
                    <a:pt x="276259" y="366369"/>
                  </a:lnTo>
                  <a:lnTo>
                    <a:pt x="304896" y="285617"/>
                  </a:lnTo>
                  <a:lnTo>
                    <a:pt x="328480" y="197391"/>
                  </a:lnTo>
                  <a:lnTo>
                    <a:pt x="340271" y="103181"/>
                  </a:lnTo>
                  <a:lnTo>
                    <a:pt x="343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96470" y="3625973"/>
              <a:ext cx="134762" cy="7870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118598" y="3087359"/>
              <a:ext cx="213995" cy="571500"/>
            </a:xfrm>
            <a:custGeom>
              <a:avLst/>
              <a:gdLst/>
              <a:ahLst/>
              <a:cxnLst/>
              <a:rect l="l" t="t" r="r" b="b"/>
              <a:pathLst>
                <a:path w="213995" h="571500">
                  <a:moveTo>
                    <a:pt x="213933" y="0"/>
                  </a:moveTo>
                  <a:lnTo>
                    <a:pt x="213933" y="77760"/>
                  </a:lnTo>
                  <a:lnTo>
                    <a:pt x="207195" y="155520"/>
                  </a:lnTo>
                  <a:lnTo>
                    <a:pt x="198773" y="228794"/>
                  </a:lnTo>
                  <a:lnTo>
                    <a:pt x="183612" y="296086"/>
                  </a:lnTo>
                  <a:lnTo>
                    <a:pt x="163398" y="363378"/>
                  </a:lnTo>
                  <a:lnTo>
                    <a:pt x="143183" y="423194"/>
                  </a:lnTo>
                  <a:lnTo>
                    <a:pt x="116231" y="472542"/>
                  </a:lnTo>
                  <a:lnTo>
                    <a:pt x="79172" y="514412"/>
                  </a:lnTo>
                  <a:lnTo>
                    <a:pt x="43797" y="550302"/>
                  </a:lnTo>
                  <a:lnTo>
                    <a:pt x="0" y="571237"/>
                  </a:lnTo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37212" y="1951138"/>
              <a:ext cx="92648" cy="21927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441423" y="1713097"/>
              <a:ext cx="298450" cy="242570"/>
            </a:xfrm>
            <a:custGeom>
              <a:avLst/>
              <a:gdLst/>
              <a:ahLst/>
              <a:cxnLst/>
              <a:rect l="l" t="t" r="r" b="b"/>
              <a:pathLst>
                <a:path w="298450" h="242569">
                  <a:moveTo>
                    <a:pt x="298159" y="0"/>
                  </a:moveTo>
                  <a:lnTo>
                    <a:pt x="250992" y="2990"/>
                  </a:lnTo>
                  <a:lnTo>
                    <a:pt x="202141" y="10467"/>
                  </a:lnTo>
                  <a:lnTo>
                    <a:pt x="163398" y="23926"/>
                  </a:lnTo>
                  <a:lnTo>
                    <a:pt x="122969" y="44861"/>
                  </a:lnTo>
                  <a:lnTo>
                    <a:pt x="87594" y="70283"/>
                  </a:lnTo>
                  <a:lnTo>
                    <a:pt x="32005" y="130098"/>
                  </a:lnTo>
                  <a:lnTo>
                    <a:pt x="5053" y="203372"/>
                  </a:lnTo>
                  <a:lnTo>
                    <a:pt x="0" y="242252"/>
                  </a:lnTo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32459" y="1951138"/>
              <a:ext cx="116231" cy="22226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739583" y="1713097"/>
              <a:ext cx="296545" cy="242570"/>
            </a:xfrm>
            <a:custGeom>
              <a:avLst/>
              <a:gdLst/>
              <a:ahLst/>
              <a:cxnLst/>
              <a:rect l="l" t="t" r="r" b="b"/>
              <a:pathLst>
                <a:path w="296545" h="242569">
                  <a:moveTo>
                    <a:pt x="296474" y="242252"/>
                  </a:moveTo>
                  <a:lnTo>
                    <a:pt x="293105" y="203372"/>
                  </a:lnTo>
                  <a:lnTo>
                    <a:pt x="281313" y="164492"/>
                  </a:lnTo>
                  <a:lnTo>
                    <a:pt x="264468" y="130098"/>
                  </a:lnTo>
                  <a:lnTo>
                    <a:pt x="240885" y="97200"/>
                  </a:lnTo>
                  <a:lnTo>
                    <a:pt x="208879" y="70283"/>
                  </a:lnTo>
                  <a:lnTo>
                    <a:pt x="173504" y="44861"/>
                  </a:lnTo>
                  <a:lnTo>
                    <a:pt x="134761" y="23926"/>
                  </a:lnTo>
                  <a:lnTo>
                    <a:pt x="94332" y="10467"/>
                  </a:lnTo>
                  <a:lnTo>
                    <a:pt x="47166" y="2990"/>
                  </a:lnTo>
                  <a:lnTo>
                    <a:pt x="0" y="0"/>
                  </a:lnTo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7687362" y="4343485"/>
              <a:ext cx="296545" cy="264795"/>
            </a:xfrm>
            <a:custGeom>
              <a:avLst/>
              <a:gdLst/>
              <a:ahLst/>
              <a:cxnLst/>
              <a:rect l="l" t="t" r="r" b="b"/>
              <a:pathLst>
                <a:path w="296545" h="264795">
                  <a:moveTo>
                    <a:pt x="0" y="264683"/>
                  </a:moveTo>
                  <a:lnTo>
                    <a:pt x="52219" y="261692"/>
                  </a:lnTo>
                  <a:lnTo>
                    <a:pt x="96017" y="251225"/>
                  </a:lnTo>
                  <a:lnTo>
                    <a:pt x="138130" y="233280"/>
                  </a:lnTo>
                  <a:lnTo>
                    <a:pt x="178558" y="212344"/>
                  </a:lnTo>
                  <a:lnTo>
                    <a:pt x="210564" y="186923"/>
                  </a:lnTo>
                  <a:lnTo>
                    <a:pt x="242569" y="155520"/>
                  </a:lnTo>
                  <a:lnTo>
                    <a:pt x="266153" y="119630"/>
                  </a:lnTo>
                  <a:lnTo>
                    <a:pt x="284682" y="82246"/>
                  </a:lnTo>
                  <a:lnTo>
                    <a:pt x="293105" y="43366"/>
                  </a:lnTo>
                  <a:lnTo>
                    <a:pt x="296474" y="0"/>
                  </a:lnTo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69831" y="4101505"/>
              <a:ext cx="212250" cy="29852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390888" y="4343485"/>
              <a:ext cx="296545" cy="264795"/>
            </a:xfrm>
            <a:custGeom>
              <a:avLst/>
              <a:gdLst/>
              <a:ahLst/>
              <a:cxnLst/>
              <a:rect l="l" t="t" r="r" b="b"/>
              <a:pathLst>
                <a:path w="296545" h="264795">
                  <a:moveTo>
                    <a:pt x="0" y="0"/>
                  </a:moveTo>
                  <a:lnTo>
                    <a:pt x="3369" y="43366"/>
                  </a:lnTo>
                  <a:lnTo>
                    <a:pt x="15160" y="82246"/>
                  </a:lnTo>
                  <a:lnTo>
                    <a:pt x="35374" y="119630"/>
                  </a:lnTo>
                  <a:lnTo>
                    <a:pt x="58957" y="155520"/>
                  </a:lnTo>
                  <a:lnTo>
                    <a:pt x="87594" y="186923"/>
                  </a:lnTo>
                  <a:lnTo>
                    <a:pt x="122969" y="212344"/>
                  </a:lnTo>
                  <a:lnTo>
                    <a:pt x="161713" y="233280"/>
                  </a:lnTo>
                  <a:lnTo>
                    <a:pt x="205510" y="251225"/>
                  </a:lnTo>
                  <a:lnTo>
                    <a:pt x="249308" y="261692"/>
                  </a:lnTo>
                  <a:lnTo>
                    <a:pt x="296474" y="264683"/>
                  </a:lnTo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500171" y="2500705"/>
            <a:ext cx="1029260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BusWr</a:t>
            </a:r>
            <a:r>
              <a:rPr sz="1677" b="1" spc="-1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/</a:t>
            </a:r>
            <a:r>
              <a:rPr sz="1677" b="1" spc="-18" dirty="0">
                <a:latin typeface="Arial"/>
                <a:cs typeface="Arial"/>
              </a:rPr>
              <a:t> </a:t>
            </a:r>
            <a:r>
              <a:rPr sz="1677" b="1" spc="-9" dirty="0">
                <a:latin typeface="Arial"/>
                <a:cs typeface="Arial"/>
              </a:rPr>
              <a:t>-</a:t>
            </a:r>
            <a:r>
              <a:rPr sz="1677" b="1" spc="-44" dirty="0">
                <a:latin typeface="Arial"/>
                <a:cs typeface="Arial"/>
              </a:rPr>
              <a:t>-</a:t>
            </a:r>
            <a:endParaRPr sz="1677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342619" y="1470659"/>
            <a:ext cx="795618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dirty="0">
                <a:solidFill>
                  <a:srgbClr val="114FFB"/>
                </a:solidFill>
                <a:latin typeface="Arial"/>
                <a:cs typeface="Arial"/>
              </a:rPr>
              <a:t>PrRd</a:t>
            </a:r>
            <a:r>
              <a:rPr sz="1677" b="1" dirty="0">
                <a:latin typeface="Arial"/>
                <a:cs typeface="Arial"/>
              </a:rPr>
              <a:t>/</a:t>
            </a:r>
            <a:r>
              <a:rPr sz="1677" b="1" spc="-4" dirty="0">
                <a:latin typeface="Arial"/>
                <a:cs typeface="Arial"/>
              </a:rPr>
              <a:t> </a:t>
            </a:r>
            <a:r>
              <a:rPr sz="1677" b="1" spc="-9" dirty="0">
                <a:latin typeface="Arial"/>
                <a:cs typeface="Arial"/>
              </a:rPr>
              <a:t>-</a:t>
            </a:r>
            <a:r>
              <a:rPr sz="1677" b="1" spc="-44" dirty="0">
                <a:latin typeface="Arial"/>
                <a:cs typeface="Arial"/>
              </a:rPr>
              <a:t>-</a:t>
            </a:r>
            <a:endParaRPr sz="1677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342619" y="1863313"/>
            <a:ext cx="1394012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dirty="0">
                <a:solidFill>
                  <a:srgbClr val="114FFB"/>
                </a:solidFill>
                <a:latin typeface="Arial"/>
                <a:cs typeface="Arial"/>
              </a:rPr>
              <a:t>PrWr</a:t>
            </a:r>
            <a:r>
              <a:rPr sz="1677" b="1" spc="-13" dirty="0">
                <a:solidFill>
                  <a:srgbClr val="114FFB"/>
                </a:solidFill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/</a:t>
            </a:r>
            <a:r>
              <a:rPr sz="1677" b="1" spc="-4" dirty="0">
                <a:latin typeface="Arial"/>
                <a:cs typeface="Arial"/>
              </a:rPr>
              <a:t> </a:t>
            </a:r>
            <a:r>
              <a:rPr sz="1677" b="1" spc="-9" dirty="0">
                <a:solidFill>
                  <a:srgbClr val="008000"/>
                </a:solidFill>
                <a:latin typeface="Arial"/>
                <a:cs typeface="Arial"/>
              </a:rPr>
              <a:t>BusWr</a:t>
            </a:r>
            <a:endParaRPr sz="1677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71275" y="3549575"/>
            <a:ext cx="1501027" cy="806594"/>
          </a:xfrm>
          <a:prstGeom prst="rect">
            <a:avLst/>
          </a:prstGeom>
        </p:spPr>
        <p:txBody>
          <a:bodyPr vert="horz" wrap="square" lIns="0" tIns="147918" rIns="0" bIns="0" rtlCol="0">
            <a:spAutoFit/>
          </a:bodyPr>
          <a:lstStyle/>
          <a:p>
            <a:pPr marL="11206">
              <a:spcBef>
                <a:spcPts val="1165"/>
              </a:spcBef>
            </a:pPr>
            <a:r>
              <a:rPr sz="1677" b="1" dirty="0">
                <a:solidFill>
                  <a:srgbClr val="114FFB"/>
                </a:solidFill>
                <a:latin typeface="Arial"/>
                <a:cs typeface="Arial"/>
              </a:rPr>
              <a:t>PrWr</a:t>
            </a:r>
            <a:r>
              <a:rPr sz="1677" b="1" spc="-13" dirty="0">
                <a:solidFill>
                  <a:srgbClr val="114FFB"/>
                </a:solidFill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/</a:t>
            </a:r>
            <a:r>
              <a:rPr sz="1677" b="1" spc="-4" dirty="0">
                <a:latin typeface="Arial"/>
                <a:cs typeface="Arial"/>
              </a:rPr>
              <a:t> </a:t>
            </a:r>
            <a:r>
              <a:rPr sz="1677" b="1" spc="-9" dirty="0">
                <a:solidFill>
                  <a:srgbClr val="008000"/>
                </a:solidFill>
                <a:latin typeface="Arial"/>
                <a:cs typeface="Arial"/>
              </a:rPr>
              <a:t>BusWr</a:t>
            </a:r>
            <a:endParaRPr sz="1677">
              <a:latin typeface="Arial"/>
              <a:cs typeface="Arial"/>
            </a:endParaRPr>
          </a:p>
          <a:p>
            <a:pPr marL="11206">
              <a:spcBef>
                <a:spcPts val="1081"/>
              </a:spcBef>
            </a:pPr>
            <a:r>
              <a:rPr sz="1632" dirty="0">
                <a:solidFill>
                  <a:srgbClr val="008000"/>
                </a:solidFill>
                <a:latin typeface="MS PGothic"/>
                <a:cs typeface="MS PGothic"/>
              </a:rPr>
              <a:t>“</a:t>
            </a:r>
            <a:r>
              <a:rPr sz="1677" b="1" dirty="0">
                <a:solidFill>
                  <a:srgbClr val="008000"/>
                </a:solidFill>
                <a:latin typeface="Arial"/>
                <a:cs typeface="Arial"/>
              </a:rPr>
              <a:t>non-</a:t>
            </a:r>
            <a:r>
              <a:rPr sz="1677" b="1" spc="-9" dirty="0">
                <a:solidFill>
                  <a:srgbClr val="008000"/>
                </a:solidFill>
                <a:latin typeface="Arial"/>
                <a:cs typeface="Arial"/>
              </a:rPr>
              <a:t>allocate</a:t>
            </a:r>
            <a:r>
              <a:rPr sz="1632" spc="-9" dirty="0">
                <a:solidFill>
                  <a:srgbClr val="008000"/>
                </a:solidFill>
                <a:latin typeface="MS PGothic"/>
                <a:cs typeface="MS PGothic"/>
              </a:rPr>
              <a:t>”</a:t>
            </a:r>
            <a:endParaRPr sz="1632">
              <a:latin typeface="MS PGothic"/>
              <a:cs typeface="MS P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31192" y="2963284"/>
            <a:ext cx="1401856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dirty="0">
                <a:solidFill>
                  <a:srgbClr val="114FFB"/>
                </a:solidFill>
                <a:latin typeface="Arial"/>
                <a:cs typeface="Arial"/>
              </a:rPr>
              <a:t>PrRd</a:t>
            </a:r>
            <a:r>
              <a:rPr sz="1677" b="1" spc="-4" dirty="0">
                <a:solidFill>
                  <a:srgbClr val="114FFB"/>
                </a:solidFill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/</a:t>
            </a:r>
            <a:r>
              <a:rPr sz="1677" b="1" spc="-4" dirty="0">
                <a:latin typeface="Arial"/>
                <a:cs typeface="Arial"/>
              </a:rPr>
              <a:t> </a:t>
            </a:r>
            <a:r>
              <a:rPr sz="1677" b="1" spc="-18" dirty="0">
                <a:solidFill>
                  <a:srgbClr val="008000"/>
                </a:solidFill>
                <a:latin typeface="Arial"/>
                <a:cs typeface="Arial"/>
              </a:rPr>
              <a:t>BusRd</a:t>
            </a:r>
            <a:endParaRPr sz="1677">
              <a:latin typeface="Arial"/>
              <a:cs typeface="Arial"/>
            </a:endParaRPr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5422183" y="4515854"/>
          <a:ext cx="998442" cy="2771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3424">
                <a:tc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00" spc="-10" dirty="0">
                          <a:solidFill>
                            <a:srgbClr val="FC0128"/>
                          </a:solidFill>
                          <a:latin typeface="Arial MT"/>
                          <a:cs typeface="Arial MT"/>
                        </a:rPr>
                        <a:t>State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8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00" spc="-25" dirty="0">
                          <a:solidFill>
                            <a:srgbClr val="FC0128"/>
                          </a:solidFill>
                          <a:latin typeface="Arial MT"/>
                          <a:cs typeface="Arial MT"/>
                        </a:rPr>
                        <a:t>Tag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8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00" spc="-20" dirty="0">
                          <a:solidFill>
                            <a:srgbClr val="FC0128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8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5" name="object 35"/>
          <p:cNvGrpSpPr/>
          <p:nvPr/>
        </p:nvGrpSpPr>
        <p:grpSpPr>
          <a:xfrm>
            <a:off x="5546782" y="5671034"/>
            <a:ext cx="2733675" cy="291353"/>
            <a:chOff x="6133952" y="6427172"/>
            <a:chExt cx="3098165" cy="330200"/>
          </a:xfrm>
        </p:grpSpPr>
        <p:sp>
          <p:nvSpPr>
            <p:cNvPr id="36" name="object 36"/>
            <p:cNvSpPr/>
            <p:nvPr/>
          </p:nvSpPr>
          <p:spPr>
            <a:xfrm>
              <a:off x="6133952" y="6427172"/>
              <a:ext cx="3098165" cy="243840"/>
            </a:xfrm>
            <a:custGeom>
              <a:avLst/>
              <a:gdLst/>
              <a:ahLst/>
              <a:cxnLst/>
              <a:rect l="l" t="t" r="r" b="b"/>
              <a:pathLst>
                <a:path w="3098165" h="243840">
                  <a:moveTo>
                    <a:pt x="2855113" y="1029"/>
                  </a:moveTo>
                  <a:lnTo>
                    <a:pt x="2855018" y="243599"/>
                  </a:lnTo>
                  <a:lnTo>
                    <a:pt x="3016859" y="162759"/>
                  </a:lnTo>
                  <a:lnTo>
                    <a:pt x="2895480" y="162759"/>
                  </a:lnTo>
                  <a:lnTo>
                    <a:pt x="2895512" y="81902"/>
                  </a:lnTo>
                  <a:lnTo>
                    <a:pt x="3016700" y="81902"/>
                  </a:lnTo>
                  <a:lnTo>
                    <a:pt x="2855113" y="1029"/>
                  </a:lnTo>
                  <a:close/>
                </a:path>
                <a:path w="3098165" h="243840">
                  <a:moveTo>
                    <a:pt x="242616" y="0"/>
                  </a:moveTo>
                  <a:lnTo>
                    <a:pt x="0" y="121190"/>
                  </a:lnTo>
                  <a:lnTo>
                    <a:pt x="242521" y="242570"/>
                  </a:lnTo>
                  <a:lnTo>
                    <a:pt x="242553" y="161713"/>
                  </a:lnTo>
                  <a:lnTo>
                    <a:pt x="202125" y="161713"/>
                  </a:lnTo>
                  <a:lnTo>
                    <a:pt x="202157" y="80857"/>
                  </a:lnTo>
                  <a:lnTo>
                    <a:pt x="242585" y="80857"/>
                  </a:lnTo>
                  <a:lnTo>
                    <a:pt x="242616" y="0"/>
                  </a:lnTo>
                  <a:close/>
                </a:path>
                <a:path w="3098165" h="243840">
                  <a:moveTo>
                    <a:pt x="242585" y="80857"/>
                  </a:moveTo>
                  <a:lnTo>
                    <a:pt x="242553" y="161713"/>
                  </a:lnTo>
                  <a:lnTo>
                    <a:pt x="2895480" y="162759"/>
                  </a:lnTo>
                  <a:lnTo>
                    <a:pt x="2855050" y="162759"/>
                  </a:lnTo>
                  <a:lnTo>
                    <a:pt x="2855081" y="81902"/>
                  </a:lnTo>
                  <a:lnTo>
                    <a:pt x="2895512" y="81902"/>
                  </a:lnTo>
                  <a:lnTo>
                    <a:pt x="242585" y="80857"/>
                  </a:lnTo>
                  <a:close/>
                </a:path>
                <a:path w="3098165" h="243840">
                  <a:moveTo>
                    <a:pt x="3016700" y="81902"/>
                  </a:moveTo>
                  <a:lnTo>
                    <a:pt x="2895512" y="81902"/>
                  </a:lnTo>
                  <a:lnTo>
                    <a:pt x="2895480" y="162759"/>
                  </a:lnTo>
                  <a:lnTo>
                    <a:pt x="3016859" y="162759"/>
                  </a:lnTo>
                  <a:lnTo>
                    <a:pt x="3097636" y="122410"/>
                  </a:lnTo>
                  <a:lnTo>
                    <a:pt x="3016700" y="81902"/>
                  </a:lnTo>
                  <a:close/>
                </a:path>
                <a:path w="3098165" h="243840">
                  <a:moveTo>
                    <a:pt x="242585" y="80857"/>
                  </a:moveTo>
                  <a:lnTo>
                    <a:pt x="202157" y="80857"/>
                  </a:lnTo>
                  <a:lnTo>
                    <a:pt x="202125" y="161713"/>
                  </a:lnTo>
                  <a:lnTo>
                    <a:pt x="242553" y="161713"/>
                  </a:lnTo>
                  <a:lnTo>
                    <a:pt x="242585" y="80857"/>
                  </a:lnTo>
                  <a:close/>
                </a:path>
              </a:pathLst>
            </a:custGeom>
            <a:solidFill>
              <a:srgbClr val="114FF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6784710" y="6534886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5">
                  <a:moveTo>
                    <a:pt x="0" y="0"/>
                  </a:moveTo>
                  <a:lnTo>
                    <a:pt x="0" y="207580"/>
                  </a:lnTo>
                </a:path>
              </a:pathLst>
            </a:custGeom>
            <a:ln w="282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520138" y="5976769"/>
            <a:ext cx="914960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dirty="0">
                <a:latin typeface="Arial MT"/>
                <a:cs typeface="Arial MT"/>
              </a:rPr>
              <a:t>I/O</a:t>
            </a:r>
            <a:r>
              <a:rPr sz="1412" spc="-57" dirty="0">
                <a:latin typeface="Arial MT"/>
                <a:cs typeface="Arial MT"/>
              </a:rPr>
              <a:t> </a:t>
            </a:r>
            <a:r>
              <a:rPr sz="1412" spc="-9" dirty="0">
                <a:latin typeface="Arial MT"/>
                <a:cs typeface="Arial MT"/>
              </a:rPr>
              <a:t>devices</a:t>
            </a:r>
            <a:endParaRPr sz="1412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647312" y="5949236"/>
            <a:ext cx="940734" cy="251694"/>
          </a:xfrm>
          <a:prstGeom prst="rect">
            <a:avLst/>
          </a:prstGeom>
          <a:ln w="8423">
            <a:solidFill>
              <a:srgbClr val="000000"/>
            </a:solidFill>
          </a:ln>
        </p:spPr>
        <p:txBody>
          <a:bodyPr vert="horz" wrap="square" lIns="0" tIns="46504" rIns="0" bIns="0" rtlCol="0">
            <a:spAutoFit/>
          </a:bodyPr>
          <a:lstStyle/>
          <a:p>
            <a:pPr marL="350763">
              <a:lnSpc>
                <a:spcPts val="1650"/>
              </a:lnSpc>
              <a:spcBef>
                <a:spcPts val="366"/>
              </a:spcBef>
            </a:pPr>
            <a:r>
              <a:rPr sz="1412" spc="-22" dirty="0">
                <a:latin typeface="Arial MT"/>
                <a:cs typeface="Arial MT"/>
              </a:rPr>
              <a:t>Mem</a:t>
            </a:r>
            <a:endParaRPr sz="1412">
              <a:latin typeface="Arial MT"/>
              <a:cs typeface="Arial M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783912" y="5620701"/>
            <a:ext cx="0" cy="163046"/>
          </a:xfrm>
          <a:custGeom>
            <a:avLst/>
            <a:gdLst/>
            <a:ahLst/>
            <a:cxnLst/>
            <a:rect l="l" t="t" r="r" b="b"/>
            <a:pathLst>
              <a:path h="184784">
                <a:moveTo>
                  <a:pt x="0" y="0"/>
                </a:moveTo>
                <a:lnTo>
                  <a:pt x="0" y="184386"/>
                </a:lnTo>
              </a:path>
            </a:pathLst>
          </a:custGeom>
          <a:ln w="30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41" name="object 41"/>
          <p:cNvGrpSpPr/>
          <p:nvPr/>
        </p:nvGrpSpPr>
        <p:grpSpPr>
          <a:xfrm>
            <a:off x="5584563" y="4923735"/>
            <a:ext cx="401170" cy="439831"/>
            <a:chOff x="6176771" y="5580233"/>
            <a:chExt cx="454659" cy="498475"/>
          </a:xfrm>
        </p:grpSpPr>
        <p:sp>
          <p:nvSpPr>
            <p:cNvPr id="42" name="object 42"/>
            <p:cNvSpPr/>
            <p:nvPr/>
          </p:nvSpPr>
          <p:spPr>
            <a:xfrm>
              <a:off x="6405380" y="5968443"/>
              <a:ext cx="0" cy="110489"/>
            </a:xfrm>
            <a:custGeom>
              <a:avLst/>
              <a:gdLst/>
              <a:ahLst/>
              <a:cxnLst/>
              <a:rect l="l" t="t" r="r" b="b"/>
              <a:pathLst>
                <a:path h="110489">
                  <a:moveTo>
                    <a:pt x="0" y="0"/>
                  </a:moveTo>
                  <a:lnTo>
                    <a:pt x="0" y="109917"/>
                  </a:lnTo>
                </a:path>
              </a:pathLst>
            </a:custGeom>
            <a:ln w="282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3" name="object 43"/>
            <p:cNvSpPr/>
            <p:nvPr/>
          </p:nvSpPr>
          <p:spPr>
            <a:xfrm>
              <a:off x="6190247" y="5593709"/>
              <a:ext cx="427990" cy="388620"/>
            </a:xfrm>
            <a:custGeom>
              <a:avLst/>
              <a:gdLst/>
              <a:ahLst/>
              <a:cxnLst/>
              <a:rect l="l" t="t" r="r" b="b"/>
              <a:pathLst>
                <a:path w="427990" h="388620">
                  <a:moveTo>
                    <a:pt x="214462" y="0"/>
                  </a:moveTo>
                  <a:lnTo>
                    <a:pt x="146103" y="9766"/>
                  </a:lnTo>
                  <a:lnTo>
                    <a:pt x="85785" y="35402"/>
                  </a:lnTo>
                  <a:lnTo>
                    <a:pt x="40212" y="76909"/>
                  </a:lnTo>
                  <a:lnTo>
                    <a:pt x="10723" y="131845"/>
                  </a:lnTo>
                  <a:lnTo>
                    <a:pt x="0" y="161143"/>
                  </a:lnTo>
                  <a:lnTo>
                    <a:pt x="0" y="225845"/>
                  </a:lnTo>
                  <a:lnTo>
                    <a:pt x="21446" y="280780"/>
                  </a:lnTo>
                  <a:lnTo>
                    <a:pt x="61658" y="329611"/>
                  </a:lnTo>
                  <a:lnTo>
                    <a:pt x="113934" y="365014"/>
                  </a:lnTo>
                  <a:lnTo>
                    <a:pt x="178272" y="384547"/>
                  </a:lnTo>
                  <a:lnTo>
                    <a:pt x="214462" y="388209"/>
                  </a:lnTo>
                  <a:lnTo>
                    <a:pt x="245291" y="384547"/>
                  </a:lnTo>
                  <a:lnTo>
                    <a:pt x="309631" y="365014"/>
                  </a:lnTo>
                  <a:lnTo>
                    <a:pt x="363246" y="329611"/>
                  </a:lnTo>
                  <a:lnTo>
                    <a:pt x="402117" y="280780"/>
                  </a:lnTo>
                  <a:lnTo>
                    <a:pt x="423564" y="225845"/>
                  </a:lnTo>
                  <a:lnTo>
                    <a:pt x="423564" y="194105"/>
                  </a:lnTo>
                  <a:lnTo>
                    <a:pt x="427584" y="194105"/>
                  </a:lnTo>
                  <a:lnTo>
                    <a:pt x="416862" y="131845"/>
                  </a:lnTo>
                  <a:lnTo>
                    <a:pt x="384691" y="76909"/>
                  </a:lnTo>
                  <a:lnTo>
                    <a:pt x="337778" y="35402"/>
                  </a:lnTo>
                  <a:lnTo>
                    <a:pt x="281482" y="9766"/>
                  </a:lnTo>
                  <a:lnTo>
                    <a:pt x="245291" y="2442"/>
                  </a:lnTo>
                  <a:lnTo>
                    <a:pt x="2144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4" name="object 44"/>
            <p:cNvSpPr/>
            <p:nvPr/>
          </p:nvSpPr>
          <p:spPr>
            <a:xfrm>
              <a:off x="6190247" y="5593709"/>
              <a:ext cx="427990" cy="388620"/>
            </a:xfrm>
            <a:custGeom>
              <a:avLst/>
              <a:gdLst/>
              <a:ahLst/>
              <a:cxnLst/>
              <a:rect l="l" t="t" r="r" b="b"/>
              <a:pathLst>
                <a:path w="427990" h="388620">
                  <a:moveTo>
                    <a:pt x="423563" y="194104"/>
                  </a:moveTo>
                  <a:lnTo>
                    <a:pt x="423563" y="161143"/>
                  </a:lnTo>
                  <a:lnTo>
                    <a:pt x="416861" y="131844"/>
                  </a:lnTo>
                  <a:lnTo>
                    <a:pt x="384691" y="76909"/>
                  </a:lnTo>
                  <a:lnTo>
                    <a:pt x="337778" y="35402"/>
                  </a:lnTo>
                  <a:lnTo>
                    <a:pt x="281481" y="9766"/>
                  </a:lnTo>
                  <a:lnTo>
                    <a:pt x="214462" y="0"/>
                  </a:lnTo>
                  <a:lnTo>
                    <a:pt x="178271" y="2441"/>
                  </a:lnTo>
                  <a:lnTo>
                    <a:pt x="113933" y="21974"/>
                  </a:lnTo>
                  <a:lnTo>
                    <a:pt x="61657" y="54935"/>
                  </a:lnTo>
                  <a:lnTo>
                    <a:pt x="21446" y="103766"/>
                  </a:lnTo>
                  <a:lnTo>
                    <a:pt x="0" y="161143"/>
                  </a:lnTo>
                  <a:lnTo>
                    <a:pt x="0" y="194104"/>
                  </a:lnTo>
                  <a:lnTo>
                    <a:pt x="0" y="225845"/>
                  </a:lnTo>
                  <a:lnTo>
                    <a:pt x="21446" y="280780"/>
                  </a:lnTo>
                  <a:lnTo>
                    <a:pt x="61657" y="329611"/>
                  </a:lnTo>
                  <a:lnTo>
                    <a:pt x="113933" y="365014"/>
                  </a:lnTo>
                  <a:lnTo>
                    <a:pt x="178271" y="384547"/>
                  </a:lnTo>
                  <a:lnTo>
                    <a:pt x="214462" y="388209"/>
                  </a:lnTo>
                  <a:lnTo>
                    <a:pt x="245291" y="384547"/>
                  </a:lnTo>
                  <a:lnTo>
                    <a:pt x="309629" y="365014"/>
                  </a:lnTo>
                  <a:lnTo>
                    <a:pt x="363245" y="329611"/>
                  </a:lnTo>
                  <a:lnTo>
                    <a:pt x="402116" y="280780"/>
                  </a:lnTo>
                  <a:lnTo>
                    <a:pt x="423563" y="225845"/>
                  </a:lnTo>
                  <a:lnTo>
                    <a:pt x="427584" y="194104"/>
                  </a:lnTo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720076" y="5030097"/>
            <a:ext cx="154641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spc="-569" dirty="0">
                <a:latin typeface="Arial MT"/>
                <a:cs typeface="Arial MT"/>
              </a:rPr>
              <a:t>P</a:t>
            </a:r>
            <a:r>
              <a:rPr sz="1147" spc="-26" dirty="0">
                <a:latin typeface="Arial MT"/>
                <a:cs typeface="Arial MT"/>
              </a:rPr>
              <a:t>1</a:t>
            </a:r>
            <a:endParaRPr sz="1147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503022" y="5363260"/>
            <a:ext cx="564216" cy="265721"/>
          </a:xfrm>
          <a:prstGeom prst="rect">
            <a:avLst/>
          </a:prstGeom>
          <a:ln w="8423">
            <a:solidFill>
              <a:srgbClr val="000000"/>
            </a:solidFill>
          </a:ln>
        </p:spPr>
        <p:txBody>
          <a:bodyPr vert="horz" wrap="square" lIns="0" tIns="59951" rIns="0" bIns="0" rtlCol="0">
            <a:spAutoFit/>
          </a:bodyPr>
          <a:lstStyle/>
          <a:p>
            <a:pPr marL="36981" algn="ctr">
              <a:lnSpc>
                <a:spcPts val="1553"/>
              </a:lnSpc>
              <a:spcBef>
                <a:spcPts val="472"/>
              </a:spcBef>
            </a:pPr>
            <a:r>
              <a:rPr sz="1412" spc="-44" dirty="0">
                <a:latin typeface="Arial MT"/>
                <a:cs typeface="Arial MT"/>
              </a:rPr>
              <a:t>$</a:t>
            </a:r>
            <a:endParaRPr sz="1412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7701587" y="5606699"/>
            <a:ext cx="310403" cy="354666"/>
            <a:chOff x="8576065" y="6354258"/>
            <a:chExt cx="351790" cy="401955"/>
          </a:xfrm>
        </p:grpSpPr>
        <p:sp>
          <p:nvSpPr>
            <p:cNvPr id="48" name="object 48"/>
            <p:cNvSpPr/>
            <p:nvPr/>
          </p:nvSpPr>
          <p:spPr>
            <a:xfrm>
              <a:off x="8589541" y="6548362"/>
              <a:ext cx="3175" cy="194310"/>
            </a:xfrm>
            <a:custGeom>
              <a:avLst/>
              <a:gdLst/>
              <a:ahLst/>
              <a:cxnLst/>
              <a:rect l="l" t="t" r="r" b="b"/>
              <a:pathLst>
                <a:path w="3175" h="194309">
                  <a:moveTo>
                    <a:pt x="0" y="0"/>
                  </a:moveTo>
                  <a:lnTo>
                    <a:pt x="2680" y="194104"/>
                  </a:lnTo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9" name="object 49"/>
            <p:cNvSpPr/>
            <p:nvPr/>
          </p:nvSpPr>
          <p:spPr>
            <a:xfrm>
              <a:off x="8913246" y="6354258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5">
                  <a:moveTo>
                    <a:pt x="0" y="0"/>
                  </a:moveTo>
                  <a:lnTo>
                    <a:pt x="0" y="207580"/>
                  </a:lnTo>
                </a:path>
              </a:pathLst>
            </a:custGeom>
            <a:ln w="282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50" name="object 50"/>
          <p:cNvGrpSpPr/>
          <p:nvPr/>
        </p:nvGrpSpPr>
        <p:grpSpPr>
          <a:xfrm>
            <a:off x="7798569" y="4909732"/>
            <a:ext cx="400050" cy="439831"/>
            <a:chOff x="8685978" y="5564363"/>
            <a:chExt cx="453390" cy="498475"/>
          </a:xfrm>
        </p:grpSpPr>
        <p:sp>
          <p:nvSpPr>
            <p:cNvPr id="51" name="object 51"/>
            <p:cNvSpPr/>
            <p:nvPr/>
          </p:nvSpPr>
          <p:spPr>
            <a:xfrm>
              <a:off x="8913247" y="5952573"/>
              <a:ext cx="0" cy="110489"/>
            </a:xfrm>
            <a:custGeom>
              <a:avLst/>
              <a:gdLst/>
              <a:ahLst/>
              <a:cxnLst/>
              <a:rect l="l" t="t" r="r" b="b"/>
              <a:pathLst>
                <a:path h="110489">
                  <a:moveTo>
                    <a:pt x="0" y="0"/>
                  </a:moveTo>
                  <a:lnTo>
                    <a:pt x="0" y="109917"/>
                  </a:lnTo>
                </a:path>
              </a:pathLst>
            </a:custGeom>
            <a:ln w="282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2" name="object 52"/>
            <p:cNvSpPr/>
            <p:nvPr/>
          </p:nvSpPr>
          <p:spPr>
            <a:xfrm>
              <a:off x="8699454" y="5577839"/>
              <a:ext cx="426720" cy="388620"/>
            </a:xfrm>
            <a:custGeom>
              <a:avLst/>
              <a:gdLst/>
              <a:ahLst/>
              <a:cxnLst/>
              <a:rect l="l" t="t" r="r" b="b"/>
              <a:pathLst>
                <a:path w="426720" h="388620">
                  <a:moveTo>
                    <a:pt x="213122" y="0"/>
                  </a:moveTo>
                  <a:lnTo>
                    <a:pt x="146103" y="8545"/>
                  </a:lnTo>
                  <a:lnTo>
                    <a:pt x="85785" y="37844"/>
                  </a:lnTo>
                  <a:lnTo>
                    <a:pt x="38872" y="80572"/>
                  </a:lnTo>
                  <a:lnTo>
                    <a:pt x="10723" y="131845"/>
                  </a:lnTo>
                  <a:lnTo>
                    <a:pt x="0" y="164806"/>
                  </a:lnTo>
                  <a:lnTo>
                    <a:pt x="0" y="225845"/>
                  </a:lnTo>
                  <a:lnTo>
                    <a:pt x="21446" y="284443"/>
                  </a:lnTo>
                  <a:lnTo>
                    <a:pt x="60318" y="333274"/>
                  </a:lnTo>
                  <a:lnTo>
                    <a:pt x="113932" y="368677"/>
                  </a:lnTo>
                  <a:lnTo>
                    <a:pt x="146103" y="378443"/>
                  </a:lnTo>
                  <a:lnTo>
                    <a:pt x="176931" y="388209"/>
                  </a:lnTo>
                  <a:lnTo>
                    <a:pt x="245291" y="388209"/>
                  </a:lnTo>
                  <a:lnTo>
                    <a:pt x="280141" y="378443"/>
                  </a:lnTo>
                  <a:lnTo>
                    <a:pt x="337778" y="351586"/>
                  </a:lnTo>
                  <a:lnTo>
                    <a:pt x="383350" y="310079"/>
                  </a:lnTo>
                  <a:lnTo>
                    <a:pt x="415521" y="255144"/>
                  </a:lnTo>
                  <a:lnTo>
                    <a:pt x="422222" y="225845"/>
                  </a:lnTo>
                  <a:lnTo>
                    <a:pt x="422222" y="194105"/>
                  </a:lnTo>
                  <a:lnTo>
                    <a:pt x="426243" y="194105"/>
                  </a:lnTo>
                  <a:lnTo>
                    <a:pt x="415521" y="131845"/>
                  </a:lnTo>
                  <a:lnTo>
                    <a:pt x="383350" y="80572"/>
                  </a:lnTo>
                  <a:lnTo>
                    <a:pt x="337778" y="37844"/>
                  </a:lnTo>
                  <a:lnTo>
                    <a:pt x="280141" y="8545"/>
                  </a:lnTo>
                  <a:lnTo>
                    <a:pt x="245291" y="2442"/>
                  </a:lnTo>
                  <a:lnTo>
                    <a:pt x="2131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53"/>
            <p:cNvSpPr/>
            <p:nvPr/>
          </p:nvSpPr>
          <p:spPr>
            <a:xfrm>
              <a:off x="8699454" y="5577839"/>
              <a:ext cx="426720" cy="388620"/>
            </a:xfrm>
            <a:custGeom>
              <a:avLst/>
              <a:gdLst/>
              <a:ahLst/>
              <a:cxnLst/>
              <a:rect l="l" t="t" r="r" b="b"/>
              <a:pathLst>
                <a:path w="426720" h="388620">
                  <a:moveTo>
                    <a:pt x="422221" y="194104"/>
                  </a:moveTo>
                  <a:lnTo>
                    <a:pt x="422221" y="164805"/>
                  </a:lnTo>
                  <a:lnTo>
                    <a:pt x="415519" y="131844"/>
                  </a:lnTo>
                  <a:lnTo>
                    <a:pt x="383350" y="80571"/>
                  </a:lnTo>
                  <a:lnTo>
                    <a:pt x="337777" y="37844"/>
                  </a:lnTo>
                  <a:lnTo>
                    <a:pt x="280140" y="8545"/>
                  </a:lnTo>
                  <a:lnTo>
                    <a:pt x="213121" y="0"/>
                  </a:lnTo>
                  <a:lnTo>
                    <a:pt x="176931" y="2441"/>
                  </a:lnTo>
                  <a:lnTo>
                    <a:pt x="113932" y="21974"/>
                  </a:lnTo>
                  <a:lnTo>
                    <a:pt x="60317" y="57376"/>
                  </a:lnTo>
                  <a:lnTo>
                    <a:pt x="21446" y="106208"/>
                  </a:lnTo>
                  <a:lnTo>
                    <a:pt x="0" y="164805"/>
                  </a:lnTo>
                  <a:lnTo>
                    <a:pt x="0" y="194104"/>
                  </a:lnTo>
                  <a:lnTo>
                    <a:pt x="0" y="225845"/>
                  </a:lnTo>
                  <a:lnTo>
                    <a:pt x="21446" y="284442"/>
                  </a:lnTo>
                  <a:lnTo>
                    <a:pt x="60317" y="333274"/>
                  </a:lnTo>
                  <a:lnTo>
                    <a:pt x="113932" y="368676"/>
                  </a:lnTo>
                  <a:lnTo>
                    <a:pt x="146102" y="378443"/>
                  </a:lnTo>
                  <a:lnTo>
                    <a:pt x="176931" y="388209"/>
                  </a:lnTo>
                  <a:lnTo>
                    <a:pt x="213121" y="388209"/>
                  </a:lnTo>
                  <a:lnTo>
                    <a:pt x="245290" y="388209"/>
                  </a:lnTo>
                  <a:lnTo>
                    <a:pt x="280140" y="378443"/>
                  </a:lnTo>
                  <a:lnTo>
                    <a:pt x="337777" y="351586"/>
                  </a:lnTo>
                  <a:lnTo>
                    <a:pt x="383350" y="310079"/>
                  </a:lnTo>
                  <a:lnTo>
                    <a:pt x="415519" y="255144"/>
                  </a:lnTo>
                  <a:lnTo>
                    <a:pt x="422221" y="225845"/>
                  </a:lnTo>
                  <a:lnTo>
                    <a:pt x="426242" y="194104"/>
                  </a:lnTo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7715843" y="5349257"/>
            <a:ext cx="564216" cy="263458"/>
          </a:xfrm>
          <a:prstGeom prst="rect">
            <a:avLst/>
          </a:prstGeom>
          <a:ln w="8423">
            <a:solidFill>
              <a:srgbClr val="000000"/>
            </a:solidFill>
          </a:ln>
        </p:spPr>
        <p:txBody>
          <a:bodyPr vert="horz" wrap="square" lIns="0" tIns="57710" rIns="0" bIns="0" rtlCol="0">
            <a:spAutoFit/>
          </a:bodyPr>
          <a:lstStyle/>
          <a:p>
            <a:pPr marL="36981" algn="ctr">
              <a:lnSpc>
                <a:spcPts val="1571"/>
              </a:lnSpc>
              <a:spcBef>
                <a:spcPts val="454"/>
              </a:spcBef>
            </a:pPr>
            <a:r>
              <a:rPr sz="1412" spc="-44" dirty="0">
                <a:latin typeface="Arial MT"/>
                <a:cs typeface="Arial MT"/>
              </a:rPr>
              <a:t>$</a:t>
            </a:r>
            <a:endParaRPr sz="1412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943541" y="5011271"/>
            <a:ext cx="156882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spc="-552" dirty="0">
                <a:latin typeface="Arial MT"/>
                <a:cs typeface="Arial MT"/>
              </a:rPr>
              <a:t>P</a:t>
            </a:r>
            <a:r>
              <a:rPr sz="1147" spc="-26" dirty="0">
                <a:latin typeface="Arial MT"/>
                <a:cs typeface="Arial MT"/>
              </a:rPr>
              <a:t>n</a:t>
            </a:r>
            <a:endParaRPr sz="1147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766761" y="5554531"/>
            <a:ext cx="330574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spc="-22" dirty="0">
                <a:latin typeface="Arial MT"/>
                <a:cs typeface="Arial MT"/>
              </a:rPr>
              <a:t>Bus</a:t>
            </a:r>
            <a:endParaRPr sz="1412">
              <a:latin typeface="Arial MT"/>
              <a:cs typeface="Arial MT"/>
            </a:endParaRPr>
          </a:p>
        </p:txBody>
      </p:sp>
      <p:pic>
        <p:nvPicPr>
          <p:cNvPr id="57" name="object 5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87322" y="5421977"/>
            <a:ext cx="84435" cy="79685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03754" y="5421977"/>
            <a:ext cx="84435" cy="79685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039111" y="5421977"/>
            <a:ext cx="84435" cy="79685"/>
          </a:xfrm>
          <a:prstGeom prst="rect">
            <a:avLst/>
          </a:prstGeom>
        </p:spPr>
      </p:pic>
      <p:graphicFrame>
        <p:nvGraphicFramePr>
          <p:cNvPr id="60" name="object 60"/>
          <p:cNvGraphicFramePr>
            <a:graphicFrameLocks noGrp="1"/>
          </p:cNvGraphicFramePr>
          <p:nvPr/>
        </p:nvGraphicFramePr>
        <p:xfrm>
          <a:off x="7562507" y="4515854"/>
          <a:ext cx="998442" cy="2771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3424">
                <a:tc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00" spc="-10" dirty="0">
                          <a:solidFill>
                            <a:srgbClr val="FC0128"/>
                          </a:solidFill>
                          <a:latin typeface="Arial MT"/>
                          <a:cs typeface="Arial MT"/>
                        </a:rPr>
                        <a:t>State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8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00" spc="-25" dirty="0">
                          <a:solidFill>
                            <a:srgbClr val="FC0128"/>
                          </a:solidFill>
                          <a:latin typeface="Arial MT"/>
                          <a:cs typeface="Arial MT"/>
                        </a:rPr>
                        <a:t>Tag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8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00" spc="-20" dirty="0">
                          <a:solidFill>
                            <a:srgbClr val="FC0128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80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1" name="object 61"/>
          <p:cNvSpPr txBox="1"/>
          <p:nvPr/>
        </p:nvSpPr>
        <p:spPr>
          <a:xfrm>
            <a:off x="983395" y="4749053"/>
            <a:ext cx="492499" cy="519973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>
              <a:lnSpc>
                <a:spcPct val="101099"/>
              </a:lnSpc>
              <a:spcBef>
                <a:spcPts val="66"/>
              </a:spcBef>
            </a:pPr>
            <a:r>
              <a:rPr sz="1677" spc="-18" dirty="0">
                <a:solidFill>
                  <a:srgbClr val="114FFB"/>
                </a:solidFill>
                <a:latin typeface="Consolas"/>
                <a:cs typeface="Consolas"/>
              </a:rPr>
              <a:t>PrRd PrWr</a:t>
            </a:r>
            <a:endParaRPr sz="1677">
              <a:latin typeface="Consolas"/>
              <a:cs typeface="Consola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687918" y="4749053"/>
            <a:ext cx="3427879" cy="52748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solidFill>
                  <a:srgbClr val="114FFB"/>
                </a:solidFill>
                <a:latin typeface="Consolas"/>
                <a:cs typeface="Consolas"/>
              </a:rPr>
              <a:t>:</a:t>
            </a:r>
            <a:r>
              <a:rPr sz="1677" spc="-40" dirty="0">
                <a:solidFill>
                  <a:srgbClr val="114FFB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114FFB"/>
                </a:solidFill>
                <a:latin typeface="Consolas"/>
                <a:cs typeface="Consolas"/>
              </a:rPr>
              <a:t>Processor</a:t>
            </a:r>
            <a:r>
              <a:rPr sz="1677" spc="-35" dirty="0">
                <a:solidFill>
                  <a:srgbClr val="114FFB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114FFB"/>
                </a:solidFill>
                <a:latin typeface="Consolas"/>
                <a:cs typeface="Consolas"/>
              </a:rPr>
              <a:t>Reads</a:t>
            </a:r>
            <a:r>
              <a:rPr sz="1677" spc="-40" dirty="0">
                <a:solidFill>
                  <a:srgbClr val="114FFB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114FFB"/>
                </a:solidFill>
                <a:latin typeface="Consolas"/>
                <a:cs typeface="Consolas"/>
              </a:rPr>
              <a:t>its</a:t>
            </a:r>
            <a:r>
              <a:rPr sz="1677" spc="-35" dirty="0">
                <a:solidFill>
                  <a:srgbClr val="114FFB"/>
                </a:solidFill>
                <a:latin typeface="Consolas"/>
                <a:cs typeface="Consolas"/>
              </a:rPr>
              <a:t> </a:t>
            </a:r>
            <a:r>
              <a:rPr sz="1677" spc="-18" dirty="0">
                <a:solidFill>
                  <a:srgbClr val="114FFB"/>
                </a:solidFill>
                <a:latin typeface="Consolas"/>
                <a:cs typeface="Consolas"/>
              </a:rPr>
              <a:t>cache</a:t>
            </a:r>
            <a:endParaRPr sz="1677">
              <a:latin typeface="Consolas"/>
              <a:cs typeface="Consolas"/>
            </a:endParaRPr>
          </a:p>
          <a:p>
            <a:pPr marL="11206">
              <a:spcBef>
                <a:spcPts val="18"/>
              </a:spcBef>
            </a:pPr>
            <a:r>
              <a:rPr sz="1677" dirty="0">
                <a:solidFill>
                  <a:srgbClr val="114FFB"/>
                </a:solidFill>
                <a:latin typeface="Consolas"/>
                <a:cs typeface="Consolas"/>
              </a:rPr>
              <a:t>:</a:t>
            </a:r>
            <a:r>
              <a:rPr sz="1677" spc="-53" dirty="0">
                <a:solidFill>
                  <a:srgbClr val="114FFB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114FFB"/>
                </a:solidFill>
                <a:latin typeface="Consolas"/>
                <a:cs typeface="Consolas"/>
              </a:rPr>
              <a:t>Processor</a:t>
            </a:r>
            <a:r>
              <a:rPr sz="1677" spc="-40" dirty="0">
                <a:solidFill>
                  <a:srgbClr val="114FFB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114FFB"/>
                </a:solidFill>
                <a:latin typeface="Consolas"/>
                <a:cs typeface="Consolas"/>
              </a:rPr>
              <a:t>Writes</a:t>
            </a:r>
            <a:r>
              <a:rPr sz="1677" spc="-44" dirty="0">
                <a:solidFill>
                  <a:srgbClr val="114FFB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114FFB"/>
                </a:solidFill>
                <a:latin typeface="Consolas"/>
                <a:cs typeface="Consolas"/>
              </a:rPr>
              <a:t>thru</a:t>
            </a:r>
            <a:r>
              <a:rPr sz="1677" spc="-40" dirty="0">
                <a:solidFill>
                  <a:srgbClr val="114FFB"/>
                </a:solidFill>
                <a:latin typeface="Consolas"/>
                <a:cs typeface="Consolas"/>
              </a:rPr>
              <a:t> </a:t>
            </a:r>
            <a:r>
              <a:rPr sz="1677" spc="-9" dirty="0">
                <a:solidFill>
                  <a:srgbClr val="114FFB"/>
                </a:solidFill>
                <a:latin typeface="Consolas"/>
                <a:cs typeface="Consolas"/>
              </a:rPr>
              <a:t>cache</a:t>
            </a:r>
            <a:endParaRPr sz="1677">
              <a:latin typeface="Consolas"/>
              <a:cs typeface="Consolas"/>
            </a:endParaRPr>
          </a:p>
        </p:txBody>
      </p:sp>
      <p:graphicFrame>
        <p:nvGraphicFramePr>
          <p:cNvPr id="63" name="object 63"/>
          <p:cNvGraphicFramePr>
            <a:graphicFrameLocks noGrp="1"/>
          </p:cNvGraphicFramePr>
          <p:nvPr/>
        </p:nvGraphicFramePr>
        <p:xfrm>
          <a:off x="966586" y="5328724"/>
          <a:ext cx="3931024" cy="12444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8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3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9721">
                <a:tc>
                  <a:txBody>
                    <a:bodyPr/>
                    <a:lstStyle/>
                    <a:p>
                      <a:pPr marR="27305" algn="ctr">
                        <a:lnSpc>
                          <a:spcPts val="1789"/>
                        </a:lnSpc>
                      </a:pPr>
                      <a:r>
                        <a:rPr sz="170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BusRd</a:t>
                      </a:r>
                      <a:r>
                        <a:rPr sz="1700" spc="-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: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9"/>
                        </a:lnSpc>
                      </a:pPr>
                      <a:r>
                        <a:rPr sz="1700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9"/>
                        </a:lnSpc>
                      </a:pPr>
                      <a:r>
                        <a:rPr sz="1700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puts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789"/>
                        </a:lnSpc>
                      </a:pPr>
                      <a:r>
                        <a:rPr sz="170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Read</a:t>
                      </a:r>
                      <a:r>
                        <a:rPr sz="1700" spc="-3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70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Miss</a:t>
                      </a:r>
                      <a:r>
                        <a:rPr sz="1700" spc="-3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70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on</a:t>
                      </a:r>
                      <a:r>
                        <a:rPr sz="1700" spc="-3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700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Bus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693">
                <a:tc>
                  <a:txBody>
                    <a:bodyPr/>
                    <a:lstStyle/>
                    <a:p>
                      <a:pPr marR="27305" algn="ctr">
                        <a:lnSpc>
                          <a:spcPts val="1945"/>
                        </a:lnSpc>
                      </a:pPr>
                      <a:r>
                        <a:rPr sz="170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BusWr</a:t>
                      </a:r>
                      <a:r>
                        <a:rPr sz="1700" spc="-5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: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45"/>
                        </a:lnSpc>
                      </a:pPr>
                      <a:r>
                        <a:rPr sz="1700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Pr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45"/>
                        </a:lnSpc>
                      </a:pPr>
                      <a:r>
                        <a:rPr sz="1700" spc="-2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puts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945"/>
                        </a:lnSpc>
                      </a:pPr>
                      <a:r>
                        <a:rPr sz="170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Write</a:t>
                      </a:r>
                      <a:r>
                        <a:rPr sz="1700" spc="-3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70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Thru</a:t>
                      </a:r>
                      <a:r>
                        <a:rPr sz="1700" spc="-3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700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on</a:t>
                      </a:r>
                      <a:r>
                        <a:rPr sz="1700" spc="-3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700" spc="-25" dirty="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Bus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324">
                <a:tc>
                  <a:txBody>
                    <a:bodyPr/>
                    <a:lstStyle/>
                    <a:p>
                      <a:pPr marR="27305" algn="ctr">
                        <a:lnSpc>
                          <a:spcPts val="1995"/>
                        </a:lnSpc>
                        <a:tabLst>
                          <a:tab pos="798195" algn="l"/>
                        </a:tabLst>
                      </a:pPr>
                      <a:r>
                        <a:rPr sz="1700" dirty="0">
                          <a:latin typeface="Consolas"/>
                          <a:cs typeface="Consolas"/>
                        </a:rPr>
                        <a:t>/ </a:t>
                      </a:r>
                      <a:r>
                        <a:rPr sz="1700" spc="-20" dirty="0">
                          <a:latin typeface="Consolas"/>
                          <a:cs typeface="Consolas"/>
                        </a:rPr>
                        <a:t>-</a:t>
                      </a:r>
                      <a:r>
                        <a:rPr sz="1700" spc="-50" dirty="0">
                          <a:latin typeface="Consolas"/>
                          <a:cs typeface="Consolas"/>
                        </a:rPr>
                        <a:t>-</a:t>
                      </a:r>
                      <a:r>
                        <a:rPr sz="1700" dirty="0">
                          <a:latin typeface="Consolas"/>
                          <a:cs typeface="Consolas"/>
                        </a:rPr>
                        <a:t>	</a:t>
                      </a:r>
                      <a:r>
                        <a:rPr sz="1700" spc="-50" dirty="0">
                          <a:latin typeface="Consolas"/>
                          <a:cs typeface="Consolas"/>
                        </a:rPr>
                        <a:t>: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95"/>
                        </a:lnSpc>
                      </a:pPr>
                      <a:r>
                        <a:rPr sz="1700" spc="-25" dirty="0">
                          <a:latin typeface="Consolas"/>
                          <a:cs typeface="Consolas"/>
                        </a:rPr>
                        <a:t>Pr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95"/>
                        </a:lnSpc>
                      </a:pPr>
                      <a:r>
                        <a:rPr sz="1700" spc="-20" dirty="0">
                          <a:latin typeface="Consolas"/>
                          <a:cs typeface="Consolas"/>
                        </a:rPr>
                        <a:t>puts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995"/>
                        </a:lnSpc>
                      </a:pPr>
                      <a:r>
                        <a:rPr sz="1700" dirty="0">
                          <a:latin typeface="Consolas"/>
                          <a:cs typeface="Consolas"/>
                        </a:rPr>
                        <a:t>no</a:t>
                      </a:r>
                      <a:r>
                        <a:rPr sz="17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700" dirty="0">
                          <a:latin typeface="Consolas"/>
                          <a:cs typeface="Consolas"/>
                        </a:rPr>
                        <a:t>signal</a:t>
                      </a:r>
                      <a:r>
                        <a:rPr sz="17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700" dirty="0">
                          <a:latin typeface="Consolas"/>
                          <a:cs typeface="Consolas"/>
                        </a:rPr>
                        <a:t>on</a:t>
                      </a:r>
                      <a:r>
                        <a:rPr sz="17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700" spc="-25" dirty="0">
                          <a:latin typeface="Consolas"/>
                          <a:cs typeface="Consolas"/>
                        </a:rPr>
                        <a:t>bus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4" name="object 64"/>
          <p:cNvSpPr txBox="1"/>
          <p:nvPr/>
        </p:nvSpPr>
        <p:spPr>
          <a:xfrm>
            <a:off x="983395" y="6026523"/>
            <a:ext cx="3545540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solidFill>
                  <a:srgbClr val="FF0000"/>
                </a:solidFill>
                <a:latin typeface="Consolas"/>
                <a:cs typeface="Consolas"/>
              </a:rPr>
              <a:t>BusWr</a:t>
            </a:r>
            <a:r>
              <a:rPr sz="1677" spc="-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77" dirty="0">
                <a:latin typeface="Consolas"/>
                <a:cs typeface="Consolas"/>
              </a:rPr>
              <a:t>/</a:t>
            </a:r>
            <a:r>
              <a:rPr sz="1677" spc="-35" dirty="0"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FF0000"/>
                </a:solidFill>
                <a:latin typeface="Consolas"/>
                <a:cs typeface="Consolas"/>
              </a:rPr>
              <a:t>:</a:t>
            </a:r>
            <a:r>
              <a:rPr sz="1677" spc="-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FF0000"/>
                </a:solidFill>
                <a:latin typeface="Consolas"/>
                <a:cs typeface="Consolas"/>
              </a:rPr>
              <a:t>Invalidated</a:t>
            </a:r>
            <a:r>
              <a:rPr sz="1677" spc="-3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77" spc="-9" dirty="0">
                <a:solidFill>
                  <a:srgbClr val="FF0000"/>
                </a:solidFill>
                <a:latin typeface="Consolas"/>
                <a:cs typeface="Consolas"/>
              </a:rPr>
              <a:t>remotely</a:t>
            </a:r>
            <a:endParaRPr sz="1677">
              <a:latin typeface="Consolas"/>
              <a:cs typeface="Consolas"/>
            </a:endParaRPr>
          </a:p>
        </p:txBody>
      </p:sp>
      <p:sp>
        <p:nvSpPr>
          <p:cNvPr id="66" name="Slide Number Placeholder 4">
            <a:extLst>
              <a:ext uri="{FF2B5EF4-FFF2-40B4-BE49-F238E27FC236}">
                <a16:creationId xmlns:a16="http://schemas.microsoft.com/office/drawing/2014/main" id="{B503EC73-1744-CF97-A9A8-8ADCFA4BD51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36</a:t>
            </a:fld>
            <a:endParaRPr lang="en-US" spc="-44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70506"/>
            <a:ext cx="6917459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18" dirty="0"/>
              <a:t>Write-</a:t>
            </a:r>
            <a:r>
              <a:rPr dirty="0"/>
              <a:t>through</a:t>
            </a:r>
            <a:r>
              <a:rPr spc="-31" dirty="0"/>
              <a:t> </a:t>
            </a:r>
            <a:r>
              <a:rPr dirty="0"/>
              <a:t>Snoopy</a:t>
            </a:r>
            <a:r>
              <a:rPr spc="-31" dirty="0"/>
              <a:t> </a:t>
            </a:r>
            <a:r>
              <a:rPr dirty="0"/>
              <a:t>Invalidate</a:t>
            </a:r>
            <a:r>
              <a:rPr spc="-40" dirty="0"/>
              <a:t> </a:t>
            </a:r>
            <a:r>
              <a:rPr spc="-9" dirty="0"/>
              <a:t>Protocol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51120" y="3591991"/>
            <a:ext cx="801221" cy="1979519"/>
            <a:chOff x="2738869" y="4070923"/>
            <a:chExt cx="908050" cy="2243455"/>
          </a:xfrm>
        </p:grpSpPr>
        <p:sp>
          <p:nvSpPr>
            <p:cNvPr id="4" name="object 4"/>
            <p:cNvSpPr/>
            <p:nvPr/>
          </p:nvSpPr>
          <p:spPr>
            <a:xfrm>
              <a:off x="2743314" y="5053495"/>
              <a:ext cx="349250" cy="616585"/>
            </a:xfrm>
            <a:custGeom>
              <a:avLst/>
              <a:gdLst/>
              <a:ahLst/>
              <a:cxnLst/>
              <a:rect l="l" t="t" r="r" b="b"/>
              <a:pathLst>
                <a:path w="349250" h="616585">
                  <a:moveTo>
                    <a:pt x="0" y="0"/>
                  </a:moveTo>
                  <a:lnTo>
                    <a:pt x="3369" y="103181"/>
                  </a:lnTo>
                  <a:lnTo>
                    <a:pt x="15160" y="197390"/>
                  </a:lnTo>
                  <a:lnTo>
                    <a:pt x="40428" y="285618"/>
                  </a:lnTo>
                  <a:lnTo>
                    <a:pt x="67380" y="366369"/>
                  </a:lnTo>
                  <a:lnTo>
                    <a:pt x="102755" y="436652"/>
                  </a:lnTo>
                  <a:lnTo>
                    <a:pt x="143183" y="500954"/>
                  </a:lnTo>
                  <a:lnTo>
                    <a:pt x="186981" y="550302"/>
                  </a:lnTo>
                  <a:lnTo>
                    <a:pt x="237516" y="584695"/>
                  </a:lnTo>
                  <a:lnTo>
                    <a:pt x="289736" y="610117"/>
                  </a:lnTo>
                  <a:lnTo>
                    <a:pt x="348694" y="616099"/>
                  </a:lnTo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3437333" y="6046431"/>
              <a:ext cx="145415" cy="263525"/>
            </a:xfrm>
            <a:custGeom>
              <a:avLst/>
              <a:gdLst/>
              <a:ahLst/>
              <a:cxnLst/>
              <a:rect l="l" t="t" r="r" b="b"/>
              <a:pathLst>
                <a:path w="145414" h="263525">
                  <a:moveTo>
                    <a:pt x="144868" y="263188"/>
                  </a:moveTo>
                  <a:lnTo>
                    <a:pt x="144868" y="218326"/>
                  </a:lnTo>
                  <a:lnTo>
                    <a:pt x="138130" y="179446"/>
                  </a:lnTo>
                  <a:lnTo>
                    <a:pt x="129707" y="140566"/>
                  </a:lnTo>
                  <a:lnTo>
                    <a:pt x="102755" y="77760"/>
                  </a:lnTo>
                  <a:lnTo>
                    <a:pt x="65696" y="28412"/>
                  </a:lnTo>
                  <a:lnTo>
                    <a:pt x="23583" y="2990"/>
                  </a:lnTo>
                  <a:lnTo>
                    <a:pt x="0" y="0"/>
                  </a:lnTo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3033050" y="4082988"/>
              <a:ext cx="593090" cy="528320"/>
            </a:xfrm>
            <a:custGeom>
              <a:avLst/>
              <a:gdLst/>
              <a:ahLst/>
              <a:cxnLst/>
              <a:rect l="l" t="t" r="r" b="b"/>
              <a:pathLst>
                <a:path w="593089" h="528320">
                  <a:moveTo>
                    <a:pt x="589579" y="264683"/>
                  </a:moveTo>
                  <a:lnTo>
                    <a:pt x="589579" y="221317"/>
                  </a:lnTo>
                  <a:lnTo>
                    <a:pt x="577788" y="182437"/>
                  </a:lnTo>
                  <a:lnTo>
                    <a:pt x="557574" y="145052"/>
                  </a:lnTo>
                  <a:lnTo>
                    <a:pt x="533990" y="109163"/>
                  </a:lnTo>
                  <a:lnTo>
                    <a:pt x="507038" y="77760"/>
                  </a:lnTo>
                  <a:lnTo>
                    <a:pt x="469979" y="52338"/>
                  </a:lnTo>
                  <a:lnTo>
                    <a:pt x="431235" y="31403"/>
                  </a:lnTo>
                  <a:lnTo>
                    <a:pt x="390807" y="14953"/>
                  </a:lnTo>
                  <a:lnTo>
                    <a:pt x="343640" y="2990"/>
                  </a:lnTo>
                  <a:lnTo>
                    <a:pt x="296474" y="0"/>
                  </a:lnTo>
                  <a:lnTo>
                    <a:pt x="249308" y="2990"/>
                  </a:lnTo>
                  <a:lnTo>
                    <a:pt x="202141" y="14953"/>
                  </a:lnTo>
                  <a:lnTo>
                    <a:pt x="158344" y="31403"/>
                  </a:lnTo>
                  <a:lnTo>
                    <a:pt x="122969" y="52338"/>
                  </a:lnTo>
                  <a:lnTo>
                    <a:pt x="85910" y="77760"/>
                  </a:lnTo>
                  <a:lnTo>
                    <a:pt x="55588" y="109163"/>
                  </a:lnTo>
                  <a:lnTo>
                    <a:pt x="30321" y="145052"/>
                  </a:lnTo>
                  <a:lnTo>
                    <a:pt x="15160" y="182437"/>
                  </a:lnTo>
                  <a:lnTo>
                    <a:pt x="3369" y="221317"/>
                  </a:lnTo>
                  <a:lnTo>
                    <a:pt x="0" y="264683"/>
                  </a:lnTo>
                  <a:lnTo>
                    <a:pt x="3369" y="309545"/>
                  </a:lnTo>
                  <a:lnTo>
                    <a:pt x="15160" y="348425"/>
                  </a:lnTo>
                  <a:lnTo>
                    <a:pt x="30321" y="387305"/>
                  </a:lnTo>
                  <a:lnTo>
                    <a:pt x="55588" y="421699"/>
                  </a:lnTo>
                  <a:lnTo>
                    <a:pt x="85910" y="450111"/>
                  </a:lnTo>
                  <a:lnTo>
                    <a:pt x="122969" y="478524"/>
                  </a:lnTo>
                  <a:lnTo>
                    <a:pt x="158344" y="499459"/>
                  </a:lnTo>
                  <a:lnTo>
                    <a:pt x="202141" y="517404"/>
                  </a:lnTo>
                  <a:lnTo>
                    <a:pt x="249308" y="524881"/>
                  </a:lnTo>
                  <a:lnTo>
                    <a:pt x="296474" y="527871"/>
                  </a:lnTo>
                  <a:lnTo>
                    <a:pt x="343640" y="524881"/>
                  </a:lnTo>
                  <a:lnTo>
                    <a:pt x="390807" y="517404"/>
                  </a:lnTo>
                  <a:lnTo>
                    <a:pt x="431235" y="499459"/>
                  </a:lnTo>
                  <a:lnTo>
                    <a:pt x="469979" y="478524"/>
                  </a:lnTo>
                  <a:lnTo>
                    <a:pt x="507038" y="450111"/>
                  </a:lnTo>
                  <a:lnTo>
                    <a:pt x="533990" y="421699"/>
                  </a:lnTo>
                  <a:lnTo>
                    <a:pt x="557574" y="387305"/>
                  </a:lnTo>
                  <a:lnTo>
                    <a:pt x="577788" y="348425"/>
                  </a:lnTo>
                  <a:lnTo>
                    <a:pt x="589579" y="309545"/>
                  </a:lnTo>
                  <a:lnTo>
                    <a:pt x="592948" y="264683"/>
                  </a:lnTo>
                </a:path>
              </a:pathLst>
            </a:custGeom>
            <a:ln w="235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3039788" y="5549963"/>
              <a:ext cx="594995" cy="528320"/>
            </a:xfrm>
            <a:custGeom>
              <a:avLst/>
              <a:gdLst/>
              <a:ahLst/>
              <a:cxnLst/>
              <a:rect l="l" t="t" r="r" b="b"/>
              <a:pathLst>
                <a:path w="594995" h="528320">
                  <a:moveTo>
                    <a:pt x="298159" y="0"/>
                  </a:moveTo>
                  <a:lnTo>
                    <a:pt x="250992" y="4485"/>
                  </a:lnTo>
                  <a:lnTo>
                    <a:pt x="202142" y="14954"/>
                  </a:lnTo>
                  <a:lnTo>
                    <a:pt x="158344" y="31403"/>
                  </a:lnTo>
                  <a:lnTo>
                    <a:pt x="122970" y="53834"/>
                  </a:lnTo>
                  <a:lnTo>
                    <a:pt x="87595" y="77760"/>
                  </a:lnTo>
                  <a:lnTo>
                    <a:pt x="55589" y="109162"/>
                  </a:lnTo>
                  <a:lnTo>
                    <a:pt x="32006" y="145053"/>
                  </a:lnTo>
                  <a:lnTo>
                    <a:pt x="16845" y="183932"/>
                  </a:lnTo>
                  <a:lnTo>
                    <a:pt x="5053" y="221317"/>
                  </a:lnTo>
                  <a:lnTo>
                    <a:pt x="0" y="264683"/>
                  </a:lnTo>
                  <a:lnTo>
                    <a:pt x="5053" y="309545"/>
                  </a:lnTo>
                  <a:lnTo>
                    <a:pt x="16845" y="348425"/>
                  </a:lnTo>
                  <a:lnTo>
                    <a:pt x="32006" y="387305"/>
                  </a:lnTo>
                  <a:lnTo>
                    <a:pt x="55589" y="423194"/>
                  </a:lnTo>
                  <a:lnTo>
                    <a:pt x="87595" y="450112"/>
                  </a:lnTo>
                  <a:lnTo>
                    <a:pt x="122970" y="478524"/>
                  </a:lnTo>
                  <a:lnTo>
                    <a:pt x="158344" y="499459"/>
                  </a:lnTo>
                  <a:lnTo>
                    <a:pt x="202142" y="517404"/>
                  </a:lnTo>
                  <a:lnTo>
                    <a:pt x="250992" y="524880"/>
                  </a:lnTo>
                  <a:lnTo>
                    <a:pt x="298159" y="527871"/>
                  </a:lnTo>
                  <a:lnTo>
                    <a:pt x="345325" y="524880"/>
                  </a:lnTo>
                  <a:lnTo>
                    <a:pt x="392492" y="517404"/>
                  </a:lnTo>
                  <a:lnTo>
                    <a:pt x="432921" y="499459"/>
                  </a:lnTo>
                  <a:lnTo>
                    <a:pt x="471665" y="478524"/>
                  </a:lnTo>
                  <a:lnTo>
                    <a:pt x="507039" y="450112"/>
                  </a:lnTo>
                  <a:lnTo>
                    <a:pt x="535675" y="423194"/>
                  </a:lnTo>
                  <a:lnTo>
                    <a:pt x="559259" y="387305"/>
                  </a:lnTo>
                  <a:lnTo>
                    <a:pt x="579473" y="348425"/>
                  </a:lnTo>
                  <a:lnTo>
                    <a:pt x="591265" y="309545"/>
                  </a:lnTo>
                  <a:lnTo>
                    <a:pt x="591265" y="264683"/>
                  </a:lnTo>
                  <a:lnTo>
                    <a:pt x="594634" y="264683"/>
                  </a:lnTo>
                  <a:lnTo>
                    <a:pt x="591265" y="221317"/>
                  </a:lnTo>
                  <a:lnTo>
                    <a:pt x="579473" y="183932"/>
                  </a:lnTo>
                  <a:lnTo>
                    <a:pt x="559259" y="145053"/>
                  </a:lnTo>
                  <a:lnTo>
                    <a:pt x="535675" y="109162"/>
                  </a:lnTo>
                  <a:lnTo>
                    <a:pt x="507039" y="77760"/>
                  </a:lnTo>
                  <a:lnTo>
                    <a:pt x="471665" y="53834"/>
                  </a:lnTo>
                  <a:lnTo>
                    <a:pt x="432921" y="31403"/>
                  </a:lnTo>
                  <a:lnTo>
                    <a:pt x="392492" y="14954"/>
                  </a:lnTo>
                  <a:lnTo>
                    <a:pt x="345325" y="4485"/>
                  </a:lnTo>
                  <a:lnTo>
                    <a:pt x="298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3039788" y="5549963"/>
              <a:ext cx="594995" cy="528320"/>
            </a:xfrm>
            <a:custGeom>
              <a:avLst/>
              <a:gdLst/>
              <a:ahLst/>
              <a:cxnLst/>
              <a:rect l="l" t="t" r="r" b="b"/>
              <a:pathLst>
                <a:path w="594995" h="528320">
                  <a:moveTo>
                    <a:pt x="591264" y="264683"/>
                  </a:moveTo>
                  <a:lnTo>
                    <a:pt x="591264" y="221317"/>
                  </a:lnTo>
                  <a:lnTo>
                    <a:pt x="579473" y="183932"/>
                  </a:lnTo>
                  <a:lnTo>
                    <a:pt x="559259" y="145052"/>
                  </a:lnTo>
                  <a:lnTo>
                    <a:pt x="535675" y="109163"/>
                  </a:lnTo>
                  <a:lnTo>
                    <a:pt x="507039" y="77760"/>
                  </a:lnTo>
                  <a:lnTo>
                    <a:pt x="471664" y="53833"/>
                  </a:lnTo>
                  <a:lnTo>
                    <a:pt x="432920" y="31403"/>
                  </a:lnTo>
                  <a:lnTo>
                    <a:pt x="392492" y="14953"/>
                  </a:lnTo>
                  <a:lnTo>
                    <a:pt x="345325" y="4486"/>
                  </a:lnTo>
                  <a:lnTo>
                    <a:pt x="298159" y="0"/>
                  </a:lnTo>
                  <a:lnTo>
                    <a:pt x="250992" y="4486"/>
                  </a:lnTo>
                  <a:lnTo>
                    <a:pt x="202141" y="14953"/>
                  </a:lnTo>
                  <a:lnTo>
                    <a:pt x="158344" y="31403"/>
                  </a:lnTo>
                  <a:lnTo>
                    <a:pt x="122969" y="53833"/>
                  </a:lnTo>
                  <a:lnTo>
                    <a:pt x="87594" y="77760"/>
                  </a:lnTo>
                  <a:lnTo>
                    <a:pt x="55589" y="109163"/>
                  </a:lnTo>
                  <a:lnTo>
                    <a:pt x="32005" y="145052"/>
                  </a:lnTo>
                  <a:lnTo>
                    <a:pt x="16845" y="183932"/>
                  </a:lnTo>
                  <a:lnTo>
                    <a:pt x="5053" y="221317"/>
                  </a:lnTo>
                  <a:lnTo>
                    <a:pt x="0" y="264683"/>
                  </a:lnTo>
                  <a:lnTo>
                    <a:pt x="5053" y="309545"/>
                  </a:lnTo>
                  <a:lnTo>
                    <a:pt x="16845" y="348425"/>
                  </a:lnTo>
                  <a:lnTo>
                    <a:pt x="32005" y="387305"/>
                  </a:lnTo>
                  <a:lnTo>
                    <a:pt x="55589" y="423194"/>
                  </a:lnTo>
                  <a:lnTo>
                    <a:pt x="87594" y="450111"/>
                  </a:lnTo>
                  <a:lnTo>
                    <a:pt x="122969" y="478524"/>
                  </a:lnTo>
                  <a:lnTo>
                    <a:pt x="158344" y="499459"/>
                  </a:lnTo>
                  <a:lnTo>
                    <a:pt x="202141" y="517404"/>
                  </a:lnTo>
                  <a:lnTo>
                    <a:pt x="250992" y="524881"/>
                  </a:lnTo>
                  <a:lnTo>
                    <a:pt x="298159" y="527871"/>
                  </a:lnTo>
                  <a:lnTo>
                    <a:pt x="345325" y="524881"/>
                  </a:lnTo>
                  <a:lnTo>
                    <a:pt x="392492" y="517404"/>
                  </a:lnTo>
                  <a:lnTo>
                    <a:pt x="432920" y="499459"/>
                  </a:lnTo>
                  <a:lnTo>
                    <a:pt x="471664" y="478524"/>
                  </a:lnTo>
                  <a:lnTo>
                    <a:pt x="507039" y="450111"/>
                  </a:lnTo>
                  <a:lnTo>
                    <a:pt x="535675" y="423194"/>
                  </a:lnTo>
                  <a:lnTo>
                    <a:pt x="559259" y="387305"/>
                  </a:lnTo>
                  <a:lnTo>
                    <a:pt x="579473" y="348425"/>
                  </a:lnTo>
                  <a:lnTo>
                    <a:pt x="591264" y="309545"/>
                  </a:lnTo>
                  <a:lnTo>
                    <a:pt x="594633" y="264683"/>
                  </a:lnTo>
                </a:path>
              </a:pathLst>
            </a:custGeom>
            <a:ln w="235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015004" y="3720802"/>
            <a:ext cx="179854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44" dirty="0">
                <a:latin typeface="Arial MT"/>
                <a:cs typeface="Arial MT"/>
              </a:rPr>
              <a:t>V</a:t>
            </a:r>
            <a:endParaRPr sz="1853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551325" y="3242667"/>
            <a:ext cx="1055594" cy="2562225"/>
            <a:chOff x="2739102" y="3675022"/>
            <a:chExt cx="1196340" cy="2903855"/>
          </a:xfrm>
        </p:grpSpPr>
        <p:sp>
          <p:nvSpPr>
            <p:cNvPr id="11" name="object 11"/>
            <p:cNvSpPr/>
            <p:nvPr/>
          </p:nvSpPr>
          <p:spPr>
            <a:xfrm>
              <a:off x="2743314" y="4462816"/>
              <a:ext cx="313690" cy="591185"/>
            </a:xfrm>
            <a:custGeom>
              <a:avLst/>
              <a:gdLst/>
              <a:ahLst/>
              <a:cxnLst/>
              <a:rect l="l" t="t" r="r" b="b"/>
              <a:pathLst>
                <a:path w="313689" h="591185">
                  <a:moveTo>
                    <a:pt x="313319" y="0"/>
                  </a:moveTo>
                  <a:lnTo>
                    <a:pt x="261099" y="7476"/>
                  </a:lnTo>
                  <a:lnTo>
                    <a:pt x="213932" y="28412"/>
                  </a:lnTo>
                  <a:lnTo>
                    <a:pt x="170135" y="64301"/>
                  </a:lnTo>
                  <a:lnTo>
                    <a:pt x="126338" y="113649"/>
                  </a:lnTo>
                  <a:lnTo>
                    <a:pt x="90963" y="173465"/>
                  </a:lnTo>
                  <a:lnTo>
                    <a:pt x="58957" y="243748"/>
                  </a:lnTo>
                  <a:lnTo>
                    <a:pt x="35374" y="320013"/>
                  </a:lnTo>
                  <a:lnTo>
                    <a:pt x="15159" y="405250"/>
                  </a:lnTo>
                  <a:lnTo>
                    <a:pt x="3369" y="496468"/>
                  </a:lnTo>
                  <a:lnTo>
                    <a:pt x="0" y="590678"/>
                  </a:lnTo>
                  <a:lnTo>
                    <a:pt x="3133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14291" y="4463092"/>
              <a:ext cx="134762" cy="8169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743314" y="4516650"/>
              <a:ext cx="182245" cy="537210"/>
            </a:xfrm>
            <a:custGeom>
              <a:avLst/>
              <a:gdLst/>
              <a:ahLst/>
              <a:cxnLst/>
              <a:rect l="l" t="t" r="r" b="b"/>
              <a:pathLst>
                <a:path w="182244" h="537210">
                  <a:moveTo>
                    <a:pt x="0" y="536843"/>
                  </a:moveTo>
                  <a:lnTo>
                    <a:pt x="0" y="466560"/>
                  </a:lnTo>
                  <a:lnTo>
                    <a:pt x="8422" y="396277"/>
                  </a:lnTo>
                  <a:lnTo>
                    <a:pt x="11791" y="325994"/>
                  </a:lnTo>
                  <a:lnTo>
                    <a:pt x="23583" y="260197"/>
                  </a:lnTo>
                  <a:lnTo>
                    <a:pt x="40428" y="200381"/>
                  </a:lnTo>
                  <a:lnTo>
                    <a:pt x="58957" y="143557"/>
                  </a:lnTo>
                  <a:lnTo>
                    <a:pt x="82541" y="94209"/>
                  </a:lnTo>
                  <a:lnTo>
                    <a:pt x="111177" y="52338"/>
                  </a:lnTo>
                  <a:lnTo>
                    <a:pt x="146552" y="20935"/>
                  </a:lnTo>
                  <a:lnTo>
                    <a:pt x="181927" y="0"/>
                  </a:lnTo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3634422" y="4462816"/>
              <a:ext cx="296545" cy="591185"/>
            </a:xfrm>
            <a:custGeom>
              <a:avLst/>
              <a:gdLst/>
              <a:ahLst/>
              <a:cxnLst/>
              <a:rect l="l" t="t" r="r" b="b"/>
              <a:pathLst>
                <a:path w="296545" h="591185">
                  <a:moveTo>
                    <a:pt x="296474" y="590678"/>
                  </a:moveTo>
                  <a:lnTo>
                    <a:pt x="293105" y="496468"/>
                  </a:lnTo>
                  <a:lnTo>
                    <a:pt x="281313" y="405249"/>
                  </a:lnTo>
                  <a:lnTo>
                    <a:pt x="266153" y="320012"/>
                  </a:lnTo>
                  <a:lnTo>
                    <a:pt x="240885" y="243748"/>
                  </a:lnTo>
                  <a:lnTo>
                    <a:pt x="210564" y="173464"/>
                  </a:lnTo>
                  <a:lnTo>
                    <a:pt x="175189" y="113649"/>
                  </a:lnTo>
                  <a:lnTo>
                    <a:pt x="134761" y="64301"/>
                  </a:lnTo>
                  <a:lnTo>
                    <a:pt x="94332" y="28412"/>
                  </a:lnTo>
                  <a:lnTo>
                    <a:pt x="47166" y="7476"/>
                  </a:lnTo>
                  <a:lnTo>
                    <a:pt x="0" y="0"/>
                  </a:lnTo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3587255" y="5053495"/>
              <a:ext cx="344170" cy="616585"/>
            </a:xfrm>
            <a:custGeom>
              <a:avLst/>
              <a:gdLst/>
              <a:ahLst/>
              <a:cxnLst/>
              <a:rect l="l" t="t" r="r" b="b"/>
              <a:pathLst>
                <a:path w="344170" h="616585">
                  <a:moveTo>
                    <a:pt x="343640" y="0"/>
                  </a:moveTo>
                  <a:lnTo>
                    <a:pt x="0" y="616099"/>
                  </a:lnTo>
                  <a:lnTo>
                    <a:pt x="55589" y="610118"/>
                  </a:lnTo>
                  <a:lnTo>
                    <a:pt x="106125" y="584696"/>
                  </a:lnTo>
                  <a:lnTo>
                    <a:pt x="158344" y="550302"/>
                  </a:lnTo>
                  <a:lnTo>
                    <a:pt x="202142" y="500954"/>
                  </a:lnTo>
                  <a:lnTo>
                    <a:pt x="240885" y="436652"/>
                  </a:lnTo>
                  <a:lnTo>
                    <a:pt x="276260" y="366369"/>
                  </a:lnTo>
                  <a:lnTo>
                    <a:pt x="304897" y="285619"/>
                  </a:lnTo>
                  <a:lnTo>
                    <a:pt x="328480" y="197391"/>
                  </a:lnTo>
                  <a:lnTo>
                    <a:pt x="340272" y="103182"/>
                  </a:lnTo>
                  <a:lnTo>
                    <a:pt x="343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4835" y="5592109"/>
              <a:ext cx="134762" cy="7870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716963" y="5053495"/>
              <a:ext cx="213995" cy="571500"/>
            </a:xfrm>
            <a:custGeom>
              <a:avLst/>
              <a:gdLst/>
              <a:ahLst/>
              <a:cxnLst/>
              <a:rect l="l" t="t" r="r" b="b"/>
              <a:pathLst>
                <a:path w="213995" h="571500">
                  <a:moveTo>
                    <a:pt x="213933" y="0"/>
                  </a:moveTo>
                  <a:lnTo>
                    <a:pt x="213933" y="77760"/>
                  </a:lnTo>
                  <a:lnTo>
                    <a:pt x="207195" y="155520"/>
                  </a:lnTo>
                  <a:lnTo>
                    <a:pt x="198773" y="228794"/>
                  </a:lnTo>
                  <a:lnTo>
                    <a:pt x="183612" y="296086"/>
                  </a:lnTo>
                  <a:lnTo>
                    <a:pt x="163398" y="363378"/>
                  </a:lnTo>
                  <a:lnTo>
                    <a:pt x="143183" y="423194"/>
                  </a:lnTo>
                  <a:lnTo>
                    <a:pt x="116231" y="472542"/>
                  </a:lnTo>
                  <a:lnTo>
                    <a:pt x="79172" y="514412"/>
                  </a:lnTo>
                  <a:lnTo>
                    <a:pt x="43797" y="550302"/>
                  </a:lnTo>
                  <a:lnTo>
                    <a:pt x="0" y="571237"/>
                  </a:lnTo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35576" y="3917275"/>
              <a:ext cx="92648" cy="21927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039788" y="3679234"/>
              <a:ext cx="298450" cy="242570"/>
            </a:xfrm>
            <a:custGeom>
              <a:avLst/>
              <a:gdLst/>
              <a:ahLst/>
              <a:cxnLst/>
              <a:rect l="l" t="t" r="r" b="b"/>
              <a:pathLst>
                <a:path w="298450" h="242570">
                  <a:moveTo>
                    <a:pt x="298159" y="0"/>
                  </a:moveTo>
                  <a:lnTo>
                    <a:pt x="250992" y="2990"/>
                  </a:lnTo>
                  <a:lnTo>
                    <a:pt x="202141" y="10467"/>
                  </a:lnTo>
                  <a:lnTo>
                    <a:pt x="163398" y="23926"/>
                  </a:lnTo>
                  <a:lnTo>
                    <a:pt x="122969" y="44861"/>
                  </a:lnTo>
                  <a:lnTo>
                    <a:pt x="87594" y="70283"/>
                  </a:lnTo>
                  <a:lnTo>
                    <a:pt x="32005" y="130098"/>
                  </a:lnTo>
                  <a:lnTo>
                    <a:pt x="5053" y="203372"/>
                  </a:lnTo>
                  <a:lnTo>
                    <a:pt x="0" y="242252"/>
                  </a:lnTo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30824" y="3917275"/>
              <a:ext cx="116231" cy="22226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337947" y="3679234"/>
              <a:ext cx="296545" cy="242570"/>
            </a:xfrm>
            <a:custGeom>
              <a:avLst/>
              <a:gdLst/>
              <a:ahLst/>
              <a:cxnLst/>
              <a:rect l="l" t="t" r="r" b="b"/>
              <a:pathLst>
                <a:path w="296545" h="242570">
                  <a:moveTo>
                    <a:pt x="296474" y="242252"/>
                  </a:moveTo>
                  <a:lnTo>
                    <a:pt x="293105" y="203372"/>
                  </a:lnTo>
                  <a:lnTo>
                    <a:pt x="281313" y="164492"/>
                  </a:lnTo>
                  <a:lnTo>
                    <a:pt x="264468" y="130098"/>
                  </a:lnTo>
                  <a:lnTo>
                    <a:pt x="240885" y="97200"/>
                  </a:lnTo>
                  <a:lnTo>
                    <a:pt x="208879" y="70283"/>
                  </a:lnTo>
                  <a:lnTo>
                    <a:pt x="173504" y="44861"/>
                  </a:lnTo>
                  <a:lnTo>
                    <a:pt x="134761" y="23926"/>
                  </a:lnTo>
                  <a:lnTo>
                    <a:pt x="94332" y="10467"/>
                  </a:lnTo>
                  <a:lnTo>
                    <a:pt x="47166" y="2990"/>
                  </a:lnTo>
                  <a:lnTo>
                    <a:pt x="0" y="0"/>
                  </a:lnTo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3285727" y="6309620"/>
              <a:ext cx="296545" cy="264795"/>
            </a:xfrm>
            <a:custGeom>
              <a:avLst/>
              <a:gdLst/>
              <a:ahLst/>
              <a:cxnLst/>
              <a:rect l="l" t="t" r="r" b="b"/>
              <a:pathLst>
                <a:path w="296545" h="264795">
                  <a:moveTo>
                    <a:pt x="0" y="264683"/>
                  </a:moveTo>
                  <a:lnTo>
                    <a:pt x="52219" y="261692"/>
                  </a:lnTo>
                  <a:lnTo>
                    <a:pt x="96017" y="251225"/>
                  </a:lnTo>
                  <a:lnTo>
                    <a:pt x="138130" y="233280"/>
                  </a:lnTo>
                  <a:lnTo>
                    <a:pt x="178558" y="212344"/>
                  </a:lnTo>
                  <a:lnTo>
                    <a:pt x="210564" y="186923"/>
                  </a:lnTo>
                  <a:lnTo>
                    <a:pt x="242569" y="155520"/>
                  </a:lnTo>
                  <a:lnTo>
                    <a:pt x="266153" y="119630"/>
                  </a:lnTo>
                  <a:lnTo>
                    <a:pt x="284682" y="82246"/>
                  </a:lnTo>
                  <a:lnTo>
                    <a:pt x="293105" y="43366"/>
                  </a:lnTo>
                  <a:lnTo>
                    <a:pt x="296474" y="0"/>
                  </a:lnTo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68196" y="6067642"/>
              <a:ext cx="212248" cy="29852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989253" y="6309620"/>
              <a:ext cx="296545" cy="264795"/>
            </a:xfrm>
            <a:custGeom>
              <a:avLst/>
              <a:gdLst/>
              <a:ahLst/>
              <a:cxnLst/>
              <a:rect l="l" t="t" r="r" b="b"/>
              <a:pathLst>
                <a:path w="296545" h="264795">
                  <a:moveTo>
                    <a:pt x="0" y="0"/>
                  </a:moveTo>
                  <a:lnTo>
                    <a:pt x="3369" y="43366"/>
                  </a:lnTo>
                  <a:lnTo>
                    <a:pt x="15160" y="82246"/>
                  </a:lnTo>
                  <a:lnTo>
                    <a:pt x="35374" y="119630"/>
                  </a:lnTo>
                  <a:lnTo>
                    <a:pt x="58957" y="155520"/>
                  </a:lnTo>
                  <a:lnTo>
                    <a:pt x="87594" y="186923"/>
                  </a:lnTo>
                  <a:lnTo>
                    <a:pt x="122969" y="212344"/>
                  </a:lnTo>
                  <a:lnTo>
                    <a:pt x="161713" y="233280"/>
                  </a:lnTo>
                  <a:lnTo>
                    <a:pt x="205510" y="251225"/>
                  </a:lnTo>
                  <a:lnTo>
                    <a:pt x="249308" y="261692"/>
                  </a:lnTo>
                  <a:lnTo>
                    <a:pt x="296474" y="264683"/>
                  </a:lnTo>
                </a:path>
              </a:pathLst>
            </a:custGeom>
            <a:ln w="8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616376" y="4235376"/>
            <a:ext cx="1029260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BusWr</a:t>
            </a:r>
            <a:r>
              <a:rPr sz="1677" b="1" spc="-1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/</a:t>
            </a:r>
            <a:r>
              <a:rPr sz="1677" b="1" spc="-18" dirty="0">
                <a:latin typeface="Arial"/>
                <a:cs typeface="Arial"/>
              </a:rPr>
              <a:t> </a:t>
            </a:r>
            <a:r>
              <a:rPr sz="1677" b="1" spc="-9" dirty="0">
                <a:latin typeface="Arial"/>
                <a:cs typeface="Arial"/>
              </a:rPr>
              <a:t>-</a:t>
            </a:r>
            <a:r>
              <a:rPr sz="1677" b="1" spc="-44" dirty="0">
                <a:latin typeface="Arial"/>
                <a:cs typeface="Arial"/>
              </a:rPr>
              <a:t>-</a:t>
            </a:r>
            <a:endParaRPr sz="1677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58824" y="3597984"/>
            <a:ext cx="1394012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dirty="0">
                <a:solidFill>
                  <a:srgbClr val="114FFB"/>
                </a:solidFill>
                <a:latin typeface="Arial"/>
                <a:cs typeface="Arial"/>
              </a:rPr>
              <a:t>PrWr</a:t>
            </a:r>
            <a:r>
              <a:rPr sz="1677" b="1" spc="-13" dirty="0">
                <a:solidFill>
                  <a:srgbClr val="114FFB"/>
                </a:solidFill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/</a:t>
            </a:r>
            <a:r>
              <a:rPr sz="1677" b="1" spc="-4" dirty="0">
                <a:latin typeface="Arial"/>
                <a:cs typeface="Arial"/>
              </a:rPr>
              <a:t> </a:t>
            </a:r>
            <a:r>
              <a:rPr sz="1677" b="1" spc="-9" dirty="0">
                <a:solidFill>
                  <a:srgbClr val="008000"/>
                </a:solidFill>
                <a:latin typeface="Arial"/>
                <a:cs typeface="Arial"/>
              </a:rPr>
              <a:t>BusWr</a:t>
            </a:r>
            <a:endParaRPr sz="1677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53650" y="4859696"/>
            <a:ext cx="1834963" cy="1229595"/>
          </a:xfrm>
          <a:prstGeom prst="rect">
            <a:avLst/>
          </a:prstGeom>
        </p:spPr>
        <p:txBody>
          <a:bodyPr vert="horz" wrap="square" lIns="0" tIns="157443" rIns="0" bIns="0" rtlCol="0">
            <a:spAutoFit/>
          </a:bodyPr>
          <a:lstStyle/>
          <a:p>
            <a:pPr marL="11206">
              <a:spcBef>
                <a:spcPts val="1240"/>
              </a:spcBef>
            </a:pPr>
            <a:r>
              <a:rPr sz="1853" spc="-44" dirty="0">
                <a:latin typeface="Arial MT"/>
                <a:cs typeface="Arial MT"/>
              </a:rPr>
              <a:t>I</a:t>
            </a:r>
            <a:endParaRPr sz="1853">
              <a:latin typeface="Arial MT"/>
              <a:cs typeface="Arial MT"/>
            </a:endParaRPr>
          </a:p>
          <a:p>
            <a:pPr marL="344599">
              <a:spcBef>
                <a:spcPts val="1046"/>
              </a:spcBef>
            </a:pPr>
            <a:r>
              <a:rPr sz="1677" b="1" dirty="0">
                <a:solidFill>
                  <a:srgbClr val="114FFB"/>
                </a:solidFill>
                <a:latin typeface="Arial"/>
                <a:cs typeface="Arial"/>
              </a:rPr>
              <a:t>PrWr</a:t>
            </a:r>
            <a:r>
              <a:rPr sz="1677" b="1" spc="-13" dirty="0">
                <a:solidFill>
                  <a:srgbClr val="114FFB"/>
                </a:solidFill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/</a:t>
            </a:r>
            <a:r>
              <a:rPr sz="1677" b="1" spc="-4" dirty="0">
                <a:latin typeface="Arial"/>
                <a:cs typeface="Arial"/>
              </a:rPr>
              <a:t> </a:t>
            </a:r>
            <a:r>
              <a:rPr sz="1677" b="1" spc="-9" dirty="0">
                <a:solidFill>
                  <a:srgbClr val="008000"/>
                </a:solidFill>
                <a:latin typeface="Arial"/>
                <a:cs typeface="Arial"/>
              </a:rPr>
              <a:t>BusWr</a:t>
            </a:r>
            <a:endParaRPr sz="1677">
              <a:latin typeface="Arial"/>
              <a:cs typeface="Arial"/>
            </a:endParaRPr>
          </a:p>
          <a:p>
            <a:pPr marL="344599">
              <a:spcBef>
                <a:spcPts val="1103"/>
              </a:spcBef>
            </a:pPr>
            <a:r>
              <a:rPr sz="1632" dirty="0">
                <a:solidFill>
                  <a:srgbClr val="008000"/>
                </a:solidFill>
                <a:latin typeface="MS PGothic"/>
                <a:cs typeface="MS PGothic"/>
              </a:rPr>
              <a:t>“</a:t>
            </a:r>
            <a:r>
              <a:rPr sz="1677" b="1" dirty="0">
                <a:solidFill>
                  <a:srgbClr val="008000"/>
                </a:solidFill>
                <a:latin typeface="Arial"/>
                <a:cs typeface="Arial"/>
              </a:rPr>
              <a:t>non-</a:t>
            </a:r>
            <a:r>
              <a:rPr sz="1677" b="1" spc="-9" dirty="0">
                <a:solidFill>
                  <a:srgbClr val="008000"/>
                </a:solidFill>
                <a:latin typeface="Arial"/>
                <a:cs typeface="Arial"/>
              </a:rPr>
              <a:t>allocate</a:t>
            </a:r>
            <a:r>
              <a:rPr sz="1632" spc="-9" dirty="0">
                <a:solidFill>
                  <a:srgbClr val="008000"/>
                </a:solidFill>
                <a:latin typeface="MS PGothic"/>
                <a:cs typeface="MS PGothic"/>
              </a:rPr>
              <a:t>”</a:t>
            </a:r>
            <a:endParaRPr sz="1632">
              <a:latin typeface="MS PGothic"/>
              <a:cs typeface="MS P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47396" y="4697954"/>
            <a:ext cx="1401856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dirty="0">
                <a:solidFill>
                  <a:srgbClr val="114FFB"/>
                </a:solidFill>
                <a:latin typeface="Arial"/>
                <a:cs typeface="Arial"/>
              </a:rPr>
              <a:t>PrRd</a:t>
            </a:r>
            <a:r>
              <a:rPr sz="1677" b="1" spc="-4" dirty="0">
                <a:solidFill>
                  <a:srgbClr val="114FFB"/>
                </a:solidFill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/</a:t>
            </a:r>
            <a:r>
              <a:rPr sz="1677" b="1" spc="-4" dirty="0">
                <a:latin typeface="Arial"/>
                <a:cs typeface="Arial"/>
              </a:rPr>
              <a:t> </a:t>
            </a:r>
            <a:r>
              <a:rPr sz="1677" b="1" spc="-18" dirty="0">
                <a:solidFill>
                  <a:srgbClr val="008000"/>
                </a:solidFill>
                <a:latin typeface="Arial"/>
                <a:cs typeface="Arial"/>
              </a:rPr>
              <a:t>BusRd</a:t>
            </a:r>
            <a:endParaRPr sz="1677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48307" y="1535206"/>
            <a:ext cx="492499" cy="519973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>
              <a:lnSpc>
                <a:spcPct val="101099"/>
              </a:lnSpc>
              <a:spcBef>
                <a:spcPts val="66"/>
              </a:spcBef>
            </a:pPr>
            <a:r>
              <a:rPr sz="1677" spc="-18" dirty="0">
                <a:solidFill>
                  <a:srgbClr val="114FFB"/>
                </a:solidFill>
                <a:latin typeface="Consolas"/>
                <a:cs typeface="Consolas"/>
              </a:rPr>
              <a:t>PrRd PrWr</a:t>
            </a:r>
            <a:endParaRPr sz="1677">
              <a:latin typeface="Consolas"/>
              <a:cs typeface="Consola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252831" y="1535206"/>
            <a:ext cx="3427879" cy="52748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solidFill>
                  <a:srgbClr val="114FFB"/>
                </a:solidFill>
                <a:latin typeface="Consolas"/>
                <a:cs typeface="Consolas"/>
              </a:rPr>
              <a:t>:</a:t>
            </a:r>
            <a:r>
              <a:rPr sz="1677" spc="-40" dirty="0">
                <a:solidFill>
                  <a:srgbClr val="114FFB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114FFB"/>
                </a:solidFill>
                <a:latin typeface="Consolas"/>
                <a:cs typeface="Consolas"/>
              </a:rPr>
              <a:t>Processor</a:t>
            </a:r>
            <a:r>
              <a:rPr sz="1677" spc="-35" dirty="0">
                <a:solidFill>
                  <a:srgbClr val="114FFB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114FFB"/>
                </a:solidFill>
                <a:latin typeface="Consolas"/>
                <a:cs typeface="Consolas"/>
              </a:rPr>
              <a:t>Reads</a:t>
            </a:r>
            <a:r>
              <a:rPr sz="1677" spc="-40" dirty="0">
                <a:solidFill>
                  <a:srgbClr val="114FFB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114FFB"/>
                </a:solidFill>
                <a:latin typeface="Consolas"/>
                <a:cs typeface="Consolas"/>
              </a:rPr>
              <a:t>its</a:t>
            </a:r>
            <a:r>
              <a:rPr sz="1677" spc="-35" dirty="0">
                <a:solidFill>
                  <a:srgbClr val="114FFB"/>
                </a:solidFill>
                <a:latin typeface="Consolas"/>
                <a:cs typeface="Consolas"/>
              </a:rPr>
              <a:t> </a:t>
            </a:r>
            <a:r>
              <a:rPr sz="1677" spc="-18" dirty="0">
                <a:solidFill>
                  <a:srgbClr val="114FFB"/>
                </a:solidFill>
                <a:latin typeface="Consolas"/>
                <a:cs typeface="Consolas"/>
              </a:rPr>
              <a:t>cache</a:t>
            </a:r>
            <a:endParaRPr sz="1677">
              <a:latin typeface="Consolas"/>
              <a:cs typeface="Consolas"/>
            </a:endParaRPr>
          </a:p>
          <a:p>
            <a:pPr marL="11206">
              <a:spcBef>
                <a:spcPts val="22"/>
              </a:spcBef>
            </a:pPr>
            <a:r>
              <a:rPr sz="1677" dirty="0">
                <a:solidFill>
                  <a:srgbClr val="114FFB"/>
                </a:solidFill>
                <a:latin typeface="Consolas"/>
                <a:cs typeface="Consolas"/>
              </a:rPr>
              <a:t>:</a:t>
            </a:r>
            <a:r>
              <a:rPr sz="1677" spc="-53" dirty="0">
                <a:solidFill>
                  <a:srgbClr val="114FFB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114FFB"/>
                </a:solidFill>
                <a:latin typeface="Consolas"/>
                <a:cs typeface="Consolas"/>
              </a:rPr>
              <a:t>Processor</a:t>
            </a:r>
            <a:r>
              <a:rPr sz="1677" spc="-40" dirty="0">
                <a:solidFill>
                  <a:srgbClr val="114FFB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114FFB"/>
                </a:solidFill>
                <a:latin typeface="Consolas"/>
                <a:cs typeface="Consolas"/>
              </a:rPr>
              <a:t>Writes</a:t>
            </a:r>
            <a:r>
              <a:rPr sz="1677" spc="-44" dirty="0">
                <a:solidFill>
                  <a:srgbClr val="114FFB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114FFB"/>
                </a:solidFill>
                <a:latin typeface="Consolas"/>
                <a:cs typeface="Consolas"/>
              </a:rPr>
              <a:t>thru</a:t>
            </a:r>
            <a:r>
              <a:rPr sz="1677" spc="-40" dirty="0">
                <a:solidFill>
                  <a:srgbClr val="114FFB"/>
                </a:solidFill>
                <a:latin typeface="Consolas"/>
                <a:cs typeface="Consolas"/>
              </a:rPr>
              <a:t> </a:t>
            </a:r>
            <a:r>
              <a:rPr sz="1677" spc="-9" dirty="0">
                <a:solidFill>
                  <a:srgbClr val="114FFB"/>
                </a:solidFill>
                <a:latin typeface="Consolas"/>
                <a:cs typeface="Consolas"/>
              </a:rPr>
              <a:t>cache</a:t>
            </a:r>
            <a:endParaRPr sz="1677">
              <a:latin typeface="Consolas"/>
              <a:cs typeface="Consola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58825" y="2051572"/>
            <a:ext cx="4987178" cy="1415451"/>
          </a:xfrm>
          <a:prstGeom prst="rect">
            <a:avLst/>
          </a:prstGeom>
        </p:spPr>
        <p:txBody>
          <a:bodyPr vert="horz" wrap="square" lIns="0" tIns="28574" rIns="0" bIns="0" rtlCol="0">
            <a:spAutoFit/>
          </a:bodyPr>
          <a:lstStyle/>
          <a:p>
            <a:pPr marL="1100476" marR="4483">
              <a:lnSpc>
                <a:spcPts val="1924"/>
              </a:lnSpc>
              <a:spcBef>
                <a:spcPts val="224"/>
              </a:spcBef>
            </a:pPr>
            <a:r>
              <a:rPr sz="1677" dirty="0">
                <a:solidFill>
                  <a:srgbClr val="008000"/>
                </a:solidFill>
                <a:latin typeface="Consolas"/>
                <a:cs typeface="Consolas"/>
              </a:rPr>
              <a:t>BusRd</a:t>
            </a:r>
            <a:r>
              <a:rPr sz="1677" spc="-26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008000"/>
                </a:solidFill>
                <a:latin typeface="Consolas"/>
                <a:cs typeface="Consolas"/>
              </a:rPr>
              <a:t>:</a:t>
            </a:r>
            <a:r>
              <a:rPr sz="1677" spc="-26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008000"/>
                </a:solidFill>
                <a:latin typeface="Consolas"/>
                <a:cs typeface="Consolas"/>
              </a:rPr>
              <a:t>Pr</a:t>
            </a:r>
            <a:r>
              <a:rPr sz="1677" spc="-22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008000"/>
                </a:solidFill>
                <a:latin typeface="Consolas"/>
                <a:cs typeface="Consolas"/>
              </a:rPr>
              <a:t>puts</a:t>
            </a:r>
            <a:r>
              <a:rPr sz="1677" spc="-26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008000"/>
                </a:solidFill>
                <a:latin typeface="Consolas"/>
                <a:cs typeface="Consolas"/>
              </a:rPr>
              <a:t>Read</a:t>
            </a:r>
            <a:r>
              <a:rPr sz="1677" spc="-22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008000"/>
                </a:solidFill>
                <a:latin typeface="Consolas"/>
                <a:cs typeface="Consolas"/>
              </a:rPr>
              <a:t>Miss</a:t>
            </a:r>
            <a:r>
              <a:rPr sz="1677" spc="-26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008000"/>
                </a:solidFill>
                <a:latin typeface="Consolas"/>
                <a:cs typeface="Consolas"/>
              </a:rPr>
              <a:t>on</a:t>
            </a:r>
            <a:r>
              <a:rPr sz="1677" spc="-26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77" spc="-22" dirty="0">
                <a:solidFill>
                  <a:srgbClr val="008000"/>
                </a:solidFill>
                <a:latin typeface="Consolas"/>
                <a:cs typeface="Consolas"/>
              </a:rPr>
              <a:t>Bus </a:t>
            </a:r>
            <a:r>
              <a:rPr sz="1677" dirty="0">
                <a:solidFill>
                  <a:srgbClr val="008000"/>
                </a:solidFill>
                <a:latin typeface="Consolas"/>
                <a:cs typeface="Consolas"/>
              </a:rPr>
              <a:t>BusWr</a:t>
            </a:r>
            <a:r>
              <a:rPr sz="1677" spc="-26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008000"/>
                </a:solidFill>
                <a:latin typeface="Consolas"/>
                <a:cs typeface="Consolas"/>
              </a:rPr>
              <a:t>:</a:t>
            </a:r>
            <a:r>
              <a:rPr sz="1677" spc="-26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008000"/>
                </a:solidFill>
                <a:latin typeface="Consolas"/>
                <a:cs typeface="Consolas"/>
              </a:rPr>
              <a:t>Pr</a:t>
            </a:r>
            <a:r>
              <a:rPr sz="1677" spc="-26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008000"/>
                </a:solidFill>
                <a:latin typeface="Consolas"/>
                <a:cs typeface="Consolas"/>
              </a:rPr>
              <a:t>puts</a:t>
            </a:r>
            <a:r>
              <a:rPr sz="1677" spc="-26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008000"/>
                </a:solidFill>
                <a:latin typeface="Consolas"/>
                <a:cs typeface="Consolas"/>
              </a:rPr>
              <a:t>Write</a:t>
            </a:r>
            <a:r>
              <a:rPr sz="1677" spc="-26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008000"/>
                </a:solidFill>
                <a:latin typeface="Consolas"/>
                <a:cs typeface="Consolas"/>
              </a:rPr>
              <a:t>Thru</a:t>
            </a:r>
            <a:r>
              <a:rPr sz="1677" spc="-26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008000"/>
                </a:solidFill>
                <a:latin typeface="Consolas"/>
                <a:cs typeface="Consolas"/>
              </a:rPr>
              <a:t>on</a:t>
            </a:r>
            <a:r>
              <a:rPr sz="1677" spc="-26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77" spc="-22" dirty="0">
                <a:solidFill>
                  <a:srgbClr val="008000"/>
                </a:solidFill>
                <a:latin typeface="Consolas"/>
                <a:cs typeface="Consolas"/>
              </a:rPr>
              <a:t>Bus</a:t>
            </a:r>
            <a:endParaRPr sz="1677">
              <a:latin typeface="Consolas"/>
              <a:cs typeface="Consolas"/>
            </a:endParaRPr>
          </a:p>
          <a:p>
            <a:pPr marL="1100476" marR="121590">
              <a:lnSpc>
                <a:spcPts val="2030"/>
              </a:lnSpc>
              <a:spcBef>
                <a:spcPts val="26"/>
              </a:spcBef>
              <a:tabLst>
                <a:tab pos="1804804" algn="l"/>
              </a:tabLst>
            </a:pPr>
            <a:r>
              <a:rPr sz="1677" dirty="0">
                <a:latin typeface="Consolas"/>
                <a:cs typeface="Consolas"/>
              </a:rPr>
              <a:t>/ </a:t>
            </a:r>
            <a:r>
              <a:rPr sz="1677" spc="-18" dirty="0">
                <a:latin typeface="Consolas"/>
                <a:cs typeface="Consolas"/>
              </a:rPr>
              <a:t>-</a:t>
            </a:r>
            <a:r>
              <a:rPr sz="1677" spc="-44" dirty="0">
                <a:latin typeface="Consolas"/>
                <a:cs typeface="Consolas"/>
              </a:rPr>
              <a:t>-</a:t>
            </a:r>
            <a:r>
              <a:rPr sz="1677" dirty="0">
                <a:latin typeface="Consolas"/>
                <a:cs typeface="Consolas"/>
              </a:rPr>
              <a:t>	:</a:t>
            </a:r>
            <a:r>
              <a:rPr sz="1677" spc="-22" dirty="0">
                <a:latin typeface="Consolas"/>
                <a:cs typeface="Consolas"/>
              </a:rPr>
              <a:t> </a:t>
            </a:r>
            <a:r>
              <a:rPr sz="1677" dirty="0">
                <a:latin typeface="Consolas"/>
                <a:cs typeface="Consolas"/>
              </a:rPr>
              <a:t>Pr</a:t>
            </a:r>
            <a:r>
              <a:rPr sz="1677" spc="-22" dirty="0">
                <a:latin typeface="Consolas"/>
                <a:cs typeface="Consolas"/>
              </a:rPr>
              <a:t> </a:t>
            </a:r>
            <a:r>
              <a:rPr sz="1677" dirty="0">
                <a:latin typeface="Consolas"/>
                <a:cs typeface="Consolas"/>
              </a:rPr>
              <a:t>puts</a:t>
            </a:r>
            <a:r>
              <a:rPr sz="1677" spc="-22" dirty="0">
                <a:latin typeface="Consolas"/>
                <a:cs typeface="Consolas"/>
              </a:rPr>
              <a:t> </a:t>
            </a:r>
            <a:r>
              <a:rPr sz="1677" dirty="0">
                <a:latin typeface="Consolas"/>
                <a:cs typeface="Consolas"/>
              </a:rPr>
              <a:t>no</a:t>
            </a:r>
            <a:r>
              <a:rPr sz="1677" spc="-22" dirty="0">
                <a:latin typeface="Consolas"/>
                <a:cs typeface="Consolas"/>
              </a:rPr>
              <a:t> </a:t>
            </a:r>
            <a:r>
              <a:rPr sz="1677" dirty="0">
                <a:latin typeface="Consolas"/>
                <a:cs typeface="Consolas"/>
              </a:rPr>
              <a:t>signal</a:t>
            </a:r>
            <a:r>
              <a:rPr sz="1677" spc="-22" dirty="0">
                <a:latin typeface="Consolas"/>
                <a:cs typeface="Consolas"/>
              </a:rPr>
              <a:t> </a:t>
            </a:r>
            <a:r>
              <a:rPr sz="1677" dirty="0">
                <a:latin typeface="Consolas"/>
                <a:cs typeface="Consolas"/>
              </a:rPr>
              <a:t>on</a:t>
            </a:r>
            <a:r>
              <a:rPr sz="1677" spc="-22" dirty="0">
                <a:latin typeface="Consolas"/>
                <a:cs typeface="Consolas"/>
              </a:rPr>
              <a:t> bus </a:t>
            </a:r>
            <a:r>
              <a:rPr sz="1677" dirty="0">
                <a:solidFill>
                  <a:srgbClr val="FF0000"/>
                </a:solidFill>
                <a:latin typeface="Consolas"/>
                <a:cs typeface="Consolas"/>
              </a:rPr>
              <a:t>BusWr</a:t>
            </a:r>
            <a:r>
              <a:rPr sz="1677" spc="-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77" dirty="0">
                <a:latin typeface="Consolas"/>
                <a:cs typeface="Consolas"/>
              </a:rPr>
              <a:t>/</a:t>
            </a:r>
            <a:r>
              <a:rPr sz="1677" spc="-35" dirty="0"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FF0000"/>
                </a:solidFill>
                <a:latin typeface="Consolas"/>
                <a:cs typeface="Consolas"/>
              </a:rPr>
              <a:t>:</a:t>
            </a:r>
            <a:r>
              <a:rPr sz="1677" spc="-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77" dirty="0">
                <a:solidFill>
                  <a:srgbClr val="FF0000"/>
                </a:solidFill>
                <a:latin typeface="Consolas"/>
                <a:cs typeface="Consolas"/>
              </a:rPr>
              <a:t>Invalidated</a:t>
            </a:r>
            <a:r>
              <a:rPr sz="1677" spc="-3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77" spc="-9" dirty="0">
                <a:solidFill>
                  <a:srgbClr val="FF0000"/>
                </a:solidFill>
                <a:latin typeface="Consolas"/>
                <a:cs typeface="Consolas"/>
              </a:rPr>
              <a:t>remotely</a:t>
            </a:r>
            <a:endParaRPr sz="1677">
              <a:latin typeface="Consolas"/>
              <a:cs typeface="Consolas"/>
            </a:endParaRPr>
          </a:p>
          <a:p>
            <a:pPr marL="11206">
              <a:spcBef>
                <a:spcPts val="1015"/>
              </a:spcBef>
            </a:pPr>
            <a:r>
              <a:rPr sz="1677" b="1" dirty="0">
                <a:solidFill>
                  <a:srgbClr val="114FFB"/>
                </a:solidFill>
                <a:latin typeface="Arial"/>
                <a:cs typeface="Arial"/>
              </a:rPr>
              <a:t>PrRd</a:t>
            </a:r>
            <a:r>
              <a:rPr sz="1677" b="1" dirty="0">
                <a:latin typeface="Arial"/>
                <a:cs typeface="Arial"/>
              </a:rPr>
              <a:t>/</a:t>
            </a:r>
            <a:r>
              <a:rPr sz="1677" b="1" spc="-4" dirty="0">
                <a:latin typeface="Arial"/>
                <a:cs typeface="Arial"/>
              </a:rPr>
              <a:t> </a:t>
            </a:r>
            <a:r>
              <a:rPr sz="1677" b="1" spc="-9" dirty="0">
                <a:latin typeface="Arial"/>
                <a:cs typeface="Arial"/>
              </a:rPr>
              <a:t>-</a:t>
            </a:r>
            <a:r>
              <a:rPr sz="1677" b="1" spc="-44" dirty="0">
                <a:latin typeface="Arial"/>
                <a:cs typeface="Arial"/>
              </a:rPr>
              <a:t>-</a:t>
            </a:r>
            <a:endParaRPr sz="1677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860664" y="4772025"/>
            <a:ext cx="3695700" cy="405653"/>
            <a:chOff x="5356352" y="5408295"/>
            <a:chExt cx="4188460" cy="459740"/>
          </a:xfrm>
        </p:grpSpPr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80736" y="5425948"/>
              <a:ext cx="4163567" cy="38709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56352" y="5419852"/>
              <a:ext cx="4184904" cy="44805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361131" y="5408295"/>
              <a:ext cx="4147820" cy="370840"/>
            </a:xfrm>
            <a:custGeom>
              <a:avLst/>
              <a:gdLst/>
              <a:ahLst/>
              <a:cxnLst/>
              <a:rect l="l" t="t" r="r" b="b"/>
              <a:pathLst>
                <a:path w="4147820" h="370839">
                  <a:moveTo>
                    <a:pt x="4147272" y="0"/>
                  </a:moveTo>
                  <a:lnTo>
                    <a:pt x="0" y="0"/>
                  </a:lnTo>
                  <a:lnTo>
                    <a:pt x="0" y="370592"/>
                  </a:lnTo>
                  <a:lnTo>
                    <a:pt x="4147272" y="370592"/>
                  </a:lnTo>
                  <a:lnTo>
                    <a:pt x="41472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864880" y="4772026"/>
            <a:ext cx="3659841" cy="263081"/>
          </a:xfrm>
          <a:prstGeom prst="rect">
            <a:avLst/>
          </a:prstGeom>
          <a:ln w="13476">
            <a:solidFill>
              <a:srgbClr val="000000"/>
            </a:solidFill>
          </a:ln>
        </p:spPr>
        <p:txBody>
          <a:bodyPr vert="horz" wrap="square" lIns="0" tIns="31937" rIns="0" bIns="0" rtlCol="0">
            <a:spAutoFit/>
          </a:bodyPr>
          <a:lstStyle/>
          <a:p>
            <a:pPr marL="85169">
              <a:spcBef>
                <a:spcPts val="251"/>
              </a:spcBef>
            </a:pPr>
            <a:r>
              <a:rPr sz="1500" b="1" i="1" spc="-9" dirty="0">
                <a:solidFill>
                  <a:srgbClr val="FC0128"/>
                </a:solidFill>
                <a:latin typeface="Arial"/>
                <a:cs typeface="Arial"/>
              </a:rPr>
              <a:t>Single-writer, multiple-</a:t>
            </a:r>
            <a:r>
              <a:rPr sz="1500" b="1" i="1" dirty="0">
                <a:solidFill>
                  <a:srgbClr val="FC0128"/>
                </a:solidFill>
                <a:latin typeface="Arial"/>
                <a:cs typeface="Arial"/>
              </a:rPr>
              <a:t>reader</a:t>
            </a:r>
            <a:r>
              <a:rPr sz="1500" b="1" i="1" spc="393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i="1" spc="-9" dirty="0">
                <a:solidFill>
                  <a:srgbClr val="FC0128"/>
                </a:solidFill>
                <a:latin typeface="Arial"/>
                <a:cs typeface="Arial"/>
              </a:rPr>
              <a:t>(SWMR)</a:t>
            </a:r>
            <a:endParaRPr sz="1500">
              <a:latin typeface="Arial"/>
              <a:cs typeface="Arial"/>
            </a:endParaRP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309EB326-BE96-CD01-84CE-DB6FFAF2448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37</a:t>
            </a:fld>
            <a:endParaRPr lang="en-US" spc="-44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Is</a:t>
            </a:r>
            <a:r>
              <a:rPr spc="-31" dirty="0"/>
              <a:t> </a:t>
            </a:r>
            <a:r>
              <a:rPr spc="-9" dirty="0"/>
              <a:t>Two-</a:t>
            </a:r>
            <a:r>
              <a:rPr dirty="0"/>
              <a:t>State</a:t>
            </a:r>
            <a:r>
              <a:rPr spc="-31" dirty="0"/>
              <a:t> </a:t>
            </a:r>
            <a:r>
              <a:rPr dirty="0"/>
              <a:t>Protocol</a:t>
            </a:r>
            <a:r>
              <a:rPr spc="-22" dirty="0"/>
              <a:t> </a:t>
            </a:r>
            <a:r>
              <a:rPr spc="-9" dirty="0"/>
              <a:t>Coherent?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9625" y="1294653"/>
            <a:ext cx="6981825" cy="488021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spcAft>
                <a:spcPts val="600"/>
              </a:spcAft>
              <a:tabLst>
                <a:tab pos="278481" algn="l"/>
              </a:tabLst>
            </a:pPr>
            <a:r>
              <a:rPr sz="2210" dirty="0">
                <a:latin typeface="Calibri"/>
                <a:cs typeface="Calibri"/>
              </a:rPr>
              <a:t>Memory</a:t>
            </a:r>
            <a:r>
              <a:rPr sz="2210" spc="66" dirty="0">
                <a:latin typeface="Calibri"/>
                <a:cs typeface="Calibri"/>
              </a:rPr>
              <a:t> </a:t>
            </a:r>
            <a:r>
              <a:rPr sz="2210" dirty="0">
                <a:latin typeface="Calibri"/>
                <a:cs typeface="Calibri"/>
              </a:rPr>
              <a:t>is</a:t>
            </a:r>
            <a:r>
              <a:rPr sz="2210" spc="62" dirty="0">
                <a:latin typeface="Calibri"/>
                <a:cs typeface="Calibri"/>
              </a:rPr>
              <a:t> </a:t>
            </a:r>
            <a:r>
              <a:rPr sz="2210" b="1" dirty="0">
                <a:latin typeface="Calibri"/>
                <a:cs typeface="Calibri"/>
              </a:rPr>
              <a:t>coherent</a:t>
            </a:r>
            <a:r>
              <a:rPr sz="2210" b="1" spc="66" dirty="0">
                <a:latin typeface="Calibri"/>
                <a:cs typeface="Calibri"/>
              </a:rPr>
              <a:t> </a:t>
            </a:r>
            <a:r>
              <a:rPr sz="2210" spc="-18" dirty="0" err="1">
                <a:latin typeface="Calibri"/>
                <a:cs typeface="Calibri"/>
              </a:rPr>
              <a:t>iff</a:t>
            </a:r>
            <a:r>
              <a:rPr sz="2210" spc="-18" dirty="0">
                <a:latin typeface="Calibri"/>
                <a:cs typeface="Calibri"/>
              </a:rPr>
              <a:t>:</a:t>
            </a:r>
            <a:endParaRPr lang="en-US" sz="2210" spc="-18" dirty="0">
              <a:latin typeface="Calibri"/>
              <a:cs typeface="Calibri"/>
            </a:endParaRPr>
          </a:p>
          <a:p>
            <a:pPr marL="11206">
              <a:spcBef>
                <a:spcPts val="88"/>
              </a:spcBef>
              <a:spcAft>
                <a:spcPts val="600"/>
              </a:spcAft>
              <a:tabLst>
                <a:tab pos="278481" algn="l"/>
              </a:tabLst>
            </a:pPr>
            <a:r>
              <a:rPr lang="en-US" sz="2210" dirty="0"/>
              <a:t>Three coherence requirements are met.</a:t>
            </a:r>
            <a:endParaRPr sz="2210" dirty="0">
              <a:latin typeface="Calibri"/>
              <a:cs typeface="Calibri"/>
            </a:endParaRPr>
          </a:p>
          <a:p>
            <a:pPr marL="439294" marR="120470" indent="-428088">
              <a:spcAft>
                <a:spcPts val="1200"/>
              </a:spcAft>
              <a:buAutoNum type="arabicPeriod"/>
              <a:tabLst>
                <a:tab pos="439294" algn="l"/>
              </a:tabLst>
            </a:pPr>
            <a:r>
              <a:rPr lang="en-US" sz="2206" b="1" dirty="0">
                <a:latin typeface="Calibri"/>
                <a:cs typeface="Calibri"/>
              </a:rPr>
              <a:t>Program Order:</a:t>
            </a:r>
            <a:br>
              <a:rPr lang="en-US" sz="2206" dirty="0">
                <a:latin typeface="Calibri"/>
                <a:cs typeface="Calibri"/>
              </a:rPr>
            </a:br>
            <a:r>
              <a:rPr sz="2206" dirty="0">
                <a:latin typeface="Calibri"/>
                <a:cs typeface="Calibri"/>
              </a:rPr>
              <a:t>A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read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by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</a:t>
            </a:r>
            <a:r>
              <a:rPr sz="2206" spc="3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location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X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that</a:t>
            </a:r>
            <a:r>
              <a:rPr sz="2206" spc="2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follows</a:t>
            </a:r>
            <a:r>
              <a:rPr sz="2206" spc="2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write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by</a:t>
            </a:r>
            <a:r>
              <a:rPr sz="2206" spc="3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31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X, </a:t>
            </a:r>
            <a:r>
              <a:rPr sz="2206" dirty="0">
                <a:latin typeface="Calibri"/>
                <a:cs typeface="Calibri"/>
              </a:rPr>
              <a:t>w/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no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intervening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writes,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returns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written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value.</a:t>
            </a:r>
            <a:endParaRPr sz="2206" dirty="0">
              <a:latin typeface="Calibri"/>
              <a:cs typeface="Calibri"/>
            </a:endParaRPr>
          </a:p>
          <a:p>
            <a:pPr marL="439294" marR="75644" indent="-428088">
              <a:spcAft>
                <a:spcPts val="1200"/>
              </a:spcAft>
              <a:buAutoNum type="arabicPeriod"/>
              <a:tabLst>
                <a:tab pos="439294" algn="l"/>
              </a:tabLst>
            </a:pPr>
            <a:r>
              <a:rPr lang="en-US" sz="2206" b="1" dirty="0">
                <a:latin typeface="Calibri"/>
                <a:cs typeface="Calibri"/>
              </a:rPr>
              <a:t>Write Propagation:</a:t>
            </a:r>
            <a:br>
              <a:rPr lang="en-US" sz="2206" dirty="0">
                <a:latin typeface="Calibri"/>
                <a:cs typeface="Calibri"/>
              </a:rPr>
            </a:br>
            <a:r>
              <a:rPr sz="2206" dirty="0">
                <a:latin typeface="Calibri"/>
                <a:cs typeface="Calibri"/>
              </a:rPr>
              <a:t>A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read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by</a:t>
            </a:r>
            <a:r>
              <a:rPr sz="2206" spc="3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</a:t>
            </a:r>
            <a:r>
              <a:rPr sz="2206" spc="3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3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location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X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that</a:t>
            </a:r>
            <a:r>
              <a:rPr sz="2206" spc="2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follows</a:t>
            </a:r>
            <a:r>
              <a:rPr sz="2206" spc="2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3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write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by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Q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31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X, </a:t>
            </a:r>
            <a:r>
              <a:rPr sz="2206" dirty="0">
                <a:latin typeface="Calibri"/>
                <a:cs typeface="Calibri"/>
              </a:rPr>
              <a:t>w/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no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intervening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writes,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and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the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read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and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write </a:t>
            </a:r>
            <a:r>
              <a:rPr sz="2206" dirty="0">
                <a:latin typeface="Calibri"/>
                <a:cs typeface="Calibri"/>
              </a:rPr>
              <a:t>sufficiently</a:t>
            </a:r>
            <a:r>
              <a:rPr sz="2206" spc="8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separated,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returns</a:t>
            </a:r>
            <a:r>
              <a:rPr sz="2206" spc="8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written</a:t>
            </a:r>
            <a:r>
              <a:rPr sz="2206" spc="88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value.</a:t>
            </a:r>
            <a:endParaRPr sz="2206" dirty="0">
              <a:latin typeface="Calibri"/>
              <a:cs typeface="Calibri"/>
            </a:endParaRPr>
          </a:p>
          <a:p>
            <a:pPr marL="438734" indent="-427527">
              <a:buAutoNum type="arabicPeriod"/>
              <a:tabLst>
                <a:tab pos="438734" algn="l"/>
              </a:tabLst>
            </a:pPr>
            <a:r>
              <a:rPr lang="en-US" sz="2206" b="1" dirty="0">
                <a:latin typeface="Calibri"/>
                <a:cs typeface="Calibri"/>
              </a:rPr>
              <a:t>Write Serialization:</a:t>
            </a:r>
            <a:br>
              <a:rPr lang="en-US" sz="2206" dirty="0">
                <a:latin typeface="Calibri"/>
                <a:cs typeface="Calibri"/>
              </a:rPr>
            </a:br>
            <a:r>
              <a:rPr sz="2206" dirty="0">
                <a:latin typeface="Calibri"/>
                <a:cs typeface="Calibri"/>
              </a:rPr>
              <a:t>Writes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same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location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are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serialized</a:t>
            </a:r>
            <a:endParaRPr sz="2206" dirty="0">
              <a:latin typeface="Calibri"/>
              <a:cs typeface="Calibri"/>
            </a:endParaRPr>
          </a:p>
          <a:p>
            <a:pPr marL="653338" marR="4483" indent="-214044">
              <a:spcBef>
                <a:spcPts val="715"/>
              </a:spcBef>
            </a:pPr>
            <a:r>
              <a:rPr sz="1850" dirty="0">
                <a:latin typeface="Calibri"/>
                <a:cs typeface="Calibri"/>
              </a:rPr>
              <a:t>–</a:t>
            </a:r>
            <a:r>
              <a:rPr sz="1850" spc="432" dirty="0">
                <a:latin typeface="Calibri"/>
                <a:cs typeface="Calibri"/>
              </a:rPr>
              <a:t> </a:t>
            </a:r>
            <a:r>
              <a:rPr lang="en-US" sz="1850" dirty="0">
                <a:latin typeface="Calibri"/>
                <a:cs typeface="Calibri"/>
              </a:rPr>
              <a:t>W</a:t>
            </a:r>
            <a:r>
              <a:rPr sz="1850" dirty="0">
                <a:latin typeface="Calibri"/>
                <a:cs typeface="Calibri"/>
              </a:rPr>
              <a:t>rites</a:t>
            </a:r>
            <a:r>
              <a:rPr sz="1850" spc="-13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to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same location by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distinct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processors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seen </a:t>
            </a:r>
            <a:br>
              <a:rPr lang="en-US" sz="1850" dirty="0">
                <a:latin typeface="Calibri"/>
                <a:cs typeface="Calibri"/>
              </a:rPr>
            </a:br>
            <a:r>
              <a:rPr sz="1850" dirty="0">
                <a:latin typeface="Calibri"/>
                <a:cs typeface="Calibri"/>
              </a:rPr>
              <a:t>in same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order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by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spc="-22" dirty="0">
                <a:latin typeface="Calibri"/>
                <a:cs typeface="Calibri"/>
              </a:rPr>
              <a:t>all </a:t>
            </a:r>
            <a:r>
              <a:rPr sz="1850" dirty="0">
                <a:latin typeface="Calibri"/>
                <a:cs typeface="Calibri"/>
              </a:rPr>
              <a:t>other</a:t>
            </a:r>
            <a:r>
              <a:rPr sz="1850" spc="-13" dirty="0">
                <a:latin typeface="Calibri"/>
                <a:cs typeface="Calibri"/>
              </a:rPr>
              <a:t> </a:t>
            </a:r>
            <a:r>
              <a:rPr sz="1850" spc="-9" dirty="0">
                <a:latin typeface="Calibri"/>
                <a:cs typeface="Calibri"/>
              </a:rPr>
              <a:t>processors</a:t>
            </a:r>
            <a:endParaRPr sz="1850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43E2E2-38AD-7708-3E30-E36B0E67D25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38</a:t>
            </a:fld>
            <a:endParaRPr lang="en-US" spc="-44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Is</a:t>
            </a:r>
            <a:r>
              <a:rPr spc="-31" dirty="0"/>
              <a:t> </a:t>
            </a:r>
            <a:r>
              <a:rPr spc="-9" dirty="0"/>
              <a:t>Two-</a:t>
            </a:r>
            <a:r>
              <a:rPr dirty="0"/>
              <a:t>State</a:t>
            </a:r>
            <a:r>
              <a:rPr spc="-31" dirty="0"/>
              <a:t> </a:t>
            </a:r>
            <a:r>
              <a:rPr dirty="0"/>
              <a:t>Protocol</a:t>
            </a:r>
            <a:r>
              <a:rPr spc="-22" dirty="0"/>
              <a:t> </a:t>
            </a:r>
            <a:r>
              <a:rPr spc="-9" dirty="0"/>
              <a:t>Coherent?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9625" y="1319157"/>
            <a:ext cx="7572376" cy="5031910"/>
          </a:xfrm>
          <a:prstGeom prst="rect">
            <a:avLst/>
          </a:prstGeom>
        </p:spPr>
        <p:txBody>
          <a:bodyPr vert="horz" wrap="square" lIns="0" tIns="40341" rIns="0" bIns="0" rtlCol="0">
            <a:spAutoFit/>
          </a:bodyPr>
          <a:lstStyle/>
          <a:p>
            <a:pPr marL="278481" marR="305937" indent="-267835">
              <a:lnSpc>
                <a:spcPts val="2030"/>
              </a:lnSpc>
              <a:spcBef>
                <a:spcPts val="318"/>
              </a:spcBef>
              <a:buChar char="•"/>
              <a:tabLst>
                <a:tab pos="278481" algn="l"/>
              </a:tabLst>
            </a:pPr>
            <a:r>
              <a:rPr sz="1853" dirty="0">
                <a:latin typeface="Calibri"/>
                <a:cs typeface="Calibri"/>
              </a:rPr>
              <a:t>Assume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bus</a:t>
            </a:r>
            <a:r>
              <a:rPr sz="1853" spc="4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transactions</a:t>
            </a:r>
            <a:r>
              <a:rPr sz="1853" spc="4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and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memory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operations</a:t>
            </a:r>
            <a:r>
              <a:rPr sz="1853" spc="4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are</a:t>
            </a:r>
            <a:r>
              <a:rPr sz="1853" spc="40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atomic</a:t>
            </a:r>
            <a:r>
              <a:rPr sz="1853" spc="40" dirty="0">
                <a:latin typeface="Calibri"/>
                <a:cs typeface="Calibri"/>
              </a:rPr>
              <a:t> </a:t>
            </a:r>
            <a:r>
              <a:rPr sz="1853" spc="-22" dirty="0">
                <a:latin typeface="Calibri"/>
                <a:cs typeface="Calibri"/>
              </a:rPr>
              <a:t>and </a:t>
            </a:r>
            <a:r>
              <a:rPr sz="1853" dirty="0">
                <a:latin typeface="Calibri"/>
                <a:cs typeface="Calibri"/>
              </a:rPr>
              <a:t>each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processor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has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one-level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cache</a:t>
            </a:r>
            <a:endParaRPr sz="1853" dirty="0">
              <a:latin typeface="Calibri"/>
              <a:cs typeface="Calibri"/>
            </a:endParaRPr>
          </a:p>
          <a:p>
            <a:pPr marL="651657" lvl="1" indent="-212363">
              <a:spcBef>
                <a:spcPts val="375"/>
              </a:spcBef>
              <a:buChar char="–"/>
              <a:tabLst>
                <a:tab pos="651657" algn="l"/>
              </a:tabLst>
            </a:pPr>
            <a:r>
              <a:rPr sz="1677" dirty="0">
                <a:latin typeface="Calibri"/>
                <a:cs typeface="Calibri"/>
              </a:rPr>
              <a:t>all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phases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one bus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transaction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complete before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 next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one </a:t>
            </a:r>
            <a:r>
              <a:rPr sz="1677" spc="-9" dirty="0">
                <a:latin typeface="Calibri"/>
                <a:cs typeface="Calibri"/>
              </a:rPr>
              <a:t>starts</a:t>
            </a:r>
            <a:endParaRPr sz="1677" dirty="0">
              <a:latin typeface="Calibri"/>
              <a:cs typeface="Calibri"/>
            </a:endParaRPr>
          </a:p>
          <a:p>
            <a:pPr marL="651657" lvl="1" indent="-212363">
              <a:spcBef>
                <a:spcPts val="383"/>
              </a:spcBef>
              <a:buChar char="–"/>
              <a:tabLst>
                <a:tab pos="651657" algn="l"/>
              </a:tabLst>
            </a:pPr>
            <a:r>
              <a:rPr sz="1677" dirty="0">
                <a:latin typeface="Calibri"/>
                <a:cs typeface="Calibri"/>
              </a:rPr>
              <a:t>processor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waits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for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memory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operation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complete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before issuing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18" dirty="0">
                <a:latin typeface="Calibri"/>
                <a:cs typeface="Calibri"/>
              </a:rPr>
              <a:t>next</a:t>
            </a:r>
            <a:endParaRPr sz="1677" dirty="0">
              <a:latin typeface="Calibri"/>
              <a:cs typeface="Calibri"/>
            </a:endParaRPr>
          </a:p>
          <a:p>
            <a:pPr marL="651657" marR="842727" lvl="1" indent="-212363">
              <a:lnSpc>
                <a:spcPts val="1755"/>
              </a:lnSpc>
              <a:spcBef>
                <a:spcPts val="737"/>
              </a:spcBef>
              <a:buChar char="–"/>
              <a:tabLst>
                <a:tab pos="653338" algn="l"/>
              </a:tabLst>
            </a:pPr>
            <a:r>
              <a:rPr sz="1677" dirty="0">
                <a:latin typeface="Calibri"/>
                <a:cs typeface="Calibri"/>
              </a:rPr>
              <a:t>with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one-level</a:t>
            </a:r>
            <a:r>
              <a:rPr sz="1677" spc="-22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cache,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assume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invalidations</a:t>
            </a:r>
            <a:r>
              <a:rPr sz="1677" spc="-22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applied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during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spc="-22" dirty="0">
                <a:latin typeface="Calibri"/>
                <a:cs typeface="Calibri"/>
              </a:rPr>
              <a:t>bus</a:t>
            </a:r>
            <a:r>
              <a:rPr lang="en-US" sz="1677" spc="-22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transaction</a:t>
            </a:r>
            <a:endParaRPr sz="1677" dirty="0">
              <a:latin typeface="Calibri"/>
              <a:cs typeface="Calibri"/>
            </a:endParaRPr>
          </a:p>
          <a:p>
            <a:pPr marL="278481" marR="4483" indent="-267835">
              <a:lnSpc>
                <a:spcPts val="2030"/>
              </a:lnSpc>
              <a:spcBef>
                <a:spcPts val="675"/>
              </a:spcBef>
              <a:buChar char="•"/>
              <a:tabLst>
                <a:tab pos="278481" algn="l"/>
              </a:tabLst>
            </a:pP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Processor</a:t>
            </a:r>
            <a:r>
              <a:rPr sz="1853" spc="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only</a:t>
            </a:r>
            <a:r>
              <a:rPr sz="1853" spc="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observes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state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of</a:t>
            </a:r>
            <a:r>
              <a:rPr sz="1853" spc="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memory</a:t>
            </a:r>
            <a:r>
              <a:rPr sz="1853" spc="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system</a:t>
            </a:r>
            <a:r>
              <a:rPr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by</a:t>
            </a:r>
            <a:r>
              <a:rPr sz="1853" spc="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issuing</a:t>
            </a:r>
            <a:r>
              <a:rPr sz="1853" spc="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spc="-9" dirty="0">
                <a:solidFill>
                  <a:srgbClr val="3366FF"/>
                </a:solidFill>
                <a:latin typeface="Calibri"/>
                <a:cs typeface="Calibri"/>
              </a:rPr>
              <a:t>memory operations</a:t>
            </a:r>
            <a:endParaRPr sz="1853" dirty="0">
              <a:latin typeface="Calibri"/>
              <a:cs typeface="Calibri"/>
            </a:endParaRPr>
          </a:p>
          <a:p>
            <a:pPr marL="278481" indent="-267275"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All</a:t>
            </a:r>
            <a:r>
              <a:rPr sz="1853" spc="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writes</a:t>
            </a:r>
            <a:r>
              <a:rPr sz="1853" spc="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go</a:t>
            </a:r>
            <a:r>
              <a:rPr sz="1853" spc="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53" spc="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bus</a:t>
            </a:r>
            <a:r>
              <a:rPr sz="1853" spc="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853" spc="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spc="-9" dirty="0">
                <a:solidFill>
                  <a:srgbClr val="FF0000"/>
                </a:solidFill>
                <a:latin typeface="Calibri"/>
                <a:cs typeface="Calibri"/>
              </a:rPr>
              <a:t>atomicity</a:t>
            </a:r>
            <a:endParaRPr sz="1853" dirty="0">
              <a:latin typeface="Calibri"/>
              <a:cs typeface="Calibri"/>
            </a:endParaRPr>
          </a:p>
          <a:p>
            <a:pPr marL="651657" lvl="1" indent="-212363">
              <a:spcBef>
                <a:spcPts val="405"/>
              </a:spcBef>
              <a:buChar char="–"/>
              <a:tabLst>
                <a:tab pos="651657" algn="l"/>
              </a:tabLst>
            </a:pPr>
            <a:r>
              <a:rPr sz="1677" dirty="0">
                <a:solidFill>
                  <a:srgbClr val="FF0000"/>
                </a:solidFill>
                <a:latin typeface="Calibri"/>
                <a:cs typeface="Calibri"/>
              </a:rPr>
              <a:t>Writes</a:t>
            </a:r>
            <a:r>
              <a:rPr sz="1677" spc="-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FF0000"/>
                </a:solidFill>
                <a:latin typeface="Calibri"/>
                <a:cs typeface="Calibri"/>
              </a:rPr>
              <a:t>serialized </a:t>
            </a:r>
            <a:r>
              <a:rPr sz="1677" dirty="0">
                <a:latin typeface="Calibri"/>
                <a:cs typeface="Calibri"/>
              </a:rPr>
              <a:t>by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order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in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which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they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appear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on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bus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(bus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order)</a:t>
            </a:r>
            <a:endParaRPr sz="1677" dirty="0">
              <a:latin typeface="Calibri"/>
              <a:cs typeface="Calibri"/>
            </a:endParaRPr>
          </a:p>
          <a:p>
            <a:pPr marL="439294">
              <a:spcBef>
                <a:spcPts val="468"/>
              </a:spcBef>
            </a:pPr>
            <a:r>
              <a:rPr sz="1677" dirty="0">
                <a:latin typeface="Calibri"/>
                <a:cs typeface="Calibri"/>
              </a:rPr>
              <a:t>=&gt;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invalidations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applied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caches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in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bus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order</a:t>
            </a:r>
            <a:endParaRPr sz="1677" dirty="0">
              <a:latin typeface="Calibri"/>
              <a:cs typeface="Calibri"/>
            </a:endParaRPr>
          </a:p>
          <a:p>
            <a:pPr marL="278481" indent="-267275">
              <a:spcBef>
                <a:spcPts val="375"/>
              </a:spcBef>
              <a:buChar char="•"/>
              <a:tabLst>
                <a:tab pos="278481" algn="l"/>
              </a:tabLst>
            </a:pPr>
            <a:r>
              <a:rPr sz="1853" dirty="0">
                <a:latin typeface="Calibri"/>
                <a:cs typeface="Calibri"/>
              </a:rPr>
              <a:t>How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to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insert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reads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this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order?</a:t>
            </a:r>
            <a:endParaRPr sz="1853" dirty="0">
              <a:latin typeface="Calibri"/>
              <a:cs typeface="Calibri"/>
            </a:endParaRPr>
          </a:p>
          <a:p>
            <a:pPr marL="651657" marR="70041" lvl="1" indent="-212363">
              <a:lnSpc>
                <a:spcPts val="1844"/>
              </a:lnSpc>
              <a:spcBef>
                <a:spcPts val="631"/>
              </a:spcBef>
              <a:buChar char="–"/>
              <a:tabLst>
                <a:tab pos="653338" algn="l"/>
              </a:tabLst>
            </a:pPr>
            <a:r>
              <a:rPr sz="1677" dirty="0">
                <a:latin typeface="Calibri"/>
                <a:cs typeface="Calibri"/>
              </a:rPr>
              <a:t>Important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since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processors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see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writes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through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reads,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which</a:t>
            </a:r>
            <a:r>
              <a:rPr sz="1677" spc="-9" dirty="0">
                <a:latin typeface="Calibri"/>
                <a:cs typeface="Calibri"/>
              </a:rPr>
              <a:t> determine</a:t>
            </a:r>
            <a:r>
              <a:rPr lang="en-US" sz="1677" spc="-9" dirty="0">
                <a:latin typeface="Calibri"/>
                <a:cs typeface="Calibri"/>
              </a:rPr>
              <a:t> </a:t>
            </a:r>
            <a:br>
              <a:rPr lang="en-US" sz="1677" spc="-9" dirty="0">
                <a:latin typeface="Calibri"/>
                <a:cs typeface="Calibri"/>
              </a:rPr>
            </a:br>
            <a:r>
              <a:rPr sz="1677" dirty="0">
                <a:latin typeface="Calibri"/>
                <a:cs typeface="Calibri"/>
              </a:rPr>
              <a:t>whether</a:t>
            </a:r>
            <a:r>
              <a:rPr sz="1677" spc="-26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write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serialization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is</a:t>
            </a:r>
            <a:r>
              <a:rPr sz="1677" spc="-26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satisfied</a:t>
            </a:r>
            <a:endParaRPr sz="1677" dirty="0">
              <a:latin typeface="Calibri"/>
              <a:cs typeface="Calibri"/>
            </a:endParaRPr>
          </a:p>
          <a:p>
            <a:pPr marL="651657" marR="135038" lvl="1" indent="-212363">
              <a:lnSpc>
                <a:spcPts val="1844"/>
              </a:lnSpc>
              <a:spcBef>
                <a:spcPts val="547"/>
              </a:spcBef>
              <a:buChar char="–"/>
              <a:tabLst>
                <a:tab pos="653338" algn="l"/>
              </a:tabLst>
            </a:pPr>
            <a:r>
              <a:rPr sz="1677" dirty="0">
                <a:latin typeface="Calibri"/>
                <a:cs typeface="Calibri"/>
              </a:rPr>
              <a:t>But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read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hits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may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happen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independently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and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do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not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appear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on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bus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spc="-22" dirty="0">
                <a:latin typeface="Calibri"/>
                <a:cs typeface="Calibri"/>
              </a:rPr>
              <a:t>or</a:t>
            </a:r>
            <a:r>
              <a:rPr lang="en-US" sz="1677" spc="-22" dirty="0">
                <a:latin typeface="Calibri"/>
                <a:cs typeface="Calibri"/>
              </a:rPr>
              <a:t> </a:t>
            </a:r>
            <a:br>
              <a:rPr lang="en-US" sz="1677" spc="-22" dirty="0">
                <a:latin typeface="Calibri"/>
                <a:cs typeface="Calibri"/>
              </a:rPr>
            </a:br>
            <a:r>
              <a:rPr sz="1677" dirty="0">
                <a:latin typeface="Calibri"/>
                <a:cs typeface="Calibri"/>
              </a:rPr>
              <a:t>enter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directly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in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bus</a:t>
            </a:r>
            <a:r>
              <a:rPr sz="1677" spc="-18" dirty="0">
                <a:latin typeface="Calibri"/>
                <a:cs typeface="Calibri"/>
              </a:rPr>
              <a:t> order</a:t>
            </a:r>
            <a:endParaRPr sz="1677" dirty="0">
              <a:latin typeface="Calibri"/>
              <a:cs typeface="Calibri"/>
            </a:endParaRPr>
          </a:p>
          <a:p>
            <a:pPr marL="278481" indent="-267275">
              <a:spcBef>
                <a:spcPts val="424"/>
              </a:spcBef>
              <a:buChar char="•"/>
              <a:tabLst>
                <a:tab pos="278481" algn="l"/>
              </a:tabLst>
            </a:pPr>
            <a:r>
              <a:rPr sz="1853" dirty="0">
                <a:latin typeface="Calibri"/>
                <a:cs typeface="Calibri"/>
              </a:rPr>
              <a:t>Let’s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understand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other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ordering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issues</a:t>
            </a:r>
            <a:endParaRPr sz="1853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DDF16-7BF7-D7B7-6F56-E9B621EB2DC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39</a:t>
            </a:fld>
            <a:endParaRPr lang="en-US" spc="-44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Ordering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3516" y="3867485"/>
            <a:ext cx="7917584" cy="2110532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278481" indent="-267275">
              <a:spcBef>
                <a:spcPts val="618"/>
              </a:spcBef>
              <a:buChar char="•"/>
              <a:tabLst>
                <a:tab pos="278481" algn="l"/>
              </a:tabLst>
            </a:pPr>
            <a:r>
              <a:rPr sz="2200" dirty="0">
                <a:latin typeface="Calibri"/>
                <a:cs typeface="Calibri"/>
              </a:rPr>
              <a:t>Writes</a:t>
            </a:r>
            <a:r>
              <a:rPr sz="2200" spc="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establish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partial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order</a:t>
            </a:r>
            <a:endParaRPr sz="2200" dirty="0">
              <a:latin typeface="Calibri"/>
              <a:cs typeface="Calibri"/>
            </a:endParaRPr>
          </a:p>
          <a:p>
            <a:pPr marL="278481" marR="870183" indent="-267835">
              <a:lnSpc>
                <a:spcPts val="2391"/>
              </a:lnSpc>
              <a:spcBef>
                <a:spcPts val="821"/>
              </a:spcBef>
              <a:buChar char="•"/>
              <a:tabLst>
                <a:tab pos="278481" algn="l"/>
              </a:tabLst>
            </a:pPr>
            <a:r>
              <a:rPr sz="2200" dirty="0">
                <a:latin typeface="Calibri"/>
                <a:cs typeface="Calibri"/>
              </a:rPr>
              <a:t>Does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constrain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ordering</a:t>
            </a:r>
            <a:r>
              <a:rPr sz="2200" spc="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reads,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though </a:t>
            </a:r>
            <a:r>
              <a:rPr sz="2200" dirty="0">
                <a:latin typeface="Calibri"/>
                <a:cs typeface="Calibri"/>
              </a:rPr>
              <a:t>shared-medium</a:t>
            </a:r>
            <a:r>
              <a:rPr sz="2200" spc="8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(bus)</a:t>
            </a:r>
            <a:r>
              <a:rPr sz="2200" spc="7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will</a:t>
            </a:r>
            <a:r>
              <a:rPr sz="2200" spc="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order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read</a:t>
            </a:r>
            <a:r>
              <a:rPr sz="2200" spc="7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misses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too</a:t>
            </a:r>
            <a:endParaRPr sz="2200" dirty="0">
              <a:latin typeface="Calibri"/>
              <a:cs typeface="Calibri"/>
            </a:endParaRPr>
          </a:p>
          <a:p>
            <a:pPr marL="653338" marR="846650" indent="-214044">
              <a:lnSpc>
                <a:spcPts val="1862"/>
              </a:lnSpc>
              <a:spcBef>
                <a:spcPts val="578"/>
              </a:spcBef>
            </a:pPr>
            <a:r>
              <a:rPr sz="1677" dirty="0">
                <a:latin typeface="Calibri"/>
                <a:cs typeface="Calibri"/>
              </a:rPr>
              <a:t>–</a:t>
            </a:r>
            <a:r>
              <a:rPr sz="1677" spc="427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any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order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of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reads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by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different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CPUs</a:t>
            </a:r>
            <a:r>
              <a:rPr sz="1850" spc="-13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between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writes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is</a:t>
            </a:r>
            <a:r>
              <a:rPr sz="1850" spc="-13" dirty="0">
                <a:latin typeface="Calibri"/>
                <a:cs typeface="Calibri"/>
              </a:rPr>
              <a:t> </a:t>
            </a:r>
            <a:r>
              <a:rPr sz="1850" spc="-9" dirty="0">
                <a:latin typeface="Calibri"/>
                <a:cs typeface="Calibri"/>
              </a:rPr>
              <a:t>fine, </a:t>
            </a:r>
            <a:r>
              <a:rPr sz="1850" dirty="0">
                <a:latin typeface="Calibri"/>
                <a:cs typeface="Calibri"/>
              </a:rPr>
              <a:t>so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long as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reads</a:t>
            </a:r>
            <a:r>
              <a:rPr sz="1850" spc="-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are in program</a:t>
            </a:r>
            <a:r>
              <a:rPr sz="1850" spc="4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order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for</a:t>
            </a:r>
            <a:r>
              <a:rPr sz="1850" spc="-9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each </a:t>
            </a:r>
            <a:r>
              <a:rPr sz="1850" spc="-22" dirty="0">
                <a:latin typeface="Calibri"/>
                <a:cs typeface="Calibri"/>
              </a:rPr>
              <a:t>CPU</a:t>
            </a:r>
            <a:endParaRPr sz="1850" dirty="0">
              <a:latin typeface="Calibri"/>
              <a:cs typeface="Calibri"/>
            </a:endParaRPr>
          </a:p>
          <a:p>
            <a:pPr marL="278481" marR="4483" indent="-267835">
              <a:lnSpc>
                <a:spcPts val="2374"/>
              </a:lnSpc>
              <a:spcBef>
                <a:spcPts val="821"/>
              </a:spcBef>
              <a:buFont typeface="Calibri"/>
              <a:buChar char="•"/>
              <a:tabLst>
                <a:tab pos="278481" algn="l"/>
              </a:tabLst>
            </a:pPr>
            <a:r>
              <a:rPr sz="2206" i="1" dirty="0">
                <a:solidFill>
                  <a:srgbClr val="114FFB"/>
                </a:solidFill>
                <a:latin typeface="Calibri"/>
                <a:cs typeface="Calibri"/>
              </a:rPr>
              <a:t>Writes</a:t>
            </a:r>
            <a:r>
              <a:rPr sz="2206" i="1" spc="62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206" i="1" dirty="0">
                <a:solidFill>
                  <a:srgbClr val="114FFB"/>
                </a:solidFill>
                <a:latin typeface="Calibri"/>
                <a:cs typeface="Calibri"/>
              </a:rPr>
              <a:t>serialized,</a:t>
            </a:r>
            <a:r>
              <a:rPr sz="2206" i="1" spc="49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206" i="1" dirty="0">
                <a:solidFill>
                  <a:srgbClr val="114FFB"/>
                </a:solidFill>
                <a:latin typeface="Calibri"/>
                <a:cs typeface="Calibri"/>
              </a:rPr>
              <a:t>reads</a:t>
            </a:r>
            <a:r>
              <a:rPr sz="2206" i="1" spc="66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206" i="1" dirty="0">
                <a:solidFill>
                  <a:srgbClr val="114FFB"/>
                </a:solidFill>
                <a:latin typeface="Calibri"/>
                <a:cs typeface="Calibri"/>
              </a:rPr>
              <a:t>and</a:t>
            </a:r>
            <a:r>
              <a:rPr sz="2206" i="1" spc="66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206" i="1" dirty="0">
                <a:solidFill>
                  <a:srgbClr val="114FFB"/>
                </a:solidFill>
                <a:latin typeface="Calibri"/>
                <a:cs typeface="Calibri"/>
              </a:rPr>
              <a:t>writes</a:t>
            </a:r>
            <a:r>
              <a:rPr sz="2206" i="1" spc="62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206" i="1" dirty="0">
                <a:solidFill>
                  <a:srgbClr val="114FFB"/>
                </a:solidFill>
                <a:latin typeface="Calibri"/>
                <a:cs typeface="Calibri"/>
              </a:rPr>
              <a:t>not</a:t>
            </a:r>
            <a:r>
              <a:rPr sz="2206" i="1" spc="53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206" i="1" dirty="0">
                <a:solidFill>
                  <a:srgbClr val="114FFB"/>
                </a:solidFill>
                <a:latin typeface="Calibri"/>
                <a:cs typeface="Calibri"/>
              </a:rPr>
              <a:t>interchanged,</a:t>
            </a:r>
            <a:r>
              <a:rPr sz="2206" i="1" spc="53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206" i="1" spc="-22" dirty="0">
                <a:solidFill>
                  <a:srgbClr val="114FFB"/>
                </a:solidFill>
                <a:latin typeface="Calibri"/>
                <a:cs typeface="Calibri"/>
              </a:rPr>
              <a:t>so </a:t>
            </a:r>
            <a:r>
              <a:rPr sz="2206" i="1" spc="-9" dirty="0">
                <a:solidFill>
                  <a:srgbClr val="114FFB"/>
                </a:solidFill>
                <a:latin typeface="Calibri"/>
                <a:cs typeface="Calibri"/>
              </a:rPr>
              <a:t>coherent!</a:t>
            </a:r>
            <a:endParaRPr sz="2206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22760" y="1491002"/>
            <a:ext cx="5537387" cy="1992406"/>
            <a:chOff x="1800061" y="1689802"/>
            <a:chExt cx="6275705" cy="22580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1418" y="3646556"/>
              <a:ext cx="374911" cy="10002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746721" y="2329624"/>
              <a:ext cx="328930" cy="1383665"/>
            </a:xfrm>
            <a:custGeom>
              <a:avLst/>
              <a:gdLst/>
              <a:ahLst/>
              <a:cxnLst/>
              <a:rect l="l" t="t" r="r" b="b"/>
              <a:pathLst>
                <a:path w="328929" h="1383664">
                  <a:moveTo>
                    <a:pt x="253784" y="1378064"/>
                  </a:moveTo>
                  <a:lnTo>
                    <a:pt x="11531" y="672363"/>
                  </a:lnTo>
                  <a:lnTo>
                    <a:pt x="5765" y="672363"/>
                  </a:lnTo>
                  <a:lnTo>
                    <a:pt x="5765" y="677913"/>
                  </a:lnTo>
                  <a:lnTo>
                    <a:pt x="248018" y="1383614"/>
                  </a:lnTo>
                  <a:lnTo>
                    <a:pt x="253784" y="1383614"/>
                  </a:lnTo>
                  <a:lnTo>
                    <a:pt x="253784" y="1378064"/>
                  </a:lnTo>
                  <a:close/>
                </a:path>
                <a:path w="328929" h="1383664">
                  <a:moveTo>
                    <a:pt x="328764" y="0"/>
                  </a:moveTo>
                  <a:lnTo>
                    <a:pt x="322999" y="0"/>
                  </a:lnTo>
                  <a:lnTo>
                    <a:pt x="0" y="627900"/>
                  </a:lnTo>
                  <a:lnTo>
                    <a:pt x="0" y="633463"/>
                  </a:lnTo>
                  <a:lnTo>
                    <a:pt x="5765" y="633463"/>
                  </a:lnTo>
                  <a:lnTo>
                    <a:pt x="328764" y="5549"/>
                  </a:lnTo>
                  <a:lnTo>
                    <a:pt x="3287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4534027" y="1707264"/>
              <a:ext cx="3080385" cy="2223135"/>
            </a:xfrm>
            <a:custGeom>
              <a:avLst/>
              <a:gdLst/>
              <a:ahLst/>
              <a:cxnLst/>
              <a:rect l="l" t="t" r="r" b="b"/>
              <a:pathLst>
                <a:path w="3080384" h="2223135">
                  <a:moveTo>
                    <a:pt x="3080037" y="0"/>
                  </a:moveTo>
                  <a:lnTo>
                    <a:pt x="3080037" y="2172673"/>
                  </a:lnTo>
                </a:path>
                <a:path w="3080384" h="2223135">
                  <a:moveTo>
                    <a:pt x="0" y="55566"/>
                  </a:moveTo>
                  <a:lnTo>
                    <a:pt x="0" y="2222683"/>
                  </a:lnTo>
                </a:path>
              </a:pathLst>
            </a:custGeom>
            <a:ln w="3397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0061" y="2174028"/>
              <a:ext cx="6090861" cy="170035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327358" y="1936472"/>
            <a:ext cx="143996" cy="207032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>
              <a:spcBef>
                <a:spcPts val="79"/>
              </a:spcBef>
            </a:pPr>
            <a:r>
              <a:rPr sz="1279" spc="-44" dirty="0">
                <a:latin typeface="Arial MT"/>
                <a:cs typeface="Arial MT"/>
              </a:rPr>
              <a:t>R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52627" y="1931569"/>
            <a:ext cx="180974" cy="207032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>
              <a:spcBef>
                <a:spcPts val="79"/>
              </a:spcBef>
            </a:pPr>
            <a:r>
              <a:rPr sz="1279" spc="-44" dirty="0">
                <a:latin typeface="Arial MT"/>
                <a:cs typeface="Arial MT"/>
              </a:rPr>
              <a:t>W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06555" y="3157314"/>
            <a:ext cx="143996" cy="207032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>
              <a:spcBef>
                <a:spcPts val="79"/>
              </a:spcBef>
            </a:pPr>
            <a:r>
              <a:rPr sz="1279" spc="-44" dirty="0">
                <a:latin typeface="Arial MT"/>
                <a:cs typeface="Arial MT"/>
              </a:rPr>
              <a:t>R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97358" y="1936472"/>
            <a:ext cx="143996" cy="207032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>
              <a:spcBef>
                <a:spcPts val="79"/>
              </a:spcBef>
            </a:pPr>
            <a:r>
              <a:rPr sz="1279" spc="-44" dirty="0">
                <a:latin typeface="Arial MT"/>
                <a:cs typeface="Arial MT"/>
              </a:rPr>
              <a:t>R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72448" y="1936472"/>
            <a:ext cx="143996" cy="207032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>
              <a:spcBef>
                <a:spcPts val="79"/>
              </a:spcBef>
            </a:pPr>
            <a:r>
              <a:rPr sz="1279" spc="-44" dirty="0">
                <a:latin typeface="Arial MT"/>
                <a:cs typeface="Arial MT"/>
              </a:rPr>
              <a:t>R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30661" y="3157314"/>
            <a:ext cx="143996" cy="207032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>
              <a:spcBef>
                <a:spcPts val="79"/>
              </a:spcBef>
            </a:pPr>
            <a:r>
              <a:rPr sz="1279" spc="-44" dirty="0">
                <a:latin typeface="Arial MT"/>
                <a:cs typeface="Arial MT"/>
              </a:rPr>
              <a:t>R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00662" y="3157314"/>
            <a:ext cx="143996" cy="207032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>
              <a:spcBef>
                <a:spcPts val="79"/>
              </a:spcBef>
            </a:pPr>
            <a:r>
              <a:rPr sz="1279" spc="-44" dirty="0">
                <a:latin typeface="Arial MT"/>
                <a:cs typeface="Arial MT"/>
              </a:rPr>
              <a:t>R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21555" y="2515023"/>
            <a:ext cx="143996" cy="207032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>
              <a:spcBef>
                <a:spcPts val="79"/>
              </a:spcBef>
            </a:pPr>
            <a:r>
              <a:rPr sz="1279" spc="-44" dirty="0">
                <a:latin typeface="Arial MT"/>
                <a:cs typeface="Arial MT"/>
              </a:rPr>
              <a:t>R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01912" y="2515023"/>
            <a:ext cx="143996" cy="207032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>
              <a:spcBef>
                <a:spcPts val="79"/>
              </a:spcBef>
            </a:pPr>
            <a:r>
              <a:rPr sz="1279" spc="-44" dirty="0">
                <a:latin typeface="Arial MT"/>
                <a:cs typeface="Arial MT"/>
              </a:rPr>
              <a:t>R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05841" y="2515023"/>
            <a:ext cx="143996" cy="207032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>
              <a:spcBef>
                <a:spcPts val="79"/>
              </a:spcBef>
            </a:pPr>
            <a:r>
              <a:rPr sz="1279" spc="-44" dirty="0">
                <a:latin typeface="Arial MT"/>
                <a:cs typeface="Arial MT"/>
              </a:rPr>
              <a:t>R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70307" y="2529732"/>
            <a:ext cx="180974" cy="207032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>
              <a:spcBef>
                <a:spcPts val="79"/>
              </a:spcBef>
            </a:pPr>
            <a:r>
              <a:rPr sz="1279" spc="-44" dirty="0">
                <a:latin typeface="Arial MT"/>
                <a:cs typeface="Arial MT"/>
              </a:rPr>
              <a:t>W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78432" y="3176925"/>
            <a:ext cx="143996" cy="207032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>
              <a:spcBef>
                <a:spcPts val="79"/>
              </a:spcBef>
            </a:pPr>
            <a:r>
              <a:rPr sz="1279" spc="-44" dirty="0">
                <a:latin typeface="Arial MT"/>
                <a:cs typeface="Arial MT"/>
              </a:rPr>
              <a:t>R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85038" y="2534635"/>
            <a:ext cx="143996" cy="207032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>
              <a:spcBef>
                <a:spcPts val="79"/>
              </a:spcBef>
            </a:pPr>
            <a:r>
              <a:rPr sz="1279" spc="-44" dirty="0">
                <a:latin typeface="Arial MT"/>
                <a:cs typeface="Arial MT"/>
              </a:rPr>
              <a:t>R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97449" y="3176925"/>
            <a:ext cx="143996" cy="207032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>
              <a:spcBef>
                <a:spcPts val="79"/>
              </a:spcBef>
            </a:pPr>
            <a:r>
              <a:rPr sz="1279" spc="-44" dirty="0">
                <a:latin typeface="Arial MT"/>
                <a:cs typeface="Arial MT"/>
              </a:rPr>
              <a:t>R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67449" y="3176925"/>
            <a:ext cx="143996" cy="207032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>
              <a:spcBef>
                <a:spcPts val="79"/>
              </a:spcBef>
            </a:pPr>
            <a:r>
              <a:rPr sz="1279" spc="-44" dirty="0">
                <a:latin typeface="Arial MT"/>
                <a:cs typeface="Arial MT"/>
              </a:rPr>
              <a:t>R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18878" y="1916859"/>
            <a:ext cx="143996" cy="207032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>
              <a:spcBef>
                <a:spcPts val="79"/>
              </a:spcBef>
            </a:pPr>
            <a:r>
              <a:rPr sz="1279" spc="-44" dirty="0">
                <a:latin typeface="Arial MT"/>
                <a:cs typeface="Arial MT"/>
              </a:rPr>
              <a:t>R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99235" y="1916859"/>
            <a:ext cx="143996" cy="207032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>
              <a:spcBef>
                <a:spcPts val="79"/>
              </a:spcBef>
            </a:pPr>
            <a:r>
              <a:rPr sz="1279" spc="-44" dirty="0">
                <a:latin typeface="Arial MT"/>
                <a:cs typeface="Arial MT"/>
              </a:rPr>
              <a:t>R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15038" y="2515023"/>
            <a:ext cx="143996" cy="207032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>
              <a:spcBef>
                <a:spcPts val="79"/>
              </a:spcBef>
            </a:pPr>
            <a:r>
              <a:rPr sz="1279" spc="-44" dirty="0">
                <a:latin typeface="Arial MT"/>
                <a:cs typeface="Arial MT"/>
              </a:rPr>
              <a:t>R</a:t>
            </a:r>
            <a:endParaRPr sz="1279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102138" y="2011417"/>
            <a:ext cx="387162" cy="1309407"/>
            <a:chOff x="7896690" y="2279605"/>
            <a:chExt cx="438784" cy="1483995"/>
          </a:xfrm>
        </p:grpSpPr>
        <p:sp>
          <p:nvSpPr>
            <p:cNvPr id="28" name="object 28"/>
            <p:cNvSpPr/>
            <p:nvPr/>
          </p:nvSpPr>
          <p:spPr>
            <a:xfrm>
              <a:off x="7899574" y="2907514"/>
              <a:ext cx="0" cy="55880"/>
            </a:xfrm>
            <a:custGeom>
              <a:avLst/>
              <a:gdLst/>
              <a:ahLst/>
              <a:cxnLst/>
              <a:rect l="l" t="t" r="r" b="b"/>
              <a:pathLst>
                <a:path h="55880">
                  <a:moveTo>
                    <a:pt x="0" y="0"/>
                  </a:moveTo>
                  <a:lnTo>
                    <a:pt x="0" y="55567"/>
                  </a:lnTo>
                </a:path>
              </a:pathLst>
            </a:custGeom>
            <a:ln w="5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7896682" y="2907525"/>
              <a:ext cx="184785" cy="106045"/>
            </a:xfrm>
            <a:custGeom>
              <a:avLst/>
              <a:gdLst/>
              <a:ahLst/>
              <a:cxnLst/>
              <a:rect l="l" t="t" r="r" b="b"/>
              <a:pathLst>
                <a:path w="184784" h="106044">
                  <a:moveTo>
                    <a:pt x="184569" y="49999"/>
                  </a:moveTo>
                  <a:lnTo>
                    <a:pt x="5765" y="0"/>
                  </a:lnTo>
                  <a:lnTo>
                    <a:pt x="0" y="0"/>
                  </a:lnTo>
                  <a:lnTo>
                    <a:pt x="0" y="5549"/>
                  </a:lnTo>
                  <a:lnTo>
                    <a:pt x="168859" y="52781"/>
                  </a:lnTo>
                  <a:lnTo>
                    <a:pt x="0" y="100012"/>
                  </a:lnTo>
                  <a:lnTo>
                    <a:pt x="0" y="105575"/>
                  </a:lnTo>
                  <a:lnTo>
                    <a:pt x="5765" y="105575"/>
                  </a:lnTo>
                  <a:lnTo>
                    <a:pt x="184569" y="55562"/>
                  </a:lnTo>
                  <a:lnTo>
                    <a:pt x="184569" y="499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7899574" y="2957524"/>
              <a:ext cx="0" cy="55880"/>
            </a:xfrm>
            <a:custGeom>
              <a:avLst/>
              <a:gdLst/>
              <a:ahLst/>
              <a:cxnLst/>
              <a:rect l="l" t="t" r="r" b="b"/>
              <a:pathLst>
                <a:path h="55880">
                  <a:moveTo>
                    <a:pt x="0" y="0"/>
                  </a:moveTo>
                  <a:lnTo>
                    <a:pt x="0" y="55567"/>
                  </a:lnTo>
                </a:path>
              </a:pathLst>
            </a:custGeom>
            <a:ln w="5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7896690" y="2913070"/>
              <a:ext cx="184785" cy="100330"/>
            </a:xfrm>
            <a:custGeom>
              <a:avLst/>
              <a:gdLst/>
              <a:ahLst/>
              <a:cxnLst/>
              <a:rect l="l" t="t" r="r" b="b"/>
              <a:pathLst>
                <a:path w="184784" h="100330">
                  <a:moveTo>
                    <a:pt x="5768" y="0"/>
                  </a:moveTo>
                  <a:lnTo>
                    <a:pt x="0" y="44453"/>
                  </a:lnTo>
                  <a:lnTo>
                    <a:pt x="5768" y="100021"/>
                  </a:lnTo>
                  <a:lnTo>
                    <a:pt x="184571" y="50011"/>
                  </a:lnTo>
                  <a:lnTo>
                    <a:pt x="57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17815" y="3657669"/>
              <a:ext cx="259553" cy="10557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81262" y="2279605"/>
              <a:ext cx="253786" cy="105577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1485570" y="1916859"/>
            <a:ext cx="276785" cy="207032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33619">
              <a:spcBef>
                <a:spcPts val="79"/>
              </a:spcBef>
            </a:pPr>
            <a:r>
              <a:rPr sz="1279" spc="-22" dirty="0">
                <a:latin typeface="Arial MT"/>
                <a:cs typeface="Arial MT"/>
              </a:rPr>
              <a:t>P</a:t>
            </a:r>
            <a:r>
              <a:rPr sz="1522" spc="-33" baseline="-19323" dirty="0">
                <a:latin typeface="Arial MT"/>
                <a:cs typeface="Arial MT"/>
              </a:rPr>
              <a:t>0</a:t>
            </a:r>
            <a:r>
              <a:rPr sz="1279" spc="-22" dirty="0">
                <a:latin typeface="Arial MT"/>
                <a:cs typeface="Arial MT"/>
              </a:rPr>
              <a:t>: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449945" y="2519927"/>
            <a:ext cx="276785" cy="207032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33619">
              <a:spcBef>
                <a:spcPts val="79"/>
              </a:spcBef>
            </a:pPr>
            <a:r>
              <a:rPr sz="1279" spc="-22" dirty="0">
                <a:latin typeface="Arial MT"/>
                <a:cs typeface="Arial MT"/>
              </a:rPr>
              <a:t>P</a:t>
            </a:r>
            <a:r>
              <a:rPr sz="1522" spc="-33" baseline="-19323" dirty="0">
                <a:latin typeface="Arial MT"/>
                <a:cs typeface="Arial MT"/>
              </a:rPr>
              <a:t>1</a:t>
            </a:r>
            <a:r>
              <a:rPr sz="1279" spc="-22" dirty="0">
                <a:latin typeface="Arial MT"/>
                <a:cs typeface="Arial MT"/>
              </a:rPr>
              <a:t>: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449945" y="3167119"/>
            <a:ext cx="276785" cy="207032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33619">
              <a:spcBef>
                <a:spcPts val="79"/>
              </a:spcBef>
            </a:pPr>
            <a:r>
              <a:rPr sz="1279" spc="-22" dirty="0">
                <a:latin typeface="Arial MT"/>
                <a:cs typeface="Arial MT"/>
              </a:rPr>
              <a:t>P</a:t>
            </a:r>
            <a:r>
              <a:rPr sz="1522" spc="-33" baseline="-16908" dirty="0">
                <a:latin typeface="Arial MT"/>
                <a:cs typeface="Arial MT"/>
              </a:rPr>
              <a:t>2</a:t>
            </a:r>
            <a:r>
              <a:rPr sz="1279" spc="-22" dirty="0">
                <a:latin typeface="Arial MT"/>
                <a:cs typeface="Arial MT"/>
              </a:rPr>
              <a:t>: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B37F9760-542A-460B-6A68-7B637A9FBEE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40</a:t>
            </a:fld>
            <a:endParaRPr lang="en-US" spc="-44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7211568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Example</a:t>
            </a:r>
            <a:r>
              <a:rPr spc="-49" dirty="0"/>
              <a:t> </a:t>
            </a:r>
            <a:r>
              <a:rPr spc="-9" dirty="0"/>
              <a:t>Write-</a:t>
            </a:r>
            <a:r>
              <a:rPr dirty="0"/>
              <a:t>Back</a:t>
            </a:r>
            <a:r>
              <a:rPr spc="-44" dirty="0"/>
              <a:t> </a:t>
            </a:r>
            <a:r>
              <a:rPr dirty="0"/>
              <a:t>Snoopy</a:t>
            </a:r>
            <a:r>
              <a:rPr spc="-44" dirty="0"/>
              <a:t> </a:t>
            </a:r>
            <a:r>
              <a:rPr spc="-9" dirty="0"/>
              <a:t>Protocol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9625" y="1196734"/>
            <a:ext cx="7537682" cy="5427169"/>
          </a:xfrm>
          <a:prstGeom prst="rect">
            <a:avLst/>
          </a:prstGeom>
        </p:spPr>
        <p:txBody>
          <a:bodyPr vert="horz" wrap="square" lIns="0" tIns="77321" rIns="0" bIns="0" rtlCol="0">
            <a:spAutoFit/>
          </a:bodyPr>
          <a:lstStyle/>
          <a:p>
            <a:pPr marL="278481" indent="-267275">
              <a:spcBef>
                <a:spcPts val="609"/>
              </a:spcBef>
              <a:buChar char="•"/>
              <a:tabLst>
                <a:tab pos="278481" algn="l"/>
              </a:tabLst>
            </a:pPr>
            <a:r>
              <a:rPr sz="2200" dirty="0">
                <a:latin typeface="Calibri"/>
                <a:cs typeface="Calibri"/>
              </a:rPr>
              <a:t>Invalidation</a:t>
            </a:r>
            <a:r>
              <a:rPr sz="2200" spc="10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protocol,</a:t>
            </a:r>
            <a:r>
              <a:rPr sz="2200" spc="9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write-back</a:t>
            </a:r>
            <a:r>
              <a:rPr sz="2200" spc="106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cache</a:t>
            </a:r>
            <a:endParaRPr sz="2200" dirty="0">
              <a:latin typeface="Calibri"/>
              <a:cs typeface="Calibri"/>
            </a:endParaRPr>
          </a:p>
          <a:p>
            <a:pPr marL="652777" lvl="1" indent="-213483">
              <a:spcBef>
                <a:spcPts val="437"/>
              </a:spcBef>
              <a:buChar char="–"/>
              <a:tabLst>
                <a:tab pos="652777" algn="l"/>
              </a:tabLst>
            </a:pPr>
            <a:r>
              <a:rPr sz="1853" dirty="0">
                <a:latin typeface="Calibri"/>
                <a:cs typeface="Calibri"/>
              </a:rPr>
              <a:t>Each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cache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controller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snoops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every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address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on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shared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spc="-22" dirty="0">
                <a:latin typeface="Calibri"/>
                <a:cs typeface="Calibri"/>
              </a:rPr>
              <a:t>bus</a:t>
            </a:r>
            <a:endParaRPr sz="1853" dirty="0">
              <a:latin typeface="Calibri"/>
              <a:cs typeface="Calibri"/>
            </a:endParaRPr>
          </a:p>
          <a:p>
            <a:pPr marL="653338" marR="289688" lvl="1" indent="-214044">
              <a:spcBef>
                <a:spcPts val="803"/>
              </a:spcBef>
              <a:spcAft>
                <a:spcPts val="600"/>
              </a:spcAft>
              <a:buChar char="–"/>
              <a:tabLst>
                <a:tab pos="653338" algn="l"/>
              </a:tabLst>
            </a:pPr>
            <a:r>
              <a:rPr sz="1853" dirty="0">
                <a:latin typeface="Calibri"/>
                <a:cs typeface="Calibri"/>
              </a:rPr>
              <a:t>If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cache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has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dirty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copy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of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requested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block,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provides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that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block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spc="-22" dirty="0">
                <a:latin typeface="Calibri"/>
                <a:cs typeface="Calibri"/>
              </a:rPr>
              <a:t>in </a:t>
            </a:r>
            <a:r>
              <a:rPr sz="1853" dirty="0">
                <a:latin typeface="Calibri"/>
                <a:cs typeface="Calibri"/>
              </a:rPr>
              <a:t>response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to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the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read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request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and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aborts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the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memory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access</a:t>
            </a:r>
            <a:endParaRPr sz="1853" dirty="0">
              <a:latin typeface="Calibri"/>
              <a:cs typeface="Calibri"/>
            </a:endParaRPr>
          </a:p>
          <a:p>
            <a:pPr marL="278481" indent="-267275">
              <a:spcBef>
                <a:spcPts val="578"/>
              </a:spcBef>
              <a:buChar char="•"/>
              <a:tabLst>
                <a:tab pos="278481" algn="l"/>
              </a:tabLst>
            </a:pPr>
            <a:r>
              <a:rPr sz="2200" dirty="0">
                <a:latin typeface="Calibri"/>
                <a:cs typeface="Calibri"/>
              </a:rPr>
              <a:t>Each</a:t>
            </a:r>
            <a:r>
              <a:rPr sz="2200" spc="49" dirty="0"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memory</a:t>
            </a:r>
            <a:r>
              <a:rPr sz="2200" spc="4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block</a:t>
            </a:r>
            <a:r>
              <a:rPr sz="2200" spc="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state:</a:t>
            </a:r>
            <a:endParaRPr sz="2200" dirty="0">
              <a:latin typeface="Calibri"/>
              <a:cs typeface="Calibri"/>
            </a:endParaRPr>
          </a:p>
          <a:p>
            <a:pPr marL="652777" lvl="1" indent="-213483">
              <a:spcBef>
                <a:spcPts val="437"/>
              </a:spcBef>
              <a:buChar char="–"/>
              <a:tabLst>
                <a:tab pos="652777" algn="l"/>
              </a:tabLst>
            </a:pPr>
            <a:r>
              <a:rPr sz="1853" dirty="0">
                <a:latin typeface="Calibri"/>
                <a:cs typeface="Calibri"/>
              </a:rPr>
              <a:t>Clean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(non-dirty)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all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caches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and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up-to-date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memory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(</a:t>
            </a: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Shared</a:t>
            </a:r>
            <a:r>
              <a:rPr sz="1853" dirty="0">
                <a:latin typeface="Calibri"/>
                <a:cs typeface="Calibri"/>
              </a:rPr>
              <a:t>),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spc="-22" dirty="0">
                <a:latin typeface="Calibri"/>
                <a:cs typeface="Calibri"/>
              </a:rPr>
              <a:t>or</a:t>
            </a:r>
            <a:endParaRPr sz="1853" dirty="0">
              <a:latin typeface="Calibri"/>
              <a:cs typeface="Calibri"/>
            </a:endParaRPr>
          </a:p>
          <a:p>
            <a:pPr marL="652777" lvl="1" indent="-213483">
              <a:spcBef>
                <a:spcPts val="507"/>
              </a:spcBef>
              <a:buChar char="–"/>
              <a:tabLst>
                <a:tab pos="652777" algn="l"/>
              </a:tabLst>
            </a:pPr>
            <a:r>
              <a:rPr sz="1853" dirty="0">
                <a:latin typeface="Calibri"/>
                <a:cs typeface="Calibri"/>
              </a:rPr>
              <a:t>Dirty</a:t>
            </a:r>
            <a:r>
              <a:rPr sz="1853" spc="9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exactly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one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cache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(</a:t>
            </a: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Exclusive</a:t>
            </a:r>
            <a:r>
              <a:rPr sz="1853" dirty="0">
                <a:latin typeface="Calibri"/>
                <a:cs typeface="Calibri"/>
              </a:rPr>
              <a:t>),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spc="-22" dirty="0">
                <a:latin typeface="Calibri"/>
                <a:cs typeface="Calibri"/>
              </a:rPr>
              <a:t>or</a:t>
            </a:r>
            <a:endParaRPr sz="1853" dirty="0">
              <a:latin typeface="Calibri"/>
              <a:cs typeface="Calibri"/>
            </a:endParaRPr>
          </a:p>
          <a:p>
            <a:pPr marL="652777" lvl="1" indent="-213483">
              <a:spcBef>
                <a:spcPts val="424"/>
              </a:spcBef>
              <a:spcAft>
                <a:spcPts val="600"/>
              </a:spcAft>
              <a:buChar char="–"/>
              <a:tabLst>
                <a:tab pos="652777" algn="l"/>
              </a:tabLst>
            </a:pPr>
            <a:r>
              <a:rPr sz="1853" dirty="0">
                <a:latin typeface="Calibri"/>
                <a:cs typeface="Calibri"/>
              </a:rPr>
              <a:t>Not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any</a:t>
            </a:r>
            <a:r>
              <a:rPr sz="1853" spc="9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caches</a:t>
            </a:r>
            <a:endParaRPr sz="1853" dirty="0">
              <a:latin typeface="Calibri"/>
              <a:cs typeface="Calibri"/>
            </a:endParaRPr>
          </a:p>
          <a:p>
            <a:pPr marL="278481" indent="-267275">
              <a:spcBef>
                <a:spcPts val="516"/>
              </a:spcBef>
              <a:buChar char="•"/>
              <a:tabLst>
                <a:tab pos="278481" algn="l"/>
              </a:tabLst>
            </a:pPr>
            <a:r>
              <a:rPr sz="2200" dirty="0">
                <a:latin typeface="Calibri"/>
                <a:cs typeface="Calibri"/>
              </a:rPr>
              <a:t>Each</a:t>
            </a:r>
            <a:r>
              <a:rPr sz="2200" spc="44" dirty="0"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cache</a:t>
            </a:r>
            <a:r>
              <a:rPr sz="2200" spc="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block</a:t>
            </a:r>
            <a:r>
              <a:rPr sz="2200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three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states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(track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these):</a:t>
            </a:r>
            <a:endParaRPr sz="2200" dirty="0">
              <a:latin typeface="Calibri"/>
              <a:cs typeface="Calibri"/>
            </a:endParaRPr>
          </a:p>
          <a:p>
            <a:pPr marL="652777" lvl="1" indent="-213483">
              <a:spcBef>
                <a:spcPts val="521"/>
              </a:spcBef>
              <a:buChar char="–"/>
              <a:tabLst>
                <a:tab pos="652777" algn="l"/>
              </a:tabLst>
            </a:pP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Shared</a:t>
            </a:r>
            <a:r>
              <a:rPr sz="1853" spc="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: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block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can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be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read,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spc="-31" dirty="0">
                <a:latin typeface="Calibri"/>
                <a:cs typeface="Calibri"/>
              </a:rPr>
              <a:t>OR</a:t>
            </a:r>
            <a:endParaRPr sz="1853" dirty="0">
              <a:latin typeface="Calibri"/>
              <a:cs typeface="Calibri"/>
            </a:endParaRPr>
          </a:p>
          <a:p>
            <a:pPr marL="652777" lvl="1" indent="-213483">
              <a:spcBef>
                <a:spcPts val="424"/>
              </a:spcBef>
              <a:buChar char="–"/>
              <a:tabLst>
                <a:tab pos="652777" algn="l"/>
              </a:tabLst>
            </a:pP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Exclusive</a:t>
            </a:r>
            <a:r>
              <a:rPr sz="1853" spc="1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: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cache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has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only</a:t>
            </a:r>
            <a:r>
              <a:rPr sz="1853" spc="9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copy,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it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writeable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and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it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is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dirty,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spc="-22" dirty="0">
                <a:latin typeface="Calibri"/>
                <a:cs typeface="Calibri"/>
              </a:rPr>
              <a:t>OR</a:t>
            </a:r>
            <a:endParaRPr sz="1853" dirty="0">
              <a:latin typeface="Calibri"/>
              <a:cs typeface="Calibri"/>
            </a:endParaRPr>
          </a:p>
          <a:p>
            <a:pPr marL="652777" lvl="1" indent="-213483">
              <a:spcBef>
                <a:spcPts val="512"/>
              </a:spcBef>
              <a:spcAft>
                <a:spcPts val="600"/>
              </a:spcAft>
              <a:buChar char="–"/>
              <a:tabLst>
                <a:tab pos="652777" algn="l"/>
              </a:tabLst>
            </a:pP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Invalid</a:t>
            </a:r>
            <a:r>
              <a:rPr sz="1853" spc="1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: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block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contains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no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data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(used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uniprocessor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cache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spc="-18" dirty="0">
                <a:latin typeface="Calibri"/>
                <a:cs typeface="Calibri"/>
              </a:rPr>
              <a:t>too)</a:t>
            </a:r>
            <a:endParaRPr sz="1853" dirty="0">
              <a:latin typeface="Calibri"/>
              <a:cs typeface="Calibri"/>
            </a:endParaRPr>
          </a:p>
          <a:p>
            <a:pPr marL="278481" indent="-267275">
              <a:spcBef>
                <a:spcPts val="512"/>
              </a:spcBef>
              <a:spcAft>
                <a:spcPts val="600"/>
              </a:spcAft>
              <a:buChar char="•"/>
              <a:tabLst>
                <a:tab pos="278481" algn="l"/>
              </a:tabLst>
            </a:pPr>
            <a:r>
              <a:rPr sz="2200" dirty="0">
                <a:latin typeface="Calibri"/>
                <a:cs typeface="Calibri"/>
              </a:rPr>
              <a:t>Read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misses: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cause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caches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snoop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bus</a:t>
            </a:r>
            <a:endParaRPr sz="2200" dirty="0">
              <a:latin typeface="Calibri"/>
              <a:cs typeface="Calibri"/>
            </a:endParaRPr>
          </a:p>
          <a:p>
            <a:pPr marL="278481" indent="-267275">
              <a:spcBef>
                <a:spcPts val="618"/>
              </a:spcBef>
              <a:buChar char="•"/>
              <a:tabLst>
                <a:tab pos="278481" algn="l"/>
              </a:tabLst>
            </a:pPr>
            <a:r>
              <a:rPr sz="2200" dirty="0">
                <a:latin typeface="Calibri"/>
                <a:cs typeface="Calibri"/>
              </a:rPr>
              <a:t>Writes</a:t>
            </a:r>
            <a:r>
              <a:rPr sz="2200" spc="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clean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blocks</a:t>
            </a:r>
            <a:r>
              <a:rPr sz="2200" spc="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treated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misses</a:t>
            </a:r>
            <a:r>
              <a:rPr sz="2200" spc="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</a:t>
            </a:r>
            <a:r>
              <a:rPr sz="2200" dirty="0">
                <a:solidFill>
                  <a:srgbClr val="00B050"/>
                </a:solidFill>
                <a:latin typeface="Calibri"/>
                <a:cs typeface="Calibri"/>
              </a:rPr>
              <a:t>write-</a:t>
            </a:r>
            <a:r>
              <a:rPr sz="2200" spc="-9" dirty="0">
                <a:solidFill>
                  <a:srgbClr val="00B050"/>
                </a:solidFill>
                <a:latin typeface="Calibri"/>
                <a:cs typeface="Calibri"/>
              </a:rPr>
              <a:t>allocate</a:t>
            </a:r>
            <a:r>
              <a:rPr sz="2200" spc="-9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13FFAE-9C80-4D1C-BFA4-8252DC122E6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41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80031"/>
            <a:ext cx="7450859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18" dirty="0">
                <a:solidFill>
                  <a:srgbClr val="000000"/>
                </a:solidFill>
              </a:rPr>
              <a:t>Write-</a:t>
            </a:r>
            <a:r>
              <a:rPr dirty="0">
                <a:solidFill>
                  <a:srgbClr val="000000"/>
                </a:solidFill>
              </a:rPr>
              <a:t>Back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State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Machine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–</a:t>
            </a:r>
            <a:r>
              <a:rPr spc="-26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Request</a:t>
            </a:r>
            <a:r>
              <a:rPr spc="-31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from</a:t>
            </a:r>
            <a:r>
              <a:rPr spc="-31" dirty="0">
                <a:solidFill>
                  <a:srgbClr val="000000"/>
                </a:solidFill>
              </a:rPr>
              <a:t> </a:t>
            </a:r>
            <a:r>
              <a:rPr spc="-22" dirty="0">
                <a:solidFill>
                  <a:srgbClr val="000000"/>
                </a:solidFill>
              </a:rPr>
              <a:t>CPU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1731" y="1224019"/>
            <a:ext cx="2601578" cy="2223037"/>
          </a:xfrm>
          <a:prstGeom prst="rect">
            <a:avLst/>
          </a:prstGeom>
        </p:spPr>
        <p:txBody>
          <a:bodyPr vert="horz" wrap="square" lIns="0" tIns="44824" rIns="0" bIns="0" rtlCol="0">
            <a:spAutoFit/>
          </a:bodyPr>
          <a:lstStyle/>
          <a:p>
            <a:pPr marL="278481" marR="375417" indent="-267835">
              <a:spcBef>
                <a:spcPts val="353"/>
              </a:spcBef>
              <a:spcAft>
                <a:spcPts val="600"/>
              </a:spcAft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State</a:t>
            </a:r>
            <a:r>
              <a:rPr sz="2206" spc="26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machine </a:t>
            </a:r>
            <a:r>
              <a:rPr sz="2206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2206" u="heavy" spc="3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6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CPU</a:t>
            </a:r>
            <a:r>
              <a:rPr sz="2206" u="heavy" spc="4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6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requests</a:t>
            </a:r>
            <a:r>
              <a:rPr sz="2206" spc="-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for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spc="-18" dirty="0">
                <a:latin typeface="Calibri"/>
                <a:cs typeface="Calibri"/>
              </a:rPr>
              <a:t>each</a:t>
            </a:r>
            <a:br>
              <a:rPr lang="en-US" sz="2206" spc="-18" dirty="0">
                <a:latin typeface="Calibri"/>
                <a:cs typeface="Calibri"/>
              </a:rPr>
            </a:br>
            <a:r>
              <a:rPr sz="2206" dirty="0">
                <a:latin typeface="Calibri"/>
                <a:cs typeface="Calibri"/>
              </a:rPr>
              <a:t>cache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spc="-18" dirty="0">
                <a:latin typeface="Calibri"/>
                <a:cs typeface="Calibri"/>
              </a:rPr>
              <a:t>block</a:t>
            </a:r>
            <a:endParaRPr sz="2206" dirty="0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FontTx/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Non-resident</a:t>
            </a:r>
            <a:r>
              <a:rPr sz="2206" spc="172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blocks</a:t>
            </a:r>
            <a:r>
              <a:rPr lang="en-US" sz="2206" spc="-9" dirty="0">
                <a:latin typeface="Calibri"/>
                <a:cs typeface="Calibri"/>
              </a:rPr>
              <a:t> </a:t>
            </a:r>
            <a:r>
              <a:rPr lang="en-US" sz="2206" dirty="0">
                <a:cs typeface="Calibri"/>
              </a:rPr>
              <a:t>are</a:t>
            </a:r>
            <a:r>
              <a:rPr lang="en-US" sz="2206" spc="26" dirty="0">
                <a:cs typeface="Calibri"/>
              </a:rPr>
              <a:t> </a:t>
            </a:r>
            <a:r>
              <a:rPr lang="en-US" sz="2206" spc="-9" dirty="0">
                <a:cs typeface="Calibri"/>
              </a:rPr>
              <a:t>invalid</a:t>
            </a:r>
            <a:endParaRPr lang="en-US" sz="2206" dirty="0"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551705" y="1423318"/>
            <a:ext cx="749674" cy="749674"/>
            <a:chOff x="7272866" y="1499525"/>
            <a:chExt cx="849630" cy="849630"/>
          </a:xfrm>
        </p:grpSpPr>
        <p:sp>
          <p:nvSpPr>
            <p:cNvPr id="6" name="object 6"/>
            <p:cNvSpPr/>
            <p:nvPr/>
          </p:nvSpPr>
          <p:spPr>
            <a:xfrm>
              <a:off x="7293186" y="1519845"/>
              <a:ext cx="808990" cy="808990"/>
            </a:xfrm>
            <a:custGeom>
              <a:avLst/>
              <a:gdLst/>
              <a:ahLst/>
              <a:cxnLst/>
              <a:rect l="l" t="t" r="r" b="b"/>
              <a:pathLst>
                <a:path w="808990" h="808989">
                  <a:moveTo>
                    <a:pt x="0" y="404283"/>
                  </a:moveTo>
                  <a:lnTo>
                    <a:pt x="2719" y="357135"/>
                  </a:lnTo>
                  <a:lnTo>
                    <a:pt x="10677" y="311584"/>
                  </a:lnTo>
                  <a:lnTo>
                    <a:pt x="23569" y="267935"/>
                  </a:lnTo>
                  <a:lnTo>
                    <a:pt x="41091" y="226489"/>
                  </a:lnTo>
                  <a:lnTo>
                    <a:pt x="62942" y="187551"/>
                  </a:lnTo>
                  <a:lnTo>
                    <a:pt x="88816" y="151424"/>
                  </a:lnTo>
                  <a:lnTo>
                    <a:pt x="118411" y="118411"/>
                  </a:lnTo>
                  <a:lnTo>
                    <a:pt x="151424" y="88816"/>
                  </a:lnTo>
                  <a:lnTo>
                    <a:pt x="187551" y="62942"/>
                  </a:lnTo>
                  <a:lnTo>
                    <a:pt x="226489" y="41091"/>
                  </a:lnTo>
                  <a:lnTo>
                    <a:pt x="267935" y="23569"/>
                  </a:lnTo>
                  <a:lnTo>
                    <a:pt x="311584" y="10677"/>
                  </a:lnTo>
                  <a:lnTo>
                    <a:pt x="357135" y="2719"/>
                  </a:lnTo>
                  <a:lnTo>
                    <a:pt x="404283" y="0"/>
                  </a:lnTo>
                  <a:lnTo>
                    <a:pt x="451431" y="2719"/>
                  </a:lnTo>
                  <a:lnTo>
                    <a:pt x="496981" y="10677"/>
                  </a:lnTo>
                  <a:lnTo>
                    <a:pt x="540631" y="23569"/>
                  </a:lnTo>
                  <a:lnTo>
                    <a:pt x="582076" y="41091"/>
                  </a:lnTo>
                  <a:lnTo>
                    <a:pt x="621014" y="62942"/>
                  </a:lnTo>
                  <a:lnTo>
                    <a:pt x="657141" y="88816"/>
                  </a:lnTo>
                  <a:lnTo>
                    <a:pt x="690154" y="118411"/>
                  </a:lnTo>
                  <a:lnTo>
                    <a:pt x="719750" y="151424"/>
                  </a:lnTo>
                  <a:lnTo>
                    <a:pt x="745624" y="187551"/>
                  </a:lnTo>
                  <a:lnTo>
                    <a:pt x="767474" y="226489"/>
                  </a:lnTo>
                  <a:lnTo>
                    <a:pt x="784997" y="267935"/>
                  </a:lnTo>
                  <a:lnTo>
                    <a:pt x="797889" y="311584"/>
                  </a:lnTo>
                  <a:lnTo>
                    <a:pt x="805846" y="357135"/>
                  </a:lnTo>
                  <a:lnTo>
                    <a:pt x="808566" y="404283"/>
                  </a:lnTo>
                  <a:lnTo>
                    <a:pt x="805846" y="451431"/>
                  </a:lnTo>
                  <a:lnTo>
                    <a:pt x="797889" y="496981"/>
                  </a:lnTo>
                  <a:lnTo>
                    <a:pt x="784997" y="540631"/>
                  </a:lnTo>
                  <a:lnTo>
                    <a:pt x="767474" y="582076"/>
                  </a:lnTo>
                  <a:lnTo>
                    <a:pt x="745624" y="621014"/>
                  </a:lnTo>
                  <a:lnTo>
                    <a:pt x="719750" y="657141"/>
                  </a:lnTo>
                  <a:lnTo>
                    <a:pt x="690154" y="690154"/>
                  </a:lnTo>
                  <a:lnTo>
                    <a:pt x="657141" y="719750"/>
                  </a:lnTo>
                  <a:lnTo>
                    <a:pt x="621014" y="745624"/>
                  </a:lnTo>
                  <a:lnTo>
                    <a:pt x="582076" y="767474"/>
                  </a:lnTo>
                  <a:lnTo>
                    <a:pt x="540631" y="784997"/>
                  </a:lnTo>
                  <a:lnTo>
                    <a:pt x="496981" y="797889"/>
                  </a:lnTo>
                  <a:lnTo>
                    <a:pt x="451431" y="805846"/>
                  </a:lnTo>
                  <a:lnTo>
                    <a:pt x="404283" y="808566"/>
                  </a:lnTo>
                  <a:lnTo>
                    <a:pt x="357135" y="805846"/>
                  </a:lnTo>
                  <a:lnTo>
                    <a:pt x="311584" y="797889"/>
                  </a:lnTo>
                  <a:lnTo>
                    <a:pt x="267935" y="784997"/>
                  </a:lnTo>
                  <a:lnTo>
                    <a:pt x="226489" y="767474"/>
                  </a:lnTo>
                  <a:lnTo>
                    <a:pt x="187551" y="745624"/>
                  </a:lnTo>
                  <a:lnTo>
                    <a:pt x="151424" y="719750"/>
                  </a:lnTo>
                  <a:lnTo>
                    <a:pt x="118411" y="690154"/>
                  </a:lnTo>
                  <a:lnTo>
                    <a:pt x="88816" y="657141"/>
                  </a:lnTo>
                  <a:lnTo>
                    <a:pt x="62942" y="621014"/>
                  </a:lnTo>
                  <a:lnTo>
                    <a:pt x="41091" y="582076"/>
                  </a:lnTo>
                  <a:lnTo>
                    <a:pt x="23569" y="540631"/>
                  </a:lnTo>
                  <a:lnTo>
                    <a:pt x="10677" y="496981"/>
                  </a:lnTo>
                  <a:lnTo>
                    <a:pt x="2719" y="451431"/>
                  </a:lnTo>
                  <a:lnTo>
                    <a:pt x="0" y="404283"/>
                  </a:lnTo>
                  <a:close/>
                </a:path>
              </a:pathLst>
            </a:custGeom>
            <a:ln w="40428">
              <a:solidFill>
                <a:srgbClr val="CC00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7939031" y="1639870"/>
              <a:ext cx="163195" cy="203835"/>
            </a:xfrm>
            <a:custGeom>
              <a:avLst/>
              <a:gdLst/>
              <a:ahLst/>
              <a:cxnLst/>
              <a:rect l="l" t="t" r="r" b="b"/>
              <a:pathLst>
                <a:path w="163195" h="203835">
                  <a:moveTo>
                    <a:pt x="162720" y="0"/>
                  </a:moveTo>
                  <a:lnTo>
                    <a:pt x="0" y="81361"/>
                  </a:lnTo>
                  <a:lnTo>
                    <a:pt x="162720" y="203401"/>
                  </a:lnTo>
                  <a:lnTo>
                    <a:pt x="162720" y="0"/>
                  </a:lnTo>
                  <a:close/>
                </a:path>
              </a:pathLst>
            </a:custGeom>
            <a:solidFill>
              <a:srgbClr val="CC00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218362" y="1315374"/>
            <a:ext cx="1246654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solidFill>
                  <a:srgbClr val="7B00E4"/>
                </a:solidFill>
                <a:latin typeface="Arial MT"/>
                <a:cs typeface="Arial MT"/>
              </a:rPr>
              <a:t>CPU</a:t>
            </a:r>
            <a:r>
              <a:rPr sz="1677" spc="-18" dirty="0">
                <a:solidFill>
                  <a:srgbClr val="7B00E4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7B00E4"/>
                </a:solidFill>
                <a:latin typeface="Arial MT"/>
                <a:cs typeface="Arial MT"/>
              </a:rPr>
              <a:t>read</a:t>
            </a:r>
            <a:r>
              <a:rPr sz="1677" spc="-13" dirty="0">
                <a:solidFill>
                  <a:srgbClr val="7B00E4"/>
                </a:solidFill>
                <a:latin typeface="Arial MT"/>
                <a:cs typeface="Arial MT"/>
              </a:rPr>
              <a:t> </a:t>
            </a:r>
            <a:r>
              <a:rPr sz="1677" spc="-22" dirty="0">
                <a:solidFill>
                  <a:srgbClr val="7B00E4"/>
                </a:solidFill>
                <a:latin typeface="Arial MT"/>
                <a:cs typeface="Arial MT"/>
              </a:rPr>
              <a:t>hit</a:t>
            </a:r>
            <a:endParaRPr sz="1677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55844" y="1708633"/>
            <a:ext cx="5012391" cy="4673413"/>
            <a:chOff x="3310890" y="1822881"/>
            <a:chExt cx="5680710" cy="5296535"/>
          </a:xfrm>
        </p:grpSpPr>
        <p:sp>
          <p:nvSpPr>
            <p:cNvPr id="10" name="object 10"/>
            <p:cNvSpPr/>
            <p:nvPr/>
          </p:nvSpPr>
          <p:spPr>
            <a:xfrm>
              <a:off x="3331210" y="5400965"/>
              <a:ext cx="808990" cy="808990"/>
            </a:xfrm>
            <a:custGeom>
              <a:avLst/>
              <a:gdLst/>
              <a:ahLst/>
              <a:cxnLst/>
              <a:rect l="l" t="t" r="r" b="b"/>
              <a:pathLst>
                <a:path w="808989" h="808989">
                  <a:moveTo>
                    <a:pt x="0" y="404283"/>
                  </a:moveTo>
                  <a:lnTo>
                    <a:pt x="2719" y="357135"/>
                  </a:lnTo>
                  <a:lnTo>
                    <a:pt x="10677" y="311584"/>
                  </a:lnTo>
                  <a:lnTo>
                    <a:pt x="23569" y="267935"/>
                  </a:lnTo>
                  <a:lnTo>
                    <a:pt x="41091" y="226489"/>
                  </a:lnTo>
                  <a:lnTo>
                    <a:pt x="62942" y="187551"/>
                  </a:lnTo>
                  <a:lnTo>
                    <a:pt x="88816" y="151424"/>
                  </a:lnTo>
                  <a:lnTo>
                    <a:pt x="118411" y="118411"/>
                  </a:lnTo>
                  <a:lnTo>
                    <a:pt x="151424" y="88816"/>
                  </a:lnTo>
                  <a:lnTo>
                    <a:pt x="187551" y="62942"/>
                  </a:lnTo>
                  <a:lnTo>
                    <a:pt x="226489" y="41091"/>
                  </a:lnTo>
                  <a:lnTo>
                    <a:pt x="267935" y="23569"/>
                  </a:lnTo>
                  <a:lnTo>
                    <a:pt x="311584" y="10677"/>
                  </a:lnTo>
                  <a:lnTo>
                    <a:pt x="357135" y="2719"/>
                  </a:lnTo>
                  <a:lnTo>
                    <a:pt x="404283" y="0"/>
                  </a:lnTo>
                  <a:lnTo>
                    <a:pt x="451431" y="2719"/>
                  </a:lnTo>
                  <a:lnTo>
                    <a:pt x="496981" y="10677"/>
                  </a:lnTo>
                  <a:lnTo>
                    <a:pt x="540631" y="23569"/>
                  </a:lnTo>
                  <a:lnTo>
                    <a:pt x="582076" y="41091"/>
                  </a:lnTo>
                  <a:lnTo>
                    <a:pt x="621014" y="62942"/>
                  </a:lnTo>
                  <a:lnTo>
                    <a:pt x="657141" y="88816"/>
                  </a:lnTo>
                  <a:lnTo>
                    <a:pt x="690154" y="118411"/>
                  </a:lnTo>
                  <a:lnTo>
                    <a:pt x="719750" y="151424"/>
                  </a:lnTo>
                  <a:lnTo>
                    <a:pt x="745624" y="187551"/>
                  </a:lnTo>
                  <a:lnTo>
                    <a:pt x="767474" y="226489"/>
                  </a:lnTo>
                  <a:lnTo>
                    <a:pt x="784997" y="267935"/>
                  </a:lnTo>
                  <a:lnTo>
                    <a:pt x="797889" y="311584"/>
                  </a:lnTo>
                  <a:lnTo>
                    <a:pt x="805846" y="357135"/>
                  </a:lnTo>
                  <a:lnTo>
                    <a:pt x="808566" y="404283"/>
                  </a:lnTo>
                  <a:lnTo>
                    <a:pt x="805846" y="451431"/>
                  </a:lnTo>
                  <a:lnTo>
                    <a:pt x="797889" y="496981"/>
                  </a:lnTo>
                  <a:lnTo>
                    <a:pt x="784997" y="540631"/>
                  </a:lnTo>
                  <a:lnTo>
                    <a:pt x="767474" y="582076"/>
                  </a:lnTo>
                  <a:lnTo>
                    <a:pt x="745624" y="621014"/>
                  </a:lnTo>
                  <a:lnTo>
                    <a:pt x="719750" y="657141"/>
                  </a:lnTo>
                  <a:lnTo>
                    <a:pt x="690154" y="690154"/>
                  </a:lnTo>
                  <a:lnTo>
                    <a:pt x="657141" y="719750"/>
                  </a:lnTo>
                  <a:lnTo>
                    <a:pt x="621014" y="745624"/>
                  </a:lnTo>
                  <a:lnTo>
                    <a:pt x="582076" y="767474"/>
                  </a:lnTo>
                  <a:lnTo>
                    <a:pt x="540631" y="784997"/>
                  </a:lnTo>
                  <a:lnTo>
                    <a:pt x="496981" y="797889"/>
                  </a:lnTo>
                  <a:lnTo>
                    <a:pt x="451431" y="805846"/>
                  </a:lnTo>
                  <a:lnTo>
                    <a:pt x="404283" y="808566"/>
                  </a:lnTo>
                  <a:lnTo>
                    <a:pt x="357135" y="805846"/>
                  </a:lnTo>
                  <a:lnTo>
                    <a:pt x="311584" y="797889"/>
                  </a:lnTo>
                  <a:lnTo>
                    <a:pt x="267935" y="784997"/>
                  </a:lnTo>
                  <a:lnTo>
                    <a:pt x="226489" y="767474"/>
                  </a:lnTo>
                  <a:lnTo>
                    <a:pt x="187551" y="745624"/>
                  </a:lnTo>
                  <a:lnTo>
                    <a:pt x="151424" y="719750"/>
                  </a:lnTo>
                  <a:lnTo>
                    <a:pt x="118411" y="690154"/>
                  </a:lnTo>
                  <a:lnTo>
                    <a:pt x="88816" y="657141"/>
                  </a:lnTo>
                  <a:lnTo>
                    <a:pt x="62942" y="621014"/>
                  </a:lnTo>
                  <a:lnTo>
                    <a:pt x="41091" y="582076"/>
                  </a:lnTo>
                  <a:lnTo>
                    <a:pt x="23569" y="540631"/>
                  </a:lnTo>
                  <a:lnTo>
                    <a:pt x="10677" y="496981"/>
                  </a:lnTo>
                  <a:lnTo>
                    <a:pt x="2719" y="451431"/>
                  </a:lnTo>
                  <a:lnTo>
                    <a:pt x="0" y="404283"/>
                  </a:lnTo>
                  <a:close/>
                </a:path>
              </a:pathLst>
            </a:custGeom>
            <a:ln w="404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3977055" y="5520990"/>
              <a:ext cx="163195" cy="203835"/>
            </a:xfrm>
            <a:custGeom>
              <a:avLst/>
              <a:gdLst/>
              <a:ahLst/>
              <a:cxnLst/>
              <a:rect l="l" t="t" r="r" b="b"/>
              <a:pathLst>
                <a:path w="163195" h="203835">
                  <a:moveTo>
                    <a:pt x="162721" y="0"/>
                  </a:moveTo>
                  <a:lnTo>
                    <a:pt x="0" y="81361"/>
                  </a:lnTo>
                  <a:lnTo>
                    <a:pt x="162721" y="203401"/>
                  </a:lnTo>
                  <a:lnTo>
                    <a:pt x="1627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7488590" y="1836534"/>
              <a:ext cx="1489710" cy="1428750"/>
            </a:xfrm>
            <a:custGeom>
              <a:avLst/>
              <a:gdLst/>
              <a:ahLst/>
              <a:cxnLst/>
              <a:rect l="l" t="t" r="r" b="b"/>
              <a:pathLst>
                <a:path w="1489709" h="1428750">
                  <a:moveTo>
                    <a:pt x="744554" y="0"/>
                  </a:moveTo>
                  <a:lnTo>
                    <a:pt x="695599" y="1519"/>
                  </a:lnTo>
                  <a:lnTo>
                    <a:pt x="647490" y="6014"/>
                  </a:lnTo>
                  <a:lnTo>
                    <a:pt x="600324" y="13390"/>
                  </a:lnTo>
                  <a:lnTo>
                    <a:pt x="554201" y="23554"/>
                  </a:lnTo>
                  <a:lnTo>
                    <a:pt x="509217" y="36412"/>
                  </a:lnTo>
                  <a:lnTo>
                    <a:pt x="465471" y="51868"/>
                  </a:lnTo>
                  <a:lnTo>
                    <a:pt x="423061" y="69830"/>
                  </a:lnTo>
                  <a:lnTo>
                    <a:pt x="382086" y="90203"/>
                  </a:lnTo>
                  <a:lnTo>
                    <a:pt x="342643" y="112893"/>
                  </a:lnTo>
                  <a:lnTo>
                    <a:pt x="304830" y="137805"/>
                  </a:lnTo>
                  <a:lnTo>
                    <a:pt x="268745" y="164846"/>
                  </a:lnTo>
                  <a:lnTo>
                    <a:pt x="234488" y="193922"/>
                  </a:lnTo>
                  <a:lnTo>
                    <a:pt x="202155" y="224939"/>
                  </a:lnTo>
                  <a:lnTo>
                    <a:pt x="171844" y="257801"/>
                  </a:lnTo>
                  <a:lnTo>
                    <a:pt x="143655" y="292416"/>
                  </a:lnTo>
                  <a:lnTo>
                    <a:pt x="117685" y="328689"/>
                  </a:lnTo>
                  <a:lnTo>
                    <a:pt x="94032" y="366526"/>
                  </a:lnTo>
                  <a:lnTo>
                    <a:pt x="72794" y="405833"/>
                  </a:lnTo>
                  <a:lnTo>
                    <a:pt x="54070" y="446516"/>
                  </a:lnTo>
                  <a:lnTo>
                    <a:pt x="37957" y="488480"/>
                  </a:lnTo>
                  <a:lnTo>
                    <a:pt x="24554" y="531632"/>
                  </a:lnTo>
                  <a:lnTo>
                    <a:pt x="13959" y="575878"/>
                  </a:lnTo>
                  <a:lnTo>
                    <a:pt x="6269" y="621122"/>
                  </a:lnTo>
                  <a:lnTo>
                    <a:pt x="1583" y="667272"/>
                  </a:lnTo>
                  <a:lnTo>
                    <a:pt x="0" y="714234"/>
                  </a:lnTo>
                  <a:lnTo>
                    <a:pt x="1583" y="761195"/>
                  </a:lnTo>
                  <a:lnTo>
                    <a:pt x="6269" y="807345"/>
                  </a:lnTo>
                  <a:lnTo>
                    <a:pt x="13959" y="852589"/>
                  </a:lnTo>
                  <a:lnTo>
                    <a:pt x="24554" y="896835"/>
                  </a:lnTo>
                  <a:lnTo>
                    <a:pt x="37957" y="939987"/>
                  </a:lnTo>
                  <a:lnTo>
                    <a:pt x="54070" y="981951"/>
                  </a:lnTo>
                  <a:lnTo>
                    <a:pt x="72794" y="1022634"/>
                  </a:lnTo>
                  <a:lnTo>
                    <a:pt x="94032" y="1061941"/>
                  </a:lnTo>
                  <a:lnTo>
                    <a:pt x="117685" y="1099778"/>
                  </a:lnTo>
                  <a:lnTo>
                    <a:pt x="143655" y="1136051"/>
                  </a:lnTo>
                  <a:lnTo>
                    <a:pt x="171844" y="1170666"/>
                  </a:lnTo>
                  <a:lnTo>
                    <a:pt x="202155" y="1203528"/>
                  </a:lnTo>
                  <a:lnTo>
                    <a:pt x="234488" y="1234545"/>
                  </a:lnTo>
                  <a:lnTo>
                    <a:pt x="268745" y="1263621"/>
                  </a:lnTo>
                  <a:lnTo>
                    <a:pt x="304830" y="1290662"/>
                  </a:lnTo>
                  <a:lnTo>
                    <a:pt x="342643" y="1315574"/>
                  </a:lnTo>
                  <a:lnTo>
                    <a:pt x="382086" y="1338264"/>
                  </a:lnTo>
                  <a:lnTo>
                    <a:pt x="423061" y="1358637"/>
                  </a:lnTo>
                  <a:lnTo>
                    <a:pt x="465471" y="1376599"/>
                  </a:lnTo>
                  <a:lnTo>
                    <a:pt x="509217" y="1392055"/>
                  </a:lnTo>
                  <a:lnTo>
                    <a:pt x="554201" y="1404913"/>
                  </a:lnTo>
                  <a:lnTo>
                    <a:pt x="600324" y="1415077"/>
                  </a:lnTo>
                  <a:lnTo>
                    <a:pt x="647490" y="1422453"/>
                  </a:lnTo>
                  <a:lnTo>
                    <a:pt x="695599" y="1426948"/>
                  </a:lnTo>
                  <a:lnTo>
                    <a:pt x="744554" y="1428468"/>
                  </a:lnTo>
                  <a:lnTo>
                    <a:pt x="793508" y="1426948"/>
                  </a:lnTo>
                  <a:lnTo>
                    <a:pt x="841617" y="1422453"/>
                  </a:lnTo>
                  <a:lnTo>
                    <a:pt x="888783" y="1415077"/>
                  </a:lnTo>
                  <a:lnTo>
                    <a:pt x="934907" y="1404913"/>
                  </a:lnTo>
                  <a:lnTo>
                    <a:pt x="979891" y="1392055"/>
                  </a:lnTo>
                  <a:lnTo>
                    <a:pt x="1023637" y="1376599"/>
                  </a:lnTo>
                  <a:lnTo>
                    <a:pt x="1066046" y="1358637"/>
                  </a:lnTo>
                  <a:lnTo>
                    <a:pt x="1107022" y="1338264"/>
                  </a:lnTo>
                  <a:lnTo>
                    <a:pt x="1146465" y="1315574"/>
                  </a:lnTo>
                  <a:lnTo>
                    <a:pt x="1184278" y="1290662"/>
                  </a:lnTo>
                  <a:lnTo>
                    <a:pt x="1220363" y="1263621"/>
                  </a:lnTo>
                  <a:lnTo>
                    <a:pt x="1254621" y="1234545"/>
                  </a:lnTo>
                  <a:lnTo>
                    <a:pt x="1286954" y="1203528"/>
                  </a:lnTo>
                  <a:lnTo>
                    <a:pt x="1317264" y="1170666"/>
                  </a:lnTo>
                  <a:lnTo>
                    <a:pt x="1345453" y="1136051"/>
                  </a:lnTo>
                  <a:lnTo>
                    <a:pt x="1371423" y="1099778"/>
                  </a:lnTo>
                  <a:lnTo>
                    <a:pt x="1395076" y="1061941"/>
                  </a:lnTo>
                  <a:lnTo>
                    <a:pt x="1416314" y="1022634"/>
                  </a:lnTo>
                  <a:lnTo>
                    <a:pt x="1435038" y="981951"/>
                  </a:lnTo>
                  <a:lnTo>
                    <a:pt x="1451151" y="939987"/>
                  </a:lnTo>
                  <a:lnTo>
                    <a:pt x="1464554" y="896835"/>
                  </a:lnTo>
                  <a:lnTo>
                    <a:pt x="1475150" y="852589"/>
                  </a:lnTo>
                  <a:lnTo>
                    <a:pt x="1482839" y="807345"/>
                  </a:lnTo>
                  <a:lnTo>
                    <a:pt x="1487525" y="761195"/>
                  </a:lnTo>
                  <a:lnTo>
                    <a:pt x="1489109" y="714234"/>
                  </a:lnTo>
                  <a:lnTo>
                    <a:pt x="1487525" y="667272"/>
                  </a:lnTo>
                  <a:lnTo>
                    <a:pt x="1482839" y="621122"/>
                  </a:lnTo>
                  <a:lnTo>
                    <a:pt x="1475150" y="575878"/>
                  </a:lnTo>
                  <a:lnTo>
                    <a:pt x="1464554" y="531632"/>
                  </a:lnTo>
                  <a:lnTo>
                    <a:pt x="1451151" y="488480"/>
                  </a:lnTo>
                  <a:lnTo>
                    <a:pt x="1435038" y="446516"/>
                  </a:lnTo>
                  <a:lnTo>
                    <a:pt x="1416314" y="405833"/>
                  </a:lnTo>
                  <a:lnTo>
                    <a:pt x="1395076" y="366526"/>
                  </a:lnTo>
                  <a:lnTo>
                    <a:pt x="1371423" y="328689"/>
                  </a:lnTo>
                  <a:lnTo>
                    <a:pt x="1345453" y="292416"/>
                  </a:lnTo>
                  <a:lnTo>
                    <a:pt x="1317264" y="257801"/>
                  </a:lnTo>
                  <a:lnTo>
                    <a:pt x="1286954" y="224939"/>
                  </a:lnTo>
                  <a:lnTo>
                    <a:pt x="1254621" y="193922"/>
                  </a:lnTo>
                  <a:lnTo>
                    <a:pt x="1220363" y="164846"/>
                  </a:lnTo>
                  <a:lnTo>
                    <a:pt x="1184278" y="137805"/>
                  </a:lnTo>
                  <a:lnTo>
                    <a:pt x="1146465" y="112893"/>
                  </a:lnTo>
                  <a:lnTo>
                    <a:pt x="1107022" y="90203"/>
                  </a:lnTo>
                  <a:lnTo>
                    <a:pt x="1066046" y="69830"/>
                  </a:lnTo>
                  <a:lnTo>
                    <a:pt x="1023637" y="51868"/>
                  </a:lnTo>
                  <a:lnTo>
                    <a:pt x="979891" y="36412"/>
                  </a:lnTo>
                  <a:lnTo>
                    <a:pt x="934907" y="23554"/>
                  </a:lnTo>
                  <a:lnTo>
                    <a:pt x="888783" y="13390"/>
                  </a:lnTo>
                  <a:lnTo>
                    <a:pt x="841617" y="6014"/>
                  </a:lnTo>
                  <a:lnTo>
                    <a:pt x="793508" y="1519"/>
                  </a:lnTo>
                  <a:lnTo>
                    <a:pt x="744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7488590" y="1836534"/>
              <a:ext cx="1489710" cy="1428750"/>
            </a:xfrm>
            <a:custGeom>
              <a:avLst/>
              <a:gdLst/>
              <a:ahLst/>
              <a:cxnLst/>
              <a:rect l="l" t="t" r="r" b="b"/>
              <a:pathLst>
                <a:path w="1489709" h="1428750">
                  <a:moveTo>
                    <a:pt x="0" y="714233"/>
                  </a:moveTo>
                  <a:lnTo>
                    <a:pt x="1583" y="667272"/>
                  </a:lnTo>
                  <a:lnTo>
                    <a:pt x="6269" y="621122"/>
                  </a:lnTo>
                  <a:lnTo>
                    <a:pt x="13959" y="575878"/>
                  </a:lnTo>
                  <a:lnTo>
                    <a:pt x="24554" y="531632"/>
                  </a:lnTo>
                  <a:lnTo>
                    <a:pt x="37957" y="488480"/>
                  </a:lnTo>
                  <a:lnTo>
                    <a:pt x="54070" y="446516"/>
                  </a:lnTo>
                  <a:lnTo>
                    <a:pt x="72795" y="405833"/>
                  </a:lnTo>
                  <a:lnTo>
                    <a:pt x="94032" y="366526"/>
                  </a:lnTo>
                  <a:lnTo>
                    <a:pt x="117685" y="328689"/>
                  </a:lnTo>
                  <a:lnTo>
                    <a:pt x="143655" y="292416"/>
                  </a:lnTo>
                  <a:lnTo>
                    <a:pt x="171845" y="257801"/>
                  </a:lnTo>
                  <a:lnTo>
                    <a:pt x="202155" y="224939"/>
                  </a:lnTo>
                  <a:lnTo>
                    <a:pt x="234488" y="193922"/>
                  </a:lnTo>
                  <a:lnTo>
                    <a:pt x="268746" y="164846"/>
                  </a:lnTo>
                  <a:lnTo>
                    <a:pt x="304830" y="137805"/>
                  </a:lnTo>
                  <a:lnTo>
                    <a:pt x="342643" y="112893"/>
                  </a:lnTo>
                  <a:lnTo>
                    <a:pt x="382086" y="90203"/>
                  </a:lnTo>
                  <a:lnTo>
                    <a:pt x="423062" y="69830"/>
                  </a:lnTo>
                  <a:lnTo>
                    <a:pt x="465472" y="51868"/>
                  </a:lnTo>
                  <a:lnTo>
                    <a:pt x="509218" y="36412"/>
                  </a:lnTo>
                  <a:lnTo>
                    <a:pt x="554201" y="23554"/>
                  </a:lnTo>
                  <a:lnTo>
                    <a:pt x="600325" y="13390"/>
                  </a:lnTo>
                  <a:lnTo>
                    <a:pt x="647491" y="6014"/>
                  </a:lnTo>
                  <a:lnTo>
                    <a:pt x="695600" y="1519"/>
                  </a:lnTo>
                  <a:lnTo>
                    <a:pt x="744555" y="0"/>
                  </a:lnTo>
                  <a:lnTo>
                    <a:pt x="793509" y="1519"/>
                  </a:lnTo>
                  <a:lnTo>
                    <a:pt x="841618" y="6014"/>
                  </a:lnTo>
                  <a:lnTo>
                    <a:pt x="888784" y="13390"/>
                  </a:lnTo>
                  <a:lnTo>
                    <a:pt x="934908" y="23554"/>
                  </a:lnTo>
                  <a:lnTo>
                    <a:pt x="979891" y="36412"/>
                  </a:lnTo>
                  <a:lnTo>
                    <a:pt x="1023637" y="51868"/>
                  </a:lnTo>
                  <a:lnTo>
                    <a:pt x="1066047" y="69830"/>
                  </a:lnTo>
                  <a:lnTo>
                    <a:pt x="1107023" y="90203"/>
                  </a:lnTo>
                  <a:lnTo>
                    <a:pt x="1146466" y="112893"/>
                  </a:lnTo>
                  <a:lnTo>
                    <a:pt x="1184279" y="137805"/>
                  </a:lnTo>
                  <a:lnTo>
                    <a:pt x="1220363" y="164846"/>
                  </a:lnTo>
                  <a:lnTo>
                    <a:pt x="1254621" y="193922"/>
                  </a:lnTo>
                  <a:lnTo>
                    <a:pt x="1286954" y="224939"/>
                  </a:lnTo>
                  <a:lnTo>
                    <a:pt x="1317264" y="257801"/>
                  </a:lnTo>
                  <a:lnTo>
                    <a:pt x="1345454" y="292416"/>
                  </a:lnTo>
                  <a:lnTo>
                    <a:pt x="1371424" y="328689"/>
                  </a:lnTo>
                  <a:lnTo>
                    <a:pt x="1395077" y="366526"/>
                  </a:lnTo>
                  <a:lnTo>
                    <a:pt x="1416314" y="405833"/>
                  </a:lnTo>
                  <a:lnTo>
                    <a:pt x="1435039" y="446516"/>
                  </a:lnTo>
                  <a:lnTo>
                    <a:pt x="1451152" y="488480"/>
                  </a:lnTo>
                  <a:lnTo>
                    <a:pt x="1464555" y="531632"/>
                  </a:lnTo>
                  <a:lnTo>
                    <a:pt x="1475150" y="575878"/>
                  </a:lnTo>
                  <a:lnTo>
                    <a:pt x="1482840" y="621122"/>
                  </a:lnTo>
                  <a:lnTo>
                    <a:pt x="1487526" y="667272"/>
                  </a:lnTo>
                  <a:lnTo>
                    <a:pt x="1489110" y="714233"/>
                  </a:lnTo>
                  <a:lnTo>
                    <a:pt x="1487526" y="761194"/>
                  </a:lnTo>
                  <a:lnTo>
                    <a:pt x="1482840" y="807344"/>
                  </a:lnTo>
                  <a:lnTo>
                    <a:pt x="1475150" y="852589"/>
                  </a:lnTo>
                  <a:lnTo>
                    <a:pt x="1464555" y="896835"/>
                  </a:lnTo>
                  <a:lnTo>
                    <a:pt x="1451152" y="939987"/>
                  </a:lnTo>
                  <a:lnTo>
                    <a:pt x="1435039" y="981951"/>
                  </a:lnTo>
                  <a:lnTo>
                    <a:pt x="1416314" y="1022634"/>
                  </a:lnTo>
                  <a:lnTo>
                    <a:pt x="1395077" y="1061941"/>
                  </a:lnTo>
                  <a:lnTo>
                    <a:pt x="1371424" y="1099778"/>
                  </a:lnTo>
                  <a:lnTo>
                    <a:pt x="1345454" y="1136051"/>
                  </a:lnTo>
                  <a:lnTo>
                    <a:pt x="1317264" y="1170665"/>
                  </a:lnTo>
                  <a:lnTo>
                    <a:pt x="1286954" y="1203528"/>
                  </a:lnTo>
                  <a:lnTo>
                    <a:pt x="1254621" y="1234544"/>
                  </a:lnTo>
                  <a:lnTo>
                    <a:pt x="1220363" y="1263620"/>
                  </a:lnTo>
                  <a:lnTo>
                    <a:pt x="1184279" y="1290661"/>
                  </a:lnTo>
                  <a:lnTo>
                    <a:pt x="1146466" y="1315574"/>
                  </a:lnTo>
                  <a:lnTo>
                    <a:pt x="1107023" y="1338264"/>
                  </a:lnTo>
                  <a:lnTo>
                    <a:pt x="1066047" y="1358637"/>
                  </a:lnTo>
                  <a:lnTo>
                    <a:pt x="1023637" y="1376598"/>
                  </a:lnTo>
                  <a:lnTo>
                    <a:pt x="979891" y="1392055"/>
                  </a:lnTo>
                  <a:lnTo>
                    <a:pt x="934908" y="1404912"/>
                  </a:lnTo>
                  <a:lnTo>
                    <a:pt x="888784" y="1415076"/>
                  </a:lnTo>
                  <a:lnTo>
                    <a:pt x="841618" y="1422453"/>
                  </a:lnTo>
                  <a:lnTo>
                    <a:pt x="793509" y="1426948"/>
                  </a:lnTo>
                  <a:lnTo>
                    <a:pt x="744555" y="1428467"/>
                  </a:lnTo>
                  <a:lnTo>
                    <a:pt x="695600" y="1426948"/>
                  </a:lnTo>
                  <a:lnTo>
                    <a:pt x="647491" y="1422453"/>
                  </a:lnTo>
                  <a:lnTo>
                    <a:pt x="600325" y="1415076"/>
                  </a:lnTo>
                  <a:lnTo>
                    <a:pt x="554201" y="1404912"/>
                  </a:lnTo>
                  <a:lnTo>
                    <a:pt x="509218" y="1392055"/>
                  </a:lnTo>
                  <a:lnTo>
                    <a:pt x="465472" y="1376598"/>
                  </a:lnTo>
                  <a:lnTo>
                    <a:pt x="423062" y="1358637"/>
                  </a:lnTo>
                  <a:lnTo>
                    <a:pt x="382086" y="1338264"/>
                  </a:lnTo>
                  <a:lnTo>
                    <a:pt x="342643" y="1315574"/>
                  </a:lnTo>
                  <a:lnTo>
                    <a:pt x="304830" y="1290661"/>
                  </a:lnTo>
                  <a:lnTo>
                    <a:pt x="268746" y="1263620"/>
                  </a:lnTo>
                  <a:lnTo>
                    <a:pt x="234488" y="1234544"/>
                  </a:lnTo>
                  <a:lnTo>
                    <a:pt x="202155" y="1203528"/>
                  </a:lnTo>
                  <a:lnTo>
                    <a:pt x="171845" y="1170665"/>
                  </a:lnTo>
                  <a:lnTo>
                    <a:pt x="143655" y="1136051"/>
                  </a:lnTo>
                  <a:lnTo>
                    <a:pt x="117685" y="1099778"/>
                  </a:lnTo>
                  <a:lnTo>
                    <a:pt x="94032" y="1061941"/>
                  </a:lnTo>
                  <a:lnTo>
                    <a:pt x="72795" y="1022634"/>
                  </a:lnTo>
                  <a:lnTo>
                    <a:pt x="54070" y="981951"/>
                  </a:lnTo>
                  <a:lnTo>
                    <a:pt x="37957" y="939987"/>
                  </a:lnTo>
                  <a:lnTo>
                    <a:pt x="24554" y="896835"/>
                  </a:lnTo>
                  <a:lnTo>
                    <a:pt x="13959" y="852589"/>
                  </a:lnTo>
                  <a:lnTo>
                    <a:pt x="6269" y="807344"/>
                  </a:lnTo>
                  <a:lnTo>
                    <a:pt x="1583" y="761194"/>
                  </a:lnTo>
                  <a:lnTo>
                    <a:pt x="0" y="714233"/>
                  </a:lnTo>
                  <a:close/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5190912" y="6290388"/>
              <a:ext cx="808990" cy="808990"/>
            </a:xfrm>
            <a:custGeom>
              <a:avLst/>
              <a:gdLst/>
              <a:ahLst/>
              <a:cxnLst/>
              <a:rect l="l" t="t" r="r" b="b"/>
              <a:pathLst>
                <a:path w="808989" h="808990">
                  <a:moveTo>
                    <a:pt x="0" y="404283"/>
                  </a:moveTo>
                  <a:lnTo>
                    <a:pt x="2719" y="357135"/>
                  </a:lnTo>
                  <a:lnTo>
                    <a:pt x="10677" y="311584"/>
                  </a:lnTo>
                  <a:lnTo>
                    <a:pt x="23569" y="267935"/>
                  </a:lnTo>
                  <a:lnTo>
                    <a:pt x="41091" y="226489"/>
                  </a:lnTo>
                  <a:lnTo>
                    <a:pt x="62942" y="187551"/>
                  </a:lnTo>
                  <a:lnTo>
                    <a:pt x="88816" y="151424"/>
                  </a:lnTo>
                  <a:lnTo>
                    <a:pt x="118411" y="118411"/>
                  </a:lnTo>
                  <a:lnTo>
                    <a:pt x="151424" y="88816"/>
                  </a:lnTo>
                  <a:lnTo>
                    <a:pt x="187551" y="62942"/>
                  </a:lnTo>
                  <a:lnTo>
                    <a:pt x="226489" y="41091"/>
                  </a:lnTo>
                  <a:lnTo>
                    <a:pt x="267935" y="23569"/>
                  </a:lnTo>
                  <a:lnTo>
                    <a:pt x="311584" y="10677"/>
                  </a:lnTo>
                  <a:lnTo>
                    <a:pt x="357135" y="2719"/>
                  </a:lnTo>
                  <a:lnTo>
                    <a:pt x="404283" y="0"/>
                  </a:lnTo>
                  <a:lnTo>
                    <a:pt x="451431" y="2719"/>
                  </a:lnTo>
                  <a:lnTo>
                    <a:pt x="496981" y="10677"/>
                  </a:lnTo>
                  <a:lnTo>
                    <a:pt x="540631" y="23569"/>
                  </a:lnTo>
                  <a:lnTo>
                    <a:pt x="582076" y="41091"/>
                  </a:lnTo>
                  <a:lnTo>
                    <a:pt x="621014" y="62942"/>
                  </a:lnTo>
                  <a:lnTo>
                    <a:pt x="657141" y="88816"/>
                  </a:lnTo>
                  <a:lnTo>
                    <a:pt x="690154" y="118411"/>
                  </a:lnTo>
                  <a:lnTo>
                    <a:pt x="719750" y="151424"/>
                  </a:lnTo>
                  <a:lnTo>
                    <a:pt x="745624" y="187551"/>
                  </a:lnTo>
                  <a:lnTo>
                    <a:pt x="767474" y="226489"/>
                  </a:lnTo>
                  <a:lnTo>
                    <a:pt x="784997" y="267935"/>
                  </a:lnTo>
                  <a:lnTo>
                    <a:pt x="797889" y="311584"/>
                  </a:lnTo>
                  <a:lnTo>
                    <a:pt x="805846" y="357135"/>
                  </a:lnTo>
                  <a:lnTo>
                    <a:pt x="808566" y="404283"/>
                  </a:lnTo>
                  <a:lnTo>
                    <a:pt x="805846" y="451431"/>
                  </a:lnTo>
                  <a:lnTo>
                    <a:pt x="797889" y="496981"/>
                  </a:lnTo>
                  <a:lnTo>
                    <a:pt x="784997" y="540631"/>
                  </a:lnTo>
                  <a:lnTo>
                    <a:pt x="767474" y="582076"/>
                  </a:lnTo>
                  <a:lnTo>
                    <a:pt x="745624" y="621014"/>
                  </a:lnTo>
                  <a:lnTo>
                    <a:pt x="719750" y="657141"/>
                  </a:lnTo>
                  <a:lnTo>
                    <a:pt x="690154" y="690154"/>
                  </a:lnTo>
                  <a:lnTo>
                    <a:pt x="657141" y="719750"/>
                  </a:lnTo>
                  <a:lnTo>
                    <a:pt x="621014" y="745624"/>
                  </a:lnTo>
                  <a:lnTo>
                    <a:pt x="582076" y="767474"/>
                  </a:lnTo>
                  <a:lnTo>
                    <a:pt x="540631" y="784997"/>
                  </a:lnTo>
                  <a:lnTo>
                    <a:pt x="496981" y="797889"/>
                  </a:lnTo>
                  <a:lnTo>
                    <a:pt x="451431" y="805846"/>
                  </a:lnTo>
                  <a:lnTo>
                    <a:pt x="404283" y="808566"/>
                  </a:lnTo>
                  <a:lnTo>
                    <a:pt x="357135" y="805846"/>
                  </a:lnTo>
                  <a:lnTo>
                    <a:pt x="311584" y="797889"/>
                  </a:lnTo>
                  <a:lnTo>
                    <a:pt x="267935" y="784997"/>
                  </a:lnTo>
                  <a:lnTo>
                    <a:pt x="226489" y="767474"/>
                  </a:lnTo>
                  <a:lnTo>
                    <a:pt x="187551" y="745624"/>
                  </a:lnTo>
                  <a:lnTo>
                    <a:pt x="151424" y="719750"/>
                  </a:lnTo>
                  <a:lnTo>
                    <a:pt x="118411" y="690154"/>
                  </a:lnTo>
                  <a:lnTo>
                    <a:pt x="88816" y="657141"/>
                  </a:lnTo>
                  <a:lnTo>
                    <a:pt x="62942" y="621014"/>
                  </a:lnTo>
                  <a:lnTo>
                    <a:pt x="41091" y="582076"/>
                  </a:lnTo>
                  <a:lnTo>
                    <a:pt x="23569" y="540631"/>
                  </a:lnTo>
                  <a:lnTo>
                    <a:pt x="10677" y="496981"/>
                  </a:lnTo>
                  <a:lnTo>
                    <a:pt x="2719" y="451431"/>
                  </a:lnTo>
                  <a:lnTo>
                    <a:pt x="0" y="404283"/>
                  </a:lnTo>
                  <a:close/>
                </a:path>
              </a:pathLst>
            </a:custGeom>
            <a:ln w="4042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62147" y="6694671"/>
              <a:ext cx="172591" cy="25215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890468" y="5535726"/>
              <a:ext cx="1489710" cy="1428750"/>
            </a:xfrm>
            <a:custGeom>
              <a:avLst/>
              <a:gdLst/>
              <a:ahLst/>
              <a:cxnLst/>
              <a:rect l="l" t="t" r="r" b="b"/>
              <a:pathLst>
                <a:path w="1489710" h="1428750">
                  <a:moveTo>
                    <a:pt x="744555" y="0"/>
                  </a:moveTo>
                  <a:lnTo>
                    <a:pt x="695600" y="1519"/>
                  </a:lnTo>
                  <a:lnTo>
                    <a:pt x="647491" y="6014"/>
                  </a:lnTo>
                  <a:lnTo>
                    <a:pt x="600325" y="13390"/>
                  </a:lnTo>
                  <a:lnTo>
                    <a:pt x="554201" y="23554"/>
                  </a:lnTo>
                  <a:lnTo>
                    <a:pt x="509218" y="36412"/>
                  </a:lnTo>
                  <a:lnTo>
                    <a:pt x="465472" y="51868"/>
                  </a:lnTo>
                  <a:lnTo>
                    <a:pt x="423062" y="69830"/>
                  </a:lnTo>
                  <a:lnTo>
                    <a:pt x="382086" y="90203"/>
                  </a:lnTo>
                  <a:lnTo>
                    <a:pt x="342643" y="112893"/>
                  </a:lnTo>
                  <a:lnTo>
                    <a:pt x="304830" y="137805"/>
                  </a:lnTo>
                  <a:lnTo>
                    <a:pt x="268746" y="164846"/>
                  </a:lnTo>
                  <a:lnTo>
                    <a:pt x="234488" y="193922"/>
                  </a:lnTo>
                  <a:lnTo>
                    <a:pt x="202155" y="224939"/>
                  </a:lnTo>
                  <a:lnTo>
                    <a:pt x="171845" y="257801"/>
                  </a:lnTo>
                  <a:lnTo>
                    <a:pt x="143655" y="292416"/>
                  </a:lnTo>
                  <a:lnTo>
                    <a:pt x="117685" y="328689"/>
                  </a:lnTo>
                  <a:lnTo>
                    <a:pt x="94032" y="366526"/>
                  </a:lnTo>
                  <a:lnTo>
                    <a:pt x="72795" y="405833"/>
                  </a:lnTo>
                  <a:lnTo>
                    <a:pt x="54070" y="446516"/>
                  </a:lnTo>
                  <a:lnTo>
                    <a:pt x="37957" y="488480"/>
                  </a:lnTo>
                  <a:lnTo>
                    <a:pt x="24554" y="531632"/>
                  </a:lnTo>
                  <a:lnTo>
                    <a:pt x="13959" y="575878"/>
                  </a:lnTo>
                  <a:lnTo>
                    <a:pt x="6269" y="621122"/>
                  </a:lnTo>
                  <a:lnTo>
                    <a:pt x="1583" y="667272"/>
                  </a:lnTo>
                  <a:lnTo>
                    <a:pt x="0" y="714234"/>
                  </a:lnTo>
                  <a:lnTo>
                    <a:pt x="1583" y="761195"/>
                  </a:lnTo>
                  <a:lnTo>
                    <a:pt x="6269" y="807344"/>
                  </a:lnTo>
                  <a:lnTo>
                    <a:pt x="13959" y="852589"/>
                  </a:lnTo>
                  <a:lnTo>
                    <a:pt x="24554" y="896835"/>
                  </a:lnTo>
                  <a:lnTo>
                    <a:pt x="37957" y="939986"/>
                  </a:lnTo>
                  <a:lnTo>
                    <a:pt x="54070" y="981951"/>
                  </a:lnTo>
                  <a:lnTo>
                    <a:pt x="72795" y="1022634"/>
                  </a:lnTo>
                  <a:lnTo>
                    <a:pt x="94032" y="1061940"/>
                  </a:lnTo>
                  <a:lnTo>
                    <a:pt x="117685" y="1099777"/>
                  </a:lnTo>
                  <a:lnTo>
                    <a:pt x="143655" y="1136050"/>
                  </a:lnTo>
                  <a:lnTo>
                    <a:pt x="171845" y="1170665"/>
                  </a:lnTo>
                  <a:lnTo>
                    <a:pt x="202155" y="1203528"/>
                  </a:lnTo>
                  <a:lnTo>
                    <a:pt x="234488" y="1234544"/>
                  </a:lnTo>
                  <a:lnTo>
                    <a:pt x="268746" y="1263620"/>
                  </a:lnTo>
                  <a:lnTo>
                    <a:pt x="304830" y="1290661"/>
                  </a:lnTo>
                  <a:lnTo>
                    <a:pt x="342643" y="1315574"/>
                  </a:lnTo>
                  <a:lnTo>
                    <a:pt x="382086" y="1338264"/>
                  </a:lnTo>
                  <a:lnTo>
                    <a:pt x="423062" y="1358636"/>
                  </a:lnTo>
                  <a:lnTo>
                    <a:pt x="465472" y="1376598"/>
                  </a:lnTo>
                  <a:lnTo>
                    <a:pt x="509218" y="1392055"/>
                  </a:lnTo>
                  <a:lnTo>
                    <a:pt x="554201" y="1404912"/>
                  </a:lnTo>
                  <a:lnTo>
                    <a:pt x="600325" y="1415076"/>
                  </a:lnTo>
                  <a:lnTo>
                    <a:pt x="647491" y="1422453"/>
                  </a:lnTo>
                  <a:lnTo>
                    <a:pt x="695600" y="1426948"/>
                  </a:lnTo>
                  <a:lnTo>
                    <a:pt x="744555" y="1428467"/>
                  </a:lnTo>
                  <a:lnTo>
                    <a:pt x="793509" y="1426948"/>
                  </a:lnTo>
                  <a:lnTo>
                    <a:pt x="841618" y="1422453"/>
                  </a:lnTo>
                  <a:lnTo>
                    <a:pt x="888784" y="1415076"/>
                  </a:lnTo>
                  <a:lnTo>
                    <a:pt x="934908" y="1404912"/>
                  </a:lnTo>
                  <a:lnTo>
                    <a:pt x="979892" y="1392055"/>
                  </a:lnTo>
                  <a:lnTo>
                    <a:pt x="1023637" y="1376598"/>
                  </a:lnTo>
                  <a:lnTo>
                    <a:pt x="1066047" y="1358636"/>
                  </a:lnTo>
                  <a:lnTo>
                    <a:pt x="1107023" y="1338264"/>
                  </a:lnTo>
                  <a:lnTo>
                    <a:pt x="1146466" y="1315574"/>
                  </a:lnTo>
                  <a:lnTo>
                    <a:pt x="1184279" y="1290661"/>
                  </a:lnTo>
                  <a:lnTo>
                    <a:pt x="1220364" y="1263620"/>
                  </a:lnTo>
                  <a:lnTo>
                    <a:pt x="1254621" y="1234544"/>
                  </a:lnTo>
                  <a:lnTo>
                    <a:pt x="1286954" y="1203528"/>
                  </a:lnTo>
                  <a:lnTo>
                    <a:pt x="1317265" y="1170665"/>
                  </a:lnTo>
                  <a:lnTo>
                    <a:pt x="1345454" y="1136050"/>
                  </a:lnTo>
                  <a:lnTo>
                    <a:pt x="1371424" y="1099777"/>
                  </a:lnTo>
                  <a:lnTo>
                    <a:pt x="1395077" y="1061940"/>
                  </a:lnTo>
                  <a:lnTo>
                    <a:pt x="1416315" y="1022634"/>
                  </a:lnTo>
                  <a:lnTo>
                    <a:pt x="1435039" y="981951"/>
                  </a:lnTo>
                  <a:lnTo>
                    <a:pt x="1451152" y="939986"/>
                  </a:lnTo>
                  <a:lnTo>
                    <a:pt x="1464555" y="896835"/>
                  </a:lnTo>
                  <a:lnTo>
                    <a:pt x="1475151" y="852589"/>
                  </a:lnTo>
                  <a:lnTo>
                    <a:pt x="1482841" y="807344"/>
                  </a:lnTo>
                  <a:lnTo>
                    <a:pt x="1487526" y="761195"/>
                  </a:lnTo>
                  <a:lnTo>
                    <a:pt x="1489110" y="714234"/>
                  </a:lnTo>
                  <a:lnTo>
                    <a:pt x="1487526" y="667272"/>
                  </a:lnTo>
                  <a:lnTo>
                    <a:pt x="1482841" y="621122"/>
                  </a:lnTo>
                  <a:lnTo>
                    <a:pt x="1475151" y="575878"/>
                  </a:lnTo>
                  <a:lnTo>
                    <a:pt x="1464555" y="531632"/>
                  </a:lnTo>
                  <a:lnTo>
                    <a:pt x="1451152" y="488480"/>
                  </a:lnTo>
                  <a:lnTo>
                    <a:pt x="1435039" y="446516"/>
                  </a:lnTo>
                  <a:lnTo>
                    <a:pt x="1416315" y="405833"/>
                  </a:lnTo>
                  <a:lnTo>
                    <a:pt x="1395077" y="366526"/>
                  </a:lnTo>
                  <a:lnTo>
                    <a:pt x="1371424" y="328689"/>
                  </a:lnTo>
                  <a:lnTo>
                    <a:pt x="1345454" y="292416"/>
                  </a:lnTo>
                  <a:lnTo>
                    <a:pt x="1317265" y="257801"/>
                  </a:lnTo>
                  <a:lnTo>
                    <a:pt x="1286954" y="224939"/>
                  </a:lnTo>
                  <a:lnTo>
                    <a:pt x="1254621" y="193922"/>
                  </a:lnTo>
                  <a:lnTo>
                    <a:pt x="1220364" y="164846"/>
                  </a:lnTo>
                  <a:lnTo>
                    <a:pt x="1184279" y="137805"/>
                  </a:lnTo>
                  <a:lnTo>
                    <a:pt x="1146466" y="112893"/>
                  </a:lnTo>
                  <a:lnTo>
                    <a:pt x="1107023" y="90203"/>
                  </a:lnTo>
                  <a:lnTo>
                    <a:pt x="1066047" y="69830"/>
                  </a:lnTo>
                  <a:lnTo>
                    <a:pt x="1023637" y="51868"/>
                  </a:lnTo>
                  <a:lnTo>
                    <a:pt x="979892" y="36412"/>
                  </a:lnTo>
                  <a:lnTo>
                    <a:pt x="934908" y="23554"/>
                  </a:lnTo>
                  <a:lnTo>
                    <a:pt x="888784" y="13390"/>
                  </a:lnTo>
                  <a:lnTo>
                    <a:pt x="841618" y="6014"/>
                  </a:lnTo>
                  <a:lnTo>
                    <a:pt x="793509" y="1519"/>
                  </a:lnTo>
                  <a:lnTo>
                    <a:pt x="7445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3890468" y="5535726"/>
              <a:ext cx="1489710" cy="1428750"/>
            </a:xfrm>
            <a:custGeom>
              <a:avLst/>
              <a:gdLst/>
              <a:ahLst/>
              <a:cxnLst/>
              <a:rect l="l" t="t" r="r" b="b"/>
              <a:pathLst>
                <a:path w="1489710" h="1428750">
                  <a:moveTo>
                    <a:pt x="0" y="714233"/>
                  </a:moveTo>
                  <a:lnTo>
                    <a:pt x="1583" y="667272"/>
                  </a:lnTo>
                  <a:lnTo>
                    <a:pt x="6269" y="621122"/>
                  </a:lnTo>
                  <a:lnTo>
                    <a:pt x="13959" y="575878"/>
                  </a:lnTo>
                  <a:lnTo>
                    <a:pt x="24554" y="531632"/>
                  </a:lnTo>
                  <a:lnTo>
                    <a:pt x="37957" y="488480"/>
                  </a:lnTo>
                  <a:lnTo>
                    <a:pt x="54070" y="446516"/>
                  </a:lnTo>
                  <a:lnTo>
                    <a:pt x="72795" y="405833"/>
                  </a:lnTo>
                  <a:lnTo>
                    <a:pt x="94032" y="366526"/>
                  </a:lnTo>
                  <a:lnTo>
                    <a:pt x="117685" y="328689"/>
                  </a:lnTo>
                  <a:lnTo>
                    <a:pt x="143655" y="292416"/>
                  </a:lnTo>
                  <a:lnTo>
                    <a:pt x="171845" y="257801"/>
                  </a:lnTo>
                  <a:lnTo>
                    <a:pt x="202155" y="224939"/>
                  </a:lnTo>
                  <a:lnTo>
                    <a:pt x="234488" y="193922"/>
                  </a:lnTo>
                  <a:lnTo>
                    <a:pt x="268746" y="164846"/>
                  </a:lnTo>
                  <a:lnTo>
                    <a:pt x="304830" y="137805"/>
                  </a:lnTo>
                  <a:lnTo>
                    <a:pt x="342643" y="112893"/>
                  </a:lnTo>
                  <a:lnTo>
                    <a:pt x="382086" y="90203"/>
                  </a:lnTo>
                  <a:lnTo>
                    <a:pt x="423062" y="69830"/>
                  </a:lnTo>
                  <a:lnTo>
                    <a:pt x="465472" y="51868"/>
                  </a:lnTo>
                  <a:lnTo>
                    <a:pt x="509218" y="36412"/>
                  </a:lnTo>
                  <a:lnTo>
                    <a:pt x="554201" y="23554"/>
                  </a:lnTo>
                  <a:lnTo>
                    <a:pt x="600325" y="13390"/>
                  </a:lnTo>
                  <a:lnTo>
                    <a:pt x="647491" y="6014"/>
                  </a:lnTo>
                  <a:lnTo>
                    <a:pt x="695600" y="1519"/>
                  </a:lnTo>
                  <a:lnTo>
                    <a:pt x="744555" y="0"/>
                  </a:lnTo>
                  <a:lnTo>
                    <a:pt x="793509" y="1519"/>
                  </a:lnTo>
                  <a:lnTo>
                    <a:pt x="841618" y="6014"/>
                  </a:lnTo>
                  <a:lnTo>
                    <a:pt x="888784" y="13390"/>
                  </a:lnTo>
                  <a:lnTo>
                    <a:pt x="934908" y="23554"/>
                  </a:lnTo>
                  <a:lnTo>
                    <a:pt x="979891" y="36412"/>
                  </a:lnTo>
                  <a:lnTo>
                    <a:pt x="1023637" y="51868"/>
                  </a:lnTo>
                  <a:lnTo>
                    <a:pt x="1066047" y="69830"/>
                  </a:lnTo>
                  <a:lnTo>
                    <a:pt x="1107023" y="90203"/>
                  </a:lnTo>
                  <a:lnTo>
                    <a:pt x="1146466" y="112893"/>
                  </a:lnTo>
                  <a:lnTo>
                    <a:pt x="1184279" y="137805"/>
                  </a:lnTo>
                  <a:lnTo>
                    <a:pt x="1220363" y="164846"/>
                  </a:lnTo>
                  <a:lnTo>
                    <a:pt x="1254621" y="193922"/>
                  </a:lnTo>
                  <a:lnTo>
                    <a:pt x="1286954" y="224939"/>
                  </a:lnTo>
                  <a:lnTo>
                    <a:pt x="1317264" y="257801"/>
                  </a:lnTo>
                  <a:lnTo>
                    <a:pt x="1345454" y="292416"/>
                  </a:lnTo>
                  <a:lnTo>
                    <a:pt x="1371424" y="328689"/>
                  </a:lnTo>
                  <a:lnTo>
                    <a:pt x="1395077" y="366526"/>
                  </a:lnTo>
                  <a:lnTo>
                    <a:pt x="1416314" y="405833"/>
                  </a:lnTo>
                  <a:lnTo>
                    <a:pt x="1435039" y="446516"/>
                  </a:lnTo>
                  <a:lnTo>
                    <a:pt x="1451152" y="488480"/>
                  </a:lnTo>
                  <a:lnTo>
                    <a:pt x="1464555" y="531632"/>
                  </a:lnTo>
                  <a:lnTo>
                    <a:pt x="1475150" y="575878"/>
                  </a:lnTo>
                  <a:lnTo>
                    <a:pt x="1482840" y="621122"/>
                  </a:lnTo>
                  <a:lnTo>
                    <a:pt x="1487526" y="667272"/>
                  </a:lnTo>
                  <a:lnTo>
                    <a:pt x="1489110" y="714233"/>
                  </a:lnTo>
                  <a:lnTo>
                    <a:pt x="1487526" y="761194"/>
                  </a:lnTo>
                  <a:lnTo>
                    <a:pt x="1482840" y="807344"/>
                  </a:lnTo>
                  <a:lnTo>
                    <a:pt x="1475150" y="852589"/>
                  </a:lnTo>
                  <a:lnTo>
                    <a:pt x="1464555" y="896835"/>
                  </a:lnTo>
                  <a:lnTo>
                    <a:pt x="1451152" y="939987"/>
                  </a:lnTo>
                  <a:lnTo>
                    <a:pt x="1435039" y="981951"/>
                  </a:lnTo>
                  <a:lnTo>
                    <a:pt x="1416314" y="1022634"/>
                  </a:lnTo>
                  <a:lnTo>
                    <a:pt x="1395077" y="1061941"/>
                  </a:lnTo>
                  <a:lnTo>
                    <a:pt x="1371424" y="1099778"/>
                  </a:lnTo>
                  <a:lnTo>
                    <a:pt x="1345454" y="1136051"/>
                  </a:lnTo>
                  <a:lnTo>
                    <a:pt x="1317264" y="1170665"/>
                  </a:lnTo>
                  <a:lnTo>
                    <a:pt x="1286954" y="1203528"/>
                  </a:lnTo>
                  <a:lnTo>
                    <a:pt x="1254621" y="1234544"/>
                  </a:lnTo>
                  <a:lnTo>
                    <a:pt x="1220363" y="1263620"/>
                  </a:lnTo>
                  <a:lnTo>
                    <a:pt x="1184279" y="1290661"/>
                  </a:lnTo>
                  <a:lnTo>
                    <a:pt x="1146466" y="1315574"/>
                  </a:lnTo>
                  <a:lnTo>
                    <a:pt x="1107023" y="1338264"/>
                  </a:lnTo>
                  <a:lnTo>
                    <a:pt x="1066047" y="1358637"/>
                  </a:lnTo>
                  <a:lnTo>
                    <a:pt x="1023637" y="1376598"/>
                  </a:lnTo>
                  <a:lnTo>
                    <a:pt x="979891" y="1392055"/>
                  </a:lnTo>
                  <a:lnTo>
                    <a:pt x="934908" y="1404912"/>
                  </a:lnTo>
                  <a:lnTo>
                    <a:pt x="888784" y="1415076"/>
                  </a:lnTo>
                  <a:lnTo>
                    <a:pt x="841618" y="1422453"/>
                  </a:lnTo>
                  <a:lnTo>
                    <a:pt x="793509" y="1426948"/>
                  </a:lnTo>
                  <a:lnTo>
                    <a:pt x="744555" y="1428467"/>
                  </a:lnTo>
                  <a:lnTo>
                    <a:pt x="695600" y="1426948"/>
                  </a:lnTo>
                  <a:lnTo>
                    <a:pt x="647491" y="1422453"/>
                  </a:lnTo>
                  <a:lnTo>
                    <a:pt x="600325" y="1415076"/>
                  </a:lnTo>
                  <a:lnTo>
                    <a:pt x="554201" y="1404912"/>
                  </a:lnTo>
                  <a:lnTo>
                    <a:pt x="509218" y="1392055"/>
                  </a:lnTo>
                  <a:lnTo>
                    <a:pt x="465472" y="1376598"/>
                  </a:lnTo>
                  <a:lnTo>
                    <a:pt x="423062" y="1358637"/>
                  </a:lnTo>
                  <a:lnTo>
                    <a:pt x="382086" y="1338264"/>
                  </a:lnTo>
                  <a:lnTo>
                    <a:pt x="342643" y="1315574"/>
                  </a:lnTo>
                  <a:lnTo>
                    <a:pt x="304830" y="1290661"/>
                  </a:lnTo>
                  <a:lnTo>
                    <a:pt x="268746" y="1263620"/>
                  </a:lnTo>
                  <a:lnTo>
                    <a:pt x="234488" y="1234544"/>
                  </a:lnTo>
                  <a:lnTo>
                    <a:pt x="202155" y="1203528"/>
                  </a:lnTo>
                  <a:lnTo>
                    <a:pt x="171845" y="1170665"/>
                  </a:lnTo>
                  <a:lnTo>
                    <a:pt x="143655" y="1136051"/>
                  </a:lnTo>
                  <a:lnTo>
                    <a:pt x="117685" y="1099778"/>
                  </a:lnTo>
                  <a:lnTo>
                    <a:pt x="94032" y="1061941"/>
                  </a:lnTo>
                  <a:lnTo>
                    <a:pt x="72795" y="1022634"/>
                  </a:lnTo>
                  <a:lnTo>
                    <a:pt x="54070" y="981951"/>
                  </a:lnTo>
                  <a:lnTo>
                    <a:pt x="37957" y="939987"/>
                  </a:lnTo>
                  <a:lnTo>
                    <a:pt x="24554" y="896835"/>
                  </a:lnTo>
                  <a:lnTo>
                    <a:pt x="13959" y="852589"/>
                  </a:lnTo>
                  <a:lnTo>
                    <a:pt x="6269" y="807344"/>
                  </a:lnTo>
                  <a:lnTo>
                    <a:pt x="1583" y="761194"/>
                  </a:lnTo>
                  <a:lnTo>
                    <a:pt x="0" y="714233"/>
                  </a:lnTo>
                  <a:close/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865190" y="2208258"/>
            <a:ext cx="640416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Arial MT"/>
                <a:cs typeface="Arial MT"/>
              </a:rPr>
              <a:t>Invalid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04746" y="2046894"/>
            <a:ext cx="1044949" cy="513624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 indent="166416">
              <a:lnSpc>
                <a:spcPct val="101099"/>
              </a:lnSpc>
              <a:spcBef>
                <a:spcPts val="66"/>
              </a:spcBef>
            </a:pPr>
            <a:r>
              <a:rPr sz="1677" spc="-9" dirty="0">
                <a:latin typeface="Arial MT"/>
                <a:cs typeface="Arial MT"/>
              </a:rPr>
              <a:t>Shared (read/only)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71222" y="5241914"/>
            <a:ext cx="1104340" cy="513624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 indent="136719">
              <a:lnSpc>
                <a:spcPct val="101099"/>
              </a:lnSpc>
              <a:spcBef>
                <a:spcPts val="66"/>
              </a:spcBef>
            </a:pPr>
            <a:r>
              <a:rPr sz="1677" spc="-9" dirty="0">
                <a:latin typeface="Arial MT"/>
                <a:cs typeface="Arial MT"/>
              </a:rPr>
              <a:t>Modified (read/write)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06695" y="2028068"/>
            <a:ext cx="1579468" cy="96510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solidFill>
                  <a:srgbClr val="7B00E4"/>
                </a:solidFill>
                <a:latin typeface="Arial MT"/>
                <a:cs typeface="Arial MT"/>
              </a:rPr>
              <a:t>CPU </a:t>
            </a:r>
            <a:r>
              <a:rPr sz="1677" spc="-18" dirty="0">
                <a:solidFill>
                  <a:srgbClr val="7B00E4"/>
                </a:solidFill>
                <a:latin typeface="Arial MT"/>
                <a:cs typeface="Arial MT"/>
              </a:rPr>
              <a:t>Read</a:t>
            </a:r>
            <a:endParaRPr sz="1677">
              <a:latin typeface="Arial MT"/>
              <a:cs typeface="Arial MT"/>
            </a:endParaRPr>
          </a:p>
          <a:p>
            <a:pPr marL="46507" marR="4483">
              <a:spcBef>
                <a:spcPts val="1377"/>
              </a:spcBef>
            </a:pPr>
            <a:r>
              <a:rPr sz="1677" dirty="0">
                <a:latin typeface="Arial MT"/>
                <a:cs typeface="Arial MT"/>
              </a:rPr>
              <a:t>Place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7B00E4"/>
                </a:solidFill>
                <a:latin typeface="Arial MT"/>
                <a:cs typeface="Arial MT"/>
              </a:rPr>
              <a:t>read</a:t>
            </a:r>
            <a:r>
              <a:rPr sz="1677" spc="-18" dirty="0">
                <a:solidFill>
                  <a:srgbClr val="7B00E4"/>
                </a:solidFill>
                <a:latin typeface="Arial MT"/>
                <a:cs typeface="Arial MT"/>
              </a:rPr>
              <a:t> miss </a:t>
            </a:r>
            <a:r>
              <a:rPr sz="1677" dirty="0">
                <a:latin typeface="Arial MT"/>
                <a:cs typeface="Arial MT"/>
              </a:rPr>
              <a:t>on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spc="-22" dirty="0">
                <a:latin typeface="Arial MT"/>
                <a:cs typeface="Arial MT"/>
              </a:rPr>
              <a:t>bus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61913" y="3327839"/>
            <a:ext cx="1171575" cy="977270"/>
          </a:xfrm>
          <a:prstGeom prst="rect">
            <a:avLst/>
          </a:prstGeom>
        </p:spPr>
        <p:txBody>
          <a:bodyPr vert="horz" wrap="square" lIns="0" tIns="110378" rIns="0" bIns="0" rtlCol="0">
            <a:spAutoFit/>
          </a:bodyPr>
          <a:lstStyle/>
          <a:p>
            <a:pPr marL="11206" indent="142322">
              <a:spcBef>
                <a:spcPts val="869"/>
              </a:spcBef>
            </a:pPr>
            <a:r>
              <a:rPr sz="1677" dirty="0">
                <a:solidFill>
                  <a:srgbClr val="FF0000"/>
                </a:solidFill>
                <a:latin typeface="Arial MT"/>
                <a:cs typeface="Arial MT"/>
              </a:rPr>
              <a:t>CPU </a:t>
            </a:r>
            <a:r>
              <a:rPr sz="1677" spc="-9" dirty="0">
                <a:solidFill>
                  <a:srgbClr val="FF0000"/>
                </a:solidFill>
                <a:latin typeface="Arial MT"/>
                <a:cs typeface="Arial MT"/>
              </a:rPr>
              <a:t>Write</a:t>
            </a:r>
            <a:endParaRPr sz="1677" dirty="0">
              <a:latin typeface="Arial MT"/>
              <a:cs typeface="Arial MT"/>
            </a:endParaRPr>
          </a:p>
          <a:p>
            <a:pPr marL="11206" marR="11206">
              <a:lnSpc>
                <a:spcPct val="101099"/>
              </a:lnSpc>
              <a:spcBef>
                <a:spcPts val="763"/>
              </a:spcBef>
            </a:pPr>
            <a:r>
              <a:rPr sz="1677" dirty="0">
                <a:latin typeface="Arial MT"/>
                <a:cs typeface="Arial MT"/>
              </a:rPr>
              <a:t>Place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spc="-18" dirty="0">
                <a:solidFill>
                  <a:srgbClr val="FF0000"/>
                </a:solidFill>
                <a:latin typeface="Arial MT"/>
                <a:cs typeface="Arial MT"/>
              </a:rPr>
              <a:t>Write </a:t>
            </a:r>
            <a:r>
              <a:rPr sz="1677" dirty="0">
                <a:solidFill>
                  <a:srgbClr val="FF0000"/>
                </a:solidFill>
                <a:latin typeface="Arial MT"/>
                <a:cs typeface="Arial MT"/>
              </a:rPr>
              <a:t>Miss</a:t>
            </a:r>
            <a:r>
              <a:rPr sz="1677" spc="-1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on</a:t>
            </a:r>
            <a:r>
              <a:rPr sz="1677" spc="-9" dirty="0">
                <a:latin typeface="Arial MT"/>
                <a:cs typeface="Arial MT"/>
              </a:rPr>
              <a:t> </a:t>
            </a:r>
            <a:r>
              <a:rPr sz="1677" spc="-22" dirty="0">
                <a:latin typeface="Arial MT"/>
                <a:cs typeface="Arial MT"/>
              </a:rPr>
              <a:t>bus</a:t>
            </a:r>
            <a:endParaRPr sz="1677" dirty="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64144" y="3873901"/>
            <a:ext cx="2080372" cy="700041"/>
          </a:xfrm>
          <a:prstGeom prst="rect">
            <a:avLst/>
          </a:prstGeom>
        </p:spPr>
        <p:txBody>
          <a:bodyPr vert="horz" wrap="square" lIns="0" tIns="20171" rIns="0" bIns="0" rtlCol="0">
            <a:spAutoFit/>
          </a:bodyPr>
          <a:lstStyle/>
          <a:p>
            <a:pPr marL="11206" marR="88531">
              <a:lnSpc>
                <a:spcPts val="1782"/>
              </a:lnSpc>
              <a:spcBef>
                <a:spcPts val="159"/>
              </a:spcBef>
            </a:pPr>
            <a:r>
              <a:rPr sz="1500" dirty="0">
                <a:latin typeface="Arial MT"/>
                <a:cs typeface="Arial MT"/>
              </a:rPr>
              <a:t>Place</a:t>
            </a:r>
            <a:r>
              <a:rPr sz="1500" spc="-57" dirty="0"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0000"/>
                </a:solidFill>
                <a:latin typeface="Arial MT"/>
                <a:cs typeface="Arial MT"/>
              </a:rPr>
              <a:t>invalidate</a:t>
            </a:r>
            <a:r>
              <a:rPr sz="1500" spc="-62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on</a:t>
            </a:r>
            <a:r>
              <a:rPr sz="1500" spc="-53" dirty="0">
                <a:latin typeface="Arial MT"/>
                <a:cs typeface="Arial MT"/>
              </a:rPr>
              <a:t> </a:t>
            </a:r>
            <a:r>
              <a:rPr sz="1500" spc="-22" dirty="0">
                <a:latin typeface="Arial MT"/>
                <a:cs typeface="Arial MT"/>
              </a:rPr>
              <a:t>Bus </a:t>
            </a:r>
            <a:r>
              <a:rPr sz="1500" dirty="0">
                <a:solidFill>
                  <a:srgbClr val="FF0000"/>
                </a:solidFill>
                <a:latin typeface="Arial MT"/>
                <a:cs typeface="Arial MT"/>
              </a:rPr>
              <a:t>CPU</a:t>
            </a:r>
            <a:r>
              <a:rPr sz="15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0000"/>
                </a:solidFill>
                <a:latin typeface="Arial MT"/>
                <a:cs typeface="Arial MT"/>
              </a:rPr>
              <a:t>Write</a:t>
            </a:r>
            <a:r>
              <a:rPr sz="1500" spc="-3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500" spc="-18" dirty="0">
                <a:solidFill>
                  <a:srgbClr val="FF0000"/>
                </a:solidFill>
                <a:latin typeface="Arial MT"/>
                <a:cs typeface="Arial MT"/>
              </a:rPr>
              <a:t>miss</a:t>
            </a:r>
            <a:endParaRPr sz="1500">
              <a:latin typeface="Arial MT"/>
              <a:cs typeface="Arial MT"/>
            </a:endParaRPr>
          </a:p>
          <a:p>
            <a:pPr marL="11206">
              <a:lnSpc>
                <a:spcPts val="1699"/>
              </a:lnSpc>
            </a:pPr>
            <a:r>
              <a:rPr sz="1500" dirty="0">
                <a:latin typeface="Arial MT"/>
                <a:cs typeface="Arial MT"/>
              </a:rPr>
              <a:t>Place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0000"/>
                </a:solidFill>
                <a:latin typeface="Arial MT"/>
                <a:cs typeface="Arial MT"/>
              </a:rPr>
              <a:t>Write</a:t>
            </a:r>
            <a:r>
              <a:rPr sz="15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0000"/>
                </a:solidFill>
                <a:latin typeface="Arial MT"/>
                <a:cs typeface="Arial MT"/>
              </a:rPr>
              <a:t>Miss</a:t>
            </a:r>
            <a:r>
              <a:rPr sz="1500" spc="-3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on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22" dirty="0">
                <a:latin typeface="Arial MT"/>
                <a:cs typeface="Arial MT"/>
              </a:rPr>
              <a:t>Bus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73404" y="5613054"/>
            <a:ext cx="2506756" cy="79518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solidFill>
                  <a:srgbClr val="FF0000"/>
                </a:solidFill>
                <a:latin typeface="Arial MT"/>
                <a:cs typeface="Arial MT"/>
              </a:rPr>
              <a:t>CPU</a:t>
            </a:r>
            <a:r>
              <a:rPr sz="1677" spc="-1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FF0000"/>
                </a:solidFill>
                <a:latin typeface="Arial MT"/>
                <a:cs typeface="Arial MT"/>
              </a:rPr>
              <a:t>Write</a:t>
            </a:r>
            <a:r>
              <a:rPr sz="1677" spc="-18" dirty="0">
                <a:solidFill>
                  <a:srgbClr val="FF0000"/>
                </a:solidFill>
                <a:latin typeface="Arial MT"/>
                <a:cs typeface="Arial MT"/>
              </a:rPr>
              <a:t> Miss</a:t>
            </a:r>
            <a:endParaRPr sz="1677">
              <a:latin typeface="Arial MT"/>
              <a:cs typeface="Arial MT"/>
            </a:endParaRPr>
          </a:p>
          <a:p>
            <a:pPr marL="11206" marR="4483">
              <a:lnSpc>
                <a:spcPts val="2030"/>
              </a:lnSpc>
              <a:spcBef>
                <a:spcPts val="71"/>
              </a:spcBef>
            </a:pPr>
            <a:r>
              <a:rPr sz="1677" dirty="0">
                <a:solidFill>
                  <a:srgbClr val="FF0000"/>
                </a:solidFill>
                <a:latin typeface="Arial MT"/>
                <a:cs typeface="Arial MT"/>
              </a:rPr>
              <a:t>(if</a:t>
            </a:r>
            <a:r>
              <a:rPr sz="1677" spc="-26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FF0000"/>
                </a:solidFill>
                <a:latin typeface="Arial MT"/>
                <a:cs typeface="Arial MT"/>
              </a:rPr>
              <a:t>must</a:t>
            </a:r>
            <a:r>
              <a:rPr sz="1677" spc="-22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FF0000"/>
                </a:solidFill>
                <a:latin typeface="Arial MT"/>
                <a:cs typeface="Arial MT"/>
              </a:rPr>
              <a:t>replace</a:t>
            </a:r>
            <a:r>
              <a:rPr sz="1677" spc="-22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FF0000"/>
                </a:solidFill>
                <a:latin typeface="Arial MT"/>
                <a:cs typeface="Arial MT"/>
              </a:rPr>
              <a:t>this</a:t>
            </a:r>
            <a:r>
              <a:rPr sz="1677" spc="-1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77" spc="-9" dirty="0">
                <a:solidFill>
                  <a:srgbClr val="FF0000"/>
                </a:solidFill>
                <a:latin typeface="Arial MT"/>
                <a:cs typeface="Arial MT"/>
              </a:rPr>
              <a:t>block) </a:t>
            </a:r>
            <a:r>
              <a:rPr sz="1677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Write</a:t>
            </a:r>
            <a:r>
              <a:rPr sz="1677" u="sng" spc="-26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677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back</a:t>
            </a:r>
            <a:r>
              <a:rPr sz="1677" u="sng" spc="-22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677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cache</a:t>
            </a:r>
            <a:r>
              <a:rPr sz="1677" u="sng" spc="-22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677" u="sng" spc="-18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block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49063" y="4886913"/>
            <a:ext cx="1270187" cy="52748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spcBef>
                <a:spcPts val="88"/>
              </a:spcBef>
            </a:pPr>
            <a:r>
              <a:rPr sz="1677" dirty="0">
                <a:solidFill>
                  <a:srgbClr val="7B00E4"/>
                </a:solidFill>
                <a:latin typeface="Arial MT"/>
                <a:cs typeface="Arial MT"/>
              </a:rPr>
              <a:t>CPU</a:t>
            </a:r>
            <a:r>
              <a:rPr sz="1677" spc="-18" dirty="0">
                <a:solidFill>
                  <a:srgbClr val="7B00E4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7B00E4"/>
                </a:solidFill>
                <a:latin typeface="Arial MT"/>
                <a:cs typeface="Arial MT"/>
              </a:rPr>
              <a:t>read</a:t>
            </a:r>
            <a:r>
              <a:rPr sz="1677" spc="-13" dirty="0">
                <a:solidFill>
                  <a:srgbClr val="7B00E4"/>
                </a:solidFill>
                <a:latin typeface="Arial MT"/>
                <a:cs typeface="Arial MT"/>
              </a:rPr>
              <a:t> </a:t>
            </a:r>
            <a:r>
              <a:rPr sz="1677" spc="-22" dirty="0">
                <a:solidFill>
                  <a:srgbClr val="7B00E4"/>
                </a:solidFill>
                <a:latin typeface="Arial MT"/>
                <a:cs typeface="Arial MT"/>
              </a:rPr>
              <a:t>hit </a:t>
            </a:r>
            <a:r>
              <a:rPr sz="1677" dirty="0">
                <a:solidFill>
                  <a:srgbClr val="FF0000"/>
                </a:solidFill>
                <a:latin typeface="Arial MT"/>
                <a:cs typeface="Arial MT"/>
              </a:rPr>
              <a:t>CPU</a:t>
            </a:r>
            <a:r>
              <a:rPr sz="1677" spc="-1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FF0000"/>
                </a:solidFill>
                <a:latin typeface="Arial MT"/>
                <a:cs typeface="Arial MT"/>
              </a:rPr>
              <a:t>write</a:t>
            </a:r>
            <a:r>
              <a:rPr sz="1677" spc="-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77" spc="-22" dirty="0">
                <a:solidFill>
                  <a:srgbClr val="FF0000"/>
                </a:solidFill>
                <a:latin typeface="Arial MT"/>
                <a:cs typeface="Arial MT"/>
              </a:rPr>
              <a:t>hit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47418" y="3184514"/>
            <a:ext cx="1623732" cy="6902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spcBef>
                <a:spcPts val="88"/>
              </a:spcBef>
            </a:pPr>
            <a:r>
              <a:rPr sz="2206" dirty="0">
                <a:latin typeface="Arial MT"/>
                <a:cs typeface="Arial MT"/>
              </a:rPr>
              <a:t>Cache</a:t>
            </a:r>
            <a:r>
              <a:rPr sz="2206" spc="115" dirty="0">
                <a:latin typeface="Arial MT"/>
                <a:cs typeface="Arial MT"/>
              </a:rPr>
              <a:t> </a:t>
            </a:r>
            <a:r>
              <a:rPr sz="2206" spc="-18" dirty="0">
                <a:latin typeface="Arial MT"/>
                <a:cs typeface="Arial MT"/>
              </a:rPr>
              <a:t>Block </a:t>
            </a:r>
            <a:r>
              <a:rPr sz="2206" spc="-9" dirty="0">
                <a:latin typeface="Arial MT"/>
                <a:cs typeface="Arial MT"/>
              </a:rPr>
              <a:t>States</a:t>
            </a:r>
            <a:endParaRPr sz="2206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555191" y="1708632"/>
            <a:ext cx="3211046" cy="3246344"/>
            <a:chOff x="3876816" y="1822881"/>
            <a:chExt cx="3639185" cy="3679190"/>
          </a:xfrm>
        </p:grpSpPr>
        <p:sp>
          <p:nvSpPr>
            <p:cNvPr id="28" name="object 28"/>
            <p:cNvSpPr/>
            <p:nvPr/>
          </p:nvSpPr>
          <p:spPr>
            <a:xfrm>
              <a:off x="3890468" y="1836534"/>
              <a:ext cx="1489710" cy="1428750"/>
            </a:xfrm>
            <a:custGeom>
              <a:avLst/>
              <a:gdLst/>
              <a:ahLst/>
              <a:cxnLst/>
              <a:rect l="l" t="t" r="r" b="b"/>
              <a:pathLst>
                <a:path w="1489710" h="1428750">
                  <a:moveTo>
                    <a:pt x="0" y="714233"/>
                  </a:moveTo>
                  <a:lnTo>
                    <a:pt x="1583" y="667272"/>
                  </a:lnTo>
                  <a:lnTo>
                    <a:pt x="6269" y="621122"/>
                  </a:lnTo>
                  <a:lnTo>
                    <a:pt x="13959" y="575878"/>
                  </a:lnTo>
                  <a:lnTo>
                    <a:pt x="24554" y="531632"/>
                  </a:lnTo>
                  <a:lnTo>
                    <a:pt x="37957" y="488480"/>
                  </a:lnTo>
                  <a:lnTo>
                    <a:pt x="54070" y="446516"/>
                  </a:lnTo>
                  <a:lnTo>
                    <a:pt x="72795" y="405833"/>
                  </a:lnTo>
                  <a:lnTo>
                    <a:pt x="94032" y="366526"/>
                  </a:lnTo>
                  <a:lnTo>
                    <a:pt x="117685" y="328689"/>
                  </a:lnTo>
                  <a:lnTo>
                    <a:pt x="143655" y="292416"/>
                  </a:lnTo>
                  <a:lnTo>
                    <a:pt x="171845" y="257801"/>
                  </a:lnTo>
                  <a:lnTo>
                    <a:pt x="202155" y="224939"/>
                  </a:lnTo>
                  <a:lnTo>
                    <a:pt x="234488" y="193922"/>
                  </a:lnTo>
                  <a:lnTo>
                    <a:pt x="268746" y="164846"/>
                  </a:lnTo>
                  <a:lnTo>
                    <a:pt x="304830" y="137805"/>
                  </a:lnTo>
                  <a:lnTo>
                    <a:pt x="342643" y="112893"/>
                  </a:lnTo>
                  <a:lnTo>
                    <a:pt x="382086" y="90203"/>
                  </a:lnTo>
                  <a:lnTo>
                    <a:pt x="423062" y="69830"/>
                  </a:lnTo>
                  <a:lnTo>
                    <a:pt x="465472" y="51868"/>
                  </a:lnTo>
                  <a:lnTo>
                    <a:pt x="509218" y="36412"/>
                  </a:lnTo>
                  <a:lnTo>
                    <a:pt x="554201" y="23554"/>
                  </a:lnTo>
                  <a:lnTo>
                    <a:pt x="600325" y="13390"/>
                  </a:lnTo>
                  <a:lnTo>
                    <a:pt x="647491" y="6014"/>
                  </a:lnTo>
                  <a:lnTo>
                    <a:pt x="695600" y="1519"/>
                  </a:lnTo>
                  <a:lnTo>
                    <a:pt x="744555" y="0"/>
                  </a:lnTo>
                  <a:lnTo>
                    <a:pt x="793509" y="1519"/>
                  </a:lnTo>
                  <a:lnTo>
                    <a:pt x="841618" y="6014"/>
                  </a:lnTo>
                  <a:lnTo>
                    <a:pt x="888784" y="13390"/>
                  </a:lnTo>
                  <a:lnTo>
                    <a:pt x="934908" y="23554"/>
                  </a:lnTo>
                  <a:lnTo>
                    <a:pt x="979891" y="36412"/>
                  </a:lnTo>
                  <a:lnTo>
                    <a:pt x="1023637" y="51868"/>
                  </a:lnTo>
                  <a:lnTo>
                    <a:pt x="1066047" y="69830"/>
                  </a:lnTo>
                  <a:lnTo>
                    <a:pt x="1107023" y="90203"/>
                  </a:lnTo>
                  <a:lnTo>
                    <a:pt x="1146466" y="112893"/>
                  </a:lnTo>
                  <a:lnTo>
                    <a:pt x="1184279" y="137805"/>
                  </a:lnTo>
                  <a:lnTo>
                    <a:pt x="1220363" y="164846"/>
                  </a:lnTo>
                  <a:lnTo>
                    <a:pt x="1254621" y="193922"/>
                  </a:lnTo>
                  <a:lnTo>
                    <a:pt x="1286954" y="224939"/>
                  </a:lnTo>
                  <a:lnTo>
                    <a:pt x="1317264" y="257801"/>
                  </a:lnTo>
                  <a:lnTo>
                    <a:pt x="1345454" y="292416"/>
                  </a:lnTo>
                  <a:lnTo>
                    <a:pt x="1371424" y="328689"/>
                  </a:lnTo>
                  <a:lnTo>
                    <a:pt x="1395077" y="366526"/>
                  </a:lnTo>
                  <a:lnTo>
                    <a:pt x="1416314" y="405833"/>
                  </a:lnTo>
                  <a:lnTo>
                    <a:pt x="1435039" y="446516"/>
                  </a:lnTo>
                  <a:lnTo>
                    <a:pt x="1451152" y="488480"/>
                  </a:lnTo>
                  <a:lnTo>
                    <a:pt x="1464555" y="531632"/>
                  </a:lnTo>
                  <a:lnTo>
                    <a:pt x="1475150" y="575878"/>
                  </a:lnTo>
                  <a:lnTo>
                    <a:pt x="1482840" y="621122"/>
                  </a:lnTo>
                  <a:lnTo>
                    <a:pt x="1487526" y="667272"/>
                  </a:lnTo>
                  <a:lnTo>
                    <a:pt x="1489110" y="714233"/>
                  </a:lnTo>
                  <a:lnTo>
                    <a:pt x="1487526" y="761194"/>
                  </a:lnTo>
                  <a:lnTo>
                    <a:pt x="1482840" y="807344"/>
                  </a:lnTo>
                  <a:lnTo>
                    <a:pt x="1475150" y="852589"/>
                  </a:lnTo>
                  <a:lnTo>
                    <a:pt x="1464555" y="896835"/>
                  </a:lnTo>
                  <a:lnTo>
                    <a:pt x="1451152" y="939987"/>
                  </a:lnTo>
                  <a:lnTo>
                    <a:pt x="1435039" y="981951"/>
                  </a:lnTo>
                  <a:lnTo>
                    <a:pt x="1416314" y="1022634"/>
                  </a:lnTo>
                  <a:lnTo>
                    <a:pt x="1395077" y="1061941"/>
                  </a:lnTo>
                  <a:lnTo>
                    <a:pt x="1371424" y="1099778"/>
                  </a:lnTo>
                  <a:lnTo>
                    <a:pt x="1345454" y="1136051"/>
                  </a:lnTo>
                  <a:lnTo>
                    <a:pt x="1317264" y="1170665"/>
                  </a:lnTo>
                  <a:lnTo>
                    <a:pt x="1286954" y="1203528"/>
                  </a:lnTo>
                  <a:lnTo>
                    <a:pt x="1254621" y="1234544"/>
                  </a:lnTo>
                  <a:lnTo>
                    <a:pt x="1220363" y="1263620"/>
                  </a:lnTo>
                  <a:lnTo>
                    <a:pt x="1184279" y="1290661"/>
                  </a:lnTo>
                  <a:lnTo>
                    <a:pt x="1146466" y="1315574"/>
                  </a:lnTo>
                  <a:lnTo>
                    <a:pt x="1107023" y="1338264"/>
                  </a:lnTo>
                  <a:lnTo>
                    <a:pt x="1066047" y="1358637"/>
                  </a:lnTo>
                  <a:lnTo>
                    <a:pt x="1023637" y="1376598"/>
                  </a:lnTo>
                  <a:lnTo>
                    <a:pt x="979891" y="1392055"/>
                  </a:lnTo>
                  <a:lnTo>
                    <a:pt x="934908" y="1404912"/>
                  </a:lnTo>
                  <a:lnTo>
                    <a:pt x="888784" y="1415076"/>
                  </a:lnTo>
                  <a:lnTo>
                    <a:pt x="841618" y="1422453"/>
                  </a:lnTo>
                  <a:lnTo>
                    <a:pt x="793509" y="1426948"/>
                  </a:lnTo>
                  <a:lnTo>
                    <a:pt x="744555" y="1428467"/>
                  </a:lnTo>
                  <a:lnTo>
                    <a:pt x="695600" y="1426948"/>
                  </a:lnTo>
                  <a:lnTo>
                    <a:pt x="647491" y="1422453"/>
                  </a:lnTo>
                  <a:lnTo>
                    <a:pt x="600325" y="1415076"/>
                  </a:lnTo>
                  <a:lnTo>
                    <a:pt x="554201" y="1404912"/>
                  </a:lnTo>
                  <a:lnTo>
                    <a:pt x="509218" y="1392055"/>
                  </a:lnTo>
                  <a:lnTo>
                    <a:pt x="465472" y="1376598"/>
                  </a:lnTo>
                  <a:lnTo>
                    <a:pt x="423062" y="1358637"/>
                  </a:lnTo>
                  <a:lnTo>
                    <a:pt x="382086" y="1338264"/>
                  </a:lnTo>
                  <a:lnTo>
                    <a:pt x="342643" y="1315574"/>
                  </a:lnTo>
                  <a:lnTo>
                    <a:pt x="304830" y="1290661"/>
                  </a:lnTo>
                  <a:lnTo>
                    <a:pt x="268746" y="1263620"/>
                  </a:lnTo>
                  <a:lnTo>
                    <a:pt x="234488" y="1234544"/>
                  </a:lnTo>
                  <a:lnTo>
                    <a:pt x="202155" y="1203528"/>
                  </a:lnTo>
                  <a:lnTo>
                    <a:pt x="171845" y="1170665"/>
                  </a:lnTo>
                  <a:lnTo>
                    <a:pt x="143655" y="1136051"/>
                  </a:lnTo>
                  <a:lnTo>
                    <a:pt x="117685" y="1099778"/>
                  </a:lnTo>
                  <a:lnTo>
                    <a:pt x="94032" y="1061941"/>
                  </a:lnTo>
                  <a:lnTo>
                    <a:pt x="72795" y="1022634"/>
                  </a:lnTo>
                  <a:lnTo>
                    <a:pt x="54070" y="981951"/>
                  </a:lnTo>
                  <a:lnTo>
                    <a:pt x="37957" y="939987"/>
                  </a:lnTo>
                  <a:lnTo>
                    <a:pt x="24554" y="896835"/>
                  </a:lnTo>
                  <a:lnTo>
                    <a:pt x="13959" y="852589"/>
                  </a:lnTo>
                  <a:lnTo>
                    <a:pt x="6269" y="807344"/>
                  </a:lnTo>
                  <a:lnTo>
                    <a:pt x="1583" y="761194"/>
                  </a:lnTo>
                  <a:lnTo>
                    <a:pt x="0" y="714233"/>
                  </a:lnTo>
                  <a:close/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5393055" y="2591197"/>
              <a:ext cx="2122805" cy="81280"/>
            </a:xfrm>
            <a:custGeom>
              <a:avLst/>
              <a:gdLst/>
              <a:ahLst/>
              <a:cxnLst/>
              <a:rect l="l" t="t" r="r" b="b"/>
              <a:pathLst>
                <a:path w="2122804" h="81280">
                  <a:moveTo>
                    <a:pt x="2041630" y="0"/>
                  </a:moveTo>
                  <a:lnTo>
                    <a:pt x="2041630" y="80857"/>
                  </a:lnTo>
                  <a:lnTo>
                    <a:pt x="2095535" y="53903"/>
                  </a:lnTo>
                  <a:lnTo>
                    <a:pt x="2055106" y="53903"/>
                  </a:lnTo>
                  <a:lnTo>
                    <a:pt x="2055106" y="26951"/>
                  </a:lnTo>
                  <a:lnTo>
                    <a:pt x="2095535" y="26951"/>
                  </a:lnTo>
                  <a:lnTo>
                    <a:pt x="2041630" y="0"/>
                  </a:lnTo>
                  <a:close/>
                </a:path>
                <a:path w="2122804" h="81280">
                  <a:moveTo>
                    <a:pt x="2041630" y="26951"/>
                  </a:moveTo>
                  <a:lnTo>
                    <a:pt x="0" y="26951"/>
                  </a:lnTo>
                  <a:lnTo>
                    <a:pt x="0" y="53903"/>
                  </a:lnTo>
                  <a:lnTo>
                    <a:pt x="2041630" y="53903"/>
                  </a:lnTo>
                  <a:lnTo>
                    <a:pt x="2041630" y="26951"/>
                  </a:lnTo>
                  <a:close/>
                </a:path>
                <a:path w="2122804" h="81280">
                  <a:moveTo>
                    <a:pt x="2095535" y="26951"/>
                  </a:moveTo>
                  <a:lnTo>
                    <a:pt x="2055106" y="26951"/>
                  </a:lnTo>
                  <a:lnTo>
                    <a:pt x="2055106" y="53903"/>
                  </a:lnTo>
                  <a:lnTo>
                    <a:pt x="2095535" y="53903"/>
                  </a:lnTo>
                  <a:lnTo>
                    <a:pt x="2122487" y="40427"/>
                  </a:lnTo>
                  <a:lnTo>
                    <a:pt x="2095535" y="26951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4564274" y="3258263"/>
              <a:ext cx="81280" cy="2244090"/>
            </a:xfrm>
            <a:custGeom>
              <a:avLst/>
              <a:gdLst/>
              <a:ahLst/>
              <a:cxnLst/>
              <a:rect l="l" t="t" r="r" b="b"/>
              <a:pathLst>
                <a:path w="81279" h="2244090">
                  <a:moveTo>
                    <a:pt x="26953" y="2162915"/>
                  </a:moveTo>
                  <a:lnTo>
                    <a:pt x="0" y="2162915"/>
                  </a:lnTo>
                  <a:lnTo>
                    <a:pt x="40429" y="2243772"/>
                  </a:lnTo>
                  <a:lnTo>
                    <a:pt x="74119" y="2176390"/>
                  </a:lnTo>
                  <a:lnTo>
                    <a:pt x="26953" y="2176390"/>
                  </a:lnTo>
                  <a:lnTo>
                    <a:pt x="26953" y="2162915"/>
                  </a:lnTo>
                  <a:close/>
                </a:path>
                <a:path w="81279" h="2244090">
                  <a:moveTo>
                    <a:pt x="53903" y="0"/>
                  </a:moveTo>
                  <a:lnTo>
                    <a:pt x="26951" y="0"/>
                  </a:lnTo>
                  <a:lnTo>
                    <a:pt x="26953" y="2176390"/>
                  </a:lnTo>
                  <a:lnTo>
                    <a:pt x="53905" y="2176390"/>
                  </a:lnTo>
                  <a:lnTo>
                    <a:pt x="53903" y="0"/>
                  </a:lnTo>
                  <a:close/>
                </a:path>
                <a:path w="81279" h="2244090">
                  <a:moveTo>
                    <a:pt x="80857" y="2162915"/>
                  </a:moveTo>
                  <a:lnTo>
                    <a:pt x="53905" y="2162915"/>
                  </a:lnTo>
                  <a:lnTo>
                    <a:pt x="53905" y="2176390"/>
                  </a:lnTo>
                  <a:lnTo>
                    <a:pt x="74119" y="2176390"/>
                  </a:lnTo>
                  <a:lnTo>
                    <a:pt x="80857" y="216291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298203" y="3550275"/>
            <a:ext cx="1558738" cy="441290"/>
          </a:xfrm>
          <a:prstGeom prst="rect">
            <a:avLst/>
          </a:prstGeom>
        </p:spPr>
        <p:txBody>
          <a:bodyPr vert="horz" wrap="square" lIns="0" tIns="100853" rIns="0" bIns="0" rtlCol="0">
            <a:spAutoFit/>
          </a:bodyPr>
          <a:lstStyle/>
          <a:p>
            <a:pPr marL="33619">
              <a:spcBef>
                <a:spcPts val="794"/>
              </a:spcBef>
              <a:tabLst>
                <a:tab pos="318824" algn="l"/>
              </a:tabLst>
            </a:pPr>
            <a:r>
              <a:rPr sz="3309" u="sng" baseline="5555" dirty="0">
                <a:uFill>
                  <a:solidFill>
                    <a:srgbClr val="618FFD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309" spc="-125" baseline="5555" dirty="0"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0000"/>
                </a:solidFill>
                <a:latin typeface="Arial MT"/>
                <a:cs typeface="Arial MT"/>
              </a:rPr>
              <a:t>CPU Write hit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72989" y="1188972"/>
            <a:ext cx="146068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solidFill>
                  <a:srgbClr val="7B00E4"/>
                </a:solidFill>
                <a:latin typeface="Arial MT"/>
                <a:cs typeface="Arial MT"/>
              </a:rPr>
              <a:t>CPU</a:t>
            </a:r>
            <a:r>
              <a:rPr sz="1677" spc="-18" dirty="0">
                <a:solidFill>
                  <a:srgbClr val="7B00E4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7B00E4"/>
                </a:solidFill>
                <a:latin typeface="Arial MT"/>
                <a:cs typeface="Arial MT"/>
              </a:rPr>
              <a:t>read</a:t>
            </a:r>
            <a:r>
              <a:rPr sz="1677" spc="-13" dirty="0">
                <a:solidFill>
                  <a:srgbClr val="7B00E4"/>
                </a:solidFill>
                <a:latin typeface="Arial MT"/>
                <a:cs typeface="Arial MT"/>
              </a:rPr>
              <a:t> </a:t>
            </a:r>
            <a:r>
              <a:rPr sz="1677" spc="-18" dirty="0">
                <a:solidFill>
                  <a:srgbClr val="7B00E4"/>
                </a:solidFill>
                <a:latin typeface="Arial MT"/>
                <a:cs typeface="Arial MT"/>
              </a:rPr>
              <a:t>miss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575961" y="1441776"/>
            <a:ext cx="1544171" cy="513624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>
              <a:lnSpc>
                <a:spcPct val="101099"/>
              </a:lnSpc>
              <a:spcBef>
                <a:spcPts val="66"/>
              </a:spcBef>
            </a:pPr>
            <a:r>
              <a:rPr sz="1677" dirty="0">
                <a:latin typeface="Arial MT"/>
                <a:cs typeface="Arial MT"/>
              </a:rPr>
              <a:t>Place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7B00E4"/>
                </a:solidFill>
                <a:latin typeface="Arial MT"/>
                <a:cs typeface="Arial MT"/>
              </a:rPr>
              <a:t>read</a:t>
            </a:r>
            <a:r>
              <a:rPr sz="1677" spc="-18" dirty="0">
                <a:solidFill>
                  <a:srgbClr val="7B00E4"/>
                </a:solidFill>
                <a:latin typeface="Arial MT"/>
                <a:cs typeface="Arial MT"/>
              </a:rPr>
              <a:t> miss </a:t>
            </a:r>
            <a:r>
              <a:rPr sz="1677" dirty="0">
                <a:latin typeface="Arial MT"/>
                <a:cs typeface="Arial MT"/>
              </a:rPr>
              <a:t>on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spc="-22" dirty="0">
                <a:latin typeface="Arial MT"/>
                <a:cs typeface="Arial MT"/>
              </a:rPr>
              <a:t>bus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477863" y="4607214"/>
            <a:ext cx="2217644" cy="52748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solidFill>
                  <a:srgbClr val="7B00E4"/>
                </a:solidFill>
                <a:latin typeface="Arial MT"/>
                <a:cs typeface="Arial MT"/>
              </a:rPr>
              <a:t>CPU</a:t>
            </a:r>
            <a:r>
              <a:rPr sz="1677" spc="-18" dirty="0">
                <a:solidFill>
                  <a:srgbClr val="7B00E4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7B00E4"/>
                </a:solidFill>
                <a:latin typeface="Arial MT"/>
                <a:cs typeface="Arial MT"/>
              </a:rPr>
              <a:t>Read</a:t>
            </a:r>
            <a:r>
              <a:rPr sz="1677" spc="-13" dirty="0">
                <a:solidFill>
                  <a:srgbClr val="7B00E4"/>
                </a:solidFill>
                <a:latin typeface="Arial MT"/>
                <a:cs typeface="Arial MT"/>
              </a:rPr>
              <a:t> </a:t>
            </a:r>
            <a:r>
              <a:rPr sz="1677" spc="-18" dirty="0">
                <a:solidFill>
                  <a:srgbClr val="7B00E4"/>
                </a:solidFill>
                <a:latin typeface="Arial MT"/>
                <a:cs typeface="Arial MT"/>
              </a:rPr>
              <a:t>miss</a:t>
            </a:r>
            <a:endParaRPr sz="1677">
              <a:latin typeface="Arial MT"/>
              <a:cs typeface="Arial MT"/>
            </a:endParaRPr>
          </a:p>
          <a:p>
            <a:pPr marL="11206">
              <a:spcBef>
                <a:spcPts val="22"/>
              </a:spcBef>
            </a:pPr>
            <a:r>
              <a:rPr sz="1677" dirty="0">
                <a:latin typeface="Arial MT"/>
                <a:cs typeface="Arial MT"/>
              </a:rPr>
              <a:t>Write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back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cache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spc="-18" dirty="0">
                <a:latin typeface="Arial MT"/>
                <a:cs typeface="Arial MT"/>
              </a:rPr>
              <a:t>block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489069" y="5111277"/>
            <a:ext cx="2185147" cy="11206"/>
          </a:xfrm>
          <a:custGeom>
            <a:avLst/>
            <a:gdLst/>
            <a:ahLst/>
            <a:cxnLst/>
            <a:rect l="l" t="t" r="r" b="b"/>
            <a:pathLst>
              <a:path w="2476500" h="12700">
                <a:moveTo>
                  <a:pt x="2476500" y="0"/>
                </a:moveTo>
                <a:lnTo>
                  <a:pt x="0" y="0"/>
                </a:lnTo>
                <a:lnTo>
                  <a:pt x="0" y="12700"/>
                </a:lnTo>
                <a:lnTo>
                  <a:pt x="2476500" y="12700"/>
                </a:lnTo>
                <a:lnTo>
                  <a:pt x="2476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6" name="object 36"/>
          <p:cNvSpPr txBox="1"/>
          <p:nvPr/>
        </p:nvSpPr>
        <p:spPr>
          <a:xfrm>
            <a:off x="5477863" y="5123580"/>
            <a:ext cx="2245659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Arial MT"/>
                <a:cs typeface="Arial MT"/>
              </a:rPr>
              <a:t>Place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7B00E4"/>
                </a:solidFill>
                <a:latin typeface="Arial MT"/>
                <a:cs typeface="Arial MT"/>
              </a:rPr>
              <a:t>read</a:t>
            </a:r>
            <a:r>
              <a:rPr sz="1677" spc="-13" dirty="0">
                <a:solidFill>
                  <a:srgbClr val="7B00E4"/>
                </a:solidFill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miss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on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spc="-22" dirty="0">
                <a:latin typeface="Arial MT"/>
                <a:cs typeface="Arial MT"/>
              </a:rPr>
              <a:t>bus</a:t>
            </a:r>
            <a:endParaRPr sz="1677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701917" y="2823136"/>
            <a:ext cx="2500593" cy="2542054"/>
            <a:chOff x="5176439" y="3085984"/>
            <a:chExt cx="2834005" cy="2880995"/>
          </a:xfrm>
        </p:grpSpPr>
        <p:sp>
          <p:nvSpPr>
            <p:cNvPr id="38" name="object 38"/>
            <p:cNvSpPr/>
            <p:nvPr/>
          </p:nvSpPr>
          <p:spPr>
            <a:xfrm>
              <a:off x="5176439" y="3085984"/>
              <a:ext cx="2602230" cy="2668270"/>
            </a:xfrm>
            <a:custGeom>
              <a:avLst/>
              <a:gdLst/>
              <a:ahLst/>
              <a:cxnLst/>
              <a:rect l="l" t="t" r="r" b="b"/>
              <a:pathLst>
                <a:path w="2602229" h="2668270">
                  <a:moveTo>
                    <a:pt x="2502741" y="72724"/>
                  </a:moveTo>
                  <a:lnTo>
                    <a:pt x="0" y="2639456"/>
                  </a:lnTo>
                  <a:lnTo>
                    <a:pt x="28945" y="2667679"/>
                  </a:lnTo>
                  <a:lnTo>
                    <a:pt x="2531687" y="100949"/>
                  </a:lnTo>
                  <a:lnTo>
                    <a:pt x="2502741" y="72724"/>
                  </a:lnTo>
                  <a:close/>
                </a:path>
                <a:path w="2602229" h="2668270">
                  <a:moveTo>
                    <a:pt x="2583283" y="58248"/>
                  </a:moveTo>
                  <a:lnTo>
                    <a:pt x="2516856" y="58248"/>
                  </a:lnTo>
                  <a:lnTo>
                    <a:pt x="2545802" y="86473"/>
                  </a:lnTo>
                  <a:lnTo>
                    <a:pt x="2531687" y="100949"/>
                  </a:lnTo>
                  <a:lnTo>
                    <a:pt x="2560632" y="129172"/>
                  </a:lnTo>
                  <a:lnTo>
                    <a:pt x="2583283" y="58248"/>
                  </a:lnTo>
                  <a:close/>
                </a:path>
                <a:path w="2602229" h="2668270">
                  <a:moveTo>
                    <a:pt x="2516856" y="58248"/>
                  </a:moveTo>
                  <a:lnTo>
                    <a:pt x="2502741" y="72724"/>
                  </a:lnTo>
                  <a:lnTo>
                    <a:pt x="2531687" y="100949"/>
                  </a:lnTo>
                  <a:lnTo>
                    <a:pt x="2545802" y="86473"/>
                  </a:lnTo>
                  <a:lnTo>
                    <a:pt x="2516856" y="58248"/>
                  </a:lnTo>
                  <a:close/>
                </a:path>
                <a:path w="2602229" h="2668270">
                  <a:moveTo>
                    <a:pt x="2601885" y="0"/>
                  </a:moveTo>
                  <a:lnTo>
                    <a:pt x="2473796" y="44500"/>
                  </a:lnTo>
                  <a:lnTo>
                    <a:pt x="2502741" y="72724"/>
                  </a:lnTo>
                  <a:lnTo>
                    <a:pt x="2516856" y="58248"/>
                  </a:lnTo>
                  <a:lnTo>
                    <a:pt x="2583283" y="58248"/>
                  </a:lnTo>
                  <a:lnTo>
                    <a:pt x="2601885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5595195" y="5335271"/>
              <a:ext cx="377825" cy="239395"/>
            </a:xfrm>
            <a:custGeom>
              <a:avLst/>
              <a:gdLst/>
              <a:ahLst/>
              <a:cxnLst/>
              <a:rect l="l" t="t" r="r" b="b"/>
              <a:pathLst>
                <a:path w="377825" h="239395">
                  <a:moveTo>
                    <a:pt x="0" y="0"/>
                  </a:moveTo>
                  <a:lnTo>
                    <a:pt x="377332" y="239191"/>
                  </a:lnTo>
                </a:path>
              </a:pathLst>
            </a:custGeom>
            <a:solidFill>
              <a:srgbClr val="618FF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0" name="object 40"/>
            <p:cNvSpPr/>
            <p:nvPr/>
          </p:nvSpPr>
          <p:spPr>
            <a:xfrm>
              <a:off x="5595196" y="5335270"/>
              <a:ext cx="377825" cy="239395"/>
            </a:xfrm>
            <a:custGeom>
              <a:avLst/>
              <a:gdLst/>
              <a:ahLst/>
              <a:cxnLst/>
              <a:rect l="l" t="t" r="r" b="b"/>
              <a:pathLst>
                <a:path w="377825" h="239395">
                  <a:moveTo>
                    <a:pt x="377331" y="239192"/>
                  </a:moveTo>
                  <a:lnTo>
                    <a:pt x="0" y="0"/>
                  </a:lnTo>
                </a:path>
              </a:pathLst>
            </a:custGeom>
            <a:ln w="30321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5352626" y="3269021"/>
              <a:ext cx="2658110" cy="2698115"/>
            </a:xfrm>
            <a:custGeom>
              <a:avLst/>
              <a:gdLst/>
              <a:ahLst/>
              <a:cxnLst/>
              <a:rect l="l" t="t" r="r" b="b"/>
              <a:pathLst>
                <a:path w="2658109" h="2698115">
                  <a:moveTo>
                    <a:pt x="27936" y="2611964"/>
                  </a:moveTo>
                  <a:lnTo>
                    <a:pt x="0" y="2697939"/>
                  </a:lnTo>
                  <a:lnTo>
                    <a:pt x="85542" y="2668704"/>
                  </a:lnTo>
                  <a:lnTo>
                    <a:pt x="76094" y="2659399"/>
                  </a:lnTo>
                  <a:lnTo>
                    <a:pt x="56875" y="2659399"/>
                  </a:lnTo>
                  <a:lnTo>
                    <a:pt x="37674" y="2640486"/>
                  </a:lnTo>
                  <a:lnTo>
                    <a:pt x="47138" y="2630877"/>
                  </a:lnTo>
                  <a:lnTo>
                    <a:pt x="27936" y="2611964"/>
                  </a:lnTo>
                  <a:close/>
                </a:path>
                <a:path w="2658109" h="2698115">
                  <a:moveTo>
                    <a:pt x="47138" y="2630877"/>
                  </a:moveTo>
                  <a:lnTo>
                    <a:pt x="37674" y="2640486"/>
                  </a:lnTo>
                  <a:lnTo>
                    <a:pt x="56875" y="2659399"/>
                  </a:lnTo>
                  <a:lnTo>
                    <a:pt x="66339" y="2649790"/>
                  </a:lnTo>
                  <a:lnTo>
                    <a:pt x="47138" y="2630877"/>
                  </a:lnTo>
                  <a:close/>
                </a:path>
                <a:path w="2658109" h="2698115">
                  <a:moveTo>
                    <a:pt x="66339" y="2649790"/>
                  </a:moveTo>
                  <a:lnTo>
                    <a:pt x="56875" y="2659399"/>
                  </a:lnTo>
                  <a:lnTo>
                    <a:pt x="76094" y="2659399"/>
                  </a:lnTo>
                  <a:lnTo>
                    <a:pt x="66339" y="2649790"/>
                  </a:lnTo>
                  <a:close/>
                </a:path>
                <a:path w="2658109" h="2698115">
                  <a:moveTo>
                    <a:pt x="2638454" y="0"/>
                  </a:moveTo>
                  <a:lnTo>
                    <a:pt x="47138" y="2630877"/>
                  </a:lnTo>
                  <a:lnTo>
                    <a:pt x="66339" y="2649790"/>
                  </a:lnTo>
                  <a:lnTo>
                    <a:pt x="2657656" y="18912"/>
                  </a:lnTo>
                  <a:lnTo>
                    <a:pt x="26384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2" name="object 42"/>
          <p:cNvSpPr/>
          <p:nvPr/>
        </p:nvSpPr>
        <p:spPr>
          <a:xfrm>
            <a:off x="6331821" y="3880326"/>
            <a:ext cx="285750" cy="10085"/>
          </a:xfrm>
          <a:custGeom>
            <a:avLst/>
            <a:gdLst/>
            <a:ahLst/>
            <a:cxnLst/>
            <a:rect l="l" t="t" r="r" b="b"/>
            <a:pathLst>
              <a:path w="323850" h="11429">
                <a:moveTo>
                  <a:pt x="323426" y="11372"/>
                </a:moveTo>
                <a:lnTo>
                  <a:pt x="0" y="0"/>
                </a:lnTo>
              </a:path>
            </a:pathLst>
          </a:custGeom>
          <a:ln w="3032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3" name="object 43"/>
          <p:cNvSpPr txBox="1"/>
          <p:nvPr/>
        </p:nvSpPr>
        <p:spPr>
          <a:xfrm>
            <a:off x="5473404" y="6405083"/>
            <a:ext cx="2270312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>
              <a:lnSpc>
                <a:spcPts val="1941"/>
              </a:lnSpc>
            </a:pPr>
            <a:r>
              <a:rPr sz="1677" dirty="0">
                <a:latin typeface="Arial MT"/>
                <a:cs typeface="Arial MT"/>
              </a:rPr>
              <a:t>Place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FF0000"/>
                </a:solidFill>
                <a:latin typeface="Arial MT"/>
                <a:cs typeface="Arial MT"/>
              </a:rPr>
              <a:t>write</a:t>
            </a:r>
            <a:r>
              <a:rPr sz="1677" spc="-1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FF0000"/>
                </a:solidFill>
                <a:latin typeface="Arial MT"/>
                <a:cs typeface="Arial MT"/>
              </a:rPr>
              <a:t>miss</a:t>
            </a:r>
            <a:r>
              <a:rPr sz="1677" spc="-1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on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spc="-22" dirty="0">
                <a:latin typeface="Arial MT"/>
                <a:cs typeface="Arial MT"/>
              </a:rPr>
              <a:t>bus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45" name="Slide Number Placeholder 4">
            <a:extLst>
              <a:ext uri="{FF2B5EF4-FFF2-40B4-BE49-F238E27FC236}">
                <a16:creationId xmlns:a16="http://schemas.microsoft.com/office/drawing/2014/main" id="{8EFBE7FD-4693-91EC-74FB-D7376CA2D5F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42</a:t>
            </a:fld>
            <a:endParaRPr lang="en-US" spc="-44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16648" y="1284866"/>
            <a:ext cx="1222562" cy="513624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>
              <a:lnSpc>
                <a:spcPct val="101099"/>
              </a:lnSpc>
              <a:spcBef>
                <a:spcPts val="66"/>
              </a:spcBef>
            </a:pPr>
            <a:r>
              <a:rPr sz="1677" dirty="0">
                <a:solidFill>
                  <a:srgbClr val="008000"/>
                </a:solidFill>
                <a:latin typeface="Arial MT"/>
                <a:cs typeface="Arial MT"/>
              </a:rPr>
              <a:t>Read</a:t>
            </a:r>
            <a:r>
              <a:rPr sz="1677" spc="-35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1677" spc="-18" dirty="0">
                <a:solidFill>
                  <a:srgbClr val="008000"/>
                </a:solidFill>
                <a:latin typeface="Arial MT"/>
                <a:cs typeface="Arial MT"/>
              </a:rPr>
              <a:t>miss </a:t>
            </a: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for</a:t>
            </a:r>
            <a:r>
              <a:rPr sz="1677" spc="-22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this</a:t>
            </a:r>
            <a:r>
              <a:rPr sz="1677" spc="-18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spc="-9" dirty="0">
                <a:solidFill>
                  <a:srgbClr val="FC0128"/>
                </a:solidFill>
                <a:latin typeface="Arial MT"/>
                <a:cs typeface="Arial MT"/>
              </a:rPr>
              <a:t>block</a:t>
            </a:r>
            <a:endParaRPr sz="1677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63289" y="1688389"/>
            <a:ext cx="4868956" cy="4608979"/>
            <a:chOff x="4047919" y="1935097"/>
            <a:chExt cx="5518150" cy="5223510"/>
          </a:xfrm>
        </p:grpSpPr>
        <p:sp>
          <p:nvSpPr>
            <p:cNvPr id="4" name="object 4"/>
            <p:cNvSpPr/>
            <p:nvPr/>
          </p:nvSpPr>
          <p:spPr>
            <a:xfrm>
              <a:off x="8737064" y="1955417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4" h="808355">
                  <a:moveTo>
                    <a:pt x="484231" y="7891"/>
                  </a:moveTo>
                  <a:lnTo>
                    <a:pt x="529907" y="19895"/>
                  </a:lnTo>
                  <a:lnTo>
                    <a:pt x="572979" y="36715"/>
                  </a:lnTo>
                  <a:lnTo>
                    <a:pt x="613211" y="57996"/>
                  </a:lnTo>
                  <a:lnTo>
                    <a:pt x="650366" y="83379"/>
                  </a:lnTo>
                  <a:lnTo>
                    <a:pt x="684205" y="112508"/>
                  </a:lnTo>
                  <a:lnTo>
                    <a:pt x="714493" y="145025"/>
                  </a:lnTo>
                  <a:lnTo>
                    <a:pt x="740991" y="180572"/>
                  </a:lnTo>
                  <a:lnTo>
                    <a:pt x="763462" y="218792"/>
                  </a:lnTo>
                  <a:lnTo>
                    <a:pt x="781670" y="259327"/>
                  </a:lnTo>
                  <a:lnTo>
                    <a:pt x="795376" y="301821"/>
                  </a:lnTo>
                  <a:lnTo>
                    <a:pt x="804344" y="345916"/>
                  </a:lnTo>
                  <a:lnTo>
                    <a:pt x="808336" y="391254"/>
                  </a:lnTo>
                  <a:lnTo>
                    <a:pt x="807115" y="437478"/>
                  </a:lnTo>
                  <a:lnTo>
                    <a:pt x="800444" y="484231"/>
                  </a:lnTo>
                  <a:lnTo>
                    <a:pt x="788441" y="529907"/>
                  </a:lnTo>
                  <a:lnTo>
                    <a:pt x="771620" y="572979"/>
                  </a:lnTo>
                  <a:lnTo>
                    <a:pt x="750339" y="613211"/>
                  </a:lnTo>
                  <a:lnTo>
                    <a:pt x="724956" y="650366"/>
                  </a:lnTo>
                  <a:lnTo>
                    <a:pt x="695827" y="684205"/>
                  </a:lnTo>
                  <a:lnTo>
                    <a:pt x="663311" y="714493"/>
                  </a:lnTo>
                  <a:lnTo>
                    <a:pt x="627764" y="740991"/>
                  </a:lnTo>
                  <a:lnTo>
                    <a:pt x="589544" y="763462"/>
                  </a:lnTo>
                  <a:lnTo>
                    <a:pt x="549008" y="781670"/>
                  </a:lnTo>
                  <a:lnTo>
                    <a:pt x="506514" y="795376"/>
                  </a:lnTo>
                  <a:lnTo>
                    <a:pt x="462419" y="804344"/>
                  </a:lnTo>
                  <a:lnTo>
                    <a:pt x="417081" y="808336"/>
                  </a:lnTo>
                  <a:lnTo>
                    <a:pt x="370857" y="807115"/>
                  </a:lnTo>
                  <a:lnTo>
                    <a:pt x="324104" y="800444"/>
                  </a:lnTo>
                  <a:lnTo>
                    <a:pt x="278428" y="788441"/>
                  </a:lnTo>
                  <a:lnTo>
                    <a:pt x="235356" y="771620"/>
                  </a:lnTo>
                  <a:lnTo>
                    <a:pt x="195124" y="750339"/>
                  </a:lnTo>
                  <a:lnTo>
                    <a:pt x="157969" y="724956"/>
                  </a:lnTo>
                  <a:lnTo>
                    <a:pt x="124130" y="695827"/>
                  </a:lnTo>
                  <a:lnTo>
                    <a:pt x="93842" y="663311"/>
                  </a:lnTo>
                  <a:lnTo>
                    <a:pt x="67344" y="627764"/>
                  </a:lnTo>
                  <a:lnTo>
                    <a:pt x="44873" y="589544"/>
                  </a:lnTo>
                  <a:lnTo>
                    <a:pt x="26666" y="549008"/>
                  </a:lnTo>
                  <a:lnTo>
                    <a:pt x="12959" y="506514"/>
                  </a:lnTo>
                  <a:lnTo>
                    <a:pt x="3992" y="462419"/>
                  </a:lnTo>
                  <a:lnTo>
                    <a:pt x="0" y="417081"/>
                  </a:lnTo>
                  <a:lnTo>
                    <a:pt x="1220" y="370857"/>
                  </a:lnTo>
                  <a:lnTo>
                    <a:pt x="7891" y="324104"/>
                  </a:lnTo>
                  <a:lnTo>
                    <a:pt x="19895" y="278428"/>
                  </a:lnTo>
                  <a:lnTo>
                    <a:pt x="36715" y="235356"/>
                  </a:lnTo>
                  <a:lnTo>
                    <a:pt x="57996" y="195124"/>
                  </a:lnTo>
                  <a:lnTo>
                    <a:pt x="83379" y="157969"/>
                  </a:lnTo>
                  <a:lnTo>
                    <a:pt x="112508" y="124130"/>
                  </a:lnTo>
                  <a:lnTo>
                    <a:pt x="145025" y="93842"/>
                  </a:lnTo>
                  <a:lnTo>
                    <a:pt x="180572" y="67344"/>
                  </a:lnTo>
                  <a:lnTo>
                    <a:pt x="218792" y="44873"/>
                  </a:lnTo>
                  <a:lnTo>
                    <a:pt x="259327" y="26666"/>
                  </a:lnTo>
                  <a:lnTo>
                    <a:pt x="301821" y="12959"/>
                  </a:lnTo>
                  <a:lnTo>
                    <a:pt x="345916" y="3992"/>
                  </a:lnTo>
                  <a:lnTo>
                    <a:pt x="391254" y="0"/>
                  </a:lnTo>
                  <a:lnTo>
                    <a:pt x="437478" y="1220"/>
                  </a:lnTo>
                  <a:lnTo>
                    <a:pt x="484231" y="7891"/>
                  </a:lnTo>
                  <a:close/>
                </a:path>
              </a:pathLst>
            </a:custGeom>
            <a:ln w="40428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9140423" y="2636545"/>
              <a:ext cx="199390" cy="175895"/>
            </a:xfrm>
            <a:custGeom>
              <a:avLst/>
              <a:gdLst/>
              <a:ahLst/>
              <a:cxnLst/>
              <a:rect l="l" t="t" r="r" b="b"/>
              <a:pathLst>
                <a:path w="199390" h="175894">
                  <a:moveTo>
                    <a:pt x="151848" y="0"/>
                  </a:moveTo>
                  <a:lnTo>
                    <a:pt x="0" y="135329"/>
                  </a:lnTo>
                  <a:lnTo>
                    <a:pt x="199372" y="175610"/>
                  </a:lnTo>
                  <a:lnTo>
                    <a:pt x="151848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4061571" y="5699124"/>
              <a:ext cx="1543050" cy="1445895"/>
            </a:xfrm>
            <a:custGeom>
              <a:avLst/>
              <a:gdLst/>
              <a:ahLst/>
              <a:cxnLst/>
              <a:rect l="l" t="t" r="r" b="b"/>
              <a:pathLst>
                <a:path w="1543050" h="1445895">
                  <a:moveTo>
                    <a:pt x="0" y="722656"/>
                  </a:moveTo>
                  <a:lnTo>
                    <a:pt x="1517" y="676954"/>
                  </a:lnTo>
                  <a:lnTo>
                    <a:pt x="6011" y="632007"/>
                  </a:lnTo>
                  <a:lnTo>
                    <a:pt x="13389" y="587901"/>
                  </a:lnTo>
                  <a:lnTo>
                    <a:pt x="23562" y="544719"/>
                  </a:lnTo>
                  <a:lnTo>
                    <a:pt x="36439" y="502547"/>
                  </a:lnTo>
                  <a:lnTo>
                    <a:pt x="51931" y="461468"/>
                  </a:lnTo>
                  <a:lnTo>
                    <a:pt x="69946" y="421568"/>
                  </a:lnTo>
                  <a:lnTo>
                    <a:pt x="90394" y="382931"/>
                  </a:lnTo>
                  <a:lnTo>
                    <a:pt x="113185" y="345643"/>
                  </a:lnTo>
                  <a:lnTo>
                    <a:pt x="138228" y="309787"/>
                  </a:lnTo>
                  <a:lnTo>
                    <a:pt x="165433" y="275448"/>
                  </a:lnTo>
                  <a:lnTo>
                    <a:pt x="194710" y="242711"/>
                  </a:lnTo>
                  <a:lnTo>
                    <a:pt x="225969" y="211661"/>
                  </a:lnTo>
                  <a:lnTo>
                    <a:pt x="259118" y="182382"/>
                  </a:lnTo>
                  <a:lnTo>
                    <a:pt x="294068" y="154958"/>
                  </a:lnTo>
                  <a:lnTo>
                    <a:pt x="330728" y="129475"/>
                  </a:lnTo>
                  <a:lnTo>
                    <a:pt x="369008" y="106018"/>
                  </a:lnTo>
                  <a:lnTo>
                    <a:pt x="408817" y="84670"/>
                  </a:lnTo>
                  <a:lnTo>
                    <a:pt x="450066" y="65517"/>
                  </a:lnTo>
                  <a:lnTo>
                    <a:pt x="492663" y="48643"/>
                  </a:lnTo>
                  <a:lnTo>
                    <a:pt x="536518" y="34132"/>
                  </a:lnTo>
                  <a:lnTo>
                    <a:pt x="581542" y="22070"/>
                  </a:lnTo>
                  <a:lnTo>
                    <a:pt x="627642" y="12541"/>
                  </a:lnTo>
                  <a:lnTo>
                    <a:pt x="674731" y="5630"/>
                  </a:lnTo>
                  <a:lnTo>
                    <a:pt x="722715" y="1421"/>
                  </a:lnTo>
                  <a:lnTo>
                    <a:pt x="771507" y="0"/>
                  </a:lnTo>
                  <a:lnTo>
                    <a:pt x="820298" y="1421"/>
                  </a:lnTo>
                  <a:lnTo>
                    <a:pt x="868283" y="5630"/>
                  </a:lnTo>
                  <a:lnTo>
                    <a:pt x="915371" y="12541"/>
                  </a:lnTo>
                  <a:lnTo>
                    <a:pt x="961472" y="22070"/>
                  </a:lnTo>
                  <a:lnTo>
                    <a:pt x="1006495" y="34132"/>
                  </a:lnTo>
                  <a:lnTo>
                    <a:pt x="1050351" y="48643"/>
                  </a:lnTo>
                  <a:lnTo>
                    <a:pt x="1092948" y="65517"/>
                  </a:lnTo>
                  <a:lnTo>
                    <a:pt x="1134196" y="84670"/>
                  </a:lnTo>
                  <a:lnTo>
                    <a:pt x="1174005" y="106018"/>
                  </a:lnTo>
                  <a:lnTo>
                    <a:pt x="1212285" y="129475"/>
                  </a:lnTo>
                  <a:lnTo>
                    <a:pt x="1248945" y="154958"/>
                  </a:lnTo>
                  <a:lnTo>
                    <a:pt x="1283895" y="182382"/>
                  </a:lnTo>
                  <a:lnTo>
                    <a:pt x="1317045" y="211661"/>
                  </a:lnTo>
                  <a:lnTo>
                    <a:pt x="1348303" y="242711"/>
                  </a:lnTo>
                  <a:lnTo>
                    <a:pt x="1377580" y="275448"/>
                  </a:lnTo>
                  <a:lnTo>
                    <a:pt x="1404786" y="309787"/>
                  </a:lnTo>
                  <a:lnTo>
                    <a:pt x="1429829" y="345643"/>
                  </a:lnTo>
                  <a:lnTo>
                    <a:pt x="1452620" y="382931"/>
                  </a:lnTo>
                  <a:lnTo>
                    <a:pt x="1473068" y="421568"/>
                  </a:lnTo>
                  <a:lnTo>
                    <a:pt x="1491083" y="461468"/>
                  </a:lnTo>
                  <a:lnTo>
                    <a:pt x="1506574" y="502547"/>
                  </a:lnTo>
                  <a:lnTo>
                    <a:pt x="1519451" y="544719"/>
                  </a:lnTo>
                  <a:lnTo>
                    <a:pt x="1529625" y="587901"/>
                  </a:lnTo>
                  <a:lnTo>
                    <a:pt x="1537003" y="632007"/>
                  </a:lnTo>
                  <a:lnTo>
                    <a:pt x="1541496" y="676954"/>
                  </a:lnTo>
                  <a:lnTo>
                    <a:pt x="1543014" y="722656"/>
                  </a:lnTo>
                  <a:lnTo>
                    <a:pt x="1541496" y="768358"/>
                  </a:lnTo>
                  <a:lnTo>
                    <a:pt x="1537003" y="813304"/>
                  </a:lnTo>
                  <a:lnTo>
                    <a:pt x="1529625" y="857411"/>
                  </a:lnTo>
                  <a:lnTo>
                    <a:pt x="1519451" y="900593"/>
                  </a:lnTo>
                  <a:lnTo>
                    <a:pt x="1506574" y="942765"/>
                  </a:lnTo>
                  <a:lnTo>
                    <a:pt x="1491083" y="983844"/>
                  </a:lnTo>
                  <a:lnTo>
                    <a:pt x="1473068" y="1023744"/>
                  </a:lnTo>
                  <a:lnTo>
                    <a:pt x="1452620" y="1062380"/>
                  </a:lnTo>
                  <a:lnTo>
                    <a:pt x="1429829" y="1099669"/>
                  </a:lnTo>
                  <a:lnTo>
                    <a:pt x="1404786" y="1135525"/>
                  </a:lnTo>
                  <a:lnTo>
                    <a:pt x="1377580" y="1169864"/>
                  </a:lnTo>
                  <a:lnTo>
                    <a:pt x="1348303" y="1202601"/>
                  </a:lnTo>
                  <a:lnTo>
                    <a:pt x="1317045" y="1233651"/>
                  </a:lnTo>
                  <a:lnTo>
                    <a:pt x="1283895" y="1262930"/>
                  </a:lnTo>
                  <a:lnTo>
                    <a:pt x="1248945" y="1290354"/>
                  </a:lnTo>
                  <a:lnTo>
                    <a:pt x="1212285" y="1315836"/>
                  </a:lnTo>
                  <a:lnTo>
                    <a:pt x="1174005" y="1339294"/>
                  </a:lnTo>
                  <a:lnTo>
                    <a:pt x="1134196" y="1360642"/>
                  </a:lnTo>
                  <a:lnTo>
                    <a:pt x="1092948" y="1379795"/>
                  </a:lnTo>
                  <a:lnTo>
                    <a:pt x="1050351" y="1396669"/>
                  </a:lnTo>
                  <a:lnTo>
                    <a:pt x="1006495" y="1411180"/>
                  </a:lnTo>
                  <a:lnTo>
                    <a:pt x="961472" y="1423242"/>
                  </a:lnTo>
                  <a:lnTo>
                    <a:pt x="915371" y="1432771"/>
                  </a:lnTo>
                  <a:lnTo>
                    <a:pt x="868283" y="1439682"/>
                  </a:lnTo>
                  <a:lnTo>
                    <a:pt x="820298" y="1443891"/>
                  </a:lnTo>
                  <a:lnTo>
                    <a:pt x="771507" y="1445312"/>
                  </a:lnTo>
                  <a:lnTo>
                    <a:pt x="722715" y="1443891"/>
                  </a:lnTo>
                  <a:lnTo>
                    <a:pt x="674731" y="1439682"/>
                  </a:lnTo>
                  <a:lnTo>
                    <a:pt x="627642" y="1432771"/>
                  </a:lnTo>
                  <a:lnTo>
                    <a:pt x="581542" y="1423242"/>
                  </a:lnTo>
                  <a:lnTo>
                    <a:pt x="536518" y="1411180"/>
                  </a:lnTo>
                  <a:lnTo>
                    <a:pt x="492663" y="1396669"/>
                  </a:lnTo>
                  <a:lnTo>
                    <a:pt x="450066" y="1379795"/>
                  </a:lnTo>
                  <a:lnTo>
                    <a:pt x="408817" y="1360642"/>
                  </a:lnTo>
                  <a:lnTo>
                    <a:pt x="369008" y="1339294"/>
                  </a:lnTo>
                  <a:lnTo>
                    <a:pt x="330728" y="1315836"/>
                  </a:lnTo>
                  <a:lnTo>
                    <a:pt x="294068" y="1290354"/>
                  </a:lnTo>
                  <a:lnTo>
                    <a:pt x="259118" y="1262930"/>
                  </a:lnTo>
                  <a:lnTo>
                    <a:pt x="225969" y="1233651"/>
                  </a:lnTo>
                  <a:lnTo>
                    <a:pt x="194710" y="1202601"/>
                  </a:lnTo>
                  <a:lnTo>
                    <a:pt x="165433" y="1169864"/>
                  </a:lnTo>
                  <a:lnTo>
                    <a:pt x="138228" y="1135525"/>
                  </a:lnTo>
                  <a:lnTo>
                    <a:pt x="113185" y="1099669"/>
                  </a:lnTo>
                  <a:lnTo>
                    <a:pt x="90394" y="1062380"/>
                  </a:lnTo>
                  <a:lnTo>
                    <a:pt x="69946" y="1023744"/>
                  </a:lnTo>
                  <a:lnTo>
                    <a:pt x="51931" y="983844"/>
                  </a:lnTo>
                  <a:lnTo>
                    <a:pt x="36439" y="942765"/>
                  </a:lnTo>
                  <a:lnTo>
                    <a:pt x="23562" y="900593"/>
                  </a:lnTo>
                  <a:lnTo>
                    <a:pt x="13389" y="857411"/>
                  </a:lnTo>
                  <a:lnTo>
                    <a:pt x="6011" y="813304"/>
                  </a:lnTo>
                  <a:lnTo>
                    <a:pt x="1517" y="768358"/>
                  </a:lnTo>
                  <a:lnTo>
                    <a:pt x="0" y="722656"/>
                  </a:lnTo>
                  <a:close/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12090" y="680031"/>
            <a:ext cx="7463391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18" dirty="0"/>
              <a:t>Write-</a:t>
            </a:r>
            <a:r>
              <a:rPr dirty="0"/>
              <a:t>Back</a:t>
            </a:r>
            <a:r>
              <a:rPr spc="-40" dirty="0"/>
              <a:t> </a:t>
            </a:r>
            <a:r>
              <a:rPr dirty="0"/>
              <a:t>State</a:t>
            </a:r>
            <a:r>
              <a:rPr spc="-40" dirty="0"/>
              <a:t> </a:t>
            </a:r>
            <a:r>
              <a:rPr dirty="0"/>
              <a:t>Machine</a:t>
            </a:r>
            <a:r>
              <a:rPr spc="-40" dirty="0"/>
              <a:t> </a:t>
            </a:r>
            <a:r>
              <a:rPr dirty="0"/>
              <a:t>–</a:t>
            </a:r>
            <a:r>
              <a:rPr spc="-26" dirty="0"/>
              <a:t> </a:t>
            </a:r>
            <a:r>
              <a:rPr dirty="0"/>
              <a:t>Request</a:t>
            </a:r>
            <a:r>
              <a:rPr spc="-31" dirty="0"/>
              <a:t> </a:t>
            </a:r>
            <a:r>
              <a:rPr dirty="0"/>
              <a:t>from</a:t>
            </a:r>
            <a:r>
              <a:rPr spc="-31" dirty="0"/>
              <a:t> </a:t>
            </a:r>
            <a:r>
              <a:rPr spc="-22" dirty="0"/>
              <a:t>Bus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1731" y="1224018"/>
            <a:ext cx="2576793" cy="2094797"/>
          </a:xfrm>
          <a:prstGeom prst="rect">
            <a:avLst/>
          </a:prstGeom>
        </p:spPr>
        <p:txBody>
          <a:bodyPr vert="horz" wrap="square" lIns="0" tIns="44824" rIns="0" bIns="0" rtlCol="0">
            <a:spAutoFit/>
          </a:bodyPr>
          <a:lstStyle/>
          <a:p>
            <a:pPr marL="278481" marR="412398" indent="-267835">
              <a:spcBef>
                <a:spcPts val="353"/>
              </a:spcBef>
              <a:buChar char="•"/>
              <a:tabLst>
                <a:tab pos="278481" algn="l"/>
              </a:tabLst>
            </a:pPr>
            <a:r>
              <a:rPr sz="2206" dirty="0">
                <a:solidFill>
                  <a:srgbClr val="000090"/>
                </a:solidFill>
                <a:latin typeface="Calibri"/>
                <a:cs typeface="Calibri"/>
              </a:rPr>
              <a:t>State</a:t>
            </a:r>
            <a:r>
              <a:rPr sz="2206" spc="26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06" spc="-9" dirty="0">
                <a:solidFill>
                  <a:srgbClr val="000090"/>
                </a:solidFill>
                <a:latin typeface="Calibri"/>
                <a:cs typeface="Calibri"/>
              </a:rPr>
              <a:t>machine </a:t>
            </a:r>
            <a:r>
              <a:rPr sz="2206" u="heavy" dirty="0">
                <a:solidFill>
                  <a:srgbClr val="000090"/>
                </a:solidFill>
                <a:uFill>
                  <a:solidFill>
                    <a:srgbClr val="000090"/>
                  </a:solidFill>
                </a:uFill>
                <a:latin typeface="Calibri"/>
                <a:cs typeface="Calibri"/>
              </a:rPr>
              <a:t>for</a:t>
            </a:r>
            <a:r>
              <a:rPr sz="2206" u="heavy" spc="49" dirty="0">
                <a:solidFill>
                  <a:srgbClr val="000090"/>
                </a:solidFill>
                <a:uFill>
                  <a:solidFill>
                    <a:srgbClr val="000090"/>
                  </a:solidFill>
                </a:uFill>
                <a:latin typeface="Calibri"/>
                <a:cs typeface="Calibri"/>
              </a:rPr>
              <a:t> </a:t>
            </a:r>
            <a:r>
              <a:rPr sz="2206" u="heavy" dirty="0">
                <a:solidFill>
                  <a:srgbClr val="000090"/>
                </a:solidFill>
                <a:uFill>
                  <a:solidFill>
                    <a:srgbClr val="000090"/>
                  </a:solidFill>
                </a:uFill>
                <a:latin typeface="Calibri"/>
                <a:cs typeface="Calibri"/>
              </a:rPr>
              <a:t>bus</a:t>
            </a:r>
            <a:r>
              <a:rPr sz="2206" u="heavy" spc="53" dirty="0">
                <a:solidFill>
                  <a:srgbClr val="000090"/>
                </a:solidFill>
                <a:uFill>
                  <a:solidFill>
                    <a:srgbClr val="000090"/>
                  </a:solidFill>
                </a:uFill>
                <a:latin typeface="Calibri"/>
                <a:cs typeface="Calibri"/>
              </a:rPr>
              <a:t> </a:t>
            </a:r>
            <a:r>
              <a:rPr sz="2206" u="heavy" spc="-9" dirty="0">
                <a:solidFill>
                  <a:srgbClr val="000090"/>
                </a:solidFill>
                <a:uFill>
                  <a:solidFill>
                    <a:srgbClr val="000090"/>
                  </a:solidFill>
                </a:uFill>
                <a:latin typeface="Calibri"/>
                <a:cs typeface="Calibri"/>
              </a:rPr>
              <a:t>requests</a:t>
            </a:r>
            <a:r>
              <a:rPr sz="2206" spc="-9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000090"/>
                </a:solidFill>
                <a:latin typeface="Calibri"/>
                <a:cs typeface="Calibri"/>
              </a:rPr>
              <a:t>for</a:t>
            </a:r>
            <a:r>
              <a:rPr sz="2206" spc="40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06" spc="-18" dirty="0">
                <a:solidFill>
                  <a:srgbClr val="000090"/>
                </a:solidFill>
                <a:latin typeface="Calibri"/>
                <a:cs typeface="Calibri"/>
              </a:rPr>
              <a:t>each</a:t>
            </a:r>
            <a:endParaRPr sz="2206" dirty="0">
              <a:latin typeface="Calibri"/>
              <a:cs typeface="Calibri"/>
            </a:endParaRPr>
          </a:p>
          <a:p>
            <a:pPr marL="278481" marR="4483">
              <a:spcBef>
                <a:spcPts val="93"/>
              </a:spcBef>
            </a:pPr>
            <a:r>
              <a:rPr sz="2206" dirty="0">
                <a:solidFill>
                  <a:srgbClr val="000090"/>
                </a:solidFill>
                <a:latin typeface="Calibri"/>
                <a:cs typeface="Calibri"/>
              </a:rPr>
              <a:t>cache</a:t>
            </a:r>
            <a:r>
              <a:rPr sz="2206" spc="49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000090"/>
                </a:solidFill>
                <a:latin typeface="Calibri"/>
                <a:cs typeface="Calibri"/>
              </a:rPr>
              <a:t>block</a:t>
            </a:r>
            <a:r>
              <a:rPr sz="2206" spc="44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06" spc="-9" dirty="0">
                <a:solidFill>
                  <a:srgbClr val="000090"/>
                </a:solidFill>
                <a:latin typeface="Calibri"/>
                <a:cs typeface="Calibri"/>
              </a:rPr>
              <a:t>(i.e., </a:t>
            </a:r>
            <a:r>
              <a:rPr sz="2206" dirty="0">
                <a:solidFill>
                  <a:srgbClr val="000090"/>
                </a:solidFill>
                <a:latin typeface="Calibri"/>
                <a:cs typeface="Calibri"/>
              </a:rPr>
              <a:t>another</a:t>
            </a:r>
            <a:r>
              <a:rPr sz="2206" spc="57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000090"/>
                </a:solidFill>
                <a:latin typeface="Calibri"/>
                <a:cs typeface="Calibri"/>
              </a:rPr>
              <a:t>CPU</a:t>
            </a:r>
            <a:r>
              <a:rPr sz="2206" spc="75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06" spc="-22" dirty="0">
                <a:solidFill>
                  <a:srgbClr val="000090"/>
                </a:solidFill>
                <a:latin typeface="Calibri"/>
                <a:cs typeface="Calibri"/>
              </a:rPr>
              <a:t>has </a:t>
            </a:r>
            <a:r>
              <a:rPr sz="2206" dirty="0">
                <a:solidFill>
                  <a:srgbClr val="000090"/>
                </a:solidFill>
                <a:latin typeface="Calibri"/>
                <a:cs typeface="Calibri"/>
              </a:rPr>
              <a:t>accessed</a:t>
            </a:r>
            <a:r>
              <a:rPr sz="2206" spc="66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000090"/>
                </a:solidFill>
                <a:latin typeface="Calibri"/>
                <a:cs typeface="Calibri"/>
              </a:rPr>
              <a:t>this</a:t>
            </a:r>
            <a:r>
              <a:rPr sz="2206" spc="62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206" spc="-9" dirty="0">
                <a:solidFill>
                  <a:srgbClr val="000090"/>
                </a:solidFill>
                <a:latin typeface="Calibri"/>
                <a:cs typeface="Calibri"/>
              </a:rPr>
              <a:t>block)</a:t>
            </a:r>
            <a:endParaRPr sz="2206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62883" y="2191198"/>
            <a:ext cx="69980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spc="-9" dirty="0">
                <a:latin typeface="Arial"/>
                <a:cs typeface="Arial"/>
              </a:rPr>
              <a:t>Invalid</a:t>
            </a:r>
            <a:endParaRPr sz="1677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28369" y="5289401"/>
            <a:ext cx="1104340" cy="52748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5">
              <a:spcBef>
                <a:spcPts val="88"/>
              </a:spcBef>
            </a:pPr>
            <a:r>
              <a:rPr sz="1677" b="1" spc="-9" dirty="0">
                <a:latin typeface="Arial"/>
                <a:cs typeface="Arial"/>
              </a:rPr>
              <a:t>Modified</a:t>
            </a:r>
            <a:endParaRPr sz="1677">
              <a:latin typeface="Arial"/>
              <a:cs typeface="Arial"/>
            </a:endParaRPr>
          </a:p>
          <a:p>
            <a:pPr marL="11206"/>
            <a:r>
              <a:rPr sz="1677" spc="-9" dirty="0">
                <a:latin typeface="Arial MT"/>
                <a:cs typeface="Arial MT"/>
              </a:rPr>
              <a:t>(read/write)</a:t>
            </a:r>
            <a:endParaRPr sz="1677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53104" y="1787058"/>
            <a:ext cx="3829050" cy="3493994"/>
            <a:chOff x="4829709" y="2046922"/>
            <a:chExt cx="4339590" cy="3959860"/>
          </a:xfrm>
        </p:grpSpPr>
        <p:sp>
          <p:nvSpPr>
            <p:cNvPr id="12" name="object 12"/>
            <p:cNvSpPr/>
            <p:nvPr/>
          </p:nvSpPr>
          <p:spPr>
            <a:xfrm>
              <a:off x="7700121" y="2060575"/>
              <a:ext cx="1455420" cy="1377950"/>
            </a:xfrm>
            <a:custGeom>
              <a:avLst/>
              <a:gdLst/>
              <a:ahLst/>
              <a:cxnLst/>
              <a:rect l="l" t="t" r="r" b="b"/>
              <a:pathLst>
                <a:path w="1455420" h="1377950">
                  <a:moveTo>
                    <a:pt x="727709" y="0"/>
                  </a:moveTo>
                  <a:lnTo>
                    <a:pt x="677886" y="1589"/>
                  </a:lnTo>
                  <a:lnTo>
                    <a:pt x="628964" y="6289"/>
                  </a:lnTo>
                  <a:lnTo>
                    <a:pt x="581051" y="13997"/>
                  </a:lnTo>
                  <a:lnTo>
                    <a:pt x="534255" y="24610"/>
                  </a:lnTo>
                  <a:lnTo>
                    <a:pt x="488686" y="38026"/>
                  </a:lnTo>
                  <a:lnTo>
                    <a:pt x="444452" y="54142"/>
                  </a:lnTo>
                  <a:lnTo>
                    <a:pt x="401661" y="72855"/>
                  </a:lnTo>
                  <a:lnTo>
                    <a:pt x="360420" y="94063"/>
                  </a:lnTo>
                  <a:lnTo>
                    <a:pt x="320840" y="117664"/>
                  </a:lnTo>
                  <a:lnTo>
                    <a:pt x="283028" y="143554"/>
                  </a:lnTo>
                  <a:lnTo>
                    <a:pt x="247092" y="171631"/>
                  </a:lnTo>
                  <a:lnTo>
                    <a:pt x="213141" y="201793"/>
                  </a:lnTo>
                  <a:lnTo>
                    <a:pt x="181283" y="233936"/>
                  </a:lnTo>
                  <a:lnTo>
                    <a:pt x="151627" y="267959"/>
                  </a:lnTo>
                  <a:lnTo>
                    <a:pt x="124281" y="303758"/>
                  </a:lnTo>
                  <a:lnTo>
                    <a:pt x="99353" y="341231"/>
                  </a:lnTo>
                  <a:lnTo>
                    <a:pt x="76952" y="380275"/>
                  </a:lnTo>
                  <a:lnTo>
                    <a:pt x="57187" y="420789"/>
                  </a:lnTo>
                  <a:lnTo>
                    <a:pt x="40164" y="462668"/>
                  </a:lnTo>
                  <a:lnTo>
                    <a:pt x="25994" y="505811"/>
                  </a:lnTo>
                  <a:lnTo>
                    <a:pt x="14784" y="550115"/>
                  </a:lnTo>
                  <a:lnTo>
                    <a:pt x="6643" y="595477"/>
                  </a:lnTo>
                  <a:lnTo>
                    <a:pt x="1678" y="641795"/>
                  </a:lnTo>
                  <a:lnTo>
                    <a:pt x="0" y="688966"/>
                  </a:lnTo>
                  <a:lnTo>
                    <a:pt x="1678" y="736137"/>
                  </a:lnTo>
                  <a:lnTo>
                    <a:pt x="6643" y="782454"/>
                  </a:lnTo>
                  <a:lnTo>
                    <a:pt x="14784" y="827816"/>
                  </a:lnTo>
                  <a:lnTo>
                    <a:pt x="25994" y="872120"/>
                  </a:lnTo>
                  <a:lnTo>
                    <a:pt x="40164" y="915263"/>
                  </a:lnTo>
                  <a:lnTo>
                    <a:pt x="57187" y="957143"/>
                  </a:lnTo>
                  <a:lnTo>
                    <a:pt x="76952" y="997656"/>
                  </a:lnTo>
                  <a:lnTo>
                    <a:pt x="99353" y="1036700"/>
                  </a:lnTo>
                  <a:lnTo>
                    <a:pt x="124281" y="1074173"/>
                  </a:lnTo>
                  <a:lnTo>
                    <a:pt x="151627" y="1109972"/>
                  </a:lnTo>
                  <a:lnTo>
                    <a:pt x="181283" y="1143995"/>
                  </a:lnTo>
                  <a:lnTo>
                    <a:pt x="213141" y="1176138"/>
                  </a:lnTo>
                  <a:lnTo>
                    <a:pt x="247092" y="1206300"/>
                  </a:lnTo>
                  <a:lnTo>
                    <a:pt x="283028" y="1234377"/>
                  </a:lnTo>
                  <a:lnTo>
                    <a:pt x="320840" y="1260267"/>
                  </a:lnTo>
                  <a:lnTo>
                    <a:pt x="360420" y="1283868"/>
                  </a:lnTo>
                  <a:lnTo>
                    <a:pt x="401661" y="1305076"/>
                  </a:lnTo>
                  <a:lnTo>
                    <a:pt x="444452" y="1323789"/>
                  </a:lnTo>
                  <a:lnTo>
                    <a:pt x="488686" y="1339905"/>
                  </a:lnTo>
                  <a:lnTo>
                    <a:pt x="534255" y="1353321"/>
                  </a:lnTo>
                  <a:lnTo>
                    <a:pt x="581051" y="1363934"/>
                  </a:lnTo>
                  <a:lnTo>
                    <a:pt x="628964" y="1371642"/>
                  </a:lnTo>
                  <a:lnTo>
                    <a:pt x="677886" y="1376342"/>
                  </a:lnTo>
                  <a:lnTo>
                    <a:pt x="727709" y="1377932"/>
                  </a:lnTo>
                  <a:lnTo>
                    <a:pt x="777533" y="1376342"/>
                  </a:lnTo>
                  <a:lnTo>
                    <a:pt x="826455" y="1371642"/>
                  </a:lnTo>
                  <a:lnTo>
                    <a:pt x="874368" y="1363934"/>
                  </a:lnTo>
                  <a:lnTo>
                    <a:pt x="921164" y="1353321"/>
                  </a:lnTo>
                  <a:lnTo>
                    <a:pt x="966733" y="1339905"/>
                  </a:lnTo>
                  <a:lnTo>
                    <a:pt x="1010967" y="1323789"/>
                  </a:lnTo>
                  <a:lnTo>
                    <a:pt x="1053758" y="1305076"/>
                  </a:lnTo>
                  <a:lnTo>
                    <a:pt x="1094999" y="1283868"/>
                  </a:lnTo>
                  <a:lnTo>
                    <a:pt x="1134579" y="1260267"/>
                  </a:lnTo>
                  <a:lnTo>
                    <a:pt x="1172391" y="1234377"/>
                  </a:lnTo>
                  <a:lnTo>
                    <a:pt x="1208327" y="1206300"/>
                  </a:lnTo>
                  <a:lnTo>
                    <a:pt x="1242278" y="1176138"/>
                  </a:lnTo>
                  <a:lnTo>
                    <a:pt x="1274136" y="1143995"/>
                  </a:lnTo>
                  <a:lnTo>
                    <a:pt x="1303792" y="1109972"/>
                  </a:lnTo>
                  <a:lnTo>
                    <a:pt x="1331138" y="1074173"/>
                  </a:lnTo>
                  <a:lnTo>
                    <a:pt x="1356066" y="1036700"/>
                  </a:lnTo>
                  <a:lnTo>
                    <a:pt x="1378467" y="997656"/>
                  </a:lnTo>
                  <a:lnTo>
                    <a:pt x="1398232" y="957143"/>
                  </a:lnTo>
                  <a:lnTo>
                    <a:pt x="1415255" y="915263"/>
                  </a:lnTo>
                  <a:lnTo>
                    <a:pt x="1429425" y="872120"/>
                  </a:lnTo>
                  <a:lnTo>
                    <a:pt x="1440635" y="827816"/>
                  </a:lnTo>
                  <a:lnTo>
                    <a:pt x="1448776" y="782454"/>
                  </a:lnTo>
                  <a:lnTo>
                    <a:pt x="1453741" y="736137"/>
                  </a:lnTo>
                  <a:lnTo>
                    <a:pt x="1455420" y="688966"/>
                  </a:lnTo>
                  <a:lnTo>
                    <a:pt x="1453741" y="641795"/>
                  </a:lnTo>
                  <a:lnTo>
                    <a:pt x="1448776" y="595477"/>
                  </a:lnTo>
                  <a:lnTo>
                    <a:pt x="1440635" y="550115"/>
                  </a:lnTo>
                  <a:lnTo>
                    <a:pt x="1429425" y="505811"/>
                  </a:lnTo>
                  <a:lnTo>
                    <a:pt x="1415255" y="462668"/>
                  </a:lnTo>
                  <a:lnTo>
                    <a:pt x="1398232" y="420789"/>
                  </a:lnTo>
                  <a:lnTo>
                    <a:pt x="1378467" y="380275"/>
                  </a:lnTo>
                  <a:lnTo>
                    <a:pt x="1356066" y="341231"/>
                  </a:lnTo>
                  <a:lnTo>
                    <a:pt x="1331138" y="303758"/>
                  </a:lnTo>
                  <a:lnTo>
                    <a:pt x="1303792" y="267959"/>
                  </a:lnTo>
                  <a:lnTo>
                    <a:pt x="1274136" y="233936"/>
                  </a:lnTo>
                  <a:lnTo>
                    <a:pt x="1242278" y="201793"/>
                  </a:lnTo>
                  <a:lnTo>
                    <a:pt x="1208327" y="171631"/>
                  </a:lnTo>
                  <a:lnTo>
                    <a:pt x="1172391" y="143554"/>
                  </a:lnTo>
                  <a:lnTo>
                    <a:pt x="1134579" y="117664"/>
                  </a:lnTo>
                  <a:lnTo>
                    <a:pt x="1094999" y="94063"/>
                  </a:lnTo>
                  <a:lnTo>
                    <a:pt x="1053758" y="72855"/>
                  </a:lnTo>
                  <a:lnTo>
                    <a:pt x="1010967" y="54142"/>
                  </a:lnTo>
                  <a:lnTo>
                    <a:pt x="966733" y="38026"/>
                  </a:lnTo>
                  <a:lnTo>
                    <a:pt x="921164" y="24610"/>
                  </a:lnTo>
                  <a:lnTo>
                    <a:pt x="874368" y="13997"/>
                  </a:lnTo>
                  <a:lnTo>
                    <a:pt x="826455" y="6289"/>
                  </a:lnTo>
                  <a:lnTo>
                    <a:pt x="777533" y="1589"/>
                  </a:lnTo>
                  <a:lnTo>
                    <a:pt x="7277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7700121" y="2060575"/>
              <a:ext cx="1455420" cy="1377950"/>
            </a:xfrm>
            <a:custGeom>
              <a:avLst/>
              <a:gdLst/>
              <a:ahLst/>
              <a:cxnLst/>
              <a:rect l="l" t="t" r="r" b="b"/>
              <a:pathLst>
                <a:path w="1455420" h="1377950">
                  <a:moveTo>
                    <a:pt x="0" y="688966"/>
                  </a:moveTo>
                  <a:lnTo>
                    <a:pt x="1678" y="641795"/>
                  </a:lnTo>
                  <a:lnTo>
                    <a:pt x="6643" y="595477"/>
                  </a:lnTo>
                  <a:lnTo>
                    <a:pt x="14784" y="550115"/>
                  </a:lnTo>
                  <a:lnTo>
                    <a:pt x="25994" y="505811"/>
                  </a:lnTo>
                  <a:lnTo>
                    <a:pt x="40164" y="462668"/>
                  </a:lnTo>
                  <a:lnTo>
                    <a:pt x="57187" y="420789"/>
                  </a:lnTo>
                  <a:lnTo>
                    <a:pt x="76952" y="380276"/>
                  </a:lnTo>
                  <a:lnTo>
                    <a:pt x="99353" y="341231"/>
                  </a:lnTo>
                  <a:lnTo>
                    <a:pt x="124281" y="303758"/>
                  </a:lnTo>
                  <a:lnTo>
                    <a:pt x="151627" y="267959"/>
                  </a:lnTo>
                  <a:lnTo>
                    <a:pt x="181283" y="233936"/>
                  </a:lnTo>
                  <a:lnTo>
                    <a:pt x="213141" y="201793"/>
                  </a:lnTo>
                  <a:lnTo>
                    <a:pt x="247092" y="171631"/>
                  </a:lnTo>
                  <a:lnTo>
                    <a:pt x="283028" y="143554"/>
                  </a:lnTo>
                  <a:lnTo>
                    <a:pt x="320840" y="117664"/>
                  </a:lnTo>
                  <a:lnTo>
                    <a:pt x="360420" y="94064"/>
                  </a:lnTo>
                  <a:lnTo>
                    <a:pt x="401660" y="72855"/>
                  </a:lnTo>
                  <a:lnTo>
                    <a:pt x="444452" y="54142"/>
                  </a:lnTo>
                  <a:lnTo>
                    <a:pt x="488686" y="38026"/>
                  </a:lnTo>
                  <a:lnTo>
                    <a:pt x="534255" y="24610"/>
                  </a:lnTo>
                  <a:lnTo>
                    <a:pt x="581050" y="13997"/>
                  </a:lnTo>
                  <a:lnTo>
                    <a:pt x="628963" y="6289"/>
                  </a:lnTo>
                  <a:lnTo>
                    <a:pt x="677886" y="1589"/>
                  </a:lnTo>
                  <a:lnTo>
                    <a:pt x="727709" y="0"/>
                  </a:lnTo>
                  <a:lnTo>
                    <a:pt x="777533" y="1589"/>
                  </a:lnTo>
                  <a:lnTo>
                    <a:pt x="826455" y="6289"/>
                  </a:lnTo>
                  <a:lnTo>
                    <a:pt x="874368" y="13997"/>
                  </a:lnTo>
                  <a:lnTo>
                    <a:pt x="921164" y="24610"/>
                  </a:lnTo>
                  <a:lnTo>
                    <a:pt x="966733" y="38026"/>
                  </a:lnTo>
                  <a:lnTo>
                    <a:pt x="1010967" y="54142"/>
                  </a:lnTo>
                  <a:lnTo>
                    <a:pt x="1053758" y="72855"/>
                  </a:lnTo>
                  <a:lnTo>
                    <a:pt x="1094999" y="94064"/>
                  </a:lnTo>
                  <a:lnTo>
                    <a:pt x="1134579" y="117664"/>
                  </a:lnTo>
                  <a:lnTo>
                    <a:pt x="1172391" y="143554"/>
                  </a:lnTo>
                  <a:lnTo>
                    <a:pt x="1208327" y="171631"/>
                  </a:lnTo>
                  <a:lnTo>
                    <a:pt x="1242278" y="201793"/>
                  </a:lnTo>
                  <a:lnTo>
                    <a:pt x="1274136" y="233936"/>
                  </a:lnTo>
                  <a:lnTo>
                    <a:pt x="1303792" y="267959"/>
                  </a:lnTo>
                  <a:lnTo>
                    <a:pt x="1331138" y="303758"/>
                  </a:lnTo>
                  <a:lnTo>
                    <a:pt x="1356066" y="341231"/>
                  </a:lnTo>
                  <a:lnTo>
                    <a:pt x="1378467" y="380276"/>
                  </a:lnTo>
                  <a:lnTo>
                    <a:pt x="1398232" y="420789"/>
                  </a:lnTo>
                  <a:lnTo>
                    <a:pt x="1415255" y="462668"/>
                  </a:lnTo>
                  <a:lnTo>
                    <a:pt x="1429425" y="505811"/>
                  </a:lnTo>
                  <a:lnTo>
                    <a:pt x="1440635" y="550115"/>
                  </a:lnTo>
                  <a:lnTo>
                    <a:pt x="1448776" y="595477"/>
                  </a:lnTo>
                  <a:lnTo>
                    <a:pt x="1453741" y="641795"/>
                  </a:lnTo>
                  <a:lnTo>
                    <a:pt x="1455419" y="688966"/>
                  </a:lnTo>
                  <a:lnTo>
                    <a:pt x="1453741" y="736136"/>
                  </a:lnTo>
                  <a:lnTo>
                    <a:pt x="1448776" y="782454"/>
                  </a:lnTo>
                  <a:lnTo>
                    <a:pt x="1440635" y="827816"/>
                  </a:lnTo>
                  <a:lnTo>
                    <a:pt x="1429425" y="872120"/>
                  </a:lnTo>
                  <a:lnTo>
                    <a:pt x="1415255" y="915263"/>
                  </a:lnTo>
                  <a:lnTo>
                    <a:pt x="1398232" y="957142"/>
                  </a:lnTo>
                  <a:lnTo>
                    <a:pt x="1378467" y="997655"/>
                  </a:lnTo>
                  <a:lnTo>
                    <a:pt x="1356066" y="1036700"/>
                  </a:lnTo>
                  <a:lnTo>
                    <a:pt x="1331138" y="1074173"/>
                  </a:lnTo>
                  <a:lnTo>
                    <a:pt x="1303792" y="1109972"/>
                  </a:lnTo>
                  <a:lnTo>
                    <a:pt x="1274136" y="1143995"/>
                  </a:lnTo>
                  <a:lnTo>
                    <a:pt x="1242278" y="1176138"/>
                  </a:lnTo>
                  <a:lnTo>
                    <a:pt x="1208327" y="1206300"/>
                  </a:lnTo>
                  <a:lnTo>
                    <a:pt x="1172391" y="1234377"/>
                  </a:lnTo>
                  <a:lnTo>
                    <a:pt x="1134579" y="1260267"/>
                  </a:lnTo>
                  <a:lnTo>
                    <a:pt x="1094999" y="1283868"/>
                  </a:lnTo>
                  <a:lnTo>
                    <a:pt x="1053758" y="1305076"/>
                  </a:lnTo>
                  <a:lnTo>
                    <a:pt x="1010967" y="1323789"/>
                  </a:lnTo>
                  <a:lnTo>
                    <a:pt x="966733" y="1339905"/>
                  </a:lnTo>
                  <a:lnTo>
                    <a:pt x="921164" y="1353321"/>
                  </a:lnTo>
                  <a:lnTo>
                    <a:pt x="874368" y="1363934"/>
                  </a:lnTo>
                  <a:lnTo>
                    <a:pt x="826455" y="1371642"/>
                  </a:lnTo>
                  <a:lnTo>
                    <a:pt x="777533" y="1376342"/>
                  </a:lnTo>
                  <a:lnTo>
                    <a:pt x="727709" y="1377932"/>
                  </a:lnTo>
                  <a:lnTo>
                    <a:pt x="677886" y="1376342"/>
                  </a:lnTo>
                  <a:lnTo>
                    <a:pt x="628963" y="1371642"/>
                  </a:lnTo>
                  <a:lnTo>
                    <a:pt x="581050" y="1363934"/>
                  </a:lnTo>
                  <a:lnTo>
                    <a:pt x="534255" y="1353321"/>
                  </a:lnTo>
                  <a:lnTo>
                    <a:pt x="488686" y="1339905"/>
                  </a:lnTo>
                  <a:lnTo>
                    <a:pt x="444452" y="1323789"/>
                  </a:lnTo>
                  <a:lnTo>
                    <a:pt x="401660" y="1305076"/>
                  </a:lnTo>
                  <a:lnTo>
                    <a:pt x="360420" y="1283868"/>
                  </a:lnTo>
                  <a:lnTo>
                    <a:pt x="320840" y="1260267"/>
                  </a:lnTo>
                  <a:lnTo>
                    <a:pt x="283028" y="1234377"/>
                  </a:lnTo>
                  <a:lnTo>
                    <a:pt x="247092" y="1206300"/>
                  </a:lnTo>
                  <a:lnTo>
                    <a:pt x="213141" y="1176138"/>
                  </a:lnTo>
                  <a:lnTo>
                    <a:pt x="181283" y="1143995"/>
                  </a:lnTo>
                  <a:lnTo>
                    <a:pt x="151627" y="1109972"/>
                  </a:lnTo>
                  <a:lnTo>
                    <a:pt x="124281" y="1074173"/>
                  </a:lnTo>
                  <a:lnTo>
                    <a:pt x="99353" y="1036700"/>
                  </a:lnTo>
                  <a:lnTo>
                    <a:pt x="76952" y="997655"/>
                  </a:lnTo>
                  <a:lnTo>
                    <a:pt x="57187" y="957142"/>
                  </a:lnTo>
                  <a:lnTo>
                    <a:pt x="40164" y="915263"/>
                  </a:lnTo>
                  <a:lnTo>
                    <a:pt x="25994" y="872120"/>
                  </a:lnTo>
                  <a:lnTo>
                    <a:pt x="14784" y="827816"/>
                  </a:lnTo>
                  <a:lnTo>
                    <a:pt x="6643" y="782454"/>
                  </a:lnTo>
                  <a:lnTo>
                    <a:pt x="1678" y="736136"/>
                  </a:lnTo>
                  <a:lnTo>
                    <a:pt x="0" y="688966"/>
                  </a:lnTo>
                  <a:close/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4829708" y="2692882"/>
              <a:ext cx="2790190" cy="2925445"/>
            </a:xfrm>
            <a:custGeom>
              <a:avLst/>
              <a:gdLst/>
              <a:ahLst/>
              <a:cxnLst/>
              <a:rect l="l" t="t" r="r" b="b"/>
              <a:pathLst>
                <a:path w="2790190" h="2925445">
                  <a:moveTo>
                    <a:pt x="80848" y="823112"/>
                  </a:moveTo>
                  <a:lnTo>
                    <a:pt x="74117" y="809637"/>
                  </a:lnTo>
                  <a:lnTo>
                    <a:pt x="40424" y="742264"/>
                  </a:lnTo>
                  <a:lnTo>
                    <a:pt x="0" y="823112"/>
                  </a:lnTo>
                  <a:lnTo>
                    <a:pt x="26949" y="823112"/>
                  </a:lnTo>
                  <a:lnTo>
                    <a:pt x="26949" y="2925394"/>
                  </a:lnTo>
                  <a:lnTo>
                    <a:pt x="53898" y="2925394"/>
                  </a:lnTo>
                  <a:lnTo>
                    <a:pt x="53898" y="823112"/>
                  </a:lnTo>
                  <a:lnTo>
                    <a:pt x="80848" y="823112"/>
                  </a:lnTo>
                  <a:close/>
                </a:path>
                <a:path w="2790190" h="2925445">
                  <a:moveTo>
                    <a:pt x="2789732" y="28028"/>
                  </a:moveTo>
                  <a:lnTo>
                    <a:pt x="2789377" y="1079"/>
                  </a:lnTo>
                  <a:lnTo>
                    <a:pt x="848804" y="26949"/>
                  </a:lnTo>
                  <a:lnTo>
                    <a:pt x="848461" y="1079"/>
                  </a:lnTo>
                  <a:lnTo>
                    <a:pt x="848448" y="0"/>
                  </a:lnTo>
                  <a:lnTo>
                    <a:pt x="835685" y="6604"/>
                  </a:lnTo>
                  <a:lnTo>
                    <a:pt x="835685" y="53898"/>
                  </a:lnTo>
                  <a:lnTo>
                    <a:pt x="835685" y="54076"/>
                  </a:lnTo>
                  <a:lnTo>
                    <a:pt x="835418" y="34137"/>
                  </a:lnTo>
                  <a:lnTo>
                    <a:pt x="835685" y="53898"/>
                  </a:lnTo>
                  <a:lnTo>
                    <a:pt x="835685" y="6604"/>
                  </a:lnTo>
                  <a:lnTo>
                    <a:pt x="768134" y="41503"/>
                  </a:lnTo>
                  <a:lnTo>
                    <a:pt x="849528" y="80848"/>
                  </a:lnTo>
                  <a:lnTo>
                    <a:pt x="849160" y="54076"/>
                  </a:lnTo>
                  <a:lnTo>
                    <a:pt x="849160" y="53898"/>
                  </a:lnTo>
                  <a:lnTo>
                    <a:pt x="2789732" y="28028"/>
                  </a:lnTo>
                  <a:close/>
                </a:path>
              </a:pathLst>
            </a:custGeom>
            <a:solidFill>
              <a:srgbClr val="0FEFEA"/>
            </a:solidFill>
          </p:spPr>
          <p:txBody>
            <a:bodyPr wrap="square" lIns="0" tIns="0" rIns="0" bIns="0" rtlCol="0"/>
            <a:lstStyle/>
            <a:p>
              <a:endParaRPr sz="1588"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5530897" y="3435139"/>
              <a:ext cx="2493010" cy="2571750"/>
            </a:xfrm>
            <a:custGeom>
              <a:avLst/>
              <a:gdLst/>
              <a:ahLst/>
              <a:cxnLst/>
              <a:rect l="l" t="t" r="r" b="b"/>
              <a:pathLst>
                <a:path w="2493009" h="2571750">
                  <a:moveTo>
                    <a:pt x="2426703" y="48685"/>
                  </a:moveTo>
                  <a:lnTo>
                    <a:pt x="0" y="2552767"/>
                  </a:lnTo>
                  <a:lnTo>
                    <a:pt x="19354" y="2571523"/>
                  </a:lnTo>
                  <a:lnTo>
                    <a:pt x="2446058" y="67442"/>
                  </a:lnTo>
                  <a:lnTo>
                    <a:pt x="2426703" y="48685"/>
                  </a:lnTo>
                  <a:close/>
                </a:path>
                <a:path w="2493009" h="2571750">
                  <a:moveTo>
                    <a:pt x="2480326" y="39001"/>
                  </a:moveTo>
                  <a:lnTo>
                    <a:pt x="2436088" y="39001"/>
                  </a:lnTo>
                  <a:lnTo>
                    <a:pt x="2455443" y="57758"/>
                  </a:lnTo>
                  <a:lnTo>
                    <a:pt x="2446058" y="67442"/>
                  </a:lnTo>
                  <a:lnTo>
                    <a:pt x="2465412" y="86198"/>
                  </a:lnTo>
                  <a:lnTo>
                    <a:pt x="2480326" y="39001"/>
                  </a:lnTo>
                  <a:close/>
                </a:path>
                <a:path w="2493009" h="2571750">
                  <a:moveTo>
                    <a:pt x="2436088" y="39001"/>
                  </a:moveTo>
                  <a:lnTo>
                    <a:pt x="2426703" y="48685"/>
                  </a:lnTo>
                  <a:lnTo>
                    <a:pt x="2446058" y="67442"/>
                  </a:lnTo>
                  <a:lnTo>
                    <a:pt x="2455443" y="57758"/>
                  </a:lnTo>
                  <a:lnTo>
                    <a:pt x="2436088" y="39001"/>
                  </a:lnTo>
                  <a:close/>
                </a:path>
                <a:path w="2493009" h="2571750">
                  <a:moveTo>
                    <a:pt x="2492650" y="0"/>
                  </a:moveTo>
                  <a:lnTo>
                    <a:pt x="2407348" y="29928"/>
                  </a:lnTo>
                  <a:lnTo>
                    <a:pt x="2426703" y="48685"/>
                  </a:lnTo>
                  <a:lnTo>
                    <a:pt x="2436088" y="39001"/>
                  </a:lnTo>
                  <a:lnTo>
                    <a:pt x="2480326" y="39001"/>
                  </a:lnTo>
                  <a:lnTo>
                    <a:pt x="2492650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361108" y="1524225"/>
            <a:ext cx="1222562" cy="774273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>
              <a:lnSpc>
                <a:spcPct val="101099"/>
              </a:lnSpc>
              <a:spcBef>
                <a:spcPts val="66"/>
              </a:spcBef>
            </a:pPr>
            <a:r>
              <a:rPr sz="1677" spc="-9" dirty="0">
                <a:solidFill>
                  <a:srgbClr val="FF0000"/>
                </a:solidFill>
                <a:latin typeface="Arial MT"/>
                <a:cs typeface="Arial MT"/>
              </a:rPr>
              <a:t>Invalidate </a:t>
            </a:r>
            <a:r>
              <a:rPr sz="1677" dirty="0">
                <a:solidFill>
                  <a:srgbClr val="0BADA9"/>
                </a:solidFill>
                <a:latin typeface="Arial MT"/>
                <a:cs typeface="Arial MT"/>
              </a:rPr>
              <a:t>Write</a:t>
            </a:r>
            <a:r>
              <a:rPr sz="1677" spc="-31" dirty="0">
                <a:solidFill>
                  <a:srgbClr val="0BADA9"/>
                </a:solidFill>
                <a:latin typeface="Arial MT"/>
                <a:cs typeface="Arial MT"/>
              </a:rPr>
              <a:t> </a:t>
            </a:r>
            <a:r>
              <a:rPr sz="1677" spc="-18" dirty="0">
                <a:solidFill>
                  <a:srgbClr val="0BADA9"/>
                </a:solidFill>
                <a:latin typeface="Arial MT"/>
                <a:cs typeface="Arial MT"/>
              </a:rPr>
              <a:t>miss </a:t>
            </a: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for</a:t>
            </a:r>
            <a:r>
              <a:rPr sz="1677" spc="-22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this</a:t>
            </a:r>
            <a:r>
              <a:rPr sz="1677" spc="-18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spc="-9" dirty="0">
                <a:solidFill>
                  <a:srgbClr val="FC0128"/>
                </a:solidFill>
                <a:latin typeface="Arial MT"/>
                <a:cs typeface="Arial MT"/>
              </a:rPr>
              <a:t>block</a:t>
            </a:r>
            <a:endParaRPr sz="1677" dirty="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85244" y="5676675"/>
            <a:ext cx="2210360" cy="513624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>
              <a:lnSpc>
                <a:spcPct val="101099"/>
              </a:lnSpc>
              <a:spcBef>
                <a:spcPts val="66"/>
              </a:spcBef>
            </a:pPr>
            <a:r>
              <a:rPr sz="1677" u="sng" dirty="0">
                <a:solidFill>
                  <a:srgbClr val="FC0128"/>
                </a:solidFill>
                <a:uFill>
                  <a:solidFill>
                    <a:srgbClr val="FC0128"/>
                  </a:solidFill>
                </a:uFill>
                <a:latin typeface="Arial MT"/>
                <a:cs typeface="Arial MT"/>
              </a:rPr>
              <a:t>Write</a:t>
            </a:r>
            <a:r>
              <a:rPr sz="1677" u="sng" spc="-18" dirty="0">
                <a:solidFill>
                  <a:srgbClr val="FC0128"/>
                </a:solidFill>
                <a:uFill>
                  <a:solidFill>
                    <a:srgbClr val="FC0128"/>
                  </a:solidFill>
                </a:uFill>
                <a:latin typeface="Arial MT"/>
                <a:cs typeface="Arial MT"/>
              </a:rPr>
              <a:t> </a:t>
            </a:r>
            <a:r>
              <a:rPr sz="1677" u="sng" dirty="0">
                <a:solidFill>
                  <a:srgbClr val="FC0128"/>
                </a:solidFill>
                <a:uFill>
                  <a:solidFill>
                    <a:srgbClr val="FC0128"/>
                  </a:solidFill>
                </a:uFill>
                <a:latin typeface="Arial MT"/>
                <a:cs typeface="Arial MT"/>
              </a:rPr>
              <a:t>Back</a:t>
            </a:r>
            <a:r>
              <a:rPr sz="1677" u="sng" spc="-18" dirty="0">
                <a:solidFill>
                  <a:srgbClr val="FC0128"/>
                </a:solidFill>
                <a:uFill>
                  <a:solidFill>
                    <a:srgbClr val="FC0128"/>
                  </a:solidFill>
                </a:uFill>
                <a:latin typeface="Arial MT"/>
                <a:cs typeface="Arial MT"/>
              </a:rPr>
              <a:t> </a:t>
            </a:r>
            <a:r>
              <a:rPr sz="1677" u="sng" spc="-9" dirty="0">
                <a:solidFill>
                  <a:srgbClr val="FC0128"/>
                </a:solidFill>
                <a:uFill>
                  <a:solidFill>
                    <a:srgbClr val="FC0128"/>
                  </a:solidFill>
                </a:uFill>
                <a:latin typeface="Arial MT"/>
                <a:cs typeface="Arial MT"/>
              </a:rPr>
              <a:t>Block</a:t>
            </a:r>
            <a:r>
              <a:rPr sz="1677" spc="-9" dirty="0">
                <a:solidFill>
                  <a:srgbClr val="FC0128"/>
                </a:solidFill>
                <a:latin typeface="Arial MT"/>
                <a:cs typeface="Arial MT"/>
              </a:rPr>
              <a:t>; </a:t>
            </a: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(abort</a:t>
            </a:r>
            <a:r>
              <a:rPr sz="1677" spc="-49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memory</a:t>
            </a:r>
            <a:r>
              <a:rPr sz="1677" spc="-44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spc="-9" dirty="0">
                <a:solidFill>
                  <a:srgbClr val="FC0128"/>
                </a:solidFill>
                <a:latin typeface="Arial MT"/>
                <a:cs typeface="Arial MT"/>
              </a:rPr>
              <a:t>access)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20914" y="3186281"/>
            <a:ext cx="1732990" cy="6902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spcBef>
                <a:spcPts val="88"/>
              </a:spcBef>
            </a:pPr>
            <a:r>
              <a:rPr sz="2206" b="1" dirty="0">
                <a:solidFill>
                  <a:srgbClr val="FC0128"/>
                </a:solidFill>
                <a:latin typeface="Arial"/>
                <a:cs typeface="Arial"/>
              </a:rPr>
              <a:t>Cache</a:t>
            </a:r>
            <a:r>
              <a:rPr sz="2206" b="1" spc="115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2206" b="1" spc="-18" dirty="0">
                <a:solidFill>
                  <a:srgbClr val="FC0128"/>
                </a:solidFill>
                <a:latin typeface="Arial"/>
                <a:cs typeface="Arial"/>
              </a:rPr>
              <a:t>Block </a:t>
            </a:r>
            <a:r>
              <a:rPr sz="2206" b="1" spc="-9" dirty="0">
                <a:solidFill>
                  <a:srgbClr val="FC0128"/>
                </a:solidFill>
                <a:latin typeface="Arial"/>
                <a:cs typeface="Arial"/>
              </a:rPr>
              <a:t>States</a:t>
            </a:r>
            <a:endParaRPr sz="2206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47297" y="3500942"/>
            <a:ext cx="1695450" cy="1155595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 indent="677432" algn="r">
              <a:lnSpc>
                <a:spcPct val="101099"/>
              </a:lnSpc>
              <a:spcBef>
                <a:spcPts val="66"/>
              </a:spcBef>
            </a:pPr>
            <a:r>
              <a:rPr sz="1677" dirty="0">
                <a:solidFill>
                  <a:srgbClr val="0BADA9"/>
                </a:solidFill>
                <a:latin typeface="Arial MT"/>
                <a:cs typeface="Arial MT"/>
              </a:rPr>
              <a:t>Write</a:t>
            </a:r>
            <a:r>
              <a:rPr sz="1677" spc="-31" dirty="0">
                <a:solidFill>
                  <a:srgbClr val="0BADA9"/>
                </a:solidFill>
                <a:latin typeface="Arial MT"/>
                <a:cs typeface="Arial MT"/>
              </a:rPr>
              <a:t> </a:t>
            </a:r>
            <a:r>
              <a:rPr sz="1677" spc="-18" dirty="0">
                <a:solidFill>
                  <a:srgbClr val="0BADA9"/>
                </a:solidFill>
                <a:latin typeface="Arial MT"/>
                <a:cs typeface="Arial MT"/>
              </a:rPr>
              <a:t>miss </a:t>
            </a: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for</a:t>
            </a:r>
            <a:r>
              <a:rPr sz="1677" spc="-22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this</a:t>
            </a:r>
            <a:r>
              <a:rPr sz="1677" spc="-18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spc="-9" dirty="0">
                <a:solidFill>
                  <a:srgbClr val="FC0128"/>
                </a:solidFill>
                <a:latin typeface="Arial MT"/>
                <a:cs typeface="Arial MT"/>
              </a:rPr>
              <a:t>block</a:t>
            </a:r>
            <a:endParaRPr sz="1677" dirty="0">
              <a:latin typeface="Arial MT"/>
              <a:cs typeface="Arial MT"/>
            </a:endParaRPr>
          </a:p>
          <a:p>
            <a:pPr marL="292489" marR="4483" indent="-281843" algn="r">
              <a:lnSpc>
                <a:spcPct val="78900"/>
              </a:lnSpc>
              <a:spcBef>
                <a:spcPts val="84"/>
              </a:spcBef>
            </a:pPr>
            <a:r>
              <a:rPr sz="1677" u="sng" dirty="0">
                <a:solidFill>
                  <a:srgbClr val="FC0128"/>
                </a:solidFill>
                <a:uFill>
                  <a:solidFill>
                    <a:srgbClr val="FC0128"/>
                  </a:solidFill>
                </a:uFill>
                <a:latin typeface="Arial MT"/>
                <a:cs typeface="Arial MT"/>
              </a:rPr>
              <a:t>Write</a:t>
            </a:r>
            <a:r>
              <a:rPr sz="1677" u="sng" spc="-18" dirty="0">
                <a:solidFill>
                  <a:srgbClr val="FC0128"/>
                </a:solidFill>
                <a:uFill>
                  <a:solidFill>
                    <a:srgbClr val="FC0128"/>
                  </a:solidFill>
                </a:uFill>
                <a:latin typeface="Arial MT"/>
                <a:cs typeface="Arial MT"/>
              </a:rPr>
              <a:t> </a:t>
            </a:r>
            <a:r>
              <a:rPr sz="1677" u="sng" dirty="0">
                <a:solidFill>
                  <a:srgbClr val="FC0128"/>
                </a:solidFill>
                <a:uFill>
                  <a:solidFill>
                    <a:srgbClr val="FC0128"/>
                  </a:solidFill>
                </a:uFill>
                <a:latin typeface="Arial MT"/>
                <a:cs typeface="Arial MT"/>
              </a:rPr>
              <a:t>Back</a:t>
            </a:r>
            <a:r>
              <a:rPr sz="1677" u="sng" spc="-18" dirty="0">
                <a:solidFill>
                  <a:srgbClr val="FC0128"/>
                </a:solidFill>
                <a:uFill>
                  <a:solidFill>
                    <a:srgbClr val="FC0128"/>
                  </a:solidFill>
                </a:uFill>
                <a:latin typeface="Arial MT"/>
                <a:cs typeface="Arial MT"/>
              </a:rPr>
              <a:t> </a:t>
            </a:r>
            <a:r>
              <a:rPr sz="1677" u="sng" spc="-9" dirty="0">
                <a:solidFill>
                  <a:srgbClr val="FC0128"/>
                </a:solidFill>
                <a:uFill>
                  <a:solidFill>
                    <a:srgbClr val="FC0128"/>
                  </a:solidFill>
                </a:uFill>
                <a:latin typeface="Arial MT"/>
                <a:cs typeface="Arial MT"/>
              </a:rPr>
              <a:t>Block</a:t>
            </a:r>
            <a:r>
              <a:rPr sz="1677" spc="-9" dirty="0">
                <a:solidFill>
                  <a:srgbClr val="FC0128"/>
                </a:solidFill>
                <a:latin typeface="Arial MT"/>
                <a:cs typeface="Arial MT"/>
              </a:rPr>
              <a:t>; </a:t>
            </a: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(abort</a:t>
            </a:r>
            <a:r>
              <a:rPr sz="1677" spc="-44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spc="-9" dirty="0">
                <a:solidFill>
                  <a:srgbClr val="FC0128"/>
                </a:solidFill>
                <a:latin typeface="Arial MT"/>
                <a:cs typeface="Arial MT"/>
              </a:rPr>
              <a:t>memory</a:t>
            </a:r>
            <a:endParaRPr sz="1677" dirty="0">
              <a:latin typeface="Arial MT"/>
              <a:cs typeface="Arial MT"/>
            </a:endParaRPr>
          </a:p>
          <a:p>
            <a:pPr marR="4483" algn="r">
              <a:lnSpc>
                <a:spcPts val="1588"/>
              </a:lnSpc>
            </a:pPr>
            <a:r>
              <a:rPr sz="1677" spc="-9" dirty="0">
                <a:solidFill>
                  <a:srgbClr val="FC0128"/>
                </a:solidFill>
                <a:latin typeface="Arial MT"/>
                <a:cs typeface="Arial MT"/>
              </a:rPr>
              <a:t>access)</a:t>
            </a:r>
            <a:endParaRPr sz="1677" dirty="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557499" y="1709924"/>
            <a:ext cx="3460376" cy="3965762"/>
            <a:chOff x="4041357" y="1959504"/>
            <a:chExt cx="3921760" cy="4494530"/>
          </a:xfrm>
        </p:grpSpPr>
        <p:sp>
          <p:nvSpPr>
            <p:cNvPr id="21" name="object 21"/>
            <p:cNvSpPr/>
            <p:nvPr/>
          </p:nvSpPr>
          <p:spPr>
            <a:xfrm>
              <a:off x="4054833" y="1972980"/>
              <a:ext cx="1489710" cy="1428750"/>
            </a:xfrm>
            <a:custGeom>
              <a:avLst/>
              <a:gdLst/>
              <a:ahLst/>
              <a:cxnLst/>
              <a:rect l="l" t="t" r="r" b="b"/>
              <a:pathLst>
                <a:path w="1489710" h="1428750">
                  <a:moveTo>
                    <a:pt x="0" y="714233"/>
                  </a:moveTo>
                  <a:lnTo>
                    <a:pt x="1583" y="667272"/>
                  </a:lnTo>
                  <a:lnTo>
                    <a:pt x="6269" y="621122"/>
                  </a:lnTo>
                  <a:lnTo>
                    <a:pt x="13959" y="575878"/>
                  </a:lnTo>
                  <a:lnTo>
                    <a:pt x="24554" y="531632"/>
                  </a:lnTo>
                  <a:lnTo>
                    <a:pt x="37957" y="488480"/>
                  </a:lnTo>
                  <a:lnTo>
                    <a:pt x="54070" y="446516"/>
                  </a:lnTo>
                  <a:lnTo>
                    <a:pt x="72795" y="405833"/>
                  </a:lnTo>
                  <a:lnTo>
                    <a:pt x="94032" y="366526"/>
                  </a:lnTo>
                  <a:lnTo>
                    <a:pt x="117685" y="328689"/>
                  </a:lnTo>
                  <a:lnTo>
                    <a:pt x="143655" y="292416"/>
                  </a:lnTo>
                  <a:lnTo>
                    <a:pt x="171845" y="257801"/>
                  </a:lnTo>
                  <a:lnTo>
                    <a:pt x="202155" y="224939"/>
                  </a:lnTo>
                  <a:lnTo>
                    <a:pt x="234488" y="193922"/>
                  </a:lnTo>
                  <a:lnTo>
                    <a:pt x="268746" y="164846"/>
                  </a:lnTo>
                  <a:lnTo>
                    <a:pt x="304830" y="137805"/>
                  </a:lnTo>
                  <a:lnTo>
                    <a:pt x="342643" y="112893"/>
                  </a:lnTo>
                  <a:lnTo>
                    <a:pt x="382086" y="90203"/>
                  </a:lnTo>
                  <a:lnTo>
                    <a:pt x="423062" y="69830"/>
                  </a:lnTo>
                  <a:lnTo>
                    <a:pt x="465472" y="51868"/>
                  </a:lnTo>
                  <a:lnTo>
                    <a:pt x="509218" y="36412"/>
                  </a:lnTo>
                  <a:lnTo>
                    <a:pt x="554201" y="23554"/>
                  </a:lnTo>
                  <a:lnTo>
                    <a:pt x="600325" y="13390"/>
                  </a:lnTo>
                  <a:lnTo>
                    <a:pt x="647491" y="6014"/>
                  </a:lnTo>
                  <a:lnTo>
                    <a:pt x="695600" y="1519"/>
                  </a:lnTo>
                  <a:lnTo>
                    <a:pt x="744555" y="0"/>
                  </a:lnTo>
                  <a:lnTo>
                    <a:pt x="793509" y="1519"/>
                  </a:lnTo>
                  <a:lnTo>
                    <a:pt x="841618" y="6014"/>
                  </a:lnTo>
                  <a:lnTo>
                    <a:pt x="888784" y="13390"/>
                  </a:lnTo>
                  <a:lnTo>
                    <a:pt x="934908" y="23554"/>
                  </a:lnTo>
                  <a:lnTo>
                    <a:pt x="979891" y="36412"/>
                  </a:lnTo>
                  <a:lnTo>
                    <a:pt x="1023637" y="51868"/>
                  </a:lnTo>
                  <a:lnTo>
                    <a:pt x="1066047" y="69830"/>
                  </a:lnTo>
                  <a:lnTo>
                    <a:pt x="1107023" y="90203"/>
                  </a:lnTo>
                  <a:lnTo>
                    <a:pt x="1146466" y="112893"/>
                  </a:lnTo>
                  <a:lnTo>
                    <a:pt x="1184279" y="137805"/>
                  </a:lnTo>
                  <a:lnTo>
                    <a:pt x="1220363" y="164846"/>
                  </a:lnTo>
                  <a:lnTo>
                    <a:pt x="1254621" y="193922"/>
                  </a:lnTo>
                  <a:lnTo>
                    <a:pt x="1286954" y="224939"/>
                  </a:lnTo>
                  <a:lnTo>
                    <a:pt x="1317264" y="257801"/>
                  </a:lnTo>
                  <a:lnTo>
                    <a:pt x="1345454" y="292416"/>
                  </a:lnTo>
                  <a:lnTo>
                    <a:pt x="1371424" y="328689"/>
                  </a:lnTo>
                  <a:lnTo>
                    <a:pt x="1395077" y="366526"/>
                  </a:lnTo>
                  <a:lnTo>
                    <a:pt x="1416314" y="405833"/>
                  </a:lnTo>
                  <a:lnTo>
                    <a:pt x="1435039" y="446516"/>
                  </a:lnTo>
                  <a:lnTo>
                    <a:pt x="1451152" y="488480"/>
                  </a:lnTo>
                  <a:lnTo>
                    <a:pt x="1464555" y="531632"/>
                  </a:lnTo>
                  <a:lnTo>
                    <a:pt x="1475150" y="575878"/>
                  </a:lnTo>
                  <a:lnTo>
                    <a:pt x="1482840" y="621122"/>
                  </a:lnTo>
                  <a:lnTo>
                    <a:pt x="1487526" y="667272"/>
                  </a:lnTo>
                  <a:lnTo>
                    <a:pt x="1489110" y="714233"/>
                  </a:lnTo>
                  <a:lnTo>
                    <a:pt x="1487526" y="761194"/>
                  </a:lnTo>
                  <a:lnTo>
                    <a:pt x="1482840" y="807344"/>
                  </a:lnTo>
                  <a:lnTo>
                    <a:pt x="1475150" y="852589"/>
                  </a:lnTo>
                  <a:lnTo>
                    <a:pt x="1464555" y="896835"/>
                  </a:lnTo>
                  <a:lnTo>
                    <a:pt x="1451152" y="939987"/>
                  </a:lnTo>
                  <a:lnTo>
                    <a:pt x="1435039" y="981951"/>
                  </a:lnTo>
                  <a:lnTo>
                    <a:pt x="1416314" y="1022634"/>
                  </a:lnTo>
                  <a:lnTo>
                    <a:pt x="1395077" y="1061941"/>
                  </a:lnTo>
                  <a:lnTo>
                    <a:pt x="1371424" y="1099778"/>
                  </a:lnTo>
                  <a:lnTo>
                    <a:pt x="1345454" y="1136051"/>
                  </a:lnTo>
                  <a:lnTo>
                    <a:pt x="1317264" y="1170665"/>
                  </a:lnTo>
                  <a:lnTo>
                    <a:pt x="1286954" y="1203528"/>
                  </a:lnTo>
                  <a:lnTo>
                    <a:pt x="1254621" y="1234544"/>
                  </a:lnTo>
                  <a:lnTo>
                    <a:pt x="1220363" y="1263620"/>
                  </a:lnTo>
                  <a:lnTo>
                    <a:pt x="1184279" y="1290661"/>
                  </a:lnTo>
                  <a:lnTo>
                    <a:pt x="1146466" y="1315574"/>
                  </a:lnTo>
                  <a:lnTo>
                    <a:pt x="1107023" y="1338264"/>
                  </a:lnTo>
                  <a:lnTo>
                    <a:pt x="1066047" y="1358637"/>
                  </a:lnTo>
                  <a:lnTo>
                    <a:pt x="1023637" y="1376598"/>
                  </a:lnTo>
                  <a:lnTo>
                    <a:pt x="979891" y="1392055"/>
                  </a:lnTo>
                  <a:lnTo>
                    <a:pt x="934908" y="1404912"/>
                  </a:lnTo>
                  <a:lnTo>
                    <a:pt x="888784" y="1415076"/>
                  </a:lnTo>
                  <a:lnTo>
                    <a:pt x="841618" y="1422453"/>
                  </a:lnTo>
                  <a:lnTo>
                    <a:pt x="793509" y="1426948"/>
                  </a:lnTo>
                  <a:lnTo>
                    <a:pt x="744555" y="1428467"/>
                  </a:lnTo>
                  <a:lnTo>
                    <a:pt x="695600" y="1426948"/>
                  </a:lnTo>
                  <a:lnTo>
                    <a:pt x="647491" y="1422453"/>
                  </a:lnTo>
                  <a:lnTo>
                    <a:pt x="600325" y="1415076"/>
                  </a:lnTo>
                  <a:lnTo>
                    <a:pt x="554201" y="1404912"/>
                  </a:lnTo>
                  <a:lnTo>
                    <a:pt x="509218" y="1392055"/>
                  </a:lnTo>
                  <a:lnTo>
                    <a:pt x="465472" y="1376598"/>
                  </a:lnTo>
                  <a:lnTo>
                    <a:pt x="423062" y="1358637"/>
                  </a:lnTo>
                  <a:lnTo>
                    <a:pt x="382086" y="1338264"/>
                  </a:lnTo>
                  <a:lnTo>
                    <a:pt x="342643" y="1315574"/>
                  </a:lnTo>
                  <a:lnTo>
                    <a:pt x="304830" y="1290661"/>
                  </a:lnTo>
                  <a:lnTo>
                    <a:pt x="268746" y="1263620"/>
                  </a:lnTo>
                  <a:lnTo>
                    <a:pt x="234488" y="1234544"/>
                  </a:lnTo>
                  <a:lnTo>
                    <a:pt x="202155" y="1203528"/>
                  </a:lnTo>
                  <a:lnTo>
                    <a:pt x="171845" y="1170665"/>
                  </a:lnTo>
                  <a:lnTo>
                    <a:pt x="143655" y="1136051"/>
                  </a:lnTo>
                  <a:lnTo>
                    <a:pt x="117685" y="1099778"/>
                  </a:lnTo>
                  <a:lnTo>
                    <a:pt x="94032" y="1061941"/>
                  </a:lnTo>
                  <a:lnTo>
                    <a:pt x="72795" y="1022634"/>
                  </a:lnTo>
                  <a:lnTo>
                    <a:pt x="54070" y="981951"/>
                  </a:lnTo>
                  <a:lnTo>
                    <a:pt x="37957" y="939987"/>
                  </a:lnTo>
                  <a:lnTo>
                    <a:pt x="24554" y="896835"/>
                  </a:lnTo>
                  <a:lnTo>
                    <a:pt x="13959" y="852589"/>
                  </a:lnTo>
                  <a:lnTo>
                    <a:pt x="6269" y="807344"/>
                  </a:lnTo>
                  <a:lnTo>
                    <a:pt x="1583" y="761194"/>
                  </a:lnTo>
                  <a:lnTo>
                    <a:pt x="0" y="714233"/>
                  </a:lnTo>
                  <a:close/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5802816" y="5776334"/>
              <a:ext cx="2160270" cy="677545"/>
            </a:xfrm>
            <a:custGeom>
              <a:avLst/>
              <a:gdLst/>
              <a:ahLst/>
              <a:cxnLst/>
              <a:rect l="l" t="t" r="r" b="b"/>
              <a:pathLst>
                <a:path w="2160270" h="677545">
                  <a:moveTo>
                    <a:pt x="2159971" y="0"/>
                  </a:moveTo>
                  <a:lnTo>
                    <a:pt x="0" y="0"/>
                  </a:lnTo>
                  <a:lnTo>
                    <a:pt x="0" y="677174"/>
                  </a:lnTo>
                  <a:lnTo>
                    <a:pt x="2159971" y="677174"/>
                  </a:lnTo>
                  <a:lnTo>
                    <a:pt x="21599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964864" y="2097068"/>
            <a:ext cx="931209" cy="50023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03099">
              <a:spcBef>
                <a:spcPts val="88"/>
              </a:spcBef>
            </a:pPr>
            <a:r>
              <a:rPr sz="1677" b="1" spc="-9" dirty="0">
                <a:latin typeface="Arial"/>
                <a:cs typeface="Arial"/>
              </a:rPr>
              <a:t>Shared</a:t>
            </a:r>
            <a:endParaRPr sz="1677">
              <a:latin typeface="Arial"/>
              <a:cs typeface="Arial"/>
            </a:endParaRPr>
          </a:p>
          <a:p>
            <a:pPr marL="11206">
              <a:spcBef>
                <a:spcPts val="4"/>
              </a:spcBef>
            </a:pPr>
            <a:r>
              <a:rPr sz="1500" spc="-9" dirty="0">
                <a:latin typeface="Arial MT"/>
                <a:cs typeface="Arial MT"/>
              </a:rPr>
              <a:t>(read/only)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85243" y="5098452"/>
            <a:ext cx="1222562" cy="513624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>
              <a:lnSpc>
                <a:spcPct val="101099"/>
              </a:lnSpc>
              <a:spcBef>
                <a:spcPts val="66"/>
              </a:spcBef>
            </a:pPr>
            <a:r>
              <a:rPr sz="1677" dirty="0">
                <a:solidFill>
                  <a:srgbClr val="008000"/>
                </a:solidFill>
                <a:latin typeface="Arial MT"/>
                <a:cs typeface="Arial MT"/>
              </a:rPr>
              <a:t>Read</a:t>
            </a:r>
            <a:r>
              <a:rPr sz="1677" spc="-35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1677" spc="-18" dirty="0">
                <a:solidFill>
                  <a:srgbClr val="008000"/>
                </a:solidFill>
                <a:latin typeface="Arial MT"/>
                <a:cs typeface="Arial MT"/>
              </a:rPr>
              <a:t>miss </a:t>
            </a: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for</a:t>
            </a:r>
            <a:r>
              <a:rPr sz="1677" spc="-22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this</a:t>
            </a:r>
            <a:r>
              <a:rPr sz="1677" spc="-18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spc="-9" dirty="0">
                <a:solidFill>
                  <a:srgbClr val="FC0128"/>
                </a:solidFill>
                <a:latin typeface="Arial MT"/>
                <a:cs typeface="Arial MT"/>
              </a:rPr>
              <a:t>block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26" name="Slide Number Placeholder 4">
            <a:extLst>
              <a:ext uri="{FF2B5EF4-FFF2-40B4-BE49-F238E27FC236}">
                <a16:creationId xmlns:a16="http://schemas.microsoft.com/office/drawing/2014/main" id="{7BE38F6D-C7AF-9F62-CB97-4E87A79348E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43</a:t>
            </a:fld>
            <a:endParaRPr lang="en-US" spc="-44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729" y="4848560"/>
            <a:ext cx="8559049" cy="1151608"/>
          </a:xfrm>
          <a:prstGeom prst="rect">
            <a:avLst/>
          </a:prstGeom>
        </p:spPr>
        <p:txBody>
          <a:bodyPr vert="horz" wrap="square" lIns="0" tIns="37539" rIns="0" bIns="0" rtlCol="0">
            <a:spAutoFit/>
          </a:bodyPr>
          <a:lstStyle/>
          <a:p>
            <a:pPr marL="11206" marR="4483">
              <a:lnSpc>
                <a:spcPct val="110000"/>
              </a:lnSpc>
              <a:spcBef>
                <a:spcPts val="295"/>
              </a:spcBef>
            </a:pPr>
            <a:r>
              <a:rPr sz="1677" dirty="0">
                <a:latin typeface="Arial MT"/>
                <a:cs typeface="Arial MT"/>
              </a:rPr>
              <a:t>Assumes</a:t>
            </a:r>
            <a:r>
              <a:rPr sz="1677" spc="-10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A1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maps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same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cache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block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on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both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CPUs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and</a:t>
            </a:r>
            <a:r>
              <a:rPr sz="1677" spc="-18" dirty="0">
                <a:latin typeface="Arial MT"/>
                <a:cs typeface="Arial MT"/>
              </a:rPr>
              <a:t> each </a:t>
            </a:r>
            <a:r>
              <a:rPr sz="1677" dirty="0">
                <a:latin typeface="Arial MT"/>
                <a:cs typeface="Arial MT"/>
              </a:rPr>
              <a:t>initial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cache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block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state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for</a:t>
            </a:r>
            <a:r>
              <a:rPr sz="1677" spc="-10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A1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invalid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(last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slide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this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example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spc="-18" dirty="0">
                <a:latin typeface="Arial MT"/>
                <a:cs typeface="Arial MT"/>
              </a:rPr>
              <a:t>also </a:t>
            </a:r>
            <a:r>
              <a:rPr sz="1677" dirty="0">
                <a:latin typeface="Arial MT"/>
                <a:cs typeface="Arial MT"/>
              </a:rPr>
              <a:t>assumes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that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addresses</a:t>
            </a:r>
            <a:r>
              <a:rPr sz="1677" spc="-10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A1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and</a:t>
            </a:r>
            <a:r>
              <a:rPr sz="1677" spc="-10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A2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map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same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block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index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spc="-22" dirty="0">
                <a:latin typeface="Arial MT"/>
                <a:cs typeface="Arial MT"/>
              </a:rPr>
              <a:t>but </a:t>
            </a:r>
            <a:r>
              <a:rPr sz="1677" dirty="0">
                <a:latin typeface="Arial MT"/>
                <a:cs typeface="Arial MT"/>
              </a:rPr>
              <a:t>have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different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address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tags,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so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they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are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different</a:t>
            </a:r>
            <a:r>
              <a:rPr sz="1677" spc="-3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cache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blocks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spc="-18" dirty="0">
                <a:latin typeface="Arial MT"/>
                <a:cs typeface="Arial MT"/>
              </a:rPr>
              <a:t>that </a:t>
            </a:r>
            <a:r>
              <a:rPr sz="1677" dirty="0">
                <a:latin typeface="Arial MT"/>
                <a:cs typeface="Arial MT"/>
              </a:rPr>
              <a:t>complete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for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same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location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cache).</a:t>
            </a:r>
            <a:endParaRPr sz="1677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8413" y="2962430"/>
            <a:ext cx="1365437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3"/>
              </a:lnSpc>
            </a:pPr>
            <a:r>
              <a:rPr sz="1279" dirty="0">
                <a:solidFill>
                  <a:srgbClr val="F20884"/>
                </a:solidFill>
                <a:latin typeface="Arial MT"/>
                <a:cs typeface="Arial MT"/>
              </a:rPr>
              <a:t>P1:</a:t>
            </a:r>
            <a:r>
              <a:rPr sz="1279" spc="26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F20884"/>
                </a:solidFill>
                <a:latin typeface="Arial MT"/>
                <a:cs typeface="Arial MT"/>
              </a:rPr>
              <a:t>Write</a:t>
            </a:r>
            <a:r>
              <a:rPr sz="1279" spc="101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F20884"/>
                </a:solidFill>
                <a:latin typeface="Arial MT"/>
                <a:cs typeface="Arial MT"/>
              </a:rPr>
              <a:t>10</a:t>
            </a:r>
            <a:r>
              <a:rPr sz="1279" spc="26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F20884"/>
                </a:solidFill>
                <a:latin typeface="Arial MT"/>
                <a:cs typeface="Arial MT"/>
              </a:rPr>
              <a:t>to</a:t>
            </a:r>
            <a:r>
              <a:rPr sz="1279" spc="26" dirty="0">
                <a:solidFill>
                  <a:srgbClr val="F20884"/>
                </a:solidFill>
                <a:latin typeface="Arial MT"/>
                <a:cs typeface="Arial MT"/>
              </a:rPr>
              <a:t> A1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2544" y="3156909"/>
            <a:ext cx="95698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3"/>
              </a:lnSpc>
            </a:pPr>
            <a:r>
              <a:rPr sz="1279" dirty="0">
                <a:solidFill>
                  <a:srgbClr val="F20884"/>
                </a:solidFill>
                <a:latin typeface="Arial MT"/>
                <a:cs typeface="Arial MT"/>
              </a:rPr>
              <a:t>P1:</a:t>
            </a:r>
            <a:r>
              <a:rPr sz="1279" spc="57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F20884"/>
                </a:solidFill>
                <a:latin typeface="Arial MT"/>
                <a:cs typeface="Arial MT"/>
              </a:rPr>
              <a:t>Read</a:t>
            </a:r>
            <a:r>
              <a:rPr sz="1279" spc="62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spc="26" dirty="0">
                <a:solidFill>
                  <a:srgbClr val="F20884"/>
                </a:solidFill>
                <a:latin typeface="Arial MT"/>
                <a:cs typeface="Arial MT"/>
              </a:rPr>
              <a:t>A1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2544" y="3351387"/>
            <a:ext cx="95698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3"/>
              </a:lnSpc>
            </a:pP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P2:</a:t>
            </a:r>
            <a:r>
              <a:rPr sz="1279" spc="57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Read</a:t>
            </a:r>
            <a:r>
              <a:rPr sz="1279" spc="62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A1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8413" y="3934481"/>
            <a:ext cx="1365437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3"/>
              </a:lnSpc>
            </a:pP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P2: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Write</a:t>
            </a:r>
            <a:r>
              <a:rPr sz="1279" spc="101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20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to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 A1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8413" y="4128700"/>
            <a:ext cx="1365437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3"/>
              </a:lnSpc>
            </a:pP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P2: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Write</a:t>
            </a:r>
            <a:r>
              <a:rPr sz="1279" spc="101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40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to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 A2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9847" y="3150332"/>
            <a:ext cx="19050" cy="19050"/>
          </a:xfrm>
          <a:custGeom>
            <a:avLst/>
            <a:gdLst/>
            <a:ahLst/>
            <a:cxnLst/>
            <a:rect l="l" t="t" r="r" b="b"/>
            <a:pathLst>
              <a:path w="21589" h="21589">
                <a:moveTo>
                  <a:pt x="0" y="21116"/>
                </a:moveTo>
                <a:lnTo>
                  <a:pt x="21221" y="0"/>
                </a:lnTo>
              </a:path>
            </a:pathLst>
          </a:custGeom>
          <a:ln w="104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" name="object 10"/>
          <p:cNvSpPr/>
          <p:nvPr/>
        </p:nvSpPr>
        <p:spPr>
          <a:xfrm>
            <a:off x="2212715" y="3344811"/>
            <a:ext cx="19050" cy="18490"/>
          </a:xfrm>
          <a:custGeom>
            <a:avLst/>
            <a:gdLst/>
            <a:ahLst/>
            <a:cxnLst/>
            <a:rect l="l" t="t" r="r" b="b"/>
            <a:pathLst>
              <a:path w="21589" h="20954">
                <a:moveTo>
                  <a:pt x="0" y="0"/>
                </a:moveTo>
                <a:lnTo>
                  <a:pt x="21213" y="20801"/>
                </a:lnTo>
              </a:path>
            </a:pathLst>
          </a:custGeom>
          <a:ln w="104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1" name="object 11"/>
          <p:cNvSpPr/>
          <p:nvPr/>
        </p:nvSpPr>
        <p:spPr>
          <a:xfrm>
            <a:off x="2212715" y="2955853"/>
            <a:ext cx="19050" cy="19050"/>
          </a:xfrm>
          <a:custGeom>
            <a:avLst/>
            <a:gdLst/>
            <a:ahLst/>
            <a:cxnLst/>
            <a:rect l="l" t="t" r="r" b="b"/>
            <a:pathLst>
              <a:path w="21589" h="21589">
                <a:moveTo>
                  <a:pt x="0" y="0"/>
                </a:moveTo>
                <a:lnTo>
                  <a:pt x="21213" y="21221"/>
                </a:lnTo>
              </a:path>
            </a:pathLst>
          </a:custGeom>
          <a:ln w="104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2" name="object 12"/>
          <p:cNvSpPr/>
          <p:nvPr/>
        </p:nvSpPr>
        <p:spPr>
          <a:xfrm>
            <a:off x="309847" y="2955853"/>
            <a:ext cx="19050" cy="19050"/>
          </a:xfrm>
          <a:custGeom>
            <a:avLst/>
            <a:gdLst/>
            <a:ahLst/>
            <a:cxnLst/>
            <a:rect l="l" t="t" r="r" b="b"/>
            <a:pathLst>
              <a:path w="21589" h="21589">
                <a:moveTo>
                  <a:pt x="0" y="21221"/>
                </a:moveTo>
                <a:lnTo>
                  <a:pt x="21221" y="0"/>
                </a:lnTo>
              </a:path>
            </a:pathLst>
          </a:custGeom>
          <a:ln w="104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86729" y="2562665"/>
          <a:ext cx="8559049" cy="1941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8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0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9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9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89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192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89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42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693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54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241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9386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2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635"/>
                        </a:lnSpc>
                      </a:pPr>
                      <a:r>
                        <a:rPr sz="1300" i="1" spc="-2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635"/>
                        </a:lnSpc>
                      </a:pPr>
                      <a:r>
                        <a:rPr sz="1300" i="1" spc="-25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Bus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10" dirty="0">
                          <a:latin typeface="Arial"/>
                          <a:cs typeface="Arial"/>
                        </a:rPr>
                        <a:t>Memory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862">
                <a:tc gridSpan="2">
                  <a:txBody>
                    <a:bodyPr/>
                    <a:lstStyle/>
                    <a:p>
                      <a:pPr marR="64769" algn="ctr">
                        <a:lnSpc>
                          <a:spcPts val="1635"/>
                        </a:lnSpc>
                      </a:pPr>
                      <a:r>
                        <a:rPr sz="1300" i="1" spc="-20" dirty="0">
                          <a:latin typeface="Arial"/>
                          <a:cs typeface="Arial"/>
                        </a:rPr>
                        <a:t>step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State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2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Addr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State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635"/>
                        </a:lnSpc>
                      </a:pPr>
                      <a:r>
                        <a:rPr sz="1300" i="1" spc="-2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Addr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Action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Proc.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635"/>
                        </a:lnSpc>
                      </a:pPr>
                      <a:r>
                        <a:rPr sz="1300" i="1" spc="-20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Addr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20" dirty="0">
                          <a:latin typeface="Arial"/>
                          <a:cs typeface="Arial"/>
                        </a:rPr>
                        <a:t>Addr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635"/>
                        </a:lnSpc>
                      </a:pPr>
                      <a:r>
                        <a:rPr sz="1300" i="1" spc="-10" dirty="0">
                          <a:latin typeface="Arial"/>
                          <a:cs typeface="Arial"/>
                        </a:rPr>
                        <a:t>Value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422">
                <a:tc gridSpan="2">
                  <a:txBody>
                    <a:bodyPr/>
                    <a:lstStyle/>
                    <a:p>
                      <a:pPr marL="336550">
                        <a:lnSpc>
                          <a:spcPts val="1614"/>
                        </a:lnSpc>
                      </a:pPr>
                      <a:r>
                        <a:rPr sz="13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P1</a:t>
                      </a:r>
                      <a:r>
                        <a:rPr sz="1300" b="1" spc="4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Write</a:t>
                      </a:r>
                      <a:r>
                        <a:rPr sz="1300" b="1" spc="5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1300" b="1" spc="4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300" b="1" spc="5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AAAAAA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 marL="346710">
                        <a:lnSpc>
                          <a:spcPts val="1614"/>
                        </a:lnSpc>
                      </a:pPr>
                      <a:r>
                        <a:rPr sz="13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P1:</a:t>
                      </a:r>
                      <a:r>
                        <a:rPr sz="1300" b="1" spc="6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Read</a:t>
                      </a:r>
                      <a:r>
                        <a:rPr sz="1300" b="1" spc="6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38100">
                      <a:solidFill>
                        <a:srgbClr val="AAAAAA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AAAAAA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862">
                <a:tc gridSpan="2">
                  <a:txBody>
                    <a:bodyPr/>
                    <a:lstStyle/>
                    <a:p>
                      <a:pPr marL="546735">
                        <a:lnSpc>
                          <a:spcPts val="1610"/>
                        </a:lnSpc>
                      </a:pP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P2:</a:t>
                      </a:r>
                      <a:r>
                        <a:rPr sz="1300" b="1" spc="6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Read</a:t>
                      </a:r>
                      <a:r>
                        <a:rPr sz="1300" b="1" spc="6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86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42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422">
                <a:tc gridSpan="2">
                  <a:txBody>
                    <a:bodyPr/>
                    <a:lstStyle/>
                    <a:p>
                      <a:pPr marL="294005">
                        <a:lnSpc>
                          <a:spcPts val="1635"/>
                        </a:lnSpc>
                      </a:pP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P2:</a:t>
                      </a:r>
                      <a:r>
                        <a:rPr sz="13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Write</a:t>
                      </a:r>
                      <a:r>
                        <a:rPr sz="13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sz="13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300" b="1" spc="5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862">
                <a:tc gridSpan="2">
                  <a:txBody>
                    <a:bodyPr/>
                    <a:lstStyle/>
                    <a:p>
                      <a:pPr marL="294005">
                        <a:lnSpc>
                          <a:spcPts val="1610"/>
                        </a:lnSpc>
                      </a:pP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P2:</a:t>
                      </a:r>
                      <a:r>
                        <a:rPr sz="13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Write</a:t>
                      </a:r>
                      <a:r>
                        <a:rPr sz="13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40</a:t>
                      </a:r>
                      <a:r>
                        <a:rPr sz="13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300" b="1" spc="5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A2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442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295987" y="3506786"/>
            <a:ext cx="1940299" cy="37540"/>
            <a:chOff x="183052" y="3974357"/>
            <a:chExt cx="2199005" cy="42545"/>
          </a:xfrm>
        </p:grpSpPr>
        <p:sp>
          <p:nvSpPr>
            <p:cNvPr id="15" name="object 15"/>
            <p:cNvSpPr/>
            <p:nvPr/>
          </p:nvSpPr>
          <p:spPr>
            <a:xfrm>
              <a:off x="188280" y="3989973"/>
              <a:ext cx="2188845" cy="21590"/>
            </a:xfrm>
            <a:custGeom>
              <a:avLst/>
              <a:gdLst/>
              <a:ahLst/>
              <a:cxnLst/>
              <a:rect l="l" t="t" r="r" b="b"/>
              <a:pathLst>
                <a:path w="2188845" h="21589">
                  <a:moveTo>
                    <a:pt x="2188278" y="0"/>
                  </a:moveTo>
                  <a:lnTo>
                    <a:pt x="2167064" y="21116"/>
                  </a:lnTo>
                </a:path>
                <a:path w="2188845" h="21589">
                  <a:moveTo>
                    <a:pt x="10480" y="21116"/>
                  </a:moveTo>
                  <a:lnTo>
                    <a:pt x="0" y="10558"/>
                  </a:lnTo>
                </a:path>
              </a:pathLst>
            </a:custGeom>
            <a:ln w="104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198760" y="3989973"/>
              <a:ext cx="2167255" cy="10795"/>
            </a:xfrm>
            <a:custGeom>
              <a:avLst/>
              <a:gdLst/>
              <a:ahLst/>
              <a:cxnLst/>
              <a:rect l="l" t="t" r="r" b="b"/>
              <a:pathLst>
                <a:path w="2167255" h="10795">
                  <a:moveTo>
                    <a:pt x="0" y="10505"/>
                  </a:moveTo>
                  <a:lnTo>
                    <a:pt x="2156583" y="10505"/>
                  </a:lnTo>
                </a:path>
                <a:path w="2167255" h="10795">
                  <a:moveTo>
                    <a:pt x="2156583" y="10505"/>
                  </a:moveTo>
                  <a:lnTo>
                    <a:pt x="2156583" y="0"/>
                  </a:lnTo>
                </a:path>
                <a:path w="2167255" h="10795">
                  <a:moveTo>
                    <a:pt x="2156583" y="0"/>
                  </a:moveTo>
                  <a:lnTo>
                    <a:pt x="2167243" y="0"/>
                  </a:lnTo>
                </a:path>
              </a:pathLst>
            </a:custGeom>
            <a:ln w="10456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209239" y="3979572"/>
              <a:ext cx="2146300" cy="10795"/>
            </a:xfrm>
            <a:custGeom>
              <a:avLst/>
              <a:gdLst/>
              <a:ahLst/>
              <a:cxnLst/>
              <a:rect l="l" t="t" r="r" b="b"/>
              <a:pathLst>
                <a:path w="2146300" h="10795">
                  <a:moveTo>
                    <a:pt x="0" y="10400"/>
                  </a:moveTo>
                  <a:lnTo>
                    <a:pt x="2135550" y="10400"/>
                  </a:lnTo>
                </a:path>
                <a:path w="2146300" h="10795">
                  <a:moveTo>
                    <a:pt x="2135550" y="10400"/>
                  </a:moveTo>
                  <a:lnTo>
                    <a:pt x="2135550" y="0"/>
                  </a:lnTo>
                </a:path>
                <a:path w="2146300" h="10795">
                  <a:moveTo>
                    <a:pt x="2135550" y="0"/>
                  </a:moveTo>
                  <a:lnTo>
                    <a:pt x="2146104" y="0"/>
                  </a:lnTo>
                </a:path>
              </a:pathLst>
            </a:custGeom>
            <a:ln w="10456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188280" y="398997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0"/>
                  </a:moveTo>
                  <a:lnTo>
                    <a:pt x="10480" y="10505"/>
                  </a:lnTo>
                </a:path>
              </a:pathLst>
            </a:custGeom>
            <a:ln w="10456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295987" y="3321566"/>
            <a:ext cx="1545851" cy="46504"/>
            <a:chOff x="183052" y="3764441"/>
            <a:chExt cx="1751964" cy="52705"/>
          </a:xfrm>
        </p:grpSpPr>
        <p:sp>
          <p:nvSpPr>
            <p:cNvPr id="20" name="object 20"/>
            <p:cNvSpPr/>
            <p:nvPr/>
          </p:nvSpPr>
          <p:spPr>
            <a:xfrm>
              <a:off x="198760" y="3769669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89" h="21589">
                  <a:moveTo>
                    <a:pt x="21221" y="21116"/>
                  </a:moveTo>
                  <a:lnTo>
                    <a:pt x="0" y="0"/>
                  </a:lnTo>
                </a:path>
              </a:pathLst>
            </a:custGeom>
            <a:ln w="104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193520" y="376445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230462" y="3769669"/>
              <a:ext cx="1704339" cy="0"/>
            </a:xfrm>
            <a:custGeom>
              <a:avLst/>
              <a:gdLst/>
              <a:ahLst/>
              <a:cxnLst/>
              <a:rect l="l" t="t" r="r" b="b"/>
              <a:pathLst>
                <a:path w="1704339">
                  <a:moveTo>
                    <a:pt x="0" y="0"/>
                  </a:moveTo>
                  <a:lnTo>
                    <a:pt x="1704085" y="0"/>
                  </a:lnTo>
                </a:path>
              </a:pathLst>
            </a:custGeom>
            <a:ln w="10431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209239" y="3769669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0"/>
                  </a:moveTo>
                  <a:lnTo>
                    <a:pt x="10742" y="10715"/>
                  </a:lnTo>
                </a:path>
              </a:pathLst>
            </a:custGeom>
            <a:ln w="10455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188280" y="3790786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400"/>
                  </a:moveTo>
                  <a:lnTo>
                    <a:pt x="10480" y="0"/>
                  </a:lnTo>
                </a:path>
              </a:pathLst>
            </a:custGeom>
            <a:ln w="104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188280" y="3801186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400"/>
                  </a:moveTo>
                  <a:lnTo>
                    <a:pt x="10480" y="0"/>
                  </a:lnTo>
                </a:path>
              </a:pathLst>
            </a:custGeom>
            <a:ln w="10455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193520" y="3806371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2208092" y="3349386"/>
            <a:ext cx="19050" cy="18490"/>
            <a:chOff x="2350104" y="3795970"/>
            <a:chExt cx="21590" cy="20955"/>
          </a:xfrm>
        </p:grpSpPr>
        <p:sp>
          <p:nvSpPr>
            <p:cNvPr id="28" name="object 28"/>
            <p:cNvSpPr/>
            <p:nvPr/>
          </p:nvSpPr>
          <p:spPr>
            <a:xfrm>
              <a:off x="2350104" y="379597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2360763" y="3806371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0" name="object 30"/>
          <p:cNvSpPr/>
          <p:nvPr/>
        </p:nvSpPr>
        <p:spPr>
          <a:xfrm>
            <a:off x="2212715" y="3131978"/>
            <a:ext cx="19050" cy="18490"/>
          </a:xfrm>
          <a:custGeom>
            <a:avLst/>
            <a:gdLst/>
            <a:ahLst/>
            <a:cxnLst/>
            <a:rect l="l" t="t" r="r" b="b"/>
            <a:pathLst>
              <a:path w="21589" h="20954">
                <a:moveTo>
                  <a:pt x="21213" y="0"/>
                </a:moveTo>
                <a:lnTo>
                  <a:pt x="0" y="20801"/>
                </a:lnTo>
              </a:path>
            </a:pathLst>
          </a:custGeom>
          <a:ln w="104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31" name="object 31"/>
          <p:cNvGrpSpPr/>
          <p:nvPr/>
        </p:nvGrpSpPr>
        <p:grpSpPr>
          <a:xfrm>
            <a:off x="305224" y="3127366"/>
            <a:ext cx="1536326" cy="55469"/>
            <a:chOff x="193520" y="3544347"/>
            <a:chExt cx="1741170" cy="62865"/>
          </a:xfrm>
        </p:grpSpPr>
        <p:sp>
          <p:nvSpPr>
            <p:cNvPr id="32" name="object 32"/>
            <p:cNvSpPr/>
            <p:nvPr/>
          </p:nvSpPr>
          <p:spPr>
            <a:xfrm>
              <a:off x="193520" y="3586277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219982" y="3591493"/>
              <a:ext cx="1715135" cy="10795"/>
            </a:xfrm>
            <a:custGeom>
              <a:avLst/>
              <a:gdLst/>
              <a:ahLst/>
              <a:cxnLst/>
              <a:rect l="l" t="t" r="r" b="b"/>
              <a:pathLst>
                <a:path w="1715135" h="10795">
                  <a:moveTo>
                    <a:pt x="0" y="10505"/>
                  </a:moveTo>
                  <a:lnTo>
                    <a:pt x="10480" y="10505"/>
                  </a:lnTo>
                </a:path>
                <a:path w="1715135" h="10795">
                  <a:moveTo>
                    <a:pt x="10480" y="10505"/>
                  </a:moveTo>
                  <a:lnTo>
                    <a:pt x="10480" y="0"/>
                  </a:lnTo>
                </a:path>
                <a:path w="1715135" h="10795">
                  <a:moveTo>
                    <a:pt x="10480" y="0"/>
                  </a:moveTo>
                  <a:lnTo>
                    <a:pt x="1714565" y="0"/>
                  </a:lnTo>
                </a:path>
              </a:pathLst>
            </a:custGeom>
            <a:ln w="104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209239" y="3580777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10715"/>
                  </a:moveTo>
                  <a:lnTo>
                    <a:pt x="10742" y="0"/>
                  </a:lnTo>
                </a:path>
              </a:pathLst>
            </a:custGeom>
            <a:ln w="10455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214741" y="3586277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6" name="object 36"/>
            <p:cNvSpPr/>
            <p:nvPr/>
          </p:nvSpPr>
          <p:spPr>
            <a:xfrm>
              <a:off x="198760" y="3549575"/>
              <a:ext cx="21590" cy="20955"/>
            </a:xfrm>
            <a:custGeom>
              <a:avLst/>
              <a:gdLst/>
              <a:ahLst/>
              <a:cxnLst/>
              <a:rect l="l" t="t" r="r" b="b"/>
              <a:pathLst>
                <a:path w="21589" h="20954">
                  <a:moveTo>
                    <a:pt x="21221" y="20801"/>
                  </a:moveTo>
                  <a:lnTo>
                    <a:pt x="0" y="0"/>
                  </a:lnTo>
                </a:path>
              </a:pathLst>
            </a:custGeom>
            <a:ln w="104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193520" y="3544359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209239" y="3549575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0"/>
                  </a:moveTo>
                  <a:lnTo>
                    <a:pt x="10742" y="10400"/>
                  </a:lnTo>
                </a:path>
              </a:pathLst>
            </a:custGeom>
            <a:ln w="10455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305223" y="2960695"/>
            <a:ext cx="1921809" cy="28015"/>
            <a:chOff x="193520" y="3355455"/>
            <a:chExt cx="2178050" cy="31750"/>
          </a:xfrm>
        </p:grpSpPr>
        <p:sp>
          <p:nvSpPr>
            <p:cNvPr id="40" name="object 40"/>
            <p:cNvSpPr/>
            <p:nvPr/>
          </p:nvSpPr>
          <p:spPr>
            <a:xfrm>
              <a:off x="193520" y="336597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219982" y="3371189"/>
              <a:ext cx="2125345" cy="10795"/>
            </a:xfrm>
            <a:custGeom>
              <a:avLst/>
              <a:gdLst/>
              <a:ahLst/>
              <a:cxnLst/>
              <a:rect l="l" t="t" r="r" b="b"/>
              <a:pathLst>
                <a:path w="2125345" h="10795">
                  <a:moveTo>
                    <a:pt x="0" y="10400"/>
                  </a:moveTo>
                  <a:lnTo>
                    <a:pt x="10480" y="10400"/>
                  </a:lnTo>
                </a:path>
                <a:path w="2125345" h="10795">
                  <a:moveTo>
                    <a:pt x="10480" y="10400"/>
                  </a:moveTo>
                  <a:lnTo>
                    <a:pt x="10480" y="0"/>
                  </a:lnTo>
                </a:path>
                <a:path w="2125345" h="10795">
                  <a:moveTo>
                    <a:pt x="10480" y="0"/>
                  </a:moveTo>
                  <a:lnTo>
                    <a:pt x="2124808" y="0"/>
                  </a:lnTo>
                </a:path>
              </a:pathLst>
            </a:custGeom>
            <a:ln w="104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209239" y="336068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10505"/>
                  </a:moveTo>
                  <a:lnTo>
                    <a:pt x="10742" y="0"/>
                  </a:lnTo>
                </a:path>
              </a:pathLst>
            </a:custGeom>
            <a:ln w="10455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3" name="object 43"/>
            <p:cNvSpPr/>
            <p:nvPr/>
          </p:nvSpPr>
          <p:spPr>
            <a:xfrm>
              <a:off x="2350104" y="3355467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4" name="object 44"/>
            <p:cNvSpPr/>
            <p:nvPr/>
          </p:nvSpPr>
          <p:spPr>
            <a:xfrm>
              <a:off x="214741" y="336597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5" name="object 45"/>
            <p:cNvSpPr/>
            <p:nvPr/>
          </p:nvSpPr>
          <p:spPr>
            <a:xfrm>
              <a:off x="2360763" y="336597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295986" y="3932496"/>
            <a:ext cx="1940299" cy="37540"/>
            <a:chOff x="183051" y="4456828"/>
            <a:chExt cx="2199005" cy="42545"/>
          </a:xfrm>
        </p:grpSpPr>
        <p:sp>
          <p:nvSpPr>
            <p:cNvPr id="47" name="object 47"/>
            <p:cNvSpPr/>
            <p:nvPr/>
          </p:nvSpPr>
          <p:spPr>
            <a:xfrm>
              <a:off x="188280" y="4462056"/>
              <a:ext cx="2188845" cy="21590"/>
            </a:xfrm>
            <a:custGeom>
              <a:avLst/>
              <a:gdLst/>
              <a:ahLst/>
              <a:cxnLst/>
              <a:rect l="l" t="t" r="r" b="b"/>
              <a:pathLst>
                <a:path w="2188845" h="21589">
                  <a:moveTo>
                    <a:pt x="2167064" y="0"/>
                  </a:moveTo>
                  <a:lnTo>
                    <a:pt x="2188278" y="21126"/>
                  </a:lnTo>
                </a:path>
                <a:path w="2188845" h="21589">
                  <a:moveTo>
                    <a:pt x="0" y="10563"/>
                  </a:moveTo>
                  <a:lnTo>
                    <a:pt x="10480" y="0"/>
                  </a:lnTo>
                </a:path>
              </a:pathLst>
            </a:custGeom>
            <a:ln w="104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193509" y="4456848"/>
              <a:ext cx="2167255" cy="10795"/>
            </a:xfrm>
            <a:custGeom>
              <a:avLst/>
              <a:gdLst/>
              <a:ahLst/>
              <a:cxnLst/>
              <a:rect l="l" t="t" r="r" b="b"/>
              <a:pathLst>
                <a:path w="2167255" h="10795">
                  <a:moveTo>
                    <a:pt x="10490" y="5219"/>
                  </a:moveTo>
                  <a:lnTo>
                    <a:pt x="8953" y="1524"/>
                  </a:lnTo>
                  <a:lnTo>
                    <a:pt x="5245" y="0"/>
                  </a:lnTo>
                  <a:lnTo>
                    <a:pt x="1536" y="1524"/>
                  </a:lnTo>
                  <a:lnTo>
                    <a:pt x="0" y="5219"/>
                  </a:lnTo>
                  <a:lnTo>
                    <a:pt x="1536" y="8902"/>
                  </a:lnTo>
                  <a:lnTo>
                    <a:pt x="5245" y="10426"/>
                  </a:lnTo>
                  <a:lnTo>
                    <a:pt x="8953" y="8902"/>
                  </a:lnTo>
                  <a:lnTo>
                    <a:pt x="10490" y="5219"/>
                  </a:lnTo>
                  <a:close/>
                </a:path>
                <a:path w="2167255" h="10795">
                  <a:moveTo>
                    <a:pt x="2167064" y="5219"/>
                  </a:moveTo>
                  <a:lnTo>
                    <a:pt x="2165527" y="1524"/>
                  </a:lnTo>
                  <a:lnTo>
                    <a:pt x="2161832" y="0"/>
                  </a:lnTo>
                  <a:lnTo>
                    <a:pt x="2158123" y="1524"/>
                  </a:lnTo>
                  <a:lnTo>
                    <a:pt x="2156587" y="5219"/>
                  </a:lnTo>
                  <a:lnTo>
                    <a:pt x="2158123" y="8902"/>
                  </a:lnTo>
                  <a:lnTo>
                    <a:pt x="2161832" y="10426"/>
                  </a:lnTo>
                  <a:lnTo>
                    <a:pt x="2165527" y="8902"/>
                  </a:lnTo>
                  <a:lnTo>
                    <a:pt x="2167064" y="521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9" name="object 49"/>
            <p:cNvSpPr/>
            <p:nvPr/>
          </p:nvSpPr>
          <p:spPr>
            <a:xfrm>
              <a:off x="198760" y="4483183"/>
              <a:ext cx="2146300" cy="10795"/>
            </a:xfrm>
            <a:custGeom>
              <a:avLst/>
              <a:gdLst/>
              <a:ahLst/>
              <a:cxnLst/>
              <a:rect l="l" t="t" r="r" b="b"/>
              <a:pathLst>
                <a:path w="2146300" h="10795">
                  <a:moveTo>
                    <a:pt x="0" y="10432"/>
                  </a:moveTo>
                  <a:lnTo>
                    <a:pt x="10479" y="10432"/>
                  </a:lnTo>
                </a:path>
                <a:path w="2146300" h="10795">
                  <a:moveTo>
                    <a:pt x="10479" y="10432"/>
                  </a:moveTo>
                  <a:lnTo>
                    <a:pt x="10479" y="0"/>
                  </a:lnTo>
                </a:path>
                <a:path w="2146300" h="10795">
                  <a:moveTo>
                    <a:pt x="10479" y="0"/>
                  </a:moveTo>
                  <a:lnTo>
                    <a:pt x="2146029" y="0"/>
                  </a:lnTo>
                </a:path>
              </a:pathLst>
            </a:custGeom>
            <a:ln w="104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0" name="object 50"/>
            <p:cNvSpPr/>
            <p:nvPr/>
          </p:nvSpPr>
          <p:spPr>
            <a:xfrm>
              <a:off x="188280" y="4472488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694"/>
                  </a:moveTo>
                  <a:lnTo>
                    <a:pt x="10480" y="0"/>
                  </a:lnTo>
                </a:path>
              </a:pathLst>
            </a:custGeom>
            <a:ln w="10456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2350104" y="4467272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2" name="object 52"/>
            <p:cNvSpPr/>
            <p:nvPr/>
          </p:nvSpPr>
          <p:spPr>
            <a:xfrm>
              <a:off x="193520" y="4477967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53"/>
            <p:cNvSpPr/>
            <p:nvPr/>
          </p:nvSpPr>
          <p:spPr>
            <a:xfrm>
              <a:off x="2360763" y="4477967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295987" y="4284357"/>
            <a:ext cx="1940299" cy="36979"/>
            <a:chOff x="183052" y="4855604"/>
            <a:chExt cx="2199005" cy="41910"/>
          </a:xfrm>
        </p:grpSpPr>
        <p:sp>
          <p:nvSpPr>
            <p:cNvPr id="55" name="object 55"/>
            <p:cNvSpPr/>
            <p:nvPr/>
          </p:nvSpPr>
          <p:spPr>
            <a:xfrm>
              <a:off x="188280" y="4871252"/>
              <a:ext cx="2188845" cy="20955"/>
            </a:xfrm>
            <a:custGeom>
              <a:avLst/>
              <a:gdLst/>
              <a:ahLst/>
              <a:cxnLst/>
              <a:rect l="l" t="t" r="r" b="b"/>
              <a:pathLst>
                <a:path w="2188845" h="20954">
                  <a:moveTo>
                    <a:pt x="2188278" y="0"/>
                  </a:moveTo>
                  <a:lnTo>
                    <a:pt x="2167064" y="20864"/>
                  </a:lnTo>
                </a:path>
                <a:path w="2188845" h="20954">
                  <a:moveTo>
                    <a:pt x="10480" y="20864"/>
                  </a:moveTo>
                  <a:lnTo>
                    <a:pt x="0" y="10432"/>
                  </a:lnTo>
                </a:path>
              </a:pathLst>
            </a:custGeom>
            <a:ln w="104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198760" y="4871252"/>
              <a:ext cx="2167255" cy="10795"/>
            </a:xfrm>
            <a:custGeom>
              <a:avLst/>
              <a:gdLst/>
              <a:ahLst/>
              <a:cxnLst/>
              <a:rect l="l" t="t" r="r" b="b"/>
              <a:pathLst>
                <a:path w="2167255" h="10795">
                  <a:moveTo>
                    <a:pt x="0" y="10432"/>
                  </a:moveTo>
                  <a:lnTo>
                    <a:pt x="2156583" y="10432"/>
                  </a:lnTo>
                </a:path>
                <a:path w="2167255" h="10795">
                  <a:moveTo>
                    <a:pt x="2156583" y="10432"/>
                  </a:moveTo>
                  <a:lnTo>
                    <a:pt x="2156583" y="0"/>
                  </a:lnTo>
                </a:path>
                <a:path w="2167255" h="10795">
                  <a:moveTo>
                    <a:pt x="2156583" y="0"/>
                  </a:moveTo>
                  <a:lnTo>
                    <a:pt x="2167243" y="0"/>
                  </a:lnTo>
                </a:path>
              </a:pathLst>
            </a:custGeom>
            <a:ln w="10456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209239" y="4860820"/>
              <a:ext cx="2146300" cy="10795"/>
            </a:xfrm>
            <a:custGeom>
              <a:avLst/>
              <a:gdLst/>
              <a:ahLst/>
              <a:cxnLst/>
              <a:rect l="l" t="t" r="r" b="b"/>
              <a:pathLst>
                <a:path w="2146300" h="10795">
                  <a:moveTo>
                    <a:pt x="0" y="10432"/>
                  </a:moveTo>
                  <a:lnTo>
                    <a:pt x="2135550" y="10432"/>
                  </a:lnTo>
                </a:path>
                <a:path w="2146300" h="10795">
                  <a:moveTo>
                    <a:pt x="2135550" y="10432"/>
                  </a:moveTo>
                  <a:lnTo>
                    <a:pt x="2135550" y="0"/>
                  </a:lnTo>
                </a:path>
                <a:path w="2146300" h="10795">
                  <a:moveTo>
                    <a:pt x="2135550" y="0"/>
                  </a:moveTo>
                  <a:lnTo>
                    <a:pt x="2146104" y="0"/>
                  </a:lnTo>
                </a:path>
              </a:pathLst>
            </a:custGeom>
            <a:ln w="10456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8" name="object 58"/>
            <p:cNvSpPr/>
            <p:nvPr/>
          </p:nvSpPr>
          <p:spPr>
            <a:xfrm>
              <a:off x="188280" y="4871252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0"/>
                  </a:moveTo>
                  <a:lnTo>
                    <a:pt x="10480" y="10432"/>
                  </a:lnTo>
                </a:path>
              </a:pathLst>
            </a:custGeom>
            <a:ln w="10455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59" name="object 59"/>
          <p:cNvGrpSpPr/>
          <p:nvPr/>
        </p:nvGrpSpPr>
        <p:grpSpPr>
          <a:xfrm>
            <a:off x="295987" y="4089905"/>
            <a:ext cx="1940299" cy="64994"/>
            <a:chOff x="183052" y="4635226"/>
            <a:chExt cx="2199005" cy="73660"/>
          </a:xfrm>
        </p:grpSpPr>
        <p:sp>
          <p:nvSpPr>
            <p:cNvPr id="60" name="object 60"/>
            <p:cNvSpPr/>
            <p:nvPr/>
          </p:nvSpPr>
          <p:spPr>
            <a:xfrm>
              <a:off x="188280" y="4650874"/>
              <a:ext cx="2188845" cy="21590"/>
            </a:xfrm>
            <a:custGeom>
              <a:avLst/>
              <a:gdLst/>
              <a:ahLst/>
              <a:cxnLst/>
              <a:rect l="l" t="t" r="r" b="b"/>
              <a:pathLst>
                <a:path w="2188845" h="21589">
                  <a:moveTo>
                    <a:pt x="2188278" y="0"/>
                  </a:moveTo>
                  <a:lnTo>
                    <a:pt x="2167064" y="21126"/>
                  </a:lnTo>
                </a:path>
                <a:path w="2188845" h="21589">
                  <a:moveTo>
                    <a:pt x="10480" y="21126"/>
                  </a:moveTo>
                  <a:lnTo>
                    <a:pt x="0" y="10563"/>
                  </a:lnTo>
                </a:path>
              </a:pathLst>
            </a:custGeom>
            <a:ln w="104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198760" y="4650874"/>
              <a:ext cx="2167255" cy="10795"/>
            </a:xfrm>
            <a:custGeom>
              <a:avLst/>
              <a:gdLst/>
              <a:ahLst/>
              <a:cxnLst/>
              <a:rect l="l" t="t" r="r" b="b"/>
              <a:pathLst>
                <a:path w="2167255" h="10795">
                  <a:moveTo>
                    <a:pt x="0" y="10432"/>
                  </a:moveTo>
                  <a:lnTo>
                    <a:pt x="2156583" y="10432"/>
                  </a:lnTo>
                </a:path>
                <a:path w="2167255" h="10795">
                  <a:moveTo>
                    <a:pt x="2156583" y="10432"/>
                  </a:moveTo>
                  <a:lnTo>
                    <a:pt x="2156583" y="0"/>
                  </a:lnTo>
                </a:path>
                <a:path w="2167255" h="10795">
                  <a:moveTo>
                    <a:pt x="2156583" y="0"/>
                  </a:moveTo>
                  <a:lnTo>
                    <a:pt x="2167243" y="0"/>
                  </a:lnTo>
                </a:path>
              </a:pathLst>
            </a:custGeom>
            <a:ln w="10456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2" name="object 62"/>
            <p:cNvSpPr/>
            <p:nvPr/>
          </p:nvSpPr>
          <p:spPr>
            <a:xfrm>
              <a:off x="209239" y="4640442"/>
              <a:ext cx="2146300" cy="10795"/>
            </a:xfrm>
            <a:custGeom>
              <a:avLst/>
              <a:gdLst/>
              <a:ahLst/>
              <a:cxnLst/>
              <a:rect l="l" t="t" r="r" b="b"/>
              <a:pathLst>
                <a:path w="2146300" h="10795">
                  <a:moveTo>
                    <a:pt x="0" y="10432"/>
                  </a:moveTo>
                  <a:lnTo>
                    <a:pt x="2135550" y="10432"/>
                  </a:lnTo>
                </a:path>
                <a:path w="2146300" h="10795">
                  <a:moveTo>
                    <a:pt x="2135550" y="10432"/>
                  </a:moveTo>
                  <a:lnTo>
                    <a:pt x="2135550" y="0"/>
                  </a:lnTo>
                </a:path>
                <a:path w="2146300" h="10795">
                  <a:moveTo>
                    <a:pt x="2135550" y="0"/>
                  </a:moveTo>
                  <a:lnTo>
                    <a:pt x="2146104" y="0"/>
                  </a:lnTo>
                </a:path>
              </a:pathLst>
            </a:custGeom>
            <a:ln w="10456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3" name="object 63"/>
            <p:cNvSpPr/>
            <p:nvPr/>
          </p:nvSpPr>
          <p:spPr>
            <a:xfrm>
              <a:off x="188280" y="4650874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0"/>
                  </a:moveTo>
                  <a:lnTo>
                    <a:pt x="10480" y="10432"/>
                  </a:lnTo>
                </a:path>
              </a:pathLst>
            </a:custGeom>
            <a:ln w="10455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4" name="object 64"/>
            <p:cNvSpPr/>
            <p:nvPr/>
          </p:nvSpPr>
          <p:spPr>
            <a:xfrm>
              <a:off x="188280" y="4672001"/>
              <a:ext cx="2188845" cy="20955"/>
            </a:xfrm>
            <a:custGeom>
              <a:avLst/>
              <a:gdLst/>
              <a:ahLst/>
              <a:cxnLst/>
              <a:rect l="l" t="t" r="r" b="b"/>
              <a:pathLst>
                <a:path w="2188845" h="20954">
                  <a:moveTo>
                    <a:pt x="2167064" y="0"/>
                  </a:moveTo>
                  <a:lnTo>
                    <a:pt x="2188278" y="20864"/>
                  </a:lnTo>
                </a:path>
                <a:path w="2188845" h="20954">
                  <a:moveTo>
                    <a:pt x="0" y="10432"/>
                  </a:moveTo>
                  <a:lnTo>
                    <a:pt x="10480" y="0"/>
                  </a:lnTo>
                </a:path>
              </a:pathLst>
            </a:custGeom>
            <a:ln w="104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198760" y="4692866"/>
              <a:ext cx="2146300" cy="10795"/>
            </a:xfrm>
            <a:custGeom>
              <a:avLst/>
              <a:gdLst/>
              <a:ahLst/>
              <a:cxnLst/>
              <a:rect l="l" t="t" r="r" b="b"/>
              <a:pathLst>
                <a:path w="2146300" h="10795">
                  <a:moveTo>
                    <a:pt x="0" y="10432"/>
                  </a:moveTo>
                  <a:lnTo>
                    <a:pt x="10479" y="10432"/>
                  </a:lnTo>
                </a:path>
                <a:path w="2146300" h="10795">
                  <a:moveTo>
                    <a:pt x="10479" y="10432"/>
                  </a:moveTo>
                  <a:lnTo>
                    <a:pt x="10479" y="0"/>
                  </a:lnTo>
                </a:path>
                <a:path w="2146300" h="10795">
                  <a:moveTo>
                    <a:pt x="10479" y="0"/>
                  </a:moveTo>
                  <a:lnTo>
                    <a:pt x="2146029" y="0"/>
                  </a:lnTo>
                </a:path>
              </a:pathLst>
            </a:custGeom>
            <a:ln w="104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188280" y="468243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432"/>
                  </a:moveTo>
                  <a:lnTo>
                    <a:pt x="10480" y="0"/>
                  </a:lnTo>
                </a:path>
              </a:pathLst>
            </a:custGeom>
            <a:ln w="10455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7" name="object 67"/>
            <p:cNvSpPr/>
            <p:nvPr/>
          </p:nvSpPr>
          <p:spPr>
            <a:xfrm>
              <a:off x="2350104" y="4677217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8" name="object 68"/>
            <p:cNvSpPr/>
            <p:nvPr/>
          </p:nvSpPr>
          <p:spPr>
            <a:xfrm>
              <a:off x="193520" y="468765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9" name="object 69"/>
            <p:cNvSpPr/>
            <p:nvPr/>
          </p:nvSpPr>
          <p:spPr>
            <a:xfrm>
              <a:off x="2360763" y="468765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1" name="Slide Number Placeholder 4">
            <a:extLst>
              <a:ext uri="{FF2B5EF4-FFF2-40B4-BE49-F238E27FC236}">
                <a16:creationId xmlns:a16="http://schemas.microsoft.com/office/drawing/2014/main" id="{6D56A757-0D82-C070-571D-43D10E80A8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44</a:t>
            </a:fld>
            <a:endParaRPr lang="en-US" spc="-44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05783" y="5012616"/>
            <a:ext cx="5549153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Arial MT"/>
                <a:cs typeface="Arial MT"/>
              </a:rPr>
              <a:t>Assumes</a:t>
            </a:r>
            <a:r>
              <a:rPr sz="1677" spc="-11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A1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maps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same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cache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block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on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both</a:t>
            </a:r>
            <a:r>
              <a:rPr sz="1677" spc="-18" dirty="0">
                <a:latin typeface="Arial MT"/>
                <a:cs typeface="Arial MT"/>
              </a:rPr>
              <a:t> CPUs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8413" y="2949771"/>
            <a:ext cx="1365437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9"/>
              </a:lnSpc>
            </a:pPr>
            <a:r>
              <a:rPr sz="1235" dirty="0">
                <a:solidFill>
                  <a:srgbClr val="F20884"/>
                </a:solidFill>
                <a:latin typeface="Arial MT"/>
                <a:cs typeface="Arial MT"/>
              </a:rPr>
              <a:t>P1:</a:t>
            </a:r>
            <a:r>
              <a:rPr sz="1235" spc="106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35" dirty="0">
                <a:solidFill>
                  <a:srgbClr val="F20884"/>
                </a:solidFill>
                <a:latin typeface="Arial MT"/>
                <a:cs typeface="Arial MT"/>
              </a:rPr>
              <a:t>Write</a:t>
            </a:r>
            <a:r>
              <a:rPr sz="1235" spc="199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35" dirty="0">
                <a:solidFill>
                  <a:srgbClr val="F20884"/>
                </a:solidFill>
                <a:latin typeface="Arial MT"/>
                <a:cs typeface="Arial MT"/>
              </a:rPr>
              <a:t>10</a:t>
            </a:r>
            <a:r>
              <a:rPr sz="1235" spc="110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35" dirty="0">
                <a:solidFill>
                  <a:srgbClr val="F20884"/>
                </a:solidFill>
                <a:latin typeface="Arial MT"/>
                <a:cs typeface="Arial MT"/>
              </a:rPr>
              <a:t>to</a:t>
            </a:r>
            <a:r>
              <a:rPr sz="1235" spc="110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35" spc="57" dirty="0">
                <a:solidFill>
                  <a:srgbClr val="F20884"/>
                </a:solidFill>
                <a:latin typeface="Arial MT"/>
                <a:cs typeface="Arial MT"/>
              </a:rPr>
              <a:t>A1</a:t>
            </a:r>
            <a:endParaRPr sz="1235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2544" y="3138019"/>
            <a:ext cx="95698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9"/>
              </a:lnSpc>
            </a:pPr>
            <a:r>
              <a:rPr sz="1235" dirty="0">
                <a:solidFill>
                  <a:srgbClr val="F20884"/>
                </a:solidFill>
                <a:latin typeface="Arial MT"/>
                <a:cs typeface="Arial MT"/>
              </a:rPr>
              <a:t>P1:</a:t>
            </a:r>
            <a:r>
              <a:rPr sz="1235" spc="75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35" spc="44" dirty="0">
                <a:solidFill>
                  <a:srgbClr val="F20884"/>
                </a:solidFill>
                <a:latin typeface="Arial MT"/>
                <a:cs typeface="Arial MT"/>
              </a:rPr>
              <a:t>Read</a:t>
            </a:r>
            <a:r>
              <a:rPr sz="1235" spc="79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35" spc="57" dirty="0">
                <a:solidFill>
                  <a:srgbClr val="F20884"/>
                </a:solidFill>
                <a:latin typeface="Arial MT"/>
                <a:cs typeface="Arial MT"/>
              </a:rPr>
              <a:t>A1</a:t>
            </a:r>
            <a:endParaRPr sz="1235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2544" y="3326268"/>
            <a:ext cx="95698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9"/>
              </a:lnSpc>
            </a:pPr>
            <a:r>
              <a:rPr sz="1235" dirty="0">
                <a:solidFill>
                  <a:srgbClr val="1FB714"/>
                </a:solidFill>
                <a:latin typeface="Arial MT"/>
                <a:cs typeface="Arial MT"/>
              </a:rPr>
              <a:t>P2:</a:t>
            </a:r>
            <a:r>
              <a:rPr sz="1235" spc="75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35" spc="44" dirty="0">
                <a:solidFill>
                  <a:srgbClr val="1FB714"/>
                </a:solidFill>
                <a:latin typeface="Arial MT"/>
                <a:cs typeface="Arial MT"/>
              </a:rPr>
              <a:t>Read</a:t>
            </a:r>
            <a:r>
              <a:rPr sz="1235" spc="79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35" spc="57" dirty="0">
                <a:solidFill>
                  <a:srgbClr val="1FB714"/>
                </a:solidFill>
                <a:latin typeface="Arial MT"/>
                <a:cs typeface="Arial MT"/>
              </a:rPr>
              <a:t>A1</a:t>
            </a:r>
            <a:endParaRPr sz="1235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8413" y="3890680"/>
            <a:ext cx="1365437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9"/>
              </a:lnSpc>
            </a:pPr>
            <a:r>
              <a:rPr sz="1235" dirty="0">
                <a:solidFill>
                  <a:srgbClr val="1FB714"/>
                </a:solidFill>
                <a:latin typeface="Arial MT"/>
                <a:cs typeface="Arial MT"/>
              </a:rPr>
              <a:t>P2:</a:t>
            </a:r>
            <a:r>
              <a:rPr sz="1235" spc="106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35" dirty="0">
                <a:solidFill>
                  <a:srgbClr val="1FB714"/>
                </a:solidFill>
                <a:latin typeface="Arial MT"/>
                <a:cs typeface="Arial MT"/>
              </a:rPr>
              <a:t>Write</a:t>
            </a:r>
            <a:r>
              <a:rPr sz="1235" spc="199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35" dirty="0">
                <a:solidFill>
                  <a:srgbClr val="1FB714"/>
                </a:solidFill>
                <a:latin typeface="Arial MT"/>
                <a:cs typeface="Arial MT"/>
              </a:rPr>
              <a:t>20</a:t>
            </a:r>
            <a:r>
              <a:rPr sz="1235" spc="110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35" dirty="0">
                <a:solidFill>
                  <a:srgbClr val="1FB714"/>
                </a:solidFill>
                <a:latin typeface="Arial MT"/>
                <a:cs typeface="Arial MT"/>
              </a:rPr>
              <a:t>to</a:t>
            </a:r>
            <a:r>
              <a:rPr sz="1235" spc="110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35" spc="57" dirty="0">
                <a:solidFill>
                  <a:srgbClr val="1FB714"/>
                </a:solidFill>
                <a:latin typeface="Arial MT"/>
                <a:cs typeface="Arial MT"/>
              </a:rPr>
              <a:t>A1</a:t>
            </a:r>
            <a:endParaRPr sz="1235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8413" y="4078677"/>
            <a:ext cx="1365437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9"/>
              </a:lnSpc>
            </a:pPr>
            <a:r>
              <a:rPr sz="1235" dirty="0">
                <a:solidFill>
                  <a:srgbClr val="1FB714"/>
                </a:solidFill>
                <a:latin typeface="Arial MT"/>
                <a:cs typeface="Arial MT"/>
              </a:rPr>
              <a:t>P2:</a:t>
            </a:r>
            <a:r>
              <a:rPr sz="1235" spc="106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35" dirty="0">
                <a:solidFill>
                  <a:srgbClr val="1FB714"/>
                </a:solidFill>
                <a:latin typeface="Arial MT"/>
                <a:cs typeface="Arial MT"/>
              </a:rPr>
              <a:t>Write</a:t>
            </a:r>
            <a:r>
              <a:rPr sz="1235" spc="199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35" dirty="0">
                <a:solidFill>
                  <a:srgbClr val="1FB714"/>
                </a:solidFill>
                <a:latin typeface="Arial MT"/>
                <a:cs typeface="Arial MT"/>
              </a:rPr>
              <a:t>40</a:t>
            </a:r>
            <a:r>
              <a:rPr sz="1235" spc="110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35" dirty="0">
                <a:solidFill>
                  <a:srgbClr val="1FB714"/>
                </a:solidFill>
                <a:latin typeface="Arial MT"/>
                <a:cs typeface="Arial MT"/>
              </a:rPr>
              <a:t>to</a:t>
            </a:r>
            <a:r>
              <a:rPr sz="1235" spc="110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35" spc="57" dirty="0">
                <a:solidFill>
                  <a:srgbClr val="1FB714"/>
                </a:solidFill>
                <a:latin typeface="Arial MT"/>
                <a:cs typeface="Arial MT"/>
              </a:rPr>
              <a:t>A2</a:t>
            </a:r>
            <a:endParaRPr sz="1235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9847" y="3131654"/>
            <a:ext cx="19050" cy="18490"/>
          </a:xfrm>
          <a:custGeom>
            <a:avLst/>
            <a:gdLst/>
            <a:ahLst/>
            <a:cxnLst/>
            <a:rect l="l" t="t" r="r" b="b"/>
            <a:pathLst>
              <a:path w="21589" h="20954">
                <a:moveTo>
                  <a:pt x="0" y="20439"/>
                </a:moveTo>
                <a:lnTo>
                  <a:pt x="21221" y="0"/>
                </a:lnTo>
              </a:path>
            </a:pathLst>
          </a:custGeom>
          <a:ln w="102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" name="object 10"/>
          <p:cNvSpPr/>
          <p:nvPr/>
        </p:nvSpPr>
        <p:spPr>
          <a:xfrm>
            <a:off x="2212715" y="3319902"/>
            <a:ext cx="19050" cy="17929"/>
          </a:xfrm>
          <a:custGeom>
            <a:avLst/>
            <a:gdLst/>
            <a:ahLst/>
            <a:cxnLst/>
            <a:rect l="l" t="t" r="r" b="b"/>
            <a:pathLst>
              <a:path w="21589" h="20320">
                <a:moveTo>
                  <a:pt x="0" y="0"/>
                </a:moveTo>
                <a:lnTo>
                  <a:pt x="21213" y="20134"/>
                </a:lnTo>
              </a:path>
            </a:pathLst>
          </a:custGeom>
          <a:ln w="102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1" name="object 11"/>
          <p:cNvSpPr/>
          <p:nvPr/>
        </p:nvSpPr>
        <p:spPr>
          <a:xfrm>
            <a:off x="2212715" y="2943405"/>
            <a:ext cx="19050" cy="18490"/>
          </a:xfrm>
          <a:custGeom>
            <a:avLst/>
            <a:gdLst/>
            <a:ahLst/>
            <a:cxnLst/>
            <a:rect l="l" t="t" r="r" b="b"/>
            <a:pathLst>
              <a:path w="21589" h="20954">
                <a:moveTo>
                  <a:pt x="0" y="0"/>
                </a:moveTo>
                <a:lnTo>
                  <a:pt x="21213" y="20541"/>
                </a:lnTo>
              </a:path>
            </a:pathLst>
          </a:custGeom>
          <a:ln w="102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2" name="object 12"/>
          <p:cNvSpPr/>
          <p:nvPr/>
        </p:nvSpPr>
        <p:spPr>
          <a:xfrm>
            <a:off x="309847" y="2943405"/>
            <a:ext cx="19050" cy="18490"/>
          </a:xfrm>
          <a:custGeom>
            <a:avLst/>
            <a:gdLst/>
            <a:ahLst/>
            <a:cxnLst/>
            <a:rect l="l" t="t" r="r" b="b"/>
            <a:pathLst>
              <a:path w="21589" h="20954">
                <a:moveTo>
                  <a:pt x="0" y="20541"/>
                </a:moveTo>
                <a:lnTo>
                  <a:pt x="21221" y="0"/>
                </a:lnTo>
              </a:path>
            </a:pathLst>
          </a:custGeom>
          <a:ln w="102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86729" y="2562813"/>
          <a:ext cx="8559049" cy="1876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8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0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9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9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89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192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89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42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693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54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241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8769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580"/>
                        </a:lnSpc>
                      </a:pPr>
                      <a:r>
                        <a:rPr sz="1200" i="1" spc="-2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580"/>
                        </a:lnSpc>
                      </a:pPr>
                      <a:r>
                        <a:rPr sz="1200" i="1" spc="-2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580"/>
                        </a:lnSpc>
                      </a:pPr>
                      <a:r>
                        <a:rPr sz="1200" i="1" spc="-25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Bus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1275">
                        <a:lnSpc>
                          <a:spcPts val="1580"/>
                        </a:lnSpc>
                      </a:pPr>
                      <a:r>
                        <a:rPr sz="1200" i="1" spc="45" dirty="0">
                          <a:latin typeface="Arial"/>
                          <a:cs typeface="Arial"/>
                        </a:rPr>
                        <a:t>Memory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699">
                <a:tc gridSpan="2">
                  <a:txBody>
                    <a:bodyPr/>
                    <a:lstStyle/>
                    <a:p>
                      <a:pPr marR="64769" algn="ctr">
                        <a:lnSpc>
                          <a:spcPts val="1580"/>
                        </a:lnSpc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step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580"/>
                        </a:lnSpc>
                      </a:pPr>
                      <a:r>
                        <a:rPr sz="1200" i="1" spc="-1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State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8745" algn="ctr">
                        <a:lnSpc>
                          <a:spcPts val="1580"/>
                        </a:lnSpc>
                      </a:pPr>
                      <a:r>
                        <a:rPr sz="1200" i="1" spc="-2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Addr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ts val="1580"/>
                        </a:lnSpc>
                      </a:pPr>
                      <a:r>
                        <a:rPr sz="1200" i="1" spc="-1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580"/>
                        </a:lnSpc>
                      </a:pPr>
                      <a:r>
                        <a:rPr sz="1200" i="1" spc="-1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State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580"/>
                        </a:lnSpc>
                      </a:pPr>
                      <a:r>
                        <a:rPr sz="1200" i="1" spc="-2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Addr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580"/>
                        </a:lnSpc>
                      </a:pPr>
                      <a:r>
                        <a:rPr sz="1200" i="1" spc="-1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580"/>
                        </a:lnSpc>
                      </a:pPr>
                      <a:r>
                        <a:rPr sz="1200" i="1" spc="-10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Action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580"/>
                        </a:lnSpc>
                      </a:pPr>
                      <a:r>
                        <a:rPr sz="1200" i="1" spc="-10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Proc.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580"/>
                        </a:lnSpc>
                      </a:pPr>
                      <a:r>
                        <a:rPr sz="1200" i="1" spc="-20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Addr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580"/>
                        </a:lnSpc>
                      </a:pPr>
                      <a:r>
                        <a:rPr sz="1200" i="1" spc="-10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580"/>
                        </a:lnSpc>
                      </a:pPr>
                      <a:r>
                        <a:rPr sz="1200" i="1" spc="-20" dirty="0">
                          <a:latin typeface="Arial"/>
                          <a:cs typeface="Arial"/>
                        </a:rPr>
                        <a:t>Addr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580"/>
                        </a:lnSpc>
                      </a:pPr>
                      <a:r>
                        <a:rPr sz="1200" i="1" spc="-10" dirty="0">
                          <a:latin typeface="Arial"/>
                          <a:cs typeface="Arial"/>
                        </a:rPr>
                        <a:t>Value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699">
                <a:tc gridSpan="2">
                  <a:txBody>
                    <a:bodyPr/>
                    <a:lstStyle/>
                    <a:p>
                      <a:pPr marL="336550">
                        <a:lnSpc>
                          <a:spcPts val="1560"/>
                        </a:lnSpc>
                      </a:pPr>
                      <a:r>
                        <a:rPr sz="12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P1</a:t>
                      </a:r>
                      <a:r>
                        <a:rPr sz="1200" b="1" spc="12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Write</a:t>
                      </a:r>
                      <a:r>
                        <a:rPr sz="1200" b="1" spc="12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5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1200" b="1" spc="12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200" b="1" spc="12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3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A1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AAAAAA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1580"/>
                        </a:lnSpc>
                      </a:pPr>
                      <a:r>
                        <a:rPr sz="1200" i="1" u="sng" spc="-2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Excl.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ctr">
                        <a:lnSpc>
                          <a:spcPts val="1580"/>
                        </a:lnSpc>
                      </a:pPr>
                      <a:r>
                        <a:rPr sz="1200" i="1" u="sng" spc="-2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A1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ctr">
                        <a:lnSpc>
                          <a:spcPts val="1580"/>
                        </a:lnSpc>
                      </a:pPr>
                      <a:r>
                        <a:rPr sz="1200" i="1" u="sng" spc="-2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10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580"/>
                        </a:lnSpc>
                      </a:pPr>
                      <a:r>
                        <a:rPr sz="1200" i="1" u="sng" spc="3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WrMs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1580"/>
                        </a:lnSpc>
                      </a:pPr>
                      <a:r>
                        <a:rPr sz="120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P1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2405" algn="r">
                        <a:lnSpc>
                          <a:spcPts val="1580"/>
                        </a:lnSpc>
                      </a:pPr>
                      <a:r>
                        <a:rPr sz="120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699">
                <a:tc>
                  <a:txBody>
                    <a:bodyPr/>
                    <a:lstStyle/>
                    <a:p>
                      <a:pPr marL="346710">
                        <a:lnSpc>
                          <a:spcPts val="1560"/>
                        </a:lnSpc>
                      </a:pPr>
                      <a:r>
                        <a:rPr sz="12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P1:</a:t>
                      </a:r>
                      <a:r>
                        <a:rPr sz="1200" b="1" spc="9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5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Read</a:t>
                      </a:r>
                      <a:r>
                        <a:rPr sz="1200" b="1" spc="10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3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A1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38100">
                      <a:solidFill>
                        <a:srgbClr val="AAAAAA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AAAAAA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699">
                <a:tc gridSpan="2">
                  <a:txBody>
                    <a:bodyPr/>
                    <a:lstStyle/>
                    <a:p>
                      <a:pPr marL="546735">
                        <a:lnSpc>
                          <a:spcPts val="1560"/>
                        </a:lnSpc>
                      </a:pPr>
                      <a:r>
                        <a:rPr sz="12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P2:</a:t>
                      </a:r>
                      <a:r>
                        <a:rPr sz="1200" b="1" spc="9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Read</a:t>
                      </a:r>
                      <a:r>
                        <a:rPr sz="1200" b="1" spc="10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3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A1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69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69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699">
                <a:tc gridSpan="2">
                  <a:txBody>
                    <a:bodyPr/>
                    <a:lstStyle/>
                    <a:p>
                      <a:pPr marL="294005">
                        <a:lnSpc>
                          <a:spcPts val="1580"/>
                        </a:lnSpc>
                      </a:pPr>
                      <a:r>
                        <a:rPr sz="12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P2:</a:t>
                      </a:r>
                      <a:r>
                        <a:rPr sz="1200" b="1" spc="12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Write</a:t>
                      </a:r>
                      <a:r>
                        <a:rPr sz="1200" b="1" spc="13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sz="1200" b="1" spc="13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200" b="1" spc="13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3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A1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699">
                <a:tc gridSpan="2">
                  <a:txBody>
                    <a:bodyPr/>
                    <a:lstStyle/>
                    <a:p>
                      <a:pPr marL="294005">
                        <a:lnSpc>
                          <a:spcPts val="1560"/>
                        </a:lnSpc>
                      </a:pPr>
                      <a:r>
                        <a:rPr sz="12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P2:</a:t>
                      </a:r>
                      <a:r>
                        <a:rPr sz="1200" b="1" spc="12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Write</a:t>
                      </a:r>
                      <a:r>
                        <a:rPr sz="1200" b="1" spc="13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40</a:t>
                      </a:r>
                      <a:r>
                        <a:rPr sz="1200" b="1" spc="13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200" b="1" spc="13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3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A2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69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296060" y="3476687"/>
            <a:ext cx="1940299" cy="36419"/>
            <a:chOff x="183134" y="3940245"/>
            <a:chExt cx="2199005" cy="41275"/>
          </a:xfrm>
        </p:grpSpPr>
        <p:sp>
          <p:nvSpPr>
            <p:cNvPr id="15" name="object 15"/>
            <p:cNvSpPr/>
            <p:nvPr/>
          </p:nvSpPr>
          <p:spPr>
            <a:xfrm>
              <a:off x="188280" y="3955361"/>
              <a:ext cx="2188845" cy="20955"/>
            </a:xfrm>
            <a:custGeom>
              <a:avLst/>
              <a:gdLst/>
              <a:ahLst/>
              <a:cxnLst/>
              <a:rect l="l" t="t" r="r" b="b"/>
              <a:pathLst>
                <a:path w="2188845" h="20954">
                  <a:moveTo>
                    <a:pt x="2188278" y="0"/>
                  </a:moveTo>
                  <a:lnTo>
                    <a:pt x="2167064" y="20439"/>
                  </a:lnTo>
                </a:path>
                <a:path w="2188845" h="20954">
                  <a:moveTo>
                    <a:pt x="10480" y="20440"/>
                  </a:moveTo>
                  <a:lnTo>
                    <a:pt x="0" y="10219"/>
                  </a:lnTo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198760" y="3955361"/>
              <a:ext cx="2167255" cy="10795"/>
            </a:xfrm>
            <a:custGeom>
              <a:avLst/>
              <a:gdLst/>
              <a:ahLst/>
              <a:cxnLst/>
              <a:rect l="l" t="t" r="r" b="b"/>
              <a:pathLst>
                <a:path w="2167255" h="10795">
                  <a:moveTo>
                    <a:pt x="0" y="10169"/>
                  </a:moveTo>
                  <a:lnTo>
                    <a:pt x="2156583" y="10169"/>
                  </a:lnTo>
                </a:path>
                <a:path w="2167255" h="10795">
                  <a:moveTo>
                    <a:pt x="2156583" y="10169"/>
                  </a:moveTo>
                  <a:lnTo>
                    <a:pt x="2156583" y="0"/>
                  </a:lnTo>
                </a:path>
                <a:path w="2167255" h="10795">
                  <a:moveTo>
                    <a:pt x="2156583" y="0"/>
                  </a:moveTo>
                  <a:lnTo>
                    <a:pt x="2167243" y="0"/>
                  </a:lnTo>
                </a:path>
              </a:pathLst>
            </a:custGeom>
            <a:ln w="10288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209239" y="3945294"/>
              <a:ext cx="2146300" cy="10160"/>
            </a:xfrm>
            <a:custGeom>
              <a:avLst/>
              <a:gdLst/>
              <a:ahLst/>
              <a:cxnLst/>
              <a:rect l="l" t="t" r="r" b="b"/>
              <a:pathLst>
                <a:path w="2146300" h="10160">
                  <a:moveTo>
                    <a:pt x="0" y="10067"/>
                  </a:moveTo>
                  <a:lnTo>
                    <a:pt x="2135550" y="10067"/>
                  </a:lnTo>
                </a:path>
                <a:path w="2146300" h="10160">
                  <a:moveTo>
                    <a:pt x="2135550" y="10067"/>
                  </a:moveTo>
                  <a:lnTo>
                    <a:pt x="2135550" y="0"/>
                  </a:lnTo>
                </a:path>
                <a:path w="2146300" h="10160">
                  <a:moveTo>
                    <a:pt x="2135550" y="0"/>
                  </a:moveTo>
                  <a:lnTo>
                    <a:pt x="2146104" y="0"/>
                  </a:lnTo>
                </a:path>
              </a:pathLst>
            </a:custGeom>
            <a:ln w="10288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188280" y="3955361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0"/>
                  </a:moveTo>
                  <a:lnTo>
                    <a:pt x="10480" y="10169"/>
                  </a:lnTo>
                </a:path>
              </a:pathLst>
            </a:custGeom>
            <a:ln w="10283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296060" y="3297326"/>
            <a:ext cx="1930774" cy="54348"/>
            <a:chOff x="183135" y="3736970"/>
            <a:chExt cx="2188210" cy="61594"/>
          </a:xfrm>
        </p:grpSpPr>
        <p:sp>
          <p:nvSpPr>
            <p:cNvPr id="20" name="object 20"/>
            <p:cNvSpPr/>
            <p:nvPr/>
          </p:nvSpPr>
          <p:spPr>
            <a:xfrm>
              <a:off x="198760" y="3742115"/>
              <a:ext cx="21590" cy="20955"/>
            </a:xfrm>
            <a:custGeom>
              <a:avLst/>
              <a:gdLst/>
              <a:ahLst/>
              <a:cxnLst/>
              <a:rect l="l" t="t" r="r" b="b"/>
              <a:pathLst>
                <a:path w="21589" h="20954">
                  <a:moveTo>
                    <a:pt x="21221" y="20439"/>
                  </a:moveTo>
                  <a:lnTo>
                    <a:pt x="0" y="0"/>
                  </a:lnTo>
                </a:path>
              </a:pathLst>
            </a:custGeom>
            <a:ln w="102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193520" y="3737066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0" y="5048"/>
                  </a:moveTo>
                  <a:lnTo>
                    <a:pt x="1534" y="1478"/>
                  </a:lnTo>
                  <a:lnTo>
                    <a:pt x="5240" y="0"/>
                  </a:lnTo>
                  <a:lnTo>
                    <a:pt x="8945" y="1478"/>
                  </a:lnTo>
                  <a:lnTo>
                    <a:pt x="10480" y="5048"/>
                  </a:lnTo>
                  <a:lnTo>
                    <a:pt x="8945" y="8618"/>
                  </a:lnTo>
                  <a:lnTo>
                    <a:pt x="5240" y="10097"/>
                  </a:lnTo>
                  <a:lnTo>
                    <a:pt x="1534" y="8618"/>
                  </a:lnTo>
                  <a:lnTo>
                    <a:pt x="0" y="5048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230462" y="3742115"/>
              <a:ext cx="1704339" cy="0"/>
            </a:xfrm>
            <a:custGeom>
              <a:avLst/>
              <a:gdLst/>
              <a:ahLst/>
              <a:cxnLst/>
              <a:rect l="l" t="t" r="r" b="b"/>
              <a:pathLst>
                <a:path w="1704339">
                  <a:moveTo>
                    <a:pt x="0" y="0"/>
                  </a:moveTo>
                  <a:lnTo>
                    <a:pt x="1704085" y="0"/>
                  </a:lnTo>
                </a:path>
              </a:pathLst>
            </a:custGeom>
            <a:ln w="10097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209239" y="3742115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0"/>
                  </a:moveTo>
                  <a:lnTo>
                    <a:pt x="10742" y="10372"/>
                  </a:lnTo>
                </a:path>
              </a:pathLst>
            </a:custGeom>
            <a:ln w="10282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188280" y="3762555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4" h="10160">
                  <a:moveTo>
                    <a:pt x="0" y="10067"/>
                  </a:moveTo>
                  <a:lnTo>
                    <a:pt x="10480" y="0"/>
                  </a:lnTo>
                </a:path>
              </a:pathLst>
            </a:custGeom>
            <a:ln w="102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198760" y="3782690"/>
              <a:ext cx="2146300" cy="10795"/>
            </a:xfrm>
            <a:custGeom>
              <a:avLst/>
              <a:gdLst/>
              <a:ahLst/>
              <a:cxnLst/>
              <a:rect l="l" t="t" r="r" b="b"/>
              <a:pathLst>
                <a:path w="2146300" h="10795">
                  <a:moveTo>
                    <a:pt x="0" y="10372"/>
                  </a:moveTo>
                  <a:lnTo>
                    <a:pt x="10479" y="10372"/>
                  </a:lnTo>
                </a:path>
                <a:path w="2146300" h="10795">
                  <a:moveTo>
                    <a:pt x="10479" y="10372"/>
                  </a:moveTo>
                  <a:lnTo>
                    <a:pt x="10479" y="0"/>
                  </a:lnTo>
                </a:path>
                <a:path w="2146300" h="10795">
                  <a:moveTo>
                    <a:pt x="10479" y="0"/>
                  </a:moveTo>
                  <a:lnTo>
                    <a:pt x="2146029" y="0"/>
                  </a:lnTo>
                </a:path>
              </a:pathLst>
            </a:custGeom>
            <a:ln w="10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188280" y="3772622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4" h="10160">
                  <a:moveTo>
                    <a:pt x="0" y="10067"/>
                  </a:moveTo>
                  <a:lnTo>
                    <a:pt x="10480" y="0"/>
                  </a:lnTo>
                </a:path>
              </a:pathLst>
            </a:custGeom>
            <a:ln w="10281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2350104" y="3767573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4" h="10160">
                  <a:moveTo>
                    <a:pt x="0" y="5048"/>
                  </a:moveTo>
                  <a:lnTo>
                    <a:pt x="1534" y="1478"/>
                  </a:lnTo>
                  <a:lnTo>
                    <a:pt x="5240" y="0"/>
                  </a:lnTo>
                  <a:lnTo>
                    <a:pt x="8945" y="1478"/>
                  </a:lnTo>
                  <a:lnTo>
                    <a:pt x="10480" y="5048"/>
                  </a:lnTo>
                  <a:lnTo>
                    <a:pt x="8945" y="8618"/>
                  </a:lnTo>
                  <a:lnTo>
                    <a:pt x="5240" y="10097"/>
                  </a:lnTo>
                  <a:lnTo>
                    <a:pt x="1534" y="8618"/>
                  </a:lnTo>
                  <a:lnTo>
                    <a:pt x="0" y="5048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193520" y="3777641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0" y="5048"/>
                  </a:moveTo>
                  <a:lnTo>
                    <a:pt x="1534" y="1478"/>
                  </a:lnTo>
                  <a:lnTo>
                    <a:pt x="5240" y="0"/>
                  </a:lnTo>
                  <a:lnTo>
                    <a:pt x="8945" y="1478"/>
                  </a:lnTo>
                  <a:lnTo>
                    <a:pt x="10480" y="5048"/>
                  </a:lnTo>
                  <a:lnTo>
                    <a:pt x="8945" y="8618"/>
                  </a:lnTo>
                  <a:lnTo>
                    <a:pt x="5240" y="10097"/>
                  </a:lnTo>
                  <a:lnTo>
                    <a:pt x="1534" y="8618"/>
                  </a:lnTo>
                  <a:lnTo>
                    <a:pt x="0" y="5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2360763" y="3777641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4" h="10160">
                  <a:moveTo>
                    <a:pt x="0" y="5048"/>
                  </a:moveTo>
                  <a:lnTo>
                    <a:pt x="1534" y="1478"/>
                  </a:lnTo>
                  <a:lnTo>
                    <a:pt x="5240" y="0"/>
                  </a:lnTo>
                  <a:lnTo>
                    <a:pt x="8945" y="1478"/>
                  </a:lnTo>
                  <a:lnTo>
                    <a:pt x="10480" y="5048"/>
                  </a:lnTo>
                  <a:lnTo>
                    <a:pt x="8945" y="8618"/>
                  </a:lnTo>
                  <a:lnTo>
                    <a:pt x="5240" y="10097"/>
                  </a:lnTo>
                  <a:lnTo>
                    <a:pt x="1534" y="8618"/>
                  </a:lnTo>
                  <a:lnTo>
                    <a:pt x="0" y="5048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0" name="object 30"/>
          <p:cNvSpPr/>
          <p:nvPr/>
        </p:nvSpPr>
        <p:spPr>
          <a:xfrm>
            <a:off x="2212715" y="3113887"/>
            <a:ext cx="19050" cy="17929"/>
          </a:xfrm>
          <a:custGeom>
            <a:avLst/>
            <a:gdLst/>
            <a:ahLst/>
            <a:cxnLst/>
            <a:rect l="l" t="t" r="r" b="b"/>
            <a:pathLst>
              <a:path w="21589" h="20320">
                <a:moveTo>
                  <a:pt x="21213" y="0"/>
                </a:moveTo>
                <a:lnTo>
                  <a:pt x="0" y="20134"/>
                </a:lnTo>
              </a:path>
            </a:pathLst>
          </a:custGeom>
          <a:ln w="102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31" name="object 31"/>
          <p:cNvGrpSpPr/>
          <p:nvPr/>
        </p:nvGrpSpPr>
        <p:grpSpPr>
          <a:xfrm>
            <a:off x="305224" y="3109349"/>
            <a:ext cx="1536326" cy="53788"/>
            <a:chOff x="193520" y="3523929"/>
            <a:chExt cx="1741170" cy="60960"/>
          </a:xfrm>
        </p:grpSpPr>
        <p:sp>
          <p:nvSpPr>
            <p:cNvPr id="32" name="object 32"/>
            <p:cNvSpPr/>
            <p:nvPr/>
          </p:nvSpPr>
          <p:spPr>
            <a:xfrm>
              <a:off x="193520" y="3564598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0" y="5048"/>
                  </a:moveTo>
                  <a:lnTo>
                    <a:pt x="1534" y="1478"/>
                  </a:lnTo>
                  <a:lnTo>
                    <a:pt x="5240" y="0"/>
                  </a:lnTo>
                  <a:lnTo>
                    <a:pt x="8945" y="1478"/>
                  </a:lnTo>
                  <a:lnTo>
                    <a:pt x="10480" y="5048"/>
                  </a:lnTo>
                  <a:lnTo>
                    <a:pt x="8945" y="8618"/>
                  </a:lnTo>
                  <a:lnTo>
                    <a:pt x="5240" y="10097"/>
                  </a:lnTo>
                  <a:lnTo>
                    <a:pt x="1534" y="8618"/>
                  </a:lnTo>
                  <a:lnTo>
                    <a:pt x="0" y="5048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219982" y="3569647"/>
              <a:ext cx="1715135" cy="10795"/>
            </a:xfrm>
            <a:custGeom>
              <a:avLst/>
              <a:gdLst/>
              <a:ahLst/>
              <a:cxnLst/>
              <a:rect l="l" t="t" r="r" b="b"/>
              <a:pathLst>
                <a:path w="1715135" h="10795">
                  <a:moveTo>
                    <a:pt x="0" y="10169"/>
                  </a:moveTo>
                  <a:lnTo>
                    <a:pt x="10480" y="10169"/>
                  </a:lnTo>
                </a:path>
                <a:path w="1715135" h="10795">
                  <a:moveTo>
                    <a:pt x="10480" y="10169"/>
                  </a:moveTo>
                  <a:lnTo>
                    <a:pt x="10480" y="0"/>
                  </a:lnTo>
                </a:path>
                <a:path w="1715135" h="10795">
                  <a:moveTo>
                    <a:pt x="10480" y="0"/>
                  </a:moveTo>
                  <a:lnTo>
                    <a:pt x="1714565" y="0"/>
                  </a:lnTo>
                </a:path>
              </a:pathLst>
            </a:custGeom>
            <a:ln w="10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209239" y="3559274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10372"/>
                  </a:moveTo>
                  <a:lnTo>
                    <a:pt x="10742" y="0"/>
                  </a:lnTo>
                </a:path>
              </a:pathLst>
            </a:custGeom>
            <a:ln w="10282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214741" y="3564598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0" y="5048"/>
                  </a:moveTo>
                  <a:lnTo>
                    <a:pt x="1534" y="1478"/>
                  </a:lnTo>
                  <a:lnTo>
                    <a:pt x="5240" y="0"/>
                  </a:lnTo>
                  <a:lnTo>
                    <a:pt x="8945" y="1478"/>
                  </a:lnTo>
                  <a:lnTo>
                    <a:pt x="10480" y="5048"/>
                  </a:lnTo>
                  <a:lnTo>
                    <a:pt x="8945" y="8618"/>
                  </a:lnTo>
                  <a:lnTo>
                    <a:pt x="5240" y="10097"/>
                  </a:lnTo>
                  <a:lnTo>
                    <a:pt x="1534" y="8618"/>
                  </a:lnTo>
                  <a:lnTo>
                    <a:pt x="0" y="5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6" name="object 36"/>
            <p:cNvSpPr/>
            <p:nvPr/>
          </p:nvSpPr>
          <p:spPr>
            <a:xfrm>
              <a:off x="198760" y="3529072"/>
              <a:ext cx="21590" cy="20320"/>
            </a:xfrm>
            <a:custGeom>
              <a:avLst/>
              <a:gdLst/>
              <a:ahLst/>
              <a:cxnLst/>
              <a:rect l="l" t="t" r="r" b="b"/>
              <a:pathLst>
                <a:path w="21589" h="20320">
                  <a:moveTo>
                    <a:pt x="21221" y="20134"/>
                  </a:moveTo>
                  <a:lnTo>
                    <a:pt x="0" y="0"/>
                  </a:lnTo>
                </a:path>
              </a:pathLst>
            </a:custGeom>
            <a:ln w="10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193520" y="3524023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0" y="5048"/>
                  </a:moveTo>
                  <a:lnTo>
                    <a:pt x="1534" y="1478"/>
                  </a:lnTo>
                  <a:lnTo>
                    <a:pt x="5240" y="0"/>
                  </a:lnTo>
                  <a:lnTo>
                    <a:pt x="8945" y="1478"/>
                  </a:lnTo>
                  <a:lnTo>
                    <a:pt x="10480" y="5048"/>
                  </a:lnTo>
                  <a:lnTo>
                    <a:pt x="8945" y="8618"/>
                  </a:lnTo>
                  <a:lnTo>
                    <a:pt x="5240" y="10097"/>
                  </a:lnTo>
                  <a:lnTo>
                    <a:pt x="1534" y="8618"/>
                  </a:lnTo>
                  <a:lnTo>
                    <a:pt x="0" y="5048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209239" y="3529072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0" y="0"/>
                  </a:moveTo>
                  <a:lnTo>
                    <a:pt x="10742" y="10067"/>
                  </a:lnTo>
                </a:path>
              </a:pathLst>
            </a:custGeom>
            <a:ln w="10276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305223" y="2948020"/>
            <a:ext cx="1921809" cy="26894"/>
            <a:chOff x="193520" y="3341089"/>
            <a:chExt cx="2178050" cy="30480"/>
          </a:xfrm>
        </p:grpSpPr>
        <p:sp>
          <p:nvSpPr>
            <p:cNvPr id="40" name="object 40"/>
            <p:cNvSpPr/>
            <p:nvPr/>
          </p:nvSpPr>
          <p:spPr>
            <a:xfrm>
              <a:off x="193520" y="3351352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0" y="5048"/>
                  </a:moveTo>
                  <a:lnTo>
                    <a:pt x="1534" y="1478"/>
                  </a:lnTo>
                  <a:lnTo>
                    <a:pt x="5240" y="0"/>
                  </a:lnTo>
                  <a:lnTo>
                    <a:pt x="8945" y="1478"/>
                  </a:lnTo>
                  <a:lnTo>
                    <a:pt x="10480" y="5048"/>
                  </a:lnTo>
                  <a:lnTo>
                    <a:pt x="8945" y="8618"/>
                  </a:lnTo>
                  <a:lnTo>
                    <a:pt x="5240" y="10097"/>
                  </a:lnTo>
                  <a:lnTo>
                    <a:pt x="1534" y="8618"/>
                  </a:lnTo>
                  <a:lnTo>
                    <a:pt x="0" y="5048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219982" y="3356400"/>
              <a:ext cx="2125345" cy="10160"/>
            </a:xfrm>
            <a:custGeom>
              <a:avLst/>
              <a:gdLst/>
              <a:ahLst/>
              <a:cxnLst/>
              <a:rect l="l" t="t" r="r" b="b"/>
              <a:pathLst>
                <a:path w="2125345" h="10160">
                  <a:moveTo>
                    <a:pt x="0" y="10067"/>
                  </a:moveTo>
                  <a:lnTo>
                    <a:pt x="10480" y="10067"/>
                  </a:lnTo>
                </a:path>
                <a:path w="2125345" h="10160">
                  <a:moveTo>
                    <a:pt x="10480" y="10067"/>
                  </a:moveTo>
                  <a:lnTo>
                    <a:pt x="10480" y="0"/>
                  </a:lnTo>
                </a:path>
                <a:path w="2125345" h="10160">
                  <a:moveTo>
                    <a:pt x="10480" y="0"/>
                  </a:moveTo>
                  <a:lnTo>
                    <a:pt x="2124808" y="0"/>
                  </a:lnTo>
                </a:path>
              </a:pathLst>
            </a:custGeom>
            <a:ln w="10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209239" y="3346231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10169"/>
                  </a:moveTo>
                  <a:lnTo>
                    <a:pt x="10742" y="0"/>
                  </a:lnTo>
                </a:path>
              </a:pathLst>
            </a:custGeom>
            <a:ln w="10278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3" name="object 43"/>
            <p:cNvSpPr/>
            <p:nvPr/>
          </p:nvSpPr>
          <p:spPr>
            <a:xfrm>
              <a:off x="2350104" y="3341182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4" h="10160">
                  <a:moveTo>
                    <a:pt x="0" y="5048"/>
                  </a:moveTo>
                  <a:lnTo>
                    <a:pt x="1534" y="1478"/>
                  </a:lnTo>
                  <a:lnTo>
                    <a:pt x="5240" y="0"/>
                  </a:lnTo>
                  <a:lnTo>
                    <a:pt x="8945" y="1478"/>
                  </a:lnTo>
                  <a:lnTo>
                    <a:pt x="10480" y="5048"/>
                  </a:lnTo>
                  <a:lnTo>
                    <a:pt x="8945" y="8618"/>
                  </a:lnTo>
                  <a:lnTo>
                    <a:pt x="5240" y="10097"/>
                  </a:lnTo>
                  <a:lnTo>
                    <a:pt x="1534" y="8618"/>
                  </a:lnTo>
                  <a:lnTo>
                    <a:pt x="0" y="5048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4" name="object 44"/>
            <p:cNvSpPr/>
            <p:nvPr/>
          </p:nvSpPr>
          <p:spPr>
            <a:xfrm>
              <a:off x="214741" y="3351352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0" y="5048"/>
                  </a:moveTo>
                  <a:lnTo>
                    <a:pt x="1534" y="1478"/>
                  </a:lnTo>
                  <a:lnTo>
                    <a:pt x="5240" y="0"/>
                  </a:lnTo>
                  <a:lnTo>
                    <a:pt x="8945" y="1478"/>
                  </a:lnTo>
                  <a:lnTo>
                    <a:pt x="10480" y="5048"/>
                  </a:lnTo>
                  <a:lnTo>
                    <a:pt x="8945" y="8618"/>
                  </a:lnTo>
                  <a:lnTo>
                    <a:pt x="5240" y="10097"/>
                  </a:lnTo>
                  <a:lnTo>
                    <a:pt x="1534" y="8618"/>
                  </a:lnTo>
                  <a:lnTo>
                    <a:pt x="0" y="5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5" name="object 45"/>
            <p:cNvSpPr/>
            <p:nvPr/>
          </p:nvSpPr>
          <p:spPr>
            <a:xfrm>
              <a:off x="2360763" y="3351352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4" h="10160">
                  <a:moveTo>
                    <a:pt x="0" y="5048"/>
                  </a:moveTo>
                  <a:lnTo>
                    <a:pt x="1534" y="1478"/>
                  </a:lnTo>
                  <a:lnTo>
                    <a:pt x="5240" y="0"/>
                  </a:lnTo>
                  <a:lnTo>
                    <a:pt x="8945" y="1478"/>
                  </a:lnTo>
                  <a:lnTo>
                    <a:pt x="10480" y="5048"/>
                  </a:lnTo>
                  <a:lnTo>
                    <a:pt x="8945" y="8618"/>
                  </a:lnTo>
                  <a:lnTo>
                    <a:pt x="5240" y="10097"/>
                  </a:lnTo>
                  <a:lnTo>
                    <a:pt x="1534" y="8618"/>
                  </a:lnTo>
                  <a:lnTo>
                    <a:pt x="0" y="5048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296059" y="3888684"/>
            <a:ext cx="1940299" cy="36419"/>
            <a:chOff x="183133" y="4407175"/>
            <a:chExt cx="2199005" cy="41275"/>
          </a:xfrm>
        </p:grpSpPr>
        <p:sp>
          <p:nvSpPr>
            <p:cNvPr id="47" name="object 47"/>
            <p:cNvSpPr/>
            <p:nvPr/>
          </p:nvSpPr>
          <p:spPr>
            <a:xfrm>
              <a:off x="188280" y="4412320"/>
              <a:ext cx="2188845" cy="20955"/>
            </a:xfrm>
            <a:custGeom>
              <a:avLst/>
              <a:gdLst/>
              <a:ahLst/>
              <a:cxnLst/>
              <a:rect l="l" t="t" r="r" b="b"/>
              <a:pathLst>
                <a:path w="2188845" h="20954">
                  <a:moveTo>
                    <a:pt x="2167064" y="0"/>
                  </a:moveTo>
                  <a:lnTo>
                    <a:pt x="2188278" y="20450"/>
                  </a:lnTo>
                </a:path>
                <a:path w="2188845" h="20954">
                  <a:moveTo>
                    <a:pt x="0" y="10225"/>
                  </a:moveTo>
                  <a:lnTo>
                    <a:pt x="10480" y="0"/>
                  </a:lnTo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193509" y="4407280"/>
              <a:ext cx="2167255" cy="10160"/>
            </a:xfrm>
            <a:custGeom>
              <a:avLst/>
              <a:gdLst/>
              <a:ahLst/>
              <a:cxnLst/>
              <a:rect l="l" t="t" r="r" b="b"/>
              <a:pathLst>
                <a:path w="2167255" h="10160">
                  <a:moveTo>
                    <a:pt x="10490" y="5041"/>
                  </a:moveTo>
                  <a:lnTo>
                    <a:pt x="8953" y="1473"/>
                  </a:lnTo>
                  <a:lnTo>
                    <a:pt x="5245" y="0"/>
                  </a:lnTo>
                  <a:lnTo>
                    <a:pt x="1536" y="1473"/>
                  </a:lnTo>
                  <a:lnTo>
                    <a:pt x="0" y="5041"/>
                  </a:lnTo>
                  <a:lnTo>
                    <a:pt x="1536" y="8610"/>
                  </a:lnTo>
                  <a:lnTo>
                    <a:pt x="5245" y="10096"/>
                  </a:lnTo>
                  <a:lnTo>
                    <a:pt x="8953" y="8610"/>
                  </a:lnTo>
                  <a:lnTo>
                    <a:pt x="10490" y="5041"/>
                  </a:lnTo>
                  <a:close/>
                </a:path>
                <a:path w="2167255" h="10160">
                  <a:moveTo>
                    <a:pt x="2167064" y="5041"/>
                  </a:moveTo>
                  <a:lnTo>
                    <a:pt x="2165527" y="1473"/>
                  </a:lnTo>
                  <a:lnTo>
                    <a:pt x="2161832" y="0"/>
                  </a:lnTo>
                  <a:lnTo>
                    <a:pt x="2158123" y="1473"/>
                  </a:lnTo>
                  <a:lnTo>
                    <a:pt x="2156587" y="5041"/>
                  </a:lnTo>
                  <a:lnTo>
                    <a:pt x="2158123" y="8610"/>
                  </a:lnTo>
                  <a:lnTo>
                    <a:pt x="2161832" y="10096"/>
                  </a:lnTo>
                  <a:lnTo>
                    <a:pt x="2165527" y="8610"/>
                  </a:lnTo>
                  <a:lnTo>
                    <a:pt x="2167064" y="5041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9" name="object 49"/>
            <p:cNvSpPr/>
            <p:nvPr/>
          </p:nvSpPr>
          <p:spPr>
            <a:xfrm>
              <a:off x="198760" y="4432770"/>
              <a:ext cx="2146300" cy="10160"/>
            </a:xfrm>
            <a:custGeom>
              <a:avLst/>
              <a:gdLst/>
              <a:ahLst/>
              <a:cxnLst/>
              <a:rect l="l" t="t" r="r" b="b"/>
              <a:pathLst>
                <a:path w="2146300" h="10160">
                  <a:moveTo>
                    <a:pt x="0" y="10097"/>
                  </a:moveTo>
                  <a:lnTo>
                    <a:pt x="10479" y="10097"/>
                  </a:lnTo>
                </a:path>
                <a:path w="2146300" h="10160">
                  <a:moveTo>
                    <a:pt x="10479" y="10097"/>
                  </a:moveTo>
                  <a:lnTo>
                    <a:pt x="10479" y="0"/>
                  </a:lnTo>
                </a:path>
                <a:path w="2146300" h="10160">
                  <a:moveTo>
                    <a:pt x="10479" y="0"/>
                  </a:moveTo>
                  <a:lnTo>
                    <a:pt x="2146029" y="0"/>
                  </a:lnTo>
                </a:path>
              </a:pathLst>
            </a:custGeom>
            <a:ln w="10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0" name="object 50"/>
            <p:cNvSpPr/>
            <p:nvPr/>
          </p:nvSpPr>
          <p:spPr>
            <a:xfrm>
              <a:off x="188280" y="4422418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352"/>
                  </a:moveTo>
                  <a:lnTo>
                    <a:pt x="10480" y="0"/>
                  </a:lnTo>
                </a:path>
              </a:pathLst>
            </a:custGeom>
            <a:ln w="10286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2350104" y="4417369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4" h="10160">
                  <a:moveTo>
                    <a:pt x="0" y="5048"/>
                  </a:moveTo>
                  <a:lnTo>
                    <a:pt x="1534" y="1478"/>
                  </a:lnTo>
                  <a:lnTo>
                    <a:pt x="5240" y="0"/>
                  </a:lnTo>
                  <a:lnTo>
                    <a:pt x="8945" y="1478"/>
                  </a:lnTo>
                  <a:lnTo>
                    <a:pt x="10480" y="5048"/>
                  </a:lnTo>
                  <a:lnTo>
                    <a:pt x="8945" y="8618"/>
                  </a:lnTo>
                  <a:lnTo>
                    <a:pt x="5240" y="10097"/>
                  </a:lnTo>
                  <a:lnTo>
                    <a:pt x="1534" y="8618"/>
                  </a:lnTo>
                  <a:lnTo>
                    <a:pt x="0" y="5048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2" name="object 52"/>
            <p:cNvSpPr/>
            <p:nvPr/>
          </p:nvSpPr>
          <p:spPr>
            <a:xfrm>
              <a:off x="193520" y="4427721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0" y="5048"/>
                  </a:moveTo>
                  <a:lnTo>
                    <a:pt x="1534" y="1478"/>
                  </a:lnTo>
                  <a:lnTo>
                    <a:pt x="5240" y="0"/>
                  </a:lnTo>
                  <a:lnTo>
                    <a:pt x="8945" y="1478"/>
                  </a:lnTo>
                  <a:lnTo>
                    <a:pt x="10480" y="5048"/>
                  </a:lnTo>
                  <a:lnTo>
                    <a:pt x="8945" y="8618"/>
                  </a:lnTo>
                  <a:lnTo>
                    <a:pt x="5240" y="10097"/>
                  </a:lnTo>
                  <a:lnTo>
                    <a:pt x="1534" y="8618"/>
                  </a:lnTo>
                  <a:lnTo>
                    <a:pt x="0" y="5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53"/>
            <p:cNvSpPr/>
            <p:nvPr/>
          </p:nvSpPr>
          <p:spPr>
            <a:xfrm>
              <a:off x="2360763" y="4427721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4" h="10160">
                  <a:moveTo>
                    <a:pt x="0" y="5048"/>
                  </a:moveTo>
                  <a:lnTo>
                    <a:pt x="1534" y="1478"/>
                  </a:lnTo>
                  <a:lnTo>
                    <a:pt x="5240" y="0"/>
                  </a:lnTo>
                  <a:lnTo>
                    <a:pt x="8945" y="1478"/>
                  </a:lnTo>
                  <a:lnTo>
                    <a:pt x="10480" y="5048"/>
                  </a:lnTo>
                  <a:lnTo>
                    <a:pt x="8945" y="8618"/>
                  </a:lnTo>
                  <a:lnTo>
                    <a:pt x="5240" y="10097"/>
                  </a:lnTo>
                  <a:lnTo>
                    <a:pt x="1534" y="8618"/>
                  </a:lnTo>
                  <a:lnTo>
                    <a:pt x="0" y="5048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296061" y="4229347"/>
            <a:ext cx="1940299" cy="35859"/>
            <a:chOff x="183135" y="4793260"/>
            <a:chExt cx="2199005" cy="40640"/>
          </a:xfrm>
        </p:grpSpPr>
        <p:sp>
          <p:nvSpPr>
            <p:cNvPr id="55" name="object 55"/>
            <p:cNvSpPr/>
            <p:nvPr/>
          </p:nvSpPr>
          <p:spPr>
            <a:xfrm>
              <a:off x="188280" y="4808407"/>
              <a:ext cx="2188845" cy="20320"/>
            </a:xfrm>
            <a:custGeom>
              <a:avLst/>
              <a:gdLst/>
              <a:ahLst/>
              <a:cxnLst/>
              <a:rect l="l" t="t" r="r" b="b"/>
              <a:pathLst>
                <a:path w="2188845" h="20320">
                  <a:moveTo>
                    <a:pt x="2188278" y="0"/>
                  </a:moveTo>
                  <a:lnTo>
                    <a:pt x="2167064" y="20195"/>
                  </a:lnTo>
                </a:path>
                <a:path w="2188845" h="20320">
                  <a:moveTo>
                    <a:pt x="10480" y="20196"/>
                  </a:moveTo>
                  <a:lnTo>
                    <a:pt x="0" y="10097"/>
                  </a:lnTo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198760" y="4808407"/>
              <a:ext cx="2167255" cy="10160"/>
            </a:xfrm>
            <a:custGeom>
              <a:avLst/>
              <a:gdLst/>
              <a:ahLst/>
              <a:cxnLst/>
              <a:rect l="l" t="t" r="r" b="b"/>
              <a:pathLst>
                <a:path w="2167255" h="10160">
                  <a:moveTo>
                    <a:pt x="0" y="10097"/>
                  </a:moveTo>
                  <a:lnTo>
                    <a:pt x="2156583" y="10097"/>
                  </a:lnTo>
                </a:path>
                <a:path w="2167255" h="10160">
                  <a:moveTo>
                    <a:pt x="2156583" y="10097"/>
                  </a:moveTo>
                  <a:lnTo>
                    <a:pt x="2156583" y="0"/>
                  </a:lnTo>
                </a:path>
                <a:path w="2167255" h="10160">
                  <a:moveTo>
                    <a:pt x="2156583" y="0"/>
                  </a:moveTo>
                  <a:lnTo>
                    <a:pt x="2167243" y="0"/>
                  </a:lnTo>
                </a:path>
              </a:pathLst>
            </a:custGeom>
            <a:ln w="10288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209239" y="4798309"/>
              <a:ext cx="2146300" cy="10160"/>
            </a:xfrm>
            <a:custGeom>
              <a:avLst/>
              <a:gdLst/>
              <a:ahLst/>
              <a:cxnLst/>
              <a:rect l="l" t="t" r="r" b="b"/>
              <a:pathLst>
                <a:path w="2146300" h="10160">
                  <a:moveTo>
                    <a:pt x="0" y="10097"/>
                  </a:moveTo>
                  <a:lnTo>
                    <a:pt x="2135550" y="10097"/>
                  </a:lnTo>
                </a:path>
                <a:path w="2146300" h="10160">
                  <a:moveTo>
                    <a:pt x="2135550" y="10097"/>
                  </a:moveTo>
                  <a:lnTo>
                    <a:pt x="2135550" y="0"/>
                  </a:lnTo>
                </a:path>
                <a:path w="2146300" h="10160">
                  <a:moveTo>
                    <a:pt x="2135550" y="0"/>
                  </a:moveTo>
                  <a:lnTo>
                    <a:pt x="2146104" y="0"/>
                  </a:lnTo>
                </a:path>
              </a:pathLst>
            </a:custGeom>
            <a:ln w="10288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8" name="object 58"/>
            <p:cNvSpPr/>
            <p:nvPr/>
          </p:nvSpPr>
          <p:spPr>
            <a:xfrm>
              <a:off x="188280" y="4808407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4" h="10160">
                  <a:moveTo>
                    <a:pt x="0" y="0"/>
                  </a:moveTo>
                  <a:lnTo>
                    <a:pt x="10480" y="10097"/>
                  </a:lnTo>
                </a:path>
              </a:pathLst>
            </a:custGeom>
            <a:ln w="10281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59" name="object 59"/>
          <p:cNvGrpSpPr/>
          <p:nvPr/>
        </p:nvGrpSpPr>
        <p:grpSpPr>
          <a:xfrm>
            <a:off x="296060" y="4041126"/>
            <a:ext cx="1940299" cy="62753"/>
            <a:chOff x="183134" y="4579943"/>
            <a:chExt cx="2199005" cy="71120"/>
          </a:xfrm>
        </p:grpSpPr>
        <p:sp>
          <p:nvSpPr>
            <p:cNvPr id="60" name="object 60"/>
            <p:cNvSpPr/>
            <p:nvPr/>
          </p:nvSpPr>
          <p:spPr>
            <a:xfrm>
              <a:off x="188280" y="4595090"/>
              <a:ext cx="2188845" cy="20955"/>
            </a:xfrm>
            <a:custGeom>
              <a:avLst/>
              <a:gdLst/>
              <a:ahLst/>
              <a:cxnLst/>
              <a:rect l="l" t="t" r="r" b="b"/>
              <a:pathLst>
                <a:path w="2188845" h="20954">
                  <a:moveTo>
                    <a:pt x="2188278" y="0"/>
                  </a:moveTo>
                  <a:lnTo>
                    <a:pt x="2167064" y="20450"/>
                  </a:lnTo>
                </a:path>
                <a:path w="2188845" h="20954">
                  <a:moveTo>
                    <a:pt x="10480" y="20450"/>
                  </a:moveTo>
                  <a:lnTo>
                    <a:pt x="0" y="10225"/>
                  </a:lnTo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198760" y="4595090"/>
              <a:ext cx="2167255" cy="10160"/>
            </a:xfrm>
            <a:custGeom>
              <a:avLst/>
              <a:gdLst/>
              <a:ahLst/>
              <a:cxnLst/>
              <a:rect l="l" t="t" r="r" b="b"/>
              <a:pathLst>
                <a:path w="2167255" h="10160">
                  <a:moveTo>
                    <a:pt x="0" y="10097"/>
                  </a:moveTo>
                  <a:lnTo>
                    <a:pt x="2156583" y="10097"/>
                  </a:lnTo>
                </a:path>
                <a:path w="2167255" h="10160">
                  <a:moveTo>
                    <a:pt x="2156583" y="10097"/>
                  </a:moveTo>
                  <a:lnTo>
                    <a:pt x="2156583" y="0"/>
                  </a:lnTo>
                </a:path>
                <a:path w="2167255" h="10160">
                  <a:moveTo>
                    <a:pt x="2156583" y="0"/>
                  </a:moveTo>
                  <a:lnTo>
                    <a:pt x="2167243" y="0"/>
                  </a:lnTo>
                </a:path>
              </a:pathLst>
            </a:custGeom>
            <a:ln w="10288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2" name="object 62"/>
            <p:cNvSpPr/>
            <p:nvPr/>
          </p:nvSpPr>
          <p:spPr>
            <a:xfrm>
              <a:off x="209239" y="4584992"/>
              <a:ext cx="2146300" cy="10160"/>
            </a:xfrm>
            <a:custGeom>
              <a:avLst/>
              <a:gdLst/>
              <a:ahLst/>
              <a:cxnLst/>
              <a:rect l="l" t="t" r="r" b="b"/>
              <a:pathLst>
                <a:path w="2146300" h="10160">
                  <a:moveTo>
                    <a:pt x="0" y="10097"/>
                  </a:moveTo>
                  <a:lnTo>
                    <a:pt x="2135550" y="10097"/>
                  </a:lnTo>
                </a:path>
                <a:path w="2146300" h="10160">
                  <a:moveTo>
                    <a:pt x="2135550" y="10097"/>
                  </a:moveTo>
                  <a:lnTo>
                    <a:pt x="2135550" y="0"/>
                  </a:lnTo>
                </a:path>
                <a:path w="2146300" h="10160">
                  <a:moveTo>
                    <a:pt x="2135550" y="0"/>
                  </a:moveTo>
                  <a:lnTo>
                    <a:pt x="2146104" y="0"/>
                  </a:lnTo>
                </a:path>
              </a:pathLst>
            </a:custGeom>
            <a:ln w="10288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3" name="object 63"/>
            <p:cNvSpPr/>
            <p:nvPr/>
          </p:nvSpPr>
          <p:spPr>
            <a:xfrm>
              <a:off x="188280" y="4595090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4" h="10160">
                  <a:moveTo>
                    <a:pt x="0" y="0"/>
                  </a:moveTo>
                  <a:lnTo>
                    <a:pt x="10480" y="10097"/>
                  </a:lnTo>
                </a:path>
              </a:pathLst>
            </a:custGeom>
            <a:ln w="10281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4" name="object 64"/>
            <p:cNvSpPr/>
            <p:nvPr/>
          </p:nvSpPr>
          <p:spPr>
            <a:xfrm>
              <a:off x="188280" y="4615540"/>
              <a:ext cx="2188845" cy="20320"/>
            </a:xfrm>
            <a:custGeom>
              <a:avLst/>
              <a:gdLst/>
              <a:ahLst/>
              <a:cxnLst/>
              <a:rect l="l" t="t" r="r" b="b"/>
              <a:pathLst>
                <a:path w="2188845" h="20320">
                  <a:moveTo>
                    <a:pt x="2167064" y="0"/>
                  </a:moveTo>
                  <a:lnTo>
                    <a:pt x="2188278" y="20195"/>
                  </a:lnTo>
                </a:path>
                <a:path w="2188845" h="20320">
                  <a:moveTo>
                    <a:pt x="0" y="10098"/>
                  </a:moveTo>
                  <a:lnTo>
                    <a:pt x="10480" y="0"/>
                  </a:lnTo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198760" y="4635736"/>
              <a:ext cx="2146300" cy="10160"/>
            </a:xfrm>
            <a:custGeom>
              <a:avLst/>
              <a:gdLst/>
              <a:ahLst/>
              <a:cxnLst/>
              <a:rect l="l" t="t" r="r" b="b"/>
              <a:pathLst>
                <a:path w="2146300" h="10160">
                  <a:moveTo>
                    <a:pt x="0" y="10097"/>
                  </a:moveTo>
                  <a:lnTo>
                    <a:pt x="10479" y="10097"/>
                  </a:lnTo>
                </a:path>
                <a:path w="2146300" h="10160">
                  <a:moveTo>
                    <a:pt x="10479" y="10097"/>
                  </a:moveTo>
                  <a:lnTo>
                    <a:pt x="10479" y="0"/>
                  </a:lnTo>
                </a:path>
                <a:path w="2146300" h="10160">
                  <a:moveTo>
                    <a:pt x="10479" y="0"/>
                  </a:moveTo>
                  <a:lnTo>
                    <a:pt x="2146029" y="0"/>
                  </a:lnTo>
                </a:path>
              </a:pathLst>
            </a:custGeom>
            <a:ln w="10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188280" y="4625638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4" h="10160">
                  <a:moveTo>
                    <a:pt x="0" y="10097"/>
                  </a:moveTo>
                  <a:lnTo>
                    <a:pt x="10480" y="0"/>
                  </a:lnTo>
                </a:path>
              </a:pathLst>
            </a:custGeom>
            <a:ln w="10281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7" name="object 67"/>
            <p:cNvSpPr/>
            <p:nvPr/>
          </p:nvSpPr>
          <p:spPr>
            <a:xfrm>
              <a:off x="2350104" y="4620589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4" h="10160">
                  <a:moveTo>
                    <a:pt x="0" y="5048"/>
                  </a:moveTo>
                  <a:lnTo>
                    <a:pt x="1534" y="1478"/>
                  </a:lnTo>
                  <a:lnTo>
                    <a:pt x="5240" y="0"/>
                  </a:lnTo>
                  <a:lnTo>
                    <a:pt x="8945" y="1478"/>
                  </a:lnTo>
                  <a:lnTo>
                    <a:pt x="10480" y="5048"/>
                  </a:lnTo>
                  <a:lnTo>
                    <a:pt x="8945" y="8618"/>
                  </a:lnTo>
                  <a:lnTo>
                    <a:pt x="5240" y="10097"/>
                  </a:lnTo>
                  <a:lnTo>
                    <a:pt x="1534" y="8618"/>
                  </a:lnTo>
                  <a:lnTo>
                    <a:pt x="0" y="5048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8" name="object 68"/>
            <p:cNvSpPr/>
            <p:nvPr/>
          </p:nvSpPr>
          <p:spPr>
            <a:xfrm>
              <a:off x="193520" y="4630687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60">
                  <a:moveTo>
                    <a:pt x="0" y="5048"/>
                  </a:moveTo>
                  <a:lnTo>
                    <a:pt x="1534" y="1478"/>
                  </a:lnTo>
                  <a:lnTo>
                    <a:pt x="5240" y="0"/>
                  </a:lnTo>
                  <a:lnTo>
                    <a:pt x="8945" y="1478"/>
                  </a:lnTo>
                  <a:lnTo>
                    <a:pt x="10480" y="5048"/>
                  </a:lnTo>
                  <a:lnTo>
                    <a:pt x="8945" y="8618"/>
                  </a:lnTo>
                  <a:lnTo>
                    <a:pt x="5240" y="10097"/>
                  </a:lnTo>
                  <a:lnTo>
                    <a:pt x="1534" y="8618"/>
                  </a:lnTo>
                  <a:lnTo>
                    <a:pt x="0" y="5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9" name="object 69"/>
            <p:cNvSpPr/>
            <p:nvPr/>
          </p:nvSpPr>
          <p:spPr>
            <a:xfrm>
              <a:off x="2360763" y="4630687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4" h="10160">
                  <a:moveTo>
                    <a:pt x="0" y="5048"/>
                  </a:moveTo>
                  <a:lnTo>
                    <a:pt x="1534" y="1478"/>
                  </a:lnTo>
                  <a:lnTo>
                    <a:pt x="5240" y="0"/>
                  </a:lnTo>
                  <a:lnTo>
                    <a:pt x="8945" y="1478"/>
                  </a:lnTo>
                  <a:lnTo>
                    <a:pt x="10480" y="5048"/>
                  </a:lnTo>
                  <a:lnTo>
                    <a:pt x="8945" y="8618"/>
                  </a:lnTo>
                  <a:lnTo>
                    <a:pt x="5240" y="10097"/>
                  </a:lnTo>
                  <a:lnTo>
                    <a:pt x="1534" y="8618"/>
                  </a:lnTo>
                  <a:lnTo>
                    <a:pt x="0" y="5048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1" name="Slide Number Placeholder 4">
            <a:extLst>
              <a:ext uri="{FF2B5EF4-FFF2-40B4-BE49-F238E27FC236}">
                <a16:creationId xmlns:a16="http://schemas.microsoft.com/office/drawing/2014/main" id="{10F9F98A-2373-50A3-7EA5-EC9A6ED40C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45</a:t>
            </a:fld>
            <a:endParaRPr lang="en-US" spc="-44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05783" y="5012616"/>
            <a:ext cx="5549153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Arial MT"/>
                <a:cs typeface="Arial MT"/>
              </a:rPr>
              <a:t>Assumes</a:t>
            </a:r>
            <a:r>
              <a:rPr sz="1677" spc="-11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A1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maps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same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cache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block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on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both</a:t>
            </a:r>
            <a:r>
              <a:rPr sz="1677" spc="-18" dirty="0">
                <a:latin typeface="Arial MT"/>
                <a:cs typeface="Arial MT"/>
              </a:rPr>
              <a:t> CPUs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8413" y="2962732"/>
            <a:ext cx="1365437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3"/>
              </a:lnSpc>
            </a:pPr>
            <a:r>
              <a:rPr sz="1279" dirty="0">
                <a:solidFill>
                  <a:srgbClr val="F20884"/>
                </a:solidFill>
                <a:latin typeface="Arial MT"/>
                <a:cs typeface="Arial MT"/>
              </a:rPr>
              <a:t>P1:</a:t>
            </a:r>
            <a:r>
              <a:rPr sz="1279" spc="26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F20884"/>
                </a:solidFill>
                <a:latin typeface="Arial MT"/>
                <a:cs typeface="Arial MT"/>
              </a:rPr>
              <a:t>Write</a:t>
            </a:r>
            <a:r>
              <a:rPr sz="1279" spc="101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F20884"/>
                </a:solidFill>
                <a:latin typeface="Arial MT"/>
                <a:cs typeface="Arial MT"/>
              </a:rPr>
              <a:t>10</a:t>
            </a:r>
            <a:r>
              <a:rPr sz="1279" spc="26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F20884"/>
                </a:solidFill>
                <a:latin typeface="Arial MT"/>
                <a:cs typeface="Arial MT"/>
              </a:rPr>
              <a:t>to</a:t>
            </a:r>
            <a:r>
              <a:rPr sz="1279" spc="26" dirty="0">
                <a:solidFill>
                  <a:srgbClr val="F20884"/>
                </a:solidFill>
                <a:latin typeface="Arial MT"/>
                <a:cs typeface="Arial MT"/>
              </a:rPr>
              <a:t> A1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2544" y="3157359"/>
            <a:ext cx="95698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3"/>
              </a:lnSpc>
            </a:pPr>
            <a:r>
              <a:rPr sz="1279" dirty="0">
                <a:solidFill>
                  <a:srgbClr val="F20884"/>
                </a:solidFill>
                <a:latin typeface="Arial MT"/>
                <a:cs typeface="Arial MT"/>
              </a:rPr>
              <a:t>P1:</a:t>
            </a:r>
            <a:r>
              <a:rPr sz="1279" spc="57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F20884"/>
                </a:solidFill>
                <a:latin typeface="Arial MT"/>
                <a:cs typeface="Arial MT"/>
              </a:rPr>
              <a:t>Read</a:t>
            </a:r>
            <a:r>
              <a:rPr sz="1279" spc="62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spc="26" dirty="0">
                <a:solidFill>
                  <a:srgbClr val="F20884"/>
                </a:solidFill>
                <a:latin typeface="Arial MT"/>
                <a:cs typeface="Arial MT"/>
              </a:rPr>
              <a:t>A1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2544" y="3351986"/>
            <a:ext cx="95698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3"/>
              </a:lnSpc>
            </a:pP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P2:</a:t>
            </a:r>
            <a:r>
              <a:rPr sz="1279" spc="57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Read</a:t>
            </a:r>
            <a:r>
              <a:rPr sz="1279" spc="62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A1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8413" y="3935523"/>
            <a:ext cx="1365437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3"/>
              </a:lnSpc>
            </a:pP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P2: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Write</a:t>
            </a:r>
            <a:r>
              <a:rPr sz="1279" spc="101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20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to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 A1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8413" y="4129890"/>
            <a:ext cx="1365437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3"/>
              </a:lnSpc>
            </a:pP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P2: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Write</a:t>
            </a:r>
            <a:r>
              <a:rPr sz="1279" spc="101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40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to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 A2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9847" y="3150776"/>
            <a:ext cx="19050" cy="19050"/>
          </a:xfrm>
          <a:custGeom>
            <a:avLst/>
            <a:gdLst/>
            <a:ahLst/>
            <a:cxnLst/>
            <a:rect l="l" t="t" r="r" b="b"/>
            <a:pathLst>
              <a:path w="21589" h="21589">
                <a:moveTo>
                  <a:pt x="0" y="21132"/>
                </a:moveTo>
                <a:lnTo>
                  <a:pt x="21221" y="0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" name="object 10"/>
          <p:cNvSpPr/>
          <p:nvPr/>
        </p:nvSpPr>
        <p:spPr>
          <a:xfrm>
            <a:off x="2212715" y="3345404"/>
            <a:ext cx="19050" cy="18490"/>
          </a:xfrm>
          <a:custGeom>
            <a:avLst/>
            <a:gdLst/>
            <a:ahLst/>
            <a:cxnLst/>
            <a:rect l="l" t="t" r="r" b="b"/>
            <a:pathLst>
              <a:path w="21589" h="20954">
                <a:moveTo>
                  <a:pt x="0" y="0"/>
                </a:moveTo>
                <a:lnTo>
                  <a:pt x="21213" y="20817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1" name="object 11"/>
          <p:cNvSpPr/>
          <p:nvPr/>
        </p:nvSpPr>
        <p:spPr>
          <a:xfrm>
            <a:off x="2212715" y="2956150"/>
            <a:ext cx="19050" cy="19050"/>
          </a:xfrm>
          <a:custGeom>
            <a:avLst/>
            <a:gdLst/>
            <a:ahLst/>
            <a:cxnLst/>
            <a:rect l="l" t="t" r="r" b="b"/>
            <a:pathLst>
              <a:path w="21589" h="21589">
                <a:moveTo>
                  <a:pt x="0" y="0"/>
                </a:moveTo>
                <a:lnTo>
                  <a:pt x="21213" y="21237"/>
                </a:lnTo>
              </a:path>
            </a:pathLst>
          </a:custGeom>
          <a:ln w="10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2" name="object 12"/>
          <p:cNvSpPr/>
          <p:nvPr/>
        </p:nvSpPr>
        <p:spPr>
          <a:xfrm>
            <a:off x="309847" y="2956150"/>
            <a:ext cx="19050" cy="19050"/>
          </a:xfrm>
          <a:custGeom>
            <a:avLst/>
            <a:gdLst/>
            <a:ahLst/>
            <a:cxnLst/>
            <a:rect l="l" t="t" r="r" b="b"/>
            <a:pathLst>
              <a:path w="21589" h="21589">
                <a:moveTo>
                  <a:pt x="0" y="21237"/>
                </a:moveTo>
                <a:lnTo>
                  <a:pt x="21221" y="0"/>
                </a:lnTo>
              </a:path>
            </a:pathLst>
          </a:custGeom>
          <a:ln w="10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86729" y="2562661"/>
          <a:ext cx="8559049" cy="1942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8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0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9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9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89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192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89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42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693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54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241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9442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2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635"/>
                        </a:lnSpc>
                      </a:pPr>
                      <a:r>
                        <a:rPr sz="1300" i="1" spc="-2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635"/>
                        </a:lnSpc>
                      </a:pPr>
                      <a:r>
                        <a:rPr sz="1300" i="1" spc="-25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Bus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10" dirty="0">
                          <a:latin typeface="Arial"/>
                          <a:cs typeface="Arial"/>
                        </a:rPr>
                        <a:t>Memory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862">
                <a:tc gridSpan="2">
                  <a:txBody>
                    <a:bodyPr/>
                    <a:lstStyle/>
                    <a:p>
                      <a:pPr marR="64769" algn="ctr">
                        <a:lnSpc>
                          <a:spcPts val="1635"/>
                        </a:lnSpc>
                      </a:pPr>
                      <a:r>
                        <a:rPr sz="1300" i="1" spc="-20" dirty="0">
                          <a:latin typeface="Arial"/>
                          <a:cs typeface="Arial"/>
                        </a:rPr>
                        <a:t>step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State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0655" algn="r">
                        <a:lnSpc>
                          <a:spcPts val="1635"/>
                        </a:lnSpc>
                      </a:pPr>
                      <a:r>
                        <a:rPr sz="1300" i="1" spc="-2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Addr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State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635"/>
                        </a:lnSpc>
                      </a:pPr>
                      <a:r>
                        <a:rPr sz="1300" i="1" spc="-2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Addr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Action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Proc.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635"/>
                        </a:lnSpc>
                      </a:pPr>
                      <a:r>
                        <a:rPr sz="1300" i="1" spc="-20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Addr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20" dirty="0">
                          <a:latin typeface="Arial"/>
                          <a:cs typeface="Arial"/>
                        </a:rPr>
                        <a:t>Addr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635"/>
                        </a:lnSpc>
                      </a:pPr>
                      <a:r>
                        <a:rPr sz="1300" i="1" spc="-10" dirty="0">
                          <a:latin typeface="Arial"/>
                          <a:cs typeface="Arial"/>
                        </a:rPr>
                        <a:t>Value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422">
                <a:tc gridSpan="2">
                  <a:txBody>
                    <a:bodyPr/>
                    <a:lstStyle/>
                    <a:p>
                      <a:pPr marL="336550">
                        <a:lnSpc>
                          <a:spcPts val="1614"/>
                        </a:lnSpc>
                      </a:pPr>
                      <a:r>
                        <a:rPr sz="13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P1</a:t>
                      </a:r>
                      <a:r>
                        <a:rPr sz="1300" b="1" spc="4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Write</a:t>
                      </a:r>
                      <a:r>
                        <a:rPr sz="1300" b="1" spc="5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1300" b="1" spc="4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300" b="1" spc="5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AAAAAA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1635"/>
                        </a:lnSpc>
                      </a:pPr>
                      <a:r>
                        <a:rPr sz="1300" i="1" u="sng" spc="-2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Excl.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ts val="1635"/>
                        </a:lnSpc>
                      </a:pPr>
                      <a:r>
                        <a:rPr sz="1300" i="1" u="sng" spc="-2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1635"/>
                        </a:lnSpc>
                      </a:pPr>
                      <a:r>
                        <a:rPr sz="1300" i="1" u="sng" spc="-2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10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635"/>
                        </a:lnSpc>
                      </a:pPr>
                      <a:r>
                        <a:rPr sz="1300" i="1" u="sng" spc="-2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WrMs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P1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2405" algn="r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 marL="346710">
                        <a:lnSpc>
                          <a:spcPts val="1614"/>
                        </a:lnSpc>
                      </a:pPr>
                      <a:r>
                        <a:rPr sz="13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P1:</a:t>
                      </a:r>
                      <a:r>
                        <a:rPr sz="1300" b="1" spc="6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Read</a:t>
                      </a:r>
                      <a:r>
                        <a:rPr sz="1300" b="1" spc="6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38100">
                      <a:solidFill>
                        <a:srgbClr val="AAAAAA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AAAAAA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ts val="1635"/>
                        </a:lnSpc>
                      </a:pPr>
                      <a:r>
                        <a:rPr sz="1300" spc="-20" dirty="0">
                          <a:latin typeface="Arial MT"/>
                          <a:cs typeface="Arial MT"/>
                        </a:rPr>
                        <a:t>Excl.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1635"/>
                        </a:lnSpc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ts val="1635"/>
                        </a:lnSpc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10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422">
                <a:tc gridSpan="2">
                  <a:txBody>
                    <a:bodyPr/>
                    <a:lstStyle/>
                    <a:p>
                      <a:pPr marL="546735">
                        <a:lnSpc>
                          <a:spcPts val="1610"/>
                        </a:lnSpc>
                      </a:pP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P2:</a:t>
                      </a:r>
                      <a:r>
                        <a:rPr sz="1300" b="1" spc="6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Read</a:t>
                      </a:r>
                      <a:r>
                        <a:rPr sz="1300" b="1" spc="6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86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42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422">
                <a:tc gridSpan="2">
                  <a:txBody>
                    <a:bodyPr/>
                    <a:lstStyle/>
                    <a:p>
                      <a:pPr marL="294005">
                        <a:lnSpc>
                          <a:spcPts val="1635"/>
                        </a:lnSpc>
                      </a:pP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P2:</a:t>
                      </a:r>
                      <a:r>
                        <a:rPr sz="13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Write</a:t>
                      </a:r>
                      <a:r>
                        <a:rPr sz="13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sz="13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300" b="1" spc="5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862">
                <a:tc gridSpan="2">
                  <a:txBody>
                    <a:bodyPr/>
                    <a:lstStyle/>
                    <a:p>
                      <a:pPr marL="294005">
                        <a:lnSpc>
                          <a:spcPts val="1610"/>
                        </a:lnSpc>
                      </a:pP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P2:</a:t>
                      </a:r>
                      <a:r>
                        <a:rPr sz="13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Write</a:t>
                      </a:r>
                      <a:r>
                        <a:rPr sz="13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40</a:t>
                      </a:r>
                      <a:r>
                        <a:rPr sz="13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300" b="1" spc="5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A2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442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295986" y="3507501"/>
            <a:ext cx="1940299" cy="37540"/>
            <a:chOff x="183050" y="3975168"/>
            <a:chExt cx="2199005" cy="42545"/>
          </a:xfrm>
        </p:grpSpPr>
        <p:sp>
          <p:nvSpPr>
            <p:cNvPr id="15" name="object 15"/>
            <p:cNvSpPr/>
            <p:nvPr/>
          </p:nvSpPr>
          <p:spPr>
            <a:xfrm>
              <a:off x="188280" y="3990797"/>
              <a:ext cx="2188845" cy="21590"/>
            </a:xfrm>
            <a:custGeom>
              <a:avLst/>
              <a:gdLst/>
              <a:ahLst/>
              <a:cxnLst/>
              <a:rect l="l" t="t" r="r" b="b"/>
              <a:pathLst>
                <a:path w="2188845" h="21589">
                  <a:moveTo>
                    <a:pt x="2188278" y="0"/>
                  </a:moveTo>
                  <a:lnTo>
                    <a:pt x="2167064" y="21132"/>
                  </a:lnTo>
                </a:path>
                <a:path w="2188845" h="21589">
                  <a:moveTo>
                    <a:pt x="10480" y="21132"/>
                  </a:moveTo>
                  <a:lnTo>
                    <a:pt x="0" y="10566"/>
                  </a:lnTo>
                </a:path>
              </a:pathLst>
            </a:custGeom>
            <a:ln w="104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198760" y="3990797"/>
              <a:ext cx="2167255" cy="10795"/>
            </a:xfrm>
            <a:custGeom>
              <a:avLst/>
              <a:gdLst/>
              <a:ahLst/>
              <a:cxnLst/>
              <a:rect l="l" t="t" r="r" b="b"/>
              <a:pathLst>
                <a:path w="2167255" h="10795">
                  <a:moveTo>
                    <a:pt x="0" y="10513"/>
                  </a:moveTo>
                  <a:lnTo>
                    <a:pt x="2156583" y="10513"/>
                  </a:lnTo>
                </a:path>
                <a:path w="2167255" h="10795">
                  <a:moveTo>
                    <a:pt x="2156583" y="10513"/>
                  </a:moveTo>
                  <a:lnTo>
                    <a:pt x="2156583" y="0"/>
                  </a:lnTo>
                </a:path>
                <a:path w="2167255" h="10795">
                  <a:moveTo>
                    <a:pt x="2156583" y="0"/>
                  </a:moveTo>
                  <a:lnTo>
                    <a:pt x="2167243" y="0"/>
                  </a:lnTo>
                </a:path>
              </a:pathLst>
            </a:custGeom>
            <a:ln w="10459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209239" y="3980388"/>
              <a:ext cx="2146300" cy="10795"/>
            </a:xfrm>
            <a:custGeom>
              <a:avLst/>
              <a:gdLst/>
              <a:ahLst/>
              <a:cxnLst/>
              <a:rect l="l" t="t" r="r" b="b"/>
              <a:pathLst>
                <a:path w="2146300" h="10795">
                  <a:moveTo>
                    <a:pt x="0" y="10408"/>
                  </a:moveTo>
                  <a:lnTo>
                    <a:pt x="2135550" y="10408"/>
                  </a:lnTo>
                </a:path>
                <a:path w="2146300" h="10795">
                  <a:moveTo>
                    <a:pt x="2135550" y="10408"/>
                  </a:moveTo>
                  <a:lnTo>
                    <a:pt x="2135550" y="0"/>
                  </a:lnTo>
                </a:path>
                <a:path w="2146300" h="10795">
                  <a:moveTo>
                    <a:pt x="2135550" y="0"/>
                  </a:moveTo>
                  <a:lnTo>
                    <a:pt x="2146104" y="0"/>
                  </a:lnTo>
                </a:path>
              </a:pathLst>
            </a:custGeom>
            <a:ln w="10459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188280" y="3990797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0"/>
                  </a:moveTo>
                  <a:lnTo>
                    <a:pt x="10480" y="10513"/>
                  </a:lnTo>
                </a:path>
              </a:pathLst>
            </a:custGeom>
            <a:ln w="10460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295985" y="3322143"/>
            <a:ext cx="1545851" cy="46504"/>
            <a:chOff x="183050" y="3765095"/>
            <a:chExt cx="1751964" cy="52705"/>
          </a:xfrm>
        </p:grpSpPr>
        <p:sp>
          <p:nvSpPr>
            <p:cNvPr id="20" name="object 20"/>
            <p:cNvSpPr/>
            <p:nvPr/>
          </p:nvSpPr>
          <p:spPr>
            <a:xfrm>
              <a:off x="198760" y="3770325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89" h="21589">
                  <a:moveTo>
                    <a:pt x="21221" y="21132"/>
                  </a:moveTo>
                  <a:lnTo>
                    <a:pt x="0" y="0"/>
                  </a:lnTo>
                </a:path>
              </a:pathLst>
            </a:custGeom>
            <a:ln w="104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193520" y="3765105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230462" y="3770325"/>
              <a:ext cx="1704339" cy="0"/>
            </a:xfrm>
            <a:custGeom>
              <a:avLst/>
              <a:gdLst/>
              <a:ahLst/>
              <a:cxnLst/>
              <a:rect l="l" t="t" r="r" b="b"/>
              <a:pathLst>
                <a:path w="1704339">
                  <a:moveTo>
                    <a:pt x="0" y="0"/>
                  </a:moveTo>
                  <a:lnTo>
                    <a:pt x="1704085" y="0"/>
                  </a:lnTo>
                </a:path>
              </a:pathLst>
            </a:custGeom>
            <a:ln w="10439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209239" y="3770325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0"/>
                  </a:moveTo>
                  <a:lnTo>
                    <a:pt x="10742" y="10723"/>
                  </a:lnTo>
                </a:path>
              </a:pathLst>
            </a:custGeom>
            <a:ln w="10459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188280" y="3791457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408"/>
                  </a:moveTo>
                  <a:lnTo>
                    <a:pt x="10480" y="0"/>
                  </a:lnTo>
                </a:path>
              </a:pathLst>
            </a:custGeom>
            <a:ln w="104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188280" y="3801866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408"/>
                  </a:moveTo>
                  <a:lnTo>
                    <a:pt x="10480" y="0"/>
                  </a:lnTo>
                </a:path>
              </a:pathLst>
            </a:custGeom>
            <a:ln w="10459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193520" y="3807055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2208092" y="3349982"/>
            <a:ext cx="19050" cy="18490"/>
            <a:chOff x="2350104" y="3796646"/>
            <a:chExt cx="21590" cy="20955"/>
          </a:xfrm>
        </p:grpSpPr>
        <p:sp>
          <p:nvSpPr>
            <p:cNvPr id="28" name="object 28"/>
            <p:cNvSpPr/>
            <p:nvPr/>
          </p:nvSpPr>
          <p:spPr>
            <a:xfrm>
              <a:off x="2350104" y="3796646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2360763" y="3807055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0" name="object 30"/>
          <p:cNvSpPr/>
          <p:nvPr/>
        </p:nvSpPr>
        <p:spPr>
          <a:xfrm>
            <a:off x="2212715" y="3132409"/>
            <a:ext cx="19050" cy="18490"/>
          </a:xfrm>
          <a:custGeom>
            <a:avLst/>
            <a:gdLst/>
            <a:ahLst/>
            <a:cxnLst/>
            <a:rect l="l" t="t" r="r" b="b"/>
            <a:pathLst>
              <a:path w="21589" h="20954">
                <a:moveTo>
                  <a:pt x="21213" y="0"/>
                </a:moveTo>
                <a:lnTo>
                  <a:pt x="0" y="20817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31" name="object 31"/>
          <p:cNvGrpSpPr/>
          <p:nvPr/>
        </p:nvGrpSpPr>
        <p:grpSpPr>
          <a:xfrm>
            <a:off x="305224" y="3127794"/>
            <a:ext cx="1536326" cy="56029"/>
            <a:chOff x="193520" y="3544833"/>
            <a:chExt cx="1741170" cy="63500"/>
          </a:xfrm>
        </p:grpSpPr>
        <p:sp>
          <p:nvSpPr>
            <p:cNvPr id="32" name="object 32"/>
            <p:cNvSpPr/>
            <p:nvPr/>
          </p:nvSpPr>
          <p:spPr>
            <a:xfrm>
              <a:off x="193520" y="358679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219982" y="3592013"/>
              <a:ext cx="1715135" cy="10795"/>
            </a:xfrm>
            <a:custGeom>
              <a:avLst/>
              <a:gdLst/>
              <a:ahLst/>
              <a:cxnLst/>
              <a:rect l="l" t="t" r="r" b="b"/>
              <a:pathLst>
                <a:path w="1715135" h="10795">
                  <a:moveTo>
                    <a:pt x="0" y="10513"/>
                  </a:moveTo>
                  <a:lnTo>
                    <a:pt x="10480" y="10513"/>
                  </a:lnTo>
                </a:path>
                <a:path w="1715135" h="10795">
                  <a:moveTo>
                    <a:pt x="10480" y="10513"/>
                  </a:moveTo>
                  <a:lnTo>
                    <a:pt x="10480" y="0"/>
                  </a:lnTo>
                </a:path>
                <a:path w="1715135" h="10795">
                  <a:moveTo>
                    <a:pt x="10480" y="0"/>
                  </a:moveTo>
                  <a:lnTo>
                    <a:pt x="1714565" y="0"/>
                  </a:lnTo>
                </a:path>
              </a:pathLst>
            </a:custGeom>
            <a:ln w="104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209239" y="3581289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10723"/>
                  </a:moveTo>
                  <a:lnTo>
                    <a:pt x="10742" y="0"/>
                  </a:lnTo>
                </a:path>
              </a:pathLst>
            </a:custGeom>
            <a:ln w="10459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214741" y="358679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6" name="object 36"/>
            <p:cNvSpPr/>
            <p:nvPr/>
          </p:nvSpPr>
          <p:spPr>
            <a:xfrm>
              <a:off x="198760" y="3550063"/>
              <a:ext cx="21590" cy="20955"/>
            </a:xfrm>
            <a:custGeom>
              <a:avLst/>
              <a:gdLst/>
              <a:ahLst/>
              <a:cxnLst/>
              <a:rect l="l" t="t" r="r" b="b"/>
              <a:pathLst>
                <a:path w="21589" h="20954">
                  <a:moveTo>
                    <a:pt x="21221" y="20817"/>
                  </a:moveTo>
                  <a:lnTo>
                    <a:pt x="0" y="0"/>
                  </a:lnTo>
                </a:path>
              </a:pathLst>
            </a:custGeom>
            <a:ln w="104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193520" y="354484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209239" y="355006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0"/>
                  </a:moveTo>
                  <a:lnTo>
                    <a:pt x="10742" y="10408"/>
                  </a:lnTo>
                </a:path>
              </a:pathLst>
            </a:custGeom>
            <a:ln w="10459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305223" y="2960997"/>
            <a:ext cx="1921809" cy="28015"/>
            <a:chOff x="193520" y="3355797"/>
            <a:chExt cx="2178050" cy="31750"/>
          </a:xfrm>
        </p:grpSpPr>
        <p:sp>
          <p:nvSpPr>
            <p:cNvPr id="40" name="object 40"/>
            <p:cNvSpPr/>
            <p:nvPr/>
          </p:nvSpPr>
          <p:spPr>
            <a:xfrm>
              <a:off x="193520" y="3366321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219982" y="3371541"/>
              <a:ext cx="2125345" cy="10795"/>
            </a:xfrm>
            <a:custGeom>
              <a:avLst/>
              <a:gdLst/>
              <a:ahLst/>
              <a:cxnLst/>
              <a:rect l="l" t="t" r="r" b="b"/>
              <a:pathLst>
                <a:path w="2125345" h="10795">
                  <a:moveTo>
                    <a:pt x="0" y="10408"/>
                  </a:moveTo>
                  <a:lnTo>
                    <a:pt x="10480" y="10408"/>
                  </a:lnTo>
                </a:path>
                <a:path w="2125345" h="10795">
                  <a:moveTo>
                    <a:pt x="10480" y="10408"/>
                  </a:moveTo>
                  <a:lnTo>
                    <a:pt x="10480" y="0"/>
                  </a:lnTo>
                </a:path>
                <a:path w="2125345" h="10795">
                  <a:moveTo>
                    <a:pt x="10480" y="0"/>
                  </a:moveTo>
                  <a:lnTo>
                    <a:pt x="2124808" y="0"/>
                  </a:lnTo>
                </a:path>
              </a:pathLst>
            </a:custGeom>
            <a:ln w="104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209239" y="3361027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10513"/>
                  </a:moveTo>
                  <a:lnTo>
                    <a:pt x="10742" y="0"/>
                  </a:lnTo>
                </a:path>
              </a:pathLst>
            </a:custGeom>
            <a:ln w="10459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3" name="object 43"/>
            <p:cNvSpPr/>
            <p:nvPr/>
          </p:nvSpPr>
          <p:spPr>
            <a:xfrm>
              <a:off x="2350104" y="3355807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4" name="object 44"/>
            <p:cNvSpPr/>
            <p:nvPr/>
          </p:nvSpPr>
          <p:spPr>
            <a:xfrm>
              <a:off x="214741" y="3366321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5" name="object 45"/>
            <p:cNvSpPr/>
            <p:nvPr/>
          </p:nvSpPr>
          <p:spPr>
            <a:xfrm>
              <a:off x="2360763" y="3366321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295985" y="3933539"/>
            <a:ext cx="1940299" cy="37540"/>
            <a:chOff x="183049" y="4458010"/>
            <a:chExt cx="2199005" cy="42545"/>
          </a:xfrm>
        </p:grpSpPr>
        <p:sp>
          <p:nvSpPr>
            <p:cNvPr id="47" name="object 47"/>
            <p:cNvSpPr/>
            <p:nvPr/>
          </p:nvSpPr>
          <p:spPr>
            <a:xfrm>
              <a:off x="188280" y="4463240"/>
              <a:ext cx="2188845" cy="21590"/>
            </a:xfrm>
            <a:custGeom>
              <a:avLst/>
              <a:gdLst/>
              <a:ahLst/>
              <a:cxnLst/>
              <a:rect l="l" t="t" r="r" b="b"/>
              <a:pathLst>
                <a:path w="2188845" h="21589">
                  <a:moveTo>
                    <a:pt x="2167064" y="0"/>
                  </a:moveTo>
                  <a:lnTo>
                    <a:pt x="2188278" y="21143"/>
                  </a:lnTo>
                </a:path>
                <a:path w="2188845" h="21589">
                  <a:moveTo>
                    <a:pt x="0" y="10571"/>
                  </a:moveTo>
                  <a:lnTo>
                    <a:pt x="10480" y="0"/>
                  </a:lnTo>
                </a:path>
              </a:pathLst>
            </a:custGeom>
            <a:ln w="104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193509" y="4458030"/>
              <a:ext cx="2167255" cy="10795"/>
            </a:xfrm>
            <a:custGeom>
              <a:avLst/>
              <a:gdLst/>
              <a:ahLst/>
              <a:cxnLst/>
              <a:rect l="l" t="t" r="r" b="b"/>
              <a:pathLst>
                <a:path w="2167255" h="10795">
                  <a:moveTo>
                    <a:pt x="10490" y="5219"/>
                  </a:moveTo>
                  <a:lnTo>
                    <a:pt x="8953" y="1524"/>
                  </a:lnTo>
                  <a:lnTo>
                    <a:pt x="5245" y="0"/>
                  </a:lnTo>
                  <a:lnTo>
                    <a:pt x="1536" y="1524"/>
                  </a:lnTo>
                  <a:lnTo>
                    <a:pt x="0" y="5219"/>
                  </a:lnTo>
                  <a:lnTo>
                    <a:pt x="1536" y="8902"/>
                  </a:lnTo>
                  <a:lnTo>
                    <a:pt x="5245" y="10439"/>
                  </a:lnTo>
                  <a:lnTo>
                    <a:pt x="8953" y="8902"/>
                  </a:lnTo>
                  <a:lnTo>
                    <a:pt x="10490" y="5219"/>
                  </a:lnTo>
                  <a:close/>
                </a:path>
                <a:path w="2167255" h="10795">
                  <a:moveTo>
                    <a:pt x="2167064" y="5219"/>
                  </a:moveTo>
                  <a:lnTo>
                    <a:pt x="2165527" y="1524"/>
                  </a:lnTo>
                  <a:lnTo>
                    <a:pt x="2161832" y="0"/>
                  </a:lnTo>
                  <a:lnTo>
                    <a:pt x="2158123" y="1524"/>
                  </a:lnTo>
                  <a:lnTo>
                    <a:pt x="2156587" y="5219"/>
                  </a:lnTo>
                  <a:lnTo>
                    <a:pt x="2158123" y="8902"/>
                  </a:lnTo>
                  <a:lnTo>
                    <a:pt x="2161832" y="10439"/>
                  </a:lnTo>
                  <a:lnTo>
                    <a:pt x="2165527" y="8902"/>
                  </a:lnTo>
                  <a:lnTo>
                    <a:pt x="2167064" y="521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9" name="object 49"/>
            <p:cNvSpPr/>
            <p:nvPr/>
          </p:nvSpPr>
          <p:spPr>
            <a:xfrm>
              <a:off x="198760" y="4484383"/>
              <a:ext cx="2146300" cy="10795"/>
            </a:xfrm>
            <a:custGeom>
              <a:avLst/>
              <a:gdLst/>
              <a:ahLst/>
              <a:cxnLst/>
              <a:rect l="l" t="t" r="r" b="b"/>
              <a:pathLst>
                <a:path w="2146300" h="10795">
                  <a:moveTo>
                    <a:pt x="0" y="10440"/>
                  </a:moveTo>
                  <a:lnTo>
                    <a:pt x="10479" y="10440"/>
                  </a:lnTo>
                </a:path>
                <a:path w="2146300" h="10795">
                  <a:moveTo>
                    <a:pt x="10479" y="10440"/>
                  </a:moveTo>
                  <a:lnTo>
                    <a:pt x="10479" y="0"/>
                  </a:lnTo>
                </a:path>
                <a:path w="2146300" h="10795">
                  <a:moveTo>
                    <a:pt x="10479" y="0"/>
                  </a:moveTo>
                  <a:lnTo>
                    <a:pt x="2146029" y="0"/>
                  </a:lnTo>
                </a:path>
              </a:pathLst>
            </a:custGeom>
            <a:ln w="104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0" name="object 50"/>
            <p:cNvSpPr/>
            <p:nvPr/>
          </p:nvSpPr>
          <p:spPr>
            <a:xfrm>
              <a:off x="188280" y="447368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702"/>
                  </a:moveTo>
                  <a:lnTo>
                    <a:pt x="10480" y="0"/>
                  </a:lnTo>
                </a:path>
              </a:pathLst>
            </a:custGeom>
            <a:ln w="10460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2350104" y="446846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2" name="object 52"/>
            <p:cNvSpPr/>
            <p:nvPr/>
          </p:nvSpPr>
          <p:spPr>
            <a:xfrm>
              <a:off x="193520" y="447916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53"/>
            <p:cNvSpPr/>
            <p:nvPr/>
          </p:nvSpPr>
          <p:spPr>
            <a:xfrm>
              <a:off x="2360763" y="447916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295986" y="4285666"/>
            <a:ext cx="1940299" cy="36979"/>
            <a:chOff x="183050" y="4857088"/>
            <a:chExt cx="2199005" cy="41910"/>
          </a:xfrm>
        </p:grpSpPr>
        <p:sp>
          <p:nvSpPr>
            <p:cNvPr id="55" name="object 55"/>
            <p:cNvSpPr/>
            <p:nvPr/>
          </p:nvSpPr>
          <p:spPr>
            <a:xfrm>
              <a:off x="188280" y="4872748"/>
              <a:ext cx="2188845" cy="20955"/>
            </a:xfrm>
            <a:custGeom>
              <a:avLst/>
              <a:gdLst/>
              <a:ahLst/>
              <a:cxnLst/>
              <a:rect l="l" t="t" r="r" b="b"/>
              <a:pathLst>
                <a:path w="2188845" h="20954">
                  <a:moveTo>
                    <a:pt x="2188278" y="0"/>
                  </a:moveTo>
                  <a:lnTo>
                    <a:pt x="2167064" y="20880"/>
                  </a:lnTo>
                </a:path>
                <a:path w="2188845" h="20954">
                  <a:moveTo>
                    <a:pt x="10480" y="20880"/>
                  </a:moveTo>
                  <a:lnTo>
                    <a:pt x="0" y="10439"/>
                  </a:lnTo>
                </a:path>
              </a:pathLst>
            </a:custGeom>
            <a:ln w="104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198760" y="4872748"/>
              <a:ext cx="2167255" cy="10795"/>
            </a:xfrm>
            <a:custGeom>
              <a:avLst/>
              <a:gdLst/>
              <a:ahLst/>
              <a:cxnLst/>
              <a:rect l="l" t="t" r="r" b="b"/>
              <a:pathLst>
                <a:path w="2167255" h="10795">
                  <a:moveTo>
                    <a:pt x="0" y="10440"/>
                  </a:moveTo>
                  <a:lnTo>
                    <a:pt x="2156583" y="10440"/>
                  </a:lnTo>
                </a:path>
                <a:path w="2167255" h="10795">
                  <a:moveTo>
                    <a:pt x="2156583" y="10440"/>
                  </a:moveTo>
                  <a:lnTo>
                    <a:pt x="2156583" y="0"/>
                  </a:lnTo>
                </a:path>
                <a:path w="2167255" h="10795">
                  <a:moveTo>
                    <a:pt x="2156583" y="0"/>
                  </a:moveTo>
                  <a:lnTo>
                    <a:pt x="2167243" y="0"/>
                  </a:lnTo>
                </a:path>
              </a:pathLst>
            </a:custGeom>
            <a:ln w="10459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209239" y="4862308"/>
              <a:ext cx="2146300" cy="10795"/>
            </a:xfrm>
            <a:custGeom>
              <a:avLst/>
              <a:gdLst/>
              <a:ahLst/>
              <a:cxnLst/>
              <a:rect l="l" t="t" r="r" b="b"/>
              <a:pathLst>
                <a:path w="2146300" h="10795">
                  <a:moveTo>
                    <a:pt x="0" y="10440"/>
                  </a:moveTo>
                  <a:lnTo>
                    <a:pt x="2135550" y="10440"/>
                  </a:lnTo>
                </a:path>
                <a:path w="2146300" h="10795">
                  <a:moveTo>
                    <a:pt x="2135550" y="10440"/>
                  </a:moveTo>
                  <a:lnTo>
                    <a:pt x="2135550" y="0"/>
                  </a:lnTo>
                </a:path>
                <a:path w="2146300" h="10795">
                  <a:moveTo>
                    <a:pt x="2135550" y="0"/>
                  </a:moveTo>
                  <a:lnTo>
                    <a:pt x="2146104" y="0"/>
                  </a:lnTo>
                </a:path>
              </a:pathLst>
            </a:custGeom>
            <a:ln w="10459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8" name="object 58"/>
            <p:cNvSpPr/>
            <p:nvPr/>
          </p:nvSpPr>
          <p:spPr>
            <a:xfrm>
              <a:off x="188280" y="4872748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0"/>
                  </a:moveTo>
                  <a:lnTo>
                    <a:pt x="10480" y="10440"/>
                  </a:lnTo>
                </a:path>
              </a:pathLst>
            </a:custGeom>
            <a:ln w="10459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59" name="object 59"/>
          <p:cNvGrpSpPr/>
          <p:nvPr/>
        </p:nvGrpSpPr>
        <p:grpSpPr>
          <a:xfrm>
            <a:off x="295986" y="4091067"/>
            <a:ext cx="1940299" cy="64994"/>
            <a:chOff x="183050" y="4636542"/>
            <a:chExt cx="2199005" cy="73660"/>
          </a:xfrm>
        </p:grpSpPr>
        <p:sp>
          <p:nvSpPr>
            <p:cNvPr id="60" name="object 60"/>
            <p:cNvSpPr/>
            <p:nvPr/>
          </p:nvSpPr>
          <p:spPr>
            <a:xfrm>
              <a:off x="188280" y="4652202"/>
              <a:ext cx="2188845" cy="21590"/>
            </a:xfrm>
            <a:custGeom>
              <a:avLst/>
              <a:gdLst/>
              <a:ahLst/>
              <a:cxnLst/>
              <a:rect l="l" t="t" r="r" b="b"/>
              <a:pathLst>
                <a:path w="2188845" h="21589">
                  <a:moveTo>
                    <a:pt x="2188278" y="0"/>
                  </a:moveTo>
                  <a:lnTo>
                    <a:pt x="2167064" y="21143"/>
                  </a:lnTo>
                </a:path>
                <a:path w="2188845" h="21589">
                  <a:moveTo>
                    <a:pt x="10480" y="21143"/>
                  </a:moveTo>
                  <a:lnTo>
                    <a:pt x="0" y="10571"/>
                  </a:lnTo>
                </a:path>
              </a:pathLst>
            </a:custGeom>
            <a:ln w="104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198760" y="4652202"/>
              <a:ext cx="2167255" cy="10795"/>
            </a:xfrm>
            <a:custGeom>
              <a:avLst/>
              <a:gdLst/>
              <a:ahLst/>
              <a:cxnLst/>
              <a:rect l="l" t="t" r="r" b="b"/>
              <a:pathLst>
                <a:path w="2167255" h="10795">
                  <a:moveTo>
                    <a:pt x="0" y="10440"/>
                  </a:moveTo>
                  <a:lnTo>
                    <a:pt x="2156583" y="10440"/>
                  </a:lnTo>
                </a:path>
                <a:path w="2167255" h="10795">
                  <a:moveTo>
                    <a:pt x="2156583" y="10440"/>
                  </a:moveTo>
                  <a:lnTo>
                    <a:pt x="2156583" y="0"/>
                  </a:lnTo>
                </a:path>
                <a:path w="2167255" h="10795">
                  <a:moveTo>
                    <a:pt x="2156583" y="0"/>
                  </a:moveTo>
                  <a:lnTo>
                    <a:pt x="2167243" y="0"/>
                  </a:lnTo>
                </a:path>
              </a:pathLst>
            </a:custGeom>
            <a:ln w="10459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2" name="object 62"/>
            <p:cNvSpPr/>
            <p:nvPr/>
          </p:nvSpPr>
          <p:spPr>
            <a:xfrm>
              <a:off x="209239" y="4641762"/>
              <a:ext cx="2146300" cy="10795"/>
            </a:xfrm>
            <a:custGeom>
              <a:avLst/>
              <a:gdLst/>
              <a:ahLst/>
              <a:cxnLst/>
              <a:rect l="l" t="t" r="r" b="b"/>
              <a:pathLst>
                <a:path w="2146300" h="10795">
                  <a:moveTo>
                    <a:pt x="0" y="10440"/>
                  </a:moveTo>
                  <a:lnTo>
                    <a:pt x="2135550" y="10440"/>
                  </a:lnTo>
                </a:path>
                <a:path w="2146300" h="10795">
                  <a:moveTo>
                    <a:pt x="2135550" y="10440"/>
                  </a:moveTo>
                  <a:lnTo>
                    <a:pt x="2135550" y="0"/>
                  </a:lnTo>
                </a:path>
                <a:path w="2146300" h="10795">
                  <a:moveTo>
                    <a:pt x="2135550" y="0"/>
                  </a:moveTo>
                  <a:lnTo>
                    <a:pt x="2146104" y="0"/>
                  </a:lnTo>
                </a:path>
              </a:pathLst>
            </a:custGeom>
            <a:ln w="10459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3" name="object 63"/>
            <p:cNvSpPr/>
            <p:nvPr/>
          </p:nvSpPr>
          <p:spPr>
            <a:xfrm>
              <a:off x="188280" y="4652202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0"/>
                  </a:moveTo>
                  <a:lnTo>
                    <a:pt x="10480" y="10440"/>
                  </a:lnTo>
                </a:path>
              </a:pathLst>
            </a:custGeom>
            <a:ln w="10459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4" name="object 64"/>
            <p:cNvSpPr/>
            <p:nvPr/>
          </p:nvSpPr>
          <p:spPr>
            <a:xfrm>
              <a:off x="188280" y="4673346"/>
              <a:ext cx="2188845" cy="20955"/>
            </a:xfrm>
            <a:custGeom>
              <a:avLst/>
              <a:gdLst/>
              <a:ahLst/>
              <a:cxnLst/>
              <a:rect l="l" t="t" r="r" b="b"/>
              <a:pathLst>
                <a:path w="2188845" h="20954">
                  <a:moveTo>
                    <a:pt x="2167064" y="0"/>
                  </a:moveTo>
                  <a:lnTo>
                    <a:pt x="2188278" y="20880"/>
                  </a:lnTo>
                </a:path>
                <a:path w="2188845" h="20954">
                  <a:moveTo>
                    <a:pt x="0" y="10440"/>
                  </a:moveTo>
                  <a:lnTo>
                    <a:pt x="10480" y="0"/>
                  </a:lnTo>
                </a:path>
              </a:pathLst>
            </a:custGeom>
            <a:ln w="104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198760" y="4694226"/>
              <a:ext cx="2146300" cy="10795"/>
            </a:xfrm>
            <a:custGeom>
              <a:avLst/>
              <a:gdLst/>
              <a:ahLst/>
              <a:cxnLst/>
              <a:rect l="l" t="t" r="r" b="b"/>
              <a:pathLst>
                <a:path w="2146300" h="10795">
                  <a:moveTo>
                    <a:pt x="0" y="10440"/>
                  </a:moveTo>
                  <a:lnTo>
                    <a:pt x="10479" y="10440"/>
                  </a:lnTo>
                </a:path>
                <a:path w="2146300" h="10795">
                  <a:moveTo>
                    <a:pt x="10479" y="10440"/>
                  </a:moveTo>
                  <a:lnTo>
                    <a:pt x="10479" y="0"/>
                  </a:lnTo>
                </a:path>
                <a:path w="2146300" h="10795">
                  <a:moveTo>
                    <a:pt x="10479" y="0"/>
                  </a:moveTo>
                  <a:lnTo>
                    <a:pt x="2146029" y="0"/>
                  </a:lnTo>
                </a:path>
              </a:pathLst>
            </a:custGeom>
            <a:ln w="104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188280" y="4683786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440"/>
                  </a:moveTo>
                  <a:lnTo>
                    <a:pt x="10480" y="0"/>
                  </a:lnTo>
                </a:path>
              </a:pathLst>
            </a:custGeom>
            <a:ln w="10459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7" name="object 67"/>
            <p:cNvSpPr/>
            <p:nvPr/>
          </p:nvSpPr>
          <p:spPr>
            <a:xfrm>
              <a:off x="2350104" y="4678566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8" name="object 68"/>
            <p:cNvSpPr/>
            <p:nvPr/>
          </p:nvSpPr>
          <p:spPr>
            <a:xfrm>
              <a:off x="193520" y="4689006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9" name="object 69"/>
            <p:cNvSpPr/>
            <p:nvPr/>
          </p:nvSpPr>
          <p:spPr>
            <a:xfrm>
              <a:off x="2360763" y="4689006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1" name="Slide Number Placeholder 4">
            <a:extLst>
              <a:ext uri="{FF2B5EF4-FFF2-40B4-BE49-F238E27FC236}">
                <a16:creationId xmlns:a16="http://schemas.microsoft.com/office/drawing/2014/main" id="{CE17EF16-F452-52A7-1BFD-F0AF45F277E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46</a:t>
            </a:fld>
            <a:endParaRPr lang="en-US" spc="-44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8413" y="2962430"/>
            <a:ext cx="1365437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3"/>
              </a:lnSpc>
            </a:pPr>
            <a:r>
              <a:rPr sz="1279" dirty="0">
                <a:solidFill>
                  <a:srgbClr val="F20884"/>
                </a:solidFill>
                <a:latin typeface="Arial MT"/>
                <a:cs typeface="Arial MT"/>
              </a:rPr>
              <a:t>P1:</a:t>
            </a:r>
            <a:r>
              <a:rPr sz="1279" spc="26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F20884"/>
                </a:solidFill>
                <a:latin typeface="Arial MT"/>
                <a:cs typeface="Arial MT"/>
              </a:rPr>
              <a:t>Write</a:t>
            </a:r>
            <a:r>
              <a:rPr sz="1279" spc="101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F20884"/>
                </a:solidFill>
                <a:latin typeface="Arial MT"/>
                <a:cs typeface="Arial MT"/>
              </a:rPr>
              <a:t>10</a:t>
            </a:r>
            <a:r>
              <a:rPr sz="1279" spc="26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F20884"/>
                </a:solidFill>
                <a:latin typeface="Arial MT"/>
                <a:cs typeface="Arial MT"/>
              </a:rPr>
              <a:t>to</a:t>
            </a:r>
            <a:r>
              <a:rPr sz="1279" spc="26" dirty="0">
                <a:solidFill>
                  <a:srgbClr val="F20884"/>
                </a:solidFill>
                <a:latin typeface="Arial MT"/>
                <a:cs typeface="Arial MT"/>
              </a:rPr>
              <a:t> A1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2544" y="3156909"/>
            <a:ext cx="95698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3"/>
              </a:lnSpc>
            </a:pPr>
            <a:r>
              <a:rPr sz="1279" dirty="0">
                <a:solidFill>
                  <a:srgbClr val="F20884"/>
                </a:solidFill>
                <a:latin typeface="Arial MT"/>
                <a:cs typeface="Arial MT"/>
              </a:rPr>
              <a:t>P1:</a:t>
            </a:r>
            <a:r>
              <a:rPr sz="1279" spc="57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F20884"/>
                </a:solidFill>
                <a:latin typeface="Arial MT"/>
                <a:cs typeface="Arial MT"/>
              </a:rPr>
              <a:t>Read</a:t>
            </a:r>
            <a:r>
              <a:rPr sz="1279" spc="62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spc="26" dirty="0">
                <a:solidFill>
                  <a:srgbClr val="F20884"/>
                </a:solidFill>
                <a:latin typeface="Arial MT"/>
                <a:cs typeface="Arial MT"/>
              </a:rPr>
              <a:t>A1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2544" y="3351387"/>
            <a:ext cx="95698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3"/>
              </a:lnSpc>
            </a:pP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P2:</a:t>
            </a:r>
            <a:r>
              <a:rPr sz="1279" spc="57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Read</a:t>
            </a:r>
            <a:r>
              <a:rPr sz="1279" spc="62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A1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8413" y="3934481"/>
            <a:ext cx="1365437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3"/>
              </a:lnSpc>
            </a:pP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P2: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Write</a:t>
            </a:r>
            <a:r>
              <a:rPr sz="1279" spc="101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20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to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 A1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8413" y="4128700"/>
            <a:ext cx="1365437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3"/>
              </a:lnSpc>
            </a:pP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P2: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Write</a:t>
            </a:r>
            <a:r>
              <a:rPr sz="1279" spc="101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40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to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 A2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9847" y="3150332"/>
            <a:ext cx="19050" cy="19050"/>
          </a:xfrm>
          <a:custGeom>
            <a:avLst/>
            <a:gdLst/>
            <a:ahLst/>
            <a:cxnLst/>
            <a:rect l="l" t="t" r="r" b="b"/>
            <a:pathLst>
              <a:path w="21589" h="21589">
                <a:moveTo>
                  <a:pt x="0" y="21116"/>
                </a:moveTo>
                <a:lnTo>
                  <a:pt x="21221" y="0"/>
                </a:lnTo>
              </a:path>
            </a:pathLst>
          </a:custGeom>
          <a:ln w="104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/>
          <p:nvPr/>
        </p:nvSpPr>
        <p:spPr>
          <a:xfrm>
            <a:off x="2212715" y="3344811"/>
            <a:ext cx="19050" cy="18490"/>
          </a:xfrm>
          <a:custGeom>
            <a:avLst/>
            <a:gdLst/>
            <a:ahLst/>
            <a:cxnLst/>
            <a:rect l="l" t="t" r="r" b="b"/>
            <a:pathLst>
              <a:path w="21589" h="20954">
                <a:moveTo>
                  <a:pt x="0" y="0"/>
                </a:moveTo>
                <a:lnTo>
                  <a:pt x="21213" y="20801"/>
                </a:lnTo>
              </a:path>
            </a:pathLst>
          </a:custGeom>
          <a:ln w="104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" name="object 10"/>
          <p:cNvSpPr/>
          <p:nvPr/>
        </p:nvSpPr>
        <p:spPr>
          <a:xfrm>
            <a:off x="2212715" y="2955853"/>
            <a:ext cx="19050" cy="19050"/>
          </a:xfrm>
          <a:custGeom>
            <a:avLst/>
            <a:gdLst/>
            <a:ahLst/>
            <a:cxnLst/>
            <a:rect l="l" t="t" r="r" b="b"/>
            <a:pathLst>
              <a:path w="21589" h="21589">
                <a:moveTo>
                  <a:pt x="0" y="0"/>
                </a:moveTo>
                <a:lnTo>
                  <a:pt x="21213" y="21221"/>
                </a:lnTo>
              </a:path>
            </a:pathLst>
          </a:custGeom>
          <a:ln w="104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1" name="object 11"/>
          <p:cNvSpPr/>
          <p:nvPr/>
        </p:nvSpPr>
        <p:spPr>
          <a:xfrm>
            <a:off x="309847" y="2955853"/>
            <a:ext cx="19050" cy="19050"/>
          </a:xfrm>
          <a:custGeom>
            <a:avLst/>
            <a:gdLst/>
            <a:ahLst/>
            <a:cxnLst/>
            <a:rect l="l" t="t" r="r" b="b"/>
            <a:pathLst>
              <a:path w="21589" h="21589">
                <a:moveTo>
                  <a:pt x="0" y="21221"/>
                </a:moveTo>
                <a:lnTo>
                  <a:pt x="21221" y="0"/>
                </a:lnTo>
              </a:path>
            </a:pathLst>
          </a:custGeom>
          <a:ln w="104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86729" y="2562665"/>
          <a:ext cx="8559049" cy="1941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8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0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9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9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89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192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89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42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693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54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241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9386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2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635"/>
                        </a:lnSpc>
                      </a:pPr>
                      <a:r>
                        <a:rPr sz="1300" i="1" spc="-2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635"/>
                        </a:lnSpc>
                      </a:pPr>
                      <a:r>
                        <a:rPr sz="1300" i="1" spc="-25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Bus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10" dirty="0">
                          <a:latin typeface="Arial"/>
                          <a:cs typeface="Arial"/>
                        </a:rPr>
                        <a:t>Memory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862">
                <a:tc gridSpan="2">
                  <a:txBody>
                    <a:bodyPr/>
                    <a:lstStyle/>
                    <a:p>
                      <a:pPr marR="64769" algn="ctr">
                        <a:lnSpc>
                          <a:spcPts val="1635"/>
                        </a:lnSpc>
                      </a:pPr>
                      <a:r>
                        <a:rPr sz="1300" i="1" spc="-20" dirty="0">
                          <a:latin typeface="Arial"/>
                          <a:cs typeface="Arial"/>
                        </a:rPr>
                        <a:t>step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State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0655" algn="r">
                        <a:lnSpc>
                          <a:spcPts val="1635"/>
                        </a:lnSpc>
                      </a:pPr>
                      <a:r>
                        <a:rPr sz="1300" i="1" spc="-2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Addr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State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ts val="1635"/>
                        </a:lnSpc>
                      </a:pPr>
                      <a:r>
                        <a:rPr sz="1300" i="1" spc="-2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Addr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Action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Proc.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635"/>
                        </a:lnSpc>
                      </a:pPr>
                      <a:r>
                        <a:rPr sz="1300" i="1" spc="-20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Addr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335" algn="ctr">
                        <a:lnSpc>
                          <a:spcPts val="1635"/>
                        </a:lnSpc>
                      </a:pPr>
                      <a:r>
                        <a:rPr sz="1300" i="1" spc="-20" dirty="0">
                          <a:latin typeface="Arial"/>
                          <a:cs typeface="Arial"/>
                        </a:rPr>
                        <a:t>Addr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635"/>
                        </a:lnSpc>
                      </a:pPr>
                      <a:r>
                        <a:rPr sz="1300" i="1" spc="-10" dirty="0">
                          <a:latin typeface="Arial"/>
                          <a:cs typeface="Arial"/>
                        </a:rPr>
                        <a:t>Value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422">
                <a:tc gridSpan="2">
                  <a:txBody>
                    <a:bodyPr/>
                    <a:lstStyle/>
                    <a:p>
                      <a:pPr marL="336550">
                        <a:lnSpc>
                          <a:spcPts val="1614"/>
                        </a:lnSpc>
                      </a:pPr>
                      <a:r>
                        <a:rPr sz="13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P1</a:t>
                      </a:r>
                      <a:r>
                        <a:rPr sz="1300" b="1" spc="4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Write</a:t>
                      </a:r>
                      <a:r>
                        <a:rPr sz="1300" b="1" spc="5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1300" b="1" spc="4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300" b="1" spc="5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AAAAAA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1635"/>
                        </a:lnSpc>
                      </a:pPr>
                      <a:r>
                        <a:rPr sz="1300" i="1" u="sng" spc="-2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Excl.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ts val="1635"/>
                        </a:lnSpc>
                      </a:pPr>
                      <a:r>
                        <a:rPr sz="1300" i="1" u="sng" spc="-2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1635"/>
                        </a:lnSpc>
                      </a:pPr>
                      <a:r>
                        <a:rPr sz="1300" i="1" u="sng" spc="-2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10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635"/>
                        </a:lnSpc>
                      </a:pPr>
                      <a:r>
                        <a:rPr sz="1300" i="1" u="sng" spc="-2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WrMs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P1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2405" algn="r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 marL="346710">
                        <a:lnSpc>
                          <a:spcPts val="1614"/>
                        </a:lnSpc>
                      </a:pPr>
                      <a:r>
                        <a:rPr sz="13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P1:</a:t>
                      </a:r>
                      <a:r>
                        <a:rPr sz="1300" b="1" spc="6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Read</a:t>
                      </a:r>
                      <a:r>
                        <a:rPr sz="1300" b="1" spc="6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38100">
                      <a:solidFill>
                        <a:srgbClr val="AAAAAA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AAAAAA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ts val="1635"/>
                        </a:lnSpc>
                      </a:pPr>
                      <a:r>
                        <a:rPr sz="1300" spc="-20" dirty="0">
                          <a:latin typeface="Arial MT"/>
                          <a:cs typeface="Arial MT"/>
                        </a:rPr>
                        <a:t>Excl.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1635"/>
                        </a:lnSpc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ts val="1635"/>
                        </a:lnSpc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10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862">
                <a:tc gridSpan="2">
                  <a:txBody>
                    <a:bodyPr/>
                    <a:lstStyle/>
                    <a:p>
                      <a:pPr marL="546735">
                        <a:lnSpc>
                          <a:spcPts val="1610"/>
                        </a:lnSpc>
                      </a:pP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P2:</a:t>
                      </a:r>
                      <a:r>
                        <a:rPr sz="1300" b="1" spc="6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Read</a:t>
                      </a:r>
                      <a:r>
                        <a:rPr sz="1300" b="1" spc="6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ts val="1635"/>
                        </a:lnSpc>
                      </a:pPr>
                      <a:r>
                        <a:rPr sz="1300" i="1" u="sng" spc="-1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Shar.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ts val="1635"/>
                        </a:lnSpc>
                      </a:pPr>
                      <a:r>
                        <a:rPr sz="1300" i="1" u="sng" spc="-2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635"/>
                        </a:lnSpc>
                      </a:pPr>
                      <a:r>
                        <a:rPr sz="1300" i="1" u="sng" spc="-2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RdMs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P2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2405" algn="r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86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635"/>
                        </a:lnSpc>
                      </a:pPr>
                      <a:r>
                        <a:rPr sz="1300" i="1" u="sng" spc="-1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Shar.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1635"/>
                        </a:lnSpc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ts val="1635"/>
                        </a:lnSpc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10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635"/>
                        </a:lnSpc>
                      </a:pPr>
                      <a:r>
                        <a:rPr sz="1300" i="1" u="sng" spc="-2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WrBk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P1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2405" algn="r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0345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1635"/>
                        </a:lnSpc>
                      </a:pPr>
                      <a:r>
                        <a:rPr sz="1300" i="1" u="sng" spc="-2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10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42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1635"/>
                        </a:lnSpc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Shar.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0655" algn="r">
                        <a:lnSpc>
                          <a:spcPts val="1635"/>
                        </a:lnSpc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5405" algn="ctr">
                        <a:lnSpc>
                          <a:spcPts val="1635"/>
                        </a:lnSpc>
                      </a:pPr>
                      <a:r>
                        <a:rPr sz="1300" i="1" u="sng" spc="-2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10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635"/>
                        </a:lnSpc>
                      </a:pPr>
                      <a:r>
                        <a:rPr sz="1300" i="1" u="sng" spc="-2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RdDa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P2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2405" algn="r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0345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1635"/>
                        </a:lnSpc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8435">
                        <a:lnSpc>
                          <a:spcPts val="1635"/>
                        </a:lnSpc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10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422">
                <a:tc gridSpan="2">
                  <a:txBody>
                    <a:bodyPr/>
                    <a:lstStyle/>
                    <a:p>
                      <a:pPr marL="294005">
                        <a:lnSpc>
                          <a:spcPts val="1635"/>
                        </a:lnSpc>
                      </a:pP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P2:</a:t>
                      </a:r>
                      <a:r>
                        <a:rPr sz="13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Write</a:t>
                      </a:r>
                      <a:r>
                        <a:rPr sz="13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sz="13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300" b="1" spc="5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862">
                <a:tc gridSpan="2">
                  <a:txBody>
                    <a:bodyPr/>
                    <a:lstStyle/>
                    <a:p>
                      <a:pPr marL="294005">
                        <a:lnSpc>
                          <a:spcPts val="1610"/>
                        </a:lnSpc>
                      </a:pP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P2:</a:t>
                      </a:r>
                      <a:r>
                        <a:rPr sz="13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Write</a:t>
                      </a:r>
                      <a:r>
                        <a:rPr sz="13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40</a:t>
                      </a:r>
                      <a:r>
                        <a:rPr sz="13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300" b="1" spc="5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A2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442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295987" y="3506786"/>
            <a:ext cx="1940299" cy="37540"/>
            <a:chOff x="183052" y="3974357"/>
            <a:chExt cx="2199005" cy="42545"/>
          </a:xfrm>
        </p:grpSpPr>
        <p:sp>
          <p:nvSpPr>
            <p:cNvPr id="14" name="object 14"/>
            <p:cNvSpPr/>
            <p:nvPr/>
          </p:nvSpPr>
          <p:spPr>
            <a:xfrm>
              <a:off x="188280" y="3989973"/>
              <a:ext cx="2188845" cy="21590"/>
            </a:xfrm>
            <a:custGeom>
              <a:avLst/>
              <a:gdLst/>
              <a:ahLst/>
              <a:cxnLst/>
              <a:rect l="l" t="t" r="r" b="b"/>
              <a:pathLst>
                <a:path w="2188845" h="21589">
                  <a:moveTo>
                    <a:pt x="2188278" y="0"/>
                  </a:moveTo>
                  <a:lnTo>
                    <a:pt x="2167064" y="21116"/>
                  </a:lnTo>
                </a:path>
                <a:path w="2188845" h="21589">
                  <a:moveTo>
                    <a:pt x="10480" y="21116"/>
                  </a:moveTo>
                  <a:lnTo>
                    <a:pt x="0" y="10558"/>
                  </a:lnTo>
                </a:path>
              </a:pathLst>
            </a:custGeom>
            <a:ln w="104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198760" y="3989973"/>
              <a:ext cx="2167255" cy="10795"/>
            </a:xfrm>
            <a:custGeom>
              <a:avLst/>
              <a:gdLst/>
              <a:ahLst/>
              <a:cxnLst/>
              <a:rect l="l" t="t" r="r" b="b"/>
              <a:pathLst>
                <a:path w="2167255" h="10795">
                  <a:moveTo>
                    <a:pt x="0" y="10505"/>
                  </a:moveTo>
                  <a:lnTo>
                    <a:pt x="2156583" y="10505"/>
                  </a:lnTo>
                </a:path>
                <a:path w="2167255" h="10795">
                  <a:moveTo>
                    <a:pt x="2156583" y="10505"/>
                  </a:moveTo>
                  <a:lnTo>
                    <a:pt x="2156583" y="0"/>
                  </a:lnTo>
                </a:path>
                <a:path w="2167255" h="10795">
                  <a:moveTo>
                    <a:pt x="2156583" y="0"/>
                  </a:moveTo>
                  <a:lnTo>
                    <a:pt x="2167243" y="0"/>
                  </a:lnTo>
                </a:path>
              </a:pathLst>
            </a:custGeom>
            <a:ln w="10456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209239" y="3979572"/>
              <a:ext cx="2146300" cy="10795"/>
            </a:xfrm>
            <a:custGeom>
              <a:avLst/>
              <a:gdLst/>
              <a:ahLst/>
              <a:cxnLst/>
              <a:rect l="l" t="t" r="r" b="b"/>
              <a:pathLst>
                <a:path w="2146300" h="10795">
                  <a:moveTo>
                    <a:pt x="0" y="10400"/>
                  </a:moveTo>
                  <a:lnTo>
                    <a:pt x="2135550" y="10400"/>
                  </a:lnTo>
                </a:path>
                <a:path w="2146300" h="10795">
                  <a:moveTo>
                    <a:pt x="2135550" y="10400"/>
                  </a:moveTo>
                  <a:lnTo>
                    <a:pt x="2135550" y="0"/>
                  </a:lnTo>
                </a:path>
                <a:path w="2146300" h="10795">
                  <a:moveTo>
                    <a:pt x="2135550" y="0"/>
                  </a:moveTo>
                  <a:lnTo>
                    <a:pt x="2146104" y="0"/>
                  </a:lnTo>
                </a:path>
              </a:pathLst>
            </a:custGeom>
            <a:ln w="10456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188280" y="398997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0"/>
                  </a:moveTo>
                  <a:lnTo>
                    <a:pt x="10480" y="10505"/>
                  </a:lnTo>
                </a:path>
              </a:pathLst>
            </a:custGeom>
            <a:ln w="10456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295987" y="3321566"/>
            <a:ext cx="1545851" cy="46504"/>
            <a:chOff x="183052" y="3764441"/>
            <a:chExt cx="1751964" cy="52705"/>
          </a:xfrm>
        </p:grpSpPr>
        <p:sp>
          <p:nvSpPr>
            <p:cNvPr id="19" name="object 19"/>
            <p:cNvSpPr/>
            <p:nvPr/>
          </p:nvSpPr>
          <p:spPr>
            <a:xfrm>
              <a:off x="198760" y="3769669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89" h="21589">
                  <a:moveTo>
                    <a:pt x="21221" y="21116"/>
                  </a:moveTo>
                  <a:lnTo>
                    <a:pt x="0" y="0"/>
                  </a:lnTo>
                </a:path>
              </a:pathLst>
            </a:custGeom>
            <a:ln w="104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193520" y="376445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230462" y="3769669"/>
              <a:ext cx="1704339" cy="0"/>
            </a:xfrm>
            <a:custGeom>
              <a:avLst/>
              <a:gdLst/>
              <a:ahLst/>
              <a:cxnLst/>
              <a:rect l="l" t="t" r="r" b="b"/>
              <a:pathLst>
                <a:path w="1704339">
                  <a:moveTo>
                    <a:pt x="0" y="0"/>
                  </a:moveTo>
                  <a:lnTo>
                    <a:pt x="1704085" y="0"/>
                  </a:lnTo>
                </a:path>
              </a:pathLst>
            </a:custGeom>
            <a:ln w="10431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209239" y="3769669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0"/>
                  </a:moveTo>
                  <a:lnTo>
                    <a:pt x="10742" y="10715"/>
                  </a:lnTo>
                </a:path>
              </a:pathLst>
            </a:custGeom>
            <a:ln w="10455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188280" y="3790786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400"/>
                  </a:moveTo>
                  <a:lnTo>
                    <a:pt x="10480" y="0"/>
                  </a:lnTo>
                </a:path>
              </a:pathLst>
            </a:custGeom>
            <a:ln w="104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188280" y="3801186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400"/>
                  </a:moveTo>
                  <a:lnTo>
                    <a:pt x="10480" y="0"/>
                  </a:lnTo>
                </a:path>
              </a:pathLst>
            </a:custGeom>
            <a:ln w="10455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193520" y="3806371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2208092" y="3349386"/>
            <a:ext cx="19050" cy="18490"/>
            <a:chOff x="2350104" y="3795970"/>
            <a:chExt cx="21590" cy="20955"/>
          </a:xfrm>
        </p:grpSpPr>
        <p:sp>
          <p:nvSpPr>
            <p:cNvPr id="27" name="object 27"/>
            <p:cNvSpPr/>
            <p:nvPr/>
          </p:nvSpPr>
          <p:spPr>
            <a:xfrm>
              <a:off x="2350104" y="379597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2360763" y="3806371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9" name="object 29"/>
          <p:cNvSpPr/>
          <p:nvPr/>
        </p:nvSpPr>
        <p:spPr>
          <a:xfrm>
            <a:off x="2212715" y="3131978"/>
            <a:ext cx="19050" cy="18490"/>
          </a:xfrm>
          <a:custGeom>
            <a:avLst/>
            <a:gdLst/>
            <a:ahLst/>
            <a:cxnLst/>
            <a:rect l="l" t="t" r="r" b="b"/>
            <a:pathLst>
              <a:path w="21589" h="20954">
                <a:moveTo>
                  <a:pt x="21213" y="0"/>
                </a:moveTo>
                <a:lnTo>
                  <a:pt x="0" y="20801"/>
                </a:lnTo>
              </a:path>
            </a:pathLst>
          </a:custGeom>
          <a:ln w="104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30" name="object 30"/>
          <p:cNvGrpSpPr/>
          <p:nvPr/>
        </p:nvGrpSpPr>
        <p:grpSpPr>
          <a:xfrm>
            <a:off x="305224" y="3127366"/>
            <a:ext cx="1536326" cy="55469"/>
            <a:chOff x="193520" y="3544347"/>
            <a:chExt cx="1741170" cy="62865"/>
          </a:xfrm>
        </p:grpSpPr>
        <p:sp>
          <p:nvSpPr>
            <p:cNvPr id="31" name="object 31"/>
            <p:cNvSpPr/>
            <p:nvPr/>
          </p:nvSpPr>
          <p:spPr>
            <a:xfrm>
              <a:off x="193520" y="3586277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219982" y="3591493"/>
              <a:ext cx="1715135" cy="10795"/>
            </a:xfrm>
            <a:custGeom>
              <a:avLst/>
              <a:gdLst/>
              <a:ahLst/>
              <a:cxnLst/>
              <a:rect l="l" t="t" r="r" b="b"/>
              <a:pathLst>
                <a:path w="1715135" h="10795">
                  <a:moveTo>
                    <a:pt x="0" y="10505"/>
                  </a:moveTo>
                  <a:lnTo>
                    <a:pt x="10480" y="10505"/>
                  </a:lnTo>
                </a:path>
                <a:path w="1715135" h="10795">
                  <a:moveTo>
                    <a:pt x="10480" y="10505"/>
                  </a:moveTo>
                  <a:lnTo>
                    <a:pt x="10480" y="0"/>
                  </a:lnTo>
                </a:path>
                <a:path w="1715135" h="10795">
                  <a:moveTo>
                    <a:pt x="10480" y="0"/>
                  </a:moveTo>
                  <a:lnTo>
                    <a:pt x="1714565" y="0"/>
                  </a:lnTo>
                </a:path>
              </a:pathLst>
            </a:custGeom>
            <a:ln w="104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209239" y="3580777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10715"/>
                  </a:moveTo>
                  <a:lnTo>
                    <a:pt x="10742" y="0"/>
                  </a:lnTo>
                </a:path>
              </a:pathLst>
            </a:custGeom>
            <a:ln w="10455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214741" y="3586277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198760" y="3549575"/>
              <a:ext cx="21590" cy="20955"/>
            </a:xfrm>
            <a:custGeom>
              <a:avLst/>
              <a:gdLst/>
              <a:ahLst/>
              <a:cxnLst/>
              <a:rect l="l" t="t" r="r" b="b"/>
              <a:pathLst>
                <a:path w="21589" h="20954">
                  <a:moveTo>
                    <a:pt x="21221" y="20801"/>
                  </a:moveTo>
                  <a:lnTo>
                    <a:pt x="0" y="0"/>
                  </a:lnTo>
                </a:path>
              </a:pathLst>
            </a:custGeom>
            <a:ln w="104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6" name="object 36"/>
            <p:cNvSpPr/>
            <p:nvPr/>
          </p:nvSpPr>
          <p:spPr>
            <a:xfrm>
              <a:off x="193520" y="3544359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209239" y="3549575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0"/>
                  </a:moveTo>
                  <a:lnTo>
                    <a:pt x="10742" y="10400"/>
                  </a:lnTo>
                </a:path>
              </a:pathLst>
            </a:custGeom>
            <a:ln w="10455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305223" y="2960695"/>
            <a:ext cx="1921809" cy="28015"/>
            <a:chOff x="193520" y="3355455"/>
            <a:chExt cx="2178050" cy="31750"/>
          </a:xfrm>
        </p:grpSpPr>
        <p:sp>
          <p:nvSpPr>
            <p:cNvPr id="39" name="object 39"/>
            <p:cNvSpPr/>
            <p:nvPr/>
          </p:nvSpPr>
          <p:spPr>
            <a:xfrm>
              <a:off x="193520" y="336597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0" name="object 40"/>
            <p:cNvSpPr/>
            <p:nvPr/>
          </p:nvSpPr>
          <p:spPr>
            <a:xfrm>
              <a:off x="219982" y="3371189"/>
              <a:ext cx="2125345" cy="10795"/>
            </a:xfrm>
            <a:custGeom>
              <a:avLst/>
              <a:gdLst/>
              <a:ahLst/>
              <a:cxnLst/>
              <a:rect l="l" t="t" r="r" b="b"/>
              <a:pathLst>
                <a:path w="2125345" h="10795">
                  <a:moveTo>
                    <a:pt x="0" y="10400"/>
                  </a:moveTo>
                  <a:lnTo>
                    <a:pt x="10480" y="10400"/>
                  </a:lnTo>
                </a:path>
                <a:path w="2125345" h="10795">
                  <a:moveTo>
                    <a:pt x="10480" y="10400"/>
                  </a:moveTo>
                  <a:lnTo>
                    <a:pt x="10480" y="0"/>
                  </a:lnTo>
                </a:path>
                <a:path w="2125345" h="10795">
                  <a:moveTo>
                    <a:pt x="10480" y="0"/>
                  </a:moveTo>
                  <a:lnTo>
                    <a:pt x="2124808" y="0"/>
                  </a:lnTo>
                </a:path>
              </a:pathLst>
            </a:custGeom>
            <a:ln w="104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209239" y="336068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10505"/>
                  </a:moveTo>
                  <a:lnTo>
                    <a:pt x="10742" y="0"/>
                  </a:lnTo>
                </a:path>
              </a:pathLst>
            </a:custGeom>
            <a:ln w="10455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2350104" y="3355467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3" name="object 43"/>
            <p:cNvSpPr/>
            <p:nvPr/>
          </p:nvSpPr>
          <p:spPr>
            <a:xfrm>
              <a:off x="214741" y="336597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4" name="object 44"/>
            <p:cNvSpPr/>
            <p:nvPr/>
          </p:nvSpPr>
          <p:spPr>
            <a:xfrm>
              <a:off x="2360763" y="336597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295986" y="3932496"/>
            <a:ext cx="1940299" cy="37540"/>
            <a:chOff x="183051" y="4456828"/>
            <a:chExt cx="2199005" cy="42545"/>
          </a:xfrm>
        </p:grpSpPr>
        <p:sp>
          <p:nvSpPr>
            <p:cNvPr id="46" name="object 46"/>
            <p:cNvSpPr/>
            <p:nvPr/>
          </p:nvSpPr>
          <p:spPr>
            <a:xfrm>
              <a:off x="188280" y="4462056"/>
              <a:ext cx="2188845" cy="21590"/>
            </a:xfrm>
            <a:custGeom>
              <a:avLst/>
              <a:gdLst/>
              <a:ahLst/>
              <a:cxnLst/>
              <a:rect l="l" t="t" r="r" b="b"/>
              <a:pathLst>
                <a:path w="2188845" h="21589">
                  <a:moveTo>
                    <a:pt x="2167064" y="0"/>
                  </a:moveTo>
                  <a:lnTo>
                    <a:pt x="2188278" y="21126"/>
                  </a:lnTo>
                </a:path>
                <a:path w="2188845" h="21589">
                  <a:moveTo>
                    <a:pt x="0" y="10563"/>
                  </a:moveTo>
                  <a:lnTo>
                    <a:pt x="10480" y="0"/>
                  </a:lnTo>
                </a:path>
              </a:pathLst>
            </a:custGeom>
            <a:ln w="104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193509" y="4456848"/>
              <a:ext cx="2167255" cy="10795"/>
            </a:xfrm>
            <a:custGeom>
              <a:avLst/>
              <a:gdLst/>
              <a:ahLst/>
              <a:cxnLst/>
              <a:rect l="l" t="t" r="r" b="b"/>
              <a:pathLst>
                <a:path w="2167255" h="10795">
                  <a:moveTo>
                    <a:pt x="10490" y="5219"/>
                  </a:moveTo>
                  <a:lnTo>
                    <a:pt x="8953" y="1524"/>
                  </a:lnTo>
                  <a:lnTo>
                    <a:pt x="5245" y="0"/>
                  </a:lnTo>
                  <a:lnTo>
                    <a:pt x="1536" y="1524"/>
                  </a:lnTo>
                  <a:lnTo>
                    <a:pt x="0" y="5219"/>
                  </a:lnTo>
                  <a:lnTo>
                    <a:pt x="1536" y="8902"/>
                  </a:lnTo>
                  <a:lnTo>
                    <a:pt x="5245" y="10426"/>
                  </a:lnTo>
                  <a:lnTo>
                    <a:pt x="8953" y="8902"/>
                  </a:lnTo>
                  <a:lnTo>
                    <a:pt x="10490" y="5219"/>
                  </a:lnTo>
                  <a:close/>
                </a:path>
                <a:path w="2167255" h="10795">
                  <a:moveTo>
                    <a:pt x="2167064" y="5219"/>
                  </a:moveTo>
                  <a:lnTo>
                    <a:pt x="2165527" y="1524"/>
                  </a:lnTo>
                  <a:lnTo>
                    <a:pt x="2161832" y="0"/>
                  </a:lnTo>
                  <a:lnTo>
                    <a:pt x="2158123" y="1524"/>
                  </a:lnTo>
                  <a:lnTo>
                    <a:pt x="2156587" y="5219"/>
                  </a:lnTo>
                  <a:lnTo>
                    <a:pt x="2158123" y="8902"/>
                  </a:lnTo>
                  <a:lnTo>
                    <a:pt x="2161832" y="10426"/>
                  </a:lnTo>
                  <a:lnTo>
                    <a:pt x="2165527" y="8902"/>
                  </a:lnTo>
                  <a:lnTo>
                    <a:pt x="2167064" y="521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198760" y="4483183"/>
              <a:ext cx="2146300" cy="10795"/>
            </a:xfrm>
            <a:custGeom>
              <a:avLst/>
              <a:gdLst/>
              <a:ahLst/>
              <a:cxnLst/>
              <a:rect l="l" t="t" r="r" b="b"/>
              <a:pathLst>
                <a:path w="2146300" h="10795">
                  <a:moveTo>
                    <a:pt x="0" y="10432"/>
                  </a:moveTo>
                  <a:lnTo>
                    <a:pt x="10479" y="10432"/>
                  </a:lnTo>
                </a:path>
                <a:path w="2146300" h="10795">
                  <a:moveTo>
                    <a:pt x="10479" y="10432"/>
                  </a:moveTo>
                  <a:lnTo>
                    <a:pt x="10479" y="0"/>
                  </a:lnTo>
                </a:path>
                <a:path w="2146300" h="10795">
                  <a:moveTo>
                    <a:pt x="10479" y="0"/>
                  </a:moveTo>
                  <a:lnTo>
                    <a:pt x="2146029" y="0"/>
                  </a:lnTo>
                </a:path>
              </a:pathLst>
            </a:custGeom>
            <a:ln w="104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9" name="object 49"/>
            <p:cNvSpPr/>
            <p:nvPr/>
          </p:nvSpPr>
          <p:spPr>
            <a:xfrm>
              <a:off x="188280" y="4472488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694"/>
                  </a:moveTo>
                  <a:lnTo>
                    <a:pt x="10480" y="0"/>
                  </a:lnTo>
                </a:path>
              </a:pathLst>
            </a:custGeom>
            <a:ln w="10456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0" name="object 50"/>
            <p:cNvSpPr/>
            <p:nvPr/>
          </p:nvSpPr>
          <p:spPr>
            <a:xfrm>
              <a:off x="2350104" y="4467272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193520" y="4477967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2" name="object 52"/>
            <p:cNvSpPr/>
            <p:nvPr/>
          </p:nvSpPr>
          <p:spPr>
            <a:xfrm>
              <a:off x="2360763" y="4477967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295987" y="4284357"/>
            <a:ext cx="1940299" cy="36979"/>
            <a:chOff x="183052" y="4855604"/>
            <a:chExt cx="2199005" cy="41910"/>
          </a:xfrm>
        </p:grpSpPr>
        <p:sp>
          <p:nvSpPr>
            <p:cNvPr id="54" name="object 54"/>
            <p:cNvSpPr/>
            <p:nvPr/>
          </p:nvSpPr>
          <p:spPr>
            <a:xfrm>
              <a:off x="188280" y="4871252"/>
              <a:ext cx="2188845" cy="20955"/>
            </a:xfrm>
            <a:custGeom>
              <a:avLst/>
              <a:gdLst/>
              <a:ahLst/>
              <a:cxnLst/>
              <a:rect l="l" t="t" r="r" b="b"/>
              <a:pathLst>
                <a:path w="2188845" h="20954">
                  <a:moveTo>
                    <a:pt x="2188278" y="0"/>
                  </a:moveTo>
                  <a:lnTo>
                    <a:pt x="2167064" y="20864"/>
                  </a:lnTo>
                </a:path>
                <a:path w="2188845" h="20954">
                  <a:moveTo>
                    <a:pt x="10480" y="20864"/>
                  </a:moveTo>
                  <a:lnTo>
                    <a:pt x="0" y="10432"/>
                  </a:lnTo>
                </a:path>
              </a:pathLst>
            </a:custGeom>
            <a:ln w="104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198760" y="4871252"/>
              <a:ext cx="2167255" cy="10795"/>
            </a:xfrm>
            <a:custGeom>
              <a:avLst/>
              <a:gdLst/>
              <a:ahLst/>
              <a:cxnLst/>
              <a:rect l="l" t="t" r="r" b="b"/>
              <a:pathLst>
                <a:path w="2167255" h="10795">
                  <a:moveTo>
                    <a:pt x="0" y="10432"/>
                  </a:moveTo>
                  <a:lnTo>
                    <a:pt x="2156583" y="10432"/>
                  </a:lnTo>
                </a:path>
                <a:path w="2167255" h="10795">
                  <a:moveTo>
                    <a:pt x="2156583" y="10432"/>
                  </a:moveTo>
                  <a:lnTo>
                    <a:pt x="2156583" y="0"/>
                  </a:lnTo>
                </a:path>
                <a:path w="2167255" h="10795">
                  <a:moveTo>
                    <a:pt x="2156583" y="0"/>
                  </a:moveTo>
                  <a:lnTo>
                    <a:pt x="2167243" y="0"/>
                  </a:lnTo>
                </a:path>
              </a:pathLst>
            </a:custGeom>
            <a:ln w="10456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209239" y="4860820"/>
              <a:ext cx="2146300" cy="10795"/>
            </a:xfrm>
            <a:custGeom>
              <a:avLst/>
              <a:gdLst/>
              <a:ahLst/>
              <a:cxnLst/>
              <a:rect l="l" t="t" r="r" b="b"/>
              <a:pathLst>
                <a:path w="2146300" h="10795">
                  <a:moveTo>
                    <a:pt x="0" y="10432"/>
                  </a:moveTo>
                  <a:lnTo>
                    <a:pt x="2135550" y="10432"/>
                  </a:lnTo>
                </a:path>
                <a:path w="2146300" h="10795">
                  <a:moveTo>
                    <a:pt x="2135550" y="10432"/>
                  </a:moveTo>
                  <a:lnTo>
                    <a:pt x="2135550" y="0"/>
                  </a:lnTo>
                </a:path>
                <a:path w="2146300" h="10795">
                  <a:moveTo>
                    <a:pt x="2135550" y="0"/>
                  </a:moveTo>
                  <a:lnTo>
                    <a:pt x="2146104" y="0"/>
                  </a:lnTo>
                </a:path>
              </a:pathLst>
            </a:custGeom>
            <a:ln w="10456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188280" y="4871252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0"/>
                  </a:moveTo>
                  <a:lnTo>
                    <a:pt x="10480" y="10432"/>
                  </a:lnTo>
                </a:path>
              </a:pathLst>
            </a:custGeom>
            <a:ln w="10455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295987" y="4089905"/>
            <a:ext cx="1940299" cy="64994"/>
            <a:chOff x="183052" y="4635226"/>
            <a:chExt cx="2199005" cy="73660"/>
          </a:xfrm>
        </p:grpSpPr>
        <p:sp>
          <p:nvSpPr>
            <p:cNvPr id="59" name="object 59"/>
            <p:cNvSpPr/>
            <p:nvPr/>
          </p:nvSpPr>
          <p:spPr>
            <a:xfrm>
              <a:off x="188280" y="4650874"/>
              <a:ext cx="2188845" cy="21590"/>
            </a:xfrm>
            <a:custGeom>
              <a:avLst/>
              <a:gdLst/>
              <a:ahLst/>
              <a:cxnLst/>
              <a:rect l="l" t="t" r="r" b="b"/>
              <a:pathLst>
                <a:path w="2188845" h="21589">
                  <a:moveTo>
                    <a:pt x="2188278" y="0"/>
                  </a:moveTo>
                  <a:lnTo>
                    <a:pt x="2167064" y="21126"/>
                  </a:lnTo>
                </a:path>
                <a:path w="2188845" h="21589">
                  <a:moveTo>
                    <a:pt x="10480" y="21126"/>
                  </a:moveTo>
                  <a:lnTo>
                    <a:pt x="0" y="10563"/>
                  </a:lnTo>
                </a:path>
              </a:pathLst>
            </a:custGeom>
            <a:ln w="104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0" name="object 60"/>
            <p:cNvSpPr/>
            <p:nvPr/>
          </p:nvSpPr>
          <p:spPr>
            <a:xfrm>
              <a:off x="198760" y="4650874"/>
              <a:ext cx="2167255" cy="10795"/>
            </a:xfrm>
            <a:custGeom>
              <a:avLst/>
              <a:gdLst/>
              <a:ahLst/>
              <a:cxnLst/>
              <a:rect l="l" t="t" r="r" b="b"/>
              <a:pathLst>
                <a:path w="2167255" h="10795">
                  <a:moveTo>
                    <a:pt x="0" y="10432"/>
                  </a:moveTo>
                  <a:lnTo>
                    <a:pt x="2156583" y="10432"/>
                  </a:lnTo>
                </a:path>
                <a:path w="2167255" h="10795">
                  <a:moveTo>
                    <a:pt x="2156583" y="10432"/>
                  </a:moveTo>
                  <a:lnTo>
                    <a:pt x="2156583" y="0"/>
                  </a:lnTo>
                </a:path>
                <a:path w="2167255" h="10795">
                  <a:moveTo>
                    <a:pt x="2156583" y="0"/>
                  </a:moveTo>
                  <a:lnTo>
                    <a:pt x="2167243" y="0"/>
                  </a:lnTo>
                </a:path>
              </a:pathLst>
            </a:custGeom>
            <a:ln w="10456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209239" y="4640442"/>
              <a:ext cx="2146300" cy="10795"/>
            </a:xfrm>
            <a:custGeom>
              <a:avLst/>
              <a:gdLst/>
              <a:ahLst/>
              <a:cxnLst/>
              <a:rect l="l" t="t" r="r" b="b"/>
              <a:pathLst>
                <a:path w="2146300" h="10795">
                  <a:moveTo>
                    <a:pt x="0" y="10432"/>
                  </a:moveTo>
                  <a:lnTo>
                    <a:pt x="2135550" y="10432"/>
                  </a:lnTo>
                </a:path>
                <a:path w="2146300" h="10795">
                  <a:moveTo>
                    <a:pt x="2135550" y="10432"/>
                  </a:moveTo>
                  <a:lnTo>
                    <a:pt x="2135550" y="0"/>
                  </a:lnTo>
                </a:path>
                <a:path w="2146300" h="10795">
                  <a:moveTo>
                    <a:pt x="2135550" y="0"/>
                  </a:moveTo>
                  <a:lnTo>
                    <a:pt x="2146104" y="0"/>
                  </a:lnTo>
                </a:path>
              </a:pathLst>
            </a:custGeom>
            <a:ln w="10456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2" name="object 62"/>
            <p:cNvSpPr/>
            <p:nvPr/>
          </p:nvSpPr>
          <p:spPr>
            <a:xfrm>
              <a:off x="188280" y="4650874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0"/>
                  </a:moveTo>
                  <a:lnTo>
                    <a:pt x="10480" y="10432"/>
                  </a:lnTo>
                </a:path>
              </a:pathLst>
            </a:custGeom>
            <a:ln w="10455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3" name="object 63"/>
            <p:cNvSpPr/>
            <p:nvPr/>
          </p:nvSpPr>
          <p:spPr>
            <a:xfrm>
              <a:off x="188280" y="4672001"/>
              <a:ext cx="2188845" cy="20955"/>
            </a:xfrm>
            <a:custGeom>
              <a:avLst/>
              <a:gdLst/>
              <a:ahLst/>
              <a:cxnLst/>
              <a:rect l="l" t="t" r="r" b="b"/>
              <a:pathLst>
                <a:path w="2188845" h="20954">
                  <a:moveTo>
                    <a:pt x="2167064" y="0"/>
                  </a:moveTo>
                  <a:lnTo>
                    <a:pt x="2188278" y="20864"/>
                  </a:lnTo>
                </a:path>
                <a:path w="2188845" h="20954">
                  <a:moveTo>
                    <a:pt x="0" y="10432"/>
                  </a:moveTo>
                  <a:lnTo>
                    <a:pt x="10480" y="0"/>
                  </a:lnTo>
                </a:path>
              </a:pathLst>
            </a:custGeom>
            <a:ln w="104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4" name="object 64"/>
            <p:cNvSpPr/>
            <p:nvPr/>
          </p:nvSpPr>
          <p:spPr>
            <a:xfrm>
              <a:off x="198760" y="4692866"/>
              <a:ext cx="2146300" cy="10795"/>
            </a:xfrm>
            <a:custGeom>
              <a:avLst/>
              <a:gdLst/>
              <a:ahLst/>
              <a:cxnLst/>
              <a:rect l="l" t="t" r="r" b="b"/>
              <a:pathLst>
                <a:path w="2146300" h="10795">
                  <a:moveTo>
                    <a:pt x="0" y="10432"/>
                  </a:moveTo>
                  <a:lnTo>
                    <a:pt x="10479" y="10432"/>
                  </a:lnTo>
                </a:path>
                <a:path w="2146300" h="10795">
                  <a:moveTo>
                    <a:pt x="10479" y="10432"/>
                  </a:moveTo>
                  <a:lnTo>
                    <a:pt x="10479" y="0"/>
                  </a:lnTo>
                </a:path>
                <a:path w="2146300" h="10795">
                  <a:moveTo>
                    <a:pt x="10479" y="0"/>
                  </a:moveTo>
                  <a:lnTo>
                    <a:pt x="2146029" y="0"/>
                  </a:lnTo>
                </a:path>
              </a:pathLst>
            </a:custGeom>
            <a:ln w="104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188280" y="468243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432"/>
                  </a:moveTo>
                  <a:lnTo>
                    <a:pt x="10480" y="0"/>
                  </a:lnTo>
                </a:path>
              </a:pathLst>
            </a:custGeom>
            <a:ln w="10455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2350104" y="4677217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7" name="object 67"/>
            <p:cNvSpPr/>
            <p:nvPr/>
          </p:nvSpPr>
          <p:spPr>
            <a:xfrm>
              <a:off x="193520" y="468765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8" name="object 68"/>
            <p:cNvSpPr/>
            <p:nvPr/>
          </p:nvSpPr>
          <p:spPr>
            <a:xfrm>
              <a:off x="2360763" y="468765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5"/>
                  </a:moveTo>
                  <a:lnTo>
                    <a:pt x="1534" y="1527"/>
                  </a:lnTo>
                  <a:lnTo>
                    <a:pt x="5240" y="0"/>
                  </a:lnTo>
                  <a:lnTo>
                    <a:pt x="8945" y="1527"/>
                  </a:lnTo>
                  <a:lnTo>
                    <a:pt x="10480" y="5215"/>
                  </a:lnTo>
                  <a:lnTo>
                    <a:pt x="8945" y="8904"/>
                  </a:lnTo>
                  <a:lnTo>
                    <a:pt x="5240" y="10431"/>
                  </a:lnTo>
                  <a:lnTo>
                    <a:pt x="1534" y="8904"/>
                  </a:lnTo>
                  <a:lnTo>
                    <a:pt x="0" y="5215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286728" y="4548243"/>
            <a:ext cx="8559049" cy="2186499"/>
          </a:xfrm>
          <a:prstGeom prst="rect">
            <a:avLst/>
          </a:prstGeom>
        </p:spPr>
        <p:txBody>
          <a:bodyPr vert="horz" wrap="square" lIns="0" tIns="91887" rIns="0" bIns="0" rtlCol="0">
            <a:spAutoFit/>
          </a:bodyPr>
          <a:lstStyle/>
          <a:p>
            <a:pPr marL="53231" algn="ctr">
              <a:lnSpc>
                <a:spcPct val="110000"/>
              </a:lnSpc>
              <a:spcBef>
                <a:spcPts val="723"/>
              </a:spcBef>
            </a:pPr>
            <a:r>
              <a:rPr sz="1677" dirty="0">
                <a:latin typeface="Arial MT"/>
                <a:cs typeface="Arial MT"/>
              </a:rPr>
              <a:t>Assumes</a:t>
            </a:r>
            <a:r>
              <a:rPr sz="1677" spc="-11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A1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maps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same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cache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block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on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both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CPUs.</a:t>
            </a:r>
            <a:endParaRPr sz="1677" dirty="0">
              <a:latin typeface="Arial MT"/>
              <a:cs typeface="Arial MT"/>
            </a:endParaRPr>
          </a:p>
          <a:p>
            <a:pPr marL="11206" marR="4483">
              <a:lnSpc>
                <a:spcPct val="110000"/>
              </a:lnSpc>
              <a:spcBef>
                <a:spcPts val="1041"/>
              </a:spcBef>
              <a:tabLst>
                <a:tab pos="2324784" algn="l"/>
                <a:tab pos="5456995" algn="l"/>
              </a:tabLst>
            </a:pPr>
            <a:r>
              <a:rPr sz="1677" dirty="0">
                <a:latin typeface="Arial MT"/>
                <a:cs typeface="Arial MT"/>
              </a:rPr>
              <a:t>Note: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this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protocol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only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states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for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valid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cache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block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are</a:t>
            </a:r>
            <a:r>
              <a:rPr sz="1677" spc="9" dirty="0">
                <a:latin typeface="Arial MT"/>
                <a:cs typeface="Arial MT"/>
              </a:rPr>
              <a:t> </a:t>
            </a:r>
            <a:r>
              <a:rPr sz="1677" dirty="0">
                <a:latin typeface="Times New Roman"/>
                <a:cs typeface="Times New Roman"/>
              </a:rPr>
              <a:t>“</a:t>
            </a:r>
            <a:r>
              <a:rPr sz="1677" dirty="0">
                <a:latin typeface="Arial MT"/>
                <a:cs typeface="Arial MT"/>
              </a:rPr>
              <a:t>modified</a:t>
            </a:r>
            <a:r>
              <a:rPr sz="1677" dirty="0">
                <a:latin typeface="Times New Roman"/>
                <a:cs typeface="Times New Roman"/>
              </a:rPr>
              <a:t>”</a:t>
            </a:r>
            <a:r>
              <a:rPr sz="1677" spc="26" dirty="0">
                <a:latin typeface="Times New Roman"/>
                <a:cs typeface="Times New Roman"/>
              </a:rPr>
              <a:t> </a:t>
            </a:r>
            <a:r>
              <a:rPr sz="1677" spc="-22" dirty="0">
                <a:latin typeface="Arial MT"/>
                <a:cs typeface="Arial MT"/>
              </a:rPr>
              <a:t>and </a:t>
            </a:r>
            <a:r>
              <a:rPr sz="1677" dirty="0">
                <a:latin typeface="Times New Roman"/>
                <a:cs typeface="Times New Roman"/>
              </a:rPr>
              <a:t>“</a:t>
            </a:r>
            <a:r>
              <a:rPr sz="1677" dirty="0">
                <a:latin typeface="Arial MT"/>
                <a:cs typeface="Arial MT"/>
              </a:rPr>
              <a:t>shared</a:t>
            </a:r>
            <a:r>
              <a:rPr sz="1677" dirty="0">
                <a:latin typeface="Times New Roman"/>
                <a:cs typeface="Times New Roman"/>
              </a:rPr>
              <a:t>”</a:t>
            </a:r>
            <a:r>
              <a:rPr sz="1677" dirty="0">
                <a:latin typeface="Arial MT"/>
                <a:cs typeface="Arial MT"/>
              </a:rPr>
              <a:t>,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so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each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new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reader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of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block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assumes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it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4" dirty="0">
                <a:latin typeface="Arial MT"/>
                <a:cs typeface="Arial MT"/>
              </a:rPr>
              <a:t> </a:t>
            </a:r>
            <a:r>
              <a:rPr sz="1677" dirty="0">
                <a:latin typeface="Times New Roman"/>
                <a:cs typeface="Times New Roman"/>
              </a:rPr>
              <a:t>“</a:t>
            </a:r>
            <a:r>
              <a:rPr sz="1677" dirty="0">
                <a:latin typeface="Arial MT"/>
                <a:cs typeface="Arial MT"/>
              </a:rPr>
              <a:t>shared</a:t>
            </a:r>
            <a:r>
              <a:rPr sz="1677" dirty="0">
                <a:latin typeface="Times New Roman"/>
                <a:cs typeface="Times New Roman"/>
              </a:rPr>
              <a:t>”</a:t>
            </a:r>
            <a:r>
              <a:rPr sz="1677" dirty="0">
                <a:latin typeface="Arial MT"/>
                <a:cs typeface="Arial MT"/>
              </a:rPr>
              <a:t>,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even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if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it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first </a:t>
            </a:r>
            <a:r>
              <a:rPr sz="1677" dirty="0">
                <a:latin typeface="Arial MT"/>
                <a:cs typeface="Arial MT"/>
              </a:rPr>
              <a:t>CPU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reading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block.</a:t>
            </a:r>
            <a:r>
              <a:rPr lang="en-US" sz="1677" spc="-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state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changes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4" dirty="0">
                <a:latin typeface="Arial MT"/>
                <a:cs typeface="Arial MT"/>
              </a:rPr>
              <a:t> </a:t>
            </a:r>
            <a:r>
              <a:rPr sz="1677" dirty="0">
                <a:latin typeface="Times New Roman"/>
                <a:cs typeface="Times New Roman"/>
              </a:rPr>
              <a:t>“</a:t>
            </a:r>
            <a:r>
              <a:rPr sz="1677" dirty="0">
                <a:latin typeface="Arial MT"/>
                <a:cs typeface="Arial MT"/>
              </a:rPr>
              <a:t>modified</a:t>
            </a:r>
            <a:r>
              <a:rPr sz="1677" dirty="0">
                <a:latin typeface="Times New Roman"/>
                <a:cs typeface="Times New Roman"/>
              </a:rPr>
              <a:t>”</a:t>
            </a:r>
            <a:r>
              <a:rPr sz="1677" spc="31" dirty="0">
                <a:latin typeface="Times New Roman"/>
                <a:cs typeface="Times New Roman"/>
              </a:rPr>
              <a:t> </a:t>
            </a:r>
            <a:r>
              <a:rPr sz="1677" dirty="0">
                <a:latin typeface="Arial MT"/>
                <a:cs typeface="Arial MT"/>
              </a:rPr>
              <a:t>when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CPU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first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writes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spc="-22" dirty="0">
                <a:latin typeface="Arial MT"/>
                <a:cs typeface="Arial MT"/>
              </a:rPr>
              <a:t>to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block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and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makes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any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other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copies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become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spc="-9" dirty="0">
                <a:latin typeface="Times New Roman"/>
                <a:cs typeface="Times New Roman"/>
              </a:rPr>
              <a:t>“</a:t>
            </a:r>
            <a:r>
              <a:rPr sz="1677" spc="-9" dirty="0">
                <a:latin typeface="Arial MT"/>
                <a:cs typeface="Arial MT"/>
              </a:rPr>
              <a:t>invalid</a:t>
            </a:r>
            <a:r>
              <a:rPr sz="1677" spc="-9" dirty="0">
                <a:latin typeface="Times New Roman"/>
                <a:cs typeface="Times New Roman"/>
              </a:rPr>
              <a:t>”</a:t>
            </a:r>
            <a:r>
              <a:rPr sz="1677" spc="-9" dirty="0">
                <a:latin typeface="Arial MT"/>
                <a:cs typeface="Arial MT"/>
              </a:rPr>
              <a:t>.</a:t>
            </a:r>
            <a:r>
              <a:rPr lang="en-US" sz="1677" spc="-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If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dirty</a:t>
            </a:r>
            <a:r>
              <a:rPr sz="1677" spc="-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cache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block</a:t>
            </a:r>
            <a:r>
              <a:rPr sz="1677" spc="-9" dirty="0">
                <a:latin typeface="Arial MT"/>
                <a:cs typeface="Arial MT"/>
              </a:rPr>
              <a:t> </a:t>
            </a:r>
            <a:r>
              <a:rPr sz="1677" spc="-22" dirty="0">
                <a:latin typeface="Arial MT"/>
                <a:cs typeface="Arial MT"/>
              </a:rPr>
              <a:t>is </a:t>
            </a:r>
            <a:r>
              <a:rPr sz="1677" dirty="0">
                <a:latin typeface="Arial MT"/>
                <a:cs typeface="Arial MT"/>
              </a:rPr>
              <a:t>forced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from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Times New Roman"/>
                <a:cs typeface="Times New Roman"/>
              </a:rPr>
              <a:t>“</a:t>
            </a:r>
            <a:r>
              <a:rPr sz="1677" dirty="0">
                <a:latin typeface="Arial MT"/>
                <a:cs typeface="Arial MT"/>
              </a:rPr>
              <a:t>modified</a:t>
            </a:r>
            <a:r>
              <a:rPr sz="1677" dirty="0">
                <a:latin typeface="Times New Roman"/>
                <a:cs typeface="Times New Roman"/>
              </a:rPr>
              <a:t>”</a:t>
            </a:r>
            <a:r>
              <a:rPr sz="1677" spc="22" dirty="0">
                <a:latin typeface="Times New Roman"/>
                <a:cs typeface="Times New Roman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Times New Roman"/>
                <a:cs typeface="Times New Roman"/>
              </a:rPr>
              <a:t>“</a:t>
            </a:r>
            <a:r>
              <a:rPr sz="1677" dirty="0">
                <a:latin typeface="Arial MT"/>
                <a:cs typeface="Arial MT"/>
              </a:rPr>
              <a:t>shared</a:t>
            </a:r>
            <a:r>
              <a:rPr sz="1677" dirty="0">
                <a:latin typeface="Times New Roman"/>
                <a:cs typeface="Times New Roman"/>
              </a:rPr>
              <a:t>”</a:t>
            </a:r>
            <a:r>
              <a:rPr sz="1677" spc="22" dirty="0">
                <a:latin typeface="Times New Roman"/>
                <a:cs typeface="Times New Roman"/>
              </a:rPr>
              <a:t> </a:t>
            </a:r>
            <a:r>
              <a:rPr sz="1677" dirty="0">
                <a:latin typeface="Arial MT"/>
                <a:cs typeface="Arial MT"/>
              </a:rPr>
              <a:t>by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RdMiss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from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another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CPU,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cache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spc="-18" dirty="0">
                <a:latin typeface="Arial MT"/>
                <a:cs typeface="Arial MT"/>
              </a:rPr>
              <a:t>with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latest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value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writes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its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block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back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memory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for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new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CPU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read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data.</a:t>
            </a:r>
            <a:endParaRPr sz="1677" dirty="0">
              <a:latin typeface="Arial MT"/>
              <a:cs typeface="Arial MT"/>
            </a:endParaRPr>
          </a:p>
        </p:txBody>
      </p:sp>
      <p:sp>
        <p:nvSpPr>
          <p:cNvPr id="71" name="Slide Number Placeholder 4">
            <a:extLst>
              <a:ext uri="{FF2B5EF4-FFF2-40B4-BE49-F238E27FC236}">
                <a16:creationId xmlns:a16="http://schemas.microsoft.com/office/drawing/2014/main" id="{13F121B5-7698-A0FA-0095-D0087444C10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47</a:t>
            </a:fld>
            <a:endParaRPr lang="en-US" spc="-44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8413" y="2962732"/>
            <a:ext cx="1365437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3"/>
              </a:lnSpc>
            </a:pPr>
            <a:r>
              <a:rPr sz="1279" dirty="0">
                <a:solidFill>
                  <a:srgbClr val="F20884"/>
                </a:solidFill>
                <a:latin typeface="Arial MT"/>
                <a:cs typeface="Arial MT"/>
              </a:rPr>
              <a:t>P1:</a:t>
            </a:r>
            <a:r>
              <a:rPr sz="1279" spc="26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F20884"/>
                </a:solidFill>
                <a:latin typeface="Arial MT"/>
                <a:cs typeface="Arial MT"/>
              </a:rPr>
              <a:t>Write</a:t>
            </a:r>
            <a:r>
              <a:rPr sz="1279" spc="101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F20884"/>
                </a:solidFill>
                <a:latin typeface="Arial MT"/>
                <a:cs typeface="Arial MT"/>
              </a:rPr>
              <a:t>10</a:t>
            </a:r>
            <a:r>
              <a:rPr sz="1279" spc="26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F20884"/>
                </a:solidFill>
                <a:latin typeface="Arial MT"/>
                <a:cs typeface="Arial MT"/>
              </a:rPr>
              <a:t>to</a:t>
            </a:r>
            <a:r>
              <a:rPr sz="1279" spc="26" dirty="0">
                <a:solidFill>
                  <a:srgbClr val="F20884"/>
                </a:solidFill>
                <a:latin typeface="Arial MT"/>
                <a:cs typeface="Arial MT"/>
              </a:rPr>
              <a:t> A1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2544" y="3157359"/>
            <a:ext cx="95698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3"/>
              </a:lnSpc>
            </a:pPr>
            <a:r>
              <a:rPr sz="1279" dirty="0">
                <a:solidFill>
                  <a:srgbClr val="F20884"/>
                </a:solidFill>
                <a:latin typeface="Arial MT"/>
                <a:cs typeface="Arial MT"/>
              </a:rPr>
              <a:t>P1:</a:t>
            </a:r>
            <a:r>
              <a:rPr sz="1279" spc="57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F20884"/>
                </a:solidFill>
                <a:latin typeface="Arial MT"/>
                <a:cs typeface="Arial MT"/>
              </a:rPr>
              <a:t>Read</a:t>
            </a:r>
            <a:r>
              <a:rPr sz="1279" spc="62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spc="26" dirty="0">
                <a:solidFill>
                  <a:srgbClr val="F20884"/>
                </a:solidFill>
                <a:latin typeface="Arial MT"/>
                <a:cs typeface="Arial MT"/>
              </a:rPr>
              <a:t>A1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2544" y="3351986"/>
            <a:ext cx="95698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3"/>
              </a:lnSpc>
            </a:pP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P2:</a:t>
            </a:r>
            <a:r>
              <a:rPr sz="1279" spc="57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Read</a:t>
            </a:r>
            <a:r>
              <a:rPr sz="1279" spc="62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A1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8413" y="3935523"/>
            <a:ext cx="1365437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3"/>
              </a:lnSpc>
            </a:pP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P2: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Write</a:t>
            </a:r>
            <a:r>
              <a:rPr sz="1279" spc="101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20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to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 A1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8413" y="4129890"/>
            <a:ext cx="1365437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3"/>
              </a:lnSpc>
            </a:pP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P2: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Write</a:t>
            </a:r>
            <a:r>
              <a:rPr sz="1279" spc="101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40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dirty="0">
                <a:solidFill>
                  <a:srgbClr val="1FB714"/>
                </a:solidFill>
                <a:latin typeface="Arial MT"/>
                <a:cs typeface="Arial MT"/>
              </a:rPr>
              <a:t>to</a:t>
            </a:r>
            <a:r>
              <a:rPr sz="1279" spc="26" dirty="0">
                <a:solidFill>
                  <a:srgbClr val="1FB714"/>
                </a:solidFill>
                <a:latin typeface="Arial MT"/>
                <a:cs typeface="Arial MT"/>
              </a:rPr>
              <a:t> A2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9847" y="3150776"/>
            <a:ext cx="19050" cy="19050"/>
          </a:xfrm>
          <a:custGeom>
            <a:avLst/>
            <a:gdLst/>
            <a:ahLst/>
            <a:cxnLst/>
            <a:rect l="l" t="t" r="r" b="b"/>
            <a:pathLst>
              <a:path w="21589" h="21589">
                <a:moveTo>
                  <a:pt x="0" y="21132"/>
                </a:moveTo>
                <a:lnTo>
                  <a:pt x="21221" y="0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/>
          <p:nvPr/>
        </p:nvSpPr>
        <p:spPr>
          <a:xfrm>
            <a:off x="2212715" y="3345404"/>
            <a:ext cx="19050" cy="18490"/>
          </a:xfrm>
          <a:custGeom>
            <a:avLst/>
            <a:gdLst/>
            <a:ahLst/>
            <a:cxnLst/>
            <a:rect l="l" t="t" r="r" b="b"/>
            <a:pathLst>
              <a:path w="21589" h="20954">
                <a:moveTo>
                  <a:pt x="0" y="0"/>
                </a:moveTo>
                <a:lnTo>
                  <a:pt x="21213" y="20817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" name="object 10"/>
          <p:cNvSpPr/>
          <p:nvPr/>
        </p:nvSpPr>
        <p:spPr>
          <a:xfrm>
            <a:off x="2212715" y="2956150"/>
            <a:ext cx="19050" cy="19050"/>
          </a:xfrm>
          <a:custGeom>
            <a:avLst/>
            <a:gdLst/>
            <a:ahLst/>
            <a:cxnLst/>
            <a:rect l="l" t="t" r="r" b="b"/>
            <a:pathLst>
              <a:path w="21589" h="21589">
                <a:moveTo>
                  <a:pt x="0" y="0"/>
                </a:moveTo>
                <a:lnTo>
                  <a:pt x="21213" y="21237"/>
                </a:lnTo>
              </a:path>
            </a:pathLst>
          </a:custGeom>
          <a:ln w="10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1" name="object 11"/>
          <p:cNvSpPr/>
          <p:nvPr/>
        </p:nvSpPr>
        <p:spPr>
          <a:xfrm>
            <a:off x="309847" y="2956150"/>
            <a:ext cx="19050" cy="19050"/>
          </a:xfrm>
          <a:custGeom>
            <a:avLst/>
            <a:gdLst/>
            <a:ahLst/>
            <a:cxnLst/>
            <a:rect l="l" t="t" r="r" b="b"/>
            <a:pathLst>
              <a:path w="21589" h="21589">
                <a:moveTo>
                  <a:pt x="0" y="21237"/>
                </a:moveTo>
                <a:lnTo>
                  <a:pt x="21221" y="0"/>
                </a:lnTo>
              </a:path>
            </a:pathLst>
          </a:custGeom>
          <a:ln w="10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450273"/>
              </p:ext>
            </p:extLst>
          </p:nvPr>
        </p:nvGraphicFramePr>
        <p:xfrm>
          <a:off x="286729" y="2562661"/>
          <a:ext cx="8559049" cy="1942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8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0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9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9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89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192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89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42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693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54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241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9442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2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635"/>
                        </a:lnSpc>
                      </a:pPr>
                      <a:r>
                        <a:rPr sz="1300" i="1" spc="-2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635"/>
                        </a:lnSpc>
                      </a:pPr>
                      <a:r>
                        <a:rPr sz="1300" i="1" spc="-25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Bus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10" dirty="0">
                          <a:latin typeface="Arial"/>
                          <a:cs typeface="Arial"/>
                        </a:rPr>
                        <a:t>Memory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862">
                <a:tc gridSpan="2">
                  <a:txBody>
                    <a:bodyPr/>
                    <a:lstStyle/>
                    <a:p>
                      <a:pPr marR="64769" algn="ctr">
                        <a:lnSpc>
                          <a:spcPts val="1635"/>
                        </a:lnSpc>
                      </a:pPr>
                      <a:r>
                        <a:rPr sz="1300" i="1" spc="-20" dirty="0">
                          <a:latin typeface="Arial"/>
                          <a:cs typeface="Arial"/>
                        </a:rPr>
                        <a:t>step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State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0655" algn="r">
                        <a:lnSpc>
                          <a:spcPts val="1635"/>
                        </a:lnSpc>
                      </a:pPr>
                      <a:r>
                        <a:rPr sz="1300" i="1" spc="-2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Addr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State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ts val="1635"/>
                        </a:lnSpc>
                      </a:pPr>
                      <a:r>
                        <a:rPr sz="1300" i="1" spc="-2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Addr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Action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Proc.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635"/>
                        </a:lnSpc>
                      </a:pPr>
                      <a:r>
                        <a:rPr sz="1300" i="1" spc="-20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Addr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635"/>
                        </a:lnSpc>
                      </a:pPr>
                      <a:r>
                        <a:rPr sz="1300" i="1" spc="-10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335" algn="ctr">
                        <a:lnSpc>
                          <a:spcPts val="1635"/>
                        </a:lnSpc>
                      </a:pPr>
                      <a:r>
                        <a:rPr sz="1300" i="1" spc="-20" dirty="0">
                          <a:latin typeface="Arial"/>
                          <a:cs typeface="Arial"/>
                        </a:rPr>
                        <a:t>Addr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635"/>
                        </a:lnSpc>
                      </a:pPr>
                      <a:r>
                        <a:rPr sz="1300" i="1" spc="-10" dirty="0">
                          <a:latin typeface="Arial"/>
                          <a:cs typeface="Arial"/>
                        </a:rPr>
                        <a:t>Value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422">
                <a:tc gridSpan="2">
                  <a:txBody>
                    <a:bodyPr/>
                    <a:lstStyle/>
                    <a:p>
                      <a:pPr marL="336550">
                        <a:lnSpc>
                          <a:spcPts val="1614"/>
                        </a:lnSpc>
                      </a:pPr>
                      <a:r>
                        <a:rPr sz="13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P1</a:t>
                      </a:r>
                      <a:r>
                        <a:rPr sz="1300" b="1" spc="4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Write</a:t>
                      </a:r>
                      <a:r>
                        <a:rPr sz="1300" b="1" spc="5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1300" b="1" spc="4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300" b="1" spc="5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AAAAAA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1635"/>
                        </a:lnSpc>
                      </a:pPr>
                      <a:r>
                        <a:rPr sz="1300" i="1" u="sng" spc="-2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Excl.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ts val="1635"/>
                        </a:lnSpc>
                      </a:pPr>
                      <a:r>
                        <a:rPr sz="1300" i="1" u="sng" spc="-2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1635"/>
                        </a:lnSpc>
                      </a:pPr>
                      <a:r>
                        <a:rPr sz="1300" i="1" u="sng" spc="-2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10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635"/>
                        </a:lnSpc>
                      </a:pPr>
                      <a:r>
                        <a:rPr sz="1300" i="1" u="sng" spc="-2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WrMs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P1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2405" algn="r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 marL="346710">
                        <a:lnSpc>
                          <a:spcPts val="1614"/>
                        </a:lnSpc>
                      </a:pPr>
                      <a:r>
                        <a:rPr sz="13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P1:</a:t>
                      </a:r>
                      <a:r>
                        <a:rPr sz="1300" b="1" spc="6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Read</a:t>
                      </a:r>
                      <a:r>
                        <a:rPr sz="1300" b="1" spc="6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38100">
                      <a:solidFill>
                        <a:srgbClr val="AAAAAA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AAAAAA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ts val="1635"/>
                        </a:lnSpc>
                      </a:pPr>
                      <a:r>
                        <a:rPr sz="1300" spc="-20" dirty="0">
                          <a:latin typeface="Arial MT"/>
                          <a:cs typeface="Arial MT"/>
                        </a:rPr>
                        <a:t>Excl.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1635"/>
                        </a:lnSpc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ts val="1635"/>
                        </a:lnSpc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10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422">
                <a:tc gridSpan="2">
                  <a:txBody>
                    <a:bodyPr/>
                    <a:lstStyle/>
                    <a:p>
                      <a:pPr marL="546735">
                        <a:lnSpc>
                          <a:spcPts val="1610"/>
                        </a:lnSpc>
                      </a:pP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P2:</a:t>
                      </a:r>
                      <a:r>
                        <a:rPr sz="1300" b="1" spc="6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Read</a:t>
                      </a:r>
                      <a:r>
                        <a:rPr sz="1300" b="1" spc="6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ts val="1635"/>
                        </a:lnSpc>
                      </a:pPr>
                      <a:r>
                        <a:rPr sz="1300" i="1" u="sng" spc="-1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Shar.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ts val="1635"/>
                        </a:lnSpc>
                      </a:pPr>
                      <a:r>
                        <a:rPr sz="1300" i="1" u="sng" spc="-2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635"/>
                        </a:lnSpc>
                      </a:pPr>
                      <a:r>
                        <a:rPr sz="1300" i="1" u="sng" spc="-2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RdMs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P2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2405" algn="r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86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635"/>
                        </a:lnSpc>
                      </a:pPr>
                      <a:r>
                        <a:rPr sz="1300" i="1" u="sng" spc="-1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Shar.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1635"/>
                        </a:lnSpc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ts val="1635"/>
                        </a:lnSpc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10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635"/>
                        </a:lnSpc>
                      </a:pPr>
                      <a:r>
                        <a:rPr sz="1300" i="1" u="sng" spc="-2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WrBk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P1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2405" algn="r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0345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DD0806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1635"/>
                        </a:lnSpc>
                      </a:pPr>
                      <a:r>
                        <a:rPr sz="1300" i="1" u="sng" spc="-2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10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42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1635"/>
                        </a:lnSpc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Shar.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0655" algn="r">
                        <a:lnSpc>
                          <a:spcPts val="1635"/>
                        </a:lnSpc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5405" algn="ctr">
                        <a:lnSpc>
                          <a:spcPts val="1635"/>
                        </a:lnSpc>
                      </a:pPr>
                      <a:r>
                        <a:rPr sz="1300" i="1" u="sng" spc="-2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10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635"/>
                        </a:lnSpc>
                      </a:pPr>
                      <a:r>
                        <a:rPr sz="1300" i="1" u="sng" spc="-2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RdDa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P2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2405" algn="r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0345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1635"/>
                        </a:lnSpc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8435">
                        <a:lnSpc>
                          <a:spcPts val="1635"/>
                        </a:lnSpc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10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422">
                <a:tc gridSpan="2">
                  <a:txBody>
                    <a:bodyPr/>
                    <a:lstStyle/>
                    <a:p>
                      <a:pPr marL="294005">
                        <a:lnSpc>
                          <a:spcPts val="1635"/>
                        </a:lnSpc>
                      </a:pP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P2:</a:t>
                      </a:r>
                      <a:r>
                        <a:rPr sz="13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Write</a:t>
                      </a:r>
                      <a:r>
                        <a:rPr sz="13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sz="13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300" b="1" spc="5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ts val="1635"/>
                        </a:lnSpc>
                      </a:pPr>
                      <a:r>
                        <a:rPr sz="1300" i="1" u="sng" spc="-2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Inv.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635"/>
                        </a:lnSpc>
                      </a:pPr>
                      <a:r>
                        <a:rPr sz="1300" i="1" u="sng" spc="-2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Excl.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0655" algn="r">
                        <a:lnSpc>
                          <a:spcPts val="1635"/>
                        </a:lnSpc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5405" algn="ctr">
                        <a:lnSpc>
                          <a:spcPts val="1635"/>
                        </a:lnSpc>
                      </a:pPr>
                      <a:r>
                        <a:rPr sz="1300" i="1" u="sng" spc="-2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20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635"/>
                        </a:lnSpc>
                      </a:pPr>
                      <a:r>
                        <a:rPr sz="1300" i="1" u="sng" spc="-2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WrMs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P2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2405" algn="r">
                        <a:lnSpc>
                          <a:spcPts val="1635"/>
                        </a:lnSpc>
                      </a:pPr>
                      <a:r>
                        <a:rPr sz="1300" spc="-2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1635"/>
                        </a:lnSpc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8435">
                        <a:lnSpc>
                          <a:spcPts val="1635"/>
                        </a:lnSpc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10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862">
                <a:tc gridSpan="2">
                  <a:txBody>
                    <a:bodyPr/>
                    <a:lstStyle/>
                    <a:p>
                      <a:pPr marL="294005">
                        <a:lnSpc>
                          <a:spcPts val="1610"/>
                        </a:lnSpc>
                      </a:pP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P2:</a:t>
                      </a:r>
                      <a:r>
                        <a:rPr sz="13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Write</a:t>
                      </a:r>
                      <a:r>
                        <a:rPr sz="13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40</a:t>
                      </a:r>
                      <a:r>
                        <a:rPr sz="1300" b="1" spc="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300" b="1" spc="5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A2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AAAAAA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ECEC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442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CECECE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ECEC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ECEC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295986" y="3507501"/>
            <a:ext cx="1940299" cy="37540"/>
            <a:chOff x="183050" y="3975168"/>
            <a:chExt cx="2199005" cy="42545"/>
          </a:xfrm>
        </p:grpSpPr>
        <p:sp>
          <p:nvSpPr>
            <p:cNvPr id="14" name="object 14"/>
            <p:cNvSpPr/>
            <p:nvPr/>
          </p:nvSpPr>
          <p:spPr>
            <a:xfrm>
              <a:off x="188280" y="3990797"/>
              <a:ext cx="2188845" cy="21590"/>
            </a:xfrm>
            <a:custGeom>
              <a:avLst/>
              <a:gdLst/>
              <a:ahLst/>
              <a:cxnLst/>
              <a:rect l="l" t="t" r="r" b="b"/>
              <a:pathLst>
                <a:path w="2188845" h="21589">
                  <a:moveTo>
                    <a:pt x="2188278" y="0"/>
                  </a:moveTo>
                  <a:lnTo>
                    <a:pt x="2167064" y="21132"/>
                  </a:lnTo>
                </a:path>
                <a:path w="2188845" h="21589">
                  <a:moveTo>
                    <a:pt x="10480" y="21132"/>
                  </a:moveTo>
                  <a:lnTo>
                    <a:pt x="0" y="10566"/>
                  </a:lnTo>
                </a:path>
              </a:pathLst>
            </a:custGeom>
            <a:ln w="104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198760" y="3990797"/>
              <a:ext cx="2167255" cy="10795"/>
            </a:xfrm>
            <a:custGeom>
              <a:avLst/>
              <a:gdLst/>
              <a:ahLst/>
              <a:cxnLst/>
              <a:rect l="l" t="t" r="r" b="b"/>
              <a:pathLst>
                <a:path w="2167255" h="10795">
                  <a:moveTo>
                    <a:pt x="0" y="10513"/>
                  </a:moveTo>
                  <a:lnTo>
                    <a:pt x="2156583" y="10513"/>
                  </a:lnTo>
                </a:path>
                <a:path w="2167255" h="10795">
                  <a:moveTo>
                    <a:pt x="2156583" y="10513"/>
                  </a:moveTo>
                  <a:lnTo>
                    <a:pt x="2156583" y="0"/>
                  </a:lnTo>
                </a:path>
                <a:path w="2167255" h="10795">
                  <a:moveTo>
                    <a:pt x="2156583" y="0"/>
                  </a:moveTo>
                  <a:lnTo>
                    <a:pt x="2167243" y="0"/>
                  </a:lnTo>
                </a:path>
              </a:pathLst>
            </a:custGeom>
            <a:ln w="10459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209239" y="3980388"/>
              <a:ext cx="2146300" cy="10795"/>
            </a:xfrm>
            <a:custGeom>
              <a:avLst/>
              <a:gdLst/>
              <a:ahLst/>
              <a:cxnLst/>
              <a:rect l="l" t="t" r="r" b="b"/>
              <a:pathLst>
                <a:path w="2146300" h="10795">
                  <a:moveTo>
                    <a:pt x="0" y="10408"/>
                  </a:moveTo>
                  <a:lnTo>
                    <a:pt x="2135550" y="10408"/>
                  </a:lnTo>
                </a:path>
                <a:path w="2146300" h="10795">
                  <a:moveTo>
                    <a:pt x="2135550" y="10408"/>
                  </a:moveTo>
                  <a:lnTo>
                    <a:pt x="2135550" y="0"/>
                  </a:lnTo>
                </a:path>
                <a:path w="2146300" h="10795">
                  <a:moveTo>
                    <a:pt x="2135550" y="0"/>
                  </a:moveTo>
                  <a:lnTo>
                    <a:pt x="2146104" y="0"/>
                  </a:lnTo>
                </a:path>
              </a:pathLst>
            </a:custGeom>
            <a:ln w="10459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188280" y="3990797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0"/>
                  </a:moveTo>
                  <a:lnTo>
                    <a:pt x="10480" y="10513"/>
                  </a:lnTo>
                </a:path>
              </a:pathLst>
            </a:custGeom>
            <a:ln w="10460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295985" y="3322143"/>
            <a:ext cx="1545851" cy="46504"/>
            <a:chOff x="183050" y="3765095"/>
            <a:chExt cx="1751964" cy="52705"/>
          </a:xfrm>
        </p:grpSpPr>
        <p:sp>
          <p:nvSpPr>
            <p:cNvPr id="19" name="object 19"/>
            <p:cNvSpPr/>
            <p:nvPr/>
          </p:nvSpPr>
          <p:spPr>
            <a:xfrm>
              <a:off x="198760" y="3770325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89" h="21589">
                  <a:moveTo>
                    <a:pt x="21221" y="21132"/>
                  </a:moveTo>
                  <a:lnTo>
                    <a:pt x="0" y="0"/>
                  </a:lnTo>
                </a:path>
              </a:pathLst>
            </a:custGeom>
            <a:ln w="104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193520" y="3765105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230462" y="3770325"/>
              <a:ext cx="1704339" cy="0"/>
            </a:xfrm>
            <a:custGeom>
              <a:avLst/>
              <a:gdLst/>
              <a:ahLst/>
              <a:cxnLst/>
              <a:rect l="l" t="t" r="r" b="b"/>
              <a:pathLst>
                <a:path w="1704339">
                  <a:moveTo>
                    <a:pt x="0" y="0"/>
                  </a:moveTo>
                  <a:lnTo>
                    <a:pt x="1704085" y="0"/>
                  </a:lnTo>
                </a:path>
              </a:pathLst>
            </a:custGeom>
            <a:ln w="10439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209239" y="3770325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0"/>
                  </a:moveTo>
                  <a:lnTo>
                    <a:pt x="10742" y="10723"/>
                  </a:lnTo>
                </a:path>
              </a:pathLst>
            </a:custGeom>
            <a:ln w="10459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188280" y="3791457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408"/>
                  </a:moveTo>
                  <a:lnTo>
                    <a:pt x="10480" y="0"/>
                  </a:lnTo>
                </a:path>
              </a:pathLst>
            </a:custGeom>
            <a:ln w="104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188280" y="3801866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408"/>
                  </a:moveTo>
                  <a:lnTo>
                    <a:pt x="10480" y="0"/>
                  </a:lnTo>
                </a:path>
              </a:pathLst>
            </a:custGeom>
            <a:ln w="10459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193520" y="3807055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2208092" y="3349982"/>
            <a:ext cx="19050" cy="18490"/>
            <a:chOff x="2350104" y="3796646"/>
            <a:chExt cx="21590" cy="20955"/>
          </a:xfrm>
        </p:grpSpPr>
        <p:sp>
          <p:nvSpPr>
            <p:cNvPr id="27" name="object 27"/>
            <p:cNvSpPr/>
            <p:nvPr/>
          </p:nvSpPr>
          <p:spPr>
            <a:xfrm>
              <a:off x="2350104" y="3796646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2360763" y="3807055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9" name="object 29"/>
          <p:cNvSpPr/>
          <p:nvPr/>
        </p:nvSpPr>
        <p:spPr>
          <a:xfrm>
            <a:off x="2212715" y="3132409"/>
            <a:ext cx="19050" cy="18490"/>
          </a:xfrm>
          <a:custGeom>
            <a:avLst/>
            <a:gdLst/>
            <a:ahLst/>
            <a:cxnLst/>
            <a:rect l="l" t="t" r="r" b="b"/>
            <a:pathLst>
              <a:path w="21589" h="20954">
                <a:moveTo>
                  <a:pt x="21213" y="0"/>
                </a:moveTo>
                <a:lnTo>
                  <a:pt x="0" y="20817"/>
                </a:lnTo>
              </a:path>
            </a:pathLst>
          </a:custGeom>
          <a:ln w="10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30" name="object 30"/>
          <p:cNvGrpSpPr/>
          <p:nvPr/>
        </p:nvGrpSpPr>
        <p:grpSpPr>
          <a:xfrm>
            <a:off x="305224" y="3127794"/>
            <a:ext cx="1536326" cy="56029"/>
            <a:chOff x="193520" y="3544833"/>
            <a:chExt cx="1741170" cy="63500"/>
          </a:xfrm>
        </p:grpSpPr>
        <p:sp>
          <p:nvSpPr>
            <p:cNvPr id="31" name="object 31"/>
            <p:cNvSpPr/>
            <p:nvPr/>
          </p:nvSpPr>
          <p:spPr>
            <a:xfrm>
              <a:off x="193520" y="358679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219982" y="3592013"/>
              <a:ext cx="1715135" cy="10795"/>
            </a:xfrm>
            <a:custGeom>
              <a:avLst/>
              <a:gdLst/>
              <a:ahLst/>
              <a:cxnLst/>
              <a:rect l="l" t="t" r="r" b="b"/>
              <a:pathLst>
                <a:path w="1715135" h="10795">
                  <a:moveTo>
                    <a:pt x="0" y="10513"/>
                  </a:moveTo>
                  <a:lnTo>
                    <a:pt x="10480" y="10513"/>
                  </a:lnTo>
                </a:path>
                <a:path w="1715135" h="10795">
                  <a:moveTo>
                    <a:pt x="10480" y="10513"/>
                  </a:moveTo>
                  <a:lnTo>
                    <a:pt x="10480" y="0"/>
                  </a:lnTo>
                </a:path>
                <a:path w="1715135" h="10795">
                  <a:moveTo>
                    <a:pt x="10480" y="0"/>
                  </a:moveTo>
                  <a:lnTo>
                    <a:pt x="1714565" y="0"/>
                  </a:lnTo>
                </a:path>
              </a:pathLst>
            </a:custGeom>
            <a:ln w="104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209239" y="3581289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10723"/>
                  </a:moveTo>
                  <a:lnTo>
                    <a:pt x="10742" y="0"/>
                  </a:lnTo>
                </a:path>
              </a:pathLst>
            </a:custGeom>
            <a:ln w="10459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214741" y="358679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198760" y="3550063"/>
              <a:ext cx="21590" cy="20955"/>
            </a:xfrm>
            <a:custGeom>
              <a:avLst/>
              <a:gdLst/>
              <a:ahLst/>
              <a:cxnLst/>
              <a:rect l="l" t="t" r="r" b="b"/>
              <a:pathLst>
                <a:path w="21589" h="20954">
                  <a:moveTo>
                    <a:pt x="21221" y="20817"/>
                  </a:moveTo>
                  <a:lnTo>
                    <a:pt x="0" y="0"/>
                  </a:lnTo>
                </a:path>
              </a:pathLst>
            </a:custGeom>
            <a:ln w="104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6" name="object 36"/>
            <p:cNvSpPr/>
            <p:nvPr/>
          </p:nvSpPr>
          <p:spPr>
            <a:xfrm>
              <a:off x="193520" y="354484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209239" y="355006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0"/>
                  </a:moveTo>
                  <a:lnTo>
                    <a:pt x="10742" y="10408"/>
                  </a:lnTo>
                </a:path>
              </a:pathLst>
            </a:custGeom>
            <a:ln w="10459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305223" y="2960997"/>
            <a:ext cx="1921809" cy="28015"/>
            <a:chOff x="193520" y="3355797"/>
            <a:chExt cx="2178050" cy="31750"/>
          </a:xfrm>
        </p:grpSpPr>
        <p:sp>
          <p:nvSpPr>
            <p:cNvPr id="39" name="object 39"/>
            <p:cNvSpPr/>
            <p:nvPr/>
          </p:nvSpPr>
          <p:spPr>
            <a:xfrm>
              <a:off x="193520" y="3366321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0" name="object 40"/>
            <p:cNvSpPr/>
            <p:nvPr/>
          </p:nvSpPr>
          <p:spPr>
            <a:xfrm>
              <a:off x="219982" y="3371541"/>
              <a:ext cx="2125345" cy="10795"/>
            </a:xfrm>
            <a:custGeom>
              <a:avLst/>
              <a:gdLst/>
              <a:ahLst/>
              <a:cxnLst/>
              <a:rect l="l" t="t" r="r" b="b"/>
              <a:pathLst>
                <a:path w="2125345" h="10795">
                  <a:moveTo>
                    <a:pt x="0" y="10408"/>
                  </a:moveTo>
                  <a:lnTo>
                    <a:pt x="10480" y="10408"/>
                  </a:lnTo>
                </a:path>
                <a:path w="2125345" h="10795">
                  <a:moveTo>
                    <a:pt x="10480" y="10408"/>
                  </a:moveTo>
                  <a:lnTo>
                    <a:pt x="10480" y="0"/>
                  </a:lnTo>
                </a:path>
                <a:path w="2125345" h="10795">
                  <a:moveTo>
                    <a:pt x="10480" y="0"/>
                  </a:moveTo>
                  <a:lnTo>
                    <a:pt x="2124808" y="0"/>
                  </a:lnTo>
                </a:path>
              </a:pathLst>
            </a:custGeom>
            <a:ln w="104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209239" y="3361027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10513"/>
                  </a:moveTo>
                  <a:lnTo>
                    <a:pt x="10742" y="0"/>
                  </a:lnTo>
                </a:path>
              </a:pathLst>
            </a:custGeom>
            <a:ln w="10459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2350104" y="3355807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3" name="object 43"/>
            <p:cNvSpPr/>
            <p:nvPr/>
          </p:nvSpPr>
          <p:spPr>
            <a:xfrm>
              <a:off x="214741" y="3366321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4" name="object 44"/>
            <p:cNvSpPr/>
            <p:nvPr/>
          </p:nvSpPr>
          <p:spPr>
            <a:xfrm>
              <a:off x="2360763" y="3366321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295985" y="3933539"/>
            <a:ext cx="1940299" cy="37540"/>
            <a:chOff x="183049" y="4458010"/>
            <a:chExt cx="2199005" cy="42545"/>
          </a:xfrm>
        </p:grpSpPr>
        <p:sp>
          <p:nvSpPr>
            <p:cNvPr id="46" name="object 46"/>
            <p:cNvSpPr/>
            <p:nvPr/>
          </p:nvSpPr>
          <p:spPr>
            <a:xfrm>
              <a:off x="188280" y="4463240"/>
              <a:ext cx="2188845" cy="21590"/>
            </a:xfrm>
            <a:custGeom>
              <a:avLst/>
              <a:gdLst/>
              <a:ahLst/>
              <a:cxnLst/>
              <a:rect l="l" t="t" r="r" b="b"/>
              <a:pathLst>
                <a:path w="2188845" h="21589">
                  <a:moveTo>
                    <a:pt x="2167064" y="0"/>
                  </a:moveTo>
                  <a:lnTo>
                    <a:pt x="2188278" y="21143"/>
                  </a:lnTo>
                </a:path>
                <a:path w="2188845" h="21589">
                  <a:moveTo>
                    <a:pt x="0" y="10571"/>
                  </a:moveTo>
                  <a:lnTo>
                    <a:pt x="10480" y="0"/>
                  </a:lnTo>
                </a:path>
              </a:pathLst>
            </a:custGeom>
            <a:ln w="104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193509" y="4458030"/>
              <a:ext cx="2167255" cy="10795"/>
            </a:xfrm>
            <a:custGeom>
              <a:avLst/>
              <a:gdLst/>
              <a:ahLst/>
              <a:cxnLst/>
              <a:rect l="l" t="t" r="r" b="b"/>
              <a:pathLst>
                <a:path w="2167255" h="10795">
                  <a:moveTo>
                    <a:pt x="10490" y="5219"/>
                  </a:moveTo>
                  <a:lnTo>
                    <a:pt x="8953" y="1524"/>
                  </a:lnTo>
                  <a:lnTo>
                    <a:pt x="5245" y="0"/>
                  </a:lnTo>
                  <a:lnTo>
                    <a:pt x="1536" y="1524"/>
                  </a:lnTo>
                  <a:lnTo>
                    <a:pt x="0" y="5219"/>
                  </a:lnTo>
                  <a:lnTo>
                    <a:pt x="1536" y="8902"/>
                  </a:lnTo>
                  <a:lnTo>
                    <a:pt x="5245" y="10439"/>
                  </a:lnTo>
                  <a:lnTo>
                    <a:pt x="8953" y="8902"/>
                  </a:lnTo>
                  <a:lnTo>
                    <a:pt x="10490" y="5219"/>
                  </a:lnTo>
                  <a:close/>
                </a:path>
                <a:path w="2167255" h="10795">
                  <a:moveTo>
                    <a:pt x="2167064" y="5219"/>
                  </a:moveTo>
                  <a:lnTo>
                    <a:pt x="2165527" y="1524"/>
                  </a:lnTo>
                  <a:lnTo>
                    <a:pt x="2161832" y="0"/>
                  </a:lnTo>
                  <a:lnTo>
                    <a:pt x="2158123" y="1524"/>
                  </a:lnTo>
                  <a:lnTo>
                    <a:pt x="2156587" y="5219"/>
                  </a:lnTo>
                  <a:lnTo>
                    <a:pt x="2158123" y="8902"/>
                  </a:lnTo>
                  <a:lnTo>
                    <a:pt x="2161832" y="10439"/>
                  </a:lnTo>
                  <a:lnTo>
                    <a:pt x="2165527" y="8902"/>
                  </a:lnTo>
                  <a:lnTo>
                    <a:pt x="2167064" y="521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198760" y="4484383"/>
              <a:ext cx="2146300" cy="10795"/>
            </a:xfrm>
            <a:custGeom>
              <a:avLst/>
              <a:gdLst/>
              <a:ahLst/>
              <a:cxnLst/>
              <a:rect l="l" t="t" r="r" b="b"/>
              <a:pathLst>
                <a:path w="2146300" h="10795">
                  <a:moveTo>
                    <a:pt x="0" y="10440"/>
                  </a:moveTo>
                  <a:lnTo>
                    <a:pt x="10479" y="10440"/>
                  </a:lnTo>
                </a:path>
                <a:path w="2146300" h="10795">
                  <a:moveTo>
                    <a:pt x="10479" y="10440"/>
                  </a:moveTo>
                  <a:lnTo>
                    <a:pt x="10479" y="0"/>
                  </a:lnTo>
                </a:path>
                <a:path w="2146300" h="10795">
                  <a:moveTo>
                    <a:pt x="10479" y="0"/>
                  </a:moveTo>
                  <a:lnTo>
                    <a:pt x="2146029" y="0"/>
                  </a:lnTo>
                </a:path>
              </a:pathLst>
            </a:custGeom>
            <a:ln w="104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9" name="object 49"/>
            <p:cNvSpPr/>
            <p:nvPr/>
          </p:nvSpPr>
          <p:spPr>
            <a:xfrm>
              <a:off x="188280" y="447368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702"/>
                  </a:moveTo>
                  <a:lnTo>
                    <a:pt x="10480" y="0"/>
                  </a:lnTo>
                </a:path>
              </a:pathLst>
            </a:custGeom>
            <a:ln w="10460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0" name="object 50"/>
            <p:cNvSpPr/>
            <p:nvPr/>
          </p:nvSpPr>
          <p:spPr>
            <a:xfrm>
              <a:off x="2350104" y="446846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193520" y="447916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2" name="object 52"/>
            <p:cNvSpPr/>
            <p:nvPr/>
          </p:nvSpPr>
          <p:spPr>
            <a:xfrm>
              <a:off x="2360763" y="4479163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295986" y="4285666"/>
            <a:ext cx="1940299" cy="36979"/>
            <a:chOff x="183050" y="4857088"/>
            <a:chExt cx="2199005" cy="41910"/>
          </a:xfrm>
        </p:grpSpPr>
        <p:sp>
          <p:nvSpPr>
            <p:cNvPr id="54" name="object 54"/>
            <p:cNvSpPr/>
            <p:nvPr/>
          </p:nvSpPr>
          <p:spPr>
            <a:xfrm>
              <a:off x="188280" y="4872748"/>
              <a:ext cx="2188845" cy="20955"/>
            </a:xfrm>
            <a:custGeom>
              <a:avLst/>
              <a:gdLst/>
              <a:ahLst/>
              <a:cxnLst/>
              <a:rect l="l" t="t" r="r" b="b"/>
              <a:pathLst>
                <a:path w="2188845" h="20954">
                  <a:moveTo>
                    <a:pt x="2188278" y="0"/>
                  </a:moveTo>
                  <a:lnTo>
                    <a:pt x="2167064" y="20880"/>
                  </a:lnTo>
                </a:path>
                <a:path w="2188845" h="20954">
                  <a:moveTo>
                    <a:pt x="10480" y="20880"/>
                  </a:moveTo>
                  <a:lnTo>
                    <a:pt x="0" y="10439"/>
                  </a:lnTo>
                </a:path>
              </a:pathLst>
            </a:custGeom>
            <a:ln w="104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198760" y="4872748"/>
              <a:ext cx="2167255" cy="10795"/>
            </a:xfrm>
            <a:custGeom>
              <a:avLst/>
              <a:gdLst/>
              <a:ahLst/>
              <a:cxnLst/>
              <a:rect l="l" t="t" r="r" b="b"/>
              <a:pathLst>
                <a:path w="2167255" h="10795">
                  <a:moveTo>
                    <a:pt x="0" y="10440"/>
                  </a:moveTo>
                  <a:lnTo>
                    <a:pt x="2156583" y="10440"/>
                  </a:lnTo>
                </a:path>
                <a:path w="2167255" h="10795">
                  <a:moveTo>
                    <a:pt x="2156583" y="10440"/>
                  </a:moveTo>
                  <a:lnTo>
                    <a:pt x="2156583" y="0"/>
                  </a:lnTo>
                </a:path>
                <a:path w="2167255" h="10795">
                  <a:moveTo>
                    <a:pt x="2156583" y="0"/>
                  </a:moveTo>
                  <a:lnTo>
                    <a:pt x="2167243" y="0"/>
                  </a:lnTo>
                </a:path>
              </a:pathLst>
            </a:custGeom>
            <a:ln w="10459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209239" y="4862308"/>
              <a:ext cx="2146300" cy="10795"/>
            </a:xfrm>
            <a:custGeom>
              <a:avLst/>
              <a:gdLst/>
              <a:ahLst/>
              <a:cxnLst/>
              <a:rect l="l" t="t" r="r" b="b"/>
              <a:pathLst>
                <a:path w="2146300" h="10795">
                  <a:moveTo>
                    <a:pt x="0" y="10440"/>
                  </a:moveTo>
                  <a:lnTo>
                    <a:pt x="2135550" y="10440"/>
                  </a:lnTo>
                </a:path>
                <a:path w="2146300" h="10795">
                  <a:moveTo>
                    <a:pt x="2135550" y="10440"/>
                  </a:moveTo>
                  <a:lnTo>
                    <a:pt x="2135550" y="0"/>
                  </a:lnTo>
                </a:path>
                <a:path w="2146300" h="10795">
                  <a:moveTo>
                    <a:pt x="2135550" y="0"/>
                  </a:moveTo>
                  <a:lnTo>
                    <a:pt x="2146104" y="0"/>
                  </a:lnTo>
                </a:path>
              </a:pathLst>
            </a:custGeom>
            <a:ln w="10459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188280" y="4872748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0"/>
                  </a:moveTo>
                  <a:lnTo>
                    <a:pt x="10480" y="10440"/>
                  </a:lnTo>
                </a:path>
              </a:pathLst>
            </a:custGeom>
            <a:ln w="10459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295986" y="4091067"/>
            <a:ext cx="1940299" cy="64994"/>
            <a:chOff x="183050" y="4636542"/>
            <a:chExt cx="2199005" cy="73660"/>
          </a:xfrm>
        </p:grpSpPr>
        <p:sp>
          <p:nvSpPr>
            <p:cNvPr id="59" name="object 59"/>
            <p:cNvSpPr/>
            <p:nvPr/>
          </p:nvSpPr>
          <p:spPr>
            <a:xfrm>
              <a:off x="188280" y="4652202"/>
              <a:ext cx="2188845" cy="21590"/>
            </a:xfrm>
            <a:custGeom>
              <a:avLst/>
              <a:gdLst/>
              <a:ahLst/>
              <a:cxnLst/>
              <a:rect l="l" t="t" r="r" b="b"/>
              <a:pathLst>
                <a:path w="2188845" h="21589">
                  <a:moveTo>
                    <a:pt x="2188278" y="0"/>
                  </a:moveTo>
                  <a:lnTo>
                    <a:pt x="2167064" y="21143"/>
                  </a:lnTo>
                </a:path>
                <a:path w="2188845" h="21589">
                  <a:moveTo>
                    <a:pt x="10480" y="21143"/>
                  </a:moveTo>
                  <a:lnTo>
                    <a:pt x="0" y="10571"/>
                  </a:lnTo>
                </a:path>
              </a:pathLst>
            </a:custGeom>
            <a:ln w="104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0" name="object 60"/>
            <p:cNvSpPr/>
            <p:nvPr/>
          </p:nvSpPr>
          <p:spPr>
            <a:xfrm>
              <a:off x="198760" y="4652202"/>
              <a:ext cx="2167255" cy="10795"/>
            </a:xfrm>
            <a:custGeom>
              <a:avLst/>
              <a:gdLst/>
              <a:ahLst/>
              <a:cxnLst/>
              <a:rect l="l" t="t" r="r" b="b"/>
              <a:pathLst>
                <a:path w="2167255" h="10795">
                  <a:moveTo>
                    <a:pt x="0" y="10440"/>
                  </a:moveTo>
                  <a:lnTo>
                    <a:pt x="2156583" y="10440"/>
                  </a:lnTo>
                </a:path>
                <a:path w="2167255" h="10795">
                  <a:moveTo>
                    <a:pt x="2156583" y="10440"/>
                  </a:moveTo>
                  <a:lnTo>
                    <a:pt x="2156583" y="0"/>
                  </a:lnTo>
                </a:path>
                <a:path w="2167255" h="10795">
                  <a:moveTo>
                    <a:pt x="2156583" y="0"/>
                  </a:moveTo>
                  <a:lnTo>
                    <a:pt x="2167243" y="0"/>
                  </a:lnTo>
                </a:path>
              </a:pathLst>
            </a:custGeom>
            <a:ln w="10459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209239" y="4641762"/>
              <a:ext cx="2146300" cy="10795"/>
            </a:xfrm>
            <a:custGeom>
              <a:avLst/>
              <a:gdLst/>
              <a:ahLst/>
              <a:cxnLst/>
              <a:rect l="l" t="t" r="r" b="b"/>
              <a:pathLst>
                <a:path w="2146300" h="10795">
                  <a:moveTo>
                    <a:pt x="0" y="10440"/>
                  </a:moveTo>
                  <a:lnTo>
                    <a:pt x="2135550" y="10440"/>
                  </a:lnTo>
                </a:path>
                <a:path w="2146300" h="10795">
                  <a:moveTo>
                    <a:pt x="2135550" y="10440"/>
                  </a:moveTo>
                  <a:lnTo>
                    <a:pt x="2135550" y="0"/>
                  </a:lnTo>
                </a:path>
                <a:path w="2146300" h="10795">
                  <a:moveTo>
                    <a:pt x="2135550" y="0"/>
                  </a:moveTo>
                  <a:lnTo>
                    <a:pt x="2146104" y="0"/>
                  </a:lnTo>
                </a:path>
              </a:pathLst>
            </a:custGeom>
            <a:ln w="10459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2" name="object 62"/>
            <p:cNvSpPr/>
            <p:nvPr/>
          </p:nvSpPr>
          <p:spPr>
            <a:xfrm>
              <a:off x="188280" y="4652202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0"/>
                  </a:moveTo>
                  <a:lnTo>
                    <a:pt x="10480" y="10440"/>
                  </a:lnTo>
                </a:path>
              </a:pathLst>
            </a:custGeom>
            <a:ln w="10459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3" name="object 63"/>
            <p:cNvSpPr/>
            <p:nvPr/>
          </p:nvSpPr>
          <p:spPr>
            <a:xfrm>
              <a:off x="188280" y="4673346"/>
              <a:ext cx="2188845" cy="20955"/>
            </a:xfrm>
            <a:custGeom>
              <a:avLst/>
              <a:gdLst/>
              <a:ahLst/>
              <a:cxnLst/>
              <a:rect l="l" t="t" r="r" b="b"/>
              <a:pathLst>
                <a:path w="2188845" h="20954">
                  <a:moveTo>
                    <a:pt x="2167064" y="0"/>
                  </a:moveTo>
                  <a:lnTo>
                    <a:pt x="2188278" y="20880"/>
                  </a:lnTo>
                </a:path>
                <a:path w="2188845" h="20954">
                  <a:moveTo>
                    <a:pt x="0" y="10440"/>
                  </a:moveTo>
                  <a:lnTo>
                    <a:pt x="10480" y="0"/>
                  </a:lnTo>
                </a:path>
              </a:pathLst>
            </a:custGeom>
            <a:ln w="104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4" name="object 64"/>
            <p:cNvSpPr/>
            <p:nvPr/>
          </p:nvSpPr>
          <p:spPr>
            <a:xfrm>
              <a:off x="198760" y="4694226"/>
              <a:ext cx="2146300" cy="10795"/>
            </a:xfrm>
            <a:custGeom>
              <a:avLst/>
              <a:gdLst/>
              <a:ahLst/>
              <a:cxnLst/>
              <a:rect l="l" t="t" r="r" b="b"/>
              <a:pathLst>
                <a:path w="2146300" h="10795">
                  <a:moveTo>
                    <a:pt x="0" y="10440"/>
                  </a:moveTo>
                  <a:lnTo>
                    <a:pt x="10479" y="10440"/>
                  </a:lnTo>
                </a:path>
                <a:path w="2146300" h="10795">
                  <a:moveTo>
                    <a:pt x="10479" y="10440"/>
                  </a:moveTo>
                  <a:lnTo>
                    <a:pt x="10479" y="0"/>
                  </a:lnTo>
                </a:path>
                <a:path w="2146300" h="10795">
                  <a:moveTo>
                    <a:pt x="10479" y="0"/>
                  </a:moveTo>
                  <a:lnTo>
                    <a:pt x="2146029" y="0"/>
                  </a:lnTo>
                </a:path>
              </a:pathLst>
            </a:custGeom>
            <a:ln w="104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188280" y="4683786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440"/>
                  </a:moveTo>
                  <a:lnTo>
                    <a:pt x="10480" y="0"/>
                  </a:lnTo>
                </a:path>
              </a:pathLst>
            </a:custGeom>
            <a:ln w="10459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2350104" y="4678566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7" name="object 67"/>
            <p:cNvSpPr/>
            <p:nvPr/>
          </p:nvSpPr>
          <p:spPr>
            <a:xfrm>
              <a:off x="193520" y="4689006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8" name="object 68"/>
            <p:cNvSpPr/>
            <p:nvPr/>
          </p:nvSpPr>
          <p:spPr>
            <a:xfrm>
              <a:off x="2360763" y="4689006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5219"/>
                  </a:moveTo>
                  <a:lnTo>
                    <a:pt x="1534" y="1528"/>
                  </a:lnTo>
                  <a:lnTo>
                    <a:pt x="5240" y="0"/>
                  </a:lnTo>
                  <a:lnTo>
                    <a:pt x="8945" y="1528"/>
                  </a:lnTo>
                  <a:lnTo>
                    <a:pt x="10480" y="5219"/>
                  </a:lnTo>
                  <a:lnTo>
                    <a:pt x="8945" y="8911"/>
                  </a:lnTo>
                  <a:lnTo>
                    <a:pt x="5240" y="10439"/>
                  </a:lnTo>
                  <a:lnTo>
                    <a:pt x="1534" y="8911"/>
                  </a:lnTo>
                  <a:lnTo>
                    <a:pt x="0" y="5219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0" name="Slide Number Placeholder 4">
            <a:extLst>
              <a:ext uri="{FF2B5EF4-FFF2-40B4-BE49-F238E27FC236}">
                <a16:creationId xmlns:a16="http://schemas.microsoft.com/office/drawing/2014/main" id="{A053E403-A79E-013F-8A87-C948B8583DF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48</a:t>
            </a:fld>
            <a:endParaRPr lang="en-US" spc="-44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1353" y="4841772"/>
            <a:ext cx="8561294" cy="1928059"/>
          </a:xfrm>
          <a:prstGeom prst="rect">
            <a:avLst/>
          </a:prstGeom>
        </p:spPr>
        <p:txBody>
          <a:bodyPr vert="horz" wrap="square" lIns="0" tIns="115981" rIns="0" bIns="0" rtlCol="0">
            <a:spAutoFit/>
          </a:bodyPr>
          <a:lstStyle/>
          <a:p>
            <a:pPr marL="11206">
              <a:lnSpc>
                <a:spcPct val="110000"/>
              </a:lnSpc>
              <a:spcBef>
                <a:spcPts val="913"/>
              </a:spcBef>
            </a:pPr>
            <a:r>
              <a:rPr sz="1677" dirty="0">
                <a:latin typeface="Arial MT"/>
                <a:cs typeface="Arial MT"/>
              </a:rPr>
              <a:t>Assumes</a:t>
            </a:r>
            <a:r>
              <a:rPr sz="1677" spc="-11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A1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maps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same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cache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block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on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both</a:t>
            </a:r>
            <a:r>
              <a:rPr sz="1677" spc="-18" dirty="0">
                <a:latin typeface="Arial MT"/>
                <a:cs typeface="Arial MT"/>
              </a:rPr>
              <a:t> CPUs</a:t>
            </a:r>
            <a:endParaRPr sz="1677" dirty="0">
              <a:latin typeface="Arial MT"/>
              <a:cs typeface="Arial MT"/>
            </a:endParaRPr>
          </a:p>
          <a:p>
            <a:pPr marL="11206" marR="4483">
              <a:lnSpc>
                <a:spcPct val="110000"/>
              </a:lnSpc>
              <a:spcBef>
                <a:spcPts val="1032"/>
              </a:spcBef>
              <a:tabLst>
                <a:tab pos="3637623" algn="l"/>
              </a:tabLst>
            </a:pPr>
            <a:r>
              <a:rPr sz="1677" dirty="0">
                <a:latin typeface="Arial MT"/>
                <a:cs typeface="Arial MT"/>
              </a:rPr>
              <a:t>Assumes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that,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like</a:t>
            </a:r>
            <a:r>
              <a:rPr sz="1677" spc="-10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A1,</a:t>
            </a:r>
            <a:r>
              <a:rPr sz="1677" spc="-11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A2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maps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same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cache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block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on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both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CPUs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spc="-22" dirty="0">
                <a:latin typeface="Arial MT"/>
                <a:cs typeface="Arial MT"/>
              </a:rPr>
              <a:t>and </a:t>
            </a:r>
            <a:r>
              <a:rPr sz="1677" spc="-9" dirty="0">
                <a:latin typeface="Arial MT"/>
                <a:cs typeface="Arial MT"/>
              </a:rPr>
              <a:t>addresses</a:t>
            </a:r>
            <a:r>
              <a:rPr sz="1677" spc="-11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A1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and</a:t>
            </a:r>
            <a:r>
              <a:rPr sz="1677" spc="-10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A2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map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same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block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index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but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have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different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address </a:t>
            </a:r>
            <a:r>
              <a:rPr sz="1677" dirty="0">
                <a:latin typeface="Arial MT"/>
                <a:cs typeface="Arial MT"/>
              </a:rPr>
              <a:t>tags,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so</a:t>
            </a:r>
            <a:r>
              <a:rPr sz="1677" spc="-10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A1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and</a:t>
            </a:r>
            <a:r>
              <a:rPr sz="1677" spc="-10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A2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are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different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memory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blocks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that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complete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for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18" dirty="0">
                <a:latin typeface="Arial MT"/>
                <a:cs typeface="Arial MT"/>
              </a:rPr>
              <a:t> same </a:t>
            </a:r>
            <a:r>
              <a:rPr sz="1677" dirty="0">
                <a:latin typeface="Arial MT"/>
                <a:cs typeface="Arial MT"/>
              </a:rPr>
              <a:t>location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caches</a:t>
            </a:r>
            <a:r>
              <a:rPr sz="1677" spc="-2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on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both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CPUs.</a:t>
            </a:r>
            <a:r>
              <a:rPr lang="en-US" sz="1677" spc="-9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Writing</a:t>
            </a:r>
            <a:r>
              <a:rPr sz="1677" spc="-10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A2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forces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P2</a:t>
            </a:r>
            <a:r>
              <a:rPr sz="1677" dirty="0">
                <a:latin typeface="Times New Roman"/>
                <a:cs typeface="Times New Roman"/>
              </a:rPr>
              <a:t>’</a:t>
            </a:r>
            <a:r>
              <a:rPr sz="1677" dirty="0">
                <a:latin typeface="Arial MT"/>
                <a:cs typeface="Arial MT"/>
              </a:rPr>
              <a:t>s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dirty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cache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block </a:t>
            </a:r>
            <a:r>
              <a:rPr sz="1677" dirty="0">
                <a:latin typeface="Arial MT"/>
                <a:cs typeface="Arial MT"/>
              </a:rPr>
              <a:t>for</a:t>
            </a:r>
            <a:r>
              <a:rPr sz="1677" spc="-110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A1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written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back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before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it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replaced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by</a:t>
            </a:r>
            <a:r>
              <a:rPr sz="1677" spc="-106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A2</a:t>
            </a:r>
            <a:r>
              <a:rPr sz="1677" dirty="0">
                <a:latin typeface="Times New Roman"/>
                <a:cs typeface="Times New Roman"/>
              </a:rPr>
              <a:t>’</a:t>
            </a:r>
            <a:r>
              <a:rPr sz="1677" dirty="0">
                <a:latin typeface="Arial MT"/>
                <a:cs typeface="Arial MT"/>
              </a:rPr>
              <a:t>s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soon-</a:t>
            </a:r>
            <a:r>
              <a:rPr sz="1677" dirty="0">
                <a:latin typeface="Arial MT"/>
                <a:cs typeface="Arial MT"/>
              </a:rPr>
              <a:t>dirty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memory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block.</a:t>
            </a:r>
            <a:endParaRPr sz="1677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5798" y="2525289"/>
            <a:ext cx="180806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34"/>
              </a:lnSpc>
            </a:pPr>
            <a:r>
              <a:rPr sz="1279" spc="224" dirty="0">
                <a:solidFill>
                  <a:srgbClr val="F20884"/>
                </a:solidFill>
                <a:latin typeface="Arial MT"/>
                <a:cs typeface="Arial MT"/>
              </a:rPr>
              <a:t>P1:</a:t>
            </a:r>
            <a:r>
              <a:rPr sz="1279" spc="176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spc="221" dirty="0">
                <a:solidFill>
                  <a:srgbClr val="F20884"/>
                </a:solidFill>
                <a:latin typeface="Arial MT"/>
                <a:cs typeface="Arial MT"/>
              </a:rPr>
              <a:t>Write</a:t>
            </a:r>
            <a:r>
              <a:rPr sz="1279" spc="128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spc="243" dirty="0">
                <a:solidFill>
                  <a:srgbClr val="F20884"/>
                </a:solidFill>
                <a:latin typeface="Arial MT"/>
                <a:cs typeface="Arial MT"/>
              </a:rPr>
              <a:t>10</a:t>
            </a:r>
            <a:r>
              <a:rPr sz="1279" spc="124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spc="202" dirty="0">
                <a:solidFill>
                  <a:srgbClr val="F20884"/>
                </a:solidFill>
                <a:latin typeface="Arial MT"/>
                <a:cs typeface="Arial MT"/>
              </a:rPr>
              <a:t>to</a:t>
            </a:r>
            <a:r>
              <a:rPr sz="1279" spc="128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spc="224" dirty="0">
                <a:solidFill>
                  <a:srgbClr val="F20884"/>
                </a:solidFill>
                <a:latin typeface="Arial MT"/>
                <a:cs typeface="Arial MT"/>
              </a:rPr>
              <a:t>A1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5279" y="2738727"/>
            <a:ext cx="114524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34"/>
              </a:lnSpc>
            </a:pPr>
            <a:r>
              <a:rPr sz="1279" spc="224" dirty="0">
                <a:solidFill>
                  <a:srgbClr val="F20884"/>
                </a:solidFill>
                <a:latin typeface="Arial MT"/>
                <a:cs typeface="Arial MT"/>
              </a:rPr>
              <a:t>P1:</a:t>
            </a:r>
            <a:r>
              <a:rPr sz="1279" spc="176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spc="256" dirty="0">
                <a:solidFill>
                  <a:srgbClr val="F20884"/>
                </a:solidFill>
                <a:latin typeface="Arial MT"/>
                <a:cs typeface="Arial MT"/>
              </a:rPr>
              <a:t>Read</a:t>
            </a:r>
            <a:r>
              <a:rPr sz="1279" spc="199" dirty="0">
                <a:solidFill>
                  <a:srgbClr val="F20884"/>
                </a:solidFill>
                <a:latin typeface="Arial MT"/>
                <a:cs typeface="Arial MT"/>
              </a:rPr>
              <a:t> </a:t>
            </a:r>
            <a:r>
              <a:rPr sz="1279" spc="278" dirty="0">
                <a:solidFill>
                  <a:srgbClr val="F20884"/>
                </a:solidFill>
                <a:latin typeface="Arial MT"/>
                <a:cs typeface="Arial MT"/>
              </a:rPr>
              <a:t>A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5279" y="2952257"/>
            <a:ext cx="125954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34"/>
              </a:lnSpc>
            </a:pPr>
            <a:r>
              <a:rPr sz="1279" spc="224" dirty="0">
                <a:solidFill>
                  <a:srgbClr val="1FB714"/>
                </a:solidFill>
                <a:latin typeface="Arial MT"/>
                <a:cs typeface="Arial MT"/>
              </a:rPr>
              <a:t>P2:</a:t>
            </a:r>
            <a:r>
              <a:rPr sz="1279" spc="176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spc="256" dirty="0">
                <a:solidFill>
                  <a:srgbClr val="1FB714"/>
                </a:solidFill>
                <a:latin typeface="Arial MT"/>
                <a:cs typeface="Arial MT"/>
              </a:rPr>
              <a:t>Read</a:t>
            </a:r>
            <a:r>
              <a:rPr sz="1279" spc="199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spc="224" dirty="0">
                <a:solidFill>
                  <a:srgbClr val="1FB714"/>
                </a:solidFill>
                <a:latin typeface="Arial MT"/>
                <a:cs typeface="Arial MT"/>
              </a:rPr>
              <a:t>A1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5798" y="3592710"/>
            <a:ext cx="180806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34"/>
              </a:lnSpc>
            </a:pPr>
            <a:r>
              <a:rPr sz="1279" spc="224" dirty="0">
                <a:solidFill>
                  <a:srgbClr val="1FB714"/>
                </a:solidFill>
                <a:latin typeface="Arial MT"/>
                <a:cs typeface="Arial MT"/>
              </a:rPr>
              <a:t>P2:</a:t>
            </a:r>
            <a:r>
              <a:rPr sz="1279" spc="176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spc="221" dirty="0">
                <a:solidFill>
                  <a:srgbClr val="1FB714"/>
                </a:solidFill>
                <a:latin typeface="Arial MT"/>
                <a:cs typeface="Arial MT"/>
              </a:rPr>
              <a:t>Write</a:t>
            </a:r>
            <a:r>
              <a:rPr sz="1279" spc="128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spc="243" dirty="0">
                <a:solidFill>
                  <a:srgbClr val="1FB714"/>
                </a:solidFill>
                <a:latin typeface="Arial MT"/>
                <a:cs typeface="Arial MT"/>
              </a:rPr>
              <a:t>20</a:t>
            </a:r>
            <a:r>
              <a:rPr sz="1279" spc="124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spc="202" dirty="0">
                <a:solidFill>
                  <a:srgbClr val="1FB714"/>
                </a:solidFill>
                <a:latin typeface="Arial MT"/>
                <a:cs typeface="Arial MT"/>
              </a:rPr>
              <a:t>to</a:t>
            </a:r>
            <a:r>
              <a:rPr sz="1279" spc="128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spc="224" dirty="0">
                <a:solidFill>
                  <a:srgbClr val="1FB714"/>
                </a:solidFill>
                <a:latin typeface="Arial MT"/>
                <a:cs typeface="Arial MT"/>
              </a:rPr>
              <a:t>A1</a:t>
            </a:r>
            <a:endParaRPr sz="1279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5798" y="3806194"/>
            <a:ext cx="180806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34"/>
              </a:lnSpc>
            </a:pPr>
            <a:r>
              <a:rPr sz="1279" spc="224" dirty="0">
                <a:solidFill>
                  <a:srgbClr val="1FB714"/>
                </a:solidFill>
                <a:latin typeface="Arial MT"/>
                <a:cs typeface="Arial MT"/>
              </a:rPr>
              <a:t>P2:</a:t>
            </a:r>
            <a:r>
              <a:rPr sz="1279" spc="176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spc="221" dirty="0">
                <a:solidFill>
                  <a:srgbClr val="1FB714"/>
                </a:solidFill>
                <a:latin typeface="Arial MT"/>
                <a:cs typeface="Arial MT"/>
              </a:rPr>
              <a:t>Write</a:t>
            </a:r>
            <a:r>
              <a:rPr sz="1279" spc="128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spc="243" dirty="0">
                <a:solidFill>
                  <a:srgbClr val="1FB714"/>
                </a:solidFill>
                <a:latin typeface="Arial MT"/>
                <a:cs typeface="Arial MT"/>
              </a:rPr>
              <a:t>40</a:t>
            </a:r>
            <a:r>
              <a:rPr sz="1279" spc="124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spc="202" dirty="0">
                <a:solidFill>
                  <a:srgbClr val="1FB714"/>
                </a:solidFill>
                <a:latin typeface="Arial MT"/>
                <a:cs typeface="Arial MT"/>
              </a:rPr>
              <a:t>to</a:t>
            </a:r>
            <a:r>
              <a:rPr sz="1279" spc="128" dirty="0">
                <a:solidFill>
                  <a:srgbClr val="1FB714"/>
                </a:solidFill>
                <a:latin typeface="Arial MT"/>
                <a:cs typeface="Arial MT"/>
              </a:rPr>
              <a:t> </a:t>
            </a:r>
            <a:r>
              <a:rPr sz="1279" spc="224" dirty="0">
                <a:solidFill>
                  <a:srgbClr val="1FB714"/>
                </a:solidFill>
                <a:latin typeface="Arial MT"/>
                <a:cs typeface="Arial MT"/>
              </a:rPr>
              <a:t>A2</a:t>
            </a:r>
            <a:endParaRPr sz="1279">
              <a:latin typeface="Arial MT"/>
              <a:cs typeface="Arial MT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48504"/>
              </p:ext>
            </p:extLst>
          </p:nvPr>
        </p:nvGraphicFramePr>
        <p:xfrm>
          <a:off x="291353" y="2068896"/>
          <a:ext cx="8584263" cy="27254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1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4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66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36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10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05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360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05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10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861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65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159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1347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i="1" spc="26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P1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2497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i="1" spc="26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2497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i="1" spc="235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Bus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2497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i="1" spc="265" dirty="0">
                          <a:latin typeface="Arial"/>
                          <a:cs typeface="Arial"/>
                        </a:rPr>
                        <a:t>Memory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2497" marB="0">
                    <a:lnL w="12700">
                      <a:solidFill>
                        <a:srgbClr val="D0D7E5"/>
                      </a:solidFill>
                      <a:prstDash val="solid"/>
                    </a:lnL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72">
                <a:tc gridSpan="2">
                  <a:txBody>
                    <a:bodyPr/>
                    <a:lstStyle/>
                    <a:p>
                      <a:pPr marR="285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i="1" spc="190" dirty="0">
                          <a:latin typeface="Arial"/>
                          <a:cs typeface="Arial"/>
                        </a:rPr>
                        <a:t>step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2497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i="1" spc="18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State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2497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i="1" spc="22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Addr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2497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01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i="1" spc="24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2497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i="1" spc="18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State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2497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i="1" spc="22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Addr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2497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i="1" spc="24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2497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i="1" spc="210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Action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2497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i="1" spc="195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Proc.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2497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399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i="1" spc="225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Addr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2497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i="1" spc="240" dirty="0">
                          <a:solidFill>
                            <a:srgbClr val="0000D4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2497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i="1" spc="225" dirty="0">
                          <a:latin typeface="Arial"/>
                          <a:cs typeface="Arial"/>
                        </a:rPr>
                        <a:t>Addr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2497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3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i="1" spc="225" dirty="0">
                          <a:latin typeface="Arial"/>
                          <a:cs typeface="Arial"/>
                        </a:rPr>
                        <a:t>Valu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2497" marB="0">
                    <a:lnL w="12700">
                      <a:solidFill>
                        <a:srgbClr val="D0D7E5"/>
                      </a:solidFill>
                      <a:prstDash val="solid"/>
                    </a:lnL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72">
                <a:tc gridSpan="2">
                  <a:txBody>
                    <a:bodyPr/>
                    <a:lstStyle/>
                    <a:p>
                      <a:pPr marL="67945">
                        <a:lnSpc>
                          <a:spcPts val="1735"/>
                        </a:lnSpc>
                      </a:pPr>
                      <a:r>
                        <a:rPr sz="1300" b="1" spc="32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P1</a:t>
                      </a:r>
                      <a:r>
                        <a:rPr sz="1300" b="1" spc="14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27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Write</a:t>
                      </a:r>
                      <a:r>
                        <a:rPr sz="1300" b="1" spc="14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27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1300" b="1" spc="14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25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300" b="1" spc="20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30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D4D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300" i="1" u="heavy" spc="23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Excl.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6163" marB="0">
                    <a:lnL w="28575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300" i="1" u="heavy" spc="29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6163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300" i="1" u="heavy" spc="229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10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6163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i="1" u="heavy" spc="27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WrMs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29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9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P1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3990" algn="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912">
                <a:tc>
                  <a:txBody>
                    <a:bodyPr/>
                    <a:lstStyle/>
                    <a:p>
                      <a:pPr marL="173990">
                        <a:lnSpc>
                          <a:spcPts val="1735"/>
                        </a:lnSpc>
                      </a:pPr>
                      <a:r>
                        <a:rPr sz="1300" b="1" spc="26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P1:</a:t>
                      </a:r>
                      <a:r>
                        <a:rPr sz="1300" b="1" spc="9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30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Read</a:t>
                      </a:r>
                      <a:r>
                        <a:rPr sz="1300" b="1" spc="20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325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A1</a:t>
                      </a:r>
                      <a:r>
                        <a:rPr sz="1300" b="1" spc="-20" dirty="0">
                          <a:solidFill>
                            <a:srgbClr val="F208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spc="345" baseline="-3831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900" baseline="-3831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4D0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15" dirty="0">
                          <a:latin typeface="Arial MT"/>
                          <a:cs typeface="Arial MT"/>
                        </a:rPr>
                        <a:t>Excl.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3035" algn="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10" dirty="0"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29" dirty="0">
                          <a:latin typeface="Arial MT"/>
                          <a:cs typeface="Arial MT"/>
                        </a:rPr>
                        <a:t>10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72">
                <a:tc gridSpan="2">
                  <a:txBody>
                    <a:bodyPr/>
                    <a:lstStyle/>
                    <a:p>
                      <a:pPr marL="363855">
                        <a:lnSpc>
                          <a:spcPts val="1735"/>
                        </a:lnSpc>
                      </a:pPr>
                      <a:r>
                        <a:rPr sz="1300" b="1" spc="26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P2:</a:t>
                      </a:r>
                      <a:r>
                        <a:rPr sz="1300" b="1" spc="9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30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Read</a:t>
                      </a:r>
                      <a:r>
                        <a:rPr sz="1300" b="1" spc="20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30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D4D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300" i="1" u="heavy" spc="22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Shar.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616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300" i="1" u="heavy" spc="29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A1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6163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i="1" u="heavy" spc="254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RdMs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29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9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P2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3990" algn="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91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300" i="1" u="heavy" spc="22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Shar.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616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3035" algn="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10" dirty="0"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29" dirty="0">
                          <a:latin typeface="Arial MT"/>
                          <a:cs typeface="Arial MT"/>
                        </a:rPr>
                        <a:t>10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i="1" u="heavy" spc="26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WrBk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29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95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P1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3990" algn="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10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29" dirty="0">
                          <a:solidFill>
                            <a:srgbClr val="F20884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10" dirty="0">
                          <a:solidFill>
                            <a:srgbClr val="DD0806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300" i="1" u="heavy" spc="229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10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6163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7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45" dirty="0">
                          <a:latin typeface="Arial MT"/>
                          <a:cs typeface="Arial MT"/>
                        </a:rPr>
                        <a:t>Shar.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10" dirty="0"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300" i="1" u="heavy" spc="229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10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6163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i="1" u="heavy" spc="25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RdDa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29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9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P2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3990" algn="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29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10" dirty="0"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 algn="ct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29" dirty="0">
                          <a:latin typeface="Arial MT"/>
                          <a:cs typeface="Arial MT"/>
                        </a:rPr>
                        <a:t>10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912">
                <a:tc gridSpan="2"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300" b="1" spc="26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P2:</a:t>
                      </a:r>
                      <a:r>
                        <a:rPr sz="1300" b="1" spc="9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27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Write</a:t>
                      </a:r>
                      <a:r>
                        <a:rPr sz="1300" b="1" spc="14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27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sz="1300" b="1" spc="14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2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300" b="1" spc="20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30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A1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616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4D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300" i="1" u="heavy" spc="170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Inv.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6163" marB="0">
                    <a:lnL w="28575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300" i="1" u="heavy" spc="23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Excl.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616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10" dirty="0"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300" i="1" u="heavy" spc="229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20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6163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i="1" u="heavy" spc="27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WrMs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29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9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P2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3990" algn="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10" dirty="0"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 algn="ct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29" dirty="0">
                          <a:latin typeface="Arial MT"/>
                          <a:cs typeface="Arial MT"/>
                        </a:rPr>
                        <a:t>10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472">
                <a:tc gridSpan="2">
                  <a:txBody>
                    <a:bodyPr/>
                    <a:lstStyle/>
                    <a:p>
                      <a:pPr marL="26034">
                        <a:lnSpc>
                          <a:spcPts val="1735"/>
                        </a:lnSpc>
                      </a:pPr>
                      <a:r>
                        <a:rPr sz="1300" b="1" spc="26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P2:</a:t>
                      </a:r>
                      <a:r>
                        <a:rPr sz="1300" b="1" spc="9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27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Write</a:t>
                      </a:r>
                      <a:r>
                        <a:rPr sz="1300" b="1" spc="14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27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40</a:t>
                      </a:r>
                      <a:r>
                        <a:rPr sz="1300" b="1" spc="145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25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300" b="1" spc="20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b="1" spc="300" dirty="0">
                          <a:solidFill>
                            <a:srgbClr val="1FB714"/>
                          </a:solidFill>
                          <a:latin typeface="Arial"/>
                          <a:cs typeface="Arial"/>
                        </a:rPr>
                        <a:t>A2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D4D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i="1" u="heavy" spc="27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WrMs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29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9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P2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3990" algn="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A2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10" dirty="0"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 algn="ctr">
                        <a:lnSpc>
                          <a:spcPts val="1689"/>
                        </a:lnSpc>
                        <a:spcBef>
                          <a:spcPts val="114"/>
                        </a:spcBef>
                      </a:pPr>
                      <a:r>
                        <a:rPr sz="1300" spc="229" dirty="0">
                          <a:latin typeface="Arial MT"/>
                          <a:cs typeface="Arial MT"/>
                        </a:rPr>
                        <a:t>10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291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685"/>
                        </a:lnSpc>
                        <a:spcBef>
                          <a:spcPts val="114"/>
                        </a:spcBef>
                      </a:pPr>
                      <a:r>
                        <a:rPr sz="1300" spc="215" dirty="0">
                          <a:latin typeface="Arial MT"/>
                          <a:cs typeface="Arial MT"/>
                        </a:rPr>
                        <a:t>Excl.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300" i="1" u="heavy" spc="29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A2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6163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300" i="1" u="heavy" spc="229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40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6163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i="1" u="heavy" spc="265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WrBk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29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85"/>
                        </a:lnSpc>
                        <a:spcBef>
                          <a:spcPts val="114"/>
                        </a:spcBef>
                      </a:pPr>
                      <a:r>
                        <a:rPr sz="1300" spc="295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P2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3990" algn="r">
                        <a:lnSpc>
                          <a:spcPts val="1685"/>
                        </a:lnSpc>
                        <a:spcBef>
                          <a:spcPts val="114"/>
                        </a:spcBef>
                      </a:pPr>
                      <a:r>
                        <a:rPr sz="1300" spc="210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D0D7E5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1685"/>
                        </a:lnSpc>
                        <a:spcBef>
                          <a:spcPts val="114"/>
                        </a:spcBef>
                      </a:pPr>
                      <a:r>
                        <a:rPr sz="1300" spc="229" dirty="0">
                          <a:solidFill>
                            <a:srgbClr val="1FB714"/>
                          </a:solidFill>
                          <a:latin typeface="Arial MT"/>
                          <a:cs typeface="Arial MT"/>
                        </a:rPr>
                        <a:t>20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D0D7E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0D7E5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85"/>
                        </a:lnSpc>
                        <a:spcBef>
                          <a:spcPts val="114"/>
                        </a:spcBef>
                      </a:pPr>
                      <a:r>
                        <a:rPr sz="1300" spc="210" dirty="0">
                          <a:solidFill>
                            <a:srgbClr val="DD0806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88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300" i="1" u="heavy" spc="229" dirty="0">
                          <a:solidFill>
                            <a:srgbClr val="DD0806"/>
                          </a:solidFill>
                          <a:uFill>
                            <a:solidFill>
                              <a:srgbClr val="DD0806"/>
                            </a:solidFill>
                          </a:uFill>
                          <a:latin typeface="Arial"/>
                          <a:cs typeface="Arial"/>
                        </a:rPr>
                        <a:t>20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6163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0D7E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F9C89EA7-8BA5-B02E-6C82-CC8D01B3C18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49</a:t>
            </a:fld>
            <a:endParaRPr lang="en-US" spc="-44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In</a:t>
            </a:r>
            <a:r>
              <a:rPr spc="-35" dirty="0"/>
              <a:t> </a:t>
            </a:r>
            <a:r>
              <a:rPr dirty="0"/>
              <a:t>Conclusion</a:t>
            </a:r>
            <a:r>
              <a:rPr spc="-35" dirty="0"/>
              <a:t> </a:t>
            </a:r>
            <a:r>
              <a:rPr spc="-9" dirty="0"/>
              <a:t>[SMP]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9149" y="1262902"/>
            <a:ext cx="7553325" cy="5266717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1033237" indent="-267835"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“Decline”</a:t>
            </a:r>
            <a:r>
              <a:rPr sz="2206" spc="9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of</a:t>
            </a:r>
            <a:r>
              <a:rPr sz="2206" spc="9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uniprocessor's</a:t>
            </a:r>
            <a:r>
              <a:rPr sz="2206" spc="9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speedup</a:t>
            </a:r>
            <a:r>
              <a:rPr sz="2206" spc="10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rate/year</a:t>
            </a:r>
            <a:r>
              <a:rPr sz="2206" spc="97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=&gt; </a:t>
            </a:r>
            <a:r>
              <a:rPr sz="2206" dirty="0">
                <a:latin typeface="Calibri"/>
                <a:cs typeface="Calibri"/>
              </a:rPr>
              <a:t>Multiprocessors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are</a:t>
            </a:r>
            <a:r>
              <a:rPr sz="2206" spc="8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good</a:t>
            </a:r>
            <a:r>
              <a:rPr sz="2206" spc="8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choices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for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MPU</a:t>
            </a:r>
            <a:r>
              <a:rPr sz="2206" spc="84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chips</a:t>
            </a:r>
            <a:endParaRPr sz="2206" dirty="0">
              <a:latin typeface="Calibri"/>
              <a:cs typeface="Calibri"/>
            </a:endParaRPr>
          </a:p>
          <a:p>
            <a:pPr marL="278481" indent="-267275">
              <a:spcBef>
                <a:spcPts val="582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Parallelism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challenges:</a:t>
            </a:r>
            <a:endParaRPr sz="2206" dirty="0">
              <a:latin typeface="Calibri"/>
              <a:cs typeface="Calibri"/>
            </a:endParaRPr>
          </a:p>
          <a:p>
            <a:pPr marL="651657" lvl="1" indent="-212363">
              <a:spcBef>
                <a:spcPts val="441"/>
              </a:spcBef>
              <a:buChar char="–"/>
              <a:tabLst>
                <a:tab pos="651657" algn="l"/>
              </a:tabLst>
            </a:pPr>
            <a:r>
              <a:rPr sz="1677" dirty="0">
                <a:latin typeface="Calibri"/>
                <a:cs typeface="Calibri"/>
              </a:rPr>
              <a:t>%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parallelizable,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long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latency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remote</a:t>
            </a:r>
            <a:r>
              <a:rPr sz="1677" spc="-9" dirty="0">
                <a:latin typeface="Calibri"/>
                <a:cs typeface="Calibri"/>
              </a:rPr>
              <a:t> memory</a:t>
            </a:r>
            <a:endParaRPr sz="1677" dirty="0">
              <a:latin typeface="Calibri"/>
              <a:cs typeface="Calibri"/>
            </a:endParaRPr>
          </a:p>
          <a:p>
            <a:pPr marL="278481" indent="-267275">
              <a:spcBef>
                <a:spcPts val="468"/>
              </a:spcBef>
              <a:buChar char="•"/>
              <a:tabLst>
                <a:tab pos="278481" algn="l"/>
              </a:tabLst>
            </a:pPr>
            <a:r>
              <a:rPr sz="2206" dirty="0">
                <a:solidFill>
                  <a:srgbClr val="FF0000"/>
                </a:solidFill>
                <a:latin typeface="Calibri"/>
                <a:cs typeface="Calibri"/>
              </a:rPr>
              <a:t>Centralized</a:t>
            </a:r>
            <a:r>
              <a:rPr sz="2206" spc="8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vs.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distributed</a:t>
            </a:r>
            <a:r>
              <a:rPr sz="2206" spc="8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spc="-9" dirty="0">
                <a:solidFill>
                  <a:srgbClr val="3366FF"/>
                </a:solidFill>
                <a:latin typeface="Calibri"/>
                <a:cs typeface="Calibri"/>
              </a:rPr>
              <a:t>memory</a:t>
            </a:r>
            <a:endParaRPr sz="2206" dirty="0">
              <a:latin typeface="Calibri"/>
              <a:cs typeface="Calibri"/>
            </a:endParaRPr>
          </a:p>
          <a:p>
            <a:pPr marL="652777" lvl="1" indent="-213483">
              <a:spcBef>
                <a:spcPts val="521"/>
              </a:spcBef>
              <a:buChar char="–"/>
              <a:tabLst>
                <a:tab pos="652777" algn="l"/>
              </a:tabLst>
            </a:pP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Small</a:t>
            </a:r>
            <a:r>
              <a:rPr sz="1853" spc="1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MP</a:t>
            </a:r>
            <a:r>
              <a:rPr sz="1853" spc="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limit</a:t>
            </a:r>
            <a:r>
              <a:rPr sz="1853" spc="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but</a:t>
            </a:r>
            <a:r>
              <a:rPr sz="1853" spc="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lower</a:t>
            </a:r>
            <a:r>
              <a:rPr sz="1853" spc="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latency</a:t>
            </a:r>
            <a:r>
              <a:rPr sz="1853" dirty="0">
                <a:latin typeface="Calibri"/>
                <a:cs typeface="Calibri"/>
              </a:rPr>
              <a:t>;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need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larger</a:t>
            </a:r>
            <a:r>
              <a:rPr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BW</a:t>
            </a:r>
            <a:r>
              <a:rPr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for</a:t>
            </a:r>
            <a:r>
              <a:rPr sz="1853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larger</a:t>
            </a:r>
            <a:r>
              <a:rPr sz="1853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spc="-22" dirty="0">
                <a:solidFill>
                  <a:srgbClr val="3366FF"/>
                </a:solidFill>
                <a:latin typeface="Calibri"/>
                <a:cs typeface="Calibri"/>
              </a:rPr>
              <a:t>MP</a:t>
            </a:r>
            <a:endParaRPr sz="1853" dirty="0">
              <a:latin typeface="Calibri"/>
              <a:cs typeface="Calibri"/>
            </a:endParaRPr>
          </a:p>
          <a:p>
            <a:pPr marL="278481" indent="-267275">
              <a:spcBef>
                <a:spcPts val="516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Message</a:t>
            </a:r>
            <a:r>
              <a:rPr sz="2206" spc="8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Passing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vs.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Shared</a:t>
            </a:r>
            <a:r>
              <a:rPr sz="2206" spc="88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Address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MPs</a:t>
            </a:r>
            <a:endParaRPr sz="2206" dirty="0">
              <a:latin typeface="Calibri"/>
              <a:cs typeface="Calibri"/>
            </a:endParaRPr>
          </a:p>
          <a:p>
            <a:pPr marL="652777" lvl="1" indent="-213483">
              <a:spcBef>
                <a:spcPts val="525"/>
              </a:spcBef>
              <a:buChar char="–"/>
              <a:tabLst>
                <a:tab pos="652777" algn="l"/>
              </a:tabLst>
            </a:pPr>
            <a:r>
              <a:rPr sz="1853" dirty="0">
                <a:latin typeface="Calibri"/>
                <a:cs typeface="Calibri"/>
              </a:rPr>
              <a:t>Shared: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Uniform</a:t>
            </a:r>
            <a:r>
              <a:rPr sz="1853" spc="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access</a:t>
            </a:r>
            <a:r>
              <a:rPr sz="1853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sz="1853" spc="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or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Non-uniform</a:t>
            </a:r>
            <a:r>
              <a:rPr sz="1853" spc="4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access</a:t>
            </a:r>
            <a:r>
              <a:rPr sz="1853" spc="4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dirty="0">
                <a:solidFill>
                  <a:srgbClr val="3366FF"/>
                </a:solidFill>
                <a:latin typeface="Calibri"/>
                <a:cs typeface="Calibri"/>
              </a:rPr>
              <a:t>time</a:t>
            </a:r>
            <a:r>
              <a:rPr sz="1853" spc="4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853" spc="-9" dirty="0">
                <a:solidFill>
                  <a:srgbClr val="3366FF"/>
                </a:solidFill>
                <a:latin typeface="Calibri"/>
                <a:cs typeface="Calibri"/>
              </a:rPr>
              <a:t>(NUMA)</a:t>
            </a:r>
            <a:endParaRPr sz="1853" dirty="0">
              <a:latin typeface="Calibri"/>
              <a:cs typeface="Calibri"/>
            </a:endParaRPr>
          </a:p>
          <a:p>
            <a:pPr marL="278481" marR="347401" indent="-267835">
              <a:spcBef>
                <a:spcPts val="807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Snooping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cache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over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shared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medium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for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smaller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MP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by </a:t>
            </a:r>
            <a:r>
              <a:rPr sz="2206" dirty="0">
                <a:latin typeface="Calibri"/>
                <a:cs typeface="Calibri"/>
              </a:rPr>
              <a:t>invalidating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other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cached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copies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on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write</a:t>
            </a:r>
            <a:endParaRPr sz="2206" dirty="0">
              <a:latin typeface="Calibri"/>
              <a:cs typeface="Calibri"/>
            </a:endParaRPr>
          </a:p>
          <a:p>
            <a:pPr marL="278481" marR="119349" indent="-267835">
              <a:spcBef>
                <a:spcPts val="799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Sharing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cached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data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Symbol"/>
                <a:cs typeface="Symbol"/>
              </a:rPr>
              <a:t></a:t>
            </a:r>
            <a:r>
              <a:rPr sz="2206" spc="40" dirty="0">
                <a:latin typeface="Times New Roman"/>
                <a:cs typeface="Times New Roman"/>
              </a:rPr>
              <a:t> </a:t>
            </a:r>
            <a:r>
              <a:rPr sz="2206" dirty="0">
                <a:latin typeface="Calibri"/>
                <a:cs typeface="Calibri"/>
              </a:rPr>
              <a:t>Coherence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(values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returned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by </a:t>
            </a:r>
            <a:r>
              <a:rPr sz="2206" dirty="0">
                <a:latin typeface="Calibri"/>
                <a:cs typeface="Calibri"/>
              </a:rPr>
              <a:t>reads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one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address),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Consistency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(when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written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value </a:t>
            </a:r>
            <a:r>
              <a:rPr sz="2206" dirty="0">
                <a:latin typeface="Calibri"/>
                <a:cs typeface="Calibri"/>
              </a:rPr>
              <a:t>will</a:t>
            </a:r>
            <a:r>
              <a:rPr sz="2206" spc="2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be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returned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by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read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for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multiple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addresses)</a:t>
            </a:r>
            <a:endParaRPr sz="2206" dirty="0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Shared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medium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serializes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writes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Symbol"/>
                <a:cs typeface="Symbol"/>
              </a:rPr>
              <a:t></a:t>
            </a:r>
            <a:r>
              <a:rPr sz="2206" spc="18" dirty="0">
                <a:latin typeface="Times New Roman"/>
                <a:cs typeface="Times New Roman"/>
              </a:rPr>
              <a:t> </a:t>
            </a:r>
            <a:r>
              <a:rPr sz="2206" dirty="0">
                <a:latin typeface="Calibri"/>
                <a:cs typeface="Calibri"/>
              </a:rPr>
              <a:t>Write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consistency</a:t>
            </a:r>
            <a:endParaRPr sz="2206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C63799-1B84-B565-0FDB-08D4572CC3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50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A</a:t>
            </a:r>
            <a:r>
              <a:rPr spc="-40" dirty="0"/>
              <a:t> </a:t>
            </a:r>
            <a:r>
              <a:rPr dirty="0"/>
              <a:t>Cache</a:t>
            </a:r>
            <a:r>
              <a:rPr spc="-40" dirty="0"/>
              <a:t> </a:t>
            </a:r>
            <a:r>
              <a:rPr dirty="0"/>
              <a:t>Coherent</a:t>
            </a:r>
            <a:r>
              <a:rPr spc="-31" dirty="0"/>
              <a:t> </a:t>
            </a:r>
            <a:r>
              <a:rPr dirty="0"/>
              <a:t>System</a:t>
            </a:r>
            <a:r>
              <a:rPr spc="-31" dirty="0"/>
              <a:t> </a:t>
            </a:r>
            <a:r>
              <a:rPr spc="-9" dirty="0"/>
              <a:t>Must: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9150" y="1320052"/>
            <a:ext cx="7915275" cy="479903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78481" indent="-267275">
              <a:spcBef>
                <a:spcPts val="88"/>
              </a:spcBef>
              <a:spcAft>
                <a:spcPts val="2400"/>
              </a:spcAft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Provide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states,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transition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diagram,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actions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Manage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coherence</a:t>
            </a:r>
            <a:r>
              <a:rPr sz="2400" spc="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protocol</a:t>
            </a:r>
            <a:endParaRPr sz="2400" dirty="0">
              <a:latin typeface="Calibri"/>
              <a:cs typeface="Calibri"/>
            </a:endParaRPr>
          </a:p>
          <a:p>
            <a:pPr marL="652777" lvl="1" indent="-213483">
              <a:spcBef>
                <a:spcPts val="437"/>
              </a:spcBef>
              <a:buChar char="–"/>
              <a:tabLst>
                <a:tab pos="652777" algn="l"/>
              </a:tabLst>
            </a:pPr>
            <a:r>
              <a:rPr sz="2000" dirty="0">
                <a:latin typeface="Calibri"/>
                <a:cs typeface="Calibri"/>
              </a:rPr>
              <a:t>(0)</a:t>
            </a:r>
            <a:r>
              <a:rPr sz="2000" spc="44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Determine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invoke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coherence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protocol</a:t>
            </a:r>
            <a:endParaRPr sz="2000" dirty="0">
              <a:latin typeface="Calibri"/>
              <a:cs typeface="Calibri"/>
            </a:endParaRPr>
          </a:p>
          <a:p>
            <a:pPr marL="652777" lvl="1" indent="-213483">
              <a:spcBef>
                <a:spcPts val="507"/>
              </a:spcBef>
              <a:buChar char="–"/>
              <a:tabLst>
                <a:tab pos="652777" algn="l"/>
              </a:tabLst>
            </a:pP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(a)</a:t>
            </a:r>
            <a:r>
              <a:rPr sz="2000" spc="45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Find</a:t>
            </a:r>
            <a:r>
              <a:rPr sz="2000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info</a:t>
            </a:r>
            <a:r>
              <a:rPr sz="2000" spc="1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about</a:t>
            </a:r>
            <a:r>
              <a:rPr sz="2000" spc="2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state</a:t>
            </a:r>
            <a:r>
              <a:rPr sz="2000" spc="2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of</a:t>
            </a:r>
            <a:r>
              <a:rPr sz="2000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block</a:t>
            </a:r>
            <a:r>
              <a:rPr sz="2000" spc="2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in</a:t>
            </a:r>
            <a:r>
              <a:rPr sz="2000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other</a:t>
            </a:r>
            <a:r>
              <a:rPr sz="2000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caches</a:t>
            </a:r>
            <a:r>
              <a:rPr sz="2000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to</a:t>
            </a:r>
            <a:r>
              <a:rPr sz="2000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determine</a:t>
            </a:r>
            <a:r>
              <a:rPr sz="2000" spc="2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spc="-9" dirty="0">
                <a:solidFill>
                  <a:srgbClr val="3366FF"/>
                </a:solidFill>
                <a:latin typeface="Calibri"/>
                <a:cs typeface="Calibri"/>
              </a:rPr>
              <a:t>action</a:t>
            </a:r>
            <a:endParaRPr sz="2000" dirty="0">
              <a:latin typeface="Calibri"/>
              <a:cs typeface="Calibri"/>
            </a:endParaRPr>
          </a:p>
          <a:p>
            <a:pPr marL="1028700">
              <a:spcBef>
                <a:spcPts val="344"/>
              </a:spcBef>
            </a:pP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»</a:t>
            </a:r>
            <a:r>
              <a:rPr sz="2000" spc="41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whether</a:t>
            </a:r>
            <a:r>
              <a:rPr sz="2000" spc="-1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need to</a:t>
            </a:r>
            <a:r>
              <a:rPr sz="2000" spc="-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communicate</a:t>
            </a:r>
            <a:r>
              <a:rPr sz="2000" spc="-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with other</a:t>
            </a:r>
            <a:r>
              <a:rPr sz="2000" spc="-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cached</a:t>
            </a:r>
            <a:r>
              <a:rPr sz="2000" spc="-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spc="-9" dirty="0">
                <a:solidFill>
                  <a:srgbClr val="3366FF"/>
                </a:solidFill>
                <a:latin typeface="Calibri"/>
                <a:cs typeface="Calibri"/>
              </a:rPr>
              <a:t>copies</a:t>
            </a:r>
            <a:endParaRPr sz="2000" dirty="0">
              <a:latin typeface="Calibri"/>
              <a:cs typeface="Calibri"/>
            </a:endParaRPr>
          </a:p>
          <a:p>
            <a:pPr marL="652777" lvl="1" indent="-213483">
              <a:spcBef>
                <a:spcPts val="459"/>
              </a:spcBef>
              <a:buChar char="–"/>
              <a:tabLst>
                <a:tab pos="652777" algn="l"/>
              </a:tabLst>
            </a:pP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(b)</a:t>
            </a:r>
            <a:r>
              <a:rPr sz="2000" spc="44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Locate</a:t>
            </a:r>
            <a:r>
              <a:rPr sz="2000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the</a:t>
            </a:r>
            <a:r>
              <a:rPr sz="2000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other</a:t>
            </a:r>
            <a:r>
              <a:rPr sz="2000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spc="-9" dirty="0">
                <a:solidFill>
                  <a:srgbClr val="3366FF"/>
                </a:solidFill>
                <a:latin typeface="Calibri"/>
                <a:cs typeface="Calibri"/>
              </a:rPr>
              <a:t>copies</a:t>
            </a:r>
            <a:endParaRPr sz="2000" dirty="0">
              <a:latin typeface="Calibri"/>
              <a:cs typeface="Calibri"/>
            </a:endParaRPr>
          </a:p>
          <a:p>
            <a:pPr marL="652777" lvl="1" indent="-213483">
              <a:spcBef>
                <a:spcPts val="512"/>
              </a:spcBef>
              <a:spcAft>
                <a:spcPts val="1200"/>
              </a:spcAft>
              <a:buChar char="–"/>
              <a:tabLst>
                <a:tab pos="652777" algn="l"/>
              </a:tabLst>
            </a:pP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(c)</a:t>
            </a:r>
            <a:r>
              <a:rPr sz="2000" spc="44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Communicate</a:t>
            </a:r>
            <a:r>
              <a:rPr sz="2000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with</a:t>
            </a:r>
            <a:r>
              <a:rPr sz="2000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those</a:t>
            </a:r>
            <a:r>
              <a:rPr sz="2000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copies</a:t>
            </a:r>
            <a:r>
              <a:rPr sz="2000" spc="44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(invalidate</a:t>
            </a:r>
            <a:r>
              <a:rPr sz="2000" spc="2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FF"/>
                </a:solidFill>
                <a:latin typeface="Calibri"/>
                <a:cs typeface="Calibri"/>
              </a:rPr>
              <a:t>or</a:t>
            </a:r>
            <a:r>
              <a:rPr sz="2000" spc="18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000" spc="-9" dirty="0">
                <a:solidFill>
                  <a:srgbClr val="3366FF"/>
                </a:solidFill>
                <a:latin typeface="Calibri"/>
                <a:cs typeface="Calibri"/>
              </a:rPr>
              <a:t>update)</a:t>
            </a:r>
            <a:endParaRPr sz="2000" dirty="0">
              <a:latin typeface="Calibri"/>
              <a:cs typeface="Calibri"/>
            </a:endParaRPr>
          </a:p>
          <a:p>
            <a:pPr marL="278481" indent="-267275">
              <a:spcBef>
                <a:spcPts val="512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(0)</a:t>
            </a:r>
            <a:r>
              <a:rPr sz="2400" spc="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done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way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2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systems</a:t>
            </a:r>
            <a:endParaRPr sz="2400" dirty="0">
              <a:latin typeface="Calibri"/>
              <a:cs typeface="Calibri"/>
            </a:endParaRPr>
          </a:p>
          <a:p>
            <a:pPr marL="652777" lvl="1" indent="-213483">
              <a:spcBef>
                <a:spcPts val="525"/>
              </a:spcBef>
              <a:buChar char="–"/>
              <a:tabLst>
                <a:tab pos="652777" algn="l"/>
              </a:tabLst>
            </a:pPr>
            <a:r>
              <a:rPr sz="2000" dirty="0">
                <a:latin typeface="Calibri"/>
                <a:cs typeface="Calibri"/>
              </a:rPr>
              <a:t>state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cache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line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maintained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cache</a:t>
            </a:r>
            <a:endParaRPr sz="2000" dirty="0">
              <a:latin typeface="Calibri"/>
              <a:cs typeface="Calibri"/>
            </a:endParaRPr>
          </a:p>
          <a:p>
            <a:pPr marL="652777" lvl="1" indent="-213483">
              <a:spcBef>
                <a:spcPts val="424"/>
              </a:spcBef>
              <a:spcAft>
                <a:spcPts val="2400"/>
              </a:spcAft>
              <a:buChar char="–"/>
              <a:tabLst>
                <a:tab pos="652777" algn="l"/>
              </a:tabLst>
            </a:pPr>
            <a:r>
              <a:rPr sz="2000" dirty="0">
                <a:latin typeface="Calibri"/>
                <a:cs typeface="Calibri"/>
              </a:rPr>
              <a:t>protocol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invoked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“access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fault”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occurs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spc="-18" dirty="0">
                <a:latin typeface="Calibri"/>
                <a:cs typeface="Calibri"/>
              </a:rPr>
              <a:t>line</a:t>
            </a:r>
            <a:endParaRPr sz="2000" dirty="0">
              <a:latin typeface="Calibri"/>
              <a:cs typeface="Calibri"/>
            </a:endParaRPr>
          </a:p>
          <a:p>
            <a:pPr marL="278481" indent="-267275">
              <a:buChar char="•"/>
              <a:tabLst>
                <a:tab pos="278481" algn="l"/>
              </a:tabLst>
            </a:pP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Different</a:t>
            </a:r>
            <a:r>
              <a:rPr sz="2206" spc="4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approaches</a:t>
            </a:r>
            <a:r>
              <a:rPr sz="2206" spc="57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distinguished</a:t>
            </a:r>
            <a:r>
              <a:rPr sz="2206" spc="66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by</a:t>
            </a:r>
            <a:r>
              <a:rPr sz="2206" spc="6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(a)</a:t>
            </a:r>
            <a:r>
              <a:rPr sz="2206" spc="53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3366FF"/>
                </a:solidFill>
                <a:latin typeface="Calibri"/>
                <a:cs typeface="Calibri"/>
              </a:rPr>
              <a:t>to</a:t>
            </a:r>
            <a:r>
              <a:rPr sz="2206" spc="6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6" spc="-22" dirty="0">
                <a:solidFill>
                  <a:srgbClr val="3366FF"/>
                </a:solidFill>
                <a:latin typeface="Calibri"/>
                <a:cs typeface="Calibri"/>
              </a:rPr>
              <a:t>(c)</a:t>
            </a:r>
            <a:endParaRPr sz="2206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D2D731-0A6A-4C67-1F54-00994D8820D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51</a:t>
            </a:fld>
            <a:endParaRPr lang="en-US" spc="-44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22" dirty="0"/>
              <a:t>Bus-</a:t>
            </a:r>
            <a:r>
              <a:rPr dirty="0"/>
              <a:t>based</a:t>
            </a:r>
            <a:r>
              <a:rPr spc="13" dirty="0"/>
              <a:t> </a:t>
            </a:r>
            <a:r>
              <a:rPr spc="-9" dirty="0"/>
              <a:t>Coherence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9624" y="1211178"/>
            <a:ext cx="7877175" cy="5440479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All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(a),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(b),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(c)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done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through</a:t>
            </a:r>
            <a:r>
              <a:rPr sz="2400" b="1" spc="57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broadcast</a:t>
            </a:r>
            <a:r>
              <a:rPr sz="2400" b="1" spc="4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53" dirty="0">
                <a:latin typeface="Calibri"/>
                <a:cs typeface="Calibri"/>
              </a:rPr>
              <a:t> </a:t>
            </a:r>
            <a:r>
              <a:rPr sz="2400" b="1" spc="-22" dirty="0">
                <a:latin typeface="Calibri"/>
                <a:cs typeface="Calibri"/>
              </a:rPr>
              <a:t>bus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24"/>
              </a:spcBef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faulting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processor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sends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“search”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spcBef>
                <a:spcPts val="379"/>
              </a:spcBef>
              <a:spcAft>
                <a:spcPts val="600"/>
              </a:spcAft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others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respond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search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take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necessary</a:t>
            </a:r>
            <a:r>
              <a:rPr sz="2200" spc="-9" dirty="0">
                <a:latin typeface="Calibri"/>
                <a:cs typeface="Calibri"/>
              </a:rPr>
              <a:t> action</a:t>
            </a:r>
            <a:endParaRPr sz="2200" dirty="0">
              <a:latin typeface="Calibri"/>
              <a:cs typeface="Calibri"/>
            </a:endParaRPr>
          </a:p>
          <a:p>
            <a:pPr marL="278481" indent="-267275">
              <a:spcBef>
                <a:spcPts val="552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Could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scalable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too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46"/>
              </a:spcBef>
              <a:spcAft>
                <a:spcPts val="600"/>
              </a:spcAft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broadcast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processors,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 let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them </a:t>
            </a:r>
            <a:r>
              <a:rPr sz="2200" spc="-9" dirty="0">
                <a:latin typeface="Calibri"/>
                <a:cs typeface="Calibri"/>
              </a:rPr>
              <a:t>respond</a:t>
            </a:r>
            <a:endParaRPr sz="2200" dirty="0">
              <a:latin typeface="Calibri"/>
              <a:cs typeface="Calibri"/>
            </a:endParaRPr>
          </a:p>
          <a:p>
            <a:pPr marL="278481" indent="-267275">
              <a:spcBef>
                <a:spcPts val="552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Conceptually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simple,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broadcast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scale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-44" dirty="0">
                <a:latin typeface="Calibri"/>
                <a:cs typeface="Calibri"/>
              </a:rPr>
              <a:t>p</a:t>
            </a:r>
            <a:endParaRPr sz="2400" dirty="0">
              <a:latin typeface="Calibri"/>
              <a:cs typeface="Calibri"/>
            </a:endParaRPr>
          </a:p>
          <a:p>
            <a:pPr marL="685800" lvl="1" indent="-228600">
              <a:spcAft>
                <a:spcPts val="400"/>
              </a:spcAft>
              <a:buChar char="–"/>
              <a:tabLst>
                <a:tab pos="742950" algn="l"/>
              </a:tabLst>
            </a:pPr>
            <a:r>
              <a:rPr sz="2200" dirty="0">
                <a:latin typeface="Calibri"/>
                <a:cs typeface="Calibri"/>
              </a:rPr>
              <a:t>i.e.,</a:t>
            </a:r>
            <a:r>
              <a:rPr sz="2200" spc="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large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</a:t>
            </a:r>
            <a:r>
              <a:rPr sz="2200" spc="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swamps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system</a:t>
            </a:r>
            <a:endParaRPr lang="en-US" sz="2200" spc="-9" dirty="0">
              <a:latin typeface="Calibri"/>
              <a:cs typeface="Calibri"/>
            </a:endParaRPr>
          </a:p>
          <a:p>
            <a:pPr marL="685800" lvl="1" indent="-228600">
              <a:spcAft>
                <a:spcPts val="400"/>
              </a:spcAft>
              <a:buChar char="–"/>
              <a:tabLst>
                <a:tab pos="742950" algn="l"/>
              </a:tabLst>
            </a:pPr>
            <a:r>
              <a:rPr sz="2200" dirty="0">
                <a:latin typeface="Calibri"/>
                <a:cs typeface="Calibri"/>
              </a:rPr>
              <a:t>on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bus,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bandwidth does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9" dirty="0">
                <a:latin typeface="Calibri"/>
                <a:cs typeface="Calibri"/>
              </a:rPr>
              <a:t> scale</a:t>
            </a:r>
            <a:endParaRPr lang="en-US" sz="2200" spc="-9" dirty="0">
              <a:latin typeface="Calibri"/>
              <a:cs typeface="Calibri"/>
            </a:endParaRPr>
          </a:p>
          <a:p>
            <a:pPr marL="685800" lvl="1" indent="-228600">
              <a:spcAft>
                <a:spcPts val="600"/>
              </a:spcAft>
              <a:buChar char="–"/>
              <a:tabLst>
                <a:tab pos="742950" algn="l"/>
              </a:tabLst>
            </a:pPr>
            <a:r>
              <a:rPr sz="2200" dirty="0">
                <a:latin typeface="Calibri"/>
                <a:cs typeface="Calibri"/>
              </a:rPr>
              <a:t>on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scalable network,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every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fault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leads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least</a:t>
            </a:r>
            <a:r>
              <a:rPr sz="2200" spc="3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network</a:t>
            </a:r>
            <a:r>
              <a:rPr sz="2200" spc="-9" dirty="0">
                <a:latin typeface="Calibri"/>
                <a:cs typeface="Calibri"/>
              </a:rPr>
              <a:t> transactions</a:t>
            </a:r>
            <a:endParaRPr sz="2200" dirty="0">
              <a:latin typeface="Calibri"/>
              <a:cs typeface="Calibri"/>
            </a:endParaRPr>
          </a:p>
          <a:p>
            <a:pPr marL="278481" indent="-267275">
              <a:spcBef>
                <a:spcPts val="552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scalable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coherence,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parallel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paths: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46"/>
              </a:spcBef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can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have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same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states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state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transition</a:t>
            </a:r>
            <a:r>
              <a:rPr sz="2200" spc="-9" dirty="0">
                <a:latin typeface="Calibri"/>
                <a:cs typeface="Calibri"/>
              </a:rPr>
              <a:t> diagram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spcBef>
                <a:spcPts val="463"/>
              </a:spcBef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different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mechanisms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manage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protocol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234B72-2148-6EAE-0E37-76DAEF6D5C8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52</a:t>
            </a:fld>
            <a:endParaRPr lang="en-US" spc="-44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0342" y="236677"/>
            <a:ext cx="7906949" cy="912127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11206" marR="4483">
              <a:spcBef>
                <a:spcPts val="393"/>
              </a:spcBef>
            </a:pPr>
            <a:r>
              <a:rPr sz="2800" dirty="0"/>
              <a:t>Limitations</a:t>
            </a:r>
            <a:r>
              <a:rPr sz="2800" spc="84" dirty="0"/>
              <a:t> </a:t>
            </a:r>
            <a:r>
              <a:rPr sz="2800" dirty="0"/>
              <a:t>in</a:t>
            </a:r>
            <a:r>
              <a:rPr sz="2800" spc="97" dirty="0"/>
              <a:t> </a:t>
            </a:r>
            <a:r>
              <a:rPr sz="2800" dirty="0"/>
              <a:t>Symmetric</a:t>
            </a:r>
            <a:r>
              <a:rPr sz="2800" spc="88" dirty="0"/>
              <a:t> </a:t>
            </a:r>
            <a:r>
              <a:rPr sz="2800" dirty="0"/>
              <a:t>Shared-</a:t>
            </a:r>
            <a:r>
              <a:rPr sz="2800" spc="-9" dirty="0"/>
              <a:t>Memory </a:t>
            </a:r>
            <a:r>
              <a:rPr sz="2800" dirty="0"/>
              <a:t>Multiprocessors</a:t>
            </a:r>
            <a:r>
              <a:rPr sz="2800" spc="115" dirty="0"/>
              <a:t> </a:t>
            </a:r>
            <a:r>
              <a:rPr sz="2800" dirty="0"/>
              <a:t>and</a:t>
            </a:r>
            <a:r>
              <a:rPr sz="2800" spc="124" dirty="0"/>
              <a:t> </a:t>
            </a:r>
            <a:r>
              <a:rPr sz="2800" dirty="0"/>
              <a:t>Snooping</a:t>
            </a:r>
            <a:r>
              <a:rPr sz="2800" spc="119" dirty="0"/>
              <a:t> </a:t>
            </a:r>
            <a:r>
              <a:rPr sz="2800" spc="-9" dirty="0"/>
              <a:t>Protocols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800099" y="1265934"/>
            <a:ext cx="7906949" cy="4924161"/>
          </a:xfrm>
          <a:prstGeom prst="rect">
            <a:avLst/>
          </a:prstGeom>
        </p:spPr>
        <p:txBody>
          <a:bodyPr vert="horz" wrap="square" lIns="0" tIns="187699" rIns="0" bIns="0" rtlCol="0">
            <a:spAutoFit/>
          </a:bodyPr>
          <a:lstStyle/>
          <a:p>
            <a:pPr marL="278481" indent="-267275">
              <a:spcBef>
                <a:spcPts val="1478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accommodate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CPUs</a:t>
            </a:r>
            <a:endParaRPr sz="2400" dirty="0">
              <a:latin typeface="Calibri"/>
              <a:cs typeface="Calibri"/>
            </a:endParaRPr>
          </a:p>
          <a:p>
            <a:pPr marL="439294">
              <a:spcBef>
                <a:spcPts val="600"/>
              </a:spcBef>
              <a:spcAft>
                <a:spcPts val="600"/>
              </a:spcAft>
            </a:pPr>
            <a:r>
              <a:rPr sz="2100" dirty="0">
                <a:latin typeface="Symbol"/>
                <a:cs typeface="Symbol"/>
              </a:rPr>
              <a:t></a:t>
            </a:r>
            <a:r>
              <a:rPr sz="2100" spc="-53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Calibri"/>
                <a:cs typeface="Calibri"/>
              </a:rPr>
              <a:t>Multiple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memory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spc="-18" dirty="0">
                <a:latin typeface="Calibri"/>
                <a:cs typeface="Calibri"/>
              </a:rPr>
              <a:t>banks</a:t>
            </a:r>
            <a:endParaRPr sz="2100" dirty="0">
              <a:latin typeface="Calibri"/>
              <a:cs typeface="Calibri"/>
            </a:endParaRPr>
          </a:p>
          <a:p>
            <a:pPr marL="278481" marR="33059" indent="-267835">
              <a:spcBef>
                <a:spcPts val="1460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Bus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support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coherence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traffic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normal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memory traffic</a:t>
            </a:r>
            <a:endParaRPr sz="2400" dirty="0">
              <a:latin typeface="Calibri"/>
              <a:cs typeface="Calibri"/>
            </a:endParaRPr>
          </a:p>
          <a:p>
            <a:pPr marL="653338" marR="207320" indent="-214044">
              <a:spcBef>
                <a:spcPts val="600"/>
              </a:spcBef>
              <a:spcAft>
                <a:spcPts val="600"/>
              </a:spcAft>
            </a:pPr>
            <a:r>
              <a:rPr sz="2100" dirty="0">
                <a:latin typeface="Symbol"/>
                <a:cs typeface="Symbol"/>
              </a:rPr>
              <a:t></a:t>
            </a:r>
            <a:r>
              <a:rPr sz="2100" spc="-4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Calibri"/>
                <a:cs typeface="Calibri"/>
              </a:rPr>
              <a:t>Multiple buses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or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interconnection networks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(cross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bar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or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small</a:t>
            </a:r>
            <a:r>
              <a:rPr sz="2100" spc="-9" dirty="0">
                <a:latin typeface="Calibri"/>
                <a:cs typeface="Calibri"/>
              </a:rPr>
              <a:t> point-</a:t>
            </a:r>
            <a:r>
              <a:rPr sz="2100" spc="-22" dirty="0">
                <a:latin typeface="Calibri"/>
                <a:cs typeface="Calibri"/>
              </a:rPr>
              <a:t>to- </a:t>
            </a:r>
            <a:r>
              <a:rPr sz="2100" spc="-9" dirty="0">
                <a:latin typeface="Calibri"/>
                <a:cs typeface="Calibri"/>
              </a:rPr>
              <a:t>point)</a:t>
            </a:r>
            <a:endParaRPr sz="2100" dirty="0">
              <a:latin typeface="Calibri"/>
              <a:cs typeface="Calibri"/>
            </a:endParaRPr>
          </a:p>
          <a:p>
            <a:pPr marL="278481" indent="-267275">
              <a:spcBef>
                <a:spcPts val="135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Example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AMD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Opteron: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600"/>
              </a:spcBef>
              <a:buChar char="–"/>
              <a:tabLst>
                <a:tab pos="651657" algn="l"/>
              </a:tabLst>
            </a:pPr>
            <a:r>
              <a:rPr sz="2100" dirty="0">
                <a:latin typeface="Calibri"/>
                <a:cs typeface="Calibri"/>
              </a:rPr>
              <a:t>Memory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connected directly to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each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dual-</a:t>
            </a:r>
            <a:r>
              <a:rPr sz="2100" dirty="0">
                <a:latin typeface="Calibri"/>
                <a:cs typeface="Calibri"/>
              </a:rPr>
              <a:t>core </a:t>
            </a:r>
            <a:r>
              <a:rPr sz="2100" spc="-18" dirty="0">
                <a:latin typeface="Calibri"/>
                <a:cs typeface="Calibri"/>
              </a:rPr>
              <a:t>chip</a:t>
            </a:r>
            <a:endParaRPr sz="2100" dirty="0">
              <a:latin typeface="Calibri"/>
              <a:cs typeface="Calibri"/>
            </a:endParaRPr>
          </a:p>
          <a:p>
            <a:pPr marL="651657" lvl="1" indent="-212363">
              <a:spcBef>
                <a:spcPts val="1059"/>
              </a:spcBef>
              <a:buChar char="–"/>
              <a:tabLst>
                <a:tab pos="651657" algn="l"/>
              </a:tabLst>
            </a:pPr>
            <a:r>
              <a:rPr sz="2100" spc="-9" dirty="0">
                <a:latin typeface="Calibri"/>
                <a:cs typeface="Calibri"/>
              </a:rPr>
              <a:t>Point-to-</a:t>
            </a:r>
            <a:r>
              <a:rPr sz="2100" dirty="0">
                <a:latin typeface="Calibri"/>
                <a:cs typeface="Calibri"/>
              </a:rPr>
              <a:t>point connections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for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up</a:t>
            </a:r>
            <a:r>
              <a:rPr sz="2100" spc="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4</a:t>
            </a:r>
            <a:r>
              <a:rPr sz="2100" spc="9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chips</a:t>
            </a:r>
            <a:endParaRPr sz="2100" dirty="0">
              <a:latin typeface="Calibri"/>
              <a:cs typeface="Calibri"/>
            </a:endParaRPr>
          </a:p>
          <a:p>
            <a:pPr marL="651657" marR="4483" lvl="1" indent="-212363">
              <a:spcBef>
                <a:spcPts val="971"/>
              </a:spcBef>
              <a:buChar char="–"/>
              <a:tabLst>
                <a:tab pos="653338" algn="l"/>
              </a:tabLst>
            </a:pPr>
            <a:r>
              <a:rPr sz="2100" dirty="0">
                <a:latin typeface="Calibri"/>
                <a:cs typeface="Calibri"/>
              </a:rPr>
              <a:t>Remote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memory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local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memory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latency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are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similar,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allowing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OS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spc="-18" dirty="0">
                <a:latin typeface="Calibri"/>
                <a:cs typeface="Calibri"/>
              </a:rPr>
              <a:t>view </a:t>
            </a:r>
            <a:r>
              <a:rPr sz="2100" dirty="0">
                <a:latin typeface="Calibri"/>
                <a:cs typeface="Calibri"/>
              </a:rPr>
              <a:t>Opteron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as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uniform memory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access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(UMA) </a:t>
            </a:r>
            <a:r>
              <a:rPr sz="2100" spc="-9" dirty="0">
                <a:latin typeface="Calibri"/>
                <a:cs typeface="Calibri"/>
              </a:rPr>
              <a:t>computer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8ADE4D-5358-A337-176B-75176287172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3211" y="6346231"/>
            <a:ext cx="37477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53</a:t>
            </a:fld>
            <a:endParaRPr lang="en-US" spc="-4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1718</TotalTime>
  <Words>11114</Words>
  <Application>Microsoft Office PowerPoint</Application>
  <PresentationFormat>On-screen Show (4:3)</PresentationFormat>
  <Paragraphs>1559</Paragraphs>
  <Slides>53</Slides>
  <Notes>48</Notes>
  <HiddenSlides>8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4" baseType="lpstr">
      <vt:lpstr>MS PGothic</vt:lpstr>
      <vt:lpstr>Aptos</vt:lpstr>
      <vt:lpstr>Arial</vt:lpstr>
      <vt:lpstr>Arial MT</vt:lpstr>
      <vt:lpstr>Calibri</vt:lpstr>
      <vt:lpstr>Consolas</vt:lpstr>
      <vt:lpstr>Courier New</vt:lpstr>
      <vt:lpstr>Symbol</vt:lpstr>
      <vt:lpstr>Times New Roman</vt:lpstr>
      <vt:lpstr>Wingdings</vt:lpstr>
      <vt:lpstr>1_Office Theme</vt:lpstr>
      <vt:lpstr>PowerPoint Presentation</vt:lpstr>
      <vt:lpstr>Outline</vt:lpstr>
      <vt:lpstr>Uniprocessor Performance (SPECint)</vt:lpstr>
      <vt:lpstr>PowerPoint Presentation</vt:lpstr>
      <vt:lpstr>Growth in Clock Rate of Microprocessors</vt:lpstr>
      <vt:lpstr>PowerPoint Presentation</vt:lpstr>
      <vt:lpstr>Déjà vu all over again?</vt:lpstr>
      <vt:lpstr>Other Factors  Multiprocessors Work Well</vt:lpstr>
      <vt:lpstr>Flynn’s Taxonomy</vt:lpstr>
      <vt:lpstr>Back to Basics</vt:lpstr>
      <vt:lpstr>Centralized vs. Distributed Shared Memory</vt:lpstr>
      <vt:lpstr>Centralized Memory Multiprocessor</vt:lpstr>
      <vt:lpstr>Distributed Memory Multiprocessor</vt:lpstr>
      <vt:lpstr>Models for Communication and Memory Architecture</vt:lpstr>
      <vt:lpstr>Challenges of Parallel Processing</vt:lpstr>
      <vt:lpstr>Challenges of Parallel Processing</vt:lpstr>
      <vt:lpstr>Solving Challenges of Parallel Processing</vt:lpstr>
      <vt:lpstr>Symmetric Shared-Memory Architectures</vt:lpstr>
      <vt:lpstr>Cache Coherence Problem: P3 Changes U to 7</vt:lpstr>
      <vt:lpstr>Example of Memory Consistency Problem</vt:lpstr>
      <vt:lpstr>Intuitive Memory Model</vt:lpstr>
      <vt:lpstr>Defining Coherent Memory System</vt:lpstr>
      <vt:lpstr>Write Consistency (for writes to 2+ variables)</vt:lpstr>
      <vt:lpstr>Basic Schemes for Enforcing Coherence</vt:lpstr>
      <vt:lpstr>Two Classes of Cache Coherence Protocols</vt:lpstr>
      <vt:lpstr>Outline</vt:lpstr>
      <vt:lpstr>SNOOPY CACHE-COHERENCE PROTOCOL</vt:lpstr>
      <vt:lpstr>Snoopy Cache-Coherence Protocols</vt:lpstr>
      <vt:lpstr>Example: Write-Thru Invalidate</vt:lpstr>
      <vt:lpstr>Architectural Building Blocks</vt:lpstr>
      <vt:lpstr>Locate up-to-date copy of data</vt:lpstr>
      <vt:lpstr>Cache Resources for Write-Back Snooping</vt:lpstr>
      <vt:lpstr>Cache Resources for Write-Back Snooping (cont.)</vt:lpstr>
      <vt:lpstr>Cache Behavior in Response to Bus</vt:lpstr>
      <vt:lpstr>Example Protocol</vt:lpstr>
      <vt:lpstr>Write-through Snoopy Invalidate Protocol</vt:lpstr>
      <vt:lpstr>Write-through Snoopy Invalidate Protocol</vt:lpstr>
      <vt:lpstr>Is Two-State Protocol Coherent?</vt:lpstr>
      <vt:lpstr>Is Two-State Protocol Coherent?</vt:lpstr>
      <vt:lpstr>Ordering</vt:lpstr>
      <vt:lpstr>Example Write-Back Snoopy Protocol</vt:lpstr>
      <vt:lpstr>Write-Back State Machine – Request from CPU</vt:lpstr>
      <vt:lpstr>Write-Back State Machine – Request from Bus</vt:lpstr>
      <vt:lpstr>Example</vt:lpstr>
      <vt:lpstr>Example</vt:lpstr>
      <vt:lpstr>Example</vt:lpstr>
      <vt:lpstr>Example</vt:lpstr>
      <vt:lpstr>Example</vt:lpstr>
      <vt:lpstr>Example</vt:lpstr>
      <vt:lpstr>In Conclusion [SMP]</vt:lpstr>
      <vt:lpstr>A Cache Coherent System Must:</vt:lpstr>
      <vt:lpstr>Bus-based Coherence</vt:lpstr>
      <vt:lpstr>Limitations in Symmetric Shared-Memory Multiprocessors and Snooping Protocols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Johnson</dc:creator>
  <cp:lastModifiedBy>Richard Johnson</cp:lastModifiedBy>
  <cp:revision>1048</cp:revision>
  <dcterms:created xsi:type="dcterms:W3CDTF">2025-09-07T23:26:05Z</dcterms:created>
  <dcterms:modified xsi:type="dcterms:W3CDTF">2025-12-03T16:44:52Z</dcterms:modified>
</cp:coreProperties>
</file>