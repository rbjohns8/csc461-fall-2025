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8"/>
  </p:notesMasterIdLst>
  <p:sldIdLst>
    <p:sldId id="348" r:id="rId2"/>
    <p:sldId id="365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2B7"/>
    <a:srgbClr val="000066"/>
    <a:srgbClr val="0066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065" autoAdjust="0"/>
  </p:normalViewPr>
  <p:slideViewPr>
    <p:cSldViewPr snapToGrid="0">
      <p:cViewPr varScale="1">
        <p:scale>
          <a:sx n="58" d="100"/>
          <a:sy n="58" d="100"/>
        </p:scale>
        <p:origin x="20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However,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actual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hazard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and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length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of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any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stall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is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property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of</a:t>
            </a:r>
            <a:r>
              <a:rPr lang="en-US" sz="1200" spc="-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-44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pipeline</a:t>
            </a:r>
            <a:endParaRPr lang="en-US" sz="12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0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cycles wasted per branch misprediction is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determined by the number of pipeline stages between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where the branch outcome is known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point where the prediction is made.</a:t>
            </a:r>
          </a:p>
          <a:p>
            <a:endParaRPr lang="en-US" b="0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case,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branch direction and target are known in the 5th stage of the 6-stage pipeline,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 the prediction is resolved in stage 5.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branch prediction occurs during the fetch stage (stage 1),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misprediction penalty is the number of stages from the fetch stage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the stage where the branch is resolved, which is 5 - 1 = 4 stages.</a:t>
            </a:r>
          </a:p>
          <a:p>
            <a:endParaRPr lang="en-US" b="0" dirty="0"/>
          </a:p>
          <a:p>
            <a:r>
              <a:rPr lang="en-US" b="0" dirty="0"/>
              <a:t>So, </a:t>
            </a:r>
            <a:r>
              <a:rPr lang="en-US" b="1" dirty="0"/>
              <a:t>B.</a:t>
            </a:r>
            <a:r>
              <a:rPr lang="en-US" b="0" dirty="0"/>
              <a:t> is the answer.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1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 CPI = Ideal CPI + Branch Frequency * (1 – Prediction Accuracy) * Penalty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 CPI = 1 + 0.2 * 0.4 x 4 = 1 + 0.32 = 1.32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5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3.2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70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378084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3 and Appendix C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Cache Optimization Techniques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826" y="3092824"/>
            <a:ext cx="5248835" cy="1485509"/>
          </a:xfrm>
          <a:prstGeom prst="rect">
            <a:avLst/>
          </a:prstGeom>
        </p:spPr>
        <p:txBody>
          <a:bodyPr vert="horz" wrap="square" lIns="0" tIns="71157" rIns="0" bIns="0" rtlCol="0">
            <a:spAutoFit/>
          </a:bodyPr>
          <a:lstStyle/>
          <a:p>
            <a:pPr marL="11206" marR="4483">
              <a:lnSpc>
                <a:spcPts val="4041"/>
              </a:lnSpc>
              <a:spcBef>
                <a:spcPts val="560"/>
              </a:spcBef>
            </a:pPr>
            <a:r>
              <a:rPr sz="3706" b="1" dirty="0">
                <a:latin typeface="Arial"/>
                <a:cs typeface="Arial"/>
              </a:rPr>
              <a:t>CACHE</a:t>
            </a:r>
            <a:r>
              <a:rPr sz="3706" b="1" spc="4" dirty="0">
                <a:latin typeface="Arial"/>
                <a:cs typeface="Arial"/>
              </a:rPr>
              <a:t> </a:t>
            </a:r>
            <a:r>
              <a:rPr sz="3706" b="1" spc="-9" dirty="0">
                <a:latin typeface="Arial"/>
                <a:cs typeface="Arial"/>
              </a:rPr>
              <a:t>OPTIMIZATION TECHNIQUES</a:t>
            </a:r>
            <a:endParaRPr sz="3706" dirty="0">
              <a:latin typeface="Arial"/>
              <a:cs typeface="Arial"/>
            </a:endParaRPr>
          </a:p>
          <a:p>
            <a:pPr marL="11206">
              <a:spcBef>
                <a:spcPts val="772"/>
              </a:spcBef>
            </a:pPr>
            <a:r>
              <a:rPr sz="1853" b="1" dirty="0">
                <a:latin typeface="Arial"/>
                <a:cs typeface="Arial"/>
              </a:rPr>
              <a:t>-</a:t>
            </a:r>
            <a:r>
              <a:rPr sz="1853" b="1" spc="31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APPENDIX</a:t>
            </a:r>
            <a:r>
              <a:rPr sz="1853" b="1" spc="44" dirty="0">
                <a:latin typeface="Arial"/>
                <a:cs typeface="Arial"/>
              </a:rPr>
              <a:t> </a:t>
            </a:r>
            <a:r>
              <a:rPr lang="en-US" sz="1853" b="1" spc="44" dirty="0">
                <a:latin typeface="Arial"/>
                <a:cs typeface="Arial"/>
              </a:rPr>
              <a:t>C</a:t>
            </a:r>
            <a:r>
              <a:rPr sz="1853" b="1" spc="49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/</a:t>
            </a:r>
            <a:r>
              <a:rPr sz="1853" b="1" spc="26" dirty="0">
                <a:latin typeface="Arial"/>
                <a:cs typeface="Arial"/>
              </a:rPr>
              <a:t> </a:t>
            </a:r>
            <a:r>
              <a:rPr sz="1853" b="1" dirty="0">
                <a:latin typeface="Arial"/>
                <a:cs typeface="Arial"/>
              </a:rPr>
              <a:t>CHAPTER</a:t>
            </a:r>
            <a:r>
              <a:rPr sz="1853" b="1" spc="49" dirty="0">
                <a:latin typeface="Arial"/>
                <a:cs typeface="Arial"/>
              </a:rPr>
              <a:t> </a:t>
            </a:r>
            <a:r>
              <a:rPr lang="en-US" sz="1853" b="1" spc="-44" dirty="0">
                <a:latin typeface="Arial"/>
                <a:cs typeface="Arial"/>
              </a:rPr>
              <a:t>3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CDD01531-8F4E-F84A-F0C0-F54A5098F8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</a:t>
            </a:fld>
            <a:endParaRPr lang="en-US" spc="-44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41FE0-9F1D-25BB-2E05-3258146B224A}"/>
              </a:ext>
            </a:extLst>
          </p:cNvPr>
          <p:cNvSpPr txBox="1"/>
          <p:nvPr/>
        </p:nvSpPr>
        <p:spPr>
          <a:xfrm>
            <a:off x="4485859" y="3756063"/>
            <a:ext cx="1186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332B7"/>
                </a:solidFill>
                <a:latin typeface="Arial"/>
                <a:cs typeface="Arial"/>
              </a:rPr>
              <a:t>(Part 2)</a:t>
            </a:r>
            <a:endParaRPr lang="en-US" sz="2000" dirty="0">
              <a:solidFill>
                <a:srgbClr val="0332B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0233" y="671223"/>
            <a:ext cx="174475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315" y="1396701"/>
            <a:ext cx="7047798" cy="3458563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>
              <a:spcBef>
                <a:spcPts val="529"/>
              </a:spcBef>
              <a:buChar char="•"/>
              <a:tabLst>
                <a:tab pos="259990" algn="l"/>
              </a:tabLst>
            </a:pPr>
            <a:r>
              <a:rPr sz="2400" spc="-22" dirty="0">
                <a:latin typeface="Calibri"/>
                <a:cs typeface="Calibri"/>
              </a:rPr>
              <a:t>ILP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46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Compiler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techniques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increase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ILP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Loop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Unrolling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552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Static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Prediction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3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Dynamic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Prediction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46"/>
              </a:spcBef>
              <a:buChar char="•"/>
              <a:tabLst>
                <a:tab pos="259990" algn="l"/>
              </a:tabLst>
            </a:pPr>
            <a:r>
              <a:rPr sz="2400" spc="-18" dirty="0">
                <a:latin typeface="Calibri"/>
                <a:cs typeface="Calibri"/>
              </a:rPr>
              <a:t>Overcoming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Dynamic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Scheduling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Tomasulo</a:t>
            </a:r>
            <a:r>
              <a:rPr sz="2400" spc="-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Algorithm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3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Conclusion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F755E06-F733-5BC3-EBFC-519D694100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</a:t>
            </a:fld>
            <a:endParaRPr lang="en-US" spc="-4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Recall</a:t>
            </a:r>
            <a:r>
              <a:rPr spc="-110" dirty="0"/>
              <a:t> </a:t>
            </a:r>
            <a:r>
              <a:rPr dirty="0"/>
              <a:t>from</a:t>
            </a:r>
            <a:r>
              <a:rPr spc="-119" dirty="0"/>
              <a:t> </a:t>
            </a:r>
            <a:r>
              <a:rPr spc="-9" dirty="0"/>
              <a:t>Pipelining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01388"/>
            <a:ext cx="7410274" cy="558091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88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Pipeline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CPI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=</a:t>
            </a:r>
            <a:endParaRPr lang="en-US" sz="2400" spc="-44" dirty="0">
              <a:latin typeface="Calibri"/>
              <a:cs typeface="Calibri"/>
            </a:endParaRPr>
          </a:p>
          <a:p>
            <a:pPr marL="808548">
              <a:lnSpc>
                <a:spcPct val="110000"/>
              </a:lnSpc>
            </a:pPr>
            <a:r>
              <a:rPr lang="en-US" sz="2400" dirty="0">
                <a:cs typeface="Calibri"/>
              </a:rPr>
              <a:t>Ideal</a:t>
            </a:r>
            <a:r>
              <a:rPr lang="en-US" sz="2400" spc="-88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pipeline</a:t>
            </a:r>
            <a:r>
              <a:rPr lang="en-US" sz="2400" spc="-88" dirty="0">
                <a:cs typeface="Calibri"/>
              </a:rPr>
              <a:t> </a:t>
            </a:r>
            <a:r>
              <a:rPr lang="en-US" sz="2400" spc="-22" dirty="0">
                <a:cs typeface="Calibri"/>
              </a:rPr>
              <a:t>CPI</a:t>
            </a:r>
            <a:endParaRPr lang="en-US" sz="2400" dirty="0">
              <a:cs typeface="Calibri"/>
            </a:endParaRPr>
          </a:p>
          <a:p>
            <a:pPr marL="1607009">
              <a:lnSpc>
                <a:spcPct val="110000"/>
              </a:lnSpc>
            </a:pPr>
            <a:r>
              <a:rPr lang="en-US" sz="2400" dirty="0">
                <a:cs typeface="Calibri"/>
              </a:rPr>
              <a:t>+</a:t>
            </a:r>
            <a:r>
              <a:rPr lang="en-US" sz="2400" spc="-62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Structural</a:t>
            </a:r>
            <a:r>
              <a:rPr lang="en-US" sz="2400" spc="-57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Stalls</a:t>
            </a:r>
            <a:endParaRPr lang="en-US" sz="2400" dirty="0">
              <a:cs typeface="Calibri"/>
            </a:endParaRPr>
          </a:p>
          <a:p>
            <a:pPr marL="1607009">
              <a:lnSpc>
                <a:spcPct val="110000"/>
              </a:lnSpc>
            </a:pPr>
            <a:r>
              <a:rPr lang="en-US" sz="2400" dirty="0">
                <a:cs typeface="Calibri"/>
              </a:rPr>
              <a:t>+</a:t>
            </a:r>
            <a:r>
              <a:rPr lang="en-US" sz="2400" spc="-66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Data</a:t>
            </a:r>
            <a:r>
              <a:rPr lang="en-US" sz="2400" spc="-71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Hazard</a:t>
            </a:r>
            <a:r>
              <a:rPr lang="en-US" sz="2400" spc="-66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Stalls</a:t>
            </a:r>
            <a:endParaRPr lang="en-US" sz="2400" dirty="0">
              <a:cs typeface="Calibri"/>
            </a:endParaRPr>
          </a:p>
          <a:p>
            <a:pPr marL="1607009">
              <a:lnSpc>
                <a:spcPct val="110000"/>
              </a:lnSpc>
              <a:spcAft>
                <a:spcPts val="1200"/>
              </a:spcAft>
            </a:pPr>
            <a:r>
              <a:rPr lang="en-US" sz="2400" dirty="0">
                <a:cs typeface="Calibri"/>
              </a:rPr>
              <a:t>+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Control</a:t>
            </a:r>
            <a:r>
              <a:rPr lang="en-US" sz="2400" spc="-71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Stalls</a:t>
            </a:r>
            <a:endParaRPr lang="en-US" sz="2400" spc="-44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88"/>
              </a:spcBef>
              <a:buChar char="•"/>
              <a:tabLst>
                <a:tab pos="259990" algn="l"/>
              </a:tabLst>
            </a:pPr>
            <a:r>
              <a:rPr sz="2200" dirty="0">
                <a:latin typeface="Calibri"/>
                <a:cs typeface="Calibri"/>
              </a:rPr>
              <a:t>Ideal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pipeline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CPI: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measure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maximum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performance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attainable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31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implementation</a:t>
            </a:r>
            <a:endParaRPr lang="en-US" sz="22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88"/>
              </a:spcBef>
              <a:buChar char="•"/>
              <a:tabLst>
                <a:tab pos="259990" algn="l"/>
              </a:tabLst>
            </a:pPr>
            <a:r>
              <a:rPr sz="2200" b="1" u="sng" spc="-9" dirty="0">
                <a:latin typeface="Calibri"/>
                <a:cs typeface="Calibri"/>
              </a:rPr>
              <a:t>Structural</a:t>
            </a:r>
            <a:r>
              <a:rPr sz="2200" b="1" u="sng" spc="-44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hazards</a:t>
            </a:r>
            <a:r>
              <a:rPr sz="2200" spc="-9" dirty="0">
                <a:latin typeface="Calibri"/>
                <a:cs typeface="Calibri"/>
              </a:rPr>
              <a:t>: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HW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cannot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support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combination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endParaRPr lang="en-US" sz="2200" spc="-9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88"/>
              </a:spcBef>
              <a:buChar char="•"/>
              <a:tabLst>
                <a:tab pos="259990" algn="l"/>
              </a:tabLst>
            </a:pPr>
            <a:r>
              <a:rPr sz="2200" b="1" u="sng" dirty="0">
                <a:latin typeface="Calibri"/>
                <a:cs typeface="Calibri"/>
              </a:rPr>
              <a:t>Data</a:t>
            </a:r>
            <a:r>
              <a:rPr sz="2200" b="1" u="sng" spc="-53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hazards</a:t>
            </a:r>
            <a:r>
              <a:rPr sz="2200" spc="-9" dirty="0">
                <a:latin typeface="Calibri"/>
                <a:cs typeface="Calibri"/>
              </a:rPr>
              <a:t>: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prior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still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in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pipeline</a:t>
            </a:r>
            <a:endParaRPr lang="en-US" sz="2200" spc="-9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88"/>
              </a:spcBef>
              <a:buChar char="•"/>
              <a:tabLst>
                <a:tab pos="259990" algn="l"/>
              </a:tabLst>
            </a:pPr>
            <a:r>
              <a:rPr sz="2200" b="1" u="sng" dirty="0">
                <a:latin typeface="Calibri"/>
                <a:cs typeface="Calibri"/>
              </a:rPr>
              <a:t>Control</a:t>
            </a:r>
            <a:r>
              <a:rPr sz="2200" b="1" u="sng" spc="-53" dirty="0">
                <a:latin typeface="Calibri"/>
                <a:cs typeface="Calibri"/>
              </a:rPr>
              <a:t> </a:t>
            </a:r>
            <a:r>
              <a:rPr sz="2200" u="sng" spc="-9" dirty="0">
                <a:latin typeface="Calibri"/>
                <a:cs typeface="Calibri"/>
              </a:rPr>
              <a:t>hazards</a:t>
            </a:r>
            <a:r>
              <a:rPr sz="2200" spc="-9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Caused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delay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between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fetching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decisions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changes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control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flow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(branches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jumps)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642412D-CD08-CEA7-476B-4BAFA801C7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Instruction</a:t>
            </a:r>
            <a:r>
              <a:rPr spc="-128" dirty="0"/>
              <a:t> </a:t>
            </a:r>
            <a:r>
              <a:rPr dirty="0"/>
              <a:t>Level</a:t>
            </a:r>
            <a:r>
              <a:rPr spc="-119" dirty="0"/>
              <a:t> </a:t>
            </a:r>
            <a:r>
              <a:rPr spc="-9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453179"/>
            <a:ext cx="7450031" cy="418396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129995" indent="-249344">
              <a:lnSpc>
                <a:spcPct val="110000"/>
              </a:lnSpc>
              <a:spcBef>
                <a:spcPts val="375"/>
              </a:spcBef>
              <a:buChar char="•"/>
              <a:tabLst>
                <a:tab pos="260551" algn="l"/>
              </a:tabLst>
            </a:pPr>
            <a:r>
              <a:rPr sz="2400" b="1" spc="-22" dirty="0">
                <a:solidFill>
                  <a:srgbClr val="0070C0"/>
                </a:solidFill>
                <a:latin typeface="Calibri"/>
                <a:cs typeface="Calibri"/>
              </a:rPr>
              <a:t>Instruction-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Level</a:t>
            </a:r>
            <a:r>
              <a:rPr sz="2400" b="1" spc="-71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400" b="1" spc="-9" dirty="0">
                <a:solidFill>
                  <a:srgbClr val="0070C0"/>
                </a:solidFill>
                <a:latin typeface="Calibri"/>
                <a:cs typeface="Calibri"/>
              </a:rPr>
              <a:t>Parallelism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(ILP):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overlap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1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execution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instructions</a:t>
            </a:r>
            <a:r>
              <a:rPr sz="2400" b="1" spc="-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2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improve</a:t>
            </a:r>
            <a:r>
              <a:rPr sz="2400" b="1" spc="-53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performance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10000"/>
              </a:lnSpc>
              <a:spcBef>
                <a:spcPts val="137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2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approaches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exploit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ILP:</a:t>
            </a:r>
            <a:endParaRPr sz="2400" dirty="0">
              <a:latin typeface="Calibri"/>
              <a:cs typeface="Calibri"/>
            </a:endParaRPr>
          </a:p>
          <a:p>
            <a:pPr marL="708810" lvl="1" indent="-299213">
              <a:lnSpc>
                <a:spcPct val="110000"/>
              </a:lnSpc>
              <a:spcBef>
                <a:spcPts val="361"/>
              </a:spcBef>
              <a:spcAft>
                <a:spcPts val="600"/>
              </a:spcAft>
              <a:buAutoNum type="arabicParenR"/>
              <a:tabLst>
                <a:tab pos="708810" algn="l"/>
              </a:tabLst>
            </a:pPr>
            <a:r>
              <a:rPr sz="2200" dirty="0">
                <a:latin typeface="Calibri"/>
                <a:cs typeface="Calibri"/>
              </a:rPr>
              <a:t>Rely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hardware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help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discover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exploit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parallelism</a:t>
            </a:r>
            <a:r>
              <a:rPr lang="en-US" sz="2200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dynamically</a:t>
            </a:r>
            <a:r>
              <a:rPr sz="2200" b="1" spc="-40" dirty="0">
                <a:latin typeface="Calibri"/>
                <a:cs typeface="Calibri"/>
              </a:rPr>
              <a:t> </a:t>
            </a:r>
            <a:br>
              <a:rPr lang="en-US" sz="2200" b="1" spc="-40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(e.g.,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Pentium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4/core2/i3/i5/i7,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AMD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Opteron,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IBM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Power)</a:t>
            </a:r>
            <a:endParaRPr sz="2200" dirty="0">
              <a:latin typeface="Calibri"/>
              <a:cs typeface="Calibri"/>
            </a:endParaRPr>
          </a:p>
          <a:p>
            <a:pPr marL="709370" marR="197234" lvl="1" indent="-299213">
              <a:lnSpc>
                <a:spcPct val="110000"/>
              </a:lnSpc>
              <a:spcBef>
                <a:spcPts val="627"/>
              </a:spcBef>
              <a:buAutoNum type="arabicParenR" startAt="2"/>
              <a:tabLst>
                <a:tab pos="709370" algn="l"/>
              </a:tabLst>
            </a:pPr>
            <a:r>
              <a:rPr sz="2200" dirty="0">
                <a:latin typeface="Calibri"/>
                <a:cs typeface="Calibri"/>
              </a:rPr>
              <a:t>Rely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software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technology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parallelism,</a:t>
            </a:r>
            <a:r>
              <a:rPr sz="2200" spc="-31" dirty="0">
                <a:latin typeface="Calibri"/>
                <a:cs typeface="Calibri"/>
              </a:rPr>
              <a:t> </a:t>
            </a:r>
            <a:br>
              <a:rPr lang="en-US" sz="2200" spc="-31" dirty="0">
                <a:latin typeface="Calibri"/>
                <a:cs typeface="Calibri"/>
              </a:rPr>
            </a:br>
            <a:r>
              <a:rPr sz="2200" b="1" spc="-9" dirty="0">
                <a:latin typeface="Calibri"/>
                <a:cs typeface="Calibri"/>
              </a:rPr>
              <a:t>statically</a:t>
            </a:r>
            <a:r>
              <a:rPr sz="2200" b="1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compile-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44" dirty="0">
                <a:latin typeface="Calibri"/>
                <a:cs typeface="Calibri"/>
              </a:rPr>
              <a:t> </a:t>
            </a:r>
            <a:br>
              <a:rPr lang="en-US" sz="2200" spc="-44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(e.g.,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Itanium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2/IA-</a:t>
            </a:r>
            <a:r>
              <a:rPr sz="2200" spc="-22" dirty="0">
                <a:latin typeface="Calibri"/>
                <a:cs typeface="Calibri"/>
              </a:rPr>
              <a:t>64)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D4CA055E-7BBF-8F4C-3371-4FB43AD9B3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26" dirty="0"/>
              <a:t>Instruction-</a:t>
            </a:r>
            <a:r>
              <a:rPr dirty="0"/>
              <a:t>Level</a:t>
            </a:r>
            <a:r>
              <a:rPr spc="-66" dirty="0"/>
              <a:t> </a:t>
            </a:r>
            <a:r>
              <a:rPr spc="-9" dirty="0"/>
              <a:t>Parallelism</a:t>
            </a:r>
            <a:r>
              <a:rPr spc="-79" dirty="0"/>
              <a:t> </a:t>
            </a:r>
            <a:r>
              <a:rPr spc="-9" dirty="0"/>
              <a:t>(ILP)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19939"/>
            <a:ext cx="7450031" cy="5230358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(BB)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ILP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quite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small</a:t>
            </a:r>
            <a:endParaRPr lang="en-US" sz="2400" spc="-9" dirty="0">
              <a:latin typeface="Calibri"/>
              <a:cs typeface="Calibri"/>
            </a:endParaRPr>
          </a:p>
          <a:p>
            <a:pPr marL="609633" marR="4483" lvl="1" indent="-199475">
              <a:lnSpc>
                <a:spcPct val="110000"/>
              </a:lnSpc>
              <a:spcBef>
                <a:spcPts val="543"/>
              </a:spcBef>
              <a:buChar char="–"/>
              <a:tabLst>
                <a:tab pos="609633" algn="l"/>
              </a:tabLst>
            </a:pPr>
            <a:r>
              <a:rPr lang="en-US" sz="2200" dirty="0">
                <a:cs typeface="Calibri"/>
              </a:rPr>
              <a:t>BB: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spc="-18" dirty="0">
                <a:cs typeface="Calibri"/>
              </a:rPr>
              <a:t>straight-</a:t>
            </a:r>
            <a:r>
              <a:rPr lang="en-US" sz="2200" dirty="0">
                <a:cs typeface="Calibri"/>
              </a:rPr>
              <a:t>line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code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sequence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b="1" dirty="0">
                <a:cs typeface="Calibri"/>
              </a:rPr>
              <a:t>with</a:t>
            </a:r>
            <a:r>
              <a:rPr lang="en-US" sz="2200" b="1" spc="-44" dirty="0">
                <a:cs typeface="Calibri"/>
              </a:rPr>
              <a:t> </a:t>
            </a:r>
            <a:r>
              <a:rPr lang="en-US" sz="2200" b="1" dirty="0">
                <a:cs typeface="Calibri"/>
              </a:rPr>
              <a:t>NO</a:t>
            </a:r>
            <a:r>
              <a:rPr lang="en-US" sz="2200" b="1" spc="-49" dirty="0">
                <a:cs typeface="Calibri"/>
              </a:rPr>
              <a:t> </a:t>
            </a:r>
            <a:r>
              <a:rPr lang="en-US" sz="2200" b="1" spc="-9" dirty="0">
                <a:cs typeface="Calibri"/>
              </a:rPr>
              <a:t>branches</a:t>
            </a:r>
            <a:r>
              <a:rPr lang="en-US" sz="2200" b="1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except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spc="-22" dirty="0">
                <a:cs typeface="Calibri"/>
              </a:rPr>
              <a:t>the </a:t>
            </a:r>
            <a:r>
              <a:rPr lang="en-US" sz="2200" dirty="0">
                <a:cs typeface="Calibri"/>
              </a:rPr>
              <a:t>entry</a:t>
            </a:r>
            <a:r>
              <a:rPr lang="en-US" sz="2200" spc="-57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and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no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branches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out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except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at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18" dirty="0">
                <a:cs typeface="Calibri"/>
              </a:rPr>
              <a:t>exit</a:t>
            </a:r>
            <a:endParaRPr lang="en-US" sz="2200" dirty="0"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287"/>
              </a:spcBef>
              <a:buChar char="–"/>
              <a:tabLst>
                <a:tab pos="609633" algn="l"/>
              </a:tabLst>
            </a:pPr>
            <a:r>
              <a:rPr lang="en-US" sz="2200" spc="-9" dirty="0">
                <a:cs typeface="Calibri"/>
              </a:rPr>
              <a:t>Average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dynamic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branch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frequency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15%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22" dirty="0">
                <a:cs typeface="Calibri"/>
              </a:rPr>
              <a:t>25%</a:t>
            </a:r>
            <a:endParaRPr lang="en-US" sz="2200" dirty="0">
              <a:cs typeface="Calibri"/>
            </a:endParaRPr>
          </a:p>
          <a:p>
            <a:pPr marL="609633">
              <a:lnSpc>
                <a:spcPct val="110000"/>
              </a:lnSpc>
            </a:pPr>
            <a:r>
              <a:rPr lang="en-US" sz="2200" dirty="0">
                <a:cs typeface="Calibri"/>
              </a:rPr>
              <a:t>    =&gt;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4</a:t>
            </a:r>
            <a:r>
              <a:rPr lang="en-US" sz="2200" spc="-31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7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instructions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execute</a:t>
            </a:r>
            <a:r>
              <a:rPr lang="en-US" sz="2200" spc="-31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between</a:t>
            </a:r>
            <a:r>
              <a:rPr lang="en-US" sz="2200" spc="-31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</a:t>
            </a:r>
            <a:r>
              <a:rPr lang="en-US" sz="2200" spc="-35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pair</a:t>
            </a:r>
            <a:r>
              <a:rPr lang="en-US" sz="2200" spc="-31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of</a:t>
            </a:r>
            <a:r>
              <a:rPr lang="en-US" sz="2200" spc="-31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branches</a:t>
            </a:r>
            <a:endParaRPr lang="en-US" sz="2200" dirty="0"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79"/>
              </a:spcBef>
              <a:buChar char="–"/>
              <a:tabLst>
                <a:tab pos="609633" algn="l"/>
              </a:tabLst>
            </a:pPr>
            <a:r>
              <a:rPr lang="en-US" sz="2200" dirty="0">
                <a:cs typeface="Calibri"/>
              </a:rPr>
              <a:t>Plus,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instructions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BB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likely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depend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on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each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other</a:t>
            </a:r>
            <a:endParaRPr lang="en-US" sz="2200" spc="-9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569"/>
              </a:spcBef>
              <a:spcAft>
                <a:spcPts val="1200"/>
              </a:spcAft>
              <a:buFontTx/>
              <a:buChar char="•"/>
              <a:tabLst>
                <a:tab pos="259990" algn="l"/>
              </a:tabLst>
            </a:pPr>
            <a:r>
              <a:rPr lang="en-US" sz="2400" dirty="0">
                <a:highlight>
                  <a:srgbClr val="FFFF00"/>
                </a:highlight>
                <a:cs typeface="Calibri"/>
              </a:rPr>
              <a:t>Need</a:t>
            </a:r>
            <a:r>
              <a:rPr lang="en-US" sz="2400" spc="-84" dirty="0">
                <a:highlight>
                  <a:srgbClr val="FFFF00"/>
                </a:highlight>
                <a:cs typeface="Calibri"/>
              </a:rPr>
              <a:t>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ILP</a:t>
            </a:r>
            <a:r>
              <a:rPr lang="en-US" sz="2400" b="1" spc="-84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 </a:t>
            </a: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across</a:t>
            </a:r>
            <a:r>
              <a:rPr lang="en-US" sz="2400" b="1" spc="-75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 </a:t>
            </a:r>
            <a:r>
              <a:rPr lang="en-US" sz="2400" b="1" spc="-9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multiple</a:t>
            </a:r>
            <a:r>
              <a:rPr lang="en-US" sz="2400" b="1" spc="-75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 </a:t>
            </a:r>
            <a:r>
              <a:rPr lang="en-US" sz="2400" b="1" spc="-22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BBs</a:t>
            </a:r>
            <a:endParaRPr lang="en-US" sz="2118" dirty="0"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569"/>
              </a:spcBef>
              <a:spcAft>
                <a:spcPts val="1200"/>
              </a:spcAft>
              <a:buFontTx/>
              <a:buChar char="•"/>
              <a:tabLst>
                <a:tab pos="259990" algn="l"/>
              </a:tabLst>
            </a:pPr>
            <a:r>
              <a:rPr lang="en-US" sz="2400" spc="-9" dirty="0">
                <a:cs typeface="Calibri"/>
              </a:rPr>
              <a:t>Simplest: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spc="-22" dirty="0">
                <a:solidFill>
                  <a:srgbClr val="114FFB"/>
                </a:solidFill>
                <a:cs typeface="Calibri"/>
              </a:rPr>
              <a:t>loop-</a:t>
            </a:r>
            <a:r>
              <a:rPr lang="en-US" sz="2400" dirty="0">
                <a:solidFill>
                  <a:srgbClr val="114FFB"/>
                </a:solidFill>
                <a:cs typeface="Calibri"/>
              </a:rPr>
              <a:t>level</a:t>
            </a:r>
            <a:r>
              <a:rPr lang="en-US" sz="2400" spc="-66" dirty="0">
                <a:solidFill>
                  <a:srgbClr val="114FFB"/>
                </a:solidFill>
                <a:cs typeface="Calibri"/>
              </a:rPr>
              <a:t> </a:t>
            </a:r>
            <a:r>
              <a:rPr lang="en-US" sz="2400" spc="-9" dirty="0">
                <a:solidFill>
                  <a:srgbClr val="114FFB"/>
                </a:solidFill>
                <a:cs typeface="Calibri"/>
              </a:rPr>
              <a:t>parallelism</a:t>
            </a:r>
            <a:r>
              <a:rPr lang="en-US" sz="2400" spc="-88" dirty="0">
                <a:solidFill>
                  <a:srgbClr val="114FFB"/>
                </a:solidFill>
                <a:cs typeface="Calibri"/>
              </a:rPr>
              <a:t> </a:t>
            </a:r>
            <a:r>
              <a:rPr lang="en-US" sz="2400" dirty="0">
                <a:cs typeface="Calibri"/>
              </a:rPr>
              <a:t>to</a:t>
            </a:r>
            <a:r>
              <a:rPr lang="en-US" sz="2400" spc="-7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exploit</a:t>
            </a:r>
            <a:r>
              <a:rPr lang="en-US" sz="2400" spc="-71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parallelism </a:t>
            </a:r>
            <a:r>
              <a:rPr lang="en-US" sz="2400" dirty="0">
                <a:cs typeface="Calibri"/>
              </a:rPr>
              <a:t>among</a:t>
            </a:r>
            <a:r>
              <a:rPr lang="en-US" sz="2400" spc="-71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iterations</a:t>
            </a:r>
            <a:r>
              <a:rPr lang="en-US" sz="2400" spc="-71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of</a:t>
            </a:r>
            <a:r>
              <a:rPr lang="en-US" sz="2400" spc="-57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a</a:t>
            </a:r>
            <a:r>
              <a:rPr lang="en-US" sz="2400" spc="-66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loop.</a:t>
            </a:r>
          </a:p>
          <a:p>
            <a:pPr marL="11206">
              <a:lnSpc>
                <a:spcPct val="110000"/>
              </a:lnSpc>
              <a:spcBef>
                <a:spcPts val="569"/>
              </a:spcBef>
              <a:spcAft>
                <a:spcPts val="1200"/>
              </a:spcAft>
              <a:tabLst>
                <a:tab pos="259990" algn="l"/>
              </a:tabLst>
            </a:pPr>
            <a:r>
              <a:rPr lang="en-US" sz="2400" spc="-66" dirty="0">
                <a:cs typeface="Calibri"/>
              </a:rPr>
              <a:t>    </a:t>
            </a:r>
            <a:r>
              <a:rPr lang="en-US" sz="2400" dirty="0">
                <a:cs typeface="Calibri"/>
              </a:rPr>
              <a:t>For</a:t>
            </a:r>
            <a:r>
              <a:rPr lang="en-US" sz="2400" spc="-62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example,</a:t>
            </a:r>
            <a:endParaRPr lang="en-US" sz="2400" dirty="0"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59990" algn="l"/>
              </a:tabLst>
            </a:pPr>
            <a:endParaRPr sz="2118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8201" y="5769620"/>
            <a:ext cx="7017810" cy="780813"/>
          </a:xfrm>
          <a:prstGeom prst="rect">
            <a:avLst/>
          </a:prstGeom>
        </p:spPr>
        <p:txBody>
          <a:bodyPr vert="horz" wrap="square" lIns="0" tIns="56029" rIns="0" bIns="0" rtlCol="0">
            <a:spAutoFit/>
          </a:bodyPr>
          <a:lstStyle/>
          <a:p>
            <a:pPr marL="1972340" marR="1301633" indent="-365892">
              <a:lnSpc>
                <a:spcPct val="110000"/>
              </a:lnSpc>
            </a:pPr>
            <a:r>
              <a:rPr sz="2200" dirty="0">
                <a:latin typeface="Consolas"/>
                <a:cs typeface="Consolas"/>
              </a:rPr>
              <a:t>for</a:t>
            </a:r>
            <a:r>
              <a:rPr sz="2200" spc="-132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(</a:t>
            </a:r>
            <a:r>
              <a:rPr lang="en-US" sz="2200" dirty="0" err="1">
                <a:latin typeface="Consolas"/>
                <a:cs typeface="Consolas"/>
              </a:rPr>
              <a:t>i</a:t>
            </a:r>
            <a:r>
              <a:rPr sz="2200" dirty="0">
                <a:latin typeface="Consolas"/>
                <a:cs typeface="Consolas"/>
              </a:rPr>
              <a:t>=1;</a:t>
            </a:r>
            <a:r>
              <a:rPr sz="2200" spc="-132" dirty="0">
                <a:latin typeface="Consolas"/>
                <a:cs typeface="Consolas"/>
              </a:rPr>
              <a:t> </a:t>
            </a:r>
            <a:r>
              <a:rPr lang="en-US" sz="2200" dirty="0" err="1">
                <a:latin typeface="Consolas"/>
                <a:cs typeface="Consolas"/>
              </a:rPr>
              <a:t>i</a:t>
            </a:r>
            <a:r>
              <a:rPr sz="2200" dirty="0">
                <a:latin typeface="Consolas"/>
                <a:cs typeface="Consolas"/>
              </a:rPr>
              <a:t>&lt;=1000;</a:t>
            </a:r>
            <a:r>
              <a:rPr sz="2200" spc="-132" dirty="0">
                <a:latin typeface="Consolas"/>
                <a:cs typeface="Consolas"/>
              </a:rPr>
              <a:t> </a:t>
            </a:r>
            <a:r>
              <a:rPr sz="2200" spc="-9" dirty="0">
                <a:latin typeface="Consolas"/>
                <a:cs typeface="Consolas"/>
              </a:rPr>
              <a:t>i=i+1) </a:t>
            </a:r>
            <a:r>
              <a:rPr sz="2200" dirty="0">
                <a:latin typeface="Consolas"/>
                <a:cs typeface="Consolas"/>
              </a:rPr>
              <a:t>x[i]</a:t>
            </a:r>
            <a:r>
              <a:rPr sz="2200" spc="-7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=</a:t>
            </a:r>
            <a:r>
              <a:rPr sz="2200" spc="-66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x[i]</a:t>
            </a:r>
            <a:r>
              <a:rPr sz="2200" spc="-66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+</a:t>
            </a:r>
            <a:r>
              <a:rPr sz="2200" spc="-66" dirty="0">
                <a:latin typeface="Consolas"/>
                <a:cs typeface="Consolas"/>
              </a:rPr>
              <a:t> </a:t>
            </a:r>
            <a:r>
              <a:rPr sz="2200" spc="-9" dirty="0">
                <a:latin typeface="Consolas"/>
                <a:cs typeface="Consolas"/>
              </a:rPr>
              <a:t>y[i];</a:t>
            </a:r>
            <a:endParaRPr sz="2200" dirty="0">
              <a:latin typeface="Consolas"/>
              <a:cs typeface="Consolas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F942D1F5-6694-663A-BF97-30372ADCAC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31" dirty="0"/>
              <a:t>Loop-</a:t>
            </a:r>
            <a:r>
              <a:rPr dirty="0"/>
              <a:t>Level</a:t>
            </a:r>
            <a:r>
              <a:rPr spc="-66" dirty="0"/>
              <a:t> </a:t>
            </a:r>
            <a:r>
              <a:rPr spc="-9" dirty="0"/>
              <a:t>Parallelism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92218"/>
            <a:ext cx="7410274" cy="4598197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Exploit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loop-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parallelism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“</a:t>
            </a:r>
            <a:r>
              <a:rPr sz="2400" b="1" spc="-9" dirty="0">
                <a:latin typeface="Calibri"/>
                <a:cs typeface="Calibri"/>
              </a:rPr>
              <a:t>unrolling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loop”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by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lang="en-US" sz="2200" spc="-9" dirty="0">
                <a:latin typeface="Calibri"/>
                <a:cs typeface="Calibri"/>
              </a:rPr>
              <a:t>D</a:t>
            </a:r>
            <a:r>
              <a:rPr sz="2200" spc="-9" dirty="0">
                <a:latin typeface="Calibri"/>
                <a:cs typeface="Calibri"/>
              </a:rPr>
              <a:t>ynamic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prediction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or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83"/>
              </a:spcBef>
              <a:spcAft>
                <a:spcPts val="1800"/>
              </a:spcAft>
              <a:buChar char="–"/>
              <a:tabLst>
                <a:tab pos="609633" algn="l"/>
              </a:tabLst>
            </a:pPr>
            <a:r>
              <a:rPr lang="en-US" sz="2200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tatic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via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unrolling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compiler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Aft>
                <a:spcPts val="1800"/>
              </a:spcAft>
              <a:buChar char="•"/>
              <a:tabLst>
                <a:tab pos="259990" algn="l"/>
              </a:tabLst>
            </a:pPr>
            <a:r>
              <a:rPr sz="2400" spc="-18" dirty="0">
                <a:solidFill>
                  <a:srgbClr val="FF0000"/>
                </a:solidFill>
                <a:latin typeface="Calibri"/>
                <a:cs typeface="Calibri"/>
              </a:rPr>
              <a:t>Determining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latin typeface="Calibri"/>
                <a:cs typeface="Calibri"/>
              </a:rPr>
              <a:t>dependences</a:t>
            </a:r>
            <a:r>
              <a:rPr sz="2400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Calibri"/>
                <a:cs typeface="Calibri"/>
              </a:rPr>
              <a:t>critical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lnSpc>
                <a:spcPct val="110000"/>
              </a:lnSpc>
              <a:spcBef>
                <a:spcPts val="4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are</a:t>
            </a:r>
            <a:endParaRPr sz="2400" dirty="0">
              <a:latin typeface="Calibri"/>
              <a:cs typeface="Calibri"/>
            </a:endParaRPr>
          </a:p>
          <a:p>
            <a:pPr marL="609633" marR="23534" lvl="1" indent="-199475" algn="just">
              <a:lnSpc>
                <a:spcPct val="110000"/>
              </a:lnSpc>
              <a:spcBef>
                <a:spcPts val="591"/>
              </a:spcBef>
              <a:buFont typeface="Calibri"/>
              <a:buChar char="–"/>
              <a:tabLst>
                <a:tab pos="609633" algn="l"/>
              </a:tabLst>
            </a:pPr>
            <a:r>
              <a:rPr lang="en-US" sz="2200" b="1" spc="-9" dirty="0">
                <a:latin typeface="Calibri"/>
                <a:cs typeface="Calibri"/>
              </a:rPr>
              <a:t>Parallel</a:t>
            </a:r>
            <a:r>
              <a:rPr lang="en-US" sz="2200" spc="-9" dirty="0">
                <a:latin typeface="Calibri"/>
                <a:cs typeface="Calibri"/>
              </a:rPr>
              <a:t>,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they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can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execute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simultaneously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pipeline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-35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arbitrary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depth without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causing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any</a:t>
            </a:r>
            <a:r>
              <a:rPr lang="en-US" sz="2200" spc="-53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stalls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(assuming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no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structural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hazards)</a:t>
            </a:r>
            <a:endParaRPr lang="en-US" sz="2200" dirty="0">
              <a:latin typeface="Calibri"/>
              <a:cs typeface="Calibri"/>
            </a:endParaRPr>
          </a:p>
          <a:p>
            <a:pPr marL="609633" marR="23534" lvl="1" indent="-199475" algn="just">
              <a:lnSpc>
                <a:spcPct val="110000"/>
              </a:lnSpc>
              <a:spcBef>
                <a:spcPts val="591"/>
              </a:spcBef>
              <a:buFont typeface="Calibri"/>
              <a:buChar char="–"/>
              <a:tabLst>
                <a:tab pos="609633" algn="l"/>
              </a:tabLst>
            </a:pPr>
            <a:r>
              <a:rPr lang="en-US" sz="2200" b="1" spc="-9" dirty="0">
                <a:latin typeface="Calibri"/>
                <a:cs typeface="Calibri"/>
              </a:rPr>
              <a:t>Dependent</a:t>
            </a:r>
            <a:r>
              <a:rPr lang="en-US" sz="2200" spc="-9" dirty="0">
                <a:latin typeface="Calibri"/>
                <a:cs typeface="Calibri"/>
              </a:rPr>
              <a:t>,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they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are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not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parallel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and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must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be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executed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in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order, although</a:t>
            </a:r>
            <a:r>
              <a:rPr lang="en-US" sz="2200" spc="-4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they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may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often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be</a:t>
            </a:r>
            <a:r>
              <a:rPr lang="en-US" sz="2200" spc="-40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partially</a:t>
            </a:r>
            <a:r>
              <a:rPr lang="en-US" sz="2200" spc="-44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overlapped</a:t>
            </a:r>
            <a:endParaRPr lang="en-US" sz="2200" dirty="0">
              <a:latin typeface="Calibri"/>
              <a:cs typeface="Calibri"/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91715167-E553-6463-4DC4-86E9EC30B8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Data</a:t>
            </a:r>
            <a:r>
              <a:rPr spc="-97" dirty="0"/>
              <a:t> </a:t>
            </a:r>
            <a:r>
              <a:rPr spc="-18" dirty="0"/>
              <a:t>Dependence</a:t>
            </a:r>
            <a:r>
              <a:rPr spc="-101" dirty="0"/>
              <a:t> </a:t>
            </a:r>
            <a:r>
              <a:rPr dirty="0"/>
              <a:t>and</a:t>
            </a:r>
            <a:r>
              <a:rPr spc="-93" dirty="0"/>
              <a:t> </a:t>
            </a:r>
            <a:r>
              <a:rPr spc="-9" dirty="0"/>
              <a:t>Hazards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374" y="1272950"/>
            <a:ext cx="7938052" cy="5259725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9361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93610" algn="l"/>
              </a:tabLst>
            </a:pPr>
            <a:r>
              <a:rPr sz="2400" spc="-9" dirty="0">
                <a:latin typeface="Calibri"/>
                <a:cs typeface="Calibri"/>
              </a:rPr>
              <a:t>Instr</a:t>
            </a:r>
            <a:r>
              <a:rPr sz="2400" spc="-13" baseline="-17361" dirty="0">
                <a:latin typeface="Calibri"/>
                <a:cs typeface="Calibri"/>
              </a:rPr>
              <a:t>J</a:t>
            </a:r>
            <a:r>
              <a:rPr sz="2400" spc="-53" baseline="-1736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400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FF0000"/>
                </a:solidFill>
                <a:latin typeface="Calibri"/>
                <a:cs typeface="Calibri"/>
              </a:rPr>
              <a:t>dependent</a:t>
            </a:r>
            <a:r>
              <a:rPr sz="2400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(aka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true</a:t>
            </a:r>
            <a:r>
              <a:rPr sz="2400" i="1" spc="-53" dirty="0">
                <a:latin typeface="Calibri"/>
                <a:cs typeface="Calibri"/>
              </a:rPr>
              <a:t> </a:t>
            </a:r>
            <a:r>
              <a:rPr sz="2400" i="1" spc="-18" dirty="0">
                <a:latin typeface="Calibri"/>
                <a:cs typeface="Calibri"/>
              </a:rPr>
              <a:t>dependence</a:t>
            </a:r>
            <a:r>
              <a:rPr sz="2400" spc="-18" dirty="0">
                <a:latin typeface="Calibri"/>
                <a:cs typeface="Calibri"/>
              </a:rPr>
              <a:t>)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</a:t>
            </a:r>
            <a:r>
              <a:rPr sz="2400" spc="-13" baseline="-17361" dirty="0">
                <a:latin typeface="Calibri"/>
                <a:cs typeface="Calibri"/>
              </a:rPr>
              <a:t>I</a:t>
            </a:r>
            <a:r>
              <a:rPr sz="2400" spc="-9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Instr</a:t>
            </a:r>
            <a:r>
              <a:rPr sz="2200" baseline="-13888" dirty="0">
                <a:latin typeface="Calibri"/>
                <a:cs typeface="Calibri"/>
              </a:rPr>
              <a:t>J</a:t>
            </a:r>
            <a:r>
              <a:rPr sz="2200" spc="92" baseline="-138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tries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operand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</a:t>
            </a:r>
            <a:r>
              <a:rPr sz="2200" baseline="-13888" dirty="0">
                <a:latin typeface="Calibri"/>
                <a:cs typeface="Calibri"/>
              </a:rPr>
              <a:t>I</a:t>
            </a:r>
            <a:r>
              <a:rPr sz="2200" spc="86" baseline="-138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writes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it</a:t>
            </a:r>
            <a:endParaRPr sz="2200" dirty="0">
              <a:latin typeface="Calibri"/>
              <a:cs typeface="Calibri"/>
            </a:endParaRPr>
          </a:p>
          <a:p>
            <a:pPr marL="2299570" marR="2452538" algn="ctr">
              <a:lnSpc>
                <a:spcPct val="110000"/>
              </a:lnSpc>
              <a:spcBef>
                <a:spcPts val="940"/>
              </a:spcBef>
            </a:pPr>
            <a:r>
              <a:rPr sz="2000" b="1" dirty="0">
                <a:latin typeface="Consolas"/>
                <a:cs typeface="Consolas"/>
              </a:rPr>
              <a:t>I:</a:t>
            </a:r>
            <a:r>
              <a:rPr sz="2000" b="1" spc="-66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add</a:t>
            </a:r>
            <a:r>
              <a:rPr sz="2000" b="1" spc="-66" dirty="0">
                <a:latin typeface="Consolas"/>
                <a:cs typeface="Consolas"/>
              </a:rPr>
              <a:t> </a:t>
            </a:r>
            <a:r>
              <a:rPr sz="2000" b="1" spc="-9" dirty="0">
                <a:solidFill>
                  <a:srgbClr val="FC0128"/>
                </a:solidFill>
                <a:latin typeface="Consolas"/>
                <a:cs typeface="Consolas"/>
              </a:rPr>
              <a:t>r1</a:t>
            </a:r>
            <a:r>
              <a:rPr sz="2000" b="1" spc="-9" dirty="0">
                <a:latin typeface="Consolas"/>
                <a:cs typeface="Consolas"/>
              </a:rPr>
              <a:t>,r2,r3 </a:t>
            </a:r>
            <a:br>
              <a:rPr lang="en-US" sz="2000" b="1" spc="-9" dirty="0">
                <a:latin typeface="Consolas"/>
                <a:cs typeface="Consolas"/>
              </a:rPr>
            </a:br>
            <a:r>
              <a:rPr sz="2000" b="1" dirty="0">
                <a:latin typeface="Consolas"/>
                <a:cs typeface="Consolas"/>
              </a:rPr>
              <a:t>J:</a:t>
            </a:r>
            <a:r>
              <a:rPr sz="2000" b="1" spc="-66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sub</a:t>
            </a:r>
            <a:r>
              <a:rPr sz="2000" b="1" spc="-66" dirty="0">
                <a:latin typeface="Consolas"/>
                <a:cs typeface="Consolas"/>
              </a:rPr>
              <a:t> </a:t>
            </a:r>
            <a:r>
              <a:rPr sz="2000" b="1" spc="-9" dirty="0">
                <a:latin typeface="Consolas"/>
                <a:cs typeface="Consolas"/>
              </a:rPr>
              <a:t>r4,</a:t>
            </a:r>
            <a:r>
              <a:rPr sz="2000" b="1" spc="-9" dirty="0">
                <a:solidFill>
                  <a:srgbClr val="FC0128"/>
                </a:solidFill>
                <a:latin typeface="Consolas"/>
                <a:cs typeface="Consolas"/>
              </a:rPr>
              <a:t>r1</a:t>
            </a:r>
            <a:r>
              <a:rPr sz="2000" b="1" spc="-9" dirty="0">
                <a:latin typeface="Consolas"/>
                <a:cs typeface="Consolas"/>
              </a:rPr>
              <a:t>,r3</a:t>
            </a:r>
            <a:endParaRPr sz="2000" dirty="0">
              <a:latin typeface="Consolas"/>
              <a:cs typeface="Consolas"/>
            </a:endParaRPr>
          </a:p>
          <a:p>
            <a:pPr marL="643252" lvl="1" indent="-200036">
              <a:lnSpc>
                <a:spcPct val="110000"/>
              </a:lnSpc>
              <a:spcBef>
                <a:spcPts val="507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or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</a:t>
            </a:r>
            <a:r>
              <a:rPr sz="2200" baseline="-13888" dirty="0">
                <a:latin typeface="Calibri"/>
                <a:cs typeface="Calibri"/>
              </a:rPr>
              <a:t>J</a:t>
            </a:r>
            <a:r>
              <a:rPr sz="2200" spc="119" baseline="-138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dependent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</a:t>
            </a:r>
            <a:r>
              <a:rPr sz="2200" baseline="-13888" dirty="0">
                <a:latin typeface="Calibri"/>
                <a:cs typeface="Calibri"/>
              </a:rPr>
              <a:t>K</a:t>
            </a:r>
            <a:r>
              <a:rPr sz="2200" spc="106" baseline="-1388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dependent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</a:t>
            </a:r>
            <a:r>
              <a:rPr sz="2200" spc="-13" baseline="-13888" dirty="0">
                <a:latin typeface="Calibri"/>
                <a:cs typeface="Calibri"/>
              </a:rPr>
              <a:t>I</a:t>
            </a:r>
            <a:endParaRPr sz="2200" baseline="-13888" dirty="0">
              <a:latin typeface="Calibri"/>
              <a:cs typeface="Calibri"/>
            </a:endParaRPr>
          </a:p>
          <a:p>
            <a:pPr marL="294170" marR="569289" indent="-249344">
              <a:lnSpc>
                <a:spcPct val="110000"/>
              </a:lnSpc>
              <a:spcBef>
                <a:spcPts val="693"/>
              </a:spcBef>
              <a:buChar char="•"/>
              <a:tabLst>
                <a:tab pos="29417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dependent,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cannot execute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simultaneously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completely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overlapped</a:t>
            </a:r>
            <a:endParaRPr sz="2400" dirty="0">
              <a:latin typeface="Calibri"/>
              <a:cs typeface="Calibri"/>
            </a:endParaRPr>
          </a:p>
          <a:p>
            <a:pPr marL="293610" indent="-248784">
              <a:lnSpc>
                <a:spcPct val="110000"/>
              </a:lnSpc>
              <a:spcBef>
                <a:spcPts val="432"/>
              </a:spcBef>
              <a:buChar char="•"/>
              <a:tabLst>
                <a:tab pos="29361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dependence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sequence</a:t>
            </a:r>
            <a:endParaRPr sz="2400" dirty="0">
              <a:latin typeface="Calibri"/>
              <a:cs typeface="Calibri"/>
            </a:endParaRPr>
          </a:p>
          <a:p>
            <a:pPr marL="412959">
              <a:lnSpc>
                <a:spcPct val="110000"/>
              </a:lnSpc>
            </a:pPr>
            <a:r>
              <a:rPr sz="2118" dirty="0">
                <a:latin typeface="Symbol"/>
                <a:cs typeface="Symbol"/>
              </a:rPr>
              <a:t></a:t>
            </a:r>
            <a:r>
              <a:rPr sz="2118" spc="-128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dependence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source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code</a:t>
            </a:r>
            <a:endParaRPr sz="2200" dirty="0">
              <a:latin typeface="Calibri"/>
              <a:cs typeface="Calibri"/>
            </a:endParaRPr>
          </a:p>
          <a:p>
            <a:pPr marL="412959">
              <a:lnSpc>
                <a:spcPct val="110000"/>
              </a:lnSpc>
              <a:spcAft>
                <a:spcPts val="1800"/>
              </a:spcAft>
            </a:pPr>
            <a:r>
              <a:rPr sz="2200" dirty="0">
                <a:latin typeface="Symbol"/>
                <a:cs typeface="Symbol"/>
              </a:rPr>
              <a:t></a:t>
            </a:r>
            <a:r>
              <a:rPr sz="2200" spc="-132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effect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original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dependence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must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preserved</a:t>
            </a:r>
            <a:endParaRPr sz="2118" dirty="0">
              <a:latin typeface="Calibri"/>
              <a:cs typeface="Calibri"/>
            </a:endParaRPr>
          </a:p>
          <a:p>
            <a:pPr marL="294170" marR="625882" indent="-249344">
              <a:lnSpc>
                <a:spcPct val="110000"/>
              </a:lnSpc>
              <a:spcBef>
                <a:spcPts val="4"/>
              </a:spcBef>
              <a:buChar char="•"/>
              <a:tabLst>
                <a:tab pos="29417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true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dependence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caused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pipeline,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Read</a:t>
            </a:r>
            <a:r>
              <a:rPr sz="2400" spc="-88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After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Write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(RAW)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114FFB"/>
                </a:solidFill>
                <a:latin typeface="Calibri"/>
                <a:cs typeface="Calibri"/>
              </a:rPr>
              <a:t>hazard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1" y="2420993"/>
            <a:ext cx="501530" cy="428224"/>
          </a:xfrm>
          <a:custGeom>
            <a:avLst/>
            <a:gdLst/>
            <a:ahLst/>
            <a:cxnLst/>
            <a:rect l="l" t="t" r="r" b="b"/>
            <a:pathLst>
              <a:path w="477520" h="394335">
                <a:moveTo>
                  <a:pt x="392054" y="309192"/>
                </a:moveTo>
                <a:lnTo>
                  <a:pt x="392995" y="393960"/>
                </a:lnTo>
                <a:lnTo>
                  <a:pt x="448274" y="365549"/>
                </a:lnTo>
                <a:lnTo>
                  <a:pt x="406599" y="365549"/>
                </a:lnTo>
                <a:lnTo>
                  <a:pt x="406706" y="337291"/>
                </a:lnTo>
                <a:lnTo>
                  <a:pt x="449846" y="337291"/>
                </a:lnTo>
                <a:lnTo>
                  <a:pt x="392054" y="309192"/>
                </a:lnTo>
                <a:close/>
              </a:path>
              <a:path w="477520" h="394335">
                <a:moveTo>
                  <a:pt x="421627" y="0"/>
                </a:moveTo>
                <a:lnTo>
                  <a:pt x="379341" y="896"/>
                </a:lnTo>
                <a:lnTo>
                  <a:pt x="338250" y="3510"/>
                </a:lnTo>
                <a:lnTo>
                  <a:pt x="298551" y="7755"/>
                </a:lnTo>
                <a:lnTo>
                  <a:pt x="260441" y="13553"/>
                </a:lnTo>
                <a:lnTo>
                  <a:pt x="189760" y="29498"/>
                </a:lnTo>
                <a:lnTo>
                  <a:pt x="127732" y="50779"/>
                </a:lnTo>
                <a:lnTo>
                  <a:pt x="75840" y="76981"/>
                </a:lnTo>
                <a:lnTo>
                  <a:pt x="35617" y="108013"/>
                </a:lnTo>
                <a:lnTo>
                  <a:pt x="9939" y="142457"/>
                </a:lnTo>
                <a:lnTo>
                  <a:pt x="0" y="182585"/>
                </a:lnTo>
                <a:lnTo>
                  <a:pt x="0" y="183732"/>
                </a:lnTo>
                <a:lnTo>
                  <a:pt x="9518" y="223003"/>
                </a:lnTo>
                <a:lnTo>
                  <a:pt x="36992" y="259665"/>
                </a:lnTo>
                <a:lnTo>
                  <a:pt x="76954" y="290026"/>
                </a:lnTo>
                <a:lnTo>
                  <a:pt x="128615" y="315907"/>
                </a:lnTo>
                <a:lnTo>
                  <a:pt x="190493" y="337026"/>
                </a:lnTo>
                <a:lnTo>
                  <a:pt x="261087" y="352878"/>
                </a:lnTo>
                <a:lnTo>
                  <a:pt x="299172" y="358642"/>
                </a:lnTo>
                <a:lnTo>
                  <a:pt x="338855" y="362859"/>
                </a:lnTo>
                <a:lnTo>
                  <a:pt x="381780" y="365549"/>
                </a:lnTo>
                <a:lnTo>
                  <a:pt x="392679" y="365549"/>
                </a:lnTo>
                <a:lnTo>
                  <a:pt x="392603" y="358642"/>
                </a:lnTo>
                <a:lnTo>
                  <a:pt x="392514" y="350635"/>
                </a:lnTo>
                <a:lnTo>
                  <a:pt x="392458" y="345647"/>
                </a:lnTo>
                <a:lnTo>
                  <a:pt x="392366" y="337291"/>
                </a:lnTo>
                <a:lnTo>
                  <a:pt x="381857" y="337291"/>
                </a:lnTo>
                <a:lnTo>
                  <a:pt x="340639" y="334657"/>
                </a:lnTo>
                <a:lnTo>
                  <a:pt x="302168" y="330544"/>
                </a:lnTo>
                <a:lnTo>
                  <a:pt x="230331" y="317936"/>
                </a:lnTo>
                <a:lnTo>
                  <a:pt x="166735" y="300099"/>
                </a:lnTo>
                <a:lnTo>
                  <a:pt x="113141" y="277827"/>
                </a:lnTo>
                <a:lnTo>
                  <a:pt x="71342" y="252061"/>
                </a:lnTo>
                <a:lnTo>
                  <a:pt x="44744" y="225978"/>
                </a:lnTo>
                <a:lnTo>
                  <a:pt x="44503" y="225978"/>
                </a:lnTo>
                <a:lnTo>
                  <a:pt x="43905" y="225015"/>
                </a:lnTo>
                <a:lnTo>
                  <a:pt x="43087" y="224074"/>
                </a:lnTo>
                <a:lnTo>
                  <a:pt x="43322" y="224074"/>
                </a:lnTo>
                <a:lnTo>
                  <a:pt x="36047" y="212345"/>
                </a:lnTo>
                <a:lnTo>
                  <a:pt x="35707" y="212345"/>
                </a:lnTo>
                <a:lnTo>
                  <a:pt x="34455" y="209778"/>
                </a:lnTo>
                <a:lnTo>
                  <a:pt x="34762" y="209778"/>
                </a:lnTo>
                <a:lnTo>
                  <a:pt x="30695" y="198733"/>
                </a:lnTo>
                <a:lnTo>
                  <a:pt x="30294" y="198733"/>
                </a:lnTo>
                <a:lnTo>
                  <a:pt x="29527" y="195560"/>
                </a:lnTo>
                <a:lnTo>
                  <a:pt x="29908" y="195560"/>
                </a:lnTo>
                <a:lnTo>
                  <a:pt x="28605" y="184867"/>
                </a:lnTo>
                <a:lnTo>
                  <a:pt x="28188" y="184867"/>
                </a:lnTo>
                <a:lnTo>
                  <a:pt x="28188" y="181449"/>
                </a:lnTo>
                <a:lnTo>
                  <a:pt x="28605" y="181449"/>
                </a:lnTo>
                <a:lnTo>
                  <a:pt x="29908" y="170757"/>
                </a:lnTo>
                <a:lnTo>
                  <a:pt x="29527" y="170757"/>
                </a:lnTo>
                <a:lnTo>
                  <a:pt x="30294" y="167585"/>
                </a:lnTo>
                <a:lnTo>
                  <a:pt x="30695" y="167585"/>
                </a:lnTo>
                <a:lnTo>
                  <a:pt x="34762" y="156541"/>
                </a:lnTo>
                <a:lnTo>
                  <a:pt x="34455" y="156541"/>
                </a:lnTo>
                <a:lnTo>
                  <a:pt x="35707" y="153974"/>
                </a:lnTo>
                <a:lnTo>
                  <a:pt x="36047" y="153974"/>
                </a:lnTo>
                <a:lnTo>
                  <a:pt x="43321" y="142246"/>
                </a:lnTo>
                <a:lnTo>
                  <a:pt x="43087" y="142246"/>
                </a:lnTo>
                <a:lnTo>
                  <a:pt x="43875" y="141353"/>
                </a:lnTo>
                <a:lnTo>
                  <a:pt x="44503" y="140341"/>
                </a:lnTo>
                <a:lnTo>
                  <a:pt x="44769" y="140341"/>
                </a:lnTo>
                <a:lnTo>
                  <a:pt x="56799" y="126715"/>
                </a:lnTo>
                <a:lnTo>
                  <a:pt x="91767" y="100322"/>
                </a:lnTo>
                <a:lnTo>
                  <a:pt x="139459" y="76489"/>
                </a:lnTo>
                <a:lnTo>
                  <a:pt x="198127" y="56489"/>
                </a:lnTo>
                <a:lnTo>
                  <a:pt x="265974" y="41263"/>
                </a:lnTo>
                <a:lnTo>
                  <a:pt x="341245" y="31609"/>
                </a:lnTo>
                <a:lnTo>
                  <a:pt x="381125" y="29098"/>
                </a:lnTo>
                <a:lnTo>
                  <a:pt x="422219" y="28251"/>
                </a:lnTo>
                <a:lnTo>
                  <a:pt x="460602" y="28251"/>
                </a:lnTo>
                <a:lnTo>
                  <a:pt x="460895" y="13553"/>
                </a:lnTo>
                <a:lnTo>
                  <a:pt x="461010" y="7755"/>
                </a:lnTo>
                <a:lnTo>
                  <a:pt x="461095" y="3510"/>
                </a:lnTo>
                <a:lnTo>
                  <a:pt x="461147" y="896"/>
                </a:lnTo>
                <a:lnTo>
                  <a:pt x="467444" y="896"/>
                </a:lnTo>
                <a:lnTo>
                  <a:pt x="421627" y="0"/>
                </a:lnTo>
                <a:close/>
              </a:path>
              <a:path w="477520" h="394335">
                <a:moveTo>
                  <a:pt x="449846" y="337291"/>
                </a:moveTo>
                <a:lnTo>
                  <a:pt x="406706" y="337291"/>
                </a:lnTo>
                <a:lnTo>
                  <a:pt x="406599" y="365549"/>
                </a:lnTo>
                <a:lnTo>
                  <a:pt x="448274" y="365549"/>
                </a:lnTo>
                <a:lnTo>
                  <a:pt x="477291" y="350635"/>
                </a:lnTo>
                <a:lnTo>
                  <a:pt x="449846" y="337291"/>
                </a:lnTo>
                <a:close/>
              </a:path>
              <a:path w="477520" h="394335">
                <a:moveTo>
                  <a:pt x="43905" y="225015"/>
                </a:moveTo>
                <a:lnTo>
                  <a:pt x="44503" y="225978"/>
                </a:lnTo>
                <a:lnTo>
                  <a:pt x="44744" y="225978"/>
                </a:lnTo>
                <a:lnTo>
                  <a:pt x="43905" y="225015"/>
                </a:lnTo>
                <a:close/>
              </a:path>
              <a:path w="477520" h="394335">
                <a:moveTo>
                  <a:pt x="43322" y="224074"/>
                </a:moveTo>
                <a:lnTo>
                  <a:pt x="43087" y="224074"/>
                </a:lnTo>
                <a:lnTo>
                  <a:pt x="43905" y="225015"/>
                </a:lnTo>
                <a:lnTo>
                  <a:pt x="43322" y="224074"/>
                </a:lnTo>
                <a:close/>
              </a:path>
              <a:path w="477520" h="394335">
                <a:moveTo>
                  <a:pt x="34455" y="209778"/>
                </a:moveTo>
                <a:lnTo>
                  <a:pt x="35707" y="212345"/>
                </a:lnTo>
                <a:lnTo>
                  <a:pt x="35211" y="210997"/>
                </a:lnTo>
                <a:lnTo>
                  <a:pt x="34455" y="209778"/>
                </a:lnTo>
                <a:close/>
              </a:path>
              <a:path w="477520" h="394335">
                <a:moveTo>
                  <a:pt x="35211" y="210997"/>
                </a:moveTo>
                <a:lnTo>
                  <a:pt x="35707" y="212345"/>
                </a:lnTo>
                <a:lnTo>
                  <a:pt x="36047" y="212345"/>
                </a:lnTo>
                <a:lnTo>
                  <a:pt x="35211" y="210997"/>
                </a:lnTo>
                <a:close/>
              </a:path>
              <a:path w="477520" h="394335">
                <a:moveTo>
                  <a:pt x="34762" y="209778"/>
                </a:moveTo>
                <a:lnTo>
                  <a:pt x="34455" y="209778"/>
                </a:lnTo>
                <a:lnTo>
                  <a:pt x="35211" y="210997"/>
                </a:lnTo>
                <a:lnTo>
                  <a:pt x="34762" y="209778"/>
                </a:lnTo>
                <a:close/>
              </a:path>
              <a:path w="477520" h="394335">
                <a:moveTo>
                  <a:pt x="29527" y="195560"/>
                </a:moveTo>
                <a:lnTo>
                  <a:pt x="30294" y="198733"/>
                </a:lnTo>
                <a:lnTo>
                  <a:pt x="30096" y="197105"/>
                </a:lnTo>
                <a:lnTo>
                  <a:pt x="29527" y="195560"/>
                </a:lnTo>
                <a:close/>
              </a:path>
              <a:path w="477520" h="394335">
                <a:moveTo>
                  <a:pt x="30096" y="197105"/>
                </a:moveTo>
                <a:lnTo>
                  <a:pt x="30294" y="198733"/>
                </a:lnTo>
                <a:lnTo>
                  <a:pt x="30695" y="198733"/>
                </a:lnTo>
                <a:lnTo>
                  <a:pt x="30096" y="197105"/>
                </a:lnTo>
                <a:close/>
              </a:path>
              <a:path w="477520" h="394335">
                <a:moveTo>
                  <a:pt x="29908" y="195560"/>
                </a:moveTo>
                <a:lnTo>
                  <a:pt x="29527" y="195560"/>
                </a:lnTo>
                <a:lnTo>
                  <a:pt x="30096" y="197105"/>
                </a:lnTo>
                <a:lnTo>
                  <a:pt x="29908" y="195560"/>
                </a:lnTo>
                <a:close/>
              </a:path>
              <a:path w="477520" h="394335">
                <a:moveTo>
                  <a:pt x="28188" y="181449"/>
                </a:moveTo>
                <a:lnTo>
                  <a:pt x="28188" y="184867"/>
                </a:lnTo>
                <a:lnTo>
                  <a:pt x="28327" y="183732"/>
                </a:lnTo>
                <a:lnTo>
                  <a:pt x="28327" y="182585"/>
                </a:lnTo>
                <a:lnTo>
                  <a:pt x="28188" y="181449"/>
                </a:lnTo>
                <a:close/>
              </a:path>
              <a:path w="477520" h="394335">
                <a:moveTo>
                  <a:pt x="28397" y="183158"/>
                </a:moveTo>
                <a:lnTo>
                  <a:pt x="28188" y="184867"/>
                </a:lnTo>
                <a:lnTo>
                  <a:pt x="28605" y="184867"/>
                </a:lnTo>
                <a:lnTo>
                  <a:pt x="28466" y="183732"/>
                </a:lnTo>
                <a:lnTo>
                  <a:pt x="28397" y="183158"/>
                </a:lnTo>
                <a:close/>
              </a:path>
              <a:path w="477520" h="394335">
                <a:moveTo>
                  <a:pt x="28605" y="181449"/>
                </a:moveTo>
                <a:lnTo>
                  <a:pt x="28188" y="181449"/>
                </a:lnTo>
                <a:lnTo>
                  <a:pt x="28327" y="182585"/>
                </a:lnTo>
                <a:lnTo>
                  <a:pt x="28397" y="183158"/>
                </a:lnTo>
                <a:lnTo>
                  <a:pt x="28605" y="181449"/>
                </a:lnTo>
                <a:close/>
              </a:path>
              <a:path w="477520" h="394335">
                <a:moveTo>
                  <a:pt x="30294" y="167585"/>
                </a:moveTo>
                <a:lnTo>
                  <a:pt x="29527" y="170757"/>
                </a:lnTo>
                <a:lnTo>
                  <a:pt x="30096" y="169213"/>
                </a:lnTo>
                <a:lnTo>
                  <a:pt x="30294" y="167585"/>
                </a:lnTo>
                <a:close/>
              </a:path>
              <a:path w="477520" h="394335">
                <a:moveTo>
                  <a:pt x="30096" y="169213"/>
                </a:moveTo>
                <a:lnTo>
                  <a:pt x="29527" y="170757"/>
                </a:lnTo>
                <a:lnTo>
                  <a:pt x="29908" y="170757"/>
                </a:lnTo>
                <a:lnTo>
                  <a:pt x="30096" y="169213"/>
                </a:lnTo>
                <a:close/>
              </a:path>
              <a:path w="477520" h="394335">
                <a:moveTo>
                  <a:pt x="30695" y="167585"/>
                </a:moveTo>
                <a:lnTo>
                  <a:pt x="30294" y="167585"/>
                </a:lnTo>
                <a:lnTo>
                  <a:pt x="30096" y="169213"/>
                </a:lnTo>
                <a:lnTo>
                  <a:pt x="30695" y="167585"/>
                </a:lnTo>
                <a:close/>
              </a:path>
              <a:path w="477520" h="394335">
                <a:moveTo>
                  <a:pt x="35707" y="153974"/>
                </a:moveTo>
                <a:lnTo>
                  <a:pt x="34455" y="156541"/>
                </a:lnTo>
                <a:lnTo>
                  <a:pt x="35210" y="155322"/>
                </a:lnTo>
                <a:lnTo>
                  <a:pt x="35707" y="153974"/>
                </a:lnTo>
                <a:close/>
              </a:path>
              <a:path w="477520" h="394335">
                <a:moveTo>
                  <a:pt x="35210" y="155322"/>
                </a:moveTo>
                <a:lnTo>
                  <a:pt x="34455" y="156541"/>
                </a:lnTo>
                <a:lnTo>
                  <a:pt x="34762" y="156541"/>
                </a:lnTo>
                <a:lnTo>
                  <a:pt x="35210" y="155322"/>
                </a:lnTo>
                <a:close/>
              </a:path>
              <a:path w="477520" h="394335">
                <a:moveTo>
                  <a:pt x="36047" y="153974"/>
                </a:moveTo>
                <a:lnTo>
                  <a:pt x="35707" y="153974"/>
                </a:lnTo>
                <a:lnTo>
                  <a:pt x="35210" y="155322"/>
                </a:lnTo>
                <a:lnTo>
                  <a:pt x="36047" y="153974"/>
                </a:lnTo>
                <a:close/>
              </a:path>
              <a:path w="477520" h="394335">
                <a:moveTo>
                  <a:pt x="43875" y="141353"/>
                </a:moveTo>
                <a:lnTo>
                  <a:pt x="43087" y="142246"/>
                </a:lnTo>
                <a:lnTo>
                  <a:pt x="43321" y="142246"/>
                </a:lnTo>
                <a:lnTo>
                  <a:pt x="43875" y="141353"/>
                </a:lnTo>
                <a:close/>
              </a:path>
              <a:path w="477520" h="394335">
                <a:moveTo>
                  <a:pt x="44769" y="140341"/>
                </a:moveTo>
                <a:lnTo>
                  <a:pt x="44503" y="140341"/>
                </a:lnTo>
                <a:lnTo>
                  <a:pt x="43875" y="141353"/>
                </a:lnTo>
                <a:lnTo>
                  <a:pt x="44769" y="140341"/>
                </a:lnTo>
                <a:close/>
              </a:path>
              <a:path w="477520" h="394335">
                <a:moveTo>
                  <a:pt x="460602" y="28251"/>
                </a:moveTo>
                <a:lnTo>
                  <a:pt x="422219" y="28251"/>
                </a:lnTo>
                <a:lnTo>
                  <a:pt x="464172" y="29098"/>
                </a:lnTo>
                <a:lnTo>
                  <a:pt x="460585" y="29098"/>
                </a:lnTo>
                <a:lnTo>
                  <a:pt x="460602" y="28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8BC5DB84-7D18-7E50-3AB0-FD229523FF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1"/>
            <a:ext cx="606854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ILP</a:t>
            </a:r>
            <a:r>
              <a:rPr spc="-93" dirty="0"/>
              <a:t> </a:t>
            </a:r>
            <a:r>
              <a:rPr dirty="0"/>
              <a:t>and</a:t>
            </a:r>
            <a:r>
              <a:rPr spc="-79" dirty="0"/>
              <a:t> </a:t>
            </a:r>
            <a:r>
              <a:rPr dirty="0"/>
              <a:t>Data</a:t>
            </a:r>
            <a:r>
              <a:rPr spc="-79" dirty="0"/>
              <a:t> </a:t>
            </a:r>
            <a:r>
              <a:rPr spc="-18" dirty="0"/>
              <a:t>Dependencies,</a:t>
            </a:r>
            <a:r>
              <a:rPr spc="-79" dirty="0"/>
              <a:t> </a:t>
            </a:r>
            <a:r>
              <a:rPr spc="-9" dirty="0"/>
              <a:t>Hazards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2091" y="1186657"/>
            <a:ext cx="7410274" cy="5491066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354106" indent="-342900" algn="just">
              <a:lnSpc>
                <a:spcPct val="110000"/>
              </a:lnSpc>
              <a:spcBef>
                <a:spcPts val="710"/>
              </a:spcBef>
              <a:buSzPct val="110000"/>
              <a:buFont typeface="Arial" panose="020B0604020202020204" pitchFamily="34" charset="0"/>
              <a:buChar char="•"/>
            </a:pPr>
            <a:r>
              <a:rPr lang="en-US" sz="2200" spc="-9" dirty="0">
                <a:cs typeface="Calibri"/>
              </a:rPr>
              <a:t>HW/SW</a:t>
            </a:r>
            <a:r>
              <a:rPr lang="en-US" sz="2200" spc="-88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must</a:t>
            </a:r>
            <a:r>
              <a:rPr lang="en-US" sz="2200" spc="-8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preserve</a:t>
            </a:r>
            <a:r>
              <a:rPr lang="en-US" sz="2200" spc="-75" dirty="0">
                <a:cs typeface="Calibri"/>
              </a:rPr>
              <a:t> </a:t>
            </a:r>
            <a:r>
              <a:rPr lang="en-US" sz="2200" b="1" dirty="0">
                <a:highlight>
                  <a:srgbClr val="FFFF00"/>
                </a:highlight>
                <a:cs typeface="Calibri"/>
              </a:rPr>
              <a:t>the</a:t>
            </a:r>
            <a:r>
              <a:rPr lang="en-US" sz="2200" b="1" spc="-75" dirty="0">
                <a:highlight>
                  <a:srgbClr val="FFFF00"/>
                </a:highlight>
                <a:cs typeface="Calibri"/>
              </a:rPr>
              <a:t> </a:t>
            </a:r>
            <a:r>
              <a:rPr lang="en-US" sz="2200" b="1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illusion</a:t>
            </a:r>
            <a:r>
              <a:rPr lang="en-US" sz="2200" b="1" spc="-84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 </a:t>
            </a:r>
            <a:r>
              <a:rPr lang="en-US" sz="2200" b="1" dirty="0">
                <a:highlight>
                  <a:srgbClr val="FFFF00"/>
                </a:highlight>
                <a:cs typeface="Calibri"/>
              </a:rPr>
              <a:t>of</a:t>
            </a:r>
            <a:r>
              <a:rPr lang="en-US" sz="2200" b="1" spc="-75" dirty="0">
                <a:highlight>
                  <a:srgbClr val="FFFF00"/>
                </a:highlight>
                <a:cs typeface="Calibri"/>
              </a:rPr>
              <a:t> </a:t>
            </a:r>
            <a:r>
              <a:rPr lang="en-US" sz="2200" b="1" spc="-9" dirty="0">
                <a:highlight>
                  <a:srgbClr val="FFFF00"/>
                </a:highlight>
                <a:cs typeface="Calibri"/>
              </a:rPr>
              <a:t>program</a:t>
            </a:r>
            <a:r>
              <a:rPr lang="en-US" sz="2200" b="1" spc="-88" dirty="0">
                <a:highlight>
                  <a:srgbClr val="FFFF00"/>
                </a:highlight>
                <a:cs typeface="Calibri"/>
              </a:rPr>
              <a:t> </a:t>
            </a:r>
            <a:r>
              <a:rPr lang="en-US" sz="2200" b="1" spc="-9" dirty="0">
                <a:highlight>
                  <a:srgbClr val="FFFF00"/>
                </a:highlight>
                <a:cs typeface="Calibri"/>
              </a:rPr>
              <a:t>order:</a:t>
            </a:r>
            <a:r>
              <a:rPr lang="en-US" sz="2200" b="1" spc="-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order</a:t>
            </a:r>
            <a:r>
              <a:rPr lang="en-US" sz="2200" spc="-8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instructions</a:t>
            </a:r>
            <a:r>
              <a:rPr lang="en-US" sz="2200" spc="-8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would</a:t>
            </a:r>
            <a:r>
              <a:rPr lang="en-US" sz="2200" spc="-8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execute</a:t>
            </a:r>
            <a:r>
              <a:rPr lang="en-US" sz="2200" spc="-8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in,</a:t>
            </a:r>
            <a:r>
              <a:rPr lang="en-US" sz="2200" spc="-7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when</a:t>
            </a:r>
            <a:r>
              <a:rPr lang="en-US" sz="2200" spc="-8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executed</a:t>
            </a:r>
            <a:r>
              <a:rPr lang="en-US" sz="2200" dirty="0">
                <a:cs typeface="Calibri"/>
              </a:rPr>
              <a:t> </a:t>
            </a:r>
            <a:r>
              <a:rPr lang="en-US" sz="2200" spc="-18" dirty="0">
                <a:cs typeface="Calibri"/>
              </a:rPr>
              <a:t>sequentially</a:t>
            </a:r>
            <a:r>
              <a:rPr lang="en-US" sz="2200" spc="-57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as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spc="-18" dirty="0">
                <a:cs typeface="Calibri"/>
              </a:rPr>
              <a:t>determined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by</a:t>
            </a:r>
            <a:r>
              <a:rPr lang="en-US" sz="2200" spc="-53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original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source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program</a:t>
            </a:r>
            <a:endParaRPr lang="en-US" sz="2200" dirty="0">
              <a:cs typeface="Calibri"/>
            </a:endParaRPr>
          </a:p>
          <a:p>
            <a:pPr marL="811306" lvl="1" indent="-342900" algn="just">
              <a:lnSpc>
                <a:spcPct val="110000"/>
              </a:lnSpc>
              <a:spcBef>
                <a:spcPts val="710"/>
              </a:spcBef>
              <a:spcAft>
                <a:spcPts val="600"/>
              </a:spcAft>
              <a:buSzPct val="110000"/>
              <a:buFont typeface="Calibri" panose="020F0502020204030204" pitchFamily="34" charset="0"/>
              <a:buChar char="‒"/>
            </a:pPr>
            <a:r>
              <a:rPr lang="en-US" sz="2000" spc="-9" dirty="0">
                <a:cs typeface="Calibri"/>
              </a:rPr>
              <a:t>Dependences</a:t>
            </a:r>
            <a:r>
              <a:rPr lang="en-US" sz="2000" spc="-26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are</a:t>
            </a:r>
            <a:r>
              <a:rPr lang="en-US" sz="2000" spc="-31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</a:t>
            </a:r>
            <a:r>
              <a:rPr lang="en-US" sz="2000" spc="-26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property</a:t>
            </a:r>
            <a:r>
              <a:rPr lang="en-US" sz="2000" spc="-31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of</a:t>
            </a:r>
            <a:r>
              <a:rPr lang="en-US" sz="2000" spc="-26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programs</a:t>
            </a:r>
            <a:endParaRPr lang="en-US" sz="2000" spc="-9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4106" indent="-342900" algn="just">
              <a:lnSpc>
                <a:spcPct val="110000"/>
              </a:lnSpc>
              <a:spcBef>
                <a:spcPts val="710"/>
              </a:spcBef>
              <a:buSzPct val="110000"/>
              <a:buFont typeface="Arial" panose="020B0604020202020204" pitchFamily="34" charset="0"/>
              <a:buChar char="•"/>
            </a:pPr>
            <a:r>
              <a:rPr sz="2200" spc="-9" dirty="0">
                <a:solidFill>
                  <a:srgbClr val="FF0000"/>
                </a:solidFill>
                <a:latin typeface="Calibri"/>
                <a:cs typeface="Calibri"/>
              </a:rPr>
              <a:t>Presence</a:t>
            </a:r>
            <a:r>
              <a:rPr sz="2200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-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FF0000"/>
                </a:solidFill>
                <a:latin typeface="Calibri"/>
                <a:cs typeface="Calibri"/>
              </a:rPr>
              <a:t>dependence</a:t>
            </a:r>
            <a:r>
              <a:rPr sz="2200" spc="-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indicates</a:t>
            </a:r>
            <a:r>
              <a:rPr sz="22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potential</a:t>
            </a:r>
            <a:r>
              <a:rPr sz="2200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i="1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i="1" spc="-9" dirty="0">
                <a:solidFill>
                  <a:srgbClr val="FF0000"/>
                </a:solidFill>
                <a:latin typeface="Calibri"/>
                <a:cs typeface="Calibri"/>
              </a:rPr>
              <a:t>hazard</a:t>
            </a:r>
            <a:endParaRPr lang="en-US" sz="2200" i="1" spc="-9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811306" lvl="1" indent="-342900" algn="just">
              <a:lnSpc>
                <a:spcPct val="110000"/>
              </a:lnSpc>
              <a:spcAft>
                <a:spcPts val="1200"/>
              </a:spcAft>
              <a:buSzPct val="110000"/>
              <a:buFont typeface="Calibri" panose="020F0502020204030204" pitchFamily="34" charset="0"/>
              <a:buChar char="‒"/>
            </a:pPr>
            <a:r>
              <a:rPr lang="en-US" sz="2000" dirty="0">
                <a:latin typeface="Calibri"/>
                <a:cs typeface="Calibri"/>
              </a:rPr>
              <a:t>But </a:t>
            </a:r>
            <a:r>
              <a:rPr sz="2000" dirty="0">
                <a:latin typeface="Calibri"/>
                <a:cs typeface="Calibri"/>
              </a:rPr>
              <a:t>hazard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property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pipeline</a:t>
            </a:r>
            <a:endParaRPr lang="en-US" sz="2000" dirty="0">
              <a:latin typeface="Calibri"/>
              <a:cs typeface="Calibri"/>
            </a:endParaRPr>
          </a:p>
          <a:p>
            <a:pPr marL="354106" indent="-342900" algn="just">
              <a:lnSpc>
                <a:spcPct val="110000"/>
              </a:lnSpc>
              <a:spcBef>
                <a:spcPts val="710"/>
              </a:spcBef>
              <a:buSzPct val="110000"/>
              <a:buFont typeface="Arial" panose="020B0604020202020204" pitchFamily="34" charset="0"/>
              <a:buChar char="•"/>
            </a:pPr>
            <a:r>
              <a:rPr sz="2200" spc="-9" dirty="0">
                <a:latin typeface="Calibri"/>
                <a:cs typeface="Calibri"/>
              </a:rPr>
              <a:t>Importance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dependencies</a:t>
            </a:r>
            <a:endParaRPr sz="2200" dirty="0">
              <a:latin typeface="Calibri"/>
              <a:cs typeface="Calibri"/>
            </a:endParaRPr>
          </a:p>
          <a:p>
            <a:pPr marL="708810" lvl="1" indent="-299213" algn="just">
              <a:lnSpc>
                <a:spcPct val="110000"/>
              </a:lnSpc>
              <a:spcBef>
                <a:spcPts val="379"/>
              </a:spcBef>
              <a:buAutoNum type="arabicParenR"/>
              <a:tabLst>
                <a:tab pos="708810" algn="l"/>
              </a:tabLst>
            </a:pPr>
            <a:r>
              <a:rPr sz="2000" spc="-9" dirty="0">
                <a:latin typeface="Calibri"/>
                <a:cs typeface="Calibri"/>
              </a:rPr>
              <a:t>indicates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possibility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hazard</a:t>
            </a:r>
            <a:endParaRPr sz="2000" dirty="0">
              <a:latin typeface="Calibri"/>
              <a:cs typeface="Calibri"/>
            </a:endParaRPr>
          </a:p>
          <a:p>
            <a:pPr marL="708810" lvl="1" indent="-299213" algn="just">
              <a:lnSpc>
                <a:spcPct val="110000"/>
              </a:lnSpc>
              <a:spcBef>
                <a:spcPts val="379"/>
              </a:spcBef>
              <a:buAutoNum type="arabicParenR"/>
              <a:tabLst>
                <a:tab pos="708810" algn="l"/>
              </a:tabLst>
            </a:pPr>
            <a:r>
              <a:rPr sz="2000" spc="-9" dirty="0">
                <a:latin typeface="Calibri"/>
                <a:cs typeface="Calibri"/>
              </a:rPr>
              <a:t>determines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results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calculated</a:t>
            </a:r>
            <a:endParaRPr sz="2000" dirty="0">
              <a:latin typeface="Calibri"/>
              <a:cs typeface="Calibri"/>
            </a:endParaRPr>
          </a:p>
          <a:p>
            <a:pPr marL="708810" lvl="1" indent="-299213" algn="just">
              <a:lnSpc>
                <a:spcPct val="110000"/>
              </a:lnSpc>
              <a:spcBef>
                <a:spcPts val="300"/>
              </a:spcBef>
              <a:spcAft>
                <a:spcPts val="1200"/>
              </a:spcAft>
              <a:buAutoNum type="arabicParenR"/>
              <a:tabLst>
                <a:tab pos="708810" algn="l"/>
              </a:tabLst>
            </a:pPr>
            <a:r>
              <a:rPr sz="2000" dirty="0">
                <a:latin typeface="Calibri"/>
                <a:cs typeface="Calibri"/>
              </a:rPr>
              <a:t>sets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upper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bound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much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parallelism</a:t>
            </a:r>
            <a:r>
              <a:rPr sz="2000" spc="-6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possibly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exploited</a:t>
            </a:r>
            <a:endParaRPr sz="2000" dirty="0">
              <a:latin typeface="Calibri"/>
              <a:cs typeface="Calibri"/>
            </a:endParaRPr>
          </a:p>
          <a:p>
            <a:pPr marL="260551" marR="165856" indent="-249344" algn="just">
              <a:lnSpc>
                <a:spcPct val="110000"/>
              </a:lnSpc>
              <a:buChar char="•"/>
              <a:tabLst>
                <a:tab pos="260551" algn="l"/>
              </a:tabLst>
            </a:pPr>
            <a:r>
              <a:rPr sz="2200" spc="-9" dirty="0">
                <a:latin typeface="Calibri"/>
                <a:cs typeface="Calibri"/>
              </a:rPr>
              <a:t>HW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/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SW</a:t>
            </a:r>
            <a:r>
              <a:rPr sz="2200" spc="-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goal: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exploit</a:t>
            </a:r>
            <a:r>
              <a:rPr sz="2200" spc="-7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parallelism</a:t>
            </a:r>
            <a:r>
              <a:rPr sz="2200" spc="-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79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preserving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program </a:t>
            </a:r>
            <a:r>
              <a:rPr sz="2200" b="1" dirty="0">
                <a:latin typeface="Calibri"/>
                <a:cs typeface="Calibri"/>
              </a:rPr>
              <a:t>order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only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where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it</a:t>
            </a:r>
            <a:r>
              <a:rPr sz="2200" b="1" spc="-6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affects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outcome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program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C9ED77CF-9494-E824-2A44-8221A32C25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6782545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Name</a:t>
            </a:r>
            <a:r>
              <a:rPr spc="-97" dirty="0"/>
              <a:t> </a:t>
            </a:r>
            <a:r>
              <a:rPr spc="-18" dirty="0"/>
              <a:t>Dependence</a:t>
            </a:r>
            <a:r>
              <a:rPr spc="-93" dirty="0"/>
              <a:t> </a:t>
            </a:r>
            <a:r>
              <a:rPr dirty="0"/>
              <a:t>#1:</a:t>
            </a:r>
            <a:r>
              <a:rPr spc="-75" dirty="0"/>
              <a:t> </a:t>
            </a:r>
            <a:r>
              <a:rPr spc="-26" dirty="0"/>
              <a:t>Anti-</a:t>
            </a:r>
            <a:r>
              <a:rPr spc="-9" dirty="0"/>
              <a:t>dependence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2090" y="1280434"/>
            <a:ext cx="7436779" cy="2131689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93610" indent="-248784">
              <a:lnSpc>
                <a:spcPct val="110000"/>
              </a:lnSpc>
              <a:spcBef>
                <a:spcPts val="569"/>
              </a:spcBef>
              <a:buFont typeface="Calibri"/>
              <a:buChar char="•"/>
              <a:tabLst>
                <a:tab pos="293610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r>
              <a:rPr sz="2400" b="1" spc="-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9" dirty="0">
                <a:solidFill>
                  <a:srgbClr val="FF0000"/>
                </a:solidFill>
                <a:latin typeface="Calibri"/>
                <a:cs typeface="Calibri"/>
              </a:rPr>
              <a:t>dependence</a:t>
            </a:r>
            <a:endParaRPr sz="2400" dirty="0">
              <a:latin typeface="Calibri"/>
              <a:cs typeface="Calibri"/>
            </a:endParaRPr>
          </a:p>
          <a:p>
            <a:pPr marL="688975" marR="15689" indent="-244475">
              <a:lnSpc>
                <a:spcPct val="110000"/>
              </a:lnSpc>
              <a:spcBef>
                <a:spcPts val="538"/>
              </a:spcBef>
            </a:pPr>
            <a:r>
              <a:rPr sz="2400" dirty="0">
                <a:latin typeface="Calibri"/>
                <a:cs typeface="Calibri"/>
              </a:rPr>
              <a:t>–</a:t>
            </a:r>
            <a:r>
              <a:rPr sz="2400" spc="349" dirty="0">
                <a:latin typeface="Calibri"/>
                <a:cs typeface="Calibri"/>
              </a:rPr>
              <a:t> </a:t>
            </a:r>
            <a:r>
              <a:rPr lang="en-US" sz="2200" dirty="0">
                <a:highlight>
                  <a:srgbClr val="FFFF00"/>
                </a:highlight>
                <a:latin typeface="Calibri"/>
                <a:cs typeface="Calibri"/>
              </a:rPr>
              <a:t>Wh</a:t>
            </a:r>
            <a:r>
              <a:rPr sz="2200" dirty="0">
                <a:highlight>
                  <a:srgbClr val="FFFF00"/>
                </a:highlight>
                <a:latin typeface="Calibri"/>
                <a:cs typeface="Calibri"/>
              </a:rPr>
              <a:t>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register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memory</a:t>
            </a:r>
            <a:r>
              <a:rPr sz="2200" b="1" spc="-44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location</a:t>
            </a:r>
            <a:r>
              <a:rPr sz="2200" spc="-9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a </a:t>
            </a:r>
            <a:r>
              <a:rPr sz="2200" b="1" dirty="0">
                <a:latin typeface="Calibri"/>
                <a:cs typeface="Calibri"/>
              </a:rPr>
              <a:t>name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no</a:t>
            </a:r>
            <a:r>
              <a:rPr sz="2200" spc="-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flow</a:t>
            </a:r>
            <a:r>
              <a:rPr sz="2200" spc="-5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of</a:t>
            </a:r>
            <a:r>
              <a:rPr sz="2200" spc="-4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data</a:t>
            </a:r>
            <a:r>
              <a:rPr sz="2200" spc="-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114FFB"/>
                </a:solidFill>
                <a:latin typeface="Calibri"/>
                <a:cs typeface="Calibri"/>
              </a:rPr>
              <a:t>between</a:t>
            </a:r>
            <a:r>
              <a:rPr sz="2200" spc="-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the</a:t>
            </a:r>
            <a:r>
              <a:rPr sz="2200" spc="-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114FFB"/>
                </a:solidFill>
                <a:latin typeface="Calibri"/>
                <a:cs typeface="Calibri"/>
              </a:rPr>
              <a:t>instructions</a:t>
            </a:r>
            <a:r>
              <a:rPr sz="2200" spc="-4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114FFB"/>
                </a:solidFill>
                <a:latin typeface="Calibri"/>
                <a:cs typeface="Calibri"/>
              </a:rPr>
              <a:t>associated</a:t>
            </a:r>
            <a:r>
              <a:rPr sz="2200" spc="-4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with</a:t>
            </a:r>
            <a:r>
              <a:rPr sz="2200" spc="-4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spc="-18" dirty="0">
                <a:solidFill>
                  <a:srgbClr val="114FFB"/>
                </a:solidFill>
                <a:latin typeface="Calibri"/>
                <a:cs typeface="Calibri"/>
              </a:rPr>
              <a:t>that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name</a:t>
            </a:r>
            <a:r>
              <a:rPr sz="2200" dirty="0">
                <a:latin typeface="Calibri"/>
                <a:cs typeface="Calibri"/>
              </a:rPr>
              <a:t>;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versions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dependence</a:t>
            </a:r>
            <a:endParaRPr sz="2200" dirty="0">
              <a:latin typeface="Calibri"/>
              <a:cs typeface="Calibri"/>
            </a:endParaRPr>
          </a:p>
          <a:p>
            <a:pPr marL="293610" indent="-248784">
              <a:lnSpc>
                <a:spcPct val="110000"/>
              </a:lnSpc>
              <a:spcBef>
                <a:spcPts val="379"/>
              </a:spcBef>
              <a:buChar char="•"/>
              <a:tabLst>
                <a:tab pos="293610" algn="l"/>
              </a:tabLst>
            </a:pPr>
            <a:r>
              <a:rPr sz="2400" dirty="0">
                <a:latin typeface="Calibri"/>
                <a:cs typeface="Calibri"/>
              </a:rPr>
              <a:t>Instr</a:t>
            </a:r>
            <a:r>
              <a:rPr sz="2400" baseline="-17361" dirty="0">
                <a:latin typeface="Calibri"/>
                <a:cs typeface="Calibri"/>
              </a:rPr>
              <a:t>J</a:t>
            </a:r>
            <a:r>
              <a:rPr sz="2400" spc="106" baseline="-1736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operand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before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</a:t>
            </a:r>
            <a:r>
              <a:rPr sz="2400" baseline="-17361" dirty="0">
                <a:latin typeface="Calibri"/>
                <a:cs typeface="Calibri"/>
              </a:rPr>
              <a:t>I</a:t>
            </a:r>
            <a:r>
              <a:rPr sz="2400" spc="106" baseline="-1736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2090" y="4568607"/>
            <a:ext cx="6819501" cy="1904967"/>
          </a:xfrm>
          <a:prstGeom prst="rect">
            <a:avLst/>
          </a:prstGeom>
        </p:spPr>
        <p:txBody>
          <a:bodyPr vert="horz" wrap="square" lIns="0" tIns="56029" rIns="0" bIns="0" rtlCol="0">
            <a:spAutoFit/>
          </a:bodyPr>
          <a:lstStyle/>
          <a:p>
            <a:pPr marL="260551" marR="340677">
              <a:lnSpc>
                <a:spcPct val="110000"/>
              </a:lnSpc>
              <a:spcBef>
                <a:spcPts val="441"/>
              </a:spcBef>
              <a:spcAft>
                <a:spcPts val="1200"/>
              </a:spcAft>
            </a:pP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“</a:t>
            </a:r>
            <a:r>
              <a:rPr sz="2400" b="1" spc="-26" dirty="0">
                <a:latin typeface="Calibri"/>
                <a:cs typeface="Calibri"/>
              </a:rPr>
              <a:t>anti-</a:t>
            </a:r>
            <a:r>
              <a:rPr sz="2400" b="1" spc="-18" dirty="0">
                <a:latin typeface="Calibri"/>
                <a:cs typeface="Calibri"/>
              </a:rPr>
              <a:t>dependence</a:t>
            </a:r>
            <a:r>
              <a:rPr sz="2400" spc="-18" dirty="0">
                <a:latin typeface="Calibri"/>
                <a:cs typeface="Calibri"/>
              </a:rPr>
              <a:t>”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compiler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writers.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u="heavy" spc="-4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This</a:t>
            </a:r>
            <a:r>
              <a:rPr lang="en-US"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results</a:t>
            </a:r>
            <a:r>
              <a:rPr sz="2400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2400" u="heavy" spc="-8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reuse</a:t>
            </a:r>
            <a:r>
              <a:rPr sz="2400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heavy" spc="-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name</a:t>
            </a:r>
            <a:r>
              <a:rPr sz="2400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“r1”</a:t>
            </a:r>
            <a:endParaRPr sz="2400" dirty="0">
              <a:latin typeface="Calibri"/>
              <a:cs typeface="Calibri"/>
            </a:endParaRPr>
          </a:p>
          <a:p>
            <a:pPr marL="260551" marR="4483" indent="-249344">
              <a:lnSpc>
                <a:spcPct val="110000"/>
              </a:lnSpc>
              <a:spcBef>
                <a:spcPts val="732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anti-dependence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caused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pipeline,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that’s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Write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After</a:t>
            </a:r>
            <a:r>
              <a:rPr sz="2400" spc="-75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Read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114FFB"/>
                </a:solidFill>
                <a:latin typeface="Calibri"/>
                <a:cs typeface="Calibri"/>
              </a:rPr>
              <a:t>(WAR)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114FFB"/>
                </a:solidFill>
                <a:latin typeface="Calibri"/>
                <a:cs typeface="Calibri"/>
              </a:rPr>
              <a:t>hazard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2011"/>
              </p:ext>
            </p:extLst>
          </p:nvPr>
        </p:nvGraphicFramePr>
        <p:xfrm>
          <a:off x="3331960" y="3541915"/>
          <a:ext cx="2257985" cy="934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956">
                <a:tc>
                  <a:txBody>
                    <a:bodyPr/>
                    <a:lstStyle/>
                    <a:p>
                      <a:pPr marR="43815" algn="ctr">
                        <a:lnSpc>
                          <a:spcPts val="2260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I: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60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sub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2260"/>
                        </a:lnSpc>
                      </a:pPr>
                      <a:r>
                        <a:rPr sz="2100" b="1" spc="-10" dirty="0">
                          <a:latin typeface="Consolas"/>
                          <a:cs typeface="Consolas"/>
                        </a:rPr>
                        <a:t>r4,</a:t>
                      </a:r>
                      <a:r>
                        <a:rPr sz="2100" b="1" spc="-10" dirty="0">
                          <a:solidFill>
                            <a:srgbClr val="FC0128"/>
                          </a:solidFill>
                          <a:latin typeface="Consolas"/>
                          <a:cs typeface="Consolas"/>
                        </a:rPr>
                        <a:t>r1</a:t>
                      </a:r>
                      <a:r>
                        <a:rPr sz="2100" b="1" spc="-10" dirty="0">
                          <a:latin typeface="Consolas"/>
                          <a:cs typeface="Consolas"/>
                        </a:rPr>
                        <a:t>,r3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28">
                <a:tc>
                  <a:txBody>
                    <a:bodyPr/>
                    <a:lstStyle/>
                    <a:p>
                      <a:pPr marR="43815" algn="ctr">
                        <a:lnSpc>
                          <a:spcPts val="251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J: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add</a:t>
                      </a:r>
                      <a:endParaRPr sz="21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515"/>
                        </a:lnSpc>
                      </a:pPr>
                      <a:r>
                        <a:rPr sz="2100" b="1" spc="-10" dirty="0">
                          <a:solidFill>
                            <a:srgbClr val="FC0128"/>
                          </a:solidFill>
                          <a:latin typeface="Consolas"/>
                          <a:cs typeface="Consolas"/>
                        </a:rPr>
                        <a:t>r1</a:t>
                      </a:r>
                      <a:r>
                        <a:rPr sz="2100" b="1" spc="-10" dirty="0">
                          <a:latin typeface="Consolas"/>
                          <a:cs typeface="Consolas"/>
                        </a:rPr>
                        <a:t>,r2,r3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53">
                <a:tc>
                  <a:txBody>
                    <a:bodyPr/>
                    <a:lstStyle/>
                    <a:p>
                      <a:pPr marR="43815" algn="ctr">
                        <a:lnSpc>
                          <a:spcPts val="246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K: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mul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465"/>
                        </a:lnSpc>
                      </a:pPr>
                      <a:r>
                        <a:rPr sz="2100" b="1" spc="-10" dirty="0">
                          <a:latin typeface="Consolas"/>
                          <a:cs typeface="Consolas"/>
                        </a:rPr>
                        <a:t>r6,r1,r7</a:t>
                      </a:r>
                      <a:endParaRPr sz="21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869675" y="3592483"/>
            <a:ext cx="421901" cy="447675"/>
          </a:xfrm>
          <a:custGeom>
            <a:avLst/>
            <a:gdLst/>
            <a:ahLst/>
            <a:cxnLst/>
            <a:rect l="l" t="t" r="r" b="b"/>
            <a:pathLst>
              <a:path w="478154" h="507364">
                <a:moveTo>
                  <a:pt x="375928" y="29048"/>
                </a:moveTo>
                <a:lnTo>
                  <a:pt x="337661" y="31473"/>
                </a:lnTo>
                <a:lnTo>
                  <a:pt x="297768" y="37185"/>
                </a:lnTo>
                <a:lnTo>
                  <a:pt x="259468" y="44983"/>
                </a:lnTo>
                <a:lnTo>
                  <a:pt x="188440" y="66424"/>
                </a:lnTo>
                <a:lnTo>
                  <a:pt x="126145" y="95018"/>
                </a:lnTo>
                <a:lnTo>
                  <a:pt x="74188" y="130101"/>
                </a:lnTo>
                <a:lnTo>
                  <a:pt x="34324" y="171152"/>
                </a:lnTo>
                <a:lnTo>
                  <a:pt x="9210" y="216132"/>
                </a:lnTo>
                <a:lnTo>
                  <a:pt x="0" y="265645"/>
                </a:lnTo>
                <a:lnTo>
                  <a:pt x="0" y="268210"/>
                </a:lnTo>
                <a:lnTo>
                  <a:pt x="8940" y="316990"/>
                </a:lnTo>
                <a:lnTo>
                  <a:pt x="35501" y="364248"/>
                </a:lnTo>
                <a:lnTo>
                  <a:pt x="75297" y="404672"/>
                </a:lnTo>
                <a:lnTo>
                  <a:pt x="127146" y="439397"/>
                </a:lnTo>
                <a:lnTo>
                  <a:pt x="189341" y="467772"/>
                </a:lnTo>
                <a:lnTo>
                  <a:pt x="260305" y="489070"/>
                </a:lnTo>
                <a:lnTo>
                  <a:pt x="298583" y="496812"/>
                </a:lnTo>
                <a:lnTo>
                  <a:pt x="338463" y="502474"/>
                </a:lnTo>
                <a:lnTo>
                  <a:pt x="379745" y="505943"/>
                </a:lnTo>
                <a:lnTo>
                  <a:pt x="422361" y="507107"/>
                </a:lnTo>
                <a:lnTo>
                  <a:pt x="477730" y="505024"/>
                </a:lnTo>
                <a:lnTo>
                  <a:pt x="476764" y="479355"/>
                </a:lnTo>
                <a:lnTo>
                  <a:pt x="476746" y="478868"/>
                </a:lnTo>
                <a:lnTo>
                  <a:pt x="421299" y="478868"/>
                </a:lnTo>
                <a:lnTo>
                  <a:pt x="380536" y="477697"/>
                </a:lnTo>
                <a:lnTo>
                  <a:pt x="340846" y="474317"/>
                </a:lnTo>
                <a:lnTo>
                  <a:pt x="302571" y="468838"/>
                </a:lnTo>
                <a:lnTo>
                  <a:pt x="231115" y="452055"/>
                </a:lnTo>
                <a:lnTo>
                  <a:pt x="167871" y="428317"/>
                </a:lnTo>
                <a:lnTo>
                  <a:pt x="114542" y="398664"/>
                </a:lnTo>
                <a:lnTo>
                  <a:pt x="72810" y="364248"/>
                </a:lnTo>
                <a:lnTo>
                  <a:pt x="45395" y="328209"/>
                </a:lnTo>
                <a:lnTo>
                  <a:pt x="45220" y="328209"/>
                </a:lnTo>
                <a:lnTo>
                  <a:pt x="44791" y="327284"/>
                </a:lnTo>
                <a:lnTo>
                  <a:pt x="44194" y="326369"/>
                </a:lnTo>
                <a:lnTo>
                  <a:pt x="44367" y="326369"/>
                </a:lnTo>
                <a:lnTo>
                  <a:pt x="36190" y="308739"/>
                </a:lnTo>
                <a:lnTo>
                  <a:pt x="35977" y="308739"/>
                </a:lnTo>
                <a:lnTo>
                  <a:pt x="35667" y="307611"/>
                </a:lnTo>
                <a:lnTo>
                  <a:pt x="35172" y="306544"/>
                </a:lnTo>
                <a:lnTo>
                  <a:pt x="35373" y="306544"/>
                </a:lnTo>
                <a:lnTo>
                  <a:pt x="30477" y="288761"/>
                </a:lnTo>
                <a:lnTo>
                  <a:pt x="30246" y="288761"/>
                </a:lnTo>
                <a:lnTo>
                  <a:pt x="30131" y="287505"/>
                </a:lnTo>
                <a:lnTo>
                  <a:pt x="29798" y="286292"/>
                </a:lnTo>
                <a:lnTo>
                  <a:pt x="30021" y="286292"/>
                </a:lnTo>
                <a:lnTo>
                  <a:pt x="28374" y="268210"/>
                </a:lnTo>
                <a:lnTo>
                  <a:pt x="28140" y="268210"/>
                </a:lnTo>
                <a:lnTo>
                  <a:pt x="28140" y="265645"/>
                </a:lnTo>
                <a:lnTo>
                  <a:pt x="28374" y="265645"/>
                </a:lnTo>
                <a:lnTo>
                  <a:pt x="30021" y="247564"/>
                </a:lnTo>
                <a:lnTo>
                  <a:pt x="29798" y="247564"/>
                </a:lnTo>
                <a:lnTo>
                  <a:pt x="30132" y="246351"/>
                </a:lnTo>
                <a:lnTo>
                  <a:pt x="30246" y="245097"/>
                </a:lnTo>
                <a:lnTo>
                  <a:pt x="30477" y="245097"/>
                </a:lnTo>
                <a:lnTo>
                  <a:pt x="35373" y="227314"/>
                </a:lnTo>
                <a:lnTo>
                  <a:pt x="35172" y="227314"/>
                </a:lnTo>
                <a:lnTo>
                  <a:pt x="35667" y="226248"/>
                </a:lnTo>
                <a:lnTo>
                  <a:pt x="35977" y="225120"/>
                </a:lnTo>
                <a:lnTo>
                  <a:pt x="36190" y="225120"/>
                </a:lnTo>
                <a:lnTo>
                  <a:pt x="44367" y="207490"/>
                </a:lnTo>
                <a:lnTo>
                  <a:pt x="44194" y="207490"/>
                </a:lnTo>
                <a:lnTo>
                  <a:pt x="44776" y="206608"/>
                </a:lnTo>
                <a:lnTo>
                  <a:pt x="45220" y="205651"/>
                </a:lnTo>
                <a:lnTo>
                  <a:pt x="45408" y="205651"/>
                </a:lnTo>
                <a:lnTo>
                  <a:pt x="57906" y="186721"/>
                </a:lnTo>
                <a:lnTo>
                  <a:pt x="93235" y="150973"/>
                </a:lnTo>
                <a:lnTo>
                  <a:pt x="140860" y="119142"/>
                </a:lnTo>
                <a:lnTo>
                  <a:pt x="199261" y="92528"/>
                </a:lnTo>
                <a:lnTo>
                  <a:pt x="266760" y="72283"/>
                </a:lnTo>
                <a:lnTo>
                  <a:pt x="341649" y="59448"/>
                </a:lnTo>
                <a:lnTo>
                  <a:pt x="376089" y="57325"/>
                </a:lnTo>
                <a:lnTo>
                  <a:pt x="375974" y="37185"/>
                </a:lnTo>
                <a:lnTo>
                  <a:pt x="375928" y="29048"/>
                </a:lnTo>
                <a:close/>
              </a:path>
              <a:path w="478154" h="507364">
                <a:moveTo>
                  <a:pt x="476667" y="476787"/>
                </a:moveTo>
                <a:lnTo>
                  <a:pt x="421299" y="478868"/>
                </a:lnTo>
                <a:lnTo>
                  <a:pt x="476746" y="478868"/>
                </a:lnTo>
                <a:lnTo>
                  <a:pt x="476667" y="476787"/>
                </a:lnTo>
                <a:close/>
              </a:path>
              <a:path w="478154" h="507364">
                <a:moveTo>
                  <a:pt x="44791" y="327284"/>
                </a:moveTo>
                <a:lnTo>
                  <a:pt x="45220" y="328209"/>
                </a:lnTo>
                <a:lnTo>
                  <a:pt x="45395" y="328209"/>
                </a:lnTo>
                <a:lnTo>
                  <a:pt x="44791" y="327284"/>
                </a:lnTo>
                <a:close/>
              </a:path>
              <a:path w="478154" h="507364">
                <a:moveTo>
                  <a:pt x="44367" y="326369"/>
                </a:moveTo>
                <a:lnTo>
                  <a:pt x="44194" y="326369"/>
                </a:lnTo>
                <a:lnTo>
                  <a:pt x="44791" y="327284"/>
                </a:lnTo>
                <a:lnTo>
                  <a:pt x="44367" y="326369"/>
                </a:lnTo>
                <a:close/>
              </a:path>
              <a:path w="478154" h="507364">
                <a:moveTo>
                  <a:pt x="35667" y="307611"/>
                </a:moveTo>
                <a:lnTo>
                  <a:pt x="35977" y="308739"/>
                </a:lnTo>
                <a:lnTo>
                  <a:pt x="36190" y="308739"/>
                </a:lnTo>
                <a:lnTo>
                  <a:pt x="35667" y="307611"/>
                </a:lnTo>
                <a:close/>
              </a:path>
              <a:path w="478154" h="507364">
                <a:moveTo>
                  <a:pt x="35373" y="306544"/>
                </a:moveTo>
                <a:lnTo>
                  <a:pt x="35172" y="306544"/>
                </a:lnTo>
                <a:lnTo>
                  <a:pt x="35667" y="307611"/>
                </a:lnTo>
                <a:lnTo>
                  <a:pt x="35373" y="306544"/>
                </a:lnTo>
                <a:close/>
              </a:path>
              <a:path w="478154" h="507364">
                <a:moveTo>
                  <a:pt x="30131" y="287505"/>
                </a:moveTo>
                <a:lnTo>
                  <a:pt x="30246" y="288761"/>
                </a:lnTo>
                <a:lnTo>
                  <a:pt x="30477" y="288761"/>
                </a:lnTo>
                <a:lnTo>
                  <a:pt x="30131" y="287505"/>
                </a:lnTo>
                <a:close/>
              </a:path>
              <a:path w="478154" h="507364">
                <a:moveTo>
                  <a:pt x="30021" y="286292"/>
                </a:moveTo>
                <a:lnTo>
                  <a:pt x="29798" y="286292"/>
                </a:lnTo>
                <a:lnTo>
                  <a:pt x="30131" y="287505"/>
                </a:lnTo>
                <a:lnTo>
                  <a:pt x="30021" y="286292"/>
                </a:lnTo>
                <a:close/>
              </a:path>
              <a:path w="478154" h="507364">
                <a:moveTo>
                  <a:pt x="30132" y="246351"/>
                </a:moveTo>
                <a:lnTo>
                  <a:pt x="29798" y="247564"/>
                </a:lnTo>
                <a:lnTo>
                  <a:pt x="30021" y="247564"/>
                </a:lnTo>
                <a:lnTo>
                  <a:pt x="30132" y="246351"/>
                </a:lnTo>
                <a:close/>
              </a:path>
              <a:path w="478154" h="507364">
                <a:moveTo>
                  <a:pt x="30477" y="245097"/>
                </a:moveTo>
                <a:lnTo>
                  <a:pt x="30246" y="245097"/>
                </a:lnTo>
                <a:lnTo>
                  <a:pt x="30132" y="246351"/>
                </a:lnTo>
                <a:lnTo>
                  <a:pt x="30477" y="245097"/>
                </a:lnTo>
                <a:close/>
              </a:path>
              <a:path w="478154" h="507364">
                <a:moveTo>
                  <a:pt x="35667" y="226248"/>
                </a:moveTo>
                <a:lnTo>
                  <a:pt x="35172" y="227314"/>
                </a:lnTo>
                <a:lnTo>
                  <a:pt x="35373" y="227314"/>
                </a:lnTo>
                <a:lnTo>
                  <a:pt x="35667" y="226248"/>
                </a:lnTo>
                <a:close/>
              </a:path>
              <a:path w="478154" h="507364">
                <a:moveTo>
                  <a:pt x="36190" y="225120"/>
                </a:moveTo>
                <a:lnTo>
                  <a:pt x="35977" y="225120"/>
                </a:lnTo>
                <a:lnTo>
                  <a:pt x="35667" y="226248"/>
                </a:lnTo>
                <a:lnTo>
                  <a:pt x="36190" y="225120"/>
                </a:lnTo>
                <a:close/>
              </a:path>
              <a:path w="478154" h="507364">
                <a:moveTo>
                  <a:pt x="44776" y="206608"/>
                </a:moveTo>
                <a:lnTo>
                  <a:pt x="44194" y="207490"/>
                </a:lnTo>
                <a:lnTo>
                  <a:pt x="44367" y="207490"/>
                </a:lnTo>
                <a:lnTo>
                  <a:pt x="44776" y="206608"/>
                </a:lnTo>
                <a:close/>
              </a:path>
              <a:path w="478154" h="507364">
                <a:moveTo>
                  <a:pt x="45408" y="205651"/>
                </a:moveTo>
                <a:lnTo>
                  <a:pt x="45220" y="205651"/>
                </a:lnTo>
                <a:lnTo>
                  <a:pt x="44776" y="206608"/>
                </a:lnTo>
                <a:lnTo>
                  <a:pt x="45408" y="205651"/>
                </a:lnTo>
                <a:close/>
              </a:path>
              <a:path w="478154" h="507364">
                <a:moveTo>
                  <a:pt x="432982" y="28204"/>
                </a:moveTo>
                <a:lnTo>
                  <a:pt x="389251" y="28204"/>
                </a:lnTo>
                <a:lnTo>
                  <a:pt x="390911" y="54763"/>
                </a:lnTo>
                <a:lnTo>
                  <a:pt x="391013" y="56405"/>
                </a:lnTo>
                <a:lnTo>
                  <a:pt x="376089" y="57325"/>
                </a:lnTo>
                <a:lnTo>
                  <a:pt x="376132" y="64877"/>
                </a:lnTo>
                <a:lnTo>
                  <a:pt x="376245" y="84771"/>
                </a:lnTo>
                <a:lnTo>
                  <a:pt x="460775" y="41903"/>
                </a:lnTo>
                <a:lnTo>
                  <a:pt x="432982" y="28204"/>
                </a:lnTo>
                <a:close/>
              </a:path>
              <a:path w="478154" h="507364">
                <a:moveTo>
                  <a:pt x="389251" y="28204"/>
                </a:moveTo>
                <a:lnTo>
                  <a:pt x="375928" y="29048"/>
                </a:lnTo>
                <a:lnTo>
                  <a:pt x="375974" y="37185"/>
                </a:lnTo>
                <a:lnTo>
                  <a:pt x="376089" y="57325"/>
                </a:lnTo>
                <a:lnTo>
                  <a:pt x="391013" y="56405"/>
                </a:lnTo>
                <a:lnTo>
                  <a:pt x="389303" y="29048"/>
                </a:lnTo>
                <a:lnTo>
                  <a:pt x="389251" y="28204"/>
                </a:lnTo>
                <a:close/>
              </a:path>
              <a:path w="478154" h="507364">
                <a:moveTo>
                  <a:pt x="375763" y="0"/>
                </a:moveTo>
                <a:lnTo>
                  <a:pt x="375923" y="28204"/>
                </a:lnTo>
                <a:lnTo>
                  <a:pt x="375928" y="29048"/>
                </a:lnTo>
                <a:lnTo>
                  <a:pt x="389251" y="28204"/>
                </a:lnTo>
                <a:lnTo>
                  <a:pt x="432982" y="28204"/>
                </a:lnTo>
                <a:lnTo>
                  <a:pt x="3757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1086A2EE-054C-A0FC-387D-9E06296E00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9814" y="668848"/>
            <a:ext cx="704707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Name</a:t>
            </a:r>
            <a:r>
              <a:rPr spc="-110" dirty="0"/>
              <a:t> </a:t>
            </a:r>
            <a:r>
              <a:rPr spc="-18" dirty="0"/>
              <a:t>Dependence</a:t>
            </a:r>
            <a:r>
              <a:rPr spc="-106" dirty="0"/>
              <a:t> </a:t>
            </a:r>
            <a:r>
              <a:rPr dirty="0"/>
              <a:t>#2:</a:t>
            </a:r>
            <a:r>
              <a:rPr spc="-93" dirty="0"/>
              <a:t> </a:t>
            </a:r>
            <a:r>
              <a:rPr spc="-9" dirty="0"/>
              <a:t>Output</a:t>
            </a:r>
            <a:r>
              <a:rPr spc="-97" dirty="0"/>
              <a:t> </a:t>
            </a:r>
            <a:r>
              <a:rPr spc="-9" dirty="0"/>
              <a:t>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0" y="1227893"/>
            <a:ext cx="7436779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82403" indent="-248784">
              <a:spcBef>
                <a:spcPts val="88"/>
              </a:spcBef>
              <a:buChar char="•"/>
              <a:tabLst>
                <a:tab pos="282403" algn="l"/>
              </a:tabLst>
            </a:pPr>
            <a:r>
              <a:rPr sz="2400" dirty="0">
                <a:latin typeface="Calibri"/>
                <a:cs typeface="Calibri"/>
              </a:rPr>
              <a:t>Instr</a:t>
            </a:r>
            <a:r>
              <a:rPr sz="2400" baseline="-17361" dirty="0">
                <a:latin typeface="Calibri"/>
                <a:cs typeface="Calibri"/>
              </a:rPr>
              <a:t>J</a:t>
            </a:r>
            <a:r>
              <a:rPr sz="2400" spc="112" baseline="-1736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operand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before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Instr</a:t>
            </a:r>
            <a:r>
              <a:rPr sz="2400" baseline="-17361" dirty="0">
                <a:latin typeface="Calibri"/>
                <a:cs typeface="Calibri"/>
              </a:rPr>
              <a:t>I</a:t>
            </a:r>
            <a:r>
              <a:rPr sz="2400" spc="106" baseline="-1736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it.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2090" y="2870969"/>
            <a:ext cx="7436779" cy="390029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208441" indent="-249344">
              <a:lnSpc>
                <a:spcPct val="110000"/>
              </a:lnSpc>
              <a:spcBef>
                <a:spcPts val="375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r>
              <a:rPr sz="2400" b="1" spc="-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9" dirty="0">
                <a:solidFill>
                  <a:srgbClr val="FF0000"/>
                </a:solidFill>
                <a:latin typeface="Calibri"/>
                <a:cs typeface="Calibri"/>
              </a:rPr>
              <a:t>dependence</a:t>
            </a:r>
            <a:r>
              <a:rPr sz="2400" b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compiler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writers.</a:t>
            </a:r>
            <a:r>
              <a:rPr sz="2400" spc="-159" dirty="0">
                <a:latin typeface="Calibri"/>
                <a:cs typeface="Calibri"/>
              </a:rPr>
              <a:t> </a:t>
            </a:r>
            <a:r>
              <a:rPr sz="2400" u="heavy" spc="-39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br>
              <a:rPr lang="en-US" sz="2400" u="heavy" spc="-39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</a:br>
            <a:r>
              <a:rPr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This</a:t>
            </a:r>
            <a:r>
              <a:rPr lang="en-US"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also</a:t>
            </a:r>
            <a:r>
              <a:rPr sz="2400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results</a:t>
            </a:r>
            <a:r>
              <a:rPr sz="2400" u="heavy" spc="-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2400" u="heavy" spc="-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reuse</a:t>
            </a:r>
            <a:r>
              <a:rPr sz="2400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name</a:t>
            </a:r>
            <a:r>
              <a:rPr sz="2400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“r1”</a:t>
            </a:r>
            <a:endParaRPr sz="2400" dirty="0">
              <a:latin typeface="Calibri"/>
              <a:cs typeface="Calibri"/>
            </a:endParaRPr>
          </a:p>
          <a:p>
            <a:pPr marL="260551" marR="307618" indent="-249344">
              <a:lnSpc>
                <a:spcPct val="110000"/>
              </a:lnSpc>
              <a:spcBef>
                <a:spcPts val="790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output-</a:t>
            </a:r>
            <a:r>
              <a:rPr sz="2400" spc="-18" dirty="0">
                <a:latin typeface="Calibri"/>
                <a:cs typeface="Calibri"/>
              </a:rPr>
              <a:t>dependence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caused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pipeline, </a:t>
            </a:r>
            <a:r>
              <a:rPr sz="2400" dirty="0">
                <a:latin typeface="Calibri"/>
                <a:cs typeface="Calibri"/>
              </a:rPr>
              <a:t>that’s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Write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After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Write</a:t>
            </a:r>
            <a:r>
              <a:rPr sz="2400" spc="-79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114FFB"/>
                </a:solidFill>
                <a:latin typeface="Calibri"/>
                <a:cs typeface="Calibri"/>
              </a:rPr>
              <a:t>(WAW)</a:t>
            </a:r>
            <a:r>
              <a:rPr sz="2400" spc="-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114FFB"/>
                </a:solidFill>
                <a:latin typeface="Calibri"/>
                <a:cs typeface="Calibri"/>
              </a:rPr>
              <a:t>hazard</a:t>
            </a:r>
            <a:endParaRPr sz="2400" dirty="0">
              <a:latin typeface="Calibri"/>
              <a:cs typeface="Calibri"/>
            </a:endParaRPr>
          </a:p>
          <a:p>
            <a:pPr marL="260551" marR="4483" indent="-249344">
              <a:lnSpc>
                <a:spcPct val="110000"/>
              </a:lnSpc>
              <a:spcBef>
                <a:spcPts val="732"/>
              </a:spcBef>
              <a:buFont typeface="Calibri"/>
              <a:buChar char="•"/>
              <a:tabLst>
                <a:tab pos="260551" algn="l"/>
              </a:tabLst>
            </a:pP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Instructions</a:t>
            </a:r>
            <a:r>
              <a:rPr sz="24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involved</a:t>
            </a:r>
            <a:r>
              <a:rPr sz="2400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r>
              <a:rPr sz="24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18" dirty="0">
                <a:solidFill>
                  <a:srgbClr val="FF0000"/>
                </a:solidFill>
                <a:latin typeface="Calibri"/>
                <a:cs typeface="Calibri"/>
              </a:rPr>
              <a:t>dependence</a:t>
            </a:r>
            <a:r>
              <a:rPr sz="2400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could</a:t>
            </a:r>
            <a:r>
              <a:rPr sz="2400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execute </a:t>
            </a:r>
            <a:r>
              <a:rPr sz="2400" i="1" spc="-18" dirty="0">
                <a:solidFill>
                  <a:srgbClr val="FF0000"/>
                </a:solidFill>
                <a:latin typeface="Calibri"/>
                <a:cs typeface="Calibri"/>
              </a:rPr>
              <a:t>simultaneously</a:t>
            </a:r>
            <a:r>
              <a:rPr sz="2400" i="1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24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name</a:t>
            </a:r>
            <a:r>
              <a:rPr sz="2400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used</a:t>
            </a:r>
            <a:r>
              <a:rPr sz="2400" i="1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400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instructions</a:t>
            </a:r>
            <a:r>
              <a:rPr sz="2400" i="1" spc="-6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400" i="1" spc="-6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changed</a:t>
            </a:r>
            <a:r>
              <a:rPr sz="2400" i="1" spc="-7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2" dirty="0">
                <a:solidFill>
                  <a:srgbClr val="FF0000"/>
                </a:solidFill>
                <a:latin typeface="Calibri"/>
                <a:cs typeface="Calibri"/>
              </a:rPr>
              <a:t>so </a:t>
            </a:r>
            <a:r>
              <a:rPr sz="2400" i="1" spc="-18" dirty="0">
                <a:solidFill>
                  <a:srgbClr val="FF0000"/>
                </a:solidFill>
                <a:latin typeface="Calibri"/>
                <a:cs typeface="Calibri"/>
              </a:rPr>
              <a:t>instructions</a:t>
            </a:r>
            <a:r>
              <a:rPr sz="2400" i="1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400" i="1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FF0000"/>
                </a:solidFill>
                <a:latin typeface="Calibri"/>
                <a:cs typeface="Calibri"/>
              </a:rPr>
              <a:t>conflict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353"/>
              </a:spcBef>
              <a:buChar char="–"/>
              <a:tabLst>
                <a:tab pos="609633" algn="l"/>
              </a:tabLst>
            </a:pPr>
            <a:r>
              <a:rPr sz="2200" spc="-9" dirty="0">
                <a:solidFill>
                  <a:srgbClr val="114FFB"/>
                </a:solidFill>
                <a:latin typeface="Calibri"/>
                <a:cs typeface="Calibri"/>
              </a:rPr>
              <a:t>Register</a:t>
            </a:r>
            <a:r>
              <a:rPr sz="2200" spc="-5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solidFill>
                  <a:srgbClr val="114FFB"/>
                </a:solidFill>
                <a:latin typeface="Calibri"/>
                <a:cs typeface="Calibri"/>
              </a:rPr>
              <a:t>renaming</a:t>
            </a:r>
            <a:r>
              <a:rPr sz="2200" spc="-53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resolves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name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dependence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registers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lnSpc>
                <a:spcPct val="110000"/>
              </a:lnSpc>
              <a:spcBef>
                <a:spcPts val="296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compiler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HW</a:t>
            </a:r>
            <a:endParaRPr sz="2200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380438"/>
              </p:ext>
            </p:extLst>
          </p:nvPr>
        </p:nvGraphicFramePr>
        <p:xfrm>
          <a:off x="3331960" y="1786434"/>
          <a:ext cx="2257985" cy="9327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956">
                <a:tc>
                  <a:txBody>
                    <a:bodyPr/>
                    <a:lstStyle/>
                    <a:p>
                      <a:pPr marR="43815" algn="ctr">
                        <a:lnSpc>
                          <a:spcPts val="2260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I: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60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sub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260"/>
                        </a:lnSpc>
                      </a:pPr>
                      <a:r>
                        <a:rPr sz="2100" b="1" spc="-10" dirty="0">
                          <a:solidFill>
                            <a:srgbClr val="FC0128"/>
                          </a:solidFill>
                          <a:latin typeface="Consolas"/>
                          <a:cs typeface="Consolas"/>
                        </a:rPr>
                        <a:t>r1</a:t>
                      </a:r>
                      <a:r>
                        <a:rPr sz="2100" b="1" spc="-10" dirty="0">
                          <a:latin typeface="Consolas"/>
                          <a:cs typeface="Consolas"/>
                        </a:rPr>
                        <a:t>,r4,r3</a:t>
                      </a:r>
                      <a:endParaRPr sz="21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247">
                <a:tc>
                  <a:txBody>
                    <a:bodyPr/>
                    <a:lstStyle/>
                    <a:p>
                      <a:pPr marR="43815" algn="ctr">
                        <a:lnSpc>
                          <a:spcPts val="251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J: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add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515"/>
                        </a:lnSpc>
                      </a:pPr>
                      <a:r>
                        <a:rPr sz="2100" b="1" spc="-10" dirty="0">
                          <a:solidFill>
                            <a:srgbClr val="FC0128"/>
                          </a:solidFill>
                          <a:latin typeface="Consolas"/>
                          <a:cs typeface="Consolas"/>
                        </a:rPr>
                        <a:t>r1</a:t>
                      </a:r>
                      <a:r>
                        <a:rPr sz="2100" b="1" spc="-10" dirty="0">
                          <a:latin typeface="Consolas"/>
                          <a:cs typeface="Consolas"/>
                        </a:rPr>
                        <a:t>,r2,r3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232">
                <a:tc>
                  <a:txBody>
                    <a:bodyPr/>
                    <a:lstStyle/>
                    <a:p>
                      <a:pPr marR="43815" algn="ctr">
                        <a:lnSpc>
                          <a:spcPts val="245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K: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55"/>
                        </a:lnSpc>
                      </a:pPr>
                      <a:r>
                        <a:rPr sz="2100" b="1" spc="-25" dirty="0">
                          <a:latin typeface="Consolas"/>
                          <a:cs typeface="Consolas"/>
                        </a:rPr>
                        <a:t>mul</a:t>
                      </a:r>
                      <a:endParaRPr sz="21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2455"/>
                        </a:lnSpc>
                      </a:pPr>
                      <a:r>
                        <a:rPr sz="2100" b="1" spc="-10" dirty="0">
                          <a:latin typeface="Consolas"/>
                          <a:cs typeface="Consolas"/>
                        </a:rPr>
                        <a:t>r6,r1,r7</a:t>
                      </a:r>
                      <a:endParaRPr sz="21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869675" y="1822646"/>
            <a:ext cx="421341" cy="471768"/>
          </a:xfrm>
          <a:custGeom>
            <a:avLst/>
            <a:gdLst/>
            <a:ahLst/>
            <a:cxnLst/>
            <a:rect l="l" t="t" r="r" b="b"/>
            <a:pathLst>
              <a:path w="477520" h="534669">
                <a:moveTo>
                  <a:pt x="391806" y="449783"/>
                </a:moveTo>
                <a:lnTo>
                  <a:pt x="393066" y="534546"/>
                </a:lnTo>
                <a:lnTo>
                  <a:pt x="447938" y="506083"/>
                </a:lnTo>
                <a:lnTo>
                  <a:pt x="406491" y="506083"/>
                </a:lnTo>
                <a:lnTo>
                  <a:pt x="406577" y="489070"/>
                </a:lnTo>
                <a:lnTo>
                  <a:pt x="406634" y="477827"/>
                </a:lnTo>
                <a:lnTo>
                  <a:pt x="450040" y="477827"/>
                </a:lnTo>
                <a:lnTo>
                  <a:pt x="391806" y="449783"/>
                </a:lnTo>
                <a:close/>
              </a:path>
              <a:path w="477520" h="534669">
                <a:moveTo>
                  <a:pt x="375928" y="29048"/>
                </a:moveTo>
                <a:lnTo>
                  <a:pt x="337661" y="31473"/>
                </a:lnTo>
                <a:lnTo>
                  <a:pt x="297768" y="37185"/>
                </a:lnTo>
                <a:lnTo>
                  <a:pt x="259468" y="44983"/>
                </a:lnTo>
                <a:lnTo>
                  <a:pt x="188440" y="66424"/>
                </a:lnTo>
                <a:lnTo>
                  <a:pt x="126145" y="95018"/>
                </a:lnTo>
                <a:lnTo>
                  <a:pt x="74188" y="130101"/>
                </a:lnTo>
                <a:lnTo>
                  <a:pt x="34324" y="171152"/>
                </a:lnTo>
                <a:lnTo>
                  <a:pt x="9210" y="216132"/>
                </a:lnTo>
                <a:lnTo>
                  <a:pt x="0" y="265647"/>
                </a:lnTo>
                <a:lnTo>
                  <a:pt x="0" y="268210"/>
                </a:lnTo>
                <a:lnTo>
                  <a:pt x="8940" y="316990"/>
                </a:lnTo>
                <a:lnTo>
                  <a:pt x="35500" y="364248"/>
                </a:lnTo>
                <a:lnTo>
                  <a:pt x="75297" y="404672"/>
                </a:lnTo>
                <a:lnTo>
                  <a:pt x="127146" y="439397"/>
                </a:lnTo>
                <a:lnTo>
                  <a:pt x="189341" y="467772"/>
                </a:lnTo>
                <a:lnTo>
                  <a:pt x="260305" y="489070"/>
                </a:lnTo>
                <a:lnTo>
                  <a:pt x="298583" y="496812"/>
                </a:lnTo>
                <a:lnTo>
                  <a:pt x="338463" y="502474"/>
                </a:lnTo>
                <a:lnTo>
                  <a:pt x="381665" y="506083"/>
                </a:lnTo>
                <a:lnTo>
                  <a:pt x="392643" y="506083"/>
                </a:lnTo>
                <a:lnTo>
                  <a:pt x="392245" y="479355"/>
                </a:lnTo>
                <a:lnTo>
                  <a:pt x="392223" y="477827"/>
                </a:lnTo>
                <a:lnTo>
                  <a:pt x="381782" y="477827"/>
                </a:lnTo>
                <a:lnTo>
                  <a:pt x="340846" y="474317"/>
                </a:lnTo>
                <a:lnTo>
                  <a:pt x="302571" y="468838"/>
                </a:lnTo>
                <a:lnTo>
                  <a:pt x="231115" y="452055"/>
                </a:lnTo>
                <a:lnTo>
                  <a:pt x="167871" y="428317"/>
                </a:lnTo>
                <a:lnTo>
                  <a:pt x="114542" y="398664"/>
                </a:lnTo>
                <a:lnTo>
                  <a:pt x="72810" y="364248"/>
                </a:lnTo>
                <a:lnTo>
                  <a:pt x="45395" y="328209"/>
                </a:lnTo>
                <a:lnTo>
                  <a:pt x="45220" y="328209"/>
                </a:lnTo>
                <a:lnTo>
                  <a:pt x="44791" y="327284"/>
                </a:lnTo>
                <a:lnTo>
                  <a:pt x="44194" y="326369"/>
                </a:lnTo>
                <a:lnTo>
                  <a:pt x="44367" y="326369"/>
                </a:lnTo>
                <a:lnTo>
                  <a:pt x="36190" y="308739"/>
                </a:lnTo>
                <a:lnTo>
                  <a:pt x="35977" y="308739"/>
                </a:lnTo>
                <a:lnTo>
                  <a:pt x="35667" y="307611"/>
                </a:lnTo>
                <a:lnTo>
                  <a:pt x="35172" y="306544"/>
                </a:lnTo>
                <a:lnTo>
                  <a:pt x="35373" y="306544"/>
                </a:lnTo>
                <a:lnTo>
                  <a:pt x="30477" y="288761"/>
                </a:lnTo>
                <a:lnTo>
                  <a:pt x="30246" y="288761"/>
                </a:lnTo>
                <a:lnTo>
                  <a:pt x="30131" y="287505"/>
                </a:lnTo>
                <a:lnTo>
                  <a:pt x="29798" y="286292"/>
                </a:lnTo>
                <a:lnTo>
                  <a:pt x="30021" y="286292"/>
                </a:lnTo>
                <a:lnTo>
                  <a:pt x="28374" y="268210"/>
                </a:lnTo>
                <a:lnTo>
                  <a:pt x="28140" y="268210"/>
                </a:lnTo>
                <a:lnTo>
                  <a:pt x="28140" y="265647"/>
                </a:lnTo>
                <a:lnTo>
                  <a:pt x="28374" y="265647"/>
                </a:lnTo>
                <a:lnTo>
                  <a:pt x="30021" y="247566"/>
                </a:lnTo>
                <a:lnTo>
                  <a:pt x="29798" y="247566"/>
                </a:lnTo>
                <a:lnTo>
                  <a:pt x="30131" y="246353"/>
                </a:lnTo>
                <a:lnTo>
                  <a:pt x="30246" y="245097"/>
                </a:lnTo>
                <a:lnTo>
                  <a:pt x="30477" y="245097"/>
                </a:lnTo>
                <a:lnTo>
                  <a:pt x="35373" y="227314"/>
                </a:lnTo>
                <a:lnTo>
                  <a:pt x="35172" y="227314"/>
                </a:lnTo>
                <a:lnTo>
                  <a:pt x="35667" y="226248"/>
                </a:lnTo>
                <a:lnTo>
                  <a:pt x="35977" y="225120"/>
                </a:lnTo>
                <a:lnTo>
                  <a:pt x="36190" y="225120"/>
                </a:lnTo>
                <a:lnTo>
                  <a:pt x="44367" y="207490"/>
                </a:lnTo>
                <a:lnTo>
                  <a:pt x="44194" y="207490"/>
                </a:lnTo>
                <a:lnTo>
                  <a:pt x="44776" y="206608"/>
                </a:lnTo>
                <a:lnTo>
                  <a:pt x="45220" y="205651"/>
                </a:lnTo>
                <a:lnTo>
                  <a:pt x="45408" y="205651"/>
                </a:lnTo>
                <a:lnTo>
                  <a:pt x="57906" y="186721"/>
                </a:lnTo>
                <a:lnTo>
                  <a:pt x="93235" y="150973"/>
                </a:lnTo>
                <a:lnTo>
                  <a:pt x="140860" y="119142"/>
                </a:lnTo>
                <a:lnTo>
                  <a:pt x="199261" y="92528"/>
                </a:lnTo>
                <a:lnTo>
                  <a:pt x="266760" y="72283"/>
                </a:lnTo>
                <a:lnTo>
                  <a:pt x="341649" y="59448"/>
                </a:lnTo>
                <a:lnTo>
                  <a:pt x="376089" y="57325"/>
                </a:lnTo>
                <a:lnTo>
                  <a:pt x="375974" y="37185"/>
                </a:lnTo>
                <a:lnTo>
                  <a:pt x="375928" y="29048"/>
                </a:lnTo>
                <a:close/>
              </a:path>
              <a:path w="477520" h="534669">
                <a:moveTo>
                  <a:pt x="450040" y="477827"/>
                </a:moveTo>
                <a:lnTo>
                  <a:pt x="406634" y="477827"/>
                </a:lnTo>
                <a:lnTo>
                  <a:pt x="406577" y="489070"/>
                </a:lnTo>
                <a:lnTo>
                  <a:pt x="406491" y="506083"/>
                </a:lnTo>
                <a:lnTo>
                  <a:pt x="447938" y="506083"/>
                </a:lnTo>
                <a:lnTo>
                  <a:pt x="477198" y="490905"/>
                </a:lnTo>
                <a:lnTo>
                  <a:pt x="450040" y="477827"/>
                </a:lnTo>
                <a:close/>
              </a:path>
              <a:path w="477520" h="534669">
                <a:moveTo>
                  <a:pt x="44791" y="327284"/>
                </a:moveTo>
                <a:lnTo>
                  <a:pt x="45220" y="328209"/>
                </a:lnTo>
                <a:lnTo>
                  <a:pt x="45395" y="328209"/>
                </a:lnTo>
                <a:lnTo>
                  <a:pt x="44791" y="327284"/>
                </a:lnTo>
                <a:close/>
              </a:path>
              <a:path w="477520" h="534669">
                <a:moveTo>
                  <a:pt x="44367" y="326369"/>
                </a:moveTo>
                <a:lnTo>
                  <a:pt x="44194" y="326369"/>
                </a:lnTo>
                <a:lnTo>
                  <a:pt x="44791" y="327284"/>
                </a:lnTo>
                <a:lnTo>
                  <a:pt x="44367" y="326369"/>
                </a:lnTo>
                <a:close/>
              </a:path>
              <a:path w="477520" h="534669">
                <a:moveTo>
                  <a:pt x="35667" y="307611"/>
                </a:moveTo>
                <a:lnTo>
                  <a:pt x="35977" y="308739"/>
                </a:lnTo>
                <a:lnTo>
                  <a:pt x="36190" y="308739"/>
                </a:lnTo>
                <a:lnTo>
                  <a:pt x="35667" y="307611"/>
                </a:lnTo>
                <a:close/>
              </a:path>
              <a:path w="477520" h="534669">
                <a:moveTo>
                  <a:pt x="35373" y="306544"/>
                </a:moveTo>
                <a:lnTo>
                  <a:pt x="35172" y="306544"/>
                </a:lnTo>
                <a:lnTo>
                  <a:pt x="35667" y="307611"/>
                </a:lnTo>
                <a:lnTo>
                  <a:pt x="35373" y="306544"/>
                </a:lnTo>
                <a:close/>
              </a:path>
              <a:path w="477520" h="534669">
                <a:moveTo>
                  <a:pt x="30131" y="287505"/>
                </a:moveTo>
                <a:lnTo>
                  <a:pt x="30246" y="288761"/>
                </a:lnTo>
                <a:lnTo>
                  <a:pt x="30477" y="288761"/>
                </a:lnTo>
                <a:lnTo>
                  <a:pt x="30131" y="287505"/>
                </a:lnTo>
                <a:close/>
              </a:path>
              <a:path w="477520" h="534669">
                <a:moveTo>
                  <a:pt x="30021" y="286292"/>
                </a:moveTo>
                <a:lnTo>
                  <a:pt x="29798" y="286292"/>
                </a:lnTo>
                <a:lnTo>
                  <a:pt x="30131" y="287505"/>
                </a:lnTo>
                <a:lnTo>
                  <a:pt x="30021" y="286292"/>
                </a:lnTo>
                <a:close/>
              </a:path>
              <a:path w="477520" h="534669">
                <a:moveTo>
                  <a:pt x="30131" y="246353"/>
                </a:moveTo>
                <a:lnTo>
                  <a:pt x="29798" y="247566"/>
                </a:lnTo>
                <a:lnTo>
                  <a:pt x="30021" y="247566"/>
                </a:lnTo>
                <a:lnTo>
                  <a:pt x="30131" y="246353"/>
                </a:lnTo>
                <a:close/>
              </a:path>
              <a:path w="477520" h="534669">
                <a:moveTo>
                  <a:pt x="30477" y="245097"/>
                </a:moveTo>
                <a:lnTo>
                  <a:pt x="30246" y="245097"/>
                </a:lnTo>
                <a:lnTo>
                  <a:pt x="30131" y="246353"/>
                </a:lnTo>
                <a:lnTo>
                  <a:pt x="30477" y="245097"/>
                </a:lnTo>
                <a:close/>
              </a:path>
              <a:path w="477520" h="534669">
                <a:moveTo>
                  <a:pt x="35667" y="226248"/>
                </a:moveTo>
                <a:lnTo>
                  <a:pt x="35172" y="227314"/>
                </a:lnTo>
                <a:lnTo>
                  <a:pt x="35373" y="227314"/>
                </a:lnTo>
                <a:lnTo>
                  <a:pt x="35667" y="226248"/>
                </a:lnTo>
                <a:close/>
              </a:path>
              <a:path w="477520" h="534669">
                <a:moveTo>
                  <a:pt x="36190" y="225120"/>
                </a:moveTo>
                <a:lnTo>
                  <a:pt x="35977" y="225120"/>
                </a:lnTo>
                <a:lnTo>
                  <a:pt x="35667" y="226248"/>
                </a:lnTo>
                <a:lnTo>
                  <a:pt x="36190" y="225120"/>
                </a:lnTo>
                <a:close/>
              </a:path>
              <a:path w="477520" h="534669">
                <a:moveTo>
                  <a:pt x="44776" y="206608"/>
                </a:moveTo>
                <a:lnTo>
                  <a:pt x="44194" y="207490"/>
                </a:lnTo>
                <a:lnTo>
                  <a:pt x="44367" y="207490"/>
                </a:lnTo>
                <a:lnTo>
                  <a:pt x="44776" y="206608"/>
                </a:lnTo>
                <a:close/>
              </a:path>
              <a:path w="477520" h="534669">
                <a:moveTo>
                  <a:pt x="45408" y="205651"/>
                </a:moveTo>
                <a:lnTo>
                  <a:pt x="45220" y="205651"/>
                </a:lnTo>
                <a:lnTo>
                  <a:pt x="44776" y="206608"/>
                </a:lnTo>
                <a:lnTo>
                  <a:pt x="45408" y="205651"/>
                </a:lnTo>
                <a:close/>
              </a:path>
              <a:path w="477520" h="534669">
                <a:moveTo>
                  <a:pt x="432980" y="28204"/>
                </a:moveTo>
                <a:lnTo>
                  <a:pt x="389251" y="28204"/>
                </a:lnTo>
                <a:lnTo>
                  <a:pt x="390911" y="54763"/>
                </a:lnTo>
                <a:lnTo>
                  <a:pt x="391013" y="56405"/>
                </a:lnTo>
                <a:lnTo>
                  <a:pt x="376089" y="57325"/>
                </a:lnTo>
                <a:lnTo>
                  <a:pt x="376132" y="64877"/>
                </a:lnTo>
                <a:lnTo>
                  <a:pt x="376245" y="84771"/>
                </a:lnTo>
                <a:lnTo>
                  <a:pt x="460775" y="41904"/>
                </a:lnTo>
                <a:lnTo>
                  <a:pt x="432980" y="28204"/>
                </a:lnTo>
                <a:close/>
              </a:path>
              <a:path w="477520" h="534669">
                <a:moveTo>
                  <a:pt x="389251" y="28204"/>
                </a:moveTo>
                <a:lnTo>
                  <a:pt x="375928" y="29048"/>
                </a:lnTo>
                <a:lnTo>
                  <a:pt x="375974" y="37185"/>
                </a:lnTo>
                <a:lnTo>
                  <a:pt x="376089" y="57325"/>
                </a:lnTo>
                <a:lnTo>
                  <a:pt x="391013" y="56405"/>
                </a:lnTo>
                <a:lnTo>
                  <a:pt x="389303" y="29048"/>
                </a:lnTo>
                <a:lnTo>
                  <a:pt x="389251" y="28204"/>
                </a:lnTo>
                <a:close/>
              </a:path>
              <a:path w="477520" h="534669">
                <a:moveTo>
                  <a:pt x="375763" y="0"/>
                </a:moveTo>
                <a:lnTo>
                  <a:pt x="375923" y="28204"/>
                </a:lnTo>
                <a:lnTo>
                  <a:pt x="375928" y="29048"/>
                </a:lnTo>
                <a:lnTo>
                  <a:pt x="389251" y="28204"/>
                </a:lnTo>
                <a:lnTo>
                  <a:pt x="432980" y="28204"/>
                </a:lnTo>
                <a:lnTo>
                  <a:pt x="3757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84A151D-B106-3F70-EDF0-CF4E85F123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Control</a:t>
            </a:r>
            <a:r>
              <a:rPr spc="-159" dirty="0"/>
              <a:t> </a:t>
            </a:r>
            <a:r>
              <a:rPr spc="-9" dirty="0"/>
              <a:t>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453178"/>
            <a:ext cx="7397022" cy="4910232"/>
          </a:xfrm>
          <a:prstGeom prst="rect">
            <a:avLst/>
          </a:prstGeom>
        </p:spPr>
        <p:txBody>
          <a:bodyPr vert="horz" wrap="square" lIns="0" tIns="48745" rIns="0" bIns="0" rtlCol="0">
            <a:spAutoFit/>
          </a:bodyPr>
          <a:lstStyle/>
          <a:p>
            <a:pPr marL="258870" marR="4483" indent="-247663" algn="just">
              <a:lnSpc>
                <a:spcPct val="110000"/>
              </a:lnSpc>
              <a:spcBef>
                <a:spcPts val="383"/>
              </a:spcBef>
              <a:spcAft>
                <a:spcPts val="1800"/>
              </a:spcAft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dependent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	</a:t>
            </a:r>
            <a:r>
              <a:rPr sz="2400" spc="-9" dirty="0">
                <a:latin typeface="Calibri"/>
                <a:cs typeface="Calibri"/>
              </a:rPr>
              <a:t>branches,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and,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general,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dependencies 	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preserved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preserve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program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order</a:t>
            </a:r>
            <a:endParaRPr lang="en-US" sz="2400" spc="-9" dirty="0">
              <a:latin typeface="Calibri"/>
              <a:cs typeface="Calibri"/>
            </a:endParaRPr>
          </a:p>
          <a:p>
            <a:pPr marL="795338" marR="4937015" indent="-198438">
              <a:lnSpc>
                <a:spcPct val="110000"/>
              </a:lnSpc>
            </a:pPr>
            <a:r>
              <a:rPr lang="en-US" sz="2200" b="1" dirty="0">
                <a:latin typeface="Consolas"/>
                <a:cs typeface="Consolas"/>
              </a:rPr>
              <a:t>if</a:t>
            </a:r>
            <a:r>
              <a:rPr lang="en-US" sz="2200" b="1" spc="-40" dirty="0">
                <a:latin typeface="Consolas"/>
                <a:cs typeface="Consolas"/>
              </a:rPr>
              <a:t> </a:t>
            </a:r>
            <a:r>
              <a:rPr lang="en-US" sz="2200" b="1" dirty="0">
                <a:latin typeface="Consolas"/>
                <a:cs typeface="Consolas"/>
              </a:rPr>
              <a:t>p1</a:t>
            </a:r>
            <a:r>
              <a:rPr lang="en-US" sz="2200" b="1" spc="-40" dirty="0">
                <a:latin typeface="Consolas"/>
                <a:cs typeface="Consolas"/>
              </a:rPr>
              <a:t> </a:t>
            </a:r>
            <a:r>
              <a:rPr lang="en-US" sz="2200" b="1" spc="-44" dirty="0">
                <a:latin typeface="Consolas"/>
                <a:cs typeface="Consolas"/>
              </a:rPr>
              <a:t>{ </a:t>
            </a:r>
            <a:br>
              <a:rPr lang="en-US" sz="2200" b="1" spc="-44" dirty="0">
                <a:latin typeface="Consolas"/>
                <a:cs typeface="Consolas"/>
              </a:rPr>
            </a:br>
            <a:r>
              <a:rPr lang="en-US" sz="2200" b="1" spc="-22" dirty="0">
                <a:latin typeface="Consolas"/>
                <a:cs typeface="Consolas"/>
              </a:rPr>
              <a:t>S1;</a:t>
            </a:r>
            <a:endParaRPr lang="en-US" sz="2200" dirty="0">
              <a:latin typeface="Consolas"/>
              <a:cs typeface="Consolas"/>
            </a:endParaRPr>
          </a:p>
          <a:p>
            <a:pPr marL="795338" indent="-198438">
              <a:lnSpc>
                <a:spcPct val="110000"/>
              </a:lnSpc>
              <a:spcBef>
                <a:spcPts val="212"/>
              </a:spcBef>
            </a:pPr>
            <a:r>
              <a:rPr lang="en-US" sz="2200" b="1" spc="-44" dirty="0">
                <a:latin typeface="Consolas"/>
                <a:cs typeface="Consolas"/>
              </a:rPr>
              <a:t>}</a:t>
            </a:r>
            <a:endParaRPr lang="en-US" sz="2200" dirty="0">
              <a:latin typeface="Consolas"/>
              <a:cs typeface="Consolas"/>
            </a:endParaRPr>
          </a:p>
          <a:p>
            <a:pPr marL="795338" marR="4937015" indent="-198438">
              <a:lnSpc>
                <a:spcPct val="110000"/>
              </a:lnSpc>
              <a:spcBef>
                <a:spcPts val="22"/>
              </a:spcBef>
            </a:pPr>
            <a:r>
              <a:rPr lang="en-US" sz="2200" b="1" dirty="0">
                <a:latin typeface="Consolas"/>
                <a:cs typeface="Consolas"/>
              </a:rPr>
              <a:t>if</a:t>
            </a:r>
            <a:r>
              <a:rPr lang="en-US" sz="2200" b="1" spc="-40" dirty="0">
                <a:latin typeface="Consolas"/>
                <a:cs typeface="Consolas"/>
              </a:rPr>
              <a:t> </a:t>
            </a:r>
            <a:r>
              <a:rPr lang="en-US" sz="2200" b="1" dirty="0">
                <a:latin typeface="Consolas"/>
                <a:cs typeface="Consolas"/>
              </a:rPr>
              <a:t>p2</a:t>
            </a:r>
            <a:r>
              <a:rPr lang="en-US" sz="2200" b="1" spc="-40" dirty="0">
                <a:latin typeface="Consolas"/>
                <a:cs typeface="Consolas"/>
              </a:rPr>
              <a:t> </a:t>
            </a:r>
            <a:r>
              <a:rPr lang="en-US" sz="2200" b="1" spc="-44" dirty="0">
                <a:latin typeface="Consolas"/>
                <a:cs typeface="Consolas"/>
              </a:rPr>
              <a:t>{ </a:t>
            </a:r>
            <a:br>
              <a:rPr lang="en-US" sz="2200" b="1" spc="-44" dirty="0">
                <a:latin typeface="Consolas"/>
                <a:cs typeface="Consolas"/>
              </a:rPr>
            </a:br>
            <a:r>
              <a:rPr lang="en-US" sz="2200" b="1" spc="-22" dirty="0">
                <a:latin typeface="Consolas"/>
                <a:cs typeface="Consolas"/>
              </a:rPr>
              <a:t>S2;</a:t>
            </a:r>
            <a:endParaRPr lang="en-US" sz="2200" dirty="0">
              <a:latin typeface="Consolas"/>
              <a:cs typeface="Consolas"/>
            </a:endParaRPr>
          </a:p>
          <a:p>
            <a:pPr marL="795338" indent="-198438">
              <a:lnSpc>
                <a:spcPct val="110000"/>
              </a:lnSpc>
              <a:spcAft>
                <a:spcPts val="1800"/>
              </a:spcAft>
            </a:pPr>
            <a:r>
              <a:rPr lang="en-US" sz="2200" b="1" spc="-44" dirty="0">
                <a:latin typeface="Consolas"/>
                <a:cs typeface="Consolas"/>
              </a:rPr>
              <a:t>}</a:t>
            </a:r>
            <a:endParaRPr lang="en-US" sz="2200" spc="-9" dirty="0">
              <a:latin typeface="Calibri"/>
              <a:cs typeface="Calibri"/>
            </a:endParaRPr>
          </a:p>
          <a:p>
            <a:pPr marL="258870" marR="4483" indent="-247663" algn="just">
              <a:lnSpc>
                <a:spcPct val="110000"/>
              </a:lnSpc>
              <a:spcBef>
                <a:spcPts val="383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S1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dependent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p1,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S2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control </a:t>
            </a:r>
            <a:r>
              <a:rPr sz="2400" spc="-18" dirty="0">
                <a:latin typeface="Calibri"/>
                <a:cs typeface="Calibri"/>
              </a:rPr>
              <a:t>dependent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p2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p1.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0C4438FE-AB0D-A3A4-A62E-973152514B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Review</a:t>
            </a:r>
            <a:r>
              <a:rPr spc="-137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33194"/>
            <a:ext cx="7370517" cy="4944959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9361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93610" algn="l"/>
              </a:tabLst>
            </a:pP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machine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6-</a:t>
            </a:r>
            <a:r>
              <a:rPr sz="2400" spc="-18" dirty="0">
                <a:latin typeface="Calibri"/>
                <a:cs typeface="Calibri"/>
              </a:rPr>
              <a:t>stage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</a:t>
            </a:r>
            <a:endParaRPr sz="24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direction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target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known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baseline="23148" dirty="0">
                <a:latin typeface="Calibri"/>
                <a:cs typeface="Calibri"/>
              </a:rPr>
              <a:t>th</a:t>
            </a:r>
            <a:r>
              <a:rPr sz="2200" spc="99" baseline="2314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20%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branches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401"/>
              </a:spcBef>
              <a:buChar char="–"/>
              <a:tabLst>
                <a:tab pos="643252" algn="l"/>
              </a:tabLst>
            </a:pP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i="1" spc="-18" dirty="0">
                <a:latin typeface="Calibri"/>
                <a:cs typeface="Calibri"/>
              </a:rPr>
              <a:t>statically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predicted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i="1" spc="-31" dirty="0">
                <a:latin typeface="Calibri"/>
                <a:cs typeface="Calibri"/>
              </a:rPr>
              <a:t>not-</a:t>
            </a:r>
            <a:r>
              <a:rPr sz="2200" i="1" spc="-9" dirty="0">
                <a:latin typeface="Calibri"/>
                <a:cs typeface="Calibri"/>
              </a:rPr>
              <a:t>taken</a:t>
            </a:r>
            <a:endParaRPr sz="2200" i="1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296"/>
              </a:spcBef>
              <a:spcAft>
                <a:spcPts val="2400"/>
              </a:spcAft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60%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correct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prediction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400" dirty="0">
              <a:latin typeface="Calibri"/>
              <a:cs typeface="Calibri"/>
            </a:endParaRPr>
          </a:p>
          <a:p>
            <a:pPr marL="294170" marR="15689" indent="-249344">
              <a:lnSpc>
                <a:spcPct val="110000"/>
              </a:lnSpc>
              <a:spcBef>
                <a:spcPts val="4"/>
              </a:spcBef>
              <a:buChar char="•"/>
              <a:tabLst>
                <a:tab pos="29417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wasted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misprediction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machine?</a:t>
            </a:r>
            <a:endParaRPr sz="24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57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A.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3</a:t>
            </a:r>
            <a:endParaRPr sz="22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83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B.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4</a:t>
            </a:r>
            <a:endParaRPr sz="22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79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C.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5</a:t>
            </a:r>
            <a:endParaRPr sz="22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18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D.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6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8478" y="6275618"/>
            <a:ext cx="7978588" cy="384361"/>
            <a:chOff x="508000" y="6842025"/>
            <a:chExt cx="9042400" cy="43560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1867" y="6842025"/>
              <a:ext cx="578533" cy="4350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8000" y="6863887"/>
              <a:ext cx="9042400" cy="413384"/>
            </a:xfrm>
            <a:custGeom>
              <a:avLst/>
              <a:gdLst/>
              <a:ahLst/>
              <a:cxnLst/>
              <a:rect l="l" t="t" r="r" b="b"/>
              <a:pathLst>
                <a:path w="9042400" h="413384">
                  <a:moveTo>
                    <a:pt x="0" y="413213"/>
                  </a:moveTo>
                  <a:lnTo>
                    <a:pt x="0" y="0"/>
                  </a:lnTo>
                  <a:lnTo>
                    <a:pt x="9042400" y="0"/>
                  </a:lnTo>
                  <a:lnTo>
                    <a:pt x="9042400" y="413213"/>
                  </a:lnTo>
                  <a:lnTo>
                    <a:pt x="0" y="413213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FB39657C-632C-791B-123F-0ECE9D5F2E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56104" y="6026404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2091" y="1233194"/>
            <a:ext cx="7344013" cy="3667494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9361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93610" algn="l"/>
              </a:tabLst>
            </a:pP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machine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6-</a:t>
            </a:r>
            <a:r>
              <a:rPr sz="2400" spc="-18" dirty="0">
                <a:latin typeface="Calibri"/>
                <a:cs typeface="Calibri"/>
              </a:rPr>
              <a:t>stage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</a:t>
            </a:r>
            <a:endParaRPr sz="24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direction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target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known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baseline="23148" dirty="0">
                <a:latin typeface="Calibri"/>
                <a:cs typeface="Calibri"/>
              </a:rPr>
              <a:t>th</a:t>
            </a:r>
            <a:r>
              <a:rPr sz="2200" spc="99" baseline="2314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20%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branches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401"/>
              </a:spcBef>
              <a:buChar char="–"/>
              <a:tabLst>
                <a:tab pos="643252" algn="l"/>
              </a:tabLst>
            </a:pP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i="1" spc="-9" dirty="0">
                <a:latin typeface="Calibri"/>
                <a:cs typeface="Calibri"/>
              </a:rPr>
              <a:t>statically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predicted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spc="-31" dirty="0">
                <a:latin typeface="Calibri"/>
                <a:cs typeface="Calibri"/>
              </a:rPr>
              <a:t>not-</a:t>
            </a:r>
            <a:r>
              <a:rPr sz="2200" i="1" spc="-9" dirty="0">
                <a:latin typeface="Calibri"/>
                <a:cs typeface="Calibri"/>
              </a:rPr>
              <a:t>taken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296"/>
              </a:spcBef>
              <a:spcAft>
                <a:spcPts val="2400"/>
              </a:spcAft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60%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correct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prediction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400" dirty="0">
              <a:latin typeface="Calibri"/>
              <a:cs typeface="Calibri"/>
            </a:endParaRPr>
          </a:p>
          <a:p>
            <a:pPr marL="294170" marR="15689" indent="-249344" algn="just">
              <a:lnSpc>
                <a:spcPct val="110000"/>
              </a:lnSpc>
              <a:buChar char="•"/>
              <a:tabLst>
                <a:tab pos="294170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average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CPI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control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stalls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are </a:t>
            </a:r>
            <a:r>
              <a:rPr sz="2400" spc="-18" dirty="0">
                <a:latin typeface="Calibri"/>
                <a:cs typeface="Calibri"/>
              </a:rPr>
              <a:t>considered?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stalls,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ideal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CPI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31" dirty="0">
                <a:latin typeface="Calibri"/>
                <a:cs typeface="Calibri"/>
              </a:rPr>
              <a:t>1.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9925B85D-95BE-BFB3-71AB-B71724D481B1}"/>
              </a:ext>
            </a:extLst>
          </p:cNvPr>
          <p:cNvGrpSpPr/>
          <p:nvPr/>
        </p:nvGrpSpPr>
        <p:grpSpPr>
          <a:xfrm>
            <a:off x="728478" y="6275618"/>
            <a:ext cx="7978588" cy="384361"/>
            <a:chOff x="508000" y="6842025"/>
            <a:chExt cx="9042400" cy="435609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16EEB739-ADF6-BE0A-220D-A91402F857A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1867" y="6842025"/>
              <a:ext cx="578533" cy="435074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9C330FDF-EFD8-3FF5-C2AC-F24CDF0443C5}"/>
                </a:ext>
              </a:extLst>
            </p:cNvPr>
            <p:cNvSpPr/>
            <p:nvPr/>
          </p:nvSpPr>
          <p:spPr>
            <a:xfrm>
              <a:off x="508000" y="6863887"/>
              <a:ext cx="9042400" cy="413384"/>
            </a:xfrm>
            <a:custGeom>
              <a:avLst/>
              <a:gdLst/>
              <a:ahLst/>
              <a:cxnLst/>
              <a:rect l="l" t="t" r="r" b="b"/>
              <a:pathLst>
                <a:path w="9042400" h="413384">
                  <a:moveTo>
                    <a:pt x="0" y="413213"/>
                  </a:moveTo>
                  <a:lnTo>
                    <a:pt x="0" y="0"/>
                  </a:lnTo>
                  <a:lnTo>
                    <a:pt x="9042400" y="0"/>
                  </a:lnTo>
                  <a:lnTo>
                    <a:pt x="9042400" y="413213"/>
                  </a:lnTo>
                  <a:lnTo>
                    <a:pt x="0" y="413213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C3496E8E-34BC-2AEA-182E-A669CD7CDB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56104" y="6026404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749D3BC4-7678-4A18-AF8A-FC64929F2005}"/>
              </a:ext>
            </a:extLst>
          </p:cNvPr>
          <p:cNvSpPr txBox="1">
            <a:spLocks/>
          </p:cNvSpPr>
          <p:nvPr/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78743" defTabSz="914400">
              <a:spcBef>
                <a:spcPts val="88"/>
              </a:spcBef>
            </a:pPr>
            <a:r>
              <a:rPr lang="en-US" kern="0"/>
              <a:t>Review</a:t>
            </a:r>
            <a:r>
              <a:rPr lang="en-US" kern="0" spc="-137"/>
              <a:t> </a:t>
            </a:r>
            <a:r>
              <a:rPr lang="en-US" kern="0" spc="-9"/>
              <a:t>Question</a:t>
            </a:r>
            <a:endParaRPr lang="en-US" kern="0" spc="-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spc="-9" dirty="0"/>
              <a:t>Violating</a:t>
            </a:r>
            <a:r>
              <a:rPr spc="-128" dirty="0"/>
              <a:t> </a:t>
            </a:r>
            <a:r>
              <a:rPr dirty="0"/>
              <a:t>Control</a:t>
            </a:r>
            <a:r>
              <a:rPr spc="-115" dirty="0"/>
              <a:t> </a:t>
            </a:r>
            <a:r>
              <a:rPr spc="-9" dirty="0"/>
              <a:t>Dependence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2091" y="1396701"/>
            <a:ext cx="7410274" cy="4680116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 algn="just">
              <a:lnSpc>
                <a:spcPct val="110000"/>
              </a:lnSpc>
              <a:spcBef>
                <a:spcPts val="529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2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properties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program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correctness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are</a:t>
            </a:r>
            <a:endParaRPr sz="2400" dirty="0">
              <a:latin typeface="Calibri"/>
              <a:cs typeface="Calibri"/>
            </a:endParaRPr>
          </a:p>
          <a:p>
            <a:pPr marL="607952" lvl="1" indent="-198355" algn="just">
              <a:lnSpc>
                <a:spcPct val="110000"/>
              </a:lnSpc>
              <a:spcBef>
                <a:spcPts val="446"/>
              </a:spcBef>
              <a:buFont typeface="Calibri"/>
              <a:buChar char="–"/>
              <a:tabLst>
                <a:tab pos="607952" algn="l"/>
              </a:tabLst>
            </a:pPr>
            <a:r>
              <a:rPr sz="2200" b="1" spc="-9" dirty="0">
                <a:latin typeface="Calibri"/>
                <a:cs typeface="Calibri"/>
              </a:rPr>
              <a:t>exception</a:t>
            </a:r>
            <a:r>
              <a:rPr sz="2200" b="1" spc="-88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behavior</a:t>
            </a:r>
            <a:r>
              <a:rPr sz="2200" b="1" spc="-8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607952" lvl="1" indent="-198355" algn="just">
              <a:lnSpc>
                <a:spcPct val="110000"/>
              </a:lnSpc>
              <a:spcBef>
                <a:spcPts val="468"/>
              </a:spcBef>
              <a:spcAft>
                <a:spcPts val="1800"/>
              </a:spcAft>
              <a:buFont typeface="Calibri"/>
              <a:buChar char="–"/>
              <a:tabLst>
                <a:tab pos="607952" algn="l"/>
              </a:tabLst>
            </a:pP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97" dirty="0">
                <a:latin typeface="Calibri"/>
                <a:cs typeface="Calibri"/>
              </a:rPr>
              <a:t> </a:t>
            </a:r>
            <a:r>
              <a:rPr sz="2200" b="1" spc="-18" dirty="0">
                <a:latin typeface="Calibri"/>
                <a:cs typeface="Calibri"/>
              </a:rPr>
              <a:t>flow</a:t>
            </a:r>
            <a:endParaRPr sz="2200" dirty="0">
              <a:latin typeface="Calibri"/>
              <a:cs typeface="Calibri"/>
            </a:endParaRPr>
          </a:p>
          <a:p>
            <a:pPr marL="260551" marR="4483" indent="-249344" algn="just">
              <a:lnSpc>
                <a:spcPct val="110000"/>
              </a:lnSpc>
              <a:spcAft>
                <a:spcPts val="1800"/>
              </a:spcAft>
              <a:buFont typeface="Calibri"/>
              <a:buChar char="•"/>
              <a:tabLst>
                <a:tab pos="260551" algn="l"/>
              </a:tabLst>
            </a:pPr>
            <a:r>
              <a:rPr sz="2400" i="1" dirty="0">
                <a:latin typeface="Calibri"/>
                <a:cs typeface="Calibri"/>
              </a:rPr>
              <a:t>By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preserving</a:t>
            </a:r>
            <a:r>
              <a:rPr sz="2400" i="1" spc="-71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the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control</a:t>
            </a:r>
            <a:r>
              <a:rPr sz="2400" i="1" spc="-66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71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data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spc="-18" dirty="0">
                <a:latin typeface="Calibri"/>
                <a:cs typeface="Calibri"/>
              </a:rPr>
              <a:t>dependences,</a:t>
            </a:r>
            <a:r>
              <a:rPr sz="2400" i="1" spc="-66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we</a:t>
            </a:r>
            <a:r>
              <a:rPr sz="2400" i="1" spc="-71" dirty="0">
                <a:latin typeface="Calibri"/>
                <a:cs typeface="Calibri"/>
              </a:rPr>
              <a:t> </a:t>
            </a:r>
            <a:r>
              <a:rPr sz="2400" i="1" spc="-22" dirty="0">
                <a:latin typeface="Calibri"/>
                <a:cs typeface="Calibri"/>
              </a:rPr>
              <a:t>can </a:t>
            </a:r>
            <a:r>
              <a:rPr sz="2400" i="1" dirty="0">
                <a:latin typeface="Calibri"/>
                <a:cs typeface="Calibri"/>
              </a:rPr>
              <a:t>keep</a:t>
            </a:r>
            <a:r>
              <a:rPr sz="2400" i="1" spc="-84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correct</a:t>
            </a:r>
            <a:r>
              <a:rPr sz="2400" i="1" spc="-84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exception</a:t>
            </a:r>
            <a:r>
              <a:rPr sz="2400" i="1" spc="-79" dirty="0">
                <a:latin typeface="Calibri"/>
                <a:cs typeface="Calibri"/>
              </a:rPr>
              <a:t> </a:t>
            </a:r>
            <a:r>
              <a:rPr sz="2400" i="1" spc="-9" dirty="0">
                <a:latin typeface="Calibri"/>
                <a:cs typeface="Calibri"/>
              </a:rPr>
              <a:t>behavior</a:t>
            </a:r>
            <a:r>
              <a:rPr sz="2400" i="1" spc="-79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and</a:t>
            </a:r>
            <a:r>
              <a:rPr sz="2400" i="1" spc="-79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data</a:t>
            </a:r>
            <a:r>
              <a:rPr sz="2400" i="1" spc="-84" dirty="0">
                <a:latin typeface="Calibri"/>
                <a:cs typeface="Calibri"/>
              </a:rPr>
              <a:t> </a:t>
            </a:r>
            <a:r>
              <a:rPr sz="2400" i="1" spc="-18" dirty="0">
                <a:latin typeface="Calibri"/>
                <a:cs typeface="Calibri"/>
              </a:rPr>
              <a:t>flow</a:t>
            </a:r>
            <a:endParaRPr lang="en-US" sz="2400" i="1" spc="-18" dirty="0">
              <a:latin typeface="Calibri"/>
              <a:cs typeface="Calibri"/>
            </a:endParaRPr>
          </a:p>
          <a:p>
            <a:pPr marL="260551" marR="4483" indent="-249344" algn="just">
              <a:lnSpc>
                <a:spcPct val="110000"/>
              </a:lnSpc>
              <a:spcBef>
                <a:spcPts val="375"/>
              </a:spcBef>
              <a:buChar char="•"/>
              <a:tabLst>
                <a:tab pos="260551" algn="l"/>
              </a:tabLst>
            </a:pPr>
            <a:r>
              <a:rPr lang="en-US" sz="2400" spc="-9" dirty="0">
                <a:cs typeface="Calibri"/>
              </a:rPr>
              <a:t>Control</a:t>
            </a:r>
            <a:r>
              <a:rPr lang="en-US" sz="2400" spc="-97" dirty="0">
                <a:cs typeface="Calibri"/>
              </a:rPr>
              <a:t> </a:t>
            </a:r>
            <a:r>
              <a:rPr lang="en-US" sz="2400" spc="-18" dirty="0">
                <a:cs typeface="Calibri"/>
              </a:rPr>
              <a:t>dependence</a:t>
            </a:r>
            <a:r>
              <a:rPr lang="en-US" sz="2400" spc="-57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need</a:t>
            </a:r>
            <a:r>
              <a:rPr lang="en-US" sz="2400" spc="-62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not</a:t>
            </a:r>
            <a:r>
              <a:rPr lang="en-US" sz="2400" spc="-62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be</a:t>
            </a:r>
            <a:r>
              <a:rPr lang="en-US" sz="2400" spc="-57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preserved,</a:t>
            </a:r>
            <a:r>
              <a:rPr lang="en-US" sz="2400" spc="-53" dirty="0">
                <a:cs typeface="Calibri"/>
              </a:rPr>
              <a:t> </a:t>
            </a:r>
            <a:r>
              <a:rPr lang="en-US" sz="2400" b="1" i="1" spc="-18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  <a:t>if</a:t>
            </a:r>
            <a:r>
              <a:rPr lang="en-US" sz="2400" b="1" i="1" spc="-141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400" b="1" i="1" u="heavy" dirty="0">
                <a:uFill>
                  <a:solidFill>
                    <a:srgbClr val="000000"/>
                  </a:solidFill>
                </a:uFill>
                <a:cs typeface="Calibri"/>
              </a:rPr>
              <a:t>we</a:t>
            </a:r>
            <a:r>
              <a:rPr lang="en-US" sz="2400" b="1" i="1" u="heavy" spc="-66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dirty="0">
                <a:uFill>
                  <a:solidFill>
                    <a:srgbClr val="000000"/>
                  </a:solidFill>
                </a:uFill>
                <a:cs typeface="Calibri"/>
              </a:rPr>
              <a:t>can</a:t>
            </a:r>
            <a:r>
              <a:rPr lang="en-US" sz="2400" b="1" i="1" u="heavy" spc="-66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spc="-22" dirty="0">
                <a:uFill>
                  <a:solidFill>
                    <a:srgbClr val="000000"/>
                  </a:solidFill>
                </a:uFill>
                <a:cs typeface="Calibri"/>
              </a:rPr>
              <a:t>do</a:t>
            </a:r>
            <a:r>
              <a:rPr lang="en-US" sz="2400" b="1" i="1" spc="-22" dirty="0">
                <a:cs typeface="Calibri"/>
              </a:rPr>
              <a:t> </a:t>
            </a:r>
            <a:r>
              <a:rPr lang="en-US" sz="2400" b="1" i="1" u="heavy" dirty="0">
                <a:uFill>
                  <a:solidFill>
                    <a:srgbClr val="000000"/>
                  </a:solidFill>
                </a:uFill>
                <a:cs typeface="Calibri"/>
              </a:rPr>
              <a:t>so</a:t>
            </a:r>
            <a:r>
              <a:rPr lang="en-US" sz="2400" b="1" i="1" u="heavy" spc="-71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dirty="0">
                <a:uFill>
                  <a:solidFill>
                    <a:srgbClr val="000000"/>
                  </a:solidFill>
                </a:uFill>
                <a:cs typeface="Calibri"/>
              </a:rPr>
              <a:t>without</a:t>
            </a:r>
            <a:r>
              <a:rPr lang="en-US" sz="2400" b="1" i="1" u="heavy" spc="-62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spc="-9" dirty="0">
                <a:uFill>
                  <a:solidFill>
                    <a:srgbClr val="000000"/>
                  </a:solidFill>
                </a:uFill>
                <a:cs typeface="Calibri"/>
              </a:rPr>
              <a:t>affecting</a:t>
            </a:r>
            <a:r>
              <a:rPr lang="en-US" sz="2400" b="1" i="1" u="heavy" spc="-66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spc="-9" dirty="0">
                <a:uFill>
                  <a:solidFill>
                    <a:srgbClr val="000000"/>
                  </a:solidFill>
                </a:uFill>
                <a:cs typeface="Calibri"/>
              </a:rPr>
              <a:t>correctness</a:t>
            </a:r>
            <a:r>
              <a:rPr lang="en-US" sz="2400" b="1" i="1" u="heavy" spc="-66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dirty="0">
                <a:uFill>
                  <a:solidFill>
                    <a:srgbClr val="000000"/>
                  </a:solidFill>
                </a:uFill>
                <a:cs typeface="Calibri"/>
              </a:rPr>
              <a:t>of</a:t>
            </a:r>
            <a:r>
              <a:rPr lang="en-US" sz="2400" b="1" i="1" u="heavy" spc="-62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dirty="0">
                <a:uFill>
                  <a:solidFill>
                    <a:srgbClr val="000000"/>
                  </a:solidFill>
                </a:uFill>
                <a:cs typeface="Calibri"/>
              </a:rPr>
              <a:t>the</a:t>
            </a:r>
            <a:r>
              <a:rPr lang="en-US" sz="2400" b="1" i="1" u="heavy" spc="-71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lang="en-US" sz="2400" b="1" i="1" u="heavy" spc="-9" dirty="0">
                <a:uFill>
                  <a:solidFill>
                    <a:srgbClr val="000000"/>
                  </a:solidFill>
                </a:uFill>
                <a:cs typeface="Calibri"/>
              </a:rPr>
              <a:t>program</a:t>
            </a:r>
            <a:endParaRPr lang="en-US" sz="2400" dirty="0">
              <a:cs typeface="Calibri"/>
            </a:endParaRPr>
          </a:p>
          <a:p>
            <a:pPr marL="609633" marR="373175" indent="-199475" algn="just">
              <a:lnSpc>
                <a:spcPct val="110000"/>
              </a:lnSpc>
              <a:spcBef>
                <a:spcPts val="565"/>
              </a:spcBef>
            </a:pPr>
            <a:r>
              <a:rPr lang="en-US" sz="2200" dirty="0">
                <a:cs typeface="Calibri"/>
              </a:rPr>
              <a:t>–</a:t>
            </a:r>
            <a:r>
              <a:rPr lang="en-US" sz="2200" spc="335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willing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to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execute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instructions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that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should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not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have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been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executed, thereby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violating</a:t>
            </a:r>
            <a:r>
              <a:rPr lang="en-US" sz="2200" spc="-49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the</a:t>
            </a:r>
            <a:r>
              <a:rPr lang="en-US" sz="2200" spc="-40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control</a:t>
            </a:r>
            <a:r>
              <a:rPr lang="en-US" sz="2200" spc="-4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dependence</a:t>
            </a:r>
            <a:endParaRPr lang="en-US" sz="2200" dirty="0">
              <a:cs typeface="Calibri"/>
            </a:endParaRPr>
          </a:p>
          <a:p>
            <a:pPr marL="260551" marR="4483" indent="-249344">
              <a:lnSpc>
                <a:spcPct val="110000"/>
              </a:lnSpc>
              <a:buFont typeface="Calibri"/>
              <a:buChar char="•"/>
              <a:tabLst>
                <a:tab pos="260551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38D3BE92-746D-AA9B-8F4A-41589B846F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spc="-9" dirty="0"/>
              <a:t>Exception</a:t>
            </a:r>
            <a:r>
              <a:rPr spc="-146" dirty="0"/>
              <a:t> </a:t>
            </a:r>
            <a:r>
              <a:rPr spc="-9" dirty="0"/>
              <a:t>Behavior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091" y="1378966"/>
            <a:ext cx="7410274" cy="1468238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59990" indent="-248784">
              <a:spcBef>
                <a:spcPts val="569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Preserving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exception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behavior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means:</a:t>
            </a:r>
            <a:endParaRPr sz="2400" dirty="0">
              <a:latin typeface="Calibri"/>
              <a:cs typeface="Calibri"/>
            </a:endParaRPr>
          </a:p>
          <a:p>
            <a:pPr marL="609633" marR="4483" lvl="1" indent="-199475">
              <a:spcBef>
                <a:spcPts val="543"/>
              </a:spcBef>
              <a:buChar char="–"/>
              <a:tabLst>
                <a:tab pos="609633" algn="l"/>
              </a:tabLst>
            </a:pPr>
            <a:r>
              <a:rPr sz="2000" dirty="0">
                <a:latin typeface="Calibri"/>
                <a:cs typeface="Calibri"/>
              </a:rPr>
              <a:t>any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changes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instruction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execution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change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how </a:t>
            </a:r>
            <a:r>
              <a:rPr sz="2000" spc="-9" dirty="0">
                <a:latin typeface="Calibri"/>
                <a:cs typeface="Calibri"/>
              </a:rPr>
              <a:t>exceptions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raised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(no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57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exceptions)</a:t>
            </a:r>
            <a:endParaRPr sz="2000" dirty="0">
              <a:latin typeface="Calibri"/>
              <a:cs typeface="Calibri"/>
            </a:endParaRPr>
          </a:p>
          <a:p>
            <a:pPr marL="609633" lvl="1" indent="-200036">
              <a:spcBef>
                <a:spcPts val="287"/>
              </a:spcBef>
              <a:buChar char="–"/>
              <a:tabLst>
                <a:tab pos="609633" algn="l"/>
              </a:tabLst>
            </a:pPr>
            <a:r>
              <a:rPr sz="2000" spc="-9" dirty="0">
                <a:latin typeface="Calibri"/>
                <a:cs typeface="Calibri"/>
              </a:rPr>
              <a:t>Example: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8713" y="4010378"/>
            <a:ext cx="7023652" cy="2435245"/>
          </a:xfrm>
          <a:prstGeom prst="rect">
            <a:avLst/>
          </a:prstGeom>
        </p:spPr>
        <p:txBody>
          <a:bodyPr vert="horz" wrap="square" lIns="0" tIns="62193" rIns="0" bIns="0" rtlCol="0">
            <a:spAutoFit/>
          </a:bodyPr>
          <a:lstStyle/>
          <a:p>
            <a:pPr marL="211242" indent="-200036">
              <a:spcBef>
                <a:spcPts val="490"/>
              </a:spcBef>
              <a:buChar char="–"/>
              <a:tabLst>
                <a:tab pos="211242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dependence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between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BEQZ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LW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read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R2.</a:t>
            </a:r>
            <a:endParaRPr sz="2000" dirty="0">
              <a:latin typeface="Calibri"/>
              <a:cs typeface="Calibri"/>
            </a:endParaRPr>
          </a:p>
          <a:p>
            <a:pPr marL="211242" indent="-200036">
              <a:spcBef>
                <a:spcPts val="401"/>
              </a:spcBef>
              <a:buChar char="–"/>
              <a:tabLst>
                <a:tab pos="211242" algn="l"/>
              </a:tabLst>
            </a:pPr>
            <a:r>
              <a:rPr sz="2000" dirty="0">
                <a:latin typeface="Calibri"/>
                <a:cs typeface="Calibri"/>
              </a:rPr>
              <a:t>But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LW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execution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control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dependent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18" dirty="0">
                <a:latin typeface="Calibri"/>
                <a:cs typeface="Calibri"/>
              </a:rPr>
              <a:t>BEQZ</a:t>
            </a:r>
            <a:endParaRPr sz="2000" dirty="0">
              <a:latin typeface="Calibri"/>
              <a:cs typeface="Calibri"/>
            </a:endParaRPr>
          </a:p>
          <a:p>
            <a:pPr marL="210682" marR="839926" indent="-199475">
              <a:spcBef>
                <a:spcPts val="627"/>
              </a:spcBef>
              <a:buChar char="–"/>
              <a:tabLst>
                <a:tab pos="210682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switch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execution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achieve performance</a:t>
            </a:r>
            <a:r>
              <a:rPr sz="2000" spc="-66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improvement?</a:t>
            </a:r>
            <a:endParaRPr sz="2000" dirty="0">
              <a:latin typeface="Calibri"/>
              <a:cs typeface="Calibri"/>
            </a:endParaRPr>
          </a:p>
          <a:p>
            <a:pPr marL="609633" marR="4483" indent="-199475">
              <a:spcBef>
                <a:spcPts val="441"/>
              </a:spcBef>
            </a:pPr>
            <a:r>
              <a:rPr sz="2000" dirty="0">
                <a:latin typeface="Calibri"/>
                <a:cs typeface="Calibri"/>
              </a:rPr>
              <a:t>»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branch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taken,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potential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value loaded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LW</a:t>
            </a:r>
            <a:r>
              <a:rPr sz="2000" spc="-4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would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saved.</a:t>
            </a:r>
            <a:endParaRPr sz="2000" dirty="0">
              <a:latin typeface="Calibri"/>
              <a:cs typeface="Calibri"/>
            </a:endParaRPr>
          </a:p>
          <a:p>
            <a:pPr marL="211242" indent="-200036">
              <a:spcBef>
                <a:spcPts val="251"/>
              </a:spcBef>
              <a:buChar char="–"/>
              <a:tabLst>
                <a:tab pos="211242" algn="l"/>
              </a:tabLst>
            </a:pPr>
            <a:r>
              <a:rPr sz="2000" spc="-9" dirty="0">
                <a:latin typeface="Calibri"/>
                <a:cs typeface="Calibri"/>
              </a:rPr>
              <a:t>Problem</a:t>
            </a:r>
            <a:r>
              <a:rPr sz="2000" spc="-6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executing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LW</a:t>
            </a:r>
            <a:r>
              <a:rPr sz="2000" spc="-6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before</a:t>
            </a:r>
            <a:r>
              <a:rPr sz="2000" spc="-5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BEQZ?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7377EE-00EF-CF97-3BAC-772D25FB7342}"/>
              </a:ext>
            </a:extLst>
          </p:cNvPr>
          <p:cNvGrpSpPr/>
          <p:nvPr/>
        </p:nvGrpSpPr>
        <p:grpSpPr>
          <a:xfrm>
            <a:off x="1859709" y="2910759"/>
            <a:ext cx="6356639" cy="919369"/>
            <a:chOff x="1859709" y="2539701"/>
            <a:chExt cx="6356639" cy="919369"/>
          </a:xfrm>
        </p:grpSpPr>
        <p:sp>
          <p:nvSpPr>
            <p:cNvPr id="3" name="object 3"/>
            <p:cNvSpPr/>
            <p:nvPr/>
          </p:nvSpPr>
          <p:spPr>
            <a:xfrm>
              <a:off x="2977667" y="2796778"/>
              <a:ext cx="218515" cy="235324"/>
            </a:xfrm>
            <a:custGeom>
              <a:avLst/>
              <a:gdLst/>
              <a:ahLst/>
              <a:cxnLst/>
              <a:rect l="l" t="t" r="r" b="b"/>
              <a:pathLst>
                <a:path w="247650" h="266700">
                  <a:moveTo>
                    <a:pt x="247341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47341" y="266700"/>
                  </a:lnTo>
                  <a:lnTo>
                    <a:pt x="24734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4" name="object 4"/>
            <p:cNvSpPr/>
            <p:nvPr/>
          </p:nvSpPr>
          <p:spPr>
            <a:xfrm>
              <a:off x="3524809" y="3009746"/>
              <a:ext cx="218515" cy="235324"/>
            </a:xfrm>
            <a:custGeom>
              <a:avLst/>
              <a:gdLst/>
              <a:ahLst/>
              <a:cxnLst/>
              <a:rect l="l" t="t" r="r" b="b"/>
              <a:pathLst>
                <a:path w="247650" h="266700">
                  <a:moveTo>
                    <a:pt x="247341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247341" y="266700"/>
                  </a:lnTo>
                  <a:lnTo>
                    <a:pt x="24734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1600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2966461" y="2762921"/>
              <a:ext cx="569819" cy="25567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00" spc="-9" dirty="0">
                  <a:latin typeface="Consolas"/>
                  <a:cs typeface="Consolas"/>
                </a:rPr>
                <a:t>R2,L1</a:t>
              </a:r>
              <a:endParaRPr sz="1600">
                <a:latin typeface="Consolas"/>
                <a:cs typeface="Consolas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966461" y="2975385"/>
              <a:ext cx="899832" cy="25567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00" spc="-9" dirty="0">
                  <a:solidFill>
                    <a:srgbClr val="FF0000"/>
                  </a:solidFill>
                  <a:latin typeface="Consolas"/>
                  <a:cs typeface="Consolas"/>
                </a:rPr>
                <a:t>R1</a:t>
              </a:r>
              <a:r>
                <a:rPr sz="1600" spc="-9" dirty="0">
                  <a:latin typeface="Consolas"/>
                  <a:cs typeface="Consolas"/>
                </a:rPr>
                <a:t>,0(R2)</a:t>
              </a:r>
              <a:endParaRPr sz="1600">
                <a:latin typeface="Consolas"/>
                <a:cs typeface="Consolas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859709" y="2539701"/>
              <a:ext cx="2004732" cy="919369"/>
            </a:xfrm>
            <a:prstGeom prst="rect">
              <a:avLst/>
            </a:prstGeom>
          </p:spPr>
          <p:txBody>
            <a:bodyPr vert="horz" wrap="square" lIns="0" tIns="34178" rIns="0" bIns="0" rtlCol="0">
              <a:spAutoFit/>
            </a:bodyPr>
            <a:lstStyle/>
            <a:p>
              <a:pPr marL="210122" marR="4483">
                <a:lnSpc>
                  <a:spcPts val="1755"/>
                </a:lnSpc>
                <a:spcBef>
                  <a:spcPts val="269"/>
                </a:spcBef>
                <a:tabLst>
                  <a:tab pos="1117846" algn="l"/>
                </a:tabLst>
              </a:pPr>
              <a:r>
                <a:rPr sz="1600" spc="-9" dirty="0">
                  <a:latin typeface="Consolas"/>
                  <a:cs typeface="Consolas"/>
                </a:rPr>
                <a:t>DADDU</a:t>
              </a:r>
              <a:r>
                <a:rPr sz="1600" dirty="0">
                  <a:latin typeface="Consolas"/>
                  <a:cs typeface="Consolas"/>
                </a:rPr>
                <a:t>	</a:t>
              </a:r>
              <a:r>
                <a:rPr sz="1600" spc="-22" dirty="0">
                  <a:latin typeface="Consolas"/>
                  <a:cs typeface="Consolas"/>
                </a:rPr>
                <a:t>R2,R3,R4 </a:t>
              </a:r>
              <a:r>
                <a:rPr sz="1600" spc="-18" dirty="0">
                  <a:latin typeface="Consolas"/>
                  <a:cs typeface="Consolas"/>
                </a:rPr>
                <a:t>BEQZ</a:t>
              </a:r>
              <a:endParaRPr sz="1600" dirty="0">
                <a:latin typeface="Consolas"/>
                <a:cs typeface="Consolas"/>
              </a:endParaRPr>
            </a:p>
            <a:p>
              <a:pPr marL="210122">
                <a:lnSpc>
                  <a:spcPts val="1527"/>
                </a:lnSpc>
              </a:pPr>
              <a:r>
                <a:rPr sz="1600" spc="-22" dirty="0">
                  <a:latin typeface="Consolas"/>
                  <a:cs typeface="Consolas"/>
                </a:rPr>
                <a:t>LW</a:t>
              </a:r>
              <a:endParaRPr sz="1600" dirty="0">
                <a:latin typeface="Consolas"/>
                <a:cs typeface="Consolas"/>
              </a:endParaRPr>
            </a:p>
            <a:p>
              <a:pPr marL="11206">
                <a:lnSpc>
                  <a:spcPts val="1791"/>
                </a:lnSpc>
              </a:pPr>
              <a:r>
                <a:rPr sz="1600" spc="-22" dirty="0">
                  <a:latin typeface="Consolas"/>
                  <a:cs typeface="Consolas"/>
                </a:rPr>
                <a:t>L1:</a:t>
              </a:r>
              <a:endParaRPr sz="1600" dirty="0">
                <a:latin typeface="Consolas"/>
                <a:cs typeface="Consolas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971193" y="2766508"/>
              <a:ext cx="3245155" cy="257537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00" dirty="0">
                  <a:latin typeface="Arial MT"/>
                  <a:cs typeface="Arial MT"/>
                </a:rPr>
                <a:t>Assume</a:t>
              </a:r>
              <a:r>
                <a:rPr sz="1600" spc="-62" dirty="0">
                  <a:latin typeface="Arial MT"/>
                  <a:cs typeface="Arial MT"/>
                </a:rPr>
                <a:t> </a:t>
              </a:r>
              <a:r>
                <a:rPr sz="1600" dirty="0">
                  <a:latin typeface="Arial MT"/>
                  <a:cs typeface="Arial MT"/>
                </a:rPr>
                <a:t>no</a:t>
              </a:r>
              <a:r>
                <a:rPr sz="1600" spc="-62" dirty="0">
                  <a:latin typeface="Arial MT"/>
                  <a:cs typeface="Arial MT"/>
                </a:rPr>
                <a:t> </a:t>
              </a:r>
              <a:r>
                <a:rPr sz="1600" dirty="0">
                  <a:latin typeface="Arial MT"/>
                  <a:cs typeface="Arial MT"/>
                </a:rPr>
                <a:t>branch</a:t>
              </a:r>
              <a:r>
                <a:rPr sz="1600" spc="-62" dirty="0">
                  <a:latin typeface="Arial MT"/>
                  <a:cs typeface="Arial MT"/>
                </a:rPr>
                <a:t> </a:t>
              </a:r>
              <a:r>
                <a:rPr sz="1600" dirty="0">
                  <a:latin typeface="Arial MT"/>
                  <a:cs typeface="Arial MT"/>
                </a:rPr>
                <a:t>delay</a:t>
              </a:r>
              <a:r>
                <a:rPr sz="1600" spc="-57" dirty="0">
                  <a:latin typeface="Arial MT"/>
                  <a:cs typeface="Arial MT"/>
                </a:rPr>
                <a:t> </a:t>
              </a:r>
              <a:r>
                <a:rPr sz="1600" spc="-18" dirty="0">
                  <a:latin typeface="Arial MT"/>
                  <a:cs typeface="Arial MT"/>
                </a:rPr>
                <a:t>slot</a:t>
              </a:r>
              <a:endParaRPr sz="1600" dirty="0">
                <a:latin typeface="Arial MT"/>
                <a:cs typeface="Arial MT"/>
              </a:endParaRPr>
            </a:p>
          </p:txBody>
        </p:sp>
      </p:grp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7B834949-8AFE-76C0-4004-6BCFA2E62E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Data</a:t>
            </a:r>
            <a:r>
              <a:rPr spc="-115" dirty="0"/>
              <a:t> </a:t>
            </a:r>
            <a:r>
              <a:rPr spc="-18" dirty="0"/>
              <a:t>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14643"/>
            <a:ext cx="7397022" cy="196143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4483" indent="-249344">
              <a:spcBef>
                <a:spcPts val="375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flow: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instructions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produce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consume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them</a:t>
            </a:r>
            <a:endParaRPr sz="2400" dirty="0">
              <a:latin typeface="Calibri"/>
              <a:cs typeface="Calibri"/>
            </a:endParaRPr>
          </a:p>
          <a:p>
            <a:pPr marL="609633" marR="467871" indent="-199475">
              <a:spcBef>
                <a:spcPts val="565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3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flow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dynamic,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determine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the </a:t>
            </a:r>
            <a:r>
              <a:rPr sz="2200" spc="-9" dirty="0">
                <a:latin typeface="Calibri"/>
                <a:cs typeface="Calibri"/>
              </a:rPr>
              <a:t>supplier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data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spcBef>
                <a:spcPts val="441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Example: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091" y="4952061"/>
            <a:ext cx="7397022" cy="1601909"/>
          </a:xfrm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259990" indent="-248784">
              <a:spcBef>
                <a:spcPts val="552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OR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R1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DADDU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DSUBU?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Must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preserve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data</a:t>
            </a:r>
            <a:r>
              <a:rPr sz="2400" b="1" spc="-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flow</a:t>
            </a:r>
            <a:r>
              <a:rPr sz="2400" b="1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execution</a:t>
            </a:r>
            <a:endParaRPr sz="2400" dirty="0">
              <a:latin typeface="Calibri"/>
              <a:cs typeface="Calibri"/>
            </a:endParaRPr>
          </a:p>
          <a:p>
            <a:pPr marL="688975" indent="-279400">
              <a:spcBef>
                <a:spcPts val="361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lang="en-US" sz="2200" spc="3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Preserving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control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dependence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prevents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illegal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change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flow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6D6399-8E3E-4DD8-FF11-46CF8118A01A}"/>
              </a:ext>
            </a:extLst>
          </p:cNvPr>
          <p:cNvGrpSpPr/>
          <p:nvPr/>
        </p:nvGrpSpPr>
        <p:grpSpPr>
          <a:xfrm>
            <a:off x="2059174" y="3275389"/>
            <a:ext cx="6072794" cy="1486730"/>
            <a:chOff x="2059174" y="3182625"/>
            <a:chExt cx="6072794" cy="1486730"/>
          </a:xfrm>
        </p:grpSpPr>
        <p:sp>
          <p:nvSpPr>
            <p:cNvPr id="4" name="object 4"/>
            <p:cNvSpPr txBox="1"/>
            <p:nvPr/>
          </p:nvSpPr>
          <p:spPr>
            <a:xfrm>
              <a:off x="2059174" y="3182625"/>
              <a:ext cx="2812116" cy="1486730"/>
            </a:xfrm>
            <a:prstGeom prst="rect">
              <a:avLst/>
            </a:prstGeom>
          </p:spPr>
          <p:txBody>
            <a:bodyPr vert="horz" wrap="square" lIns="0" tIns="48745" rIns="0" bIns="0" rtlCol="0">
              <a:spAutoFit/>
            </a:bodyPr>
            <a:lstStyle/>
            <a:p>
              <a:pPr marL="598426" marR="4483">
                <a:lnSpc>
                  <a:spcPct val="88300"/>
                </a:lnSpc>
                <a:spcBef>
                  <a:spcPts val="383"/>
                </a:spcBef>
                <a:tabLst>
                  <a:tab pos="1626060" algn="l"/>
                </a:tabLst>
              </a:pPr>
              <a:r>
                <a:rPr sz="2118" spc="-9" dirty="0">
                  <a:latin typeface="Consolas"/>
                  <a:cs typeface="Consolas"/>
                </a:rPr>
                <a:t>DADDU</a:t>
              </a:r>
              <a:r>
                <a:rPr sz="2118" dirty="0">
                  <a:latin typeface="Consolas"/>
                  <a:cs typeface="Consolas"/>
                </a:rPr>
                <a:t>	</a:t>
              </a:r>
              <a:r>
                <a:rPr sz="2118" spc="-22" dirty="0">
                  <a:solidFill>
                    <a:srgbClr val="114FFB"/>
                  </a:solidFill>
                  <a:latin typeface="Consolas"/>
                  <a:cs typeface="Consolas"/>
                </a:rPr>
                <a:t>R1</a:t>
              </a:r>
              <a:r>
                <a:rPr sz="2118" spc="-22" dirty="0">
                  <a:latin typeface="Consolas"/>
                  <a:cs typeface="Consolas"/>
                </a:rPr>
                <a:t>,R2,R3 </a:t>
              </a:r>
              <a:r>
                <a:rPr sz="2118" spc="-18" dirty="0">
                  <a:solidFill>
                    <a:srgbClr val="FF0000"/>
                  </a:solidFill>
                  <a:latin typeface="Consolas"/>
                  <a:cs typeface="Consolas"/>
                </a:rPr>
                <a:t>BEQZ</a:t>
              </a:r>
              <a:r>
                <a:rPr sz="2118" dirty="0">
                  <a:solidFill>
                    <a:srgbClr val="FF0000"/>
                  </a:solidFill>
                  <a:latin typeface="Consolas"/>
                  <a:cs typeface="Consolas"/>
                </a:rPr>
                <a:t>	</a:t>
              </a:r>
              <a:r>
                <a:rPr sz="2118" spc="-18" dirty="0">
                  <a:latin typeface="Consolas"/>
                  <a:cs typeface="Consolas"/>
                </a:rPr>
                <a:t>R4,L </a:t>
              </a:r>
              <a:r>
                <a:rPr sz="2118" spc="-9" dirty="0">
                  <a:latin typeface="Consolas"/>
                  <a:cs typeface="Consolas"/>
                </a:rPr>
                <a:t>DSUBU</a:t>
              </a:r>
              <a:r>
                <a:rPr sz="2118" dirty="0">
                  <a:latin typeface="Consolas"/>
                  <a:cs typeface="Consolas"/>
                </a:rPr>
                <a:t>	</a:t>
              </a:r>
              <a:r>
                <a:rPr sz="2118" spc="-22" dirty="0">
                  <a:solidFill>
                    <a:srgbClr val="114FFB"/>
                  </a:solidFill>
                  <a:latin typeface="Consolas"/>
                  <a:cs typeface="Consolas"/>
                </a:rPr>
                <a:t>R1</a:t>
              </a:r>
              <a:r>
                <a:rPr sz="2118" spc="-22" dirty="0">
                  <a:latin typeface="Consolas"/>
                  <a:cs typeface="Consolas"/>
                </a:rPr>
                <a:t>,R5,R6</a:t>
              </a:r>
              <a:endParaRPr sz="2118" dirty="0">
                <a:latin typeface="Consolas"/>
                <a:cs typeface="Consolas"/>
              </a:endParaRPr>
            </a:p>
            <a:p>
              <a:pPr marL="598426" marR="1912946" indent="-587780">
                <a:lnSpc>
                  <a:spcPts val="2206"/>
                </a:lnSpc>
                <a:spcBef>
                  <a:spcPts val="119"/>
                </a:spcBef>
                <a:tabLst>
                  <a:tab pos="598426" algn="l"/>
                </a:tabLst>
              </a:pPr>
              <a:r>
                <a:rPr sz="2118" spc="-22" dirty="0">
                  <a:latin typeface="Consolas"/>
                  <a:cs typeface="Consolas"/>
                </a:rPr>
                <a:t>L:</a:t>
              </a:r>
              <a:r>
                <a:rPr sz="2118" dirty="0">
                  <a:latin typeface="Consolas"/>
                  <a:cs typeface="Consolas"/>
                </a:rPr>
                <a:t>	</a:t>
              </a:r>
              <a:r>
                <a:rPr sz="2118" spc="-44" dirty="0">
                  <a:latin typeface="Consolas"/>
                  <a:cs typeface="Consolas"/>
                </a:rPr>
                <a:t>… </a:t>
              </a:r>
              <a:r>
                <a:rPr sz="2118" spc="-35" dirty="0">
                  <a:latin typeface="Consolas"/>
                  <a:cs typeface="Consolas"/>
                </a:rPr>
                <a:t>OR</a:t>
              </a:r>
              <a:endParaRPr sz="2118" dirty="0">
                <a:latin typeface="Consolas"/>
                <a:cs typeface="Consolas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3674191" y="4153349"/>
              <a:ext cx="1197349" cy="33723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2118" spc="-9" dirty="0">
                  <a:latin typeface="Consolas"/>
                  <a:cs typeface="Consolas"/>
                </a:rPr>
                <a:t>R7,</a:t>
              </a:r>
              <a:r>
                <a:rPr sz="2118" spc="-9" dirty="0">
                  <a:solidFill>
                    <a:srgbClr val="114FFB"/>
                  </a:solidFill>
                  <a:latin typeface="Consolas"/>
                  <a:cs typeface="Consolas"/>
                </a:rPr>
                <a:t>R1</a:t>
              </a:r>
              <a:r>
                <a:rPr sz="2118" spc="-9" dirty="0">
                  <a:latin typeface="Consolas"/>
                  <a:cs typeface="Consolas"/>
                </a:rPr>
                <a:t>,R8</a:t>
              </a:r>
              <a:endParaRPr sz="2118" dirty="0">
                <a:latin typeface="Consolas"/>
                <a:cs typeface="Consola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885662" y="3319620"/>
              <a:ext cx="297516" cy="904875"/>
            </a:xfrm>
            <a:custGeom>
              <a:avLst/>
              <a:gdLst/>
              <a:ahLst/>
              <a:cxnLst/>
              <a:rect l="l" t="t" r="r" b="b"/>
              <a:pathLst>
                <a:path w="337185" h="1025525">
                  <a:moveTo>
                    <a:pt x="336664" y="1019352"/>
                  </a:moveTo>
                  <a:lnTo>
                    <a:pt x="92913" y="71412"/>
                  </a:lnTo>
                  <a:lnTo>
                    <a:pt x="123317" y="63601"/>
                  </a:lnTo>
                  <a:lnTo>
                    <a:pt x="119545" y="59258"/>
                  </a:lnTo>
                  <a:lnTo>
                    <a:pt x="68059" y="0"/>
                  </a:lnTo>
                  <a:lnTo>
                    <a:pt x="50342" y="82359"/>
                  </a:lnTo>
                  <a:lnTo>
                    <a:pt x="80746" y="74549"/>
                  </a:lnTo>
                  <a:lnTo>
                    <a:pt x="318604" y="999591"/>
                  </a:lnTo>
                  <a:lnTo>
                    <a:pt x="57010" y="730288"/>
                  </a:lnTo>
                  <a:lnTo>
                    <a:pt x="66281" y="721283"/>
                  </a:lnTo>
                  <a:lnTo>
                    <a:pt x="79527" y="708406"/>
                  </a:lnTo>
                  <a:lnTo>
                    <a:pt x="0" y="680618"/>
                  </a:lnTo>
                  <a:lnTo>
                    <a:pt x="25488" y="760920"/>
                  </a:lnTo>
                  <a:lnTo>
                    <a:pt x="48006" y="739038"/>
                  </a:lnTo>
                  <a:lnTo>
                    <a:pt x="326085" y="1025296"/>
                  </a:lnTo>
                  <a:lnTo>
                    <a:pt x="330593" y="1020914"/>
                  </a:lnTo>
                  <a:lnTo>
                    <a:pt x="336664" y="1019352"/>
                  </a:lnTo>
                  <a:close/>
                </a:path>
              </a:pathLst>
            </a:custGeom>
            <a:solidFill>
              <a:srgbClr val="618FFD"/>
            </a:solidFill>
            <a:ln w="12700">
              <a:solidFill>
                <a:schemeClr val="accent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5883965" y="3670305"/>
              <a:ext cx="2248003" cy="62686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2000" dirty="0">
                  <a:latin typeface="Arial MT"/>
                  <a:cs typeface="Arial MT"/>
                </a:rPr>
                <a:t>Assume</a:t>
              </a:r>
              <a:r>
                <a:rPr sz="2000" spc="-62" dirty="0">
                  <a:latin typeface="Arial MT"/>
                  <a:cs typeface="Arial MT"/>
                </a:rPr>
                <a:t> </a:t>
              </a:r>
              <a:r>
                <a:rPr sz="2000" dirty="0">
                  <a:latin typeface="Arial MT"/>
                  <a:cs typeface="Arial MT"/>
                </a:rPr>
                <a:t>no</a:t>
              </a:r>
              <a:r>
                <a:rPr sz="2000" spc="-62" dirty="0">
                  <a:latin typeface="Arial MT"/>
                  <a:cs typeface="Arial MT"/>
                </a:rPr>
                <a:t> </a:t>
              </a:r>
              <a:r>
                <a:rPr sz="2000" dirty="0">
                  <a:latin typeface="Arial MT"/>
                  <a:cs typeface="Arial MT"/>
                </a:rPr>
                <a:t>branch</a:t>
              </a:r>
              <a:r>
                <a:rPr sz="2000" spc="-62" dirty="0">
                  <a:latin typeface="Arial MT"/>
                  <a:cs typeface="Arial MT"/>
                </a:rPr>
                <a:t> </a:t>
              </a:r>
              <a:r>
                <a:rPr sz="2000" dirty="0">
                  <a:latin typeface="Arial MT"/>
                  <a:cs typeface="Arial MT"/>
                </a:rPr>
                <a:t>delay</a:t>
              </a:r>
              <a:r>
                <a:rPr sz="2000" spc="-57" dirty="0">
                  <a:latin typeface="Arial MT"/>
                  <a:cs typeface="Arial MT"/>
                </a:rPr>
                <a:t> </a:t>
              </a:r>
              <a:r>
                <a:rPr sz="2000" spc="-18" dirty="0">
                  <a:latin typeface="Arial MT"/>
                  <a:cs typeface="Arial MT"/>
                </a:rPr>
                <a:t>slot</a:t>
              </a:r>
              <a:endParaRPr sz="2000" dirty="0">
                <a:latin typeface="Arial MT"/>
                <a:cs typeface="Arial MT"/>
              </a:endParaRPr>
            </a:p>
          </p:txBody>
        </p: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FB164609-60E9-E3C8-3F08-2E8CAD748D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spc="-9" dirty="0"/>
              <a:t>Software</a:t>
            </a:r>
            <a:r>
              <a:rPr spc="-79" dirty="0"/>
              <a:t> </a:t>
            </a:r>
            <a:r>
              <a:rPr spc="-18" dirty="0"/>
              <a:t>Techniques</a:t>
            </a:r>
            <a:r>
              <a:rPr spc="-79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9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315" y="1250733"/>
            <a:ext cx="7140563" cy="2167682"/>
          </a:xfrm>
          <a:prstGeom prst="rect">
            <a:avLst/>
          </a:prstGeom>
        </p:spPr>
        <p:txBody>
          <a:bodyPr vert="horz" wrap="square" lIns="0" tIns="80682" rIns="0" bIns="0" rtlCol="0">
            <a:spAutoFit/>
          </a:bodyPr>
          <a:lstStyle/>
          <a:p>
            <a:pPr marL="259990" indent="-248784">
              <a:spcBef>
                <a:spcPts val="635"/>
              </a:spcBef>
              <a:spcAft>
                <a:spcPts val="600"/>
              </a:spcAft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scalar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vector:</a:t>
            </a:r>
            <a:endParaRPr sz="2400" dirty="0">
              <a:latin typeface="Calibri"/>
              <a:cs typeface="Calibri"/>
            </a:endParaRPr>
          </a:p>
          <a:p>
            <a:pPr marL="1607009" marR="1102718" indent="-797901">
              <a:lnSpc>
                <a:spcPct val="115999"/>
              </a:lnSpc>
              <a:spcBef>
                <a:spcPts val="124"/>
              </a:spcBef>
              <a:spcAft>
                <a:spcPts val="1200"/>
              </a:spcAft>
            </a:pPr>
            <a:r>
              <a:rPr sz="2000" dirty="0">
                <a:latin typeface="Consolas"/>
                <a:cs typeface="Consolas"/>
              </a:rPr>
              <a:t>for</a:t>
            </a:r>
            <a:r>
              <a:rPr sz="2000" spc="-132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(i=1000;</a:t>
            </a:r>
            <a:r>
              <a:rPr sz="2000" spc="-132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i&gt;=0;</a:t>
            </a:r>
            <a:r>
              <a:rPr sz="2000" spc="-132" dirty="0">
                <a:latin typeface="Consolas"/>
                <a:cs typeface="Consolas"/>
              </a:rPr>
              <a:t> </a:t>
            </a:r>
            <a:r>
              <a:rPr sz="2000" spc="-9" dirty="0">
                <a:latin typeface="Consolas"/>
                <a:cs typeface="Consolas"/>
              </a:rPr>
              <a:t>i=i–1) </a:t>
            </a:r>
            <a:br>
              <a:rPr lang="en-US" sz="2000" spc="-9" dirty="0">
                <a:latin typeface="Consolas"/>
                <a:cs typeface="Consolas"/>
              </a:rPr>
            </a:br>
            <a:r>
              <a:rPr sz="2000" dirty="0">
                <a:latin typeface="Consolas"/>
                <a:cs typeface="Consolas"/>
              </a:rPr>
              <a:t>x[i]</a:t>
            </a:r>
            <a:r>
              <a:rPr sz="2000" spc="-66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=</a:t>
            </a:r>
            <a:r>
              <a:rPr sz="2000" spc="-66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x[i]</a:t>
            </a:r>
            <a:r>
              <a:rPr sz="2000" spc="-66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+</a:t>
            </a:r>
            <a:r>
              <a:rPr sz="2000" spc="-66" dirty="0">
                <a:latin typeface="Consolas"/>
                <a:cs typeface="Consolas"/>
              </a:rPr>
              <a:t> </a:t>
            </a:r>
            <a:r>
              <a:rPr sz="2000" spc="-22" dirty="0">
                <a:latin typeface="Consolas"/>
                <a:cs typeface="Consolas"/>
              </a:rPr>
              <a:t>s;</a:t>
            </a:r>
            <a:endParaRPr sz="1765" dirty="0">
              <a:latin typeface="Consolas"/>
              <a:cs typeface="Consolas"/>
            </a:endParaRPr>
          </a:p>
          <a:p>
            <a:pPr marL="259990" indent="-248784">
              <a:spcBef>
                <a:spcPts val="4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following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latencies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examples</a:t>
            </a:r>
            <a:endParaRPr sz="2400" dirty="0">
              <a:latin typeface="Calibri"/>
              <a:cs typeface="Calibri"/>
            </a:endParaRPr>
          </a:p>
          <a:p>
            <a:pPr marL="409596">
              <a:spcBef>
                <a:spcPts val="357"/>
              </a:spcBef>
            </a:pPr>
            <a:r>
              <a:rPr sz="1588" dirty="0">
                <a:latin typeface="Calibri"/>
                <a:cs typeface="Calibri"/>
              </a:rPr>
              <a:t>–</a:t>
            </a:r>
            <a:r>
              <a:rPr sz="1588" spc="3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Ignore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delayed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examples</a:t>
            </a:r>
            <a:endParaRPr sz="22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271459"/>
              </p:ext>
            </p:extLst>
          </p:nvPr>
        </p:nvGraphicFramePr>
        <p:xfrm>
          <a:off x="1446844" y="3612061"/>
          <a:ext cx="6769503" cy="26562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0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9565">
                <a:tc>
                  <a:txBody>
                    <a:bodyPr/>
                    <a:lstStyle/>
                    <a:p>
                      <a:pPr marL="88900" marR="199390">
                        <a:lnSpc>
                          <a:spcPts val="1900"/>
                        </a:lnSpc>
                        <a:spcBef>
                          <a:spcPts val="335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Instruction </a:t>
                      </a:r>
                      <a:r>
                        <a:rPr sz="2000" i="1" spc="-10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between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producing</a:t>
                      </a:r>
                      <a:r>
                        <a:rPr sz="20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result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7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Instruction</a:t>
                      </a:r>
                      <a:endParaRPr sz="2000" dirty="0">
                        <a:latin typeface="Arial"/>
                        <a:cs typeface="Arial"/>
                      </a:endParaRPr>
                    </a:p>
                    <a:p>
                      <a:pPr marL="231140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using</a:t>
                      </a:r>
                      <a:r>
                        <a:rPr sz="2000" i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result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i="1" spc="-10" dirty="0">
                          <a:solidFill>
                            <a:srgbClr val="0332B7"/>
                          </a:solidFill>
                          <a:latin typeface="Arial"/>
                          <a:cs typeface="Arial"/>
                        </a:rPr>
                        <a:t>stalls</a:t>
                      </a:r>
                      <a:endParaRPr sz="2000" dirty="0">
                        <a:latin typeface="Arial"/>
                        <a:cs typeface="Arial"/>
                      </a:endParaRPr>
                    </a:p>
                    <a:p>
                      <a:pPr marL="266065">
                        <a:lnSpc>
                          <a:spcPct val="100000"/>
                        </a:lnSpc>
                        <a:spcBef>
                          <a:spcPts val="163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2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cycles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616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1919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652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FP</a:t>
                      </a:r>
                      <a:r>
                        <a:rPr sz="2000" spc="-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ALU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op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FP</a:t>
                      </a:r>
                      <a:r>
                        <a:rPr sz="2000" spc="-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ALU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op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Load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double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88900" marR="562610">
                        <a:lnSpc>
                          <a:spcPct val="115599"/>
                        </a:lnSpc>
                        <a:spcBef>
                          <a:spcPts val="9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Load</a:t>
                      </a:r>
                      <a:r>
                        <a:rPr sz="20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double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Integer</a:t>
                      </a:r>
                      <a:r>
                        <a:rPr sz="20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op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560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2000" spc="-9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FP</a:t>
                      </a:r>
                      <a:r>
                        <a:rPr sz="2000" spc="-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ALU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op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243204" marR="932815" indent="-29845">
                        <a:lnSpc>
                          <a:spcPct val="115599"/>
                        </a:lnSpc>
                        <a:spcBef>
                          <a:spcPts val="9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Store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double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FP</a:t>
                      </a:r>
                      <a:r>
                        <a:rPr sz="2000" spc="-1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ALU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op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332740" marR="903605" indent="-89535">
                        <a:lnSpc>
                          <a:spcPct val="115599"/>
                        </a:lnSpc>
                        <a:spcBef>
                          <a:spcPts val="9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Store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double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Integer</a:t>
                      </a:r>
                      <a:r>
                        <a:rPr sz="2000" spc="-10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op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560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1919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370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3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R="437515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2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R="43751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1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R="437515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R="43751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000" spc="-5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5603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919191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91919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86943853-9A1A-932F-6085-35B5A65437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18</a:t>
            </a:fld>
            <a:endParaRPr lang="en-US" spc="-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9"/>
            <a:ext cx="6548883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FP</a:t>
            </a:r>
            <a:r>
              <a:rPr spc="-101" dirty="0"/>
              <a:t> </a:t>
            </a:r>
            <a:r>
              <a:rPr dirty="0"/>
              <a:t>Loop:</a:t>
            </a:r>
            <a:r>
              <a:rPr spc="-88" dirty="0"/>
              <a:t> </a:t>
            </a:r>
            <a:r>
              <a:rPr dirty="0"/>
              <a:t>Where</a:t>
            </a:r>
            <a:r>
              <a:rPr spc="-97" dirty="0"/>
              <a:t> </a:t>
            </a:r>
            <a:r>
              <a:rPr dirty="0"/>
              <a:t>are</a:t>
            </a:r>
            <a:r>
              <a:rPr spc="-101" dirty="0"/>
              <a:t> </a:t>
            </a:r>
            <a:r>
              <a:rPr dirty="0"/>
              <a:t>the</a:t>
            </a:r>
            <a:r>
              <a:rPr spc="-101" dirty="0"/>
              <a:t> </a:t>
            </a:r>
            <a:r>
              <a:rPr spc="-9" dirty="0"/>
              <a:t>Hazards?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033" y="1447801"/>
            <a:ext cx="5178456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9945" indent="-308739">
              <a:spcBef>
                <a:spcPts val="88"/>
              </a:spcBef>
              <a:buChar char="•"/>
              <a:tabLst>
                <a:tab pos="319945" algn="l"/>
              </a:tabLst>
            </a:pPr>
            <a:r>
              <a:rPr sz="2400" spc="-9" dirty="0">
                <a:latin typeface="Calibri"/>
                <a:cs typeface="Calibri"/>
              </a:rPr>
              <a:t>First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translate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MIPS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code: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6962" y="1770530"/>
            <a:ext cx="5579683" cy="1251021"/>
          </a:xfrm>
          <a:prstGeom prst="rect">
            <a:avLst/>
          </a:prstGeom>
        </p:spPr>
        <p:txBody>
          <a:bodyPr vert="horz" wrap="square" lIns="0" tIns="80682" rIns="0" bIns="0" rtlCol="0">
            <a:spAutoFit/>
          </a:bodyPr>
          <a:lstStyle/>
          <a:p>
            <a:pPr marL="259990" indent="-248784">
              <a:spcBef>
                <a:spcPts val="635"/>
              </a:spcBef>
              <a:buChar char="-"/>
              <a:tabLst>
                <a:tab pos="259990" algn="l"/>
              </a:tabLst>
            </a:pPr>
            <a:r>
              <a:rPr sz="2200" dirty="0">
                <a:latin typeface="Calibri"/>
                <a:cs typeface="Calibri"/>
              </a:rPr>
              <a:t>R1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last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array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element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spcBef>
                <a:spcPts val="552"/>
              </a:spcBef>
              <a:buChar char="-"/>
              <a:tabLst>
                <a:tab pos="259990" algn="l"/>
              </a:tabLst>
            </a:pPr>
            <a:r>
              <a:rPr sz="2200" dirty="0">
                <a:latin typeface="Calibri"/>
                <a:cs typeface="Calibri"/>
              </a:rPr>
              <a:t>F2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scalar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value</a:t>
            </a:r>
            <a:endParaRPr sz="2200" dirty="0">
              <a:latin typeface="Calibri"/>
              <a:cs typeface="Calibri"/>
            </a:endParaRPr>
          </a:p>
          <a:p>
            <a:pPr marL="259990" indent="-248784">
              <a:spcBef>
                <a:spcPts val="574"/>
              </a:spcBef>
              <a:buChar char="-"/>
              <a:tabLst>
                <a:tab pos="259990" algn="l"/>
              </a:tabLst>
            </a:pPr>
            <a:r>
              <a:rPr sz="2200" dirty="0">
                <a:latin typeface="Calibri"/>
                <a:cs typeface="Calibri"/>
              </a:rPr>
              <a:t>R2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start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array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13892" y="2445351"/>
            <a:ext cx="2798669" cy="786093"/>
            <a:chOff x="6148936" y="2738014"/>
            <a:chExt cx="3171825" cy="890905"/>
          </a:xfrm>
        </p:grpSpPr>
        <p:sp>
          <p:nvSpPr>
            <p:cNvPr id="6" name="object 6"/>
            <p:cNvSpPr/>
            <p:nvPr/>
          </p:nvSpPr>
          <p:spPr>
            <a:xfrm>
              <a:off x="6174054" y="2763519"/>
              <a:ext cx="3147060" cy="864869"/>
            </a:xfrm>
            <a:custGeom>
              <a:avLst/>
              <a:gdLst/>
              <a:ahLst/>
              <a:cxnLst/>
              <a:rect l="l" t="t" r="r" b="b"/>
              <a:pathLst>
                <a:path w="3147059" h="864870">
                  <a:moveTo>
                    <a:pt x="3146514" y="0"/>
                  </a:moveTo>
                  <a:lnTo>
                    <a:pt x="3115106" y="0"/>
                  </a:lnTo>
                  <a:lnTo>
                    <a:pt x="3115106" y="6350"/>
                  </a:lnTo>
                  <a:lnTo>
                    <a:pt x="3115106" y="12700"/>
                  </a:lnTo>
                  <a:lnTo>
                    <a:pt x="3115106" y="833120"/>
                  </a:lnTo>
                  <a:lnTo>
                    <a:pt x="12560" y="833120"/>
                  </a:lnTo>
                  <a:lnTo>
                    <a:pt x="6273" y="833120"/>
                  </a:lnTo>
                  <a:lnTo>
                    <a:pt x="0" y="833120"/>
                  </a:lnTo>
                  <a:lnTo>
                    <a:pt x="0" y="852170"/>
                  </a:lnTo>
                  <a:lnTo>
                    <a:pt x="0" y="864870"/>
                  </a:lnTo>
                  <a:lnTo>
                    <a:pt x="3146514" y="864870"/>
                  </a:lnTo>
                  <a:lnTo>
                    <a:pt x="3146514" y="852170"/>
                  </a:lnTo>
                  <a:lnTo>
                    <a:pt x="3146514" y="12700"/>
                  </a:lnTo>
                  <a:lnTo>
                    <a:pt x="3146514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6155216" y="2744293"/>
              <a:ext cx="3134360" cy="852805"/>
            </a:xfrm>
            <a:custGeom>
              <a:avLst/>
              <a:gdLst/>
              <a:ahLst/>
              <a:cxnLst/>
              <a:rect l="l" t="t" r="r" b="b"/>
              <a:pathLst>
                <a:path w="3134359" h="852804">
                  <a:moveTo>
                    <a:pt x="0" y="0"/>
                  </a:moveTo>
                  <a:lnTo>
                    <a:pt x="3133954" y="0"/>
                  </a:lnTo>
                  <a:lnTo>
                    <a:pt x="3133954" y="852198"/>
                  </a:lnTo>
                  <a:lnTo>
                    <a:pt x="0" y="852198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24973" y="2334281"/>
            <a:ext cx="2754406" cy="77582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39854" marR="279602" indent="-365892">
              <a:lnSpc>
                <a:spcPct val="150000"/>
              </a:lnSpc>
              <a:spcBef>
                <a:spcPts val="88"/>
              </a:spcBef>
            </a:pPr>
            <a:r>
              <a:rPr sz="1765" b="1" dirty="0">
                <a:solidFill>
                  <a:srgbClr val="FC0128"/>
                </a:solidFill>
                <a:latin typeface="Arial"/>
                <a:cs typeface="Arial"/>
              </a:rPr>
              <a:t>for</a:t>
            </a:r>
            <a:r>
              <a:rPr sz="1765" b="1" spc="-6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65" b="1" spc="-9" dirty="0">
                <a:solidFill>
                  <a:srgbClr val="FC0128"/>
                </a:solidFill>
                <a:latin typeface="Arial"/>
                <a:cs typeface="Arial"/>
              </a:rPr>
              <a:t>(i=1000;</a:t>
            </a:r>
            <a:r>
              <a:rPr sz="1765" b="1" spc="-6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FC0128"/>
                </a:solidFill>
                <a:latin typeface="Arial"/>
                <a:cs typeface="Arial"/>
              </a:rPr>
              <a:t>i&gt;=0;</a:t>
            </a:r>
            <a:r>
              <a:rPr sz="1765" b="1" spc="-6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65" b="1" spc="-9" dirty="0">
                <a:solidFill>
                  <a:srgbClr val="FC0128"/>
                </a:solidFill>
                <a:latin typeface="Arial"/>
                <a:cs typeface="Arial"/>
              </a:rPr>
              <a:t>i=i–1) </a:t>
            </a:r>
            <a:r>
              <a:rPr sz="1765" b="1" dirty="0">
                <a:solidFill>
                  <a:srgbClr val="FC0128"/>
                </a:solidFill>
                <a:latin typeface="Arial"/>
                <a:cs typeface="Arial"/>
              </a:rPr>
              <a:t>x[i]</a:t>
            </a:r>
            <a:r>
              <a:rPr sz="1765" b="1" spc="-4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FC0128"/>
                </a:solidFill>
                <a:latin typeface="Arial"/>
                <a:cs typeface="Arial"/>
              </a:rPr>
              <a:t>=</a:t>
            </a:r>
            <a:r>
              <a:rPr sz="1765" b="1" spc="-4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FC0128"/>
                </a:solidFill>
                <a:latin typeface="Arial"/>
                <a:cs typeface="Arial"/>
              </a:rPr>
              <a:t>x[i]</a:t>
            </a:r>
            <a:r>
              <a:rPr sz="1765" b="1" spc="-4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FC0128"/>
                </a:solidFill>
                <a:latin typeface="Arial"/>
                <a:cs typeface="Arial"/>
              </a:rPr>
              <a:t>+</a:t>
            </a:r>
            <a:r>
              <a:rPr sz="1765" b="1" spc="-40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765" b="1" spc="-22" dirty="0">
                <a:solidFill>
                  <a:srgbClr val="FC0128"/>
                </a:solidFill>
                <a:latin typeface="Arial"/>
                <a:cs typeface="Arial"/>
              </a:rPr>
              <a:t>s;</a:t>
            </a:r>
            <a:endParaRPr sz="1765" dirty="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226923"/>
              </p:ext>
            </p:extLst>
          </p:nvPr>
        </p:nvGraphicFramePr>
        <p:xfrm>
          <a:off x="853272" y="3762065"/>
          <a:ext cx="7893163" cy="1182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2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2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693">
                <a:tc>
                  <a:txBody>
                    <a:bodyPr/>
                    <a:lstStyle/>
                    <a:p>
                      <a:pPr marL="31750">
                        <a:lnSpc>
                          <a:spcPts val="1695"/>
                        </a:lnSpc>
                        <a:tabLst>
                          <a:tab pos="935355" algn="l"/>
                        </a:tabLst>
                      </a:pP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Loop:</a:t>
                      </a: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</a:t>
                      </a:r>
                      <a:r>
                        <a:rPr sz="2000" b="1" spc="-2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L.D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1695"/>
                        </a:lnSpc>
                      </a:pP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F0,0(R1)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695"/>
                        </a:lnSpc>
                      </a:pP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;F0=vector</a:t>
                      </a:r>
                      <a:r>
                        <a:rPr sz="2000" b="1" spc="-16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722">
                <a:tc>
                  <a:txBody>
                    <a:bodyPr/>
                    <a:lstStyle/>
                    <a:p>
                      <a:pPr marL="935990">
                        <a:lnSpc>
                          <a:spcPts val="2155"/>
                        </a:lnSpc>
                      </a:pP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ADD.D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ts val="2155"/>
                        </a:lnSpc>
                      </a:pP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F4,F0,F2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55"/>
                        </a:lnSpc>
                      </a:pP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;add</a:t>
                      </a:r>
                      <a:r>
                        <a:rPr sz="2000" b="1" spc="-9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scalar</a:t>
                      </a:r>
                      <a:r>
                        <a:rPr sz="2000" b="1" spc="-8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sz="2000" b="1" spc="-8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spc="-2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F2</a:t>
                      </a:r>
                      <a:endParaRPr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204">
                <a:tc>
                  <a:txBody>
                    <a:bodyPr/>
                    <a:lstStyle/>
                    <a:p>
                      <a:pPr marL="93599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b="1" spc="-2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S.D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4482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F4,</a:t>
                      </a:r>
                      <a:r>
                        <a:rPr sz="2000" b="1" spc="-6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0(R1)</a:t>
                      </a:r>
                      <a:endParaRPr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4482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;store</a:t>
                      </a:r>
                      <a:r>
                        <a:rPr sz="2000" b="1" spc="-10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</a:t>
                      </a:r>
                      <a:endParaRPr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4482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615">
                <a:tc>
                  <a:txBody>
                    <a:bodyPr/>
                    <a:lstStyle/>
                    <a:p>
                      <a:pPr marL="93599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0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DADDUI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2801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000" b="1" spc="-1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R1,R1,-</a:t>
                      </a:r>
                      <a:r>
                        <a:rPr sz="20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sz="2000" b="1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2801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;decrement</a:t>
                      </a:r>
                      <a:r>
                        <a:rPr sz="2000" b="1" spc="-12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pointer</a:t>
                      </a:r>
                      <a:r>
                        <a:rPr sz="2000" b="1" spc="-1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8B</a:t>
                      </a:r>
                      <a:r>
                        <a:rPr sz="2000" b="1" spc="-1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2000" b="1" spc="-2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(DW)</a:t>
                      </a:r>
                      <a:endParaRPr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2801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760705" y="4986405"/>
            <a:ext cx="492166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spc="-22" dirty="0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endParaRPr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8459" y="4975329"/>
            <a:ext cx="4272514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R1,R2,Loop;branch</a:t>
            </a:r>
            <a:r>
              <a:rPr sz="2000" b="1" spc="-224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000" b="1" spc="-9" dirty="0">
                <a:latin typeface="Courier New" panose="02070309020205020404" pitchFamily="49" charset="0"/>
                <a:cs typeface="Courier New" panose="02070309020205020404" pitchFamily="49" charset="0"/>
              </a:rPr>
              <a:t>R1!=R2</a:t>
            </a:r>
            <a:endParaRPr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4A7ACF2E-AA8C-C1AD-5CC3-5D9CBB2920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453" y="671223"/>
            <a:ext cx="420966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FP</a:t>
            </a:r>
            <a:r>
              <a:rPr spc="-106" dirty="0"/>
              <a:t> </a:t>
            </a:r>
            <a:r>
              <a:rPr dirty="0"/>
              <a:t>Loop</a:t>
            </a:r>
            <a:r>
              <a:rPr spc="-93" dirty="0"/>
              <a:t> </a:t>
            </a:r>
            <a:r>
              <a:rPr spc="-9" dirty="0"/>
              <a:t>Showing</a:t>
            </a:r>
            <a:r>
              <a:rPr spc="-97" dirty="0"/>
              <a:t> </a:t>
            </a:r>
            <a:r>
              <a:rPr spc="-9" dirty="0"/>
              <a:t>Stalls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9145" y="6005923"/>
            <a:ext cx="6924142" cy="38064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9945" indent="-308739">
              <a:spcBef>
                <a:spcPts val="88"/>
              </a:spcBef>
              <a:buChar char="•"/>
              <a:tabLst>
                <a:tab pos="319945" algn="l"/>
              </a:tabLst>
            </a:pPr>
            <a:r>
              <a:rPr sz="2400" dirty="0">
                <a:latin typeface="Calibri"/>
                <a:cs typeface="Calibri"/>
              </a:rPr>
              <a:t>9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clock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cycles: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Rewrite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code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minimize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stalls?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05895" y="506515"/>
            <a:ext cx="2207559" cy="651062"/>
            <a:chOff x="6880948" y="649145"/>
            <a:chExt cx="2501900" cy="737870"/>
          </a:xfrm>
        </p:grpSpPr>
        <p:sp>
          <p:nvSpPr>
            <p:cNvPr id="5" name="object 5"/>
            <p:cNvSpPr/>
            <p:nvPr/>
          </p:nvSpPr>
          <p:spPr>
            <a:xfrm>
              <a:off x="6906057" y="674369"/>
              <a:ext cx="2476500" cy="712470"/>
            </a:xfrm>
            <a:custGeom>
              <a:avLst/>
              <a:gdLst/>
              <a:ahLst/>
              <a:cxnLst/>
              <a:rect l="l" t="t" r="r" b="b"/>
              <a:pathLst>
                <a:path w="2476500" h="712469">
                  <a:moveTo>
                    <a:pt x="2476360" y="0"/>
                  </a:moveTo>
                  <a:lnTo>
                    <a:pt x="2444966" y="0"/>
                  </a:lnTo>
                  <a:lnTo>
                    <a:pt x="2444966" y="6350"/>
                  </a:lnTo>
                  <a:lnTo>
                    <a:pt x="2444966" y="12700"/>
                  </a:lnTo>
                  <a:lnTo>
                    <a:pt x="2444966" y="680720"/>
                  </a:lnTo>
                  <a:lnTo>
                    <a:pt x="12560" y="680720"/>
                  </a:lnTo>
                  <a:lnTo>
                    <a:pt x="6286" y="680720"/>
                  </a:lnTo>
                  <a:lnTo>
                    <a:pt x="0" y="680720"/>
                  </a:lnTo>
                  <a:lnTo>
                    <a:pt x="0" y="699770"/>
                  </a:lnTo>
                  <a:lnTo>
                    <a:pt x="0" y="712470"/>
                  </a:lnTo>
                  <a:lnTo>
                    <a:pt x="2476360" y="712470"/>
                  </a:lnTo>
                  <a:lnTo>
                    <a:pt x="2476360" y="699770"/>
                  </a:lnTo>
                  <a:lnTo>
                    <a:pt x="2476360" y="12700"/>
                  </a:lnTo>
                  <a:lnTo>
                    <a:pt x="2476360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887227" y="655425"/>
              <a:ext cx="2463800" cy="700405"/>
            </a:xfrm>
            <a:custGeom>
              <a:avLst/>
              <a:gdLst/>
              <a:ahLst/>
              <a:cxnLst/>
              <a:rect l="l" t="t" r="r" b="b"/>
              <a:pathLst>
                <a:path w="2463800" h="700405">
                  <a:moveTo>
                    <a:pt x="0" y="0"/>
                  </a:moveTo>
                  <a:lnTo>
                    <a:pt x="2463800" y="0"/>
                  </a:lnTo>
                  <a:lnTo>
                    <a:pt x="2463800" y="700020"/>
                  </a:lnTo>
                  <a:lnTo>
                    <a:pt x="0" y="700020"/>
                  </a:lnTo>
                  <a:lnTo>
                    <a:pt x="0" y="0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16977" y="446132"/>
            <a:ext cx="2163296" cy="62674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73175" marR="247663" indent="-299213">
              <a:lnSpc>
                <a:spcPct val="151200"/>
              </a:lnSpc>
              <a:spcBef>
                <a:spcPts val="88"/>
              </a:spcBef>
            </a:pPr>
            <a:r>
              <a:rPr sz="1412" dirty="0">
                <a:solidFill>
                  <a:srgbClr val="FC0128"/>
                </a:solidFill>
                <a:latin typeface="Arial MT"/>
                <a:cs typeface="Arial MT"/>
              </a:rPr>
              <a:t>for</a:t>
            </a:r>
            <a:r>
              <a:rPr sz="1412" spc="-71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412" dirty="0">
                <a:solidFill>
                  <a:srgbClr val="FC0128"/>
                </a:solidFill>
                <a:latin typeface="Arial MT"/>
                <a:cs typeface="Arial MT"/>
              </a:rPr>
              <a:t>(i=1000;</a:t>
            </a:r>
            <a:r>
              <a:rPr sz="1412" spc="-71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412" dirty="0">
                <a:solidFill>
                  <a:srgbClr val="FC0128"/>
                </a:solidFill>
                <a:latin typeface="Arial MT"/>
                <a:cs typeface="Arial MT"/>
              </a:rPr>
              <a:t>i&gt;=0;</a:t>
            </a:r>
            <a:r>
              <a:rPr sz="1412" spc="-66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412" spc="-9" dirty="0">
                <a:solidFill>
                  <a:srgbClr val="FC0128"/>
                </a:solidFill>
                <a:latin typeface="Arial MT"/>
                <a:cs typeface="Arial MT"/>
              </a:rPr>
              <a:t>i=i–1) </a:t>
            </a:r>
            <a:r>
              <a:rPr sz="1412" dirty="0">
                <a:solidFill>
                  <a:srgbClr val="FC0128"/>
                </a:solidFill>
                <a:latin typeface="Arial MT"/>
                <a:cs typeface="Arial MT"/>
              </a:rPr>
              <a:t>x[i]</a:t>
            </a:r>
            <a:r>
              <a:rPr sz="1412" spc="-22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412" dirty="0">
                <a:solidFill>
                  <a:srgbClr val="FC0128"/>
                </a:solidFill>
                <a:latin typeface="Arial MT"/>
                <a:cs typeface="Arial MT"/>
              </a:rPr>
              <a:t>=</a:t>
            </a:r>
            <a:r>
              <a:rPr sz="1412" spc="-31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412" dirty="0">
                <a:solidFill>
                  <a:srgbClr val="FC0128"/>
                </a:solidFill>
                <a:latin typeface="Arial MT"/>
                <a:cs typeface="Arial MT"/>
              </a:rPr>
              <a:t>x[i]</a:t>
            </a:r>
            <a:r>
              <a:rPr sz="1412" spc="-18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412" dirty="0">
                <a:solidFill>
                  <a:srgbClr val="FC0128"/>
                </a:solidFill>
                <a:latin typeface="Arial MT"/>
                <a:cs typeface="Arial MT"/>
              </a:rPr>
              <a:t>+</a:t>
            </a:r>
            <a:r>
              <a:rPr sz="1412" spc="-31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412" spc="-22" dirty="0">
                <a:solidFill>
                  <a:srgbClr val="FC0128"/>
                </a:solidFill>
                <a:latin typeface="Arial MT"/>
                <a:cs typeface="Arial MT"/>
              </a:rPr>
              <a:t>s;</a:t>
            </a:r>
            <a:endParaRPr sz="1412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 flipV="1">
            <a:off x="803564" y="4933835"/>
            <a:ext cx="7403789" cy="45719"/>
          </a:xfrm>
          <a:custGeom>
            <a:avLst/>
            <a:gdLst/>
            <a:ahLst/>
            <a:cxnLst/>
            <a:rect l="l" t="t" r="r" b="b"/>
            <a:pathLst>
              <a:path w="8213725">
                <a:moveTo>
                  <a:pt x="0" y="0"/>
                </a:moveTo>
                <a:lnTo>
                  <a:pt x="8213513" y="0"/>
                </a:lnTo>
              </a:path>
            </a:pathLst>
          </a:custGeom>
          <a:ln w="125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929462"/>
              </p:ext>
            </p:extLst>
          </p:nvPr>
        </p:nvGraphicFramePr>
        <p:xfrm>
          <a:off x="812017" y="1385836"/>
          <a:ext cx="7515166" cy="4453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5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520">
                  <a:extLst>
                    <a:ext uri="{9D8B030D-6E8A-4147-A177-3AD203B41FA5}">
                      <a16:colId xmlns:a16="http://schemas.microsoft.com/office/drawing/2014/main" val="1316998672"/>
                    </a:ext>
                  </a:extLst>
                </a:gridCol>
                <a:gridCol w="11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0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98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8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3773">
                <a:tc>
                  <a:txBody>
                    <a:bodyPr/>
                    <a:lstStyle/>
                    <a:p>
                      <a:pPr marL="224154">
                        <a:lnSpc>
                          <a:spcPts val="1510"/>
                        </a:lnSpc>
                      </a:pP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sz="1800" b="1" spc="-3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Loop: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510"/>
                        </a:lnSpc>
                      </a:pPr>
                      <a:r>
                        <a:rPr sz="1800" b="1" spc="-2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L.D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87630">
                        <a:lnSpc>
                          <a:spcPts val="1510"/>
                        </a:lnSpc>
                      </a:pPr>
                      <a:r>
                        <a:rPr sz="1600" b="1" spc="-10" dirty="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</a:t>
                      </a:r>
                      <a:r>
                        <a:rPr sz="16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,0(R1)</a:t>
                      </a:r>
                      <a:endParaRPr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510"/>
                        </a:lnSpc>
                      </a:pPr>
                      <a:r>
                        <a:rPr lang="en-US" sz="1800" b="1" spc="-1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</a:t>
                      </a:r>
                      <a:r>
                        <a:rPr lang="en-US" sz="1800" b="1" spc="-1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,0(R1)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51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9690">
                        <a:lnSpc>
                          <a:spcPts val="1510"/>
                        </a:lnSpc>
                      </a:pP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F0=vector</a:t>
                      </a:r>
                      <a:r>
                        <a:rPr sz="1800" b="1" spc="-1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element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79">
                <a:tc>
                  <a:txBody>
                    <a:bodyPr/>
                    <a:lstStyle/>
                    <a:p>
                      <a:pPr marL="224154">
                        <a:lnSpc>
                          <a:spcPts val="185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850"/>
                        </a:lnSpc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stall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09">
                <a:tc>
                  <a:txBody>
                    <a:bodyPr/>
                    <a:lstStyle/>
                    <a:p>
                      <a:pPr marL="224154">
                        <a:lnSpc>
                          <a:spcPts val="181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810"/>
                        </a:lnSpc>
                      </a:pPr>
                      <a:r>
                        <a:rPr sz="18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ADD.D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87630">
                        <a:lnSpc>
                          <a:spcPts val="1810"/>
                        </a:lnSpc>
                      </a:pPr>
                      <a:r>
                        <a:rPr sz="1600" b="1" spc="-10" dirty="0">
                          <a:solidFill>
                            <a:srgbClr val="618FF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</a:t>
                      </a:r>
                      <a:r>
                        <a:rPr sz="16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sz="1600" b="1" spc="-10" dirty="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</a:t>
                      </a:r>
                      <a:r>
                        <a:rPr sz="16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,F2</a:t>
                      </a:r>
                      <a:endParaRPr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810"/>
                        </a:lnSpc>
                      </a:pPr>
                      <a:r>
                        <a:rPr lang="en-US" sz="1800" b="1" spc="-10">
                          <a:solidFill>
                            <a:srgbClr val="618FF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</a:t>
                      </a:r>
                      <a:r>
                        <a:rPr lang="en-US" sz="1800" b="1" spc="-1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1" spc="-1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F0</a:t>
                      </a:r>
                      <a:r>
                        <a:rPr lang="en-US" sz="1800" b="1" spc="-1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,F2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81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9690">
                        <a:lnSpc>
                          <a:spcPts val="1810"/>
                        </a:lnSpc>
                      </a:pP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sz="1800" b="1" spc="-7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scalar</a:t>
                      </a:r>
                      <a:r>
                        <a:rPr sz="1800" b="1" spc="-7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sz="1800" b="1" spc="-7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spc="-3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F2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299">
                <a:tc>
                  <a:txBody>
                    <a:bodyPr/>
                    <a:lstStyle/>
                    <a:p>
                      <a:pPr marL="224154">
                        <a:lnSpc>
                          <a:spcPts val="186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860"/>
                        </a:lnSpc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stall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299">
                <a:tc>
                  <a:txBody>
                    <a:bodyPr/>
                    <a:lstStyle/>
                    <a:p>
                      <a:pPr marL="224154">
                        <a:lnSpc>
                          <a:spcPts val="186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860"/>
                        </a:lnSpc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stall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379">
                <a:tc>
                  <a:txBody>
                    <a:bodyPr/>
                    <a:lstStyle/>
                    <a:p>
                      <a:pPr marL="224154">
                        <a:lnSpc>
                          <a:spcPts val="186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860"/>
                        </a:lnSpc>
                      </a:pPr>
                      <a:r>
                        <a:rPr sz="1800" b="1" spc="-2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S.D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87630">
                        <a:lnSpc>
                          <a:spcPts val="1860"/>
                        </a:lnSpc>
                      </a:pPr>
                      <a:r>
                        <a:rPr sz="1600" b="1" spc="-10" dirty="0">
                          <a:solidFill>
                            <a:srgbClr val="618FF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F4,</a:t>
                      </a:r>
                      <a:r>
                        <a:rPr sz="16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0(R1)</a:t>
                      </a:r>
                      <a:endParaRPr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860"/>
                        </a:lnSpc>
                      </a:pPr>
                      <a:r>
                        <a:rPr lang="en-US" sz="1800" b="1" spc="-10">
                          <a:solidFill>
                            <a:srgbClr val="618FF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F4,</a:t>
                      </a:r>
                      <a:r>
                        <a:rPr lang="en-US" sz="1800" b="1" spc="-1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0(R1)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86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9690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store</a:t>
                      </a:r>
                      <a:r>
                        <a:rPr sz="1800" b="1" spc="-9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379">
                <a:tc>
                  <a:txBody>
                    <a:bodyPr/>
                    <a:lstStyle/>
                    <a:p>
                      <a:pPr marL="224154">
                        <a:lnSpc>
                          <a:spcPts val="180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800"/>
                        </a:lnSpc>
                      </a:pPr>
                      <a:r>
                        <a:rPr sz="18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DADDUI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87630">
                        <a:lnSpc>
                          <a:spcPts val="1800"/>
                        </a:lnSpc>
                      </a:pPr>
                      <a:r>
                        <a:rPr sz="1600" b="1" spc="-1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R1,R1,-</a:t>
                      </a:r>
                      <a:r>
                        <a:rPr sz="16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sz="16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800"/>
                        </a:lnSpc>
                      </a:pPr>
                      <a:r>
                        <a:rPr lang="en-US" sz="1800" b="1" spc="-15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R1,R1,-</a:t>
                      </a:r>
                      <a:r>
                        <a:rPr lang="en-US" sz="1800" b="1" spc="-5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80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9690">
                        <a:lnSpc>
                          <a:spcPts val="1800"/>
                        </a:lnSpc>
                      </a:pP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decrement</a:t>
                      </a:r>
                      <a:r>
                        <a:rPr sz="1800" b="1" spc="-10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pointer</a:t>
                      </a:r>
                      <a:r>
                        <a:rPr sz="1800" b="1" spc="-10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8B</a:t>
                      </a:r>
                      <a:r>
                        <a:rPr sz="1800" b="1" spc="-10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spc="-2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(DW)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299">
                <a:tc>
                  <a:txBody>
                    <a:bodyPr/>
                    <a:lstStyle/>
                    <a:p>
                      <a:pPr marL="224154">
                        <a:lnSpc>
                          <a:spcPts val="186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stall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15688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15688" marB="0"/>
                </a:tc>
                <a:tc gridSpan="3">
                  <a:txBody>
                    <a:bodyPr/>
                    <a:lstStyle/>
                    <a:p>
                      <a:pPr marL="47625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can’t</a:t>
                      </a:r>
                      <a:r>
                        <a:rPr sz="1800" b="1" spc="-9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forward</a:t>
                      </a:r>
                      <a:r>
                        <a:rPr sz="1800" b="1" spc="-9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</a:t>
                      </a:r>
                      <a:r>
                        <a:rPr sz="1800" b="1" spc="-9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branch</a:t>
                      </a:r>
                      <a:r>
                        <a:rPr sz="1800" b="1" spc="-9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spc="-2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48">
                <a:tc>
                  <a:txBody>
                    <a:bodyPr/>
                    <a:lstStyle/>
                    <a:p>
                      <a:pPr marL="224154">
                        <a:lnSpc>
                          <a:spcPts val="185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855">
                        <a:lnSpc>
                          <a:spcPts val="1850"/>
                        </a:lnSpc>
                      </a:pPr>
                      <a:r>
                        <a:rPr sz="1800" b="1" spc="-25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BNE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marL="87630">
                        <a:lnSpc>
                          <a:spcPts val="1850"/>
                        </a:lnSpc>
                      </a:pPr>
                      <a:r>
                        <a:rPr sz="16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R1,R2,Loop</a:t>
                      </a:r>
                      <a:endParaRPr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850"/>
                        </a:lnSpc>
                      </a:pPr>
                      <a:r>
                        <a:rPr lang="en-US" sz="18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R1,R2,Loop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850"/>
                        </a:lnSpc>
                      </a:pPr>
                      <a:r>
                        <a:rPr sz="1800" b="1" spc="-5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sz="18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59690">
                        <a:lnSpc>
                          <a:spcPts val="1850"/>
                        </a:lnSpc>
                      </a:pPr>
                      <a:r>
                        <a:rPr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branch</a:t>
                      </a:r>
                      <a:r>
                        <a:rPr sz="1800" b="1" spc="-114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R1!=zero</a:t>
                      </a:r>
                      <a:endParaRPr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205">
                <a:tc gridSpan="8">
                  <a:txBody>
                    <a:bodyPr/>
                    <a:lstStyle/>
                    <a:p>
                      <a:pPr marL="1087438" indent="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00" b="1" i="1" dirty="0">
                          <a:solidFill>
                            <a:srgbClr val="FC0128"/>
                          </a:solidFill>
                          <a:latin typeface="Arial"/>
                          <a:cs typeface="Arial"/>
                        </a:rPr>
                        <a:t>plus</a:t>
                      </a:r>
                      <a:r>
                        <a:rPr sz="1600" b="1" i="1" spc="-70" dirty="0">
                          <a:solidFill>
                            <a:srgbClr val="FC01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dirty="0">
                          <a:solidFill>
                            <a:srgbClr val="FC0128"/>
                          </a:solidFill>
                          <a:latin typeface="Arial"/>
                          <a:cs typeface="Arial"/>
                        </a:rPr>
                        <a:t>branch</a:t>
                      </a:r>
                      <a:r>
                        <a:rPr sz="1600" b="1" i="1" spc="-70" dirty="0">
                          <a:solidFill>
                            <a:srgbClr val="FC01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" dirty="0">
                          <a:solidFill>
                            <a:srgbClr val="FC0128"/>
                          </a:solidFill>
                          <a:latin typeface="Arial"/>
                          <a:cs typeface="Arial"/>
                        </a:rPr>
                        <a:t>delay!</a:t>
                      </a:r>
                      <a:endParaRPr lang="en-US" sz="1600" b="1" i="1" spc="-10" dirty="0">
                        <a:solidFill>
                          <a:srgbClr val="FC0128"/>
                        </a:solidFill>
                        <a:latin typeface="Arial"/>
                        <a:cs typeface="Arial"/>
                      </a:endParaRPr>
                    </a:p>
                    <a:p>
                      <a:pPr marL="65595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endParaRPr lang="en-US" sz="1600" b="1" i="1" spc="-10" dirty="0">
                        <a:solidFill>
                          <a:srgbClr val="FC0128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745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87625">
                <a:tc gridSpan="2">
                  <a:txBody>
                    <a:bodyPr/>
                    <a:lstStyle/>
                    <a:p>
                      <a:pPr marL="277495">
                        <a:lnSpc>
                          <a:spcPts val="1810"/>
                        </a:lnSpc>
                        <a:spcBef>
                          <a:spcPts val="15"/>
                        </a:spcBef>
                      </a:pPr>
                      <a:r>
                        <a:rPr sz="1800" i="1" spc="-10" dirty="0">
                          <a:latin typeface="Consolas"/>
                          <a:cs typeface="Consolas"/>
                        </a:rPr>
                        <a:t>Instruction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277495">
                        <a:lnSpc>
                          <a:spcPts val="1810"/>
                        </a:lnSpc>
                      </a:pPr>
                      <a:r>
                        <a:rPr sz="1800" b="1" i="1" dirty="0">
                          <a:latin typeface="Consolas"/>
                          <a:cs typeface="Consolas"/>
                        </a:rPr>
                        <a:t>producing</a:t>
                      </a:r>
                      <a:r>
                        <a:rPr sz="1800" b="1" i="1" spc="-1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10" dirty="0">
                          <a:latin typeface="Consolas"/>
                          <a:cs typeface="Consolas"/>
                        </a:rPr>
                        <a:t>result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1681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FF00">
                        <a:alpha val="2430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63550" indent="0">
                        <a:lnSpc>
                          <a:spcPts val="1810"/>
                        </a:lnSpc>
                        <a:spcBef>
                          <a:spcPts val="15"/>
                        </a:spcBef>
                      </a:pPr>
                      <a:r>
                        <a:rPr sz="1800" i="1" spc="-10" dirty="0">
                          <a:latin typeface="Consolas"/>
                          <a:cs typeface="Consolas"/>
                        </a:rPr>
                        <a:t>Instruction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463550" indent="0">
                        <a:lnSpc>
                          <a:spcPts val="1810"/>
                        </a:lnSpc>
                      </a:pPr>
                      <a:r>
                        <a:rPr sz="1800" b="1" i="1" dirty="0">
                          <a:latin typeface="Consolas"/>
                          <a:cs typeface="Consolas"/>
                        </a:rPr>
                        <a:t>using</a:t>
                      </a:r>
                      <a:r>
                        <a:rPr sz="1800" b="1" i="1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10" dirty="0">
                          <a:latin typeface="Consolas"/>
                          <a:cs typeface="Consolas"/>
                        </a:rPr>
                        <a:t>result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1681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00">
                        <a:alpha val="2430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00">
                        <a:alpha val="2430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1275" marR="1343660">
                        <a:lnSpc>
                          <a:spcPts val="1700"/>
                        </a:lnSpc>
                        <a:spcBef>
                          <a:spcPts val="254"/>
                        </a:spcBef>
                      </a:pPr>
                      <a:r>
                        <a:rPr sz="1800" i="1" dirty="0">
                          <a:latin typeface="Consolas"/>
                          <a:cs typeface="Consolas"/>
                        </a:rPr>
                        <a:t>Latency</a:t>
                      </a:r>
                      <a:r>
                        <a:rPr lang="en-US" sz="1800" i="1" spc="-1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25" dirty="0">
                          <a:latin typeface="Consolas"/>
                          <a:cs typeface="Consolas"/>
                        </a:rPr>
                        <a:t>in </a:t>
                      </a:r>
                      <a:r>
                        <a:rPr sz="1800" i="1" dirty="0">
                          <a:latin typeface="Consolas"/>
                          <a:cs typeface="Consolas"/>
                        </a:rPr>
                        <a:t>clock</a:t>
                      </a:r>
                      <a:r>
                        <a:rPr sz="1800" i="1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10" dirty="0">
                          <a:latin typeface="Consolas"/>
                          <a:cs typeface="Consolas"/>
                        </a:rPr>
                        <a:t>cycles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2857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410">
                <a:tc gridSpan="2">
                  <a:txBody>
                    <a:bodyPr/>
                    <a:lstStyle/>
                    <a:p>
                      <a:pPr marL="277495">
                        <a:lnSpc>
                          <a:spcPts val="18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ALU</a:t>
                      </a:r>
                      <a:r>
                        <a:rPr sz="18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63550" indent="0">
                        <a:lnSpc>
                          <a:spcPts val="1895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Another</a:t>
                      </a:r>
                      <a:r>
                        <a:rPr sz="1800" spc="-9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8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ALU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95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895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3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109">
                <a:tc gridSpan="2">
                  <a:txBody>
                    <a:bodyPr/>
                    <a:lstStyle/>
                    <a:p>
                      <a:pPr marL="277495">
                        <a:lnSpc>
                          <a:spcPts val="181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ALU</a:t>
                      </a:r>
                      <a:r>
                        <a:rPr sz="18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63550" indent="0">
                        <a:lnSpc>
                          <a:spcPts val="181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Store</a:t>
                      </a:r>
                      <a:r>
                        <a:rPr sz="1800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double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81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2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48">
                <a:tc gridSpan="2">
                  <a:txBody>
                    <a:bodyPr/>
                    <a:lstStyle/>
                    <a:p>
                      <a:pPr marL="277495">
                        <a:lnSpc>
                          <a:spcPts val="185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Load</a:t>
                      </a:r>
                      <a:r>
                        <a:rPr sz="1800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double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63550" indent="0">
                        <a:lnSpc>
                          <a:spcPts val="185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ALU</a:t>
                      </a:r>
                      <a:r>
                        <a:rPr sz="18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85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1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47FC278F-B855-D1CA-A962-C89A67CB005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576084"/>
            <a:ext cx="5183740" cy="562597"/>
          </a:xfrm>
          <a:prstGeom prst="rect">
            <a:avLst/>
          </a:prstGeom>
        </p:spPr>
        <p:txBody>
          <a:bodyPr vert="horz" wrap="square" lIns="0" tIns="9995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Revised</a:t>
            </a:r>
            <a:r>
              <a:rPr spc="-97" dirty="0"/>
              <a:t> </a:t>
            </a:r>
            <a:r>
              <a:rPr dirty="0"/>
              <a:t>FP</a:t>
            </a:r>
            <a:r>
              <a:rPr spc="-101" dirty="0"/>
              <a:t> </a:t>
            </a:r>
            <a:r>
              <a:rPr dirty="0"/>
              <a:t>Loop</a:t>
            </a:r>
            <a:r>
              <a:rPr spc="-93" dirty="0"/>
              <a:t> </a:t>
            </a:r>
            <a:r>
              <a:rPr spc="-18" dirty="0"/>
              <a:t>Minimizing</a:t>
            </a:r>
            <a:r>
              <a:rPr spc="-97" dirty="0"/>
              <a:t> </a:t>
            </a:r>
            <a:r>
              <a:rPr spc="-9" dirty="0"/>
              <a:t>Stalls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515" y="5682256"/>
            <a:ext cx="6894979" cy="66611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lnSpc>
                <a:spcPct val="109000"/>
              </a:lnSpc>
              <a:spcBef>
                <a:spcPts val="88"/>
              </a:spcBef>
            </a:pP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7</a:t>
            </a:r>
            <a:r>
              <a:rPr sz="2000" spc="-57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clock</a:t>
            </a:r>
            <a:r>
              <a:rPr sz="2000" spc="-4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cycles,</a:t>
            </a:r>
            <a:r>
              <a:rPr sz="2000" spc="-4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but</a:t>
            </a:r>
            <a:r>
              <a:rPr sz="2000" spc="-4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just</a:t>
            </a:r>
            <a:r>
              <a:rPr sz="2000" spc="-4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3</a:t>
            </a:r>
            <a:r>
              <a:rPr sz="2000" spc="-5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for</a:t>
            </a:r>
            <a:r>
              <a:rPr sz="2000" spc="-4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332B7"/>
                </a:solidFill>
                <a:latin typeface="Calibri"/>
                <a:cs typeface="Calibri"/>
              </a:rPr>
              <a:t>execution</a:t>
            </a:r>
            <a:r>
              <a:rPr sz="2000" spc="-5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(L.D,</a:t>
            </a:r>
            <a:r>
              <a:rPr sz="2000" spc="-5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332B7"/>
                </a:solidFill>
                <a:latin typeface="Calibri"/>
                <a:cs typeface="Calibri"/>
              </a:rPr>
              <a:t>ADD.D,S.D),</a:t>
            </a:r>
            <a:r>
              <a:rPr sz="2000" spc="-4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4</a:t>
            </a:r>
            <a:r>
              <a:rPr sz="2000" spc="-5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for</a:t>
            </a:r>
            <a:r>
              <a:rPr sz="2000" spc="-49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loop</a:t>
            </a:r>
            <a:r>
              <a:rPr sz="2000" spc="-53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332B7"/>
                </a:solidFill>
                <a:latin typeface="Calibri"/>
                <a:cs typeface="Calibri"/>
              </a:rPr>
              <a:t>overhead;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How</a:t>
            </a:r>
            <a:r>
              <a:rPr sz="2000" spc="-62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332B7"/>
                </a:solidFill>
                <a:latin typeface="Calibri"/>
                <a:cs typeface="Calibri"/>
              </a:rPr>
              <a:t>make</a:t>
            </a:r>
            <a:r>
              <a:rPr sz="2000" spc="304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0332B7"/>
                </a:solidFill>
                <a:latin typeface="Calibri"/>
                <a:cs typeface="Calibri"/>
              </a:rPr>
              <a:t>faster?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316275"/>
              </p:ext>
            </p:extLst>
          </p:nvPr>
        </p:nvGraphicFramePr>
        <p:xfrm>
          <a:off x="734340" y="4170994"/>
          <a:ext cx="7781335" cy="1440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6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352">
                <a:tc>
                  <a:txBody>
                    <a:bodyPr/>
                    <a:lstStyle/>
                    <a:p>
                      <a:pPr marL="597535">
                        <a:lnSpc>
                          <a:spcPts val="1400"/>
                        </a:lnSpc>
                      </a:pPr>
                      <a:r>
                        <a:rPr sz="1800" i="1" spc="-10" dirty="0">
                          <a:latin typeface="Consolas"/>
                          <a:cs typeface="Consolas"/>
                        </a:rPr>
                        <a:t>Instruction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597535">
                        <a:lnSpc>
                          <a:spcPts val="1810"/>
                        </a:lnSpc>
                      </a:pPr>
                      <a:r>
                        <a:rPr sz="1800" i="1" dirty="0">
                          <a:latin typeface="Consolas"/>
                          <a:cs typeface="Consolas"/>
                        </a:rPr>
                        <a:t>producing</a:t>
                      </a:r>
                      <a:r>
                        <a:rPr sz="1800" i="1" spc="-1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10" dirty="0">
                          <a:latin typeface="Consolas"/>
                          <a:cs typeface="Consolas"/>
                        </a:rPr>
                        <a:t>result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ts val="1400"/>
                        </a:lnSpc>
                      </a:pPr>
                      <a:r>
                        <a:rPr sz="1800" i="1" spc="-10" dirty="0">
                          <a:latin typeface="Consolas"/>
                          <a:cs typeface="Consolas"/>
                        </a:rPr>
                        <a:t>Instruction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  <a:p>
                      <a:pPr marL="384175">
                        <a:lnSpc>
                          <a:spcPts val="1810"/>
                        </a:lnSpc>
                      </a:pPr>
                      <a:r>
                        <a:rPr sz="1800" i="1" dirty="0">
                          <a:latin typeface="Consolas"/>
                          <a:cs typeface="Consolas"/>
                        </a:rPr>
                        <a:t>using</a:t>
                      </a:r>
                      <a:r>
                        <a:rPr sz="1800" i="1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10" dirty="0">
                          <a:latin typeface="Consolas"/>
                          <a:cs typeface="Consolas"/>
                        </a:rPr>
                        <a:t>result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1400"/>
                        </a:lnSpc>
                      </a:pPr>
                      <a:r>
                        <a:rPr sz="1800" i="1" dirty="0">
                          <a:latin typeface="Consolas"/>
                          <a:cs typeface="Consolas"/>
                        </a:rPr>
                        <a:t>Latency</a:t>
                      </a:r>
                      <a:r>
                        <a:rPr sz="1800" i="1" spc="-12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25" dirty="0">
                          <a:latin typeface="Consolas"/>
                          <a:cs typeface="Consolas"/>
                        </a:rPr>
                        <a:t>in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274320">
                        <a:lnSpc>
                          <a:spcPts val="1810"/>
                        </a:lnSpc>
                      </a:pPr>
                      <a:r>
                        <a:rPr sz="1800" i="1" dirty="0">
                          <a:latin typeface="Consolas"/>
                          <a:cs typeface="Consolas"/>
                        </a:rPr>
                        <a:t>clock</a:t>
                      </a:r>
                      <a:r>
                        <a:rPr sz="1800" i="1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i="1" spc="-10" dirty="0">
                          <a:latin typeface="Consolas"/>
                          <a:cs typeface="Consolas"/>
                        </a:rPr>
                        <a:t>cycles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12">
                <a:tc>
                  <a:txBody>
                    <a:bodyPr/>
                    <a:lstStyle/>
                    <a:p>
                      <a:pPr marL="59753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ALU</a:t>
                      </a:r>
                      <a:r>
                        <a:rPr sz="18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ts val="186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Another</a:t>
                      </a:r>
                      <a:r>
                        <a:rPr sz="1800" spc="-9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8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ALU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3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414">
                <a:tc>
                  <a:txBody>
                    <a:bodyPr/>
                    <a:lstStyle/>
                    <a:p>
                      <a:pPr marL="597535">
                        <a:lnSpc>
                          <a:spcPts val="181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ALU</a:t>
                      </a:r>
                      <a:r>
                        <a:rPr sz="18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ts val="181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Store</a:t>
                      </a:r>
                      <a:r>
                        <a:rPr sz="1800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double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181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2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414">
                <a:tc>
                  <a:txBody>
                    <a:bodyPr/>
                    <a:lstStyle/>
                    <a:p>
                      <a:pPr marL="597535">
                        <a:lnSpc>
                          <a:spcPts val="185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Load</a:t>
                      </a:r>
                      <a:r>
                        <a:rPr sz="1800" spc="-7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10" dirty="0">
                          <a:latin typeface="Consolas"/>
                          <a:cs typeface="Consolas"/>
                        </a:rPr>
                        <a:t>double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ts val="1850"/>
                        </a:lnSpc>
                      </a:pPr>
                      <a:r>
                        <a:rPr sz="1800" dirty="0">
                          <a:latin typeface="Consolas"/>
                          <a:cs typeface="Consolas"/>
                        </a:rPr>
                        <a:t>FP</a:t>
                      </a:r>
                      <a:r>
                        <a:rPr sz="1800" spc="-5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dirty="0">
                          <a:latin typeface="Consolas"/>
                          <a:cs typeface="Consolas"/>
                        </a:rPr>
                        <a:t>ALU</a:t>
                      </a:r>
                      <a:r>
                        <a:rPr sz="180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spc="-25" dirty="0">
                          <a:latin typeface="Consolas"/>
                          <a:cs typeface="Consolas"/>
                        </a:rPr>
                        <a:t>op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1850"/>
                        </a:lnSpc>
                      </a:pPr>
                      <a:r>
                        <a:rPr sz="1800" spc="-50" dirty="0">
                          <a:latin typeface="Consolas"/>
                          <a:cs typeface="Consolas"/>
                        </a:rPr>
                        <a:t>1</a:t>
                      </a:r>
                      <a:endParaRPr sz="1800" dirty="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169575"/>
              </p:ext>
            </p:extLst>
          </p:nvPr>
        </p:nvGraphicFramePr>
        <p:xfrm>
          <a:off x="806073" y="1419090"/>
          <a:ext cx="7781335" cy="1986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5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726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Loop: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1860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L.D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DADDUI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60"/>
                        </a:lnSpc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F0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,0(R1)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Bef>
                          <a:spcPts val="430"/>
                        </a:spcBef>
                        <a:tabLst>
                          <a:tab pos="1626235" algn="l"/>
                        </a:tabLst>
                      </a:pPr>
                      <a:r>
                        <a:rPr sz="1800" b="1" spc="-20" dirty="0">
                          <a:latin typeface="Courier New"/>
                          <a:cs typeface="Courier New"/>
                        </a:rPr>
                        <a:t>R1,R1,-</a:t>
                      </a:r>
                      <a:r>
                        <a:rPr sz="1800" b="1" spc="-50" dirty="0"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	;</a:t>
                      </a:r>
                      <a:r>
                        <a:rPr sz="1800" b="1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moved</a:t>
                      </a:r>
                      <a:r>
                        <a:rPr sz="1800" b="1" spc="-7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800" b="1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20" dirty="0">
                          <a:latin typeface="Courier New"/>
                          <a:cs typeface="Courier New"/>
                        </a:rPr>
                        <a:t>here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10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1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ADD.D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</a:pPr>
                      <a:r>
                        <a:rPr sz="1800" b="1" spc="-10" dirty="0">
                          <a:solidFill>
                            <a:srgbClr val="618FFD"/>
                          </a:solidFill>
                          <a:latin typeface="Courier New"/>
                          <a:cs typeface="Courier New"/>
                        </a:rPr>
                        <a:t>F4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F0</a:t>
                      </a:r>
                      <a:r>
                        <a:rPr sz="1800" b="1" spc="-10" dirty="0">
                          <a:latin typeface="Courier New"/>
                          <a:cs typeface="Courier New"/>
                        </a:rPr>
                        <a:t>,F2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629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4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135"/>
                        </a:lnSpc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stall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62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5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14007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2085"/>
                        </a:lnSpc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stall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10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6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135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S.D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35"/>
                        </a:lnSpc>
                      </a:pPr>
                      <a:r>
                        <a:rPr sz="1800" b="1" dirty="0">
                          <a:solidFill>
                            <a:srgbClr val="618FFD"/>
                          </a:solidFill>
                          <a:latin typeface="Courier New"/>
                          <a:cs typeface="Courier New"/>
                        </a:rPr>
                        <a:t>F4,</a:t>
                      </a:r>
                      <a:r>
                        <a:rPr sz="1800" b="1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800" b="1" dirty="0">
                          <a:latin typeface="Courier New"/>
                          <a:cs typeface="Courier New"/>
                        </a:rPr>
                        <a:t>(R1)</a:t>
                      </a:r>
                      <a:r>
                        <a:rPr sz="1800" b="1" spc="-1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;altered</a:t>
                      </a:r>
                      <a:r>
                        <a:rPr sz="1800" b="1" spc="-145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offset</a:t>
                      </a:r>
                      <a:r>
                        <a:rPr lang="en-US" sz="1800" b="1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 when</a:t>
                      </a:r>
                      <a:r>
                        <a:rPr lang="en-US" sz="1800" b="1" spc="-145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lang="en-US" sz="1800" b="1" spc="-20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move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b="1" spc="-10" dirty="0">
                          <a:solidFill>
                            <a:srgbClr val="FC0128"/>
                          </a:solidFill>
                          <a:latin typeface="Courier New"/>
                          <a:cs typeface="Courier New"/>
                        </a:rPr>
                        <a:t>DSUBUI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34">
                <a:tc>
                  <a:txBody>
                    <a:bodyPr/>
                    <a:lstStyle/>
                    <a:p>
                      <a:pPr marL="31750">
                        <a:lnSpc>
                          <a:spcPts val="2100"/>
                        </a:lnSpc>
                      </a:pPr>
                      <a:r>
                        <a:rPr sz="1800" b="1" spc="-50" dirty="0">
                          <a:latin typeface="Courier New"/>
                          <a:cs typeface="Courier New"/>
                        </a:rPr>
                        <a:t>7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100"/>
                        </a:lnSpc>
                      </a:pPr>
                      <a:r>
                        <a:rPr sz="1800" b="1" spc="-25" dirty="0">
                          <a:latin typeface="Courier New"/>
                          <a:cs typeface="Courier New"/>
                        </a:rPr>
                        <a:t>BNE</a:t>
                      </a:r>
                      <a:endParaRPr sz="1800" b="1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</a:pPr>
                      <a:r>
                        <a:rPr sz="1800" b="1" spc="-10" dirty="0">
                          <a:latin typeface="Courier New"/>
                          <a:cs typeface="Courier New"/>
                        </a:rPr>
                        <a:t>R1,R2,Loop</a:t>
                      </a:r>
                      <a:endParaRPr sz="1800" b="1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b="1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97138" y="3519273"/>
            <a:ext cx="643609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spc="-9" dirty="0">
                <a:latin typeface="Arial"/>
                <a:cs typeface="Arial"/>
              </a:rPr>
              <a:t>DADDUI</a:t>
            </a:r>
            <a:r>
              <a:rPr sz="2118" b="1" spc="-9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first,</a:t>
            </a:r>
            <a:r>
              <a:rPr sz="2118" b="1" spc="-9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then</a:t>
            </a:r>
            <a:r>
              <a:rPr sz="2118" b="1" spc="-10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S.D</a:t>
            </a:r>
            <a:r>
              <a:rPr sz="2118" b="1" spc="-101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(address</a:t>
            </a:r>
            <a:r>
              <a:rPr sz="2118" b="1" spc="-93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change</a:t>
            </a:r>
            <a:r>
              <a:rPr sz="2118" b="1" spc="-97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is</a:t>
            </a:r>
            <a:r>
              <a:rPr sz="2118" b="1" spc="-97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needed)</a:t>
            </a:r>
            <a:endParaRPr sz="2118" dirty="0">
              <a:latin typeface="Arial"/>
              <a:cs typeface="Arial"/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1407E9E0-527A-530A-4A3A-BD5E24AAE6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21</a:t>
            </a:fld>
            <a:endParaRPr lang="en-US" spc="-4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735399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Unroll</a:t>
            </a:r>
            <a:r>
              <a:rPr spc="-106" dirty="0"/>
              <a:t> </a:t>
            </a:r>
            <a:r>
              <a:rPr dirty="0"/>
              <a:t>Loop</a:t>
            </a:r>
            <a:r>
              <a:rPr spc="-106" dirty="0"/>
              <a:t> </a:t>
            </a:r>
            <a:r>
              <a:rPr dirty="0"/>
              <a:t>Four</a:t>
            </a:r>
            <a:r>
              <a:rPr spc="-106" dirty="0"/>
              <a:t> </a:t>
            </a:r>
            <a:r>
              <a:rPr dirty="0"/>
              <a:t>Times</a:t>
            </a:r>
            <a:r>
              <a:rPr spc="-106" dirty="0"/>
              <a:t> </a:t>
            </a:r>
            <a:r>
              <a:rPr spc="-18" dirty="0"/>
              <a:t>(straightforward</a:t>
            </a:r>
            <a:r>
              <a:rPr spc="-106" dirty="0"/>
              <a:t> </a:t>
            </a:r>
            <a:r>
              <a:rPr spc="-18" dirty="0"/>
              <a:t>way)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9901" y="1531172"/>
            <a:ext cx="1716181" cy="91832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0551" marR="4483" indent="-249344">
              <a:lnSpc>
                <a:spcPct val="88700"/>
              </a:lnSpc>
              <a:spcBef>
                <a:spcPts val="375"/>
              </a:spcBef>
              <a:buChar char="•"/>
              <a:tabLst>
                <a:tab pos="260551" algn="l"/>
                <a:tab pos="319945" algn="l"/>
              </a:tabLst>
            </a:pPr>
            <a:r>
              <a:rPr sz="2118" dirty="0">
                <a:latin typeface="Calibri"/>
                <a:cs typeface="Calibri"/>
              </a:rPr>
              <a:t>	</a:t>
            </a:r>
            <a:r>
              <a:rPr sz="2118" spc="-9" dirty="0">
                <a:latin typeface="Calibri"/>
                <a:cs typeface="Calibri"/>
              </a:rPr>
              <a:t>Rewrite</a:t>
            </a:r>
            <a:r>
              <a:rPr sz="2118" spc="-79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loop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minimize stalls?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406" y="1705983"/>
            <a:ext cx="2643468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1678731" algn="l"/>
              </a:tabLst>
            </a:pPr>
            <a:r>
              <a:rPr sz="1588" b="1" dirty="0">
                <a:latin typeface="Courier New"/>
                <a:cs typeface="Courier New"/>
              </a:rPr>
              <a:t>1</a:t>
            </a:r>
            <a:r>
              <a:rPr sz="1588" b="1" spc="-31" dirty="0">
                <a:latin typeface="Courier New"/>
                <a:cs typeface="Courier New"/>
              </a:rPr>
              <a:t> </a:t>
            </a:r>
            <a:r>
              <a:rPr sz="1588" b="1" spc="-9" dirty="0">
                <a:latin typeface="Courier New"/>
                <a:cs typeface="Courier New"/>
              </a:rPr>
              <a:t>Loop:</a:t>
            </a:r>
            <a:r>
              <a:rPr sz="1588" b="1" u="heavy" spc="-9" dirty="0">
                <a:uFill>
                  <a:solidFill>
                    <a:srgbClr val="FC0128"/>
                  </a:solidFill>
                </a:uFill>
                <a:latin typeface="Courier New"/>
                <a:cs typeface="Courier New"/>
              </a:rPr>
              <a:t>L.D</a:t>
            </a:r>
            <a:r>
              <a:rPr sz="1588" b="1" u="heavy" dirty="0">
                <a:uFill>
                  <a:solidFill>
                    <a:srgbClr val="FC0128"/>
                  </a:solidFill>
                </a:uFill>
                <a:latin typeface="Courier New"/>
                <a:cs typeface="Courier New"/>
              </a:rPr>
              <a:t>	</a:t>
            </a:r>
            <a:r>
              <a:rPr sz="1588" b="1" u="heavy" spc="-9" dirty="0">
                <a:uFill>
                  <a:solidFill>
                    <a:srgbClr val="FC0128"/>
                  </a:solidFill>
                </a:uFill>
                <a:latin typeface="Courier New"/>
                <a:cs typeface="Courier New"/>
              </a:rPr>
              <a:t>F0,0(</a:t>
            </a:r>
            <a:r>
              <a:rPr sz="1588" b="1" spc="-9" dirty="0">
                <a:latin typeface="Courier New"/>
                <a:cs typeface="Courier New"/>
              </a:rPr>
              <a:t>R1)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406" y="1939962"/>
            <a:ext cx="2643468" cy="49875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884"/>
              </a:lnSpc>
              <a:spcBef>
                <a:spcPts val="88"/>
              </a:spcBef>
              <a:tabLst>
                <a:tab pos="844969" algn="l"/>
                <a:tab pos="1678731" algn="l"/>
              </a:tabLst>
            </a:pPr>
            <a:r>
              <a:rPr sz="1588" b="1" spc="-44" dirty="0">
                <a:latin typeface="Courier New"/>
                <a:cs typeface="Courier New"/>
              </a:rPr>
              <a:t>3</a:t>
            </a:r>
            <a:r>
              <a:rPr sz="1588" b="1" dirty="0">
                <a:latin typeface="Courier New"/>
                <a:cs typeface="Courier New"/>
              </a:rPr>
              <a:t>	</a:t>
            </a:r>
            <a:r>
              <a:rPr sz="1588" b="1" u="heavy" spc="-9" dirty="0">
                <a:uFill>
                  <a:solidFill>
                    <a:srgbClr val="618FFD"/>
                  </a:solidFill>
                </a:uFill>
                <a:latin typeface="Courier New"/>
                <a:cs typeface="Courier New"/>
              </a:rPr>
              <a:t>ADD.D</a:t>
            </a:r>
            <a:r>
              <a:rPr sz="1588" b="1" u="heavy" dirty="0">
                <a:uFill>
                  <a:solidFill>
                    <a:srgbClr val="618FFD"/>
                  </a:solidFill>
                </a:uFill>
                <a:latin typeface="Courier New"/>
                <a:cs typeface="Courier New"/>
              </a:rPr>
              <a:t>	</a:t>
            </a:r>
            <a:r>
              <a:rPr sz="1588" b="1" u="heavy" spc="-9" dirty="0">
                <a:uFill>
                  <a:solidFill>
                    <a:srgbClr val="618FFD"/>
                  </a:solidFill>
                </a:uFill>
                <a:latin typeface="Courier New"/>
                <a:cs typeface="Courier New"/>
              </a:rPr>
              <a:t>F4,F0</a:t>
            </a:r>
            <a:r>
              <a:rPr sz="1588" b="1" spc="-9" dirty="0">
                <a:latin typeface="Courier New"/>
                <a:cs typeface="Courier New"/>
              </a:rPr>
              <a:t>,F2</a:t>
            </a:r>
            <a:endParaRPr sz="1588">
              <a:latin typeface="Courier New"/>
              <a:cs typeface="Courier New"/>
            </a:endParaRPr>
          </a:p>
          <a:p>
            <a:pPr marL="11206">
              <a:lnSpc>
                <a:spcPts val="1884"/>
              </a:lnSpc>
              <a:tabLst>
                <a:tab pos="844969" algn="l"/>
                <a:tab pos="1678731" algn="l"/>
              </a:tabLst>
            </a:pPr>
            <a:r>
              <a:rPr sz="1588" b="1" spc="-44" dirty="0">
                <a:latin typeface="Courier New"/>
                <a:cs typeface="Courier New"/>
              </a:rPr>
              <a:t>6</a:t>
            </a:r>
            <a:r>
              <a:rPr sz="1588" b="1" dirty="0">
                <a:latin typeface="Courier New"/>
                <a:cs typeface="Courier New"/>
              </a:rPr>
              <a:t>	</a:t>
            </a:r>
            <a:r>
              <a:rPr sz="1588" b="1" spc="-22" dirty="0">
                <a:latin typeface="Courier New"/>
                <a:cs typeface="Courier New"/>
              </a:rPr>
              <a:t>S.D</a:t>
            </a:r>
            <a:r>
              <a:rPr sz="1588" b="1" dirty="0">
                <a:latin typeface="Courier New"/>
                <a:cs typeface="Courier New"/>
              </a:rPr>
              <a:t>	</a:t>
            </a:r>
            <a:r>
              <a:rPr sz="1588" b="1" spc="-9" dirty="0">
                <a:latin typeface="Courier New"/>
                <a:cs typeface="Courier New"/>
              </a:rPr>
              <a:t>F4,0(R1)</a:t>
            </a:r>
            <a:endParaRPr sz="1588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32775" y="1493519"/>
            <a:ext cx="2167218" cy="939213"/>
          </a:xfrm>
          <a:prstGeom prst="rect">
            <a:avLst/>
          </a:prstGeom>
        </p:spPr>
        <p:txBody>
          <a:bodyPr vert="horz" wrap="square" lIns="0" tIns="102534" rIns="0" bIns="0" rtlCol="0">
            <a:spAutoFit/>
          </a:bodyPr>
          <a:lstStyle/>
          <a:p>
            <a:pPr marL="335634" indent="-149046">
              <a:spcBef>
                <a:spcPts val="807"/>
              </a:spcBef>
              <a:buAutoNum type="arabicPlain"/>
              <a:tabLst>
                <a:tab pos="335634" algn="l"/>
              </a:tabLst>
            </a:pPr>
            <a:r>
              <a:rPr sz="1588" dirty="0">
                <a:solidFill>
                  <a:srgbClr val="FC0128"/>
                </a:solidFill>
                <a:latin typeface="Comic Sans MS"/>
                <a:cs typeface="Comic Sans MS"/>
              </a:rPr>
              <a:t>cycle</a:t>
            </a:r>
            <a:r>
              <a:rPr sz="1588" spc="-88" dirty="0">
                <a:solidFill>
                  <a:srgbClr val="FC0128"/>
                </a:solidFill>
                <a:latin typeface="Comic Sans MS"/>
                <a:cs typeface="Comic Sans MS"/>
              </a:rPr>
              <a:t> </a:t>
            </a:r>
            <a:r>
              <a:rPr sz="1588" spc="-18" dirty="0">
                <a:solidFill>
                  <a:srgbClr val="FC0128"/>
                </a:solidFill>
                <a:latin typeface="Comic Sans MS"/>
                <a:cs typeface="Comic Sans MS"/>
              </a:rPr>
              <a:t>stall</a:t>
            </a:r>
            <a:endParaRPr sz="1588">
              <a:latin typeface="Comic Sans MS"/>
              <a:cs typeface="Comic Sans MS"/>
            </a:endParaRPr>
          </a:p>
          <a:p>
            <a:pPr marL="367572" indent="-180984">
              <a:spcBef>
                <a:spcPts val="719"/>
              </a:spcBef>
              <a:buAutoNum type="arabicPlain"/>
              <a:tabLst>
                <a:tab pos="367572" algn="l"/>
              </a:tabLst>
            </a:pPr>
            <a:r>
              <a:rPr sz="1588" dirty="0">
                <a:solidFill>
                  <a:srgbClr val="618FFD"/>
                </a:solidFill>
                <a:latin typeface="Comic Sans MS"/>
                <a:cs typeface="Comic Sans MS"/>
              </a:rPr>
              <a:t>cycles</a:t>
            </a:r>
            <a:r>
              <a:rPr sz="1588" spc="-101" dirty="0">
                <a:solidFill>
                  <a:srgbClr val="618FFD"/>
                </a:solidFill>
                <a:latin typeface="Comic Sans MS"/>
                <a:cs typeface="Comic Sans MS"/>
              </a:rPr>
              <a:t> </a:t>
            </a:r>
            <a:r>
              <a:rPr sz="1588" spc="-18" dirty="0">
                <a:solidFill>
                  <a:srgbClr val="618FFD"/>
                </a:solidFill>
                <a:latin typeface="Comic Sans MS"/>
                <a:cs typeface="Comic Sans MS"/>
              </a:rPr>
              <a:t>stall</a:t>
            </a:r>
            <a:endParaRPr sz="1588">
              <a:latin typeface="Comic Sans MS"/>
              <a:cs typeface="Comic Sans MS"/>
            </a:endParaRPr>
          </a:p>
          <a:p>
            <a:pPr marL="11206">
              <a:spcBef>
                <a:spcPts val="128"/>
              </a:spcBef>
            </a:pPr>
            <a:r>
              <a:rPr sz="1588" b="1" dirty="0">
                <a:solidFill>
                  <a:srgbClr val="00AE00"/>
                </a:solidFill>
                <a:latin typeface="Courier New"/>
                <a:cs typeface="Courier New"/>
              </a:rPr>
              <a:t>;drop</a:t>
            </a:r>
            <a:r>
              <a:rPr sz="1588" b="1" spc="-93" dirty="0">
                <a:solidFill>
                  <a:srgbClr val="00AE00"/>
                </a:solidFill>
                <a:latin typeface="Courier New"/>
                <a:cs typeface="Courier New"/>
              </a:rPr>
              <a:t> </a:t>
            </a:r>
            <a:r>
              <a:rPr sz="1588" b="1" dirty="0">
                <a:solidFill>
                  <a:srgbClr val="00AE00"/>
                </a:solidFill>
                <a:latin typeface="Courier New"/>
                <a:cs typeface="Courier New"/>
              </a:rPr>
              <a:t>DADDUI</a:t>
            </a:r>
            <a:r>
              <a:rPr sz="1588" b="1" spc="-84" dirty="0">
                <a:solidFill>
                  <a:srgbClr val="00AE00"/>
                </a:solidFill>
                <a:latin typeface="Courier New"/>
                <a:cs typeface="Courier New"/>
              </a:rPr>
              <a:t> </a:t>
            </a:r>
            <a:r>
              <a:rPr sz="1588" b="1" dirty="0">
                <a:solidFill>
                  <a:srgbClr val="00AE00"/>
                </a:solidFill>
                <a:latin typeface="Courier New"/>
                <a:cs typeface="Courier New"/>
              </a:rPr>
              <a:t>&amp;</a:t>
            </a:r>
            <a:r>
              <a:rPr sz="1588" b="1" spc="-84" dirty="0">
                <a:solidFill>
                  <a:srgbClr val="00AE00"/>
                </a:solidFill>
                <a:latin typeface="Courier New"/>
                <a:cs typeface="Courier New"/>
              </a:rPr>
              <a:t> </a:t>
            </a:r>
            <a:r>
              <a:rPr sz="1588" b="1" spc="-22" dirty="0">
                <a:solidFill>
                  <a:srgbClr val="00AE00"/>
                </a:solidFill>
                <a:latin typeface="Courier New"/>
                <a:cs typeface="Courier New"/>
              </a:rPr>
              <a:t>BNE</a:t>
            </a:r>
            <a:endParaRPr sz="1588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99598" y="2469044"/>
          <a:ext cx="5416362" cy="3626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1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0841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  <a:tabLst>
                          <a:tab pos="944880" algn="l"/>
                        </a:tabLst>
                      </a:pPr>
                      <a:r>
                        <a:rPr sz="1600" b="1" u="heavy" spc="-25" dirty="0"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L.D</a:t>
                      </a:r>
                      <a:r>
                        <a:rPr sz="1600" b="1" u="heavy" dirty="0"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u="heavy" spc="-20" dirty="0"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F6,</a:t>
                      </a:r>
                      <a:r>
                        <a:rPr sz="1600" b="1" u="heavy" spc="-20" dirty="0">
                          <a:solidFill>
                            <a:srgbClr val="00AE00"/>
                          </a:solidFill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u="heavy" spc="-10" dirty="0">
                          <a:solidFill>
                            <a:srgbClr val="00AE00"/>
                          </a:solidFill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600" b="1" u="heavy" spc="-10" dirty="0"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2"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85"/>
                        </a:lnSpc>
                        <a:tabLst>
                          <a:tab pos="944880" algn="l"/>
                        </a:tabLst>
                      </a:pPr>
                      <a:r>
                        <a:rPr sz="1600" b="1" u="heavy" spc="-10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ADD.D</a:t>
                      </a:r>
                      <a:r>
                        <a:rPr sz="1600" b="1" u="heavy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u="heavy" spc="-10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F8,F6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,F2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12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  <a:tabLst>
                          <a:tab pos="944880" algn="l"/>
                        </a:tabLst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S.D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spc="-20" dirty="0">
                          <a:latin typeface="Courier New"/>
                          <a:cs typeface="Courier New"/>
                        </a:rPr>
                        <a:t>F8,</a:t>
                      </a:r>
                      <a:r>
                        <a:rPr sz="1600" b="1" spc="-2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;drop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95"/>
                        </a:lnSpc>
                      </a:pP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DADDUI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95"/>
                        </a:lnSpc>
                      </a:pPr>
                      <a:r>
                        <a:rPr sz="1600" b="1" spc="-5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895"/>
                        </a:lnSpc>
                      </a:pPr>
                      <a:r>
                        <a:rPr sz="1600" b="1" spc="-25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BNE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891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13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85"/>
                        </a:lnSpc>
                        <a:tabLst>
                          <a:tab pos="944880" algn="l"/>
                        </a:tabLst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L.D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spc="-20" dirty="0">
                          <a:latin typeface="Courier New"/>
                          <a:cs typeface="Courier New"/>
                        </a:rPr>
                        <a:t>F10,</a:t>
                      </a:r>
                      <a:r>
                        <a:rPr sz="1600" b="1" spc="-2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41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15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50"/>
                        </a:lnSpc>
                        <a:tabLst>
                          <a:tab pos="944880" algn="l"/>
                        </a:tabLst>
                      </a:pPr>
                      <a:r>
                        <a:rPr sz="1600" b="1" u="heavy" spc="-10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ADD.D</a:t>
                      </a:r>
                      <a:r>
                        <a:rPr sz="1600" b="1" u="heavy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u="heavy" spc="-10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F12,F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10,F2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18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85"/>
                        </a:lnSpc>
                        <a:tabLst>
                          <a:tab pos="944880" algn="l"/>
                        </a:tabLst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S.D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spc="-20" dirty="0">
                          <a:latin typeface="Courier New"/>
                          <a:cs typeface="Courier New"/>
                        </a:rPr>
                        <a:t>F12,</a:t>
                      </a:r>
                      <a:r>
                        <a:rPr sz="1600" b="1" spc="-2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885"/>
                        </a:lnSpc>
                      </a:pP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;drop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DADDUI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85"/>
                        </a:lnSpc>
                      </a:pPr>
                      <a:r>
                        <a:rPr sz="1600" b="1" spc="-5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1885"/>
                        </a:lnSpc>
                      </a:pPr>
                      <a:r>
                        <a:rPr sz="1600" b="1" spc="-25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BNE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  <a:tabLst>
                          <a:tab pos="944880" algn="l"/>
                        </a:tabLst>
                      </a:pPr>
                      <a:r>
                        <a:rPr sz="1600" b="1" u="heavy" spc="-25" dirty="0"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L.D</a:t>
                      </a:r>
                      <a:r>
                        <a:rPr sz="1600" b="1" u="heavy" dirty="0"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u="heavy" spc="-20" dirty="0"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F14,</a:t>
                      </a:r>
                      <a:r>
                        <a:rPr sz="1600" b="1" u="heavy" spc="-20" dirty="0">
                          <a:solidFill>
                            <a:srgbClr val="00AE00"/>
                          </a:solidFill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u="heavy" spc="-10" dirty="0">
                          <a:solidFill>
                            <a:srgbClr val="00AE00"/>
                          </a:solidFill>
                          <a:uFill>
                            <a:solidFill>
                              <a:srgbClr val="FC0128"/>
                            </a:solidFill>
                          </a:u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930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21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30"/>
                        </a:lnSpc>
                        <a:tabLst>
                          <a:tab pos="944880" algn="l"/>
                        </a:tabLst>
                      </a:pPr>
                      <a:r>
                        <a:rPr sz="1600" b="1" u="heavy" spc="-10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ADD.D</a:t>
                      </a:r>
                      <a:r>
                        <a:rPr sz="1600" b="1" u="heavy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u="heavy" spc="-10" dirty="0">
                          <a:uFill>
                            <a:solidFill>
                              <a:srgbClr val="618FFD"/>
                            </a:solidFill>
                          </a:uFill>
                          <a:latin typeface="Courier New"/>
                          <a:cs typeface="Courier New"/>
                        </a:rPr>
                        <a:t>F16,F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14,F2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24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95"/>
                        </a:lnSpc>
                        <a:tabLst>
                          <a:tab pos="944880" algn="l"/>
                        </a:tabLst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S.D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spc="-20" dirty="0">
                          <a:latin typeface="Courier New"/>
                          <a:cs typeface="Courier New"/>
                        </a:rPr>
                        <a:t>F16,</a:t>
                      </a:r>
                      <a:r>
                        <a:rPr sz="1600" b="1" spc="-2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24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8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DADDUI</a:t>
                      </a:r>
                      <a:r>
                        <a:rPr sz="1600" b="1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20" dirty="0">
                          <a:latin typeface="Courier New"/>
                          <a:cs typeface="Courier New"/>
                        </a:rPr>
                        <a:t>R1,R1,</a:t>
                      </a:r>
                      <a:r>
                        <a:rPr sz="1600" b="1" spc="-2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spc="-25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32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885"/>
                        </a:lnSpc>
                      </a:pPr>
                      <a:r>
                        <a:rPr sz="1600" b="1" spc="-1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;alter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600" b="1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600" b="1" spc="-55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4*8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pPr marL="31750">
                        <a:lnSpc>
                          <a:spcPts val="194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27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945"/>
                        </a:lnSpc>
                        <a:tabLst>
                          <a:tab pos="944880" algn="l"/>
                        </a:tabLst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BNE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R1,R2,LOOP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252415" y="4567483"/>
            <a:ext cx="4594972" cy="67598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9137">
              <a:spcBef>
                <a:spcPts val="88"/>
              </a:spcBef>
            </a:pP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27</a:t>
            </a:r>
            <a:r>
              <a:rPr sz="2118" b="1" i="1" spc="-88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clock</a:t>
            </a:r>
            <a:r>
              <a:rPr sz="2118" b="1" i="1" spc="-84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spc="-9" dirty="0">
                <a:solidFill>
                  <a:srgbClr val="0332B7"/>
                </a:solidFill>
                <a:latin typeface="Arial"/>
                <a:cs typeface="Arial"/>
              </a:rPr>
              <a:t>cycles,</a:t>
            </a:r>
            <a:r>
              <a:rPr sz="2118" b="1" i="1" spc="-84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or</a:t>
            </a:r>
            <a:r>
              <a:rPr sz="2118" b="1" i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6.75</a:t>
            </a:r>
            <a:r>
              <a:rPr sz="2118" b="1" i="1" spc="-88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per</a:t>
            </a:r>
            <a:r>
              <a:rPr sz="2118" b="1" i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spc="-9" dirty="0">
                <a:solidFill>
                  <a:srgbClr val="0332B7"/>
                </a:solidFill>
                <a:latin typeface="Arial"/>
                <a:cs typeface="Arial"/>
              </a:rPr>
              <a:t>iteration</a:t>
            </a:r>
            <a:endParaRPr sz="2118" dirty="0">
              <a:latin typeface="Arial"/>
              <a:cs typeface="Arial"/>
            </a:endParaRPr>
          </a:p>
          <a:p>
            <a:pPr marL="11206">
              <a:spcBef>
                <a:spcPts val="106"/>
              </a:spcBef>
            </a:pPr>
            <a:r>
              <a:rPr sz="2118" b="1" spc="-18" dirty="0">
                <a:latin typeface="Arial"/>
                <a:cs typeface="Arial"/>
              </a:rPr>
              <a:t>(Assumes</a:t>
            </a:r>
            <a:r>
              <a:rPr sz="2118" b="1" spc="-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R1</a:t>
            </a:r>
            <a:r>
              <a:rPr sz="2118" b="1" spc="-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is</a:t>
            </a:r>
            <a:r>
              <a:rPr sz="2118" b="1" spc="-66" dirty="0">
                <a:latin typeface="Arial"/>
                <a:cs typeface="Arial"/>
              </a:rPr>
              <a:t> </a:t>
            </a:r>
            <a:r>
              <a:rPr sz="2118" b="1" spc="-9" dirty="0">
                <a:latin typeface="Arial"/>
                <a:cs typeface="Arial"/>
              </a:rPr>
              <a:t>multiple</a:t>
            </a:r>
            <a:r>
              <a:rPr sz="2118" b="1" spc="-71" dirty="0">
                <a:latin typeface="Arial"/>
                <a:cs typeface="Arial"/>
              </a:rPr>
              <a:t> </a:t>
            </a:r>
            <a:r>
              <a:rPr sz="2118" b="1" dirty="0">
                <a:latin typeface="Arial"/>
                <a:cs typeface="Arial"/>
              </a:rPr>
              <a:t>of</a:t>
            </a:r>
            <a:r>
              <a:rPr sz="2118" b="1" spc="-66" dirty="0">
                <a:latin typeface="Arial"/>
                <a:cs typeface="Arial"/>
              </a:rPr>
              <a:t> </a:t>
            </a:r>
            <a:r>
              <a:rPr sz="2118" b="1" spc="-22" dirty="0">
                <a:latin typeface="Arial"/>
                <a:cs typeface="Arial"/>
              </a:rPr>
              <a:t>4)</a:t>
            </a:r>
            <a:endParaRPr sz="2118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08189" y="1742605"/>
            <a:ext cx="804022" cy="526116"/>
            <a:chOff x="3823547" y="1974952"/>
            <a:chExt cx="911225" cy="596265"/>
          </a:xfrm>
        </p:grpSpPr>
        <p:sp>
          <p:nvSpPr>
            <p:cNvPr id="10" name="object 10"/>
            <p:cNvSpPr/>
            <p:nvPr/>
          </p:nvSpPr>
          <p:spPr>
            <a:xfrm>
              <a:off x="3823547" y="1974952"/>
              <a:ext cx="911225" cy="294640"/>
            </a:xfrm>
            <a:custGeom>
              <a:avLst/>
              <a:gdLst/>
              <a:ahLst/>
              <a:cxnLst/>
              <a:rect l="l" t="t" r="r" b="b"/>
              <a:pathLst>
                <a:path w="911225" h="294639">
                  <a:moveTo>
                    <a:pt x="143921" y="130111"/>
                  </a:moveTo>
                  <a:lnTo>
                    <a:pt x="0" y="253474"/>
                  </a:lnTo>
                  <a:lnTo>
                    <a:pt x="185042" y="294594"/>
                  </a:lnTo>
                  <a:lnTo>
                    <a:pt x="173049" y="246620"/>
                  </a:lnTo>
                  <a:lnTo>
                    <a:pt x="143921" y="246620"/>
                  </a:lnTo>
                  <a:lnTo>
                    <a:pt x="130215" y="191792"/>
                  </a:lnTo>
                  <a:lnTo>
                    <a:pt x="157628" y="184939"/>
                  </a:lnTo>
                  <a:lnTo>
                    <a:pt x="143921" y="130111"/>
                  </a:lnTo>
                  <a:close/>
                </a:path>
                <a:path w="911225" h="294639">
                  <a:moveTo>
                    <a:pt x="157628" y="184939"/>
                  </a:moveTo>
                  <a:lnTo>
                    <a:pt x="130215" y="191792"/>
                  </a:lnTo>
                  <a:lnTo>
                    <a:pt x="143921" y="246620"/>
                  </a:lnTo>
                  <a:lnTo>
                    <a:pt x="171335" y="239766"/>
                  </a:lnTo>
                  <a:lnTo>
                    <a:pt x="157628" y="184939"/>
                  </a:lnTo>
                  <a:close/>
                </a:path>
                <a:path w="911225" h="294639">
                  <a:moveTo>
                    <a:pt x="171335" y="239766"/>
                  </a:moveTo>
                  <a:lnTo>
                    <a:pt x="143921" y="246620"/>
                  </a:lnTo>
                  <a:lnTo>
                    <a:pt x="173049" y="246620"/>
                  </a:lnTo>
                  <a:lnTo>
                    <a:pt x="171335" y="239766"/>
                  </a:lnTo>
                  <a:close/>
                </a:path>
                <a:path w="911225" h="294639">
                  <a:moveTo>
                    <a:pt x="897385" y="0"/>
                  </a:moveTo>
                  <a:lnTo>
                    <a:pt x="157628" y="184939"/>
                  </a:lnTo>
                  <a:lnTo>
                    <a:pt x="171335" y="239766"/>
                  </a:lnTo>
                  <a:lnTo>
                    <a:pt x="911092" y="54827"/>
                  </a:lnTo>
                  <a:lnTo>
                    <a:pt x="897385" y="0"/>
                  </a:lnTo>
                  <a:close/>
                </a:path>
              </a:pathLst>
            </a:custGeom>
            <a:solidFill>
              <a:srgbClr val="FC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3823547" y="2276365"/>
              <a:ext cx="911225" cy="294640"/>
            </a:xfrm>
            <a:custGeom>
              <a:avLst/>
              <a:gdLst/>
              <a:ahLst/>
              <a:cxnLst/>
              <a:rect l="l" t="t" r="r" b="b"/>
              <a:pathLst>
                <a:path w="911225" h="294639">
                  <a:moveTo>
                    <a:pt x="143921" y="130111"/>
                  </a:moveTo>
                  <a:lnTo>
                    <a:pt x="0" y="253474"/>
                  </a:lnTo>
                  <a:lnTo>
                    <a:pt x="185042" y="294594"/>
                  </a:lnTo>
                  <a:lnTo>
                    <a:pt x="173049" y="246620"/>
                  </a:lnTo>
                  <a:lnTo>
                    <a:pt x="143921" y="246620"/>
                  </a:lnTo>
                  <a:lnTo>
                    <a:pt x="130215" y="191792"/>
                  </a:lnTo>
                  <a:lnTo>
                    <a:pt x="157628" y="184939"/>
                  </a:lnTo>
                  <a:lnTo>
                    <a:pt x="143921" y="130111"/>
                  </a:lnTo>
                  <a:close/>
                </a:path>
                <a:path w="911225" h="294639">
                  <a:moveTo>
                    <a:pt x="157628" y="184939"/>
                  </a:moveTo>
                  <a:lnTo>
                    <a:pt x="130215" y="191792"/>
                  </a:lnTo>
                  <a:lnTo>
                    <a:pt x="143921" y="246620"/>
                  </a:lnTo>
                  <a:lnTo>
                    <a:pt x="171335" y="239766"/>
                  </a:lnTo>
                  <a:lnTo>
                    <a:pt x="157628" y="184939"/>
                  </a:lnTo>
                  <a:close/>
                </a:path>
                <a:path w="911225" h="294639">
                  <a:moveTo>
                    <a:pt x="171335" y="239766"/>
                  </a:moveTo>
                  <a:lnTo>
                    <a:pt x="143921" y="246620"/>
                  </a:lnTo>
                  <a:lnTo>
                    <a:pt x="173049" y="246620"/>
                  </a:lnTo>
                  <a:lnTo>
                    <a:pt x="171335" y="239766"/>
                  </a:lnTo>
                  <a:close/>
                </a:path>
                <a:path w="911225" h="294639">
                  <a:moveTo>
                    <a:pt x="897385" y="0"/>
                  </a:moveTo>
                  <a:lnTo>
                    <a:pt x="157628" y="184939"/>
                  </a:lnTo>
                  <a:lnTo>
                    <a:pt x="171335" y="239766"/>
                  </a:lnTo>
                  <a:lnTo>
                    <a:pt x="911092" y="54828"/>
                  </a:lnTo>
                  <a:lnTo>
                    <a:pt x="897385" y="0"/>
                  </a:lnTo>
                  <a:close/>
                </a:path>
              </a:pathLst>
            </a:custGeom>
            <a:solidFill>
              <a:srgbClr val="618FF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/>
          <p:nvPr/>
        </p:nvSpPr>
        <p:spPr>
          <a:xfrm>
            <a:off x="1767028" y="3422074"/>
            <a:ext cx="1462928" cy="0"/>
          </a:xfrm>
          <a:custGeom>
            <a:avLst/>
            <a:gdLst/>
            <a:ahLst/>
            <a:cxnLst/>
            <a:rect l="l" t="t" r="r" b="b"/>
            <a:pathLst>
              <a:path w="1657985">
                <a:moveTo>
                  <a:pt x="0" y="0"/>
                </a:moveTo>
                <a:lnTo>
                  <a:pt x="1657773" y="0"/>
                </a:lnTo>
              </a:path>
            </a:pathLst>
          </a:custGeom>
          <a:ln w="28257">
            <a:solidFill>
              <a:srgbClr val="FC0128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193A8F1F-AD0D-282D-D2F1-0B595F15B4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22</a:t>
            </a:fld>
            <a:endParaRPr lang="en-US" spc="-4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7"/>
            <a:ext cx="6429613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spc="-9" dirty="0"/>
              <a:t>Unrolled</a:t>
            </a:r>
            <a:r>
              <a:rPr spc="-119" dirty="0"/>
              <a:t> </a:t>
            </a:r>
            <a:r>
              <a:rPr dirty="0"/>
              <a:t>Loop</a:t>
            </a:r>
            <a:r>
              <a:rPr spc="-119" dirty="0"/>
              <a:t> </a:t>
            </a:r>
            <a:r>
              <a:rPr dirty="0"/>
              <a:t>That</a:t>
            </a:r>
            <a:r>
              <a:rPr spc="-115" dirty="0"/>
              <a:t> </a:t>
            </a:r>
            <a:r>
              <a:rPr spc="-9" dirty="0"/>
              <a:t>Minimizes</a:t>
            </a:r>
            <a:r>
              <a:rPr spc="-115" dirty="0"/>
              <a:t> </a:t>
            </a:r>
            <a:r>
              <a:rPr spc="-9" dirty="0"/>
              <a:t>Stalls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1056" y="1675668"/>
          <a:ext cx="4581525" cy="33872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2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4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522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860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Loop: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L.D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60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F0,0(R1)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9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L.D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95"/>
                        </a:lnSpc>
                      </a:pPr>
                      <a:r>
                        <a:rPr sz="1600" b="1" spc="-20" dirty="0">
                          <a:latin typeface="Courier New"/>
                          <a:cs typeface="Courier New"/>
                        </a:rPr>
                        <a:t>F6,-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8(R1)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8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L.D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85"/>
                        </a:lnSpc>
                      </a:pPr>
                      <a:r>
                        <a:rPr sz="1600" b="1" spc="-20" dirty="0">
                          <a:latin typeface="Courier New"/>
                          <a:cs typeface="Courier New"/>
                        </a:rPr>
                        <a:t>F10,-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16(R1)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94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L.D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945"/>
                        </a:lnSpc>
                      </a:pPr>
                      <a:r>
                        <a:rPr sz="1600" b="1" spc="-20" dirty="0">
                          <a:latin typeface="Courier New"/>
                          <a:cs typeface="Courier New"/>
                        </a:rPr>
                        <a:t>F14,-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24(R1)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8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ADD.D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8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F4,F0,F2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9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ADD.D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9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F8,F6,F2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8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ADD.D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8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F12,F10,F2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047">
                <a:tc>
                  <a:txBody>
                    <a:bodyPr/>
                    <a:lstStyle/>
                    <a:p>
                      <a:pPr marL="31750">
                        <a:lnSpc>
                          <a:spcPts val="194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ADD.D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94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F16,F14,F2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50" dirty="0">
                          <a:latin typeface="Courier New"/>
                          <a:cs typeface="Courier New"/>
                        </a:rPr>
                        <a:t>9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9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S.D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9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F4,0(R1)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45" dirty="0">
                          <a:latin typeface="Courier New"/>
                          <a:cs typeface="Courier New"/>
                        </a:rPr>
                        <a:t>10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8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S.D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85"/>
                        </a:lnSpc>
                      </a:pPr>
                      <a:r>
                        <a:rPr sz="1600" b="1" spc="-20" dirty="0">
                          <a:latin typeface="Courier New"/>
                          <a:cs typeface="Courier New"/>
                        </a:rPr>
                        <a:t>F8,-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8(R1)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945"/>
                        </a:lnSpc>
                      </a:pPr>
                      <a:r>
                        <a:rPr sz="1600" b="1" spc="-45" dirty="0">
                          <a:latin typeface="Courier New"/>
                          <a:cs typeface="Courier New"/>
                        </a:rPr>
                        <a:t>11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4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S.D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945"/>
                        </a:lnSpc>
                      </a:pPr>
                      <a:r>
                        <a:rPr sz="1600" b="1" spc="-20" dirty="0">
                          <a:latin typeface="Courier New"/>
                          <a:cs typeface="Courier New"/>
                        </a:rPr>
                        <a:t>F12,-</a:t>
                      </a:r>
                      <a:r>
                        <a:rPr sz="1600" b="1" spc="-10" dirty="0">
                          <a:latin typeface="Courier New"/>
                          <a:cs typeface="Courier New"/>
                        </a:rPr>
                        <a:t>16(R1)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324">
                <a:tc>
                  <a:txBody>
                    <a:bodyPr/>
                    <a:lstStyle/>
                    <a:p>
                      <a:pPr marL="31750">
                        <a:lnSpc>
                          <a:spcPts val="1885"/>
                        </a:lnSpc>
                      </a:pPr>
                      <a:r>
                        <a:rPr sz="1600" b="1" spc="-45" dirty="0">
                          <a:latin typeface="Courier New"/>
                          <a:cs typeface="Courier New"/>
                        </a:rPr>
                        <a:t>12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88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DADDUI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885"/>
                        </a:lnSpc>
                      </a:pPr>
                      <a:r>
                        <a:rPr sz="1600" b="1" spc="-20" dirty="0">
                          <a:latin typeface="Courier New"/>
                          <a:cs typeface="Courier New"/>
                        </a:rPr>
                        <a:t>R1,R1,</a:t>
                      </a:r>
                      <a:r>
                        <a:rPr sz="1600" b="1" spc="-20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600" b="1" spc="-25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32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366">
                <a:tc>
                  <a:txBody>
                    <a:bodyPr/>
                    <a:lstStyle/>
                    <a:p>
                      <a:pPr marL="31750">
                        <a:lnSpc>
                          <a:spcPts val="1895"/>
                        </a:lnSpc>
                      </a:pPr>
                      <a:r>
                        <a:rPr sz="1600" b="1" spc="-45" dirty="0">
                          <a:latin typeface="Courier New"/>
                          <a:cs typeface="Courier New"/>
                        </a:rPr>
                        <a:t>13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95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BNE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895"/>
                        </a:lnSpc>
                      </a:pPr>
                      <a:r>
                        <a:rPr sz="1600" b="1" spc="-10" dirty="0">
                          <a:latin typeface="Courier New"/>
                          <a:cs typeface="Courier New"/>
                        </a:rPr>
                        <a:t>R1,R2,LOOP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6444">
                <a:tc>
                  <a:txBody>
                    <a:bodyPr/>
                    <a:lstStyle/>
                    <a:p>
                      <a:pPr marL="31750">
                        <a:lnSpc>
                          <a:spcPts val="1930"/>
                        </a:lnSpc>
                      </a:pPr>
                      <a:r>
                        <a:rPr sz="1600" b="1" spc="-45" dirty="0">
                          <a:latin typeface="Courier New"/>
                          <a:cs typeface="Courier New"/>
                        </a:rPr>
                        <a:t>14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30"/>
                        </a:lnSpc>
                      </a:pPr>
                      <a:r>
                        <a:rPr sz="1600" b="1" spc="-25" dirty="0">
                          <a:latin typeface="Courier New"/>
                          <a:cs typeface="Courier New"/>
                        </a:rPr>
                        <a:t>S.D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ts val="193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F16,</a:t>
                      </a:r>
                      <a:r>
                        <a:rPr sz="1600" b="1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dirty="0">
                          <a:solidFill>
                            <a:srgbClr val="00AE00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1600" b="1" dirty="0">
                          <a:latin typeface="Courier New"/>
                          <a:cs typeface="Courier New"/>
                        </a:rPr>
                        <a:t>(R1)</a:t>
                      </a:r>
                      <a:r>
                        <a:rPr sz="1600" b="1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50" dirty="0">
                          <a:latin typeface="Courier New"/>
                          <a:cs typeface="Courier New"/>
                        </a:rPr>
                        <a:t>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93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delay</a:t>
                      </a:r>
                      <a:r>
                        <a:rPr sz="1600" b="1" spc="-114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-20" dirty="0">
                          <a:latin typeface="Courier New"/>
                          <a:cs typeface="Courier New"/>
                        </a:rPr>
                        <a:t>slot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34831" y="5204908"/>
            <a:ext cx="4692463" cy="654357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11206" marR="4483" indent="21853">
              <a:lnSpc>
                <a:spcPts val="2647"/>
              </a:lnSpc>
              <a:spcBef>
                <a:spcPts val="71"/>
              </a:spcBef>
            </a:pP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14</a:t>
            </a:r>
            <a:r>
              <a:rPr sz="2118" b="1" i="1" spc="-84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clock</a:t>
            </a:r>
            <a:r>
              <a:rPr sz="2118" b="1" i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spc="-9" dirty="0">
                <a:solidFill>
                  <a:srgbClr val="0332B7"/>
                </a:solidFill>
                <a:latin typeface="Arial"/>
                <a:cs typeface="Arial"/>
              </a:rPr>
              <a:t>cycles,</a:t>
            </a:r>
            <a:r>
              <a:rPr sz="2118" b="1" i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or</a:t>
            </a:r>
            <a:r>
              <a:rPr sz="2118" b="1" i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3.5</a:t>
            </a:r>
            <a:r>
              <a:rPr sz="2118" b="1" i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per</a:t>
            </a:r>
            <a:r>
              <a:rPr sz="2118" b="1" i="1" spc="-7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spc="-9" dirty="0">
                <a:solidFill>
                  <a:srgbClr val="0332B7"/>
                </a:solidFill>
                <a:latin typeface="Arial"/>
                <a:cs typeface="Arial"/>
              </a:rPr>
              <a:t>iteration Assume</a:t>
            </a:r>
            <a:r>
              <a:rPr sz="2118" b="1" i="1" spc="-88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that</a:t>
            </a:r>
            <a:r>
              <a:rPr sz="2118" b="1" i="1" spc="-79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branch</a:t>
            </a:r>
            <a:r>
              <a:rPr sz="2118" b="1" i="1" spc="-93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is</a:t>
            </a:r>
            <a:r>
              <a:rPr sz="2118" b="1" i="1" spc="-88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spc="-9" dirty="0">
                <a:solidFill>
                  <a:srgbClr val="0332B7"/>
                </a:solidFill>
                <a:latin typeface="Arial"/>
                <a:cs typeface="Arial"/>
              </a:rPr>
              <a:t>resolved</a:t>
            </a:r>
            <a:r>
              <a:rPr sz="2118" b="1" i="1" spc="-93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dirty="0">
                <a:solidFill>
                  <a:srgbClr val="0332B7"/>
                </a:solidFill>
                <a:latin typeface="Arial"/>
                <a:cs typeface="Arial"/>
              </a:rPr>
              <a:t>in</a:t>
            </a:r>
            <a:r>
              <a:rPr sz="2118" b="1" i="1" spc="-93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2118" b="1" i="1" spc="-22" dirty="0">
                <a:solidFill>
                  <a:srgbClr val="0332B7"/>
                </a:solidFill>
                <a:latin typeface="Arial"/>
                <a:cs typeface="Arial"/>
              </a:rPr>
              <a:t>ID</a:t>
            </a:r>
            <a:endParaRPr sz="2118" dirty="0">
              <a:latin typeface="Arial"/>
              <a:cs typeface="Arial"/>
            </a:endParaRP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45A64D2D-3A3E-7612-84BC-B77A44D648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23</a:t>
            </a:fld>
            <a:endParaRPr lang="en-US" spc="-4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spc="-9" dirty="0"/>
              <a:t>Unrolled</a:t>
            </a:r>
            <a:r>
              <a:rPr spc="-106" dirty="0"/>
              <a:t> </a:t>
            </a:r>
            <a:r>
              <a:rPr dirty="0"/>
              <a:t>Loop</a:t>
            </a:r>
            <a:r>
              <a:rPr spc="-106" dirty="0"/>
              <a:t> </a:t>
            </a:r>
            <a:r>
              <a:rPr spc="-9" dirty="0"/>
              <a:t>Detail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96701"/>
            <a:ext cx="7397022" cy="4392152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>
              <a:spcBef>
                <a:spcPts val="529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Do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usually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upper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loop</a:t>
            </a:r>
            <a:endParaRPr sz="2400" dirty="0">
              <a:latin typeface="Calibri"/>
              <a:cs typeface="Calibri"/>
            </a:endParaRPr>
          </a:p>
          <a:p>
            <a:pPr marL="260551" marR="332272" indent="-249344">
              <a:spcBef>
                <a:spcPts val="715"/>
              </a:spcBef>
              <a:buChar char="•"/>
              <a:tabLst>
                <a:tab pos="260551" algn="l"/>
              </a:tabLst>
            </a:pPr>
            <a:r>
              <a:rPr sz="2400" spc="-9" dirty="0">
                <a:latin typeface="Calibri"/>
                <a:cs typeface="Calibri"/>
              </a:rPr>
              <a:t>Suppose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unroll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k</a:t>
            </a:r>
            <a:r>
              <a:rPr sz="2400" spc="-71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copies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body</a:t>
            </a:r>
            <a:endParaRPr sz="2400" dirty="0">
              <a:latin typeface="Calibri"/>
              <a:cs typeface="Calibri"/>
            </a:endParaRPr>
          </a:p>
          <a:p>
            <a:pPr marL="260551" marR="309859" indent="-249344">
              <a:spcBef>
                <a:spcPts val="671"/>
              </a:spcBef>
              <a:buChar char="•"/>
              <a:tabLst>
                <a:tab pos="260551" algn="l"/>
              </a:tabLst>
            </a:pPr>
            <a:r>
              <a:rPr sz="2400" spc="-9" dirty="0">
                <a:latin typeface="Calibri"/>
                <a:cs typeface="Calibri"/>
              </a:rPr>
              <a:t>Instead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unrolled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generate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pair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spc="-9" dirty="0">
                <a:latin typeface="Calibri"/>
                <a:cs typeface="Calibri"/>
              </a:rPr>
              <a:t>consecutive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loops: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18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1st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executes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n</a:t>
            </a:r>
            <a:r>
              <a:rPr sz="2200" spc="-40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mod</a:t>
            </a:r>
            <a:r>
              <a:rPr sz="2200" spc="-35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14FFB"/>
                </a:solidFill>
                <a:latin typeface="Calibri"/>
                <a:cs typeface="Calibri"/>
              </a:rPr>
              <a:t>k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body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original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loop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>
              <a:spcBef>
                <a:spcPts val="543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2nd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unrolled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body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surrounded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outer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iterates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(</a:t>
            </a:r>
            <a:r>
              <a:rPr sz="2200" spc="-9" dirty="0">
                <a:solidFill>
                  <a:srgbClr val="114FFB"/>
                </a:solidFill>
                <a:latin typeface="Calibri"/>
                <a:cs typeface="Calibri"/>
              </a:rPr>
              <a:t>n/k</a:t>
            </a:r>
            <a:r>
              <a:rPr sz="2200" spc="-9" dirty="0">
                <a:latin typeface="Calibri"/>
                <a:cs typeface="Calibri"/>
              </a:rPr>
              <a:t>) times</a:t>
            </a:r>
            <a:endParaRPr sz="2200" dirty="0">
              <a:latin typeface="Calibri"/>
              <a:cs typeface="Calibri"/>
            </a:endParaRPr>
          </a:p>
          <a:p>
            <a:pPr marL="260551" marR="204518" indent="-249344">
              <a:spcBef>
                <a:spcPts val="759"/>
              </a:spcBef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14FFB"/>
                </a:solidFill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execution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spent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unrolled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loop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EE52CD9-1D47-8CE1-3E0F-FB7E7729D5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24</a:t>
            </a:fld>
            <a:endParaRPr lang="en-US" spc="-4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5</a:t>
            </a:r>
            <a:r>
              <a:rPr spc="-84" dirty="0"/>
              <a:t> </a:t>
            </a:r>
            <a:r>
              <a:rPr dirty="0"/>
              <a:t>Loop</a:t>
            </a:r>
            <a:r>
              <a:rPr spc="-75" dirty="0"/>
              <a:t> </a:t>
            </a:r>
            <a:r>
              <a:rPr spc="-9" dirty="0"/>
              <a:t>Unrolling</a:t>
            </a:r>
            <a:r>
              <a:rPr spc="-75" dirty="0"/>
              <a:t> </a:t>
            </a:r>
            <a:r>
              <a:rPr spc="-9" dirty="0"/>
              <a:t>Decisions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791" y="1224504"/>
            <a:ext cx="8799444" cy="5566758"/>
          </a:xfrm>
          <a:prstGeom prst="rect">
            <a:avLst/>
          </a:prstGeom>
        </p:spPr>
        <p:txBody>
          <a:bodyPr vert="horz" wrap="square" lIns="0" tIns="39221" rIns="0" bIns="0" rtlCol="0">
            <a:spAutoFit/>
          </a:bodyPr>
          <a:lstStyle/>
          <a:p>
            <a:pPr marL="260350" marR="6164" indent="-260350">
              <a:spcBef>
                <a:spcPts val="309"/>
              </a:spcBef>
              <a:buChar char="•"/>
              <a:tabLst>
                <a:tab pos="396875" algn="l"/>
              </a:tabLst>
            </a:pPr>
            <a:r>
              <a:rPr sz="2200" spc="-9" dirty="0">
                <a:latin typeface="Calibri"/>
                <a:cs typeface="Calibri"/>
              </a:rPr>
              <a:t>Requires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understanding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depends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another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changed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reordered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the </a:t>
            </a:r>
            <a:r>
              <a:rPr sz="2200" spc="-9" dirty="0">
                <a:latin typeface="Calibri"/>
                <a:cs typeface="Calibri"/>
              </a:rPr>
              <a:t>dependences:</a:t>
            </a:r>
            <a:endParaRPr sz="2200" dirty="0">
              <a:latin typeface="Calibri"/>
              <a:cs typeface="Calibri"/>
            </a:endParaRPr>
          </a:p>
          <a:p>
            <a:pPr marL="409596" indent="-398389">
              <a:spcBef>
                <a:spcPts val="361"/>
              </a:spcBef>
              <a:buAutoNum type="arabicPeriod"/>
              <a:tabLst>
                <a:tab pos="409596" algn="l"/>
              </a:tabLst>
            </a:pPr>
            <a:r>
              <a:rPr sz="2200" spc="-9" dirty="0">
                <a:latin typeface="Calibri"/>
                <a:cs typeface="Calibri"/>
              </a:rPr>
              <a:t>Determine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unrolling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useful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iterations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were</a:t>
            </a:r>
            <a:endParaRPr sz="2200" dirty="0">
              <a:latin typeface="Calibri"/>
              <a:cs typeface="Calibri"/>
            </a:endParaRPr>
          </a:p>
          <a:p>
            <a:pPr marL="409596"/>
            <a:r>
              <a:rPr sz="2200" b="1" spc="-18" dirty="0">
                <a:solidFill>
                  <a:srgbClr val="114FFB"/>
                </a:solidFill>
                <a:latin typeface="Calibri"/>
                <a:cs typeface="Calibri"/>
              </a:rPr>
              <a:t>independent</a:t>
            </a:r>
            <a:r>
              <a:rPr sz="2200" b="1" spc="-40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(except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maintenance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code)</a:t>
            </a:r>
            <a:endParaRPr sz="2200" dirty="0">
              <a:latin typeface="Calibri"/>
              <a:cs typeface="Calibri"/>
            </a:endParaRPr>
          </a:p>
          <a:p>
            <a:pPr marL="409596" marR="172580" indent="-398951">
              <a:spcBef>
                <a:spcPts val="719"/>
              </a:spcBef>
              <a:buAutoNum type="arabicPeriod" startAt="2"/>
              <a:tabLst>
                <a:tab pos="409596" algn="l"/>
              </a:tabLst>
            </a:pPr>
            <a:r>
              <a:rPr sz="2200" b="1" dirty="0">
                <a:latin typeface="Calibri"/>
                <a:cs typeface="Calibri"/>
              </a:rPr>
              <a:t>Use</a:t>
            </a:r>
            <a:r>
              <a:rPr sz="2200" b="1" spc="-62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different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registers</a:t>
            </a:r>
            <a:r>
              <a:rPr sz="2200" b="1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avoid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unnecessary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constraints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forced</a:t>
            </a:r>
            <a:r>
              <a:rPr sz="2200" spc="-66" dirty="0">
                <a:latin typeface="Calibri"/>
                <a:cs typeface="Calibri"/>
              </a:rPr>
              <a:t> </a:t>
            </a:r>
            <a:r>
              <a:rPr sz="2200" spc="-31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registers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different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computations</a:t>
            </a:r>
            <a:endParaRPr sz="2200" dirty="0">
              <a:latin typeface="Calibri"/>
              <a:cs typeface="Calibri"/>
            </a:endParaRPr>
          </a:p>
          <a:p>
            <a:pPr marL="409596" marR="408476" indent="-398951">
              <a:spcBef>
                <a:spcPts val="569"/>
              </a:spcBef>
              <a:buAutoNum type="arabicPeriod" startAt="2"/>
              <a:tabLst>
                <a:tab pos="409596" algn="l"/>
              </a:tabLst>
            </a:pPr>
            <a:r>
              <a:rPr sz="2200" b="1" spc="-9" dirty="0">
                <a:latin typeface="Calibri"/>
                <a:cs typeface="Calibri"/>
              </a:rPr>
              <a:t>Eliminate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extra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test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branch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instructions</a:t>
            </a:r>
            <a:r>
              <a:rPr sz="2200" b="1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adjust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termination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iteration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code</a:t>
            </a:r>
            <a:endParaRPr sz="2200" dirty="0">
              <a:latin typeface="Calibri"/>
              <a:cs typeface="Calibri"/>
            </a:endParaRPr>
          </a:p>
          <a:p>
            <a:pPr marL="409596" marR="443215" indent="-398951">
              <a:spcBef>
                <a:spcPts val="552"/>
              </a:spcBef>
              <a:buAutoNum type="arabicPeriod" startAt="2"/>
              <a:tabLst>
                <a:tab pos="409596" algn="l"/>
              </a:tabLst>
            </a:pPr>
            <a:r>
              <a:rPr sz="2200" b="1" spc="-9" dirty="0">
                <a:latin typeface="Calibri"/>
                <a:cs typeface="Calibri"/>
              </a:rPr>
              <a:t>Determine</a:t>
            </a:r>
            <a:r>
              <a:rPr sz="2200" b="1" spc="-6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that</a:t>
            </a:r>
            <a:r>
              <a:rPr sz="2200" b="1" spc="-71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loads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stores</a:t>
            </a:r>
            <a:r>
              <a:rPr sz="2200" b="1" spc="-62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unrolled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loop</a:t>
            </a:r>
            <a:r>
              <a:rPr sz="2200" b="1" spc="-66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can</a:t>
            </a:r>
            <a:r>
              <a:rPr sz="2200" b="1" spc="-62" dirty="0">
                <a:latin typeface="Calibri"/>
                <a:cs typeface="Calibri"/>
              </a:rPr>
              <a:t> </a:t>
            </a:r>
            <a:r>
              <a:rPr sz="2200" b="1" spc="-22" dirty="0">
                <a:latin typeface="Calibri"/>
                <a:cs typeface="Calibri"/>
              </a:rPr>
              <a:t>be </a:t>
            </a:r>
            <a:r>
              <a:rPr sz="2200" b="1" spc="-18" dirty="0">
                <a:latin typeface="Calibri"/>
                <a:cs typeface="Calibri"/>
              </a:rPr>
              <a:t>interchanged</a:t>
            </a:r>
            <a:r>
              <a:rPr sz="2200" b="1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observing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loads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stores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different iterations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independent</a:t>
            </a:r>
            <a:endParaRPr sz="2200" dirty="0">
              <a:latin typeface="Calibri"/>
              <a:cs typeface="Calibri"/>
            </a:endParaRPr>
          </a:p>
          <a:p>
            <a:pPr marL="688975" marR="4483" indent="-277813">
              <a:spcBef>
                <a:spcPts val="565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79" dirty="0">
                <a:latin typeface="Calibri"/>
                <a:cs typeface="Calibri"/>
              </a:rPr>
              <a:t>  </a:t>
            </a:r>
            <a:r>
              <a:rPr sz="2000" spc="-9" dirty="0">
                <a:latin typeface="Calibri"/>
                <a:cs typeface="Calibri"/>
              </a:rPr>
              <a:t>Transformation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requires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analyzing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memory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addresses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31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not </a:t>
            </a:r>
            <a:r>
              <a:rPr sz="2000" dirty="0">
                <a:latin typeface="Calibri"/>
                <a:cs typeface="Calibri"/>
              </a:rPr>
              <a:t>refer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4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address</a:t>
            </a:r>
            <a:endParaRPr sz="2000" dirty="0">
              <a:latin typeface="Calibri"/>
              <a:cs typeface="Calibri"/>
            </a:endParaRPr>
          </a:p>
          <a:p>
            <a:pPr marL="409596" marR="242620" indent="-398951">
              <a:spcBef>
                <a:spcPts val="587"/>
              </a:spcBef>
              <a:buAutoNum type="arabicPeriod" startAt="5"/>
              <a:tabLst>
                <a:tab pos="409596" algn="l"/>
              </a:tabLst>
            </a:pPr>
            <a:r>
              <a:rPr sz="2200" b="1" spc="-9" dirty="0">
                <a:latin typeface="Calibri"/>
                <a:cs typeface="Calibri"/>
              </a:rPr>
              <a:t>Schedule</a:t>
            </a:r>
            <a:r>
              <a:rPr sz="2200" b="1" spc="-57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53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code,</a:t>
            </a:r>
            <a:r>
              <a:rPr sz="2200" b="1" spc="-53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preserving</a:t>
            </a:r>
            <a:r>
              <a:rPr sz="2200" b="1" spc="-57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any</a:t>
            </a:r>
            <a:r>
              <a:rPr sz="2200" b="1" spc="-53" dirty="0">
                <a:latin typeface="Calibri"/>
                <a:cs typeface="Calibri"/>
              </a:rPr>
              <a:t> </a:t>
            </a:r>
            <a:r>
              <a:rPr sz="2200" b="1" spc="-18" dirty="0">
                <a:latin typeface="Calibri"/>
                <a:cs typeface="Calibri"/>
              </a:rPr>
              <a:t>dependences</a:t>
            </a:r>
            <a:r>
              <a:rPr sz="2200" b="1" spc="-53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needed</a:t>
            </a:r>
            <a:r>
              <a:rPr sz="2200" b="1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yield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original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code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5A7E977-AD5E-7533-BC63-68A9DDBA9F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25</a:t>
            </a:fld>
            <a:endParaRPr lang="en-US" spc="-4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3</a:t>
            </a:r>
            <a:r>
              <a:rPr spc="-79" dirty="0"/>
              <a:t> </a:t>
            </a:r>
            <a:r>
              <a:rPr dirty="0"/>
              <a:t>Limits</a:t>
            </a:r>
            <a:r>
              <a:rPr spc="-75" dirty="0"/>
              <a:t> </a:t>
            </a:r>
            <a:r>
              <a:rPr dirty="0"/>
              <a:t>to</a:t>
            </a:r>
            <a:r>
              <a:rPr spc="-79" dirty="0"/>
              <a:t> </a:t>
            </a:r>
            <a:r>
              <a:rPr dirty="0"/>
              <a:t>Loop</a:t>
            </a:r>
            <a:r>
              <a:rPr spc="-75" dirty="0"/>
              <a:t> </a:t>
            </a:r>
            <a:r>
              <a:rPr spc="-9" dirty="0"/>
              <a:t>Unrolling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320067"/>
            <a:ext cx="7450031" cy="4964821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409596" marR="324428" indent="-398951">
              <a:spcBef>
                <a:spcPts val="375"/>
              </a:spcBef>
              <a:buAutoNum type="arabicPeriod"/>
              <a:tabLst>
                <a:tab pos="409596" algn="l"/>
              </a:tabLst>
            </a:pPr>
            <a:r>
              <a:rPr sz="2400" spc="-9" dirty="0"/>
              <a:t>Decrease</a:t>
            </a:r>
            <a:r>
              <a:rPr sz="2400" spc="-66" dirty="0"/>
              <a:t> </a:t>
            </a:r>
            <a:r>
              <a:rPr sz="2400" dirty="0"/>
              <a:t>in</a:t>
            </a:r>
            <a:r>
              <a:rPr sz="2400" spc="-71" dirty="0"/>
              <a:t> </a:t>
            </a:r>
            <a:r>
              <a:rPr sz="2400" spc="-9" dirty="0"/>
              <a:t>amount</a:t>
            </a:r>
            <a:r>
              <a:rPr sz="2400" spc="-66" dirty="0"/>
              <a:t> </a:t>
            </a:r>
            <a:r>
              <a:rPr sz="2400" dirty="0"/>
              <a:t>of</a:t>
            </a:r>
            <a:r>
              <a:rPr sz="2400" spc="-62" dirty="0"/>
              <a:t> </a:t>
            </a:r>
            <a:r>
              <a:rPr sz="2400" spc="-18" dirty="0"/>
              <a:t>overhead</a:t>
            </a:r>
            <a:r>
              <a:rPr sz="2400" spc="-66" dirty="0"/>
              <a:t> </a:t>
            </a:r>
            <a:r>
              <a:rPr sz="2400" spc="-9" dirty="0"/>
              <a:t>amortized</a:t>
            </a:r>
            <a:r>
              <a:rPr sz="2400" spc="-71" dirty="0"/>
              <a:t> </a:t>
            </a:r>
            <a:r>
              <a:rPr sz="2400" dirty="0"/>
              <a:t>with</a:t>
            </a:r>
            <a:r>
              <a:rPr sz="2400" spc="-66" dirty="0"/>
              <a:t> </a:t>
            </a:r>
            <a:r>
              <a:rPr sz="2400" spc="-18" dirty="0"/>
              <a:t>each </a:t>
            </a:r>
            <a:r>
              <a:rPr sz="2400" dirty="0"/>
              <a:t>extra</a:t>
            </a:r>
            <a:r>
              <a:rPr sz="2400" spc="-106" dirty="0"/>
              <a:t> </a:t>
            </a:r>
            <a:r>
              <a:rPr sz="2400" spc="-9" dirty="0"/>
              <a:t>unrolling</a:t>
            </a:r>
          </a:p>
          <a:p>
            <a:pPr marL="609633" lvl="1" indent="-200036">
              <a:spcBef>
                <a:spcPts val="331"/>
              </a:spcBef>
              <a:buChar char="–"/>
              <a:tabLst>
                <a:tab pos="609633" algn="l"/>
              </a:tabLst>
            </a:pPr>
            <a:r>
              <a:rPr sz="2400" spc="-9" dirty="0">
                <a:latin typeface="Calibri"/>
                <a:cs typeface="Calibri"/>
              </a:rPr>
              <a:t>Amdahl’s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Law</a:t>
            </a:r>
            <a:endParaRPr sz="2400" dirty="0">
              <a:latin typeface="Calibri"/>
              <a:cs typeface="Calibri"/>
            </a:endParaRPr>
          </a:p>
          <a:p>
            <a:pPr marL="409596" indent="-398389">
              <a:spcBef>
                <a:spcPts val="485"/>
              </a:spcBef>
              <a:buAutoNum type="arabicPeriod"/>
              <a:tabLst>
                <a:tab pos="409596" algn="l"/>
              </a:tabLst>
            </a:pPr>
            <a:r>
              <a:rPr sz="2400" dirty="0"/>
              <a:t>Growth</a:t>
            </a:r>
            <a:r>
              <a:rPr sz="2400" spc="-84" dirty="0"/>
              <a:t> </a:t>
            </a:r>
            <a:r>
              <a:rPr sz="2400" dirty="0"/>
              <a:t>in</a:t>
            </a:r>
            <a:r>
              <a:rPr sz="2400" spc="-79" dirty="0"/>
              <a:t> </a:t>
            </a:r>
            <a:r>
              <a:rPr sz="2400" dirty="0"/>
              <a:t>code</a:t>
            </a:r>
            <a:r>
              <a:rPr sz="2400" spc="-75" dirty="0"/>
              <a:t> </a:t>
            </a:r>
            <a:r>
              <a:rPr sz="2400" spc="-18" dirty="0"/>
              <a:t>size</a:t>
            </a:r>
          </a:p>
          <a:p>
            <a:pPr marL="609633" lvl="1" indent="-200036">
              <a:spcBef>
                <a:spcPts val="361"/>
              </a:spcBef>
              <a:buChar char="–"/>
              <a:tabLst>
                <a:tab pos="609633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loops,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concern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increases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instruction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cache</a:t>
            </a:r>
            <a:r>
              <a:rPr sz="2400" b="1" spc="-62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miss</a:t>
            </a:r>
            <a:r>
              <a:rPr sz="2400" b="1" spc="-57" dirty="0">
                <a:latin typeface="Calibri"/>
                <a:cs typeface="Calibri"/>
              </a:rPr>
              <a:t> </a:t>
            </a:r>
            <a:r>
              <a:rPr sz="2400" b="1" spc="-18" dirty="0">
                <a:latin typeface="Calibri"/>
                <a:cs typeface="Calibri"/>
              </a:rPr>
              <a:t>rate</a:t>
            </a:r>
            <a:endParaRPr sz="2400" dirty="0">
              <a:latin typeface="Calibri"/>
              <a:cs typeface="Calibri"/>
            </a:endParaRPr>
          </a:p>
          <a:p>
            <a:pPr marL="409596" marR="4483" indent="-398951">
              <a:spcBef>
                <a:spcPts val="693"/>
              </a:spcBef>
              <a:buAutoNum type="arabicPeriod"/>
              <a:tabLst>
                <a:tab pos="409596" algn="l"/>
              </a:tabLst>
            </a:pPr>
            <a:r>
              <a:rPr sz="2400" b="1" spc="-9" dirty="0">
                <a:latin typeface="Calibri"/>
                <a:cs typeface="Calibri"/>
              </a:rPr>
              <a:t>Register</a:t>
            </a:r>
            <a:r>
              <a:rPr sz="2400" b="1" spc="-71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pressure</a:t>
            </a:r>
            <a:r>
              <a:rPr sz="2400" spc="-9" dirty="0"/>
              <a:t>:</a:t>
            </a:r>
            <a:r>
              <a:rPr sz="2400" spc="-71" dirty="0"/>
              <a:t> </a:t>
            </a:r>
            <a:r>
              <a:rPr sz="2400" spc="-9" dirty="0"/>
              <a:t>potential</a:t>
            </a:r>
            <a:r>
              <a:rPr sz="2400" spc="-66" dirty="0"/>
              <a:t> </a:t>
            </a:r>
            <a:r>
              <a:rPr sz="2400" spc="-9" dirty="0"/>
              <a:t>shortfall</a:t>
            </a:r>
            <a:r>
              <a:rPr sz="2400" spc="-66" dirty="0"/>
              <a:t> </a:t>
            </a:r>
            <a:r>
              <a:rPr sz="2400" dirty="0"/>
              <a:t>in</a:t>
            </a:r>
            <a:r>
              <a:rPr sz="2400" spc="-71" dirty="0"/>
              <a:t> </a:t>
            </a:r>
            <a:r>
              <a:rPr sz="2400" spc="-9" dirty="0"/>
              <a:t>registers</a:t>
            </a:r>
            <a:r>
              <a:rPr sz="2400" spc="-71" dirty="0"/>
              <a:t> </a:t>
            </a:r>
            <a:r>
              <a:rPr sz="2400" spc="-9" dirty="0"/>
              <a:t>created </a:t>
            </a:r>
            <a:r>
              <a:rPr sz="2400" dirty="0"/>
              <a:t>by</a:t>
            </a:r>
            <a:r>
              <a:rPr sz="2400" spc="-75" dirty="0"/>
              <a:t> </a:t>
            </a:r>
            <a:r>
              <a:rPr sz="2400" spc="-9" dirty="0"/>
              <a:t>aggressive</a:t>
            </a:r>
            <a:r>
              <a:rPr sz="2400" spc="-66" dirty="0"/>
              <a:t> </a:t>
            </a:r>
            <a:r>
              <a:rPr sz="2400" spc="-9" dirty="0"/>
              <a:t>unrolling</a:t>
            </a:r>
            <a:r>
              <a:rPr sz="2400" spc="-75" dirty="0"/>
              <a:t> </a:t>
            </a:r>
            <a:r>
              <a:rPr sz="2400" dirty="0"/>
              <a:t>and</a:t>
            </a:r>
            <a:r>
              <a:rPr sz="2400" spc="-71" dirty="0"/>
              <a:t> </a:t>
            </a:r>
            <a:r>
              <a:rPr sz="2400" spc="-9" dirty="0"/>
              <a:t>scheduling</a:t>
            </a:r>
          </a:p>
          <a:p>
            <a:pPr marL="609633" marR="50429" lvl="1" indent="-199475">
              <a:spcBef>
                <a:spcPts val="596"/>
              </a:spcBef>
              <a:buChar char="–"/>
              <a:tabLst>
                <a:tab pos="609633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possible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allocate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registers,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2" dirty="0">
                <a:latin typeface="Calibri"/>
                <a:cs typeface="Calibri"/>
              </a:rPr>
              <a:t> all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advantage</a:t>
            </a:r>
            <a:endParaRPr sz="2400" dirty="0">
              <a:latin typeface="Calibri"/>
              <a:cs typeface="Calibri"/>
            </a:endParaRPr>
          </a:p>
          <a:p>
            <a:pPr marL="260551" marR="345720" indent="-249344">
              <a:spcBef>
                <a:spcPts val="799"/>
              </a:spcBef>
              <a:buChar char="•"/>
              <a:tabLst>
                <a:tab pos="260551" algn="l"/>
              </a:tabLst>
            </a:pPr>
            <a:r>
              <a:rPr sz="2400" dirty="0"/>
              <a:t>Loop</a:t>
            </a:r>
            <a:r>
              <a:rPr sz="2400" spc="-75" dirty="0"/>
              <a:t> </a:t>
            </a:r>
            <a:r>
              <a:rPr sz="2400" spc="-9" dirty="0"/>
              <a:t>unrolling</a:t>
            </a:r>
            <a:r>
              <a:rPr sz="2400" spc="-75" dirty="0"/>
              <a:t> </a:t>
            </a:r>
            <a:r>
              <a:rPr sz="2400" spc="-9" dirty="0"/>
              <a:t>reduces</a:t>
            </a:r>
            <a:r>
              <a:rPr sz="2400" spc="-71" dirty="0"/>
              <a:t> </a:t>
            </a:r>
            <a:r>
              <a:rPr sz="2400" spc="-9" dirty="0"/>
              <a:t>impact</a:t>
            </a:r>
            <a:r>
              <a:rPr sz="2400" spc="-75" dirty="0"/>
              <a:t> </a:t>
            </a:r>
            <a:r>
              <a:rPr sz="2400" dirty="0"/>
              <a:t>of</a:t>
            </a:r>
            <a:r>
              <a:rPr sz="2400" spc="-62" dirty="0"/>
              <a:t> </a:t>
            </a:r>
            <a:r>
              <a:rPr sz="2400" spc="-9" dirty="0"/>
              <a:t>branches</a:t>
            </a:r>
            <a:r>
              <a:rPr sz="2400" spc="-71" dirty="0"/>
              <a:t> </a:t>
            </a:r>
            <a:r>
              <a:rPr sz="2400" dirty="0"/>
              <a:t>on</a:t>
            </a:r>
            <a:r>
              <a:rPr sz="2400" spc="-75" dirty="0"/>
              <a:t> </a:t>
            </a:r>
            <a:r>
              <a:rPr sz="2400" spc="-9" dirty="0"/>
              <a:t>pipeline; another</a:t>
            </a:r>
            <a:r>
              <a:rPr sz="2400" spc="-66" dirty="0"/>
              <a:t> </a:t>
            </a:r>
            <a:r>
              <a:rPr sz="2400" dirty="0"/>
              <a:t>way</a:t>
            </a:r>
            <a:r>
              <a:rPr sz="2400" spc="-66" dirty="0"/>
              <a:t> </a:t>
            </a:r>
            <a:r>
              <a:rPr sz="2400" dirty="0"/>
              <a:t>is</a:t>
            </a:r>
            <a:r>
              <a:rPr sz="2400" spc="-71" dirty="0"/>
              <a:t> </a:t>
            </a:r>
            <a:r>
              <a:rPr sz="2400" i="1" spc="-9" dirty="0">
                <a:solidFill>
                  <a:srgbClr val="114FFB"/>
                </a:solidFill>
                <a:latin typeface="Calibri"/>
                <a:cs typeface="Calibri"/>
              </a:rPr>
              <a:t>branch</a:t>
            </a:r>
            <a:r>
              <a:rPr sz="2400" i="1" spc="-71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i="1" spc="-9" dirty="0">
                <a:solidFill>
                  <a:srgbClr val="114FFB"/>
                </a:solidFill>
                <a:latin typeface="Calibri"/>
                <a:cs typeface="Calibri"/>
              </a:rPr>
              <a:t>prediction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EFD589EF-B15C-4596-3ABB-FF5E3B4FFD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81391" y="6346231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26</a:t>
            </a:fld>
            <a:endParaRPr lang="en-US" spc="-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1305</TotalTime>
  <Words>2700</Words>
  <Application>Microsoft Office PowerPoint</Application>
  <PresentationFormat>On-screen Show (4:3)</PresentationFormat>
  <Paragraphs>461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Arial MT</vt:lpstr>
      <vt:lpstr>Calibri</vt:lpstr>
      <vt:lpstr>Comic Sans MS</vt:lpstr>
      <vt:lpstr>Consolas</vt:lpstr>
      <vt:lpstr>Courier New</vt:lpstr>
      <vt:lpstr>Symbol</vt:lpstr>
      <vt:lpstr>Times New Roman</vt:lpstr>
      <vt:lpstr>1_Office Theme</vt:lpstr>
      <vt:lpstr>PowerPoint Presentation</vt:lpstr>
      <vt:lpstr>CACHE OPTIMIZATION TECHNIQUES - APPENDIX C / CHAPTER 3</vt:lpstr>
      <vt:lpstr>Outline</vt:lpstr>
      <vt:lpstr>Recall from Pipelining</vt:lpstr>
      <vt:lpstr>Instruction Level Parallelism</vt:lpstr>
      <vt:lpstr>Instruction-Level Parallelism (ILP)</vt:lpstr>
      <vt:lpstr>Loop-Level Parallelism</vt:lpstr>
      <vt:lpstr>Data Dependence and Hazards</vt:lpstr>
      <vt:lpstr>ILP and Data Dependencies, Hazards</vt:lpstr>
      <vt:lpstr>Name Dependence #1: Anti-dependence</vt:lpstr>
      <vt:lpstr>Name Dependence #2: Output dependence</vt:lpstr>
      <vt:lpstr>Control Dependencies</vt:lpstr>
      <vt:lpstr>Review Question</vt:lpstr>
      <vt:lpstr>PowerPoint Presentation</vt:lpstr>
      <vt:lpstr>Violating Control Dependence</vt:lpstr>
      <vt:lpstr>Exception Behavior</vt:lpstr>
      <vt:lpstr>Data Flow</vt:lpstr>
      <vt:lpstr>Software Techniques - Example</vt:lpstr>
      <vt:lpstr>FP Loop: Where are the Hazards?</vt:lpstr>
      <vt:lpstr>FP Loop Showing Stalls</vt:lpstr>
      <vt:lpstr>Revised FP Loop Minimizing Stalls</vt:lpstr>
      <vt:lpstr>Unroll Loop Four Times (straightforward way)</vt:lpstr>
      <vt:lpstr>Unrolled Loop That Minimizes Stalls</vt:lpstr>
      <vt:lpstr>Unrolled Loop Detail</vt:lpstr>
      <vt:lpstr>5 Loop Unrolling Decisions</vt:lpstr>
      <vt:lpstr>3 Limits to Loop Unrolling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744</cp:revision>
  <dcterms:created xsi:type="dcterms:W3CDTF">2025-09-07T23:26:05Z</dcterms:created>
  <dcterms:modified xsi:type="dcterms:W3CDTF">2025-11-10T15:16:21Z</dcterms:modified>
</cp:coreProperties>
</file>