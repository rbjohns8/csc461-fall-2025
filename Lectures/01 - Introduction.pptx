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21"/>
  </p:notesMasterIdLst>
  <p:handoutMasterIdLst>
    <p:handoutMasterId r:id="rId122"/>
  </p:handoutMasterIdLst>
  <p:sldIdLst>
    <p:sldId id="270" r:id="rId2"/>
    <p:sldId id="261" r:id="rId3"/>
    <p:sldId id="262" r:id="rId4"/>
    <p:sldId id="263" r:id="rId5"/>
    <p:sldId id="264" r:id="rId6"/>
    <p:sldId id="265" r:id="rId7"/>
    <p:sldId id="271" r:id="rId8"/>
    <p:sldId id="278" r:id="rId9"/>
    <p:sldId id="267" r:id="rId10"/>
    <p:sldId id="269" r:id="rId11"/>
    <p:sldId id="275" r:id="rId12"/>
    <p:sldId id="272" r:id="rId13"/>
    <p:sldId id="279" r:id="rId14"/>
    <p:sldId id="280" r:id="rId15"/>
    <p:sldId id="276" r:id="rId16"/>
    <p:sldId id="309" r:id="rId17"/>
    <p:sldId id="310" r:id="rId18"/>
    <p:sldId id="311" r:id="rId19"/>
    <p:sldId id="312" r:id="rId20"/>
    <p:sldId id="282" r:id="rId21"/>
    <p:sldId id="273" r:id="rId22"/>
    <p:sldId id="274" r:id="rId23"/>
    <p:sldId id="326" r:id="rId24"/>
    <p:sldId id="315" r:id="rId25"/>
    <p:sldId id="303" r:id="rId26"/>
    <p:sldId id="302" r:id="rId27"/>
    <p:sldId id="332" r:id="rId28"/>
    <p:sldId id="314" r:id="rId29"/>
    <p:sldId id="313" r:id="rId30"/>
    <p:sldId id="307" r:id="rId31"/>
    <p:sldId id="308" r:id="rId32"/>
    <p:sldId id="316" r:id="rId33"/>
    <p:sldId id="320" r:id="rId34"/>
    <p:sldId id="277" r:id="rId35"/>
    <p:sldId id="259" r:id="rId36"/>
    <p:sldId id="324" r:id="rId37"/>
    <p:sldId id="325" r:id="rId38"/>
    <p:sldId id="323" r:id="rId39"/>
    <p:sldId id="333" r:id="rId40"/>
    <p:sldId id="331" r:id="rId41"/>
    <p:sldId id="281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327" r:id="rId51"/>
    <p:sldId id="292" r:id="rId52"/>
    <p:sldId id="328" r:id="rId53"/>
    <p:sldId id="266" r:id="rId54"/>
    <p:sldId id="293" r:id="rId55"/>
    <p:sldId id="257" r:id="rId56"/>
    <p:sldId id="258" r:id="rId57"/>
    <p:sldId id="329" r:id="rId58"/>
    <p:sldId id="260" r:id="rId59"/>
    <p:sldId id="330" r:id="rId60"/>
    <p:sldId id="295" r:id="rId61"/>
    <p:sldId id="334" r:id="rId62"/>
    <p:sldId id="335" r:id="rId63"/>
    <p:sldId id="353" r:id="rId64"/>
    <p:sldId id="336" r:id="rId65"/>
    <p:sldId id="337" r:id="rId66"/>
    <p:sldId id="338" r:id="rId67"/>
    <p:sldId id="339" r:id="rId68"/>
    <p:sldId id="354" r:id="rId69"/>
    <p:sldId id="268" r:id="rId70"/>
    <p:sldId id="340" r:id="rId71"/>
    <p:sldId id="341" r:id="rId72"/>
    <p:sldId id="342" r:id="rId73"/>
    <p:sldId id="343" r:id="rId74"/>
    <p:sldId id="344" r:id="rId75"/>
    <p:sldId id="345" r:id="rId76"/>
    <p:sldId id="346" r:id="rId77"/>
    <p:sldId id="296" r:id="rId78"/>
    <p:sldId id="347" r:id="rId79"/>
    <p:sldId id="348" r:id="rId80"/>
    <p:sldId id="349" r:id="rId81"/>
    <p:sldId id="318" r:id="rId82"/>
    <p:sldId id="317" r:id="rId83"/>
    <p:sldId id="350" r:id="rId84"/>
    <p:sldId id="351" r:id="rId85"/>
    <p:sldId id="352" r:id="rId86"/>
    <p:sldId id="379" r:id="rId87"/>
    <p:sldId id="373" r:id="rId88"/>
    <p:sldId id="359" r:id="rId89"/>
    <p:sldId id="355" r:id="rId90"/>
    <p:sldId id="319" r:id="rId91"/>
    <p:sldId id="357" r:id="rId92"/>
    <p:sldId id="298" r:id="rId93"/>
    <p:sldId id="358" r:id="rId94"/>
    <p:sldId id="283" r:id="rId95"/>
    <p:sldId id="356" r:id="rId96"/>
    <p:sldId id="360" r:id="rId97"/>
    <p:sldId id="361" r:id="rId98"/>
    <p:sldId id="362" r:id="rId99"/>
    <p:sldId id="377" r:id="rId100"/>
    <p:sldId id="370" r:id="rId101"/>
    <p:sldId id="380" r:id="rId102"/>
    <p:sldId id="367" r:id="rId103"/>
    <p:sldId id="363" r:id="rId104"/>
    <p:sldId id="297" r:id="rId105"/>
    <p:sldId id="364" r:id="rId106"/>
    <p:sldId id="368" r:id="rId107"/>
    <p:sldId id="299" r:id="rId108"/>
    <p:sldId id="300" r:id="rId109"/>
    <p:sldId id="369" r:id="rId110"/>
    <p:sldId id="301" r:id="rId111"/>
    <p:sldId id="371" r:id="rId112"/>
    <p:sldId id="304" r:id="rId113"/>
    <p:sldId id="365" r:id="rId114"/>
    <p:sldId id="305" r:id="rId115"/>
    <p:sldId id="374" r:id="rId116"/>
    <p:sldId id="306" r:id="rId117"/>
    <p:sldId id="366" r:id="rId118"/>
    <p:sldId id="375" r:id="rId119"/>
    <p:sldId id="376" r:id="rId120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1"/>
      </a:buClr>
      <a:buSzPct val="60000"/>
      <a:buFont typeface="Wingdings" pitchFamily="2" charset="2"/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buSzPct val="60000"/>
      <a:buFont typeface="Wingdings" pitchFamily="2" charset="2"/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buSzPct val="60000"/>
      <a:buFont typeface="Wingdings" pitchFamily="2" charset="2"/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buSzPct val="60000"/>
      <a:buFont typeface="Wingdings" pitchFamily="2" charset="2"/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buSzPct val="60000"/>
      <a:buFont typeface="Wingdings" pitchFamily="2" charset="2"/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F0F0F0"/>
    <a:srgbClr val="000099"/>
    <a:srgbClr val="808080"/>
    <a:srgbClr val="5F5F5F"/>
    <a:srgbClr val="3399FF"/>
    <a:srgbClr val="0000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76382" autoAdjust="0"/>
  </p:normalViewPr>
  <p:slideViewPr>
    <p:cSldViewPr>
      <p:cViewPr varScale="1">
        <p:scale>
          <a:sx n="60" d="100"/>
          <a:sy n="60" d="100"/>
        </p:scale>
        <p:origin x="19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116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r>
              <a:rPr lang="en-US"/>
              <a:t>The University of Adelaide, School of Computer Science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fld id="{AFA2C28F-83DF-4A94-BB46-10267AEE2F7E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r>
              <a:rPr lang="en-US"/>
              <a:t>Chapter 2 — Instructions: Language of the Computer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fld id="{57C84157-CAC9-4329-91AD-EB3C6746FA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89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r>
              <a:rPr lang="en-US"/>
              <a:t>The University of Adelaide, School of Computer Science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r>
              <a:rPr lang="en-US"/>
              <a:t>Chapter 2 — Instructions: Language of the Computer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fld id="{EE145C4F-ECA4-4DD7-819E-C9FECED278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6428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J. Presper Eckert and John Mauchly </a:t>
            </a:r>
          </a:p>
          <a:p>
            <a:r>
              <a:rPr lang="en-US" b="0" dirty="0"/>
              <a:t>at the Moore School of the University of Pennsylvania </a:t>
            </a:r>
          </a:p>
          <a:p>
            <a:r>
              <a:rPr lang="en-US" b="0" dirty="0"/>
              <a:t>built the world’s first fully operational electronic general-purpose computer called ENIAC. (decimal machine)</a:t>
            </a:r>
          </a:p>
          <a:p>
            <a:r>
              <a:rPr lang="en-US" b="0" dirty="0"/>
              <a:t>funded by the U.S. Army and became operational during World War II, but not publicly disclosed until 1946</a:t>
            </a:r>
          </a:p>
          <a:p>
            <a:endParaRPr lang="en-US" b="1" dirty="0"/>
          </a:p>
          <a:p>
            <a:r>
              <a:rPr lang="en-US" b="1" dirty="0"/>
              <a:t>John von Neumann</a:t>
            </a:r>
          </a:p>
          <a:p>
            <a:r>
              <a:rPr lang="en-US" dirty="0"/>
              <a:t>was attracted to the </a:t>
            </a:r>
            <a:r>
              <a:rPr lang="en-US" b="0" dirty="0"/>
              <a:t>ENIAC project in </a:t>
            </a:r>
            <a:r>
              <a:rPr lang="en-US" dirty="0"/>
              <a:t>1944</a:t>
            </a:r>
          </a:p>
          <a:p>
            <a:r>
              <a:rPr lang="en-US" dirty="0"/>
              <a:t>was given credit for a stored-program computer called EDVAC, </a:t>
            </a:r>
          </a:p>
          <a:p>
            <a:r>
              <a:rPr lang="en-US" dirty="0"/>
              <a:t>much to the dismay of Eckert and Mauchly, whose names were omitted</a:t>
            </a:r>
          </a:p>
          <a:p>
            <a:endParaRPr lang="en-US" dirty="0"/>
          </a:p>
          <a:p>
            <a:r>
              <a:rPr lang="en-US" b="1" dirty="0"/>
              <a:t>Konrad </a:t>
            </a:r>
            <a:r>
              <a:rPr lang="en-US" b="1" dirty="0" err="1"/>
              <a:t>Zuse</a:t>
            </a:r>
            <a:r>
              <a:rPr lang="en-US" b="1" dirty="0"/>
              <a:t> </a:t>
            </a:r>
          </a:p>
          <a:p>
            <a:r>
              <a:rPr lang="en-US" dirty="0"/>
              <a:t>special-purpose machines built by Konrad </a:t>
            </a:r>
            <a:r>
              <a:rPr lang="en-US" dirty="0" err="1"/>
              <a:t>Zuse</a:t>
            </a:r>
            <a:r>
              <a:rPr lang="en-US" dirty="0"/>
              <a:t> in Germany in the late 1930s and early 1940s</a:t>
            </a:r>
          </a:p>
          <a:p>
            <a:r>
              <a:rPr lang="en-US" dirty="0" err="1"/>
              <a:t>Zuse</a:t>
            </a:r>
            <a:r>
              <a:rPr lang="en-US" dirty="0"/>
              <a:t> was the first to implement floating point,</a:t>
            </a:r>
          </a:p>
          <a:p>
            <a:r>
              <a:rPr lang="en-US" dirty="0"/>
              <a:t>His last machine (Z4) was electromechanical but, because of the war, was never completed.</a:t>
            </a:r>
          </a:p>
          <a:p>
            <a:r>
              <a:rPr lang="en-US" dirty="0"/>
              <a:t>(binary machine, Z3: first computer to have independently stored programs – punched tape)</a:t>
            </a:r>
          </a:p>
          <a:p>
            <a:r>
              <a:rPr lang="en-US" dirty="0"/>
              <a:t>Resumed in 1950 and built up to Z43</a:t>
            </a:r>
          </a:p>
          <a:p>
            <a:r>
              <a:rPr lang="en-US" dirty="0"/>
              <a:t>https://www.youtube.com/watch?v=wu3Zch5tcM0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36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0099BBB-8DDB-4FDC-B732-49E73D96D313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1.1</a:t>
            </a:r>
          </a:p>
          <a:p>
            <a:endParaRPr lang="en-AU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Improvements in semiconductor technology have historically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been characterized by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reduction in feature size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enabling the number of transistors on a chip to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double approximately every two years (Moore's Law).</a:t>
            </a:r>
          </a:p>
          <a:p>
            <a:endParaRPr lang="en-AU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development of high-level language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 compilers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and the rise of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UNIX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(vender independent) operating system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were pivotal in enabling the creation of </a:t>
            </a:r>
            <a:r>
              <a:rPr lang="en-US" b="1" dirty="0">
                <a:effectLst/>
              </a:rPr>
              <a:t>RISC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architectures (1980s). </a:t>
            </a:r>
          </a:p>
          <a:p>
            <a:endParaRPr lang="en-AU" dirty="0"/>
          </a:p>
          <a:p>
            <a:r>
              <a:rPr lang="en-AU" b="1" dirty="0"/>
              <a:t>HLL: </a:t>
            </a:r>
            <a:r>
              <a:rPr lang="en-AU" dirty="0"/>
              <a:t>high-level language compilers</a:t>
            </a:r>
          </a:p>
          <a:p>
            <a:r>
              <a:rPr lang="en-AU" b="1" dirty="0"/>
              <a:t>VAX:</a:t>
            </a:r>
            <a:r>
              <a:rPr lang="en-AU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virtual address extension</a:t>
            </a:r>
            <a:endParaRPr lang="en-AU" dirty="0"/>
          </a:p>
          <a:p>
            <a:r>
              <a:rPr lang="en-AU" b="1" dirty="0"/>
              <a:t>RISC: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Reduced Instruction Set Computer (RISC) architecture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536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1.1 shows that the combination of architectural and organizational enhancements that led to a growth in processor performance over 40 years. </a:t>
            </a:r>
          </a:p>
          <a:p>
            <a:endParaRPr lang="en-US" dirty="0"/>
          </a:p>
          <a:p>
            <a:r>
              <a:rPr lang="en-US" dirty="0"/>
              <a:t>Prior to the mid-1980s, growth in processor performance was largely technology-driven and</a:t>
            </a:r>
          </a:p>
          <a:p>
            <a:r>
              <a:rPr lang="en-US" dirty="0"/>
              <a:t>averaged about 22% per year, or doubling performance every 3.5 years. </a:t>
            </a:r>
          </a:p>
          <a:p>
            <a:endParaRPr lang="en-US" dirty="0"/>
          </a:p>
          <a:p>
            <a:r>
              <a:rPr lang="en-US" dirty="0"/>
              <a:t>With the introduction of RISC architecture, </a:t>
            </a:r>
          </a:p>
          <a:p>
            <a:r>
              <a:rPr lang="en-US" dirty="0"/>
              <a:t>performance increased in growth to about 52% starting in 1986, or doubling every 2 years 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Uniprocessor performance growth slowed to approximately 23% per year (doubling every 3.5 years)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between 2003 and 2011 due to power limitations (“Power Wall”)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from the end of Dennard scaling and the constraints of instruction-level parallelism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Dennard scaling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as transistors get smaller, their power density stays constant</a:t>
            </a:r>
          </a:p>
          <a:p>
            <a:endParaRPr lang="en-US" dirty="0"/>
          </a:p>
          <a:p>
            <a:r>
              <a:rPr lang="en-US" dirty="0"/>
              <a:t>From 2011 to 2015, the annual improvement was less than 12%, (doubling every 8 years)</a:t>
            </a:r>
          </a:p>
          <a:p>
            <a:r>
              <a:rPr lang="en-US" dirty="0"/>
              <a:t>in part due to the limitations of parallelism of Amdahl’s Law. </a:t>
            </a:r>
          </a:p>
          <a:p>
            <a:endParaRPr lang="en-US" dirty="0"/>
          </a:p>
          <a:p>
            <a:r>
              <a:rPr lang="en-US" b="1" dirty="0"/>
              <a:t>The end of Moore’s Law:</a:t>
            </a:r>
          </a:p>
          <a:p>
            <a:r>
              <a:rPr lang="en-US" dirty="0"/>
              <a:t>Since 2015 improvement has been just 3.5% per year or doubling every 20 years.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9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ILP: Instruction level parallelism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02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Micron: </a:t>
            </a:r>
            <a:r>
              <a:rPr lang="en-US" dirty="0"/>
              <a:t>micrometer</a:t>
            </a:r>
          </a:p>
          <a:p>
            <a:endParaRPr lang="en-US" dirty="0"/>
          </a:p>
          <a:p>
            <a:r>
              <a:rPr lang="en-US" b="1" dirty="0"/>
              <a:t>PMOS: </a:t>
            </a:r>
            <a:r>
              <a:rPr lang="en-US" b="0" dirty="0"/>
              <a:t>p-channel metal-oxide-semiconductor</a:t>
            </a:r>
          </a:p>
          <a:p>
            <a:r>
              <a:rPr lang="en-US" b="1" dirty="0"/>
              <a:t>NMOS: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N-type metal–oxide–semiconductor</a:t>
            </a:r>
            <a:endParaRPr lang="en-US" b="0" dirty="0"/>
          </a:p>
          <a:p>
            <a:r>
              <a:rPr lang="en-US" b="1" dirty="0"/>
              <a:t>CMOS: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Complementary metal–oxide–semiconductor</a:t>
            </a:r>
          </a:p>
          <a:p>
            <a:endParaRPr lang="en-US" b="0" dirty="0"/>
          </a:p>
          <a:p>
            <a:r>
              <a:rPr lang="en-US" b="0" dirty="0"/>
              <a:t>2006: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125 mm² chip fabricated using 0.065 micron CMOS technology in 2006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was designed to integrate the functionality of the RISC II processor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along with a Floating-Point Unit (FPU), Instruction Cache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), and Data Cache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Dcache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).</a:t>
            </a:r>
          </a:p>
          <a:p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46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20AA92A-7272-47A4-907F-7E106B0FC202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11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9431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Shift to Thread and Data-Level Parallelism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shift from instruction-level parallelism (ILP) to thread-level parallelism (TLP)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and data-level parallelism (DLP) has been driven by 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limitations of scaling ILP, particularly the stagnation of Moore's Law and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increasing complexity of exploiting parallelism within a single CPU core. 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GPUs and vector processors are the primary technologies enabling this shift.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GPUs, with their many-core architecture,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are designed for massive data-parallel computation,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excelling at performing the same operation on large datasets simultaneously.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84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C01E9C4-4BE7-4D55-9A2A-A948AB7F9C7D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13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1.2</a:t>
            </a:r>
          </a:p>
          <a:p>
            <a:endParaRPr lang="en-AU" dirty="0"/>
          </a:p>
          <a:p>
            <a:r>
              <a:rPr lang="en-US" dirty="0"/>
              <a:t>These changes have set the stage for a dramatic change in how we view </a:t>
            </a:r>
          </a:p>
          <a:p>
            <a:r>
              <a:rPr lang="en-US" dirty="0"/>
              <a:t>computing,</a:t>
            </a:r>
          </a:p>
          <a:p>
            <a:r>
              <a:rPr lang="en-US" dirty="0"/>
              <a:t>computing applications, </a:t>
            </a:r>
          </a:p>
          <a:p>
            <a:r>
              <a:rPr lang="en-US" dirty="0"/>
              <a:t>and the computer markets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5330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1B23102-416C-476B-9BD9-F5CF6AF030F2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14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is now the driving force of computer design, </a:t>
            </a:r>
          </a:p>
          <a:p>
            <a:r>
              <a:rPr lang="en-US" dirty="0"/>
              <a:t>with energy and cost being the primary constraints.</a:t>
            </a:r>
          </a:p>
          <a:p>
            <a:endParaRPr lang="en-US" dirty="0"/>
          </a:p>
          <a:p>
            <a:r>
              <a:rPr lang="en-US" dirty="0"/>
              <a:t>In terms of applications, there are two kinds of parallelism:</a:t>
            </a:r>
          </a:p>
          <a:p>
            <a:r>
              <a:rPr lang="en-US" dirty="0"/>
              <a:t>1. Data-level parallelism (DLP): </a:t>
            </a:r>
            <a:br>
              <a:rPr lang="en-US" dirty="0"/>
            </a:br>
            <a:r>
              <a:rPr lang="en-US" dirty="0"/>
              <a:t>    many data items operated on at the same time</a:t>
            </a:r>
          </a:p>
          <a:p>
            <a:r>
              <a:rPr lang="en-US" dirty="0"/>
              <a:t>2. Task-level parallelism (TLP): </a:t>
            </a:r>
            <a:br>
              <a:rPr lang="en-US" dirty="0"/>
            </a:br>
            <a:r>
              <a:rPr lang="en-US" dirty="0"/>
              <a:t>    multiple tasks operate independently in parallel</a:t>
            </a:r>
          </a:p>
          <a:p>
            <a:endParaRPr lang="en-US" dirty="0"/>
          </a:p>
          <a:p>
            <a:r>
              <a:rPr lang="en-US" dirty="0"/>
              <a:t>Computer hardware can exploit these two kinds of application parallelism in four major ways: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Instruction-level parallelism</a:t>
            </a:r>
            <a:r>
              <a:rPr lang="en-US" dirty="0"/>
              <a:t> exploits </a:t>
            </a:r>
            <a:r>
              <a:rPr lang="en-US" u="sng" dirty="0"/>
              <a:t>data-level parallelism </a:t>
            </a:r>
            <a:br>
              <a:rPr lang="en-US" dirty="0"/>
            </a:br>
            <a:r>
              <a:rPr lang="en-US" dirty="0"/>
              <a:t>at modest levels with compiler help using ideas like pipelining </a:t>
            </a:r>
            <a:br>
              <a:rPr lang="en-US" dirty="0"/>
            </a:br>
            <a:r>
              <a:rPr lang="en-US" dirty="0"/>
              <a:t>and at medium levels using ideas like speculative execution.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Vector architectures</a:t>
            </a:r>
            <a:r>
              <a:rPr lang="en-US" dirty="0"/>
              <a:t>, graphic processor units (</a:t>
            </a:r>
            <a:r>
              <a:rPr lang="en-US" b="1" dirty="0"/>
              <a:t>GPUs</a:t>
            </a:r>
            <a:r>
              <a:rPr lang="en-US" dirty="0"/>
              <a:t>), </a:t>
            </a:r>
          </a:p>
          <a:p>
            <a:r>
              <a:rPr lang="en-US" dirty="0"/>
              <a:t>and </a:t>
            </a:r>
            <a:r>
              <a:rPr lang="en-US" b="1" dirty="0"/>
              <a:t>multimedia instruction sets </a:t>
            </a:r>
            <a:r>
              <a:rPr lang="en-US" dirty="0"/>
              <a:t>exploit </a:t>
            </a:r>
            <a:r>
              <a:rPr lang="en-US" u="sng" dirty="0"/>
              <a:t>data-level parallelism </a:t>
            </a:r>
          </a:p>
          <a:p>
            <a:r>
              <a:rPr lang="en-US" dirty="0"/>
              <a:t>by applying a single instruction to a collection of data in parallel.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Thread-level parallelism </a:t>
            </a:r>
            <a:r>
              <a:rPr lang="en-US" dirty="0"/>
              <a:t>exploits either </a:t>
            </a:r>
            <a:r>
              <a:rPr lang="en-US" u="sng" dirty="0"/>
              <a:t>data-level parallelism </a:t>
            </a:r>
          </a:p>
          <a:p>
            <a:r>
              <a:rPr lang="en-US" dirty="0"/>
              <a:t>or </a:t>
            </a:r>
            <a:r>
              <a:rPr lang="en-US" u="sng" dirty="0"/>
              <a:t>task-level parallelism </a:t>
            </a:r>
            <a:r>
              <a:rPr lang="en-US" dirty="0"/>
              <a:t>in a tightly coupled hardware model </a:t>
            </a:r>
          </a:p>
          <a:p>
            <a:r>
              <a:rPr lang="en-US" dirty="0"/>
              <a:t>that allows for interaction between parallel threads.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b="1" dirty="0"/>
              <a:t>Request-level parallelism </a:t>
            </a:r>
            <a:r>
              <a:rPr lang="en-US" dirty="0"/>
              <a:t>exploits </a:t>
            </a:r>
            <a:r>
              <a:rPr lang="en-US" u="sng" dirty="0"/>
              <a:t>parallelism</a:t>
            </a:r>
            <a:r>
              <a:rPr lang="en-US" dirty="0"/>
              <a:t> among largely decoupled tasks</a:t>
            </a:r>
          </a:p>
          <a:p>
            <a:r>
              <a:rPr lang="en-US" dirty="0"/>
              <a:t>specified by the programmer or the operating system.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7604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65275DF2-BB82-40AC-92F1-ED5B41E556E4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15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1960s, </a:t>
            </a:r>
            <a:r>
              <a:rPr lang="en-US" b="1" dirty="0"/>
              <a:t>Michael J. Flynn </a:t>
            </a:r>
            <a:r>
              <a:rPr lang="en-US" dirty="0"/>
              <a:t>found a simple </a:t>
            </a:r>
            <a:r>
              <a:rPr lang="en-US" u="sng" dirty="0"/>
              <a:t>parallel computing classification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that we still use today,</a:t>
            </a:r>
          </a:p>
          <a:p>
            <a:r>
              <a:rPr lang="en-US" dirty="0"/>
              <a:t>which </a:t>
            </a:r>
            <a:r>
              <a:rPr lang="en-US" u="sng" dirty="0"/>
              <a:t>targets data-level parallelism and task-level parallelism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By analyzing the parallelism in the instruction and data streams </a:t>
            </a:r>
          </a:p>
          <a:p>
            <a:r>
              <a:rPr lang="en-US" dirty="0"/>
              <a:t>called for by the instructions at the most constrained component of the multiprocessor </a:t>
            </a:r>
          </a:p>
          <a:p>
            <a:r>
              <a:rPr lang="en-US" dirty="0"/>
              <a:t>all computers can be placed in one of four categories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1268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Single instruction stream, single data stream (SISD)</a:t>
            </a:r>
          </a:p>
          <a:p>
            <a:endParaRPr lang="en-US" dirty="0"/>
          </a:p>
          <a:p>
            <a:r>
              <a:rPr lang="en-US" dirty="0"/>
              <a:t>This category is the uniprocessor. </a:t>
            </a:r>
          </a:p>
          <a:p>
            <a:r>
              <a:rPr lang="en-US" dirty="0"/>
              <a:t>The programmer thinks of it as the standard sequential computer, but it can exploit ILP.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0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Single instruction stream, multiple data streams (SIMD)</a:t>
            </a:r>
          </a:p>
          <a:p>
            <a:endParaRPr lang="en-US" dirty="0"/>
          </a:p>
          <a:p>
            <a:r>
              <a:rPr lang="en-US" dirty="0"/>
              <a:t>The same instruction is executed by multiple processors using different data streams. </a:t>
            </a:r>
          </a:p>
          <a:p>
            <a:endParaRPr lang="en-US" dirty="0"/>
          </a:p>
          <a:p>
            <a:r>
              <a:rPr lang="en-US" dirty="0"/>
              <a:t>SIMD computers exploit </a:t>
            </a:r>
            <a:r>
              <a:rPr lang="en-US" b="1" dirty="0"/>
              <a:t>data-level parallelism </a:t>
            </a:r>
            <a:r>
              <a:rPr lang="en-US" dirty="0"/>
              <a:t>by applying the same operations to</a:t>
            </a:r>
          </a:p>
          <a:p>
            <a:r>
              <a:rPr lang="en-US" dirty="0"/>
              <a:t>multiple items of data in parallel. </a:t>
            </a:r>
          </a:p>
          <a:p>
            <a:endParaRPr lang="en-US" dirty="0"/>
          </a:p>
          <a:p>
            <a:r>
              <a:rPr lang="en-US" dirty="0"/>
              <a:t>Each processor has its own data memory</a:t>
            </a:r>
          </a:p>
          <a:p>
            <a:endParaRPr lang="en-US" dirty="0"/>
          </a:p>
          <a:p>
            <a:r>
              <a:rPr lang="en-US" dirty="0"/>
              <a:t>but there is a single instruction memory and control processor, which fetches and dispatches instructions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r>
              <a:rPr lang="en-US" dirty="0"/>
              <a:t>vector architectures, multimedia extensions to standard instruction sets, and GPUs.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6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Multiple instruction streams, single data stream (MISD)</a:t>
            </a:r>
          </a:p>
          <a:p>
            <a:endParaRPr lang="en-US" dirty="0"/>
          </a:p>
          <a:p>
            <a:r>
              <a:rPr lang="en-US" dirty="0"/>
              <a:t>No commercial multiprocessor of this type has been built to date, </a:t>
            </a:r>
          </a:p>
          <a:p>
            <a:r>
              <a:rPr lang="en-US" dirty="0"/>
              <a:t>but it rounds out this simple classification.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99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Multiple instruction streams, multiple data streams (MIMD)</a:t>
            </a:r>
          </a:p>
          <a:p>
            <a:endParaRPr lang="en-US" dirty="0"/>
          </a:p>
          <a:p>
            <a:r>
              <a:rPr lang="en-US" dirty="0"/>
              <a:t>Each processor fetches its own instructions and operates on its own data, </a:t>
            </a:r>
          </a:p>
          <a:p>
            <a:r>
              <a:rPr lang="en-US" dirty="0"/>
              <a:t>and it targets </a:t>
            </a:r>
            <a:r>
              <a:rPr lang="en-US" b="1" dirty="0"/>
              <a:t>task-level parallelism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In general, MIMD is more flexible and more generally applicable, </a:t>
            </a:r>
          </a:p>
          <a:p>
            <a:r>
              <a:rPr lang="en-US" dirty="0"/>
              <a:t>but it is more expensive than SIMD. 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3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AFFC68F-655D-47D6-A5E5-B73CCD22406A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20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1.3</a:t>
            </a:r>
          </a:p>
          <a:p>
            <a:endParaRPr lang="en-AU" dirty="0"/>
          </a:p>
          <a:p>
            <a:r>
              <a:rPr lang="en-US" dirty="0"/>
              <a:t>A few decades ago, </a:t>
            </a:r>
          </a:p>
          <a:p>
            <a:r>
              <a:rPr lang="en-US" dirty="0"/>
              <a:t>the term computer architecture generally referred to </a:t>
            </a:r>
          </a:p>
          <a:p>
            <a:r>
              <a:rPr lang="en-US" dirty="0"/>
              <a:t>only instruction set design and implementation. </a:t>
            </a:r>
          </a:p>
          <a:p>
            <a:endParaRPr lang="en-US" dirty="0"/>
          </a:p>
          <a:p>
            <a:r>
              <a:rPr lang="en-US" dirty="0"/>
              <a:t>Nowadays, the computer designer’s task is far more complex: </a:t>
            </a:r>
          </a:p>
          <a:p>
            <a:r>
              <a:rPr lang="en-US" dirty="0"/>
              <a:t>determine what attributes are important for a new computer, </a:t>
            </a:r>
          </a:p>
          <a:p>
            <a:r>
              <a:rPr lang="en-US" dirty="0"/>
              <a:t>then design a computer to maximize performance and energy efficiency </a:t>
            </a:r>
          </a:p>
          <a:p>
            <a:r>
              <a:rPr lang="en-US" dirty="0"/>
              <a:t>while staying within cost, power, and availability constraints. </a:t>
            </a:r>
          </a:p>
          <a:p>
            <a:endParaRPr lang="en-US" dirty="0"/>
          </a:p>
          <a:p>
            <a:r>
              <a:rPr lang="en-US" dirty="0"/>
              <a:t>There are many aspects to consider, </a:t>
            </a:r>
          </a:p>
          <a:p>
            <a:r>
              <a:rPr lang="en-US" dirty="0"/>
              <a:t>including instruction set design, microarchitecture, and hardware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07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Instruction Set Architecture (</a:t>
            </a:r>
            <a:r>
              <a:rPr lang="en-US" b="0" dirty="0">
                <a:effectLst/>
              </a:rPr>
              <a:t>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serves as the critical interface between software and hardware,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defining the set of instructions a processor can execute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and the capabilities it provides to programmers and compilers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good ISA is considered a fundamental engineering abstraction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that enables hardware and software to evolve independently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Properties of a good abstraction: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Portability and compatibility across different implementations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Allows support for diverse applications and programming paradigms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Provides convenient functionality to higher levels of the system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(e.g. operating systems and compilers)</a:t>
            </a:r>
          </a:p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Permits an efficient implementation at the lower levels of the system</a:t>
            </a:r>
          </a:p>
          <a:p>
            <a:pPr marL="0" indent="0">
              <a:buNone/>
            </a:pPr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45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337E0-CA2C-DEDD-DB07-9012938F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F54D7-BA0E-4157-D66C-18C9641F2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0A152-FBD6-8067-768F-C62504CA0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instruction set architecture</a:t>
            </a:r>
          </a:p>
          <a:p>
            <a:endParaRPr lang="en-US" sz="1200" dirty="0"/>
          </a:p>
          <a:p>
            <a:r>
              <a:rPr lang="en-US" sz="1200" u="sng" dirty="0"/>
              <a:t>Class of ISA</a:t>
            </a:r>
          </a:p>
          <a:p>
            <a:r>
              <a:rPr lang="en-US" sz="1200" dirty="0"/>
              <a:t>Nearly all ISAs today are classified as general-purpose register architectures, </a:t>
            </a:r>
          </a:p>
          <a:p>
            <a:r>
              <a:rPr lang="en-US" sz="1200" dirty="0"/>
              <a:t>where the operands are either registers or memory locations. </a:t>
            </a:r>
          </a:p>
          <a:p>
            <a:endParaRPr lang="en-US" sz="12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RISC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reduced instruction set computer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RISC-V</a:t>
            </a:r>
            <a:r>
              <a:rPr lang="en-US" sz="1200" dirty="0"/>
              <a:t>: “risk-five” is an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open standard ISA based on RISC principles</a:t>
            </a:r>
          </a:p>
          <a:p>
            <a:r>
              <a:rPr lang="en-US" sz="1200" dirty="0"/>
              <a:t>modern RISC instruction set developed at the </a:t>
            </a:r>
            <a:r>
              <a:rPr lang="en-US" sz="1200" u="sng" dirty="0"/>
              <a:t>University of California, Berkeley</a:t>
            </a:r>
            <a:r>
              <a:rPr lang="en-US" sz="1200" dirty="0"/>
              <a:t>, </a:t>
            </a:r>
          </a:p>
          <a:p>
            <a:r>
              <a:rPr lang="en-US" sz="1200" dirty="0"/>
              <a:t>made free and openly adoptable in response to industry demands</a:t>
            </a:r>
          </a:p>
          <a:p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80x86 has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16 general-purpose registers and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16 that can hold floating-point data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RISC-V has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32 general-purpose and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32 floating-point registers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(see Figure 1.4)</a:t>
            </a:r>
          </a:p>
          <a:p>
            <a:endParaRPr lang="en-US" sz="1200" dirty="0"/>
          </a:p>
          <a:p>
            <a:r>
              <a:rPr lang="en-US" sz="1200" b="1" dirty="0"/>
              <a:t>register-memory ISAs: </a:t>
            </a:r>
          </a:p>
          <a:p>
            <a:r>
              <a:rPr lang="en-US" sz="1200" dirty="0"/>
              <a:t>an access memory as part of many instructions (80x86)</a:t>
            </a:r>
          </a:p>
          <a:p>
            <a:endParaRPr lang="en-US" sz="1200" dirty="0"/>
          </a:p>
          <a:p>
            <a:r>
              <a:rPr lang="en-US" sz="1200" b="1" dirty="0"/>
              <a:t>load-store ISAs: </a:t>
            </a:r>
          </a:p>
          <a:p>
            <a:r>
              <a:rPr lang="en-US" sz="1200" dirty="0"/>
              <a:t>can access memory only with load or store instructions (ARMv8 and RISC-V)</a:t>
            </a:r>
          </a:p>
          <a:p>
            <a:endParaRPr lang="en-US" sz="12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B7CE80C-C0F4-44AF-4071-49004AA6C3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49373-30A7-26E9-1CF6-F4093982159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C2D9A-444E-EE4E-67CD-31E1946B06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92967-50D5-9EBA-74F1-2922105BC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69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We will use MIPS32/MIPS64 ISA.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instruction set architecture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RISC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reduced instruction set computer</a:t>
            </a:r>
          </a:p>
          <a:p>
            <a:r>
              <a:rPr lang="en-US" sz="1200" b="1" dirty="0"/>
              <a:t>RISC-V</a:t>
            </a:r>
            <a:r>
              <a:rPr lang="en-US" sz="1200" dirty="0"/>
              <a:t>: “risk-five” is an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open standard ISA based on RISC principles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68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Memory addressing</a:t>
            </a:r>
          </a:p>
          <a:p>
            <a:r>
              <a:rPr lang="en-US" dirty="0"/>
              <a:t>Virtually all systems (80x86, ARMv8, and RISC-V) use byte addressing to access memory operands.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ARMv8 requires that objects must be aligned.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80x86 and RISC-V do not require alignment, </a:t>
            </a:r>
            <a:br>
              <a:rPr lang="en-US" dirty="0"/>
            </a:br>
            <a:r>
              <a:rPr lang="en-US" dirty="0"/>
              <a:t>but accesses are generally faster if operands are aligned.</a:t>
            </a:r>
          </a:p>
          <a:p>
            <a:endParaRPr lang="en-US" dirty="0"/>
          </a:p>
          <a:p>
            <a:r>
              <a:rPr lang="en-US" u="sng" dirty="0"/>
              <a:t>Addressing modes</a:t>
            </a:r>
          </a:p>
          <a:p>
            <a:r>
              <a:rPr lang="en-US" dirty="0"/>
              <a:t>Addressing modes specify the address of a memory object. </a:t>
            </a:r>
          </a:p>
          <a:p>
            <a:r>
              <a:rPr lang="en-US" dirty="0"/>
              <a:t>RISC-V addressing modes are </a:t>
            </a:r>
            <a:r>
              <a:rPr lang="en-US" u="sng" dirty="0"/>
              <a:t>Register</a:t>
            </a:r>
            <a:r>
              <a:rPr lang="en-US" dirty="0"/>
              <a:t>, </a:t>
            </a:r>
            <a:r>
              <a:rPr lang="en-US" u="sng" dirty="0"/>
              <a:t>Immediate</a:t>
            </a:r>
            <a:r>
              <a:rPr lang="en-US" dirty="0"/>
              <a:t> (for constants), and </a:t>
            </a:r>
            <a:r>
              <a:rPr lang="en-US" u="sng" dirty="0"/>
              <a:t>Displacement</a:t>
            </a:r>
            <a:r>
              <a:rPr lang="en-US" dirty="0"/>
              <a:t>, </a:t>
            </a:r>
          </a:p>
          <a:p>
            <a:r>
              <a:rPr lang="en-US" dirty="0"/>
              <a:t>(constant offset is added to a register to form the memory address) </a:t>
            </a:r>
          </a:p>
          <a:p>
            <a:endParaRPr lang="en-US" dirty="0"/>
          </a:p>
          <a:p>
            <a:r>
              <a:rPr lang="en-US" u="sng" dirty="0"/>
              <a:t>Types and sizes of operands</a:t>
            </a:r>
          </a:p>
          <a:p>
            <a:r>
              <a:rPr lang="en-US" dirty="0"/>
              <a:t>Most ISAs (80x86, ARMv8, and RISC-V) support operand sizes of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8-bit (ASCII character)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16-bit (Unicode character or half word)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32-bit (integer or word)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64-bit (double word or long integer)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IEEE 754 floating point in 32-bit (single precision)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64-bit (double precision)</a:t>
            </a:r>
          </a:p>
          <a:p>
            <a:endParaRPr lang="en-US" dirty="0"/>
          </a:p>
          <a:p>
            <a:r>
              <a:rPr lang="en-US" dirty="0"/>
              <a:t>The 80x86 also supports 80-bit floating point (extended double precision).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68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Operations</a:t>
            </a:r>
          </a:p>
          <a:p>
            <a:r>
              <a:rPr lang="en-US" dirty="0"/>
              <a:t>The general categories of operations are data transfer, arithmetic logical,, and floating point. </a:t>
            </a:r>
          </a:p>
          <a:p>
            <a:r>
              <a:rPr lang="en-US" dirty="0"/>
              <a:t> (Refer to the next two slides.)</a:t>
            </a:r>
          </a:p>
          <a:p>
            <a:endParaRPr lang="en-US" dirty="0"/>
          </a:p>
          <a:p>
            <a:r>
              <a:rPr lang="en-US" u="sng" dirty="0"/>
              <a:t>Control flow instructions</a:t>
            </a:r>
          </a:p>
          <a:p>
            <a:r>
              <a:rPr lang="en-US" dirty="0"/>
              <a:t>Virtually all ISAs support conditional branches, unconditional jumps, procedure calls, and returns</a:t>
            </a:r>
          </a:p>
          <a:p>
            <a:endParaRPr lang="en-US" dirty="0"/>
          </a:p>
          <a:p>
            <a:r>
              <a:rPr lang="en-US" b="1" dirty="0"/>
              <a:t>PC-relative addressing</a:t>
            </a:r>
            <a:r>
              <a:rPr lang="en-US" dirty="0"/>
              <a:t>: branch address is specified by an address field that is added to the PC. </a:t>
            </a:r>
          </a:p>
          <a:p>
            <a:endParaRPr lang="en-US" dirty="0"/>
          </a:p>
          <a:p>
            <a:r>
              <a:rPr lang="en-US" dirty="0"/>
              <a:t>RISC-V conditional branches (BE, BNE, etc.) test the contents of registers</a:t>
            </a:r>
          </a:p>
          <a:p>
            <a:r>
              <a:rPr lang="en-US" dirty="0"/>
              <a:t>80x86 and ARMv8 branches test condition code bits set by arithmetic / logic operations</a:t>
            </a:r>
          </a:p>
          <a:p>
            <a:endParaRPr lang="en-US" dirty="0"/>
          </a:p>
          <a:p>
            <a:r>
              <a:rPr lang="en-US" dirty="0"/>
              <a:t>ARMv8 and RISC-V procedure call places the return address in a register</a:t>
            </a:r>
          </a:p>
          <a:p>
            <a:r>
              <a:rPr lang="en-US" dirty="0"/>
              <a:t>80x86 call places the return address on a stack in memory</a:t>
            </a:r>
          </a:p>
          <a:p>
            <a:endParaRPr lang="en-US" dirty="0"/>
          </a:p>
          <a:p>
            <a:r>
              <a:rPr lang="en-US" u="sng" dirty="0"/>
              <a:t>Encoding an ISA</a:t>
            </a:r>
            <a:r>
              <a:rPr lang="en-US" u="none" dirty="0"/>
              <a:t> (fixed or variable length)</a:t>
            </a:r>
          </a:p>
          <a:p>
            <a:r>
              <a:rPr lang="en-US" dirty="0"/>
              <a:t>ARMv8 and RISC-V instructions are (fixed length) 32 bits long</a:t>
            </a:r>
          </a:p>
          <a:p>
            <a:r>
              <a:rPr lang="en-US" dirty="0"/>
              <a:t>Advantage: simplifies instruction decoding</a:t>
            </a:r>
          </a:p>
          <a:p>
            <a:r>
              <a:rPr lang="en-US" dirty="0"/>
              <a:t>(Refer to slide 29)</a:t>
            </a:r>
          </a:p>
          <a:p>
            <a:endParaRPr lang="en-US" dirty="0"/>
          </a:p>
          <a:p>
            <a:r>
              <a:rPr lang="en-US" dirty="0"/>
              <a:t>80x86 encoding is variable length.</a:t>
            </a:r>
          </a:p>
          <a:p>
            <a:r>
              <a:rPr lang="en-US" dirty="0"/>
              <a:t>Advantage: can take less space than fixed-length instructions resulting in small program size.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6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Operations</a:t>
            </a:r>
          </a:p>
          <a:p>
            <a:r>
              <a:rPr lang="en-US" dirty="0"/>
              <a:t>The general categories of operations are data transfer, arithmetic logical,, and floating point. </a:t>
            </a:r>
          </a:p>
          <a:p>
            <a:r>
              <a:rPr lang="en-US" dirty="0"/>
              <a:t> (Refer to the next two slides.)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4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Operations</a:t>
            </a:r>
          </a:p>
          <a:p>
            <a:r>
              <a:rPr lang="en-US" dirty="0"/>
              <a:t>The general categories of operations are data transfer, arithmetic logical,, and floating point. </a:t>
            </a:r>
          </a:p>
          <a:p>
            <a:r>
              <a:rPr lang="en-US" dirty="0"/>
              <a:t> (Refer to the next two slides.)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288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Encoding an ISA</a:t>
            </a:r>
            <a:r>
              <a:rPr lang="en-US" u="none" dirty="0"/>
              <a:t> (fixed or variable length)</a:t>
            </a:r>
          </a:p>
          <a:p>
            <a:r>
              <a:rPr lang="en-US" dirty="0"/>
              <a:t>ARMv8 and RISC-V instructions are (fixed length) 32 bits long</a:t>
            </a:r>
          </a:p>
          <a:p>
            <a:r>
              <a:rPr lang="en-US" dirty="0"/>
              <a:t>Advantage: simplifies instruction decoding</a:t>
            </a:r>
          </a:p>
          <a:p>
            <a:r>
              <a:rPr lang="en-US" dirty="0"/>
              <a:t>(Refer to slide 29)</a:t>
            </a:r>
          </a:p>
          <a:p>
            <a:endParaRPr lang="en-US" dirty="0"/>
          </a:p>
          <a:p>
            <a:r>
              <a:rPr lang="en-US" dirty="0"/>
              <a:t>80x86 encoding is variable length.</a:t>
            </a:r>
          </a:p>
          <a:p>
            <a:r>
              <a:rPr lang="en-US" dirty="0"/>
              <a:t>Advantage: can take less space than fixed-length instructions resulting in small program size.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7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We will use MIPS32/MIPS64 ISA.</a:t>
            </a:r>
            <a:endParaRPr lang="en-US" dirty="0"/>
          </a:p>
          <a:p>
            <a:endParaRPr lang="en-US" b="1" dirty="0">
              <a:effectLst/>
            </a:endParaRPr>
          </a:p>
          <a:p>
            <a:r>
              <a:rPr lang="en-US" b="1" dirty="0">
                <a:effectLst/>
              </a:rPr>
              <a:t>MIPS: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Microprocessor without Interlocked Pipeline Stages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</a:t>
            </a:r>
            <a:r>
              <a:rPr lang="en-US" dirty="0">
                <a:effectLst/>
              </a:rPr>
              <a:t>MIPS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ISA is a family of RISC architectures.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RISC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reduced instruction set computer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R3000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is a 32-bit RISC microprocessor chipset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developed by MIPS Computer Systems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that implemented the MIPS I instruction set architecture (ISA)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GPR: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general purpose registers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HI and LO: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used to hold the results of multiplication and division operation</a:t>
            </a:r>
          </a:p>
          <a:p>
            <a:endParaRPr lang="en-US" b="0" dirty="0"/>
          </a:p>
          <a:p>
            <a:r>
              <a:rPr lang="en-US" b="0" dirty="0"/>
              <a:t>LUI: load upper immediate</a:t>
            </a:r>
          </a:p>
          <a:p>
            <a:endParaRPr lang="en-US" b="0" dirty="0"/>
          </a:p>
          <a:p>
            <a:r>
              <a:rPr lang="en-US" b="0" dirty="0"/>
              <a:t>SLL: shift left logical</a:t>
            </a:r>
          </a:p>
          <a:p>
            <a:r>
              <a:rPr lang="en-US" b="0" dirty="0"/>
              <a:t>SRL: shift right logical</a:t>
            </a:r>
          </a:p>
          <a:p>
            <a:endParaRPr lang="en-US" b="0" dirty="0"/>
          </a:p>
          <a:p>
            <a:r>
              <a:rPr lang="en-US" sz="1200" spc="-9" dirty="0">
                <a:latin typeface="Calibri"/>
                <a:cs typeface="Calibri"/>
              </a:rPr>
              <a:t>BLEZ: branch on less than or equal to zero</a:t>
            </a:r>
          </a:p>
          <a:p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2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We will use MIPS32/MIPS64 ISA.</a:t>
            </a:r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111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 will use MIPS32/MIPS64 ISA.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R-type: </a:t>
            </a:r>
            <a:r>
              <a:rPr lang="en-US" dirty="0"/>
              <a:t>Register instructions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register-to-register operations such as arithmetic and logical functions where all operands are registers</a:t>
            </a:r>
            <a:endParaRPr lang="en-US" b="0" dirty="0"/>
          </a:p>
          <a:p>
            <a:endParaRPr lang="en-US" dirty="0"/>
          </a:p>
          <a:p>
            <a:r>
              <a:rPr lang="en-US" b="1" dirty="0"/>
              <a:t>I-type: </a:t>
            </a:r>
            <a:r>
              <a:rPr lang="en-US" dirty="0"/>
              <a:t>Immediate instructions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16-bit immediate value are used for operations like arithmetic with constants, loading/storing memory, and branching</a:t>
            </a:r>
          </a:p>
          <a:p>
            <a:endParaRPr lang="en-US" dirty="0"/>
          </a:p>
          <a:p>
            <a:r>
              <a:rPr lang="en-US" b="1" dirty="0"/>
              <a:t>J-type: </a:t>
            </a:r>
            <a:r>
              <a:rPr lang="en-US" dirty="0"/>
              <a:t>Jump instructions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used for control flow via jumps</a:t>
            </a:r>
          </a:p>
          <a:p>
            <a:endParaRPr lang="en-US" dirty="0"/>
          </a:p>
          <a:p>
            <a:r>
              <a:rPr lang="en-US" b="1" dirty="0"/>
              <a:t>FR:</a:t>
            </a:r>
            <a:r>
              <a:rPr lang="en-US" dirty="0"/>
              <a:t> floating-point operations</a:t>
            </a:r>
          </a:p>
          <a:p>
            <a:endParaRPr lang="en-US" dirty="0"/>
          </a:p>
          <a:p>
            <a:r>
              <a:rPr lang="en-US" b="1" dirty="0"/>
              <a:t>FI:</a:t>
            </a:r>
            <a:r>
              <a:rPr lang="en-US" dirty="0"/>
              <a:t> floating-point branches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69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We will use MIPS32/MIPS64 ISA.</a:t>
            </a:r>
            <a:endParaRPr lang="en-US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012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SLTU: Set on less than unsigned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15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https://dannyqiu.me/mips-interpreter/</a:t>
            </a:r>
          </a:p>
          <a:p>
            <a:endParaRPr lang="en-US" dirty="0"/>
          </a:p>
          <a:p>
            <a:r>
              <a:rPr lang="en-US" dirty="0" err="1"/>
              <a:t>addiu</a:t>
            </a:r>
            <a:r>
              <a:rPr lang="en-US" dirty="0"/>
              <a:t> $5, $0, -25</a:t>
            </a:r>
          </a:p>
          <a:p>
            <a:r>
              <a:rPr lang="en-US" dirty="0"/>
              <a:t>$5: -25 (0xffffffe7)</a:t>
            </a:r>
          </a:p>
          <a:p>
            <a:r>
              <a:rPr lang="en-US" dirty="0" err="1"/>
              <a:t>addiu</a:t>
            </a:r>
            <a:r>
              <a:rPr lang="en-US" dirty="0"/>
              <a:t> $6, $0, 25</a:t>
            </a:r>
          </a:p>
          <a:p>
            <a:r>
              <a:rPr lang="en-US" dirty="0"/>
              <a:t>$6: 25 (0x00000019)</a:t>
            </a:r>
          </a:p>
          <a:p>
            <a:r>
              <a:rPr lang="en-US" dirty="0" err="1"/>
              <a:t>slt</a:t>
            </a:r>
            <a:r>
              <a:rPr lang="en-US" dirty="0"/>
              <a:t> $7, $5, $6</a:t>
            </a:r>
          </a:p>
          <a:p>
            <a:r>
              <a:rPr lang="en-US" dirty="0"/>
              <a:t>$7: 1 (0x00000001)</a:t>
            </a:r>
          </a:p>
          <a:p>
            <a:r>
              <a:rPr lang="en-US" dirty="0" err="1"/>
              <a:t>sltu</a:t>
            </a:r>
            <a:r>
              <a:rPr lang="en-US" dirty="0"/>
              <a:t> $7, $5, $6</a:t>
            </a:r>
          </a:p>
          <a:p>
            <a:r>
              <a:rPr lang="en-US" dirty="0"/>
              <a:t>$7: 0 (0x00000000)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098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1C354AD5-CB6C-491A-86DA-B01BB1DA6843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41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1.4</a:t>
            </a:r>
          </a:p>
          <a:p>
            <a:endParaRPr lang="en-AU" dirty="0"/>
          </a:p>
          <a:p>
            <a:r>
              <a:rPr lang="en-US" dirty="0"/>
              <a:t>An ISA must be designed to survive rapid changes in computer technology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being aware of rapid changes in implementation technology, </a:t>
            </a:r>
          </a:p>
          <a:p>
            <a:r>
              <a:rPr lang="en-US" dirty="0"/>
              <a:t>A designer can plan for technology changes that can increase the lifetime of a successful computer</a:t>
            </a:r>
          </a:p>
          <a:p>
            <a:endParaRPr lang="en-US" dirty="0"/>
          </a:p>
          <a:p>
            <a:r>
              <a:rPr lang="en-US" dirty="0"/>
              <a:t>Five implementation technologies are critical to modern implementations: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Integrated circuit logic technology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Dynamic random-access 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Semiconductor Flash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Magnetic disk technology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Network technology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53463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05DBCDA-8486-4A61-AF34-B248D509BB23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42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Bandwidth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total amount of work done in a given time</a:t>
            </a:r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maximum rate of data transfer across a given path</a:t>
            </a:r>
          </a:p>
          <a:p>
            <a:endParaRPr lang="en-AU" dirty="0"/>
          </a:p>
          <a:p>
            <a:r>
              <a:rPr lang="en-US" b="1" dirty="0"/>
              <a:t>Latency</a:t>
            </a:r>
            <a:r>
              <a:rPr lang="en-US" dirty="0"/>
              <a:t>: 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time between the start and the completion of an event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delay before a transfer of data begins following an instruction for its transfer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2934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Key insight:</a:t>
            </a:r>
          </a:p>
          <a:p>
            <a:r>
              <a:rPr lang="en-US" dirty="0"/>
              <a:t>Bandwidth has outpaced latency across these technologies and will likely continue to do so. </a:t>
            </a:r>
          </a:p>
          <a:p>
            <a:r>
              <a:rPr lang="en-US" dirty="0"/>
              <a:t>A simple rule of thumb is that bandwidth grows by at least the square of the improvement in latency.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087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1E381A1-3897-42F4-8CDB-DD9550178870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44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5286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2054041-EEE1-4227-965F-DC2D19F0AD30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45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1.5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99623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747686A5-5EF2-46AB-9064-1FA9A34D0C66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46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0603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F8545A85-C36E-4A12-8CE8-BAC7F1B0BF8A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4826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DB11346-78A8-49A3-97AC-47C7F0A01256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48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95454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42B9125-DC35-41DE-9172-1744FEF9173D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49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2456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11B9752-CC17-46F8-B60D-509F2267AB5C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51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1.6</a:t>
            </a:r>
          </a:p>
          <a:p>
            <a:endParaRPr lang="en-AU" dirty="0"/>
          </a:p>
          <a:p>
            <a:r>
              <a:rPr lang="en-US" u="sng" dirty="0"/>
              <a:t>Major theme in the industry: </a:t>
            </a:r>
          </a:p>
          <a:p>
            <a:r>
              <a:rPr lang="en-US" dirty="0"/>
              <a:t>Lower costs while increasing performance</a:t>
            </a:r>
          </a:p>
          <a:p>
            <a:endParaRPr lang="en-AU" dirty="0"/>
          </a:p>
          <a:p>
            <a:r>
              <a:rPr lang="en-US" dirty="0"/>
              <a:t>The underlying principle that drives costs down is </a:t>
            </a:r>
          </a:p>
          <a:p>
            <a:r>
              <a:rPr lang="en-US" dirty="0"/>
              <a:t>the learning curve manufacturing costs decrease over time, best measured by change in yield</a:t>
            </a:r>
          </a:p>
          <a:p>
            <a:endParaRPr lang="en-US" dirty="0"/>
          </a:p>
          <a:p>
            <a:r>
              <a:rPr lang="en-US" b="1" dirty="0"/>
              <a:t>Yield</a:t>
            </a:r>
            <a:r>
              <a:rPr lang="en-US" dirty="0"/>
              <a:t>: the percentage of manufactured devices that survives the testing procedure</a:t>
            </a:r>
          </a:p>
          <a:p>
            <a:endParaRPr lang="en-US" dirty="0"/>
          </a:p>
          <a:p>
            <a:r>
              <a:rPr lang="en-US" dirty="0"/>
              <a:t>Understanding how the learning curve improves yield is critical to projecting costs over a product’s life. </a:t>
            </a:r>
          </a:p>
          <a:p>
            <a:endParaRPr lang="en-US" dirty="0"/>
          </a:p>
          <a:p>
            <a:r>
              <a:rPr lang="en-US" u="sng" dirty="0"/>
              <a:t>DRAM:</a:t>
            </a:r>
          </a:p>
          <a:p>
            <a:r>
              <a:rPr lang="en-US" dirty="0"/>
              <a:t>Price per megabyte of DRAM has dropped over the long term</a:t>
            </a:r>
          </a:p>
          <a:p>
            <a:r>
              <a:rPr lang="en-US" dirty="0"/>
              <a:t>DRAM prices tend to track closely to manufacturing cost</a:t>
            </a:r>
          </a:p>
          <a:p>
            <a:endParaRPr lang="en-AU" dirty="0"/>
          </a:p>
          <a:p>
            <a:r>
              <a:rPr lang="en-US" u="sng" dirty="0"/>
              <a:t>Microprocessor</a:t>
            </a:r>
            <a:r>
              <a:rPr lang="en-US" dirty="0"/>
              <a:t> prices also drop over time,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But price tends to track cost closely in a period of significant competition</a:t>
            </a:r>
          </a:p>
          <a:p>
            <a:r>
              <a:rPr lang="en-US" dirty="0"/>
              <a:t>Generally, price depends on volume in determining cost.</a:t>
            </a:r>
          </a:p>
          <a:p>
            <a:endParaRPr lang="en-US" dirty="0"/>
          </a:p>
          <a:p>
            <a:r>
              <a:rPr lang="en-US" dirty="0"/>
              <a:t>As a rule of thumb, some designers have estimated that</a:t>
            </a:r>
          </a:p>
          <a:p>
            <a:r>
              <a:rPr lang="en-US" dirty="0"/>
              <a:t>costs decrease about 10% for each doubling of volume.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5116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How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Crucial server memory (DRAM) is made</a:t>
            </a:r>
            <a:endParaRPr lang="en-US" dirty="0"/>
          </a:p>
          <a:p>
            <a:r>
              <a:rPr lang="en-US" dirty="0"/>
              <a:t>https://www.youtube.com/watch?v=pE6NuyMEey4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1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D12A10AC-6982-4C46-8F14-976F043F4720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54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42874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AdvOTab62ddd1"/>
              </a:rPr>
              <a:t>&gt;&gt;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How do we decide when a system is operating properly.?</a:t>
            </a:r>
          </a:p>
          <a:p>
            <a:pPr algn="l"/>
            <a:endParaRPr lang="en-US" sz="1800" b="0" i="0" u="none" strike="noStrike" baseline="0" dirty="0">
              <a:latin typeface="AdvOTab62ddd1"/>
            </a:endParaRP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With the rise in internet services,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infrastructure providers started offering </a:t>
            </a:r>
            <a:r>
              <a:rPr lang="en-US" sz="1800" b="1" i="0" u="none" strike="noStrike" baseline="0" dirty="0">
                <a:latin typeface="AdvOTc0286d31.I"/>
              </a:rPr>
              <a:t>service level agreements </a:t>
            </a:r>
            <a:r>
              <a:rPr lang="en-US" sz="1800" b="1" i="0" u="none" strike="noStrike" baseline="0" dirty="0">
                <a:latin typeface="AdvOTab62ddd1"/>
              </a:rPr>
              <a:t>(SLAs) 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to guarantee that their networking or power service would be dependable.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Two states of service:</a:t>
            </a:r>
          </a:p>
          <a:p>
            <a:pPr algn="l"/>
            <a:r>
              <a:rPr lang="en-US" dirty="0"/>
              <a:t>…</a:t>
            </a:r>
          </a:p>
          <a:p>
            <a:pPr algn="l"/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518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 </a:t>
            </a:r>
          </a:p>
          <a:p>
            <a:r>
              <a:rPr lang="en-US" dirty="0"/>
              <a:t>= 10 x 1/10^6 + 1/500,000 + 1/200,000 + 1/200,000 + 1/10^6</a:t>
            </a:r>
          </a:p>
          <a:p>
            <a:r>
              <a:rPr lang="en-US" dirty="0"/>
              <a:t>= (10 + 2 + 5 + 5 + 1) / 10^6 = 23 / 10^6</a:t>
            </a:r>
          </a:p>
          <a:p>
            <a:r>
              <a:rPr lang="en-US" dirty="0"/>
              <a:t>= 23,000 / 10^9     (23,000 FIT)</a:t>
            </a:r>
          </a:p>
          <a:p>
            <a:endParaRPr lang="en-US" dirty="0"/>
          </a:p>
          <a:p>
            <a:r>
              <a:rPr lang="en-US" dirty="0"/>
              <a:t>MTTF</a:t>
            </a:r>
          </a:p>
          <a:p>
            <a:r>
              <a:rPr lang="en-US" dirty="0"/>
              <a:t>= 1 / FIT</a:t>
            </a:r>
          </a:p>
          <a:p>
            <a:r>
              <a:rPr lang="en-US" dirty="0"/>
              <a:t>= 10^9 / 23,000</a:t>
            </a:r>
          </a:p>
          <a:p>
            <a:r>
              <a:rPr lang="en-US" dirty="0"/>
              <a:t>~ 43,500 hours or 5 years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16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A3AABA4-3639-4697-ACC5-3220CCE21E9A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60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1.8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52286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SPEC (Standard Performance Evaluation Corporation) </a:t>
            </a:r>
          </a:p>
          <a:p>
            <a:r>
              <a:rPr lang="en-US" dirty="0"/>
              <a:t>uses these ratios and a geometric mean to </a:t>
            </a:r>
          </a:p>
          <a:p>
            <a:r>
              <a:rPr lang="en-US" dirty="0"/>
              <a:t>provide a single performance number for a suite of benchmarks, </a:t>
            </a:r>
          </a:p>
          <a:p>
            <a:r>
              <a:rPr lang="en-US" dirty="0"/>
              <a:t>enabling standardized comparison of different computer systems. 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781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727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Harmonic mean = n / instructions per second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741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&gt;&gt;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SPEC ratio is a performance metric calculated by 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dividing the execution time of a benchmark on a reference machine 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by its execution time on an examined system. </a:t>
            </a:r>
          </a:p>
          <a:p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56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A5A4FE0A-41B8-47C4-9B38-CA5370AB885F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77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1.9</a:t>
            </a:r>
          </a:p>
          <a:p>
            <a:endParaRPr lang="en-AU" dirty="0"/>
          </a:p>
          <a:p>
            <a:r>
              <a:rPr lang="en-US" sz="1200" b="1" spc="-18" dirty="0">
                <a:solidFill>
                  <a:srgbClr val="FF0000"/>
                </a:solidFill>
                <a:latin typeface="+mn-lt"/>
                <a:cs typeface="Calibri"/>
              </a:rPr>
              <a:t>Amdahl's</a:t>
            </a:r>
            <a:r>
              <a:rPr lang="en-US" sz="1200" b="1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1200" b="1" spc="-22" dirty="0">
                <a:solidFill>
                  <a:srgbClr val="FF0000"/>
                </a:solidFill>
                <a:latin typeface="+mn-lt"/>
                <a:cs typeface="Calibri"/>
              </a:rPr>
              <a:t>law</a:t>
            </a:r>
            <a:r>
              <a:rPr lang="en-AU" sz="1200" b="0" i="0" spc="-22" dirty="0">
                <a:solidFill>
                  <a:srgbClr val="FF0000"/>
                </a:solidFill>
                <a:effectLst/>
                <a:latin typeface="+mn-lt"/>
                <a:cs typeface="Calibri"/>
              </a:rPr>
              <a:t> </a:t>
            </a:r>
          </a:p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describes the theoretical maximum speedup of a task when a portion of the task is enhanced (e.g. parallelized)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66140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 = 1 / [(1 – 0.4) + (0.4 / 10)] = 1 / 0.64 = 1.56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38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Speedup = 2</a:t>
            </a:r>
          </a:p>
          <a:p>
            <a:r>
              <a:rPr lang="en-US" dirty="0"/>
              <a:t>Speedup factor = 5</a:t>
            </a:r>
          </a:p>
          <a:p>
            <a:endParaRPr lang="en-US" dirty="0"/>
          </a:p>
          <a:p>
            <a:r>
              <a:rPr lang="en-US" dirty="0"/>
              <a:t>2 = 1 / [(1- f) + (f / 5)]</a:t>
            </a:r>
          </a:p>
          <a:p>
            <a:r>
              <a:rPr lang="en-US" dirty="0"/>
              <a:t>2 * [(1 – f) + (f / 5)] = 1</a:t>
            </a:r>
          </a:p>
          <a:p>
            <a:r>
              <a:rPr lang="en-US" dirty="0"/>
              <a:t>2 – 2f + 2f/5 = 1</a:t>
            </a:r>
          </a:p>
          <a:p>
            <a:r>
              <a:rPr lang="en-US" dirty="0"/>
              <a:t>1 = 2f – 2f/5</a:t>
            </a:r>
          </a:p>
          <a:p>
            <a:r>
              <a:rPr lang="en-US" dirty="0"/>
              <a:t>1 = f * (8/5)</a:t>
            </a:r>
          </a:p>
          <a:p>
            <a:r>
              <a:rPr lang="en-US" dirty="0"/>
              <a:t>f = 5/8 = 62.5%</a:t>
            </a:r>
          </a:p>
          <a:p>
            <a:endParaRPr lang="en-US" dirty="0"/>
          </a:p>
          <a:p>
            <a:r>
              <a:rPr lang="en-US" dirty="0"/>
              <a:t>So, the answer is C.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00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1:</a:t>
            </a:r>
          </a:p>
          <a:p>
            <a:r>
              <a:rPr lang="en-US" dirty="0"/>
              <a:t>Speedup = 1 / (0.9 + 0.1 / 20) = 1.105</a:t>
            </a:r>
          </a:p>
          <a:p>
            <a:endParaRPr lang="en-US" dirty="0"/>
          </a:p>
          <a:p>
            <a:r>
              <a:rPr lang="en-US" dirty="0"/>
              <a:t>Option 2:</a:t>
            </a:r>
          </a:p>
          <a:p>
            <a:r>
              <a:rPr lang="en-US" dirty="0"/>
              <a:t>Speedup – 1 / (0.6 + 0.4 / 2) = 1.25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589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1D08-1F8C-8517-0E22-B03FA31F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D85D36F-4463-ACA0-C3FE-457FF61B23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85D831A-8BF3-58D3-D273-D2290C138A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C1AE55C-9EED-47B5-873E-8CC2F73085AF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CC25A4-A462-10CF-61CD-28AA933522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75FE1C2-30B8-4633-D550-2ECB87C91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88</a:t>
            </a:fld>
            <a:endParaRPr lang="en-US"/>
          </a:p>
        </p:txBody>
      </p: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EEC52267-F706-4FDD-76A7-879CBDFCB2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4D7B95A3-2CF2-0D99-00B9-8E63FFA11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34051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Clock cycle:</a:t>
            </a:r>
          </a:p>
          <a:p>
            <a:r>
              <a:rPr lang="en-US" dirty="0"/>
              <a:t>Is the basic unit of time in a computer's central processing unit (CPU)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Clock cycle time: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(or clock period)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 the time interval between consecutive rising edges of a repetitive clock signal in a digital system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b="1" dirty="0">
                <a:effectLst/>
              </a:rPr>
              <a:t>Clock rate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(also known as clock speed or clock frequency)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 the rate at which a computer's central processing unit (CPU) executes instructions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Clock rate: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3.3GHz = 3.3 x 10^9 cycles per second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Clock cycle time: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 / 3.3GHz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= (1 / 3.3 x 10^9) seconds per cycle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= (10^-9 / 3.3) seconds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= (1 / 3.3) nanoseconds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~= 0.303 ns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1.1GHz: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 / 1.1GHz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= 1 / 1.1 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~= 0.909 ns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825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D28B-07FB-ECDB-07E7-6F14D14C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E7D7E95-1D74-1127-9CAF-1FB9C09698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FCC459-F16D-462B-C2D0-6CF2F4CE542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C1AE55C-9EED-47B5-873E-8CC2F73085AF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A2C85-8D10-4FC9-F2B0-28466BB207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151A243-A755-B9D8-332D-44FA2B3DC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90</a:t>
            </a:fld>
            <a:endParaRPr lang="en-US"/>
          </a:p>
        </p:txBody>
      </p: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6FC6D89E-B990-2D1F-8879-8AC09F3303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75EFA9E2-A032-3125-FA67-3A2F710ED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CPU time: </a:t>
            </a:r>
            <a:r>
              <a:rPr lang="en-US" dirty="0"/>
              <a:t>(or process time)</a:t>
            </a:r>
          </a:p>
          <a:p>
            <a:r>
              <a:rPr lang="en-US" dirty="0"/>
              <a:t>Is the amount of time that a CPU was used for processing instructions of a computer program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6460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0A6F-FFF3-AB47-D2AE-EA42885B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4B3FE-7515-3C99-E167-6719E9444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47837-DFC6-56FA-E652-5E479E76E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Clock cycle:</a:t>
            </a:r>
          </a:p>
          <a:p>
            <a:r>
              <a:rPr lang="en-US" dirty="0"/>
              <a:t>Is the basic unit of time in a computer's central processing unit (CPU)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Clock cycle time: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(or clock period)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 the time interval between consecutive rising edges of a repetitive clock signal in a digital system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en-US" b="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509309-CC39-971C-A9AA-E509D6E6EB4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A258-5DB6-79E6-8E6E-7BED7C5EB60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24D49-4024-9190-EDFD-263B0CB1EA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3322-4C1D-725A-618F-F792361135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0244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5D40523B-4C82-49F6-AECE-7BCDAFBE526A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92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27348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1DA0-18F9-829D-7C9D-9EA0816B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2AB727F-55DE-6858-D9FB-95CB7A38BA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8BA729F-9B5F-CE73-C76D-85FFD7343A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9C1AE55C-9EED-47B5-873E-8CC2F73085AF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91BB3B-8D6F-F171-E0D3-5BC5FDAC028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3C828555-2278-FA2E-A298-A75B11E2E6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93</a:t>
            </a:fld>
            <a:endParaRPr lang="en-US"/>
          </a:p>
        </p:txBody>
      </p: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9BE7C3C1-106A-2D85-CDB4-D7BA986665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426BEBD5-8E1B-8AB0-66CF-341AD87D9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2766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CPI_original</a:t>
            </a:r>
            <a:r>
              <a:rPr lang="en-US" dirty="0"/>
              <a:t> </a:t>
            </a:r>
          </a:p>
          <a:p>
            <a:r>
              <a:rPr lang="en-US" dirty="0"/>
              <a:t>= (4 x 25%) + (1.33 x 75%) = 2.0</a:t>
            </a:r>
          </a:p>
          <a:p>
            <a:endParaRPr lang="en-US" dirty="0"/>
          </a:p>
          <a:p>
            <a:r>
              <a:rPr lang="en-US" dirty="0" err="1"/>
              <a:t>CPI_with_new_FPSQR</a:t>
            </a:r>
            <a:r>
              <a:rPr lang="en-US" dirty="0"/>
              <a:t> </a:t>
            </a:r>
          </a:p>
          <a:p>
            <a:r>
              <a:rPr lang="en-US" dirty="0"/>
              <a:t>= 2.0 – 2% x (20 – 2) = 1.64</a:t>
            </a:r>
          </a:p>
          <a:p>
            <a:endParaRPr lang="en-US" dirty="0"/>
          </a:p>
          <a:p>
            <a:r>
              <a:rPr lang="en-US" dirty="0" err="1"/>
              <a:t>CPI_new_FP</a:t>
            </a:r>
            <a:r>
              <a:rPr lang="en-US" dirty="0"/>
              <a:t> </a:t>
            </a:r>
          </a:p>
          <a:p>
            <a:r>
              <a:rPr lang="en-US" dirty="0"/>
              <a:t>= (75% x 1.33) + (25% x 2.5) = 1.625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338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set-associative cache</a:t>
            </a:r>
            <a:r>
              <a:rPr lang="en-US" dirty="0"/>
              <a:t>:</a:t>
            </a:r>
          </a:p>
          <a:p>
            <a:r>
              <a:rPr lang="en-US" dirty="0"/>
              <a:t>Is a computer memory cache that organizes data into sets, </a:t>
            </a:r>
          </a:p>
          <a:p>
            <a:r>
              <a:rPr lang="en-US" dirty="0"/>
              <a:t>where each set contains multiple cache lines (or blocks)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Carry-lookahead: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Is </a:t>
            </a:r>
            <a:r>
              <a:rPr lang="en-US" dirty="0"/>
              <a:t>a technique for speeding up adders within an ALU by pre-calculating carry bits in parallel</a:t>
            </a:r>
          </a:p>
          <a:p>
            <a:endParaRPr lang="en-US" dirty="0"/>
          </a:p>
          <a:p>
            <a:r>
              <a:rPr lang="en-US" b="1" dirty="0"/>
              <a:t>ALU</a:t>
            </a:r>
            <a:r>
              <a:rPr lang="en-US" dirty="0"/>
              <a:t>: Arithmetic Logic Unit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479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9DCEE-C5B0-24BC-1E4C-B52EF3F4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B02BB27-2C3B-1735-BECE-AEEE76862B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9EB4B8-668D-209E-4BEA-A99CD3EB5FF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405DBCDA-8486-4A61-AF34-B248D509BB23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002DA5-7AB0-AB3F-5F04-1E7E1DB148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33AB6D2-D7AE-BA53-4C67-EAD073E8B0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100</a:t>
            </a:fld>
            <a:endParaRPr lang="en-US"/>
          </a:p>
        </p:txBody>
      </p:sp>
      <p:sp>
        <p:nvSpPr>
          <p:cNvPr id="243714" name="Rectangle 2">
            <a:extLst>
              <a:ext uri="{FF2B5EF4-FFF2-40B4-BE49-F238E27FC236}">
                <a16:creationId xmlns:a16="http://schemas.microsoft.com/office/drawing/2014/main" id="{25DB27A8-05D7-5890-D69B-183DCAFCBA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9ADDEF68-89E2-F2ED-BF32-0BC7BF6A8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Bandwidth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total amount of work done in a given time</a:t>
            </a:r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maximum rate of data transfer across a given path</a:t>
            </a:r>
          </a:p>
          <a:p>
            <a:endParaRPr lang="en-AU" dirty="0"/>
          </a:p>
          <a:p>
            <a:r>
              <a:rPr lang="en-US" b="1" dirty="0"/>
              <a:t>Latency</a:t>
            </a:r>
            <a:r>
              <a:rPr lang="en-US" dirty="0"/>
              <a:t>: 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time between the start and the completion of an event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delay before a transfer of data begins following an instruction for its transfer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8150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9EF6-08C8-9272-0F92-5C669E79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3C2CD-E453-6D12-AC13-6A03FBA58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BA57B-2099-1DF1-8EBF-8DD8B5A51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Bandwidth improvements have consistently outpaced latency improvements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across various technologies like microprocessors, memory, networks, and disks over the past several decades.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DACE3AF-4C68-2630-3551-36455468386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2A29A-04B6-732C-9203-D281E7A4557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9C057-5B87-3592-1DE3-5DD94B2A87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B1C88-A7B8-4271-EFD9-9245BB5BE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147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Bandwidth improvements have consistently outpaced latency improvements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across various technologies like microprocessors, memory, networks, and disks over the past several decades.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256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This trend is captured by a rule of thumb stating that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 the time it takes for bandwidth to double,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latency improves by only a factor of 1.2 to 1.4.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dirty="0"/>
              <a:t>1.4^2 = 1.96 vs. 2.0 for bandwidth improvement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3380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This imbalance occurs because bandwidth benefits more directly from Moore's Law,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which drives faster transistors and more parallel processing,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while physical constraints like distance and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speed of light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impose fundamental limits on how much latency can be reduced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… characterized by: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Faster, smaller, more transistors and pins improves bandwidth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Larger chip size leads to longer lines in communication which limits latency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401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physical distance within a </a:t>
            </a:r>
            <a:r>
              <a:rPr lang="en-US" dirty="0">
                <a:effectLst/>
              </a:rPr>
              <a:t>DRAM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chip significantly limits latency,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as the size of the DRAM block results in long bit and word lines,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which contribute substantially to the overall access time.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relationship between latency and bandwidth improvements is not symmetric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since technology improvements that reduce latency generally also improve bandwidth.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Increased capacitance slows down signal propagation, leading to longer access latencies.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However, improvements that increase bandwidth do not always reduce latency.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(e.g. increasing the linear density of bits per inch on a disk track)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126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 significant factor contributing to this imbalance is the marketing advantage of bandwidth.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It is generally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easier to sell higher bandwidth than lower latency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because the benefits of increased data transfer capacity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are more intuitive and tangible to customers.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This ease of marketing leads to higher demand for bandwidth,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which in turn results in engineering resources being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disproportionately allocated to improving bandwidth.</a:t>
            </a:r>
          </a:p>
          <a:p>
            <a:endParaRPr lang="en-US" dirty="0"/>
          </a:p>
          <a:p>
            <a:r>
              <a:rPr lang="en-US" dirty="0"/>
              <a:t>This becomes a self reenforcing cycle that </a:t>
            </a:r>
          </a:p>
          <a:p>
            <a:r>
              <a:rPr lang="en-US" dirty="0"/>
              <a:t>drives bandwidth improvements at the expense of latency.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04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relationship is that improvements in </a:t>
            </a:r>
          </a:p>
          <a:p>
            <a:r>
              <a:rPr lang="en-US" dirty="0"/>
              <a:t>latency generally enhance bandwidth, but not the reverse.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Spinning a disk faster reduces rotational latency and bandwidth.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0927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Bandwidth can hurt latency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Queue buffers: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which help increase bandwidth by managing data flow,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inherently increase latency by causing data to wait in queues.</a:t>
            </a:r>
          </a:p>
          <a:p>
            <a:endParaRPr lang="en-US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Algorithms designed to maximize bandwidth often create conditions where latency is high due to queuing.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Adding more chips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to a memory module increases parallelism and therefore improves bandwidth,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but the higher fan-out on address lines can lead to increased signal delays,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thereby worsening latency.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6190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overhead associated with a general-purpose OS like Windows,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such as the time spent managing multiple processes and handling interrupts,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directly contributes to both variations in latency (causing unpredictable delays) and increased latency.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overhead does not significantly impact the maximum data transfer capacity (bandwidth)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but severely affects the predictability and speed of individual operations,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thereby degrading latency performance.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0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The transition from sequential to parallel computing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marks a pivotal moment in computer architecture,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demanding innovation across multiple domains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to overcome inherent limitations.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This shift necessitates a focus on exploiting parallelism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as the primary driver for performance improvement.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Computer architects must now prioritize extracting and utilizing various forms of parallelism.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Rise of: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Domain-specific architectures (DSAs)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Hardware accelerators, (e.g. Tensor Processing Units or TPUs)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needed for optimized performance and energy efficiency in specific tasks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2864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1.11</a:t>
            </a:r>
          </a:p>
          <a:p>
            <a:pPr algn="l"/>
            <a:endParaRPr lang="en-US" sz="1200" b="0" i="0" u="none" strike="noStrike" baseline="0" dirty="0">
              <a:latin typeface="Times New Roman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Dennard scaling ended 30 years after it was observed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not because transistors didn</a:t>
            </a:r>
            <a:r>
              <a:rPr lang="en-US" sz="1800" b="0" i="0" u="none" strike="noStrike" baseline="0" dirty="0">
                <a:latin typeface="AdvOTab62ddd1+20"/>
              </a:rPr>
              <a:t>’</a:t>
            </a:r>
            <a:r>
              <a:rPr lang="en-US" sz="1800" b="0" i="0" u="none" strike="noStrike" baseline="0" dirty="0">
                <a:latin typeface="AdvOTab62ddd1"/>
              </a:rPr>
              <a:t>t continue to get smaller but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because integrated circuit dependability limited how far current and voltage could drop.</a:t>
            </a:r>
          </a:p>
          <a:p>
            <a:pPr algn="l"/>
            <a:endParaRPr lang="en-US" sz="1800" b="0" i="0" u="none" strike="noStrike" baseline="0" dirty="0">
              <a:latin typeface="AdvOTab62ddd1"/>
            </a:endParaRPr>
          </a:p>
          <a:p>
            <a:pPr algn="l"/>
            <a:r>
              <a:rPr lang="en-US" dirty="0"/>
              <a:t>…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2838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none" dirty="0"/>
              <a:t>…</a:t>
            </a:r>
          </a:p>
          <a:p>
            <a:endParaRPr lang="en-US" u="sng" dirty="0"/>
          </a:p>
          <a:p>
            <a:r>
              <a:rPr lang="en-US" u="sng" dirty="0"/>
              <a:t>"Falling prey to Amdahl's Law"</a:t>
            </a:r>
          </a:p>
          <a:p>
            <a:r>
              <a:rPr lang="en-US" dirty="0"/>
              <a:t>means experiencing the diminishing returns of parallel computing due to a program's inherently sequential portions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Focusing exclusively on parallelization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Adding more hardware without optimizing code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Assuming a fixed workload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i="0" u="sng" dirty="0"/>
              <a:t>Single point of failure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0" i="0" u="none" strike="noStrike" baseline="0" dirty="0">
                <a:latin typeface="AdvOTab62ddd1"/>
              </a:rPr>
              <a:t>dependability is no stronger than the weakest link in a chain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0" i="0" u="none" strike="noStrike" baseline="0" dirty="0">
              <a:latin typeface="AdvOTab62ddd1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476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0" i="0" u="sng" dirty="0"/>
              <a:t>Single point of failure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baseline="0" dirty="0">
                <a:latin typeface="AdvOTab62ddd1"/>
              </a:rPr>
              <a:t>dependability is no stronger than the weakest link in a chain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30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pPr algn="l"/>
            <a:r>
              <a:rPr lang="en-US" sz="1800" b="0" i="0" u="sng" strike="noStrike" baseline="0" dirty="0">
                <a:latin typeface="AdvOT65f8a23b.I"/>
              </a:rPr>
              <a:t>Fault detection can lower availability</a:t>
            </a:r>
            <a:r>
              <a:rPr lang="en-US" sz="1800" b="0" i="0" u="sng" strike="noStrike" baseline="0" dirty="0">
                <a:latin typeface="AdvOT46dcae81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This apparently ironic pitfall is because computer hardware has a fair amount of</a:t>
            </a:r>
          </a:p>
          <a:p>
            <a:pPr algn="l"/>
            <a:r>
              <a:rPr lang="en-US" sz="1800" b="0" i="0" u="none" strike="noStrike" baseline="0" dirty="0">
                <a:latin typeface="AdvOTab62ddd1"/>
              </a:rPr>
              <a:t>state that may not always be critical to proper </a:t>
            </a:r>
            <a:r>
              <a:rPr lang="en-US" sz="1800" b="0" i="0" u="none" strike="noStrike" baseline="0">
                <a:latin typeface="AdvOTab62ddd1"/>
              </a:rPr>
              <a:t>operation.</a:t>
            </a:r>
          </a:p>
          <a:p>
            <a:pPr algn="l"/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F77CC44-A053-40D7-931F-166C5A61B4B5}" type="datetime3">
              <a:rPr lang="en-US" smtClean="0"/>
              <a:t>3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45C4F-ECA4-4DD7-819E-C9FECED27844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75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9113" y="115888"/>
            <a:ext cx="2085975" cy="6121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115888"/>
            <a:ext cx="6105525" cy="6121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81987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4213" y="1125538"/>
            <a:ext cx="8270875" cy="511175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42988" y="6381750"/>
            <a:ext cx="7272337" cy="3587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81987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42988" y="6381750"/>
            <a:ext cx="7272337" cy="3587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2019, Elsevier Inc. All rights reserved.</a:t>
            </a:r>
            <a:endParaRPr lang="en-A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1188" y="355898"/>
            <a:ext cx="8281987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3619">
              <a:lnSpc>
                <a:spcPts val="1747"/>
              </a:lnSpc>
            </a:pPr>
            <a:fld id="{81D60167-4931-47E6-BA6A-407CBD079E47}" type="slidenum">
              <a:rPr lang="en-US" spc="-44" smtClean="0"/>
              <a:pPr marL="33619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75843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8" name="Rectangle 12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629" name="Rectangle 13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6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</a:p>
        </p:txBody>
      </p:sp>
      <p:sp>
        <p:nvSpPr>
          <p:cNvPr id="239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381750"/>
            <a:ext cx="727233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200" b="1">
                <a:latin typeface="+mn-lt"/>
              </a:defRPr>
            </a:lvl1pPr>
          </a:lstStyle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115888"/>
            <a:ext cx="82819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pic>
        <p:nvPicPr>
          <p:cNvPr id="239627" name="Picture 11" descr="MK_logo2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39630" name="Text Box 14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28EC741E-FC11-4977-9AC4-393A11CE0A97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  <p:sp>
        <p:nvSpPr>
          <p:cNvPr id="239631" name="Rectangle 15"/>
          <p:cNvSpPr>
            <a:spLocks noChangeArrowheads="1"/>
          </p:cNvSpPr>
          <p:nvPr userDrawn="1"/>
        </p:nvSpPr>
        <p:spPr bwMode="auto">
          <a:xfrm>
            <a:off x="252413" y="44450"/>
            <a:ext cx="36512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9632" name="Rectangle 16"/>
          <p:cNvSpPr>
            <a:spLocks noChangeArrowheads="1"/>
          </p:cNvSpPr>
          <p:nvPr userDrawn="1"/>
        </p:nvSpPr>
        <p:spPr bwMode="auto">
          <a:xfrm>
            <a:off x="34925" y="693738"/>
            <a:ext cx="8569325" cy="71437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10D9D-53A4-4446-BBCD-52678D38E161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0B2D3-1D67-4CCB-835B-046955292AB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0066FF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3CC"/>
        </a:buClr>
        <a:buSzPct val="60000"/>
        <a:buFont typeface="Wingdings" pitchFamily="2" charset="2"/>
        <a:buChar char="n"/>
        <a:defRPr sz="3200">
          <a:solidFill>
            <a:srgbClr val="0033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3399"/>
        </a:buClr>
        <a:buSzPct val="55000"/>
        <a:buFont typeface="Wingdings" pitchFamily="2" charset="2"/>
        <a:buChar char="n"/>
        <a:defRPr sz="2800">
          <a:solidFill>
            <a:srgbClr val="0033CC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33CC"/>
        </a:buClr>
        <a:buSzPct val="50000"/>
        <a:buFont typeface="Wingdings" pitchFamily="2" charset="2"/>
        <a:buChar char="n"/>
        <a:defRPr sz="2400">
          <a:solidFill>
            <a:srgbClr val="000066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5000"/>
        <a:buFont typeface="Wingdings" pitchFamily="2" charset="2"/>
        <a:buChar char="n"/>
        <a:defRPr sz="2000">
          <a:solidFill>
            <a:srgbClr val="0066FF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99FF"/>
        </a:buClr>
        <a:buSzPct val="50000"/>
        <a:buFont typeface="Wingdings" pitchFamily="2" charset="2"/>
        <a:buChar char="n"/>
        <a:defRPr sz="2000">
          <a:solidFill>
            <a:srgbClr val="3399FF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99FF"/>
        </a:buClr>
        <a:buSzPct val="50000"/>
        <a:buFont typeface="Wingdings" pitchFamily="2" charset="2"/>
        <a:buChar char="n"/>
        <a:defRPr sz="2000">
          <a:solidFill>
            <a:srgbClr val="3399FF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99FF"/>
        </a:buClr>
        <a:buSzPct val="50000"/>
        <a:buFont typeface="Wingdings" pitchFamily="2" charset="2"/>
        <a:buChar char="n"/>
        <a:defRPr sz="2000">
          <a:solidFill>
            <a:srgbClr val="3399FF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99FF"/>
        </a:buClr>
        <a:buSzPct val="50000"/>
        <a:buFont typeface="Wingdings" pitchFamily="2" charset="2"/>
        <a:buChar char="n"/>
        <a:defRPr sz="2000">
          <a:solidFill>
            <a:srgbClr val="3399FF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99FF"/>
        </a:buClr>
        <a:buSzPct val="50000"/>
        <a:buFont typeface="Wingdings" pitchFamily="2" charset="2"/>
        <a:buChar char="n"/>
        <a:defRPr sz="2000">
          <a:solidFill>
            <a:srgbClr val="3399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omepage.cs.uiowa.edu/~ghosh/01-23-07.pdf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1965325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99"/>
                </a:solidFill>
                <a:latin typeface="Arial" charset="0"/>
              </a:rPr>
              <a:t>Chapter 1</a:t>
            </a:r>
            <a:endParaRPr lang="en-GB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AU" dirty="0">
                <a:solidFill>
                  <a:srgbClr val="0066FF"/>
                </a:solidFill>
                <a:latin typeface="Arial" charset="0"/>
              </a:rPr>
              <a:t>Fundamentals of Quantitative Design and Analysis</a:t>
            </a:r>
            <a:endParaRPr lang="en-GB" dirty="0">
              <a:solidFill>
                <a:srgbClr val="0066FF"/>
              </a:solidFill>
              <a:latin typeface="Arial" charset="0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2789285" y="-100013"/>
            <a:ext cx="4502066" cy="8925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r>
              <a:rPr lang="en-US" sz="2000">
                <a:solidFill>
                  <a:schemeClr val="bg1"/>
                </a:solidFill>
                <a:latin typeface="Arial" charset="0"/>
              </a:rPr>
              <a:t>, Sixth Edition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01515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Chapter</a:t>
            </a:r>
            <a:r>
              <a:rPr spc="9" dirty="0"/>
              <a:t> </a:t>
            </a:r>
            <a:r>
              <a:rPr spc="-44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234" y="1324536"/>
            <a:ext cx="7648213" cy="44029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7726" indent="-342900"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  <a:tabLst>
                <a:tab pos="313221" algn="l"/>
              </a:tabLst>
            </a:pPr>
            <a:r>
              <a:rPr sz="2800" b="1" dirty="0">
                <a:solidFill>
                  <a:srgbClr val="003399"/>
                </a:solidFill>
                <a:latin typeface="+mn-lt"/>
                <a:cs typeface="Calibri"/>
              </a:rPr>
              <a:t>Read</a:t>
            </a:r>
            <a:r>
              <a:rPr sz="2800" b="1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spc="-9" dirty="0">
                <a:solidFill>
                  <a:srgbClr val="003399"/>
                </a:solidFill>
                <a:latin typeface="+mn-lt"/>
                <a:cs typeface="Calibri"/>
              </a:rPr>
              <a:t>Chapter</a:t>
            </a:r>
            <a:r>
              <a:rPr sz="2800" b="1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spc="-44" dirty="0">
                <a:solidFill>
                  <a:srgbClr val="003399"/>
                </a:solidFill>
                <a:latin typeface="+mn-lt"/>
                <a:cs typeface="Calibri"/>
              </a:rPr>
              <a:t>1</a:t>
            </a:r>
            <a:endParaRPr lang="en-US" sz="2800" b="1" dirty="0">
              <a:solidFill>
                <a:srgbClr val="003399"/>
              </a:solidFill>
              <a:latin typeface="+mn-lt"/>
              <a:cs typeface="Calibri"/>
            </a:endParaRPr>
          </a:p>
          <a:p>
            <a:pPr>
              <a:spcBef>
                <a:spcPts val="0"/>
              </a:spcBef>
            </a:pPr>
            <a:endParaRPr lang="en-US" sz="2294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87726" indent="-342900">
              <a:buSzPct val="100000"/>
              <a:buFont typeface="Arial" panose="020B0604020202020204" pitchFamily="34" charset="0"/>
              <a:buChar char="•"/>
              <a:tabLst>
                <a:tab pos="313221" algn="l"/>
              </a:tabLst>
            </a:pP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Historical</a:t>
            </a:r>
            <a:r>
              <a:rPr sz="2800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Perspective</a:t>
            </a:r>
            <a:r>
              <a:rPr lang="en-US" sz="2800" spc="-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(</a:t>
            </a:r>
            <a:r>
              <a:rPr lang="en-US" sz="2000" i="1" spc="-9" dirty="0">
                <a:solidFill>
                  <a:srgbClr val="003399"/>
                </a:solidFill>
                <a:latin typeface="+mn-lt"/>
                <a:cs typeface="Calibri"/>
              </a:rPr>
              <a:t>1930s and 1940s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)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60345" lvl="1" indent="-285750">
              <a:spcBef>
                <a:spcPts val="427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000" b="1" dirty="0">
                <a:solidFill>
                  <a:srgbClr val="003399"/>
                </a:solidFill>
                <a:latin typeface="+mn-lt"/>
                <a:cs typeface="Calibri"/>
              </a:rPr>
              <a:t>Appendix</a:t>
            </a:r>
            <a:r>
              <a:rPr sz="2000" b="1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+mn-lt"/>
                <a:cs typeface="Calibri"/>
              </a:rPr>
              <a:t>M.2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H&amp;P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(6</a:t>
            </a:r>
            <a:r>
              <a:rPr sz="2000" baseline="25641" dirty="0">
                <a:solidFill>
                  <a:srgbClr val="003399"/>
                </a:solidFill>
                <a:latin typeface="+mn-lt"/>
                <a:cs typeface="Calibri"/>
              </a:rPr>
              <a:t>th</a:t>
            </a:r>
            <a:r>
              <a:rPr sz="2000" spc="172" baseline="2564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ed.)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60345" lvl="1" indent="-285750">
              <a:spcBef>
                <a:spcPts val="468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Computers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as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know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them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are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roughly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7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0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years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22" dirty="0">
                <a:solidFill>
                  <a:srgbClr val="003399"/>
                </a:solidFill>
                <a:latin typeface="+mn-lt"/>
                <a:cs typeface="Calibri"/>
              </a:rPr>
              <a:t>old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60345" marR="38102" lvl="1" indent="-285750">
              <a:spcBef>
                <a:spcPts val="666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8975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i="1" dirty="0">
                <a:solidFill>
                  <a:srgbClr val="003399"/>
                </a:solidFill>
                <a:latin typeface="+mn-lt"/>
                <a:cs typeface="Calibri"/>
              </a:rPr>
              <a:t>von</a:t>
            </a:r>
            <a:r>
              <a:rPr sz="2000" i="1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i="1" dirty="0">
                <a:solidFill>
                  <a:srgbClr val="003399"/>
                </a:solidFill>
                <a:latin typeface="+mn-lt"/>
                <a:cs typeface="Calibri"/>
              </a:rPr>
              <a:t>Neumann</a:t>
            </a:r>
            <a:r>
              <a:rPr sz="2000" i="1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i="1" dirty="0">
                <a:solidFill>
                  <a:srgbClr val="003399"/>
                </a:solidFill>
                <a:latin typeface="+mn-lt"/>
                <a:cs typeface="Calibri"/>
              </a:rPr>
              <a:t>machine</a:t>
            </a:r>
            <a:r>
              <a:rPr sz="2000" i="1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model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underlies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computer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design</a:t>
            </a:r>
            <a:r>
              <a:rPr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only</a:t>
            </a:r>
            <a:r>
              <a:rPr lang="en-US" sz="2000" spc="-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partially von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Neumann's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60345" lvl="1" indent="-285750">
              <a:spcBef>
                <a:spcPts val="344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Konrad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Zuse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says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he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had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“the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bad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luck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being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too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early”?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60345" marR="463948" lvl="1" indent="-285750">
              <a:spcBef>
                <a:spcPts val="635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8975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No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one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was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able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successfully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patent</a:t>
            </a:r>
            <a:r>
              <a:rPr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idea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stored-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program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computer,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much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dismay</a:t>
            </a:r>
            <a:r>
              <a:rPr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Eckert</a:t>
            </a:r>
            <a:r>
              <a:rPr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Mauchly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Early</a:t>
            </a:r>
            <a:r>
              <a:rPr spc="13" dirty="0"/>
              <a:t> </a:t>
            </a:r>
            <a:r>
              <a:rPr dirty="0"/>
              <a:t>development</a:t>
            </a:r>
            <a:r>
              <a:rPr spc="18" dirty="0"/>
              <a:t> </a:t>
            </a:r>
            <a:r>
              <a:rPr spc="-9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063067" cy="3537514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280162" marR="191631" indent="-268956">
              <a:lnSpc>
                <a:spcPts val="2480"/>
              </a:lnSpc>
              <a:spcBef>
                <a:spcPts val="397"/>
              </a:spcBef>
              <a:buSzPct val="100000"/>
              <a:buFont typeface="Calibri"/>
              <a:buChar char="•"/>
              <a:tabLst>
                <a:tab pos="280162" algn="l"/>
              </a:tabLst>
            </a:pP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Make</a:t>
            </a:r>
            <a:r>
              <a:rPr sz="2400" b="1" spc="-11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input</a:t>
            </a:r>
            <a:r>
              <a:rPr sz="2400" b="1" spc="-10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b="1" spc="-11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output</a:t>
            </a:r>
            <a:r>
              <a:rPr sz="2400" b="1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easier</a:t>
            </a:r>
            <a:r>
              <a:rPr sz="2400" b="1" spc="-11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than</a:t>
            </a:r>
            <a:r>
              <a:rPr sz="2400" spc="-11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wiring</a:t>
            </a:r>
            <a:r>
              <a:rPr sz="2400" spc="-11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circuit</a:t>
            </a:r>
            <a:r>
              <a:rPr sz="2400" spc="-11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boards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reading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lights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>
              <a:spcBef>
                <a:spcPts val="1257"/>
              </a:spcBef>
              <a:buSzPct val="100000"/>
              <a:buFont typeface="Calibri"/>
              <a:buChar char="•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80162" marR="4483" indent="-268956">
              <a:lnSpc>
                <a:spcPct val="88100"/>
              </a:lnSpc>
              <a:buSzPct val="100000"/>
              <a:buFont typeface="Calibri"/>
              <a:buChar char="•"/>
              <a:tabLst>
                <a:tab pos="280162" algn="l"/>
              </a:tabLst>
            </a:pP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Make</a:t>
            </a:r>
            <a:r>
              <a:rPr sz="2400" b="1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spc="-26" dirty="0">
                <a:solidFill>
                  <a:srgbClr val="003399"/>
                </a:solidFill>
                <a:latin typeface="+mn-lt"/>
                <a:cs typeface="Calibri"/>
              </a:rPr>
              <a:t>programming</a:t>
            </a:r>
            <a:r>
              <a:rPr sz="2400" b="1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spc="-9" dirty="0">
                <a:solidFill>
                  <a:srgbClr val="003399"/>
                </a:solidFill>
                <a:latin typeface="+mn-lt"/>
                <a:cs typeface="Calibri"/>
              </a:rPr>
              <a:t>easier</a:t>
            </a:r>
            <a:r>
              <a:rPr sz="2400" b="1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by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developing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higher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level </a:t>
            </a:r>
            <a:r>
              <a:rPr sz="2400" spc="-26" dirty="0">
                <a:solidFill>
                  <a:srgbClr val="003399"/>
                </a:solidFill>
                <a:latin typeface="+mn-lt"/>
                <a:cs typeface="Calibri"/>
              </a:rPr>
              <a:t>programming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languages,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so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users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did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not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need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use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binary</a:t>
            </a:r>
            <a:r>
              <a:rPr sz="2400" spc="-10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machine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code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instructions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26725" indent="-285750">
              <a:spcBef>
                <a:spcPts val="427"/>
              </a:spcBef>
              <a:buSzPct val="100000"/>
              <a:buFont typeface="Courier New" panose="02070309020205020404" pitchFamily="49" charset="0"/>
              <a:buChar char="o"/>
            </a:pP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First</a:t>
            </a:r>
            <a:r>
              <a:rPr sz="18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compilers</a:t>
            </a:r>
            <a:r>
              <a:rPr sz="18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18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late</a:t>
            </a:r>
            <a:r>
              <a:rPr sz="18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1950’s,</a:t>
            </a:r>
            <a:r>
              <a:rPr sz="18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18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Fortran</a:t>
            </a:r>
            <a:r>
              <a:rPr sz="18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18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00" spc="-9" dirty="0">
                <a:solidFill>
                  <a:srgbClr val="003399"/>
                </a:solidFill>
                <a:latin typeface="+mn-lt"/>
                <a:cs typeface="Calibri"/>
              </a:rPr>
              <a:t>Cobol</a:t>
            </a:r>
            <a:endParaRPr sz="1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85750" indent="-285750">
              <a:spcBef>
                <a:spcPts val="1760"/>
              </a:spcBef>
              <a:buSzPct val="100000"/>
              <a:buFont typeface="Arial" panose="020B0604020202020204" pitchFamily="34" charset="0"/>
              <a:buChar char="•"/>
            </a:pPr>
            <a:endParaRPr sz="167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4107" indent="-342900"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Develop</a:t>
            </a:r>
            <a:r>
              <a:rPr sz="2400" spc="-10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storage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devices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Later</a:t>
            </a:r>
            <a:r>
              <a:rPr spc="22" dirty="0"/>
              <a:t> </a:t>
            </a:r>
            <a:r>
              <a:rPr dirty="0"/>
              <a:t>development</a:t>
            </a:r>
            <a:r>
              <a:rPr spc="26" dirty="0"/>
              <a:t> </a:t>
            </a:r>
            <a:r>
              <a:rPr spc="-9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235785"/>
            <a:ext cx="5442402" cy="3477310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54107" indent="-342900">
              <a:spcBef>
                <a:spcPts val="596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Faster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More</a:t>
            </a:r>
            <a:r>
              <a:rPr sz="2800" spc="-10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storage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Cheaper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29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Networking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parallel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computing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Better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user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interfaces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12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Ubiquitous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applications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Development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standards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Perspective:</a:t>
            </a:r>
            <a:r>
              <a:rPr spc="-9" dirty="0"/>
              <a:t> </a:t>
            </a:r>
            <a:r>
              <a:rPr dirty="0"/>
              <a:t>An</a:t>
            </a:r>
            <a:r>
              <a:rPr spc="-4" dirty="0"/>
              <a:t> </a:t>
            </a:r>
            <a:r>
              <a:rPr spc="-9" dirty="0"/>
              <a:t>example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95536" y="908720"/>
            <a:ext cx="6166880" cy="5303435"/>
          </a:xfrm>
          <a:prstGeom prst="rect">
            <a:avLst/>
          </a:prstGeom>
        </p:spPr>
        <p:txBody>
          <a:bodyPr vert="horz" wrap="square" lIns="0" tIns="50987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54106" marR="73402">
              <a:lnSpc>
                <a:spcPct val="88500"/>
              </a:lnSpc>
              <a:spcBef>
                <a:spcPts val="401"/>
              </a:spcBef>
              <a:tabLst>
                <a:tab pos="280162" algn="l"/>
              </a:tabLst>
            </a:pPr>
            <a:r>
              <a:rPr lang="en-US" sz="2400" spc="-9" dirty="0">
                <a:latin typeface="Calibri"/>
                <a:cs typeface="Calibri"/>
              </a:rPr>
              <a:t>Most</a:t>
            </a:r>
            <a:r>
              <a:rPr lang="en-US" sz="2400" spc="-84" dirty="0">
                <a:latin typeface="Calibri"/>
                <a:cs typeface="Calibri"/>
              </a:rPr>
              <a:t> </a:t>
            </a:r>
            <a:r>
              <a:rPr lang="en-US" sz="2400" spc="-9" dirty="0">
                <a:latin typeface="Calibri"/>
                <a:cs typeface="Calibri"/>
              </a:rPr>
              <a:t>powerful</a:t>
            </a:r>
            <a:r>
              <a:rPr lang="en-US" sz="2400" spc="-71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supercomputer</a:t>
            </a:r>
            <a:r>
              <a:rPr lang="en-US" sz="2400" spc="-79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79" dirty="0">
                <a:latin typeface="Calibri"/>
                <a:cs typeface="Calibri"/>
              </a:rPr>
              <a:t> </a:t>
            </a:r>
            <a:r>
              <a:rPr lang="en-US" sz="2400" spc="-31" dirty="0">
                <a:latin typeface="Calibri"/>
                <a:cs typeface="Calibri"/>
              </a:rPr>
              <a:t>1988-</a:t>
            </a:r>
            <a:r>
              <a:rPr lang="en-US" sz="2400" spc="-22" dirty="0">
                <a:latin typeface="Calibri"/>
                <a:cs typeface="Calibri"/>
              </a:rPr>
              <a:t>9: </a:t>
            </a:r>
            <a:br>
              <a:rPr lang="en-US" sz="2400" spc="-22" dirty="0">
                <a:latin typeface="Calibri"/>
                <a:cs typeface="Calibri"/>
              </a:rPr>
            </a:br>
            <a:r>
              <a:rPr lang="en-US" sz="2400" dirty="0">
                <a:latin typeface="Calibri"/>
                <a:cs typeface="Calibri"/>
              </a:rPr>
              <a:t>CRAY</a:t>
            </a:r>
            <a:r>
              <a:rPr lang="en-US" sz="2400" spc="-97" dirty="0">
                <a:latin typeface="Calibri"/>
                <a:cs typeface="Calibri"/>
              </a:rPr>
              <a:t> </a:t>
            </a:r>
            <a:r>
              <a:rPr lang="en-US" sz="2400" spc="-18" dirty="0">
                <a:latin typeface="Calibri"/>
                <a:cs typeface="Calibri"/>
              </a:rPr>
              <a:t>Y-</a:t>
            </a:r>
            <a:r>
              <a:rPr lang="en-US" sz="2400" spc="-22" dirty="0">
                <a:latin typeface="Calibri"/>
                <a:cs typeface="Calibri"/>
              </a:rPr>
              <a:t>MP</a:t>
            </a:r>
          </a:p>
          <a:p>
            <a:pPr marL="754156" marR="73402" lvl="1">
              <a:lnSpc>
                <a:spcPct val="88500"/>
              </a:lnSpc>
              <a:spcBef>
                <a:spcPts val="401"/>
              </a:spcBef>
              <a:tabLst>
                <a:tab pos="280162" algn="l"/>
              </a:tabLst>
            </a:pP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8</a:t>
            </a:r>
            <a:r>
              <a:rPr lang="en-US" sz="20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vector</a:t>
            </a:r>
            <a:r>
              <a:rPr lang="en-US"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processors</a:t>
            </a:r>
            <a:r>
              <a:rPr lang="en-US"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spc="-18" dirty="0">
                <a:solidFill>
                  <a:srgbClr val="003399"/>
                </a:solidFill>
                <a:latin typeface="Calibri"/>
                <a:cs typeface="Calibri"/>
              </a:rPr>
              <a:t>(~0.3 </a:t>
            </a:r>
            <a:r>
              <a:rPr lang="en-US" sz="2000" spc="-18" dirty="0" err="1">
                <a:solidFill>
                  <a:srgbClr val="003399"/>
                </a:solidFill>
                <a:latin typeface="Calibri"/>
                <a:cs typeface="Calibri"/>
              </a:rPr>
              <a:t>GFlops</a:t>
            </a:r>
            <a:r>
              <a:rPr lang="en-US" sz="2000" spc="-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Calibri"/>
                <a:cs typeface="Calibri"/>
              </a:rPr>
              <a:t>each)</a:t>
            </a:r>
          </a:p>
          <a:p>
            <a:pPr marL="754156" marR="73402" lvl="1">
              <a:lnSpc>
                <a:spcPct val="88500"/>
              </a:lnSpc>
              <a:spcBef>
                <a:spcPts val="401"/>
              </a:spcBef>
              <a:spcAft>
                <a:spcPts val="600"/>
              </a:spcAft>
              <a:tabLst>
                <a:tab pos="280162" algn="l"/>
              </a:tabLst>
            </a:pP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32</a:t>
            </a:r>
            <a:r>
              <a:rPr lang="en-US" sz="2000" spc="13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bit</a:t>
            </a:r>
            <a:r>
              <a:rPr lang="en-US"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registers,</a:t>
            </a:r>
            <a:r>
              <a:rPr lang="en-US"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512</a:t>
            </a:r>
            <a:r>
              <a:rPr lang="en-US"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Calibri"/>
                <a:cs typeface="Calibri"/>
              </a:rPr>
              <a:t>MB</a:t>
            </a:r>
            <a:r>
              <a:rPr lang="en-US"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000" spc="-18" dirty="0">
                <a:solidFill>
                  <a:srgbClr val="003399"/>
                </a:solidFill>
                <a:latin typeface="Calibri"/>
                <a:cs typeface="Calibri"/>
              </a:rPr>
              <a:t>SRAM</a:t>
            </a:r>
            <a:endParaRPr lang="en-US" sz="2000" dirty="0">
              <a:latin typeface="Calibri"/>
              <a:cs typeface="Calibri"/>
            </a:endParaRPr>
          </a:p>
          <a:p>
            <a:pPr marL="354106" marR="73402">
              <a:lnSpc>
                <a:spcPct val="88500"/>
              </a:lnSpc>
              <a:spcBef>
                <a:spcPts val="401"/>
              </a:spcBef>
              <a:spcAft>
                <a:spcPts val="600"/>
              </a:spcAft>
              <a:tabLst>
                <a:tab pos="280162" algn="l"/>
              </a:tabLst>
            </a:pPr>
            <a:r>
              <a:rPr sz="2400" dirty="0"/>
              <a:t>1993:</a:t>
            </a:r>
            <a:r>
              <a:rPr sz="2400" spc="-84" dirty="0"/>
              <a:t> </a:t>
            </a:r>
            <a:r>
              <a:rPr sz="2400" dirty="0"/>
              <a:t>a</a:t>
            </a:r>
            <a:r>
              <a:rPr sz="2400" spc="-88" dirty="0"/>
              <a:t> </a:t>
            </a:r>
            <a:r>
              <a:rPr sz="2400" spc="-9" dirty="0"/>
              <a:t>desktop</a:t>
            </a:r>
            <a:r>
              <a:rPr sz="2400" spc="-84" dirty="0"/>
              <a:t> </a:t>
            </a:r>
            <a:r>
              <a:rPr sz="2400" spc="-22" dirty="0"/>
              <a:t>workstation</a:t>
            </a:r>
            <a:r>
              <a:rPr sz="2400" spc="-84" dirty="0"/>
              <a:t> </a:t>
            </a:r>
            <a:r>
              <a:rPr sz="2400" dirty="0"/>
              <a:t>(IBM</a:t>
            </a:r>
            <a:r>
              <a:rPr sz="2400" spc="-97" dirty="0"/>
              <a:t> </a:t>
            </a:r>
            <a:r>
              <a:rPr sz="2400" spc="-31" dirty="0"/>
              <a:t>Power-</a:t>
            </a:r>
            <a:r>
              <a:rPr sz="2400" spc="-22" dirty="0"/>
              <a:t>2) </a:t>
            </a:r>
            <a:r>
              <a:rPr sz="2400" spc="-18" dirty="0"/>
              <a:t>matched</a:t>
            </a:r>
            <a:r>
              <a:rPr sz="2400" spc="-88" dirty="0"/>
              <a:t> </a:t>
            </a:r>
            <a:r>
              <a:rPr sz="2400" dirty="0"/>
              <a:t>its</a:t>
            </a:r>
            <a:r>
              <a:rPr sz="2400" spc="-84" dirty="0"/>
              <a:t> </a:t>
            </a:r>
            <a:r>
              <a:rPr sz="2400" spc="-9" dirty="0"/>
              <a:t>power</a:t>
            </a:r>
            <a:r>
              <a:rPr sz="2400" spc="-84" dirty="0"/>
              <a:t> </a:t>
            </a:r>
            <a:r>
              <a:rPr sz="2400" dirty="0"/>
              <a:t>at</a:t>
            </a:r>
            <a:r>
              <a:rPr sz="2400" spc="-84" dirty="0"/>
              <a:t> </a:t>
            </a:r>
            <a:r>
              <a:rPr sz="2400" dirty="0"/>
              <a:t>less</a:t>
            </a:r>
            <a:r>
              <a:rPr sz="2400" spc="-84" dirty="0"/>
              <a:t> </a:t>
            </a:r>
            <a:r>
              <a:rPr sz="2400" dirty="0"/>
              <a:t>than</a:t>
            </a:r>
            <a:r>
              <a:rPr sz="2400" spc="-88" dirty="0"/>
              <a:t> </a:t>
            </a:r>
            <a:r>
              <a:rPr sz="2400" dirty="0"/>
              <a:t>10%</a:t>
            </a:r>
            <a:r>
              <a:rPr sz="2400" spc="-97" dirty="0"/>
              <a:t> </a:t>
            </a:r>
            <a:r>
              <a:rPr sz="2400" dirty="0"/>
              <a:t>of</a:t>
            </a:r>
            <a:r>
              <a:rPr sz="2400" spc="-79" dirty="0"/>
              <a:t> </a:t>
            </a:r>
            <a:r>
              <a:rPr sz="2400" spc="-22" dirty="0"/>
              <a:t>the </a:t>
            </a:r>
            <a:r>
              <a:rPr sz="2400" spc="-18" dirty="0"/>
              <a:t>cost</a:t>
            </a:r>
            <a:endParaRPr lang="en-US" sz="2400" spc="-18" dirty="0"/>
          </a:p>
          <a:p>
            <a:pPr marL="354106" marR="73402">
              <a:lnSpc>
                <a:spcPct val="88500"/>
              </a:lnSpc>
              <a:spcBef>
                <a:spcPts val="401"/>
              </a:spcBef>
              <a:tabLst>
                <a:tab pos="280162" algn="l"/>
              </a:tabLst>
            </a:pPr>
            <a:r>
              <a:rPr sz="2400" spc="-9" dirty="0"/>
              <a:t>How</a:t>
            </a:r>
            <a:r>
              <a:rPr sz="2400" spc="-101" dirty="0"/>
              <a:t> </a:t>
            </a:r>
            <a:r>
              <a:rPr sz="2400" dirty="0"/>
              <a:t>did</a:t>
            </a:r>
            <a:r>
              <a:rPr sz="2400" spc="-84" dirty="0"/>
              <a:t> </a:t>
            </a:r>
            <a:r>
              <a:rPr sz="2400" dirty="0"/>
              <a:t>this</a:t>
            </a:r>
            <a:r>
              <a:rPr sz="2400" spc="-84" dirty="0"/>
              <a:t> </a:t>
            </a:r>
            <a:r>
              <a:rPr sz="2400" spc="-9" dirty="0"/>
              <a:t>happen?</a:t>
            </a:r>
          </a:p>
          <a:p>
            <a:pPr marL="726725" marR="4483" lvl="1">
              <a:lnSpc>
                <a:spcPts val="1844"/>
              </a:lnSpc>
              <a:spcBef>
                <a:spcPts val="710"/>
              </a:spcBef>
              <a:tabLst>
                <a:tab pos="656139" algn="l"/>
              </a:tabLst>
            </a:pPr>
            <a:r>
              <a:rPr sz="2000" dirty="0">
                <a:latin typeface="Calibri"/>
                <a:cs typeface="Calibri"/>
              </a:rPr>
              <a:t>hardware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improvements,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squeezing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circuits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smaller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area</a:t>
            </a:r>
            <a:endParaRPr sz="2000" dirty="0">
              <a:latin typeface="Calibri"/>
              <a:cs typeface="Calibri"/>
            </a:endParaRPr>
          </a:p>
          <a:p>
            <a:pPr marL="726725" marR="174261" lvl="1">
              <a:lnSpc>
                <a:spcPct val="92100"/>
              </a:lnSpc>
              <a:spcBef>
                <a:spcPts val="507"/>
              </a:spcBef>
              <a:tabLst>
                <a:tab pos="656139" algn="l"/>
              </a:tabLst>
            </a:pPr>
            <a:r>
              <a:rPr sz="2000" dirty="0">
                <a:latin typeface="Calibri"/>
                <a:cs typeface="Calibri"/>
              </a:rPr>
              <a:t>improvements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instruction-set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making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faster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frequently</a:t>
            </a:r>
            <a:r>
              <a:rPr lang="en-US"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instructions</a:t>
            </a:r>
            <a:endParaRPr sz="2000" dirty="0">
              <a:latin typeface="Calibri"/>
              <a:cs typeface="Calibri"/>
            </a:endParaRPr>
          </a:p>
          <a:p>
            <a:pPr marL="726725" marR="34740" lvl="1">
              <a:lnSpc>
                <a:spcPct val="90000"/>
              </a:lnSpc>
              <a:spcBef>
                <a:spcPts val="644"/>
              </a:spcBef>
              <a:tabLst>
                <a:tab pos="656139" algn="l"/>
              </a:tabLst>
            </a:pPr>
            <a:r>
              <a:rPr sz="2000" dirty="0">
                <a:latin typeface="Calibri"/>
                <a:cs typeface="Calibri"/>
              </a:rPr>
              <a:t>improvements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compilation,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e.g.,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optimizing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code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reduce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accesses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faster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5921" y="4176208"/>
            <a:ext cx="1063438" cy="37147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262"/>
              </a:lnSpc>
              <a:spcBef>
                <a:spcPts val="88"/>
              </a:spcBef>
            </a:pPr>
            <a:r>
              <a:rPr sz="1059" dirty="0">
                <a:latin typeface="Calibri"/>
                <a:cs typeface="Calibri"/>
              </a:rPr>
              <a:t>Cray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Y-</a:t>
            </a:r>
            <a:r>
              <a:rPr sz="1059" spc="-9" dirty="0">
                <a:latin typeface="Calibri"/>
                <a:cs typeface="Calibri"/>
              </a:rPr>
              <a:t>MP</a:t>
            </a:r>
            <a:r>
              <a:rPr sz="1059" spc="-40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Model</a:t>
            </a:r>
            <a:r>
              <a:rPr sz="1059" spc="-31" dirty="0">
                <a:latin typeface="Calibri"/>
                <a:cs typeface="Calibri"/>
              </a:rPr>
              <a:t> </a:t>
            </a:r>
            <a:r>
              <a:rPr sz="1059" spc="-44" dirty="0">
                <a:latin typeface="Calibri"/>
                <a:cs typeface="Calibri"/>
              </a:rPr>
              <a:t>D</a:t>
            </a:r>
            <a:endParaRPr sz="1059" dirty="0">
              <a:latin typeface="Calibri"/>
              <a:cs typeface="Calibri"/>
            </a:endParaRPr>
          </a:p>
          <a:p>
            <a:pPr marL="187148">
              <a:lnSpc>
                <a:spcPts val="1262"/>
              </a:lnSpc>
            </a:pPr>
            <a:r>
              <a:rPr sz="1059" spc="-9" dirty="0">
                <a:latin typeface="Calibri"/>
                <a:cs typeface="Calibri"/>
              </a:rPr>
              <a:t>-from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Wikipedia</a:t>
            </a:r>
            <a:endParaRPr sz="1059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4425" y="1325283"/>
            <a:ext cx="1961090" cy="2794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821872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Perspective:</a:t>
            </a:r>
            <a:r>
              <a:rPr spc="4" dirty="0"/>
              <a:t> </a:t>
            </a:r>
            <a:r>
              <a:rPr dirty="0"/>
              <a:t>An</a:t>
            </a:r>
            <a:r>
              <a:rPr spc="9" dirty="0"/>
              <a:t> </a:t>
            </a:r>
            <a:r>
              <a:rPr dirty="0"/>
              <a:t>example</a:t>
            </a:r>
            <a:r>
              <a:rPr spc="-4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3" y="1052736"/>
            <a:ext cx="5688632" cy="1637665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/>
          <a:p>
            <a:pPr marL="354107" indent="-342900">
              <a:spcBef>
                <a:spcPts val="710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  <a:tab pos="1297150" algn="l"/>
              </a:tabLst>
            </a:pPr>
            <a:r>
              <a:rPr sz="2800" spc="-26" dirty="0">
                <a:solidFill>
                  <a:srgbClr val="003399"/>
                </a:solidFill>
                <a:latin typeface="+mn-lt"/>
                <a:cs typeface="Calibri"/>
              </a:rPr>
              <a:t>2016-</a:t>
            </a: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7:</a:t>
            </a:r>
            <a:r>
              <a:rPr lang="en-US" sz="2800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Intel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u="heavy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Kaby</a:t>
            </a:r>
            <a:r>
              <a:rPr sz="2800" u="heavy" spc="-93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 </a:t>
            </a:r>
            <a:r>
              <a:rPr sz="2800" u="heavy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Lake</a:t>
            </a:r>
            <a:r>
              <a:rPr sz="2800" u="heavy" spc="-93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 </a:t>
            </a:r>
            <a:r>
              <a:rPr sz="2800" u="heavy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-</a:t>
            </a:r>
            <a:r>
              <a:rPr sz="2800" u="heavy" spc="-79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 </a:t>
            </a:r>
            <a:r>
              <a:rPr sz="2800" u="heavy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Core</a:t>
            </a:r>
            <a:r>
              <a:rPr sz="2800" u="heavy" spc="-88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 </a:t>
            </a:r>
            <a:r>
              <a:rPr sz="2800" u="heavy" spc="-22" dirty="0">
                <a:solidFill>
                  <a:srgbClr val="003399"/>
                </a:solidFill>
                <a:uFill>
                  <a:solidFill>
                    <a:srgbClr val="FC0128"/>
                  </a:solidFill>
                </a:uFill>
                <a:latin typeface="+mn-lt"/>
                <a:cs typeface="Calibri"/>
              </a:rPr>
              <a:t>i7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6" lvl="1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4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cores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(~60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GFlops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each)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6" lvl="1" indent="-342900">
              <a:spcBef>
                <a:spcPts val="529"/>
              </a:spcBef>
              <a:buSzPct val="10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64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bit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registers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endParaRPr lang="en-US" sz="2000" spc="26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6" lvl="1" indent="-342900">
              <a:spcBef>
                <a:spcPts val="529"/>
              </a:spcBef>
              <a:buSzPct val="10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8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MiB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shared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L3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cache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663" y="3395213"/>
            <a:ext cx="6180577" cy="2407107"/>
          </a:xfrm>
          <a:prstGeom prst="rect">
            <a:avLst/>
          </a:prstGeom>
        </p:spPr>
        <p:txBody>
          <a:bodyPr vert="horz" wrap="square" lIns="0" tIns="90207" rIns="0" bIns="0" rtlCol="0">
            <a:spAutoFit/>
          </a:bodyPr>
          <a:lstStyle/>
          <a:p>
            <a:pPr marL="354107" indent="-342900">
              <a:spcBef>
                <a:spcPts val="710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How</a:t>
            </a:r>
            <a:r>
              <a:rPr sz="28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did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this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happen?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631825" marR="672949" lvl="1" indent="-192088">
              <a:lnSpc>
                <a:spcPts val="2030"/>
              </a:lnSpc>
              <a:spcBef>
                <a:spcPts val="737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Even</a:t>
            </a:r>
            <a:r>
              <a:rPr sz="2000" spc="62" dirty="0"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FC0128"/>
                </a:solidFill>
                <a:latin typeface="+mn-lt"/>
                <a:cs typeface="Calibri"/>
              </a:rPr>
              <a:t>more</a:t>
            </a:r>
            <a:r>
              <a:rPr sz="2000" spc="66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hardware</a:t>
            </a:r>
            <a:r>
              <a:rPr sz="2000" spc="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improvements,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e.g.,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squeezing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more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circuits</a:t>
            </a:r>
            <a:r>
              <a:rPr sz="2000" spc="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into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000" spc="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smaller</a:t>
            </a:r>
            <a:r>
              <a:rPr lang="en-US" sz="2000" spc="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area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656139" marR="4483" lvl="1" indent="-215164">
              <a:lnSpc>
                <a:spcPts val="2030"/>
              </a:lnSpc>
              <a:spcBef>
                <a:spcPts val="706"/>
              </a:spcBef>
              <a:buFont typeface="Calibri"/>
              <a:buChar char="–"/>
              <a:tabLst>
                <a:tab pos="656139" algn="l"/>
              </a:tabLst>
            </a:pPr>
            <a:r>
              <a:rPr sz="2000" b="1" dirty="0">
                <a:solidFill>
                  <a:srgbClr val="003399"/>
                </a:solidFill>
                <a:latin typeface="+mn-lt"/>
                <a:cs typeface="Calibri"/>
              </a:rPr>
              <a:t>improvements</a:t>
            </a:r>
            <a:r>
              <a:rPr sz="2000" b="1" spc="16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000" b="1" spc="18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b="1" spc="180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000" b="1" dirty="0">
                <a:solidFill>
                  <a:srgbClr val="FC0128"/>
                </a:solidFill>
                <a:latin typeface="+mn-lt"/>
                <a:cs typeface="Calibri"/>
              </a:rPr>
              <a:t>instruction-</a:t>
            </a:r>
            <a:r>
              <a:rPr lang="en-US" sz="2000" b="1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FC0128"/>
                </a:solidFill>
                <a:latin typeface="+mn-lt"/>
                <a:cs typeface="Calibri"/>
              </a:rPr>
              <a:t>/</a:t>
            </a:r>
            <a:r>
              <a:rPr lang="en-US" sz="2000" b="1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FC0128"/>
                </a:solidFill>
                <a:latin typeface="+mn-lt"/>
                <a:cs typeface="Calibri"/>
              </a:rPr>
              <a:t>thread-</a:t>
            </a:r>
            <a:r>
              <a:rPr lang="en-US" sz="2000" b="1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FC0128"/>
                </a:solidFill>
                <a:latin typeface="+mn-lt"/>
                <a:cs typeface="Calibri"/>
              </a:rPr>
              <a:t>/</a:t>
            </a:r>
            <a:r>
              <a:rPr lang="en-US" sz="2000" b="1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b="1" dirty="0">
                <a:solidFill>
                  <a:srgbClr val="FC0128"/>
                </a:solidFill>
                <a:latin typeface="+mn-lt"/>
                <a:cs typeface="Calibri"/>
              </a:rPr>
              <a:t>data-</a:t>
            </a:r>
            <a:r>
              <a:rPr lang="en-US" sz="2000" b="1" dirty="0">
                <a:solidFill>
                  <a:srgbClr val="FC0128"/>
                </a:solidFill>
                <a:latin typeface="+mn-lt"/>
                <a:cs typeface="Calibri"/>
              </a:rPr>
              <a:t> </a:t>
            </a:r>
            <a:r>
              <a:rPr sz="2000" b="1" spc="-9" dirty="0">
                <a:solidFill>
                  <a:srgbClr val="FC0128"/>
                </a:solidFill>
                <a:latin typeface="+mn-lt"/>
                <a:cs typeface="Calibri"/>
              </a:rPr>
              <a:t>level parallelism</a:t>
            </a:r>
            <a:endParaRPr sz="2000" dirty="0">
              <a:latin typeface="+mn-lt"/>
              <a:cs typeface="Calibri"/>
            </a:endParaRPr>
          </a:p>
          <a:p>
            <a:pPr marL="1087029" marR="20172" indent="-215164">
              <a:lnSpc>
                <a:spcPts val="2030"/>
              </a:lnSpc>
              <a:spcBef>
                <a:spcPts val="706"/>
              </a:spcBef>
            </a:pPr>
            <a:r>
              <a:rPr sz="2000" dirty="0">
                <a:latin typeface="+mn-lt"/>
                <a:cs typeface="Calibri"/>
              </a:rPr>
              <a:t>»</a:t>
            </a:r>
            <a:r>
              <a:rPr sz="2000" spc="366" dirty="0"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e.g.,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executing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more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instructions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at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same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000" spc="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improve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performance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8225" y="3797187"/>
            <a:ext cx="1943210" cy="38167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5043" algn="r">
              <a:lnSpc>
                <a:spcPts val="1262"/>
              </a:lnSpc>
              <a:spcBef>
                <a:spcPts val="88"/>
              </a:spcBef>
            </a:pPr>
            <a:r>
              <a:rPr sz="1200" spc="-18" dirty="0">
                <a:latin typeface="Calibri"/>
                <a:cs typeface="Calibri"/>
              </a:rPr>
              <a:t>Lithography</a:t>
            </a:r>
            <a:r>
              <a:rPr sz="1200" spc="-9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 </a:t>
            </a:r>
            <a:r>
              <a:rPr sz="1200" spc="-18" dirty="0">
                <a:latin typeface="Calibri"/>
                <a:cs typeface="Calibri"/>
              </a:rPr>
              <a:t>Kabylake</a:t>
            </a:r>
            <a:r>
              <a:rPr sz="1200" spc="-9" dirty="0">
                <a:latin typeface="Calibri"/>
                <a:cs typeface="Calibri"/>
              </a:rPr>
              <a:t> Core</a:t>
            </a:r>
            <a:r>
              <a:rPr sz="1200" spc="-4" dirty="0">
                <a:latin typeface="Calibri"/>
                <a:cs typeface="Calibri"/>
              </a:rPr>
              <a:t> </a:t>
            </a:r>
            <a:r>
              <a:rPr sz="1200" spc="-22" dirty="0">
                <a:latin typeface="Calibri"/>
                <a:cs typeface="Calibri"/>
              </a:rPr>
              <a:t>i7</a:t>
            </a:r>
            <a:endParaRPr sz="1200">
              <a:latin typeface="Calibri"/>
              <a:cs typeface="Calibri"/>
            </a:endParaRPr>
          </a:p>
          <a:p>
            <a:pPr marR="4483" algn="r">
              <a:lnSpc>
                <a:spcPts val="1262"/>
              </a:lnSpc>
            </a:pPr>
            <a:r>
              <a:rPr sz="1200" spc="-9" dirty="0">
                <a:latin typeface="Calibri"/>
                <a:cs typeface="Calibri"/>
              </a:rPr>
              <a:t>-from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9" dirty="0">
                <a:latin typeface="Calibri"/>
                <a:cs typeface="Calibri"/>
              </a:rPr>
              <a:t>https://en.wikichip.org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408" y="1892612"/>
            <a:ext cx="3210040" cy="1765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Computer Technology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053554"/>
            <a:ext cx="8270875" cy="518375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Performance improvements: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Improvements in semiconductor technology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Reduction in feature size (Moore’s Law: ~2x/2yrs)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Increased clock speed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Improvements in computer architectures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Enabled by HLL compilers, UNIX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Lead to RISC architectures (replacing VAX)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Together have enabled: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Lightweight computers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Productivity-based managed / interpreted programming languages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265582" y="507395"/>
            <a:ext cx="1390124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Introduction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Single Processor Performance</a:t>
            </a:r>
            <a:endParaRPr lang="en-GB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sp>
        <p:nvSpPr>
          <p:cNvPr id="483332" name="Text Box 4"/>
          <p:cNvSpPr txBox="1">
            <a:spLocks noChangeArrowheads="1"/>
          </p:cNvSpPr>
          <p:nvPr/>
        </p:nvSpPr>
        <p:spPr bwMode="auto">
          <a:xfrm rot="5400000">
            <a:off x="8265582" y="507395"/>
            <a:ext cx="1390124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Introduction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8" y="1311710"/>
            <a:ext cx="8945580" cy="4997610"/>
          </a:xfrm>
          <a:prstGeom prst="rect">
            <a:avLst/>
          </a:prstGeom>
        </p:spPr>
      </p:pic>
      <p:sp>
        <p:nvSpPr>
          <p:cNvPr id="2" name="object 4">
            <a:extLst>
              <a:ext uri="{FF2B5EF4-FFF2-40B4-BE49-F238E27FC236}">
                <a16:creationId xmlns:a16="http://schemas.microsoft.com/office/drawing/2014/main" id="{CAF46FD2-C7BD-073F-5A92-000E9E15452E}"/>
              </a:ext>
            </a:extLst>
          </p:cNvPr>
          <p:cNvSpPr txBox="1"/>
          <p:nvPr/>
        </p:nvSpPr>
        <p:spPr>
          <a:xfrm>
            <a:off x="4428124" y="4552070"/>
            <a:ext cx="4265930" cy="139382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605"/>
              </a:spcBef>
              <a:buSzPct val="110526"/>
              <a:buFont typeface="Arial MT"/>
              <a:buChar char="•"/>
              <a:tabLst>
                <a:tab pos="181610" algn="l"/>
                <a:tab pos="1529715" algn="l"/>
              </a:tabLst>
            </a:pPr>
            <a:r>
              <a:rPr sz="1900" b="1" spc="-25" dirty="0">
                <a:latin typeface="Arial"/>
                <a:cs typeface="Arial"/>
              </a:rPr>
              <a:t>VAX</a:t>
            </a:r>
            <a:r>
              <a:rPr sz="1900" b="1" dirty="0">
                <a:latin typeface="Arial"/>
                <a:cs typeface="Arial"/>
              </a:rPr>
              <a:t>: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25%/year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1978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to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1986</a:t>
            </a:r>
            <a:endParaRPr sz="1900" dirty="0">
              <a:latin typeface="Arial"/>
              <a:cs typeface="Arial"/>
            </a:endParaRPr>
          </a:p>
          <a:p>
            <a:pPr marL="164465" indent="-151765">
              <a:lnSpc>
                <a:spcPct val="100000"/>
              </a:lnSpc>
              <a:spcBef>
                <a:spcPts val="1225"/>
              </a:spcBef>
              <a:buSzPct val="100000"/>
              <a:buFont typeface="Arial MT"/>
              <a:buChar char="•"/>
              <a:tabLst>
                <a:tab pos="164465" algn="l"/>
              </a:tabLst>
            </a:pPr>
            <a:r>
              <a:rPr sz="1900" b="1" dirty="0">
                <a:latin typeface="Arial"/>
                <a:cs typeface="Arial"/>
              </a:rPr>
              <a:t>RISC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+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x86: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52%/year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1986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to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2002</a:t>
            </a:r>
            <a:endParaRPr sz="1900" dirty="0">
              <a:latin typeface="Arial"/>
              <a:cs typeface="Arial"/>
            </a:endParaRPr>
          </a:p>
          <a:p>
            <a:pPr marL="164465" indent="-151765">
              <a:lnSpc>
                <a:spcPct val="100000"/>
              </a:lnSpc>
              <a:spcBef>
                <a:spcPts val="1200"/>
              </a:spcBef>
              <a:buSzPct val="100000"/>
              <a:buFont typeface="Arial MT"/>
              <a:buChar char="•"/>
              <a:tabLst>
                <a:tab pos="164465" algn="l"/>
              </a:tabLst>
            </a:pPr>
            <a:r>
              <a:rPr sz="1900" b="1" dirty="0">
                <a:latin typeface="Arial"/>
                <a:cs typeface="Arial"/>
              </a:rPr>
              <a:t>RISC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+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x86: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25%/year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2002</a:t>
            </a:r>
            <a:r>
              <a:rPr sz="1900" b="1" spc="1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to</a:t>
            </a:r>
            <a:r>
              <a:rPr sz="1900" b="1" spc="10" dirty="0">
                <a:latin typeface="Arial"/>
                <a:cs typeface="Arial"/>
              </a:rPr>
              <a:t> </a:t>
            </a:r>
            <a:r>
              <a:rPr sz="1900" b="1" spc="-20" dirty="0">
                <a:latin typeface="Arial"/>
                <a:cs typeface="Arial"/>
              </a:rPr>
              <a:t>2010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9DC5CD93-B639-E32C-852C-ECDDF9E2A95E}"/>
              </a:ext>
            </a:extLst>
          </p:cNvPr>
          <p:cNvSpPr txBox="1"/>
          <p:nvPr/>
        </p:nvSpPr>
        <p:spPr>
          <a:xfrm>
            <a:off x="645290" y="881792"/>
            <a:ext cx="411670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Hennessy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Patterson,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6th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edition</a:t>
            </a:r>
            <a:endParaRPr sz="1900" dirty="0">
              <a:latin typeface="Times New Roman"/>
              <a:cs typeface="Times New Roman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35CDEFB6-606C-DC76-45B8-7177CC7E65AA}"/>
              </a:ext>
            </a:extLst>
          </p:cNvPr>
          <p:cNvSpPr txBox="1"/>
          <p:nvPr/>
        </p:nvSpPr>
        <p:spPr>
          <a:xfrm rot="16200000">
            <a:off x="7525024" y="4068482"/>
            <a:ext cx="273630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900" dirty="0">
                <a:latin typeface="Times New Roman"/>
                <a:cs typeface="Times New Roman"/>
              </a:rPr>
              <a:t>Performance (logarithmic)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188640"/>
            <a:ext cx="7307636" cy="503758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200" dirty="0"/>
              <a:t>Conventional</a:t>
            </a:r>
            <a:r>
              <a:rPr sz="3200" spc="18" dirty="0"/>
              <a:t> </a:t>
            </a:r>
            <a:r>
              <a:rPr sz="3200" dirty="0"/>
              <a:t>Wisdom</a:t>
            </a:r>
            <a:r>
              <a:rPr sz="3200" spc="26" dirty="0"/>
              <a:t> </a:t>
            </a:r>
            <a:r>
              <a:rPr sz="3200" dirty="0"/>
              <a:t>in</a:t>
            </a:r>
            <a:r>
              <a:rPr sz="3200" spc="22" dirty="0"/>
              <a:t> </a:t>
            </a:r>
            <a:r>
              <a:rPr sz="3200" dirty="0"/>
              <a:t>Comp.</a:t>
            </a:r>
            <a:r>
              <a:rPr sz="3200" spc="13" dirty="0"/>
              <a:t> </a:t>
            </a:r>
            <a:r>
              <a:rPr sz="3200" spc="-18" dirty="0"/>
              <a:t>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5" y="836712"/>
            <a:ext cx="7858686" cy="5400913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54107" indent="-342900">
              <a:spcBef>
                <a:spcPts val="596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latin typeface="Calibri"/>
                <a:cs typeface="Calibri"/>
              </a:rPr>
              <a:t>Old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Conventional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Wisdom: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Power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free,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Transistors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expensive</a:t>
            </a:r>
            <a:endParaRPr sz="2000" dirty="0">
              <a:latin typeface="Calibri"/>
              <a:cs typeface="Calibri"/>
            </a:endParaRPr>
          </a:p>
          <a:p>
            <a:pPr marL="354106" marR="4483" indent="-342900">
              <a:lnSpc>
                <a:spcPts val="2030"/>
              </a:lnSpc>
              <a:spcBef>
                <a:spcPts val="737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000" dirty="0">
                <a:latin typeface="Calibri"/>
                <a:cs typeface="Calibri"/>
              </a:rPr>
              <a:t>New</a:t>
            </a:r>
            <a:r>
              <a:rPr sz="2000" spc="6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Conventional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Wisdom: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“Power</a:t>
            </a:r>
            <a:r>
              <a:rPr sz="2000" spc="57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wall”</a:t>
            </a:r>
            <a:r>
              <a:rPr sz="2000" spc="57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Power</a:t>
            </a:r>
            <a:r>
              <a:rPr sz="2000" spc="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expensive,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transistors </a:t>
            </a:r>
            <a:r>
              <a:rPr sz="2000" dirty="0">
                <a:latin typeface="Calibri"/>
                <a:cs typeface="Calibri"/>
              </a:rPr>
              <a:t>free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(Can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chip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afford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turn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on)</a:t>
            </a:r>
            <a:endParaRPr sz="2000" dirty="0">
              <a:latin typeface="Calibri"/>
              <a:cs typeface="Calibri"/>
            </a:endParaRPr>
          </a:p>
          <a:p>
            <a:pPr marL="354106" marR="308178" indent="-342900">
              <a:lnSpc>
                <a:spcPts val="2030"/>
              </a:lnSpc>
              <a:spcBef>
                <a:spcPts val="706"/>
              </a:spcBef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000" dirty="0">
                <a:latin typeface="Calibri"/>
                <a:cs typeface="Calibri"/>
              </a:rPr>
              <a:t>Old</a:t>
            </a:r>
            <a:r>
              <a:rPr sz="2000" spc="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CW: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Sufficiently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increasing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Instruction</a:t>
            </a:r>
            <a:r>
              <a:rPr sz="2000" spc="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Parallelism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(ILP)</a:t>
            </a:r>
            <a:r>
              <a:rPr sz="2000" spc="62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via </a:t>
            </a:r>
            <a:r>
              <a:rPr sz="2000" dirty="0">
                <a:latin typeface="Calibri"/>
                <a:cs typeface="Calibri"/>
              </a:rPr>
              <a:t>compilers,</a:t>
            </a:r>
            <a:r>
              <a:rPr sz="2000" spc="7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innovation</a:t>
            </a:r>
            <a:r>
              <a:rPr sz="2000" spc="8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(Out-of-order,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speculation,</a:t>
            </a:r>
            <a:r>
              <a:rPr sz="2000" spc="7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VLIW,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…)</a:t>
            </a:r>
            <a:endParaRPr sz="2000" dirty="0">
              <a:latin typeface="Calibri"/>
              <a:cs typeface="Calibri"/>
            </a:endParaRPr>
          </a:p>
          <a:p>
            <a:pPr marL="354107" indent="-342900">
              <a:spcBef>
                <a:spcPts val="476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latin typeface="Calibri"/>
                <a:cs typeface="Calibri"/>
              </a:rPr>
              <a:t>New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CW: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“ILP</a:t>
            </a:r>
            <a:r>
              <a:rPr sz="2000" spc="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wall”</a:t>
            </a:r>
            <a:r>
              <a:rPr sz="2000" spc="31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law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diminishing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returns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HW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ILP</a:t>
            </a:r>
            <a:endParaRPr sz="2000" dirty="0">
              <a:latin typeface="Calibri"/>
              <a:cs typeface="Calibri"/>
            </a:endParaRPr>
          </a:p>
          <a:p>
            <a:pPr marL="354107" indent="-342900">
              <a:spcBef>
                <a:spcPts val="507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latin typeface="Calibri"/>
                <a:cs typeface="Calibri"/>
              </a:rPr>
              <a:t>Old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CW: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Multiplies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slow,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fast</a:t>
            </a:r>
            <a:endParaRPr sz="2000" dirty="0">
              <a:latin typeface="Calibri"/>
              <a:cs typeface="Calibri"/>
            </a:endParaRPr>
          </a:p>
          <a:p>
            <a:pPr marL="354106" marR="1327408" indent="-342900">
              <a:lnSpc>
                <a:spcPts val="2030"/>
              </a:lnSpc>
              <a:spcBef>
                <a:spcPts val="759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000" dirty="0">
                <a:latin typeface="Calibri"/>
                <a:cs typeface="Calibri"/>
              </a:rPr>
              <a:t>New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CW: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“Memory</a:t>
            </a:r>
            <a:r>
              <a:rPr sz="2000" spc="44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66FF"/>
                </a:solidFill>
                <a:latin typeface="Calibri"/>
                <a:cs typeface="Calibri"/>
              </a:rPr>
              <a:t>wall”</a:t>
            </a:r>
            <a:r>
              <a:rPr sz="2000" spc="53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slow,</a:t>
            </a:r>
            <a:r>
              <a:rPr sz="2000" spc="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multiplies</a:t>
            </a:r>
            <a:r>
              <a:rPr sz="2000" spc="53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fast </a:t>
            </a:r>
            <a:br>
              <a:rPr lang="en-US" sz="2000" spc="-18" dirty="0">
                <a:latin typeface="Calibri"/>
                <a:cs typeface="Calibri"/>
              </a:rPr>
            </a:br>
            <a:r>
              <a:rPr sz="2000" dirty="0">
                <a:latin typeface="Calibri"/>
                <a:cs typeface="Calibri"/>
              </a:rPr>
              <a:t>(200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clock</a:t>
            </a:r>
            <a:r>
              <a:rPr sz="2000" spc="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cycles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DRAM</a:t>
            </a:r>
            <a:r>
              <a:rPr sz="2000" spc="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memory,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clocks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multiply)</a:t>
            </a:r>
            <a:endParaRPr lang="en-US" sz="2000" spc="-9" dirty="0">
              <a:latin typeface="Calibri"/>
              <a:cs typeface="Calibri"/>
            </a:endParaRPr>
          </a:p>
          <a:p>
            <a:pPr marL="354107" indent="-342900">
              <a:spcBef>
                <a:spcPts val="476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lang="en-US" sz="2000" dirty="0">
                <a:latin typeface="Calibri"/>
                <a:cs typeface="Calibri"/>
              </a:rPr>
              <a:t>Old</a:t>
            </a:r>
            <a:r>
              <a:rPr lang="en-US" sz="2000" spc="4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CW:</a:t>
            </a:r>
            <a:r>
              <a:rPr lang="en-US" sz="2000" spc="4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Uniprocessor</a:t>
            </a:r>
            <a:r>
              <a:rPr lang="en-US" sz="2000" spc="4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performance</a:t>
            </a:r>
            <a:r>
              <a:rPr lang="en-US" sz="2000" spc="53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2X</a:t>
            </a:r>
            <a:r>
              <a:rPr lang="en-US" sz="2000" spc="4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/</a:t>
            </a:r>
            <a:r>
              <a:rPr lang="en-US" sz="2000" spc="4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1.5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22" dirty="0">
                <a:latin typeface="Calibri"/>
                <a:cs typeface="Calibri"/>
              </a:rPr>
              <a:t>yrs</a:t>
            </a:r>
            <a:endParaRPr lang="en-US" sz="2000" dirty="0">
              <a:latin typeface="Calibri"/>
              <a:cs typeface="Calibri"/>
            </a:endParaRPr>
          </a:p>
          <a:p>
            <a:pPr marL="354107" indent="-342900">
              <a:spcBef>
                <a:spcPts val="424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lang="en-US" sz="2000" dirty="0">
                <a:latin typeface="Calibri"/>
                <a:cs typeface="Calibri"/>
              </a:rPr>
              <a:t>New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CW: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Power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Wall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+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ILP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Wall</a:t>
            </a:r>
            <a:r>
              <a:rPr lang="en-US" sz="2000" spc="26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+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Wall</a:t>
            </a:r>
            <a:r>
              <a:rPr lang="en-US" sz="2000" spc="26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=</a:t>
            </a:r>
            <a:r>
              <a:rPr lang="en-US" sz="2000" spc="22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066FF"/>
                </a:solidFill>
                <a:latin typeface="Calibri"/>
                <a:cs typeface="Calibri"/>
              </a:rPr>
              <a:t>Brick</a:t>
            </a:r>
            <a:r>
              <a:rPr lang="en-US" sz="2000" spc="31" dirty="0">
                <a:solidFill>
                  <a:srgbClr val="0066FF"/>
                </a:solidFill>
                <a:latin typeface="Calibri"/>
                <a:cs typeface="Calibri"/>
              </a:rPr>
              <a:t> </a:t>
            </a:r>
            <a:r>
              <a:rPr lang="en-US" sz="2000" spc="-18" dirty="0">
                <a:solidFill>
                  <a:srgbClr val="0066FF"/>
                </a:solidFill>
                <a:latin typeface="Calibri"/>
                <a:cs typeface="Calibri"/>
              </a:rPr>
              <a:t>Wall</a:t>
            </a:r>
            <a:endParaRPr lang="en-US" sz="2000" dirty="0">
              <a:latin typeface="Calibri"/>
              <a:cs typeface="Calibri"/>
            </a:endParaRPr>
          </a:p>
          <a:p>
            <a:pPr marL="441535">
              <a:spcBef>
                <a:spcPts val="419"/>
              </a:spcBef>
              <a:tabLst>
                <a:tab pos="656139" algn="l"/>
              </a:tabLst>
            </a:pPr>
            <a:r>
              <a:rPr lang="en-US" sz="1800" spc="-44" dirty="0">
                <a:latin typeface="Calibri"/>
                <a:cs typeface="Calibri"/>
              </a:rPr>
              <a:t>–</a:t>
            </a:r>
            <a:r>
              <a:rPr lang="en-US" sz="1800" dirty="0">
                <a:latin typeface="Calibri"/>
                <a:cs typeface="Calibri"/>
              </a:rPr>
              <a:t>	Uniprocessor</a:t>
            </a:r>
            <a:r>
              <a:rPr lang="en-US" sz="1800" spc="-13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performance</a:t>
            </a:r>
            <a:r>
              <a:rPr lang="en-US" sz="1800" spc="-13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now</a:t>
            </a:r>
            <a:r>
              <a:rPr lang="en-US" sz="1800" spc="-9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2X</a:t>
            </a:r>
            <a:r>
              <a:rPr lang="en-US" sz="1800" spc="-18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/</a:t>
            </a:r>
            <a:r>
              <a:rPr lang="en-US" sz="1800" spc="-22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5(?)</a:t>
            </a:r>
            <a:r>
              <a:rPr lang="en-US" sz="1800" spc="-4" dirty="0">
                <a:latin typeface="Calibri"/>
                <a:cs typeface="Calibri"/>
              </a:rPr>
              <a:t> </a:t>
            </a:r>
            <a:r>
              <a:rPr lang="en-US" sz="1800" spc="-22" dirty="0">
                <a:latin typeface="Calibri"/>
                <a:cs typeface="Calibri"/>
              </a:rPr>
              <a:t>yrs</a:t>
            </a:r>
            <a:endParaRPr lang="en-US" sz="1800" dirty="0">
              <a:latin typeface="Calibri"/>
              <a:cs typeface="Calibri"/>
            </a:endParaRPr>
          </a:p>
          <a:p>
            <a:pPr marL="871864" marR="2410514" indent="-591702">
              <a:lnSpc>
                <a:spcPts val="2030"/>
              </a:lnSpc>
              <a:spcBef>
                <a:spcPts val="724"/>
              </a:spcBef>
            </a:pPr>
            <a:r>
              <a:rPr lang="en-US" sz="1853" dirty="0">
                <a:latin typeface="Symbol"/>
                <a:cs typeface="Symbol"/>
              </a:rPr>
              <a:t></a:t>
            </a:r>
            <a:r>
              <a:rPr lang="en-US" sz="1853" spc="13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</a:t>
            </a:r>
            <a:r>
              <a:rPr lang="en-US" sz="2000" spc="4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change</a:t>
            </a:r>
            <a:r>
              <a:rPr lang="en-US" sz="2000" spc="4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4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</a:t>
            </a:r>
            <a:r>
              <a:rPr lang="en-US" sz="2000" spc="4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design: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multiple</a:t>
            </a:r>
            <a:r>
              <a:rPr lang="en-US" sz="2000" spc="49" dirty="0">
                <a:latin typeface="Calibri"/>
                <a:cs typeface="Calibri"/>
              </a:rPr>
              <a:t> </a:t>
            </a:r>
            <a:r>
              <a:rPr lang="en-US" sz="2000" spc="-9" dirty="0">
                <a:latin typeface="Calibri"/>
                <a:cs typeface="Calibri"/>
              </a:rPr>
              <a:t>“cores” </a:t>
            </a:r>
            <a:br>
              <a:rPr lang="en-US" sz="2000" spc="-9" dirty="0">
                <a:latin typeface="Calibri"/>
                <a:cs typeface="Calibri"/>
              </a:rPr>
            </a:br>
            <a:r>
              <a:rPr lang="en-US" sz="2000" dirty="0">
                <a:latin typeface="Calibri"/>
                <a:cs typeface="Calibri"/>
              </a:rPr>
              <a:t>(2X</a:t>
            </a:r>
            <a:r>
              <a:rPr lang="en-US" sz="2000" spc="26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26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</a:t>
            </a:r>
            <a:r>
              <a:rPr lang="en-US" sz="2000" spc="22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</a:t>
            </a:r>
            <a:r>
              <a:rPr lang="en-US" sz="2000" spc="26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/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~</a:t>
            </a:r>
            <a:r>
              <a:rPr lang="en-US" sz="2000" spc="31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2</a:t>
            </a:r>
            <a:r>
              <a:rPr lang="en-US" sz="2000" spc="22" dirty="0">
                <a:latin typeface="Calibri"/>
                <a:cs typeface="Calibri"/>
              </a:rPr>
              <a:t> </a:t>
            </a:r>
            <a:r>
              <a:rPr lang="en-US" sz="2000" spc="-9" dirty="0">
                <a:latin typeface="Calibri"/>
                <a:cs typeface="Calibri"/>
              </a:rPr>
              <a:t>years)</a:t>
            </a:r>
            <a:endParaRPr lang="en-US" sz="2000" dirty="0">
              <a:latin typeface="Calibri"/>
              <a:cs typeface="Calibri"/>
            </a:endParaRPr>
          </a:p>
          <a:p>
            <a:pPr marL="871864">
              <a:spcBef>
                <a:spcPts val="375"/>
              </a:spcBef>
            </a:pPr>
            <a:r>
              <a:rPr lang="en-US" sz="1800" dirty="0">
                <a:latin typeface="Calibri"/>
                <a:cs typeface="Calibri"/>
              </a:rPr>
              <a:t>»</a:t>
            </a:r>
            <a:r>
              <a:rPr lang="en-US" sz="1800" spc="35" dirty="0">
                <a:latin typeface="Calibri"/>
                <a:cs typeface="Calibri"/>
              </a:rPr>
              <a:t>  </a:t>
            </a:r>
            <a:r>
              <a:rPr lang="en-US" sz="1800" dirty="0">
                <a:latin typeface="Calibri"/>
                <a:cs typeface="Calibri"/>
              </a:rPr>
              <a:t>Simpler</a:t>
            </a:r>
            <a:r>
              <a:rPr lang="en-US" sz="1800" spc="9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processors</a:t>
            </a:r>
            <a:r>
              <a:rPr lang="en-US" sz="1800" spc="9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18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more</a:t>
            </a:r>
            <a:r>
              <a:rPr lang="en-US" sz="1800" spc="18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power</a:t>
            </a:r>
            <a:r>
              <a:rPr lang="en-US" sz="1800" spc="9" dirty="0">
                <a:latin typeface="Calibri"/>
                <a:cs typeface="Calibri"/>
              </a:rPr>
              <a:t> </a:t>
            </a:r>
            <a:r>
              <a:rPr lang="en-US" sz="1800" spc="-9" dirty="0">
                <a:latin typeface="Calibri"/>
                <a:cs typeface="Calibri"/>
              </a:rPr>
              <a:t>efficient</a:t>
            </a:r>
            <a:endParaRPr lang="en-US"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Sea Change in</a:t>
            </a:r>
            <a:r>
              <a:rPr spc="9" dirty="0"/>
              <a:t> </a:t>
            </a:r>
            <a:r>
              <a:rPr dirty="0"/>
              <a:t>Chip</a:t>
            </a:r>
            <a:r>
              <a:rPr spc="13" dirty="0"/>
              <a:t> </a:t>
            </a:r>
            <a:r>
              <a:rPr spc="-9" dirty="0"/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9553" y="944421"/>
            <a:ext cx="5832648" cy="465771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47663" indent="-280988">
              <a:lnSpc>
                <a:spcPts val="2021"/>
              </a:lnSpc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Intel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4004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(1971):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4-bit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processor,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36194">
              <a:lnSpc>
                <a:spcPts val="1897"/>
              </a:lnSpc>
            </a:pP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2312</a:t>
            </a:r>
            <a:r>
              <a:rPr sz="2400" b="1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transistors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,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0.4</a:t>
            </a:r>
            <a:r>
              <a:rPr sz="2400" spc="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MHz,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36194">
              <a:lnSpc>
                <a:spcPts val="1990"/>
              </a:lnSpc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10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micron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PMOS,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11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mm</a:t>
            </a:r>
            <a:r>
              <a:rPr sz="2400" baseline="23809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400" spc="-53" baseline="2380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chip</a:t>
            </a:r>
            <a:endParaRPr lang="en-US" sz="2400" spc="-18" dirty="0">
              <a:solidFill>
                <a:srgbClr val="003399"/>
              </a:solidFill>
              <a:latin typeface="Calibri"/>
              <a:cs typeface="Calibri"/>
            </a:endParaRPr>
          </a:p>
          <a:p>
            <a:pPr>
              <a:spcBef>
                <a:spcPts val="300"/>
              </a:spcBef>
            </a:pPr>
            <a:endParaRPr sz="10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2988" marR="600667" indent="-285750">
              <a:lnSpc>
                <a:spcPts val="1950"/>
              </a:lnSpc>
              <a:buSzPct val="100000"/>
              <a:buFont typeface="Arial" panose="020B0604020202020204" pitchFamily="34" charset="0"/>
              <a:buChar char="•"/>
              <a:tabLst>
                <a:tab pos="336194" algn="l"/>
              </a:tabLs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RISC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II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(1983):</a:t>
            </a:r>
            <a:r>
              <a:rPr sz="2400" spc="2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32-bit,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5</a:t>
            </a:r>
            <a:r>
              <a:rPr sz="2400" spc="2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stage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pipeline,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40,760</a:t>
            </a:r>
            <a:r>
              <a:rPr sz="2400" b="1" spc="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transistors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,</a:t>
            </a:r>
            <a:r>
              <a:rPr sz="2400" spc="2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2400" spc="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MHz,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36194">
              <a:lnSpc>
                <a:spcPts val="1888"/>
              </a:lnSpc>
              <a:spcAft>
                <a:spcPts val="1200"/>
              </a:spcAf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micron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NMOS,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60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mm</a:t>
            </a:r>
            <a:r>
              <a:rPr sz="2400" baseline="23809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400" spc="-46" baseline="2380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chip</a:t>
            </a:r>
            <a:endParaRPr sz="1765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2989" indent="-285750">
              <a:lnSpc>
                <a:spcPts val="2034"/>
              </a:lnSpc>
              <a:buSzPct val="100000"/>
              <a:buFont typeface="Arial" panose="020B0604020202020204" pitchFamily="34" charset="0"/>
              <a:buChar char="•"/>
              <a:tabLst>
                <a:tab pos="335634" algn="l"/>
              </a:tabLs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125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mm</a:t>
            </a:r>
            <a:r>
              <a:rPr sz="2400" baseline="23809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400" spc="-39" baseline="2380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chip,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0.065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micron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CMOS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(2006)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36194">
              <a:lnSpc>
                <a:spcPts val="2034"/>
              </a:lnSpc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2312</a:t>
            </a:r>
            <a:r>
              <a:rPr sz="2400" b="1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RISC</a:t>
            </a:r>
            <a:r>
              <a:rPr sz="2400" b="1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99"/>
                </a:solidFill>
                <a:latin typeface="Calibri"/>
                <a:cs typeface="Calibri"/>
              </a:rPr>
              <a:t>II</a:t>
            </a:r>
            <a:r>
              <a:rPr sz="2400" b="1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+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FPU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+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Icache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+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Dcache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39908" lvl="1" indent="-342900">
              <a:spcBef>
                <a:spcPts val="427"/>
              </a:spcBef>
              <a:buSzPct val="100000"/>
              <a:buFont typeface="Arial" panose="020B0604020202020204" pitchFamily="34" charset="0"/>
              <a:buChar char="•"/>
              <a:tabLst>
                <a:tab pos="710491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~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100M</a:t>
            </a:r>
            <a:r>
              <a:rPr sz="20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transistors</a:t>
            </a:r>
            <a:endParaRPr sz="20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39908" lvl="1" indent="-342900">
              <a:spcBef>
                <a:spcPts val="468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710491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RISC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II</a:t>
            </a:r>
            <a:r>
              <a:rPr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shrinks</a:t>
            </a:r>
            <a:r>
              <a:rPr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~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0.02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mm</a:t>
            </a:r>
            <a:r>
              <a:rPr sz="2000" baseline="25641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000" spc="184" baseline="2564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65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2" dirty="0">
                <a:solidFill>
                  <a:srgbClr val="003399"/>
                </a:solidFill>
                <a:latin typeface="Calibri"/>
                <a:cs typeface="Calibri"/>
              </a:rPr>
              <a:t>nm</a:t>
            </a:r>
            <a:endParaRPr sz="1677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2988" marR="298092" indent="-285750">
              <a:lnSpc>
                <a:spcPts val="1950"/>
              </a:lnSpc>
              <a:buSzPct val="100000"/>
              <a:buFont typeface="Arial" panose="020B0604020202020204" pitchFamily="34" charset="0"/>
              <a:buChar char="•"/>
              <a:tabLst>
                <a:tab pos="336194" algn="l"/>
              </a:tabLs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Skylake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Core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i7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(2015):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122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mm</a:t>
            </a:r>
            <a:r>
              <a:rPr sz="2400" baseline="23809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400" spc="-46" baseline="2380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chip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Calibri"/>
                <a:cs typeface="Calibri"/>
              </a:rPr>
              <a:t>is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fabricated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14nm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39908" lvl="1" indent="-342900">
              <a:spcBef>
                <a:spcPts val="409"/>
              </a:spcBef>
              <a:buSzPct val="100000"/>
              <a:buFont typeface="Arial" panose="020B0604020202020204" pitchFamily="34" charset="0"/>
              <a:buChar char="•"/>
              <a:tabLst>
                <a:tab pos="710491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~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1.7B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transistors</a:t>
            </a:r>
            <a:endParaRPr sz="20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156" y="2624423"/>
            <a:ext cx="2271059" cy="12909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0192" y="836712"/>
            <a:ext cx="2280024" cy="16539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94924" y="5733256"/>
            <a:ext cx="594528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b="1" dirty="0">
                <a:solidFill>
                  <a:srgbClr val="0000B4"/>
                </a:solidFill>
                <a:latin typeface="Arial"/>
                <a:cs typeface="Arial"/>
              </a:rPr>
              <a:t>Processor</a:t>
            </a:r>
            <a:r>
              <a:rPr sz="3000" b="1" spc="-4" dirty="0">
                <a:solidFill>
                  <a:srgbClr val="0000B4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000B4"/>
                </a:solidFill>
                <a:latin typeface="Arial"/>
                <a:cs typeface="Arial"/>
              </a:rPr>
              <a:t>is</a:t>
            </a:r>
            <a:r>
              <a:rPr sz="3000" b="1" spc="-9" dirty="0">
                <a:solidFill>
                  <a:srgbClr val="0000B4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000B4"/>
                </a:solidFill>
                <a:latin typeface="Arial"/>
                <a:cs typeface="Arial"/>
              </a:rPr>
              <a:t>the</a:t>
            </a:r>
            <a:r>
              <a:rPr sz="3000" b="1" spc="-9" dirty="0">
                <a:solidFill>
                  <a:srgbClr val="0000B4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000B4"/>
                </a:solidFill>
                <a:latin typeface="Arial"/>
                <a:cs typeface="Arial"/>
              </a:rPr>
              <a:t>new </a:t>
            </a:r>
            <a:r>
              <a:rPr sz="3000" b="1" spc="-9" dirty="0">
                <a:solidFill>
                  <a:srgbClr val="0000B4"/>
                </a:solidFill>
                <a:latin typeface="Arial"/>
                <a:cs typeface="Arial"/>
              </a:rPr>
              <a:t>transistor?</a:t>
            </a:r>
            <a:endParaRPr sz="3000" dirty="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09156" y="4078026"/>
            <a:ext cx="2271059" cy="15548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Current Trends in Architecture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Cannot continue to leverage Instruction-Level parallelism (ILP)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Single processor performance improvement </a:t>
            </a:r>
            <a:br>
              <a:rPr lang="en-US" sz="2400" dirty="0"/>
            </a:br>
            <a:r>
              <a:rPr lang="en-US" sz="2400" dirty="0"/>
              <a:t>ended in 2003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Emergence of new models for performance: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Data-level parallelism (DLP)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Thread-level parallelism (TLP)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Request-level parallelism (RLP)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These require explicit restructuring </a:t>
            </a:r>
            <a:br>
              <a:rPr lang="en-US" sz="2800" dirty="0"/>
            </a:br>
            <a:r>
              <a:rPr lang="en-US" sz="2800" dirty="0"/>
              <a:t>of the application</a:t>
            </a:r>
            <a:endParaRPr lang="en-US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265583" y="507395"/>
            <a:ext cx="1390124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Introduction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Problems with</a:t>
            </a:r>
            <a:r>
              <a:rPr spc="9" dirty="0"/>
              <a:t> </a:t>
            </a:r>
            <a:r>
              <a:rPr dirty="0"/>
              <a:t>Sea</a:t>
            </a:r>
            <a:r>
              <a:rPr spc="9" dirty="0"/>
              <a:t> </a:t>
            </a:r>
            <a:r>
              <a:rPr spc="-9" dirty="0"/>
              <a:t>Change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7584" y="980728"/>
            <a:ext cx="7704856" cy="50783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68407" indent="-457200">
              <a:spcBef>
                <a:spcPts val="88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Algorithms,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Programming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Languages,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Compilers,</a:t>
            </a:r>
            <a:b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</a:b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Operating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Systems,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Architectures,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Libraries,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…</a:t>
            </a:r>
            <a:endParaRPr lang="en-US" sz="2800" spc="-44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11307" lvl="1" indent="-342900">
              <a:spcBef>
                <a:spcPts val="88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ot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ready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supply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Thread</a:t>
            </a:r>
            <a:r>
              <a:rPr lang="en-US" sz="2400" spc="18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Parallelism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or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Data</a:t>
            </a:r>
            <a:r>
              <a:rPr lang="en-US" sz="2400" spc="13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Parallelism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lang="en-US" sz="2400" spc="-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1000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CPUs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/</a:t>
            </a:r>
            <a:r>
              <a:rPr sz="2400" spc="2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chip</a:t>
            </a:r>
            <a:endParaRPr lang="en-US" sz="2400" spc="-18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11307" lvl="1" indent="-342900">
              <a:spcBef>
                <a:spcPts val="88"/>
              </a:spcBef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Unlike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lang="en-US" sz="2400" spc="18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Parallelism,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cannot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be</a:t>
            </a:r>
            <a:r>
              <a:rPr sz="24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solved</a:t>
            </a:r>
            <a:r>
              <a:rPr sz="24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just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by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computer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architects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compiler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writers</a:t>
            </a:r>
            <a:r>
              <a:rPr lang="en-US"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alone,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but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also</a:t>
            </a:r>
            <a:r>
              <a:rPr sz="24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cannot</a:t>
            </a:r>
            <a:r>
              <a:rPr sz="24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be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solved</a:t>
            </a:r>
            <a:r>
              <a:rPr sz="24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without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participation</a:t>
            </a:r>
            <a:r>
              <a:rPr sz="2400" spc="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sz="24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architects</a:t>
            </a:r>
            <a:endParaRPr sz="1677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468406" marR="160813" indent="-457200">
              <a:lnSpc>
                <a:spcPct val="89600"/>
              </a:lnSpc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Shift in Parallelism</a:t>
            </a:r>
          </a:p>
          <a:p>
            <a:pPr marL="925606" marR="160813" lvl="1" indent="-457200"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GPU</a:t>
            </a:r>
            <a:r>
              <a:rPr lang="en-US" sz="2400" spc="-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/</a:t>
            </a:r>
            <a:r>
              <a:rPr lang="en-US" sz="2400" spc="-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Vector</a:t>
            </a:r>
            <a:r>
              <a:rPr sz="24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Calibri"/>
                <a:cs typeface="Calibri"/>
              </a:rPr>
              <a:t>technologies</a:t>
            </a:r>
            <a:r>
              <a:rPr sz="24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24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shift</a:t>
            </a:r>
            <a:r>
              <a:rPr sz="24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24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lang="en-US" sz="2400" spc="-9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r>
              <a:rPr sz="24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Parallelism</a:t>
            </a:r>
            <a:r>
              <a:rPr lang="en-US" sz="2400" spc="-18" dirty="0">
                <a:solidFill>
                  <a:srgbClr val="003399"/>
                </a:solidFill>
                <a:latin typeface="Calibri"/>
                <a:cs typeface="Calibri"/>
              </a:rPr>
              <a:t> (ILP)</a:t>
            </a:r>
            <a:r>
              <a:rPr sz="24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4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Thread</a:t>
            </a:r>
            <a:r>
              <a:rPr lang="en-US" sz="2400" spc="-75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r>
              <a:rPr sz="24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Calibri"/>
                <a:cs typeface="Calibri"/>
              </a:rPr>
              <a:t>Parallelism</a:t>
            </a:r>
            <a:r>
              <a:rPr lang="en-US" sz="2400" spc="-18" dirty="0">
                <a:solidFill>
                  <a:srgbClr val="003399"/>
                </a:solidFill>
                <a:latin typeface="Calibri"/>
                <a:cs typeface="Calibri"/>
              </a:rPr>
              <a:t> (TLP)</a:t>
            </a:r>
            <a:r>
              <a:rPr sz="24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Calibri"/>
                <a:cs typeface="Calibri"/>
              </a:rPr>
              <a:t>/</a:t>
            </a:r>
            <a:r>
              <a:rPr sz="24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Data</a:t>
            </a:r>
            <a:r>
              <a:rPr lang="en-US" sz="2400" spc="-71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400" spc="-9" dirty="0">
                <a:solidFill>
                  <a:srgbClr val="003399"/>
                </a:solidFill>
                <a:latin typeface="Calibri"/>
                <a:cs typeface="Calibri"/>
              </a:rPr>
              <a:t>Level Parallelism</a:t>
            </a:r>
            <a:r>
              <a:rPr lang="en-US" sz="2400" spc="-9" dirty="0">
                <a:solidFill>
                  <a:srgbClr val="003399"/>
                </a:solidFill>
                <a:latin typeface="Calibri"/>
                <a:cs typeface="Calibri"/>
              </a:rPr>
              <a:t> (DLP)</a:t>
            </a:r>
            <a:endParaRPr sz="24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Classes of Computers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52736"/>
            <a:ext cx="8270875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Personal Mobile Device (PMD)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e.g. start phones, tablet computers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energy efficiency and real-time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Desktop Computing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price-performance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Servers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availability, scalability, throughput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Clusters / Warehouse Scale Computers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Used for “Software as a Service (</a:t>
            </a:r>
            <a:r>
              <a:rPr lang="en-US" sz="2000" dirty="0" err="1"/>
              <a:t>SaaS</a:t>
            </a:r>
            <a:r>
              <a:rPr lang="en-US" sz="2000" dirty="0"/>
              <a:t>)”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availability and price-performance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Sub-class:  Supercomputers, emphasis:  floating-point performance and fast internal networks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Internet of Things / Embedded Computers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Emphasis:  price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733387" y="1042871"/>
            <a:ext cx="245451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Classes of Computers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Parallelism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352283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Classes of parallelism in applications: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Data-Level Parallelism (DLP)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Task-Level Parallelism (TLP)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Classes of architectural parallelism: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Instruction-Level Parallelism (ILP)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Vector architectures / Graphic Processor Units (GPUs)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Thread-Level Parallelism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Request-Level Parallelism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733385" y="1043784"/>
            <a:ext cx="245451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Classes of Computers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Flynn’s Taxonomy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80728"/>
            <a:ext cx="8568307" cy="511175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SzPct val="100000"/>
              <a:buFont typeface="+mj-lt"/>
              <a:buAutoNum type="arabicPeriod"/>
            </a:pPr>
            <a:r>
              <a:rPr lang="en-US" sz="2400" dirty="0"/>
              <a:t>Single instruction stream, single data stream (SISD)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marL="457200" indent="-457200">
              <a:lnSpc>
                <a:spcPct val="90000"/>
              </a:lnSpc>
              <a:buSzPct val="100000"/>
              <a:buFont typeface="+mj-lt"/>
              <a:buAutoNum type="arabicPeriod" startAt="2"/>
            </a:pPr>
            <a:r>
              <a:rPr lang="en-US" sz="2400" dirty="0"/>
              <a:t>Single instruction stream, multiple data streams (SIMD)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Vector architectures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Multimedia extensions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Graphics processor units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marL="457200" indent="-457200">
              <a:lnSpc>
                <a:spcPct val="90000"/>
              </a:lnSpc>
              <a:buSzPct val="100000"/>
              <a:buFont typeface="+mj-lt"/>
              <a:buAutoNum type="arabicPeriod" startAt="3"/>
            </a:pPr>
            <a:r>
              <a:rPr lang="en-US" sz="2400" dirty="0"/>
              <a:t>Multiple instruction streams, single data stream (MISD)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No commercial implementation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marL="457200" indent="-457200">
              <a:lnSpc>
                <a:spcPct val="90000"/>
              </a:lnSpc>
              <a:buSzPct val="100000"/>
              <a:buFont typeface="+mj-lt"/>
              <a:buAutoNum type="arabicPeriod" startAt="4"/>
            </a:pPr>
            <a:r>
              <a:rPr lang="en-US" sz="2400" dirty="0"/>
              <a:t>Multiple instruction streams, multiple data streams (MIMD)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Tightly-coupled MIMD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Loosely-coupled MIMD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 rot="5400000">
            <a:off x="7733385" y="1043784"/>
            <a:ext cx="245451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Classes of Computers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7B2FF-85AF-DAA5-37DB-6FF3F3585B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3640D868-C464-E26D-53F3-41D256242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307048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6CC5770-25B2-5707-B345-D616D5370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174" y="4293096"/>
            <a:ext cx="1368151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2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F7F2D-2A1E-20B1-BC6A-E0D80ED531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41B2D54E-68F0-DA80-6B45-B4FD43047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3323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6E61B0-2D92-2347-DFEA-0217BA331926}"/>
              </a:ext>
            </a:extLst>
          </p:cNvPr>
          <p:cNvSpPr txBox="1"/>
          <p:nvPr/>
        </p:nvSpPr>
        <p:spPr>
          <a:xfrm>
            <a:off x="7956376" y="3479125"/>
            <a:ext cx="936104" cy="36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3399"/>
                </a:solidFill>
                <a:latin typeface="+mn-lt"/>
              </a:rPr>
              <a:t>(Ch4)</a:t>
            </a:r>
          </a:p>
        </p:txBody>
      </p:sp>
    </p:spTree>
    <p:extLst>
      <p:ext uri="{BB962C8B-B14F-4D97-AF65-F5344CB8AC3E}">
        <p14:creationId xmlns:p14="http://schemas.microsoft.com/office/powerpoint/2010/main" val="1535594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14CC63FF-4B53-A5EB-E7B4-3F08878B9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75"/>
            <a:ext cx="9144000" cy="625834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76048-1900-CA29-7381-0B59EA29EF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A20366D-7B90-E1E4-0DAC-8F52C0C20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005064"/>
            <a:ext cx="1368151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1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FEB97-6FB2-D82D-CB78-3495BE39A5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CFA417FA-FB5E-6ABF-A6CB-52B31D3E3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416628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C473211-60A3-F739-21E6-B6A0AC0E20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4509120"/>
            <a:ext cx="1368151" cy="1008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F36573-6CB0-34A1-1392-D339FBF92000}"/>
              </a:ext>
            </a:extLst>
          </p:cNvPr>
          <p:cNvSpPr txBox="1"/>
          <p:nvPr/>
        </p:nvSpPr>
        <p:spPr>
          <a:xfrm>
            <a:off x="6300192" y="1988840"/>
            <a:ext cx="208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3399"/>
                </a:solidFill>
                <a:latin typeface="+mn-lt"/>
              </a:rPr>
              <a:t>(Chapter 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59466-CF7F-DC86-23EC-D87F1A80FD4B}"/>
              </a:ext>
            </a:extLst>
          </p:cNvPr>
          <p:cNvSpPr txBox="1"/>
          <p:nvPr/>
        </p:nvSpPr>
        <p:spPr>
          <a:xfrm>
            <a:off x="6444208" y="2468173"/>
            <a:ext cx="208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3399"/>
                </a:solidFill>
                <a:latin typeface="+mn-lt"/>
              </a:rPr>
              <a:t>(Chapter 6)</a:t>
            </a:r>
          </a:p>
        </p:txBody>
      </p:sp>
    </p:spTree>
    <p:extLst>
      <p:ext uri="{BB962C8B-B14F-4D97-AF65-F5344CB8AC3E}">
        <p14:creationId xmlns:p14="http://schemas.microsoft.com/office/powerpoint/2010/main" val="2992540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Defining Computer Architecture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2243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“Old” view of computer architecture: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Instruction Set Architecture (ISA) design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i.e. decisions regarding: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registers, memory addressing, addressing modes, instruction operands, available operations, control flow instructions, instruction encoding</a:t>
            </a:r>
          </a:p>
          <a:p>
            <a:pPr lvl="2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800" dirty="0"/>
              <a:t>“Real” computer architecture: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Specific requirements of the target machine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Design to maximize performance within constraints: cost, power, and availability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Includes ISA, microarchitecture, hardware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265279" y="1511893"/>
            <a:ext cx="3390736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Defining Computer Architecture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5667" y="2384249"/>
            <a:ext cx="6606988" cy="1242422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b="1" dirty="0">
                <a:latin typeface="Arial"/>
                <a:cs typeface="Arial"/>
              </a:rPr>
              <a:t>INSTRUCTION</a:t>
            </a:r>
            <a:r>
              <a:rPr spc="1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SET</a:t>
            </a:r>
            <a:r>
              <a:rPr spc="9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ARCHITECTURE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096" y="149514"/>
            <a:ext cx="8146718" cy="442203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800" dirty="0"/>
              <a:t>Instruction</a:t>
            </a:r>
            <a:r>
              <a:rPr sz="2800" spc="-4" dirty="0"/>
              <a:t> </a:t>
            </a:r>
            <a:r>
              <a:rPr sz="2800" dirty="0"/>
              <a:t>Set</a:t>
            </a:r>
            <a:r>
              <a:rPr sz="2800" spc="-4" dirty="0"/>
              <a:t> </a:t>
            </a:r>
            <a:r>
              <a:rPr sz="2800" dirty="0"/>
              <a:t>Architecture: Critical</a:t>
            </a:r>
            <a:r>
              <a:rPr sz="2800" spc="-4" dirty="0"/>
              <a:t> </a:t>
            </a:r>
            <a:r>
              <a:rPr sz="2800" spc="-9" dirty="0"/>
              <a:t>Interface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82596" y="980728"/>
            <a:ext cx="6311153" cy="3054163"/>
            <a:chOff x="1641209" y="1569719"/>
            <a:chExt cx="7152640" cy="346138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7982" y="3039533"/>
              <a:ext cx="7139092" cy="4741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47982" y="3039532"/>
              <a:ext cx="7139305" cy="474345"/>
            </a:xfrm>
            <a:custGeom>
              <a:avLst/>
              <a:gdLst/>
              <a:ahLst/>
              <a:cxnLst/>
              <a:rect l="l" t="t" r="r" b="b"/>
              <a:pathLst>
                <a:path w="7139305" h="474345">
                  <a:moveTo>
                    <a:pt x="0" y="0"/>
                  </a:moveTo>
                  <a:lnTo>
                    <a:pt x="7139093" y="0"/>
                  </a:lnTo>
                  <a:lnTo>
                    <a:pt x="7139093" y="474133"/>
                  </a:lnTo>
                  <a:lnTo>
                    <a:pt x="0" y="47413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6" name="object 6"/>
            <p:cNvSpPr/>
            <p:nvPr/>
          </p:nvSpPr>
          <p:spPr>
            <a:xfrm>
              <a:off x="4248942" y="1576492"/>
              <a:ext cx="393065" cy="311785"/>
            </a:xfrm>
            <a:custGeom>
              <a:avLst/>
              <a:gdLst/>
              <a:ahLst/>
              <a:cxnLst/>
              <a:rect l="l" t="t" r="r" b="b"/>
              <a:pathLst>
                <a:path w="393064" h="311785">
                  <a:moveTo>
                    <a:pt x="0" y="155786"/>
                  </a:moveTo>
                  <a:lnTo>
                    <a:pt x="7016" y="114372"/>
                  </a:lnTo>
                  <a:lnTo>
                    <a:pt x="26817" y="77158"/>
                  </a:lnTo>
                  <a:lnTo>
                    <a:pt x="57532" y="45628"/>
                  </a:lnTo>
                  <a:lnTo>
                    <a:pt x="97286" y="21269"/>
                  </a:lnTo>
                  <a:lnTo>
                    <a:pt x="144208" y="5564"/>
                  </a:lnTo>
                  <a:lnTo>
                    <a:pt x="196426" y="0"/>
                  </a:lnTo>
                  <a:lnTo>
                    <a:pt x="248644" y="5564"/>
                  </a:lnTo>
                  <a:lnTo>
                    <a:pt x="295566" y="21269"/>
                  </a:lnTo>
                  <a:lnTo>
                    <a:pt x="335321" y="45628"/>
                  </a:lnTo>
                  <a:lnTo>
                    <a:pt x="366035" y="77158"/>
                  </a:lnTo>
                  <a:lnTo>
                    <a:pt x="385836" y="114372"/>
                  </a:lnTo>
                  <a:lnTo>
                    <a:pt x="392853" y="155786"/>
                  </a:lnTo>
                  <a:lnTo>
                    <a:pt x="385836" y="197200"/>
                  </a:lnTo>
                  <a:lnTo>
                    <a:pt x="366035" y="234415"/>
                  </a:lnTo>
                  <a:lnTo>
                    <a:pt x="335321" y="265944"/>
                  </a:lnTo>
                  <a:lnTo>
                    <a:pt x="295566" y="290303"/>
                  </a:lnTo>
                  <a:lnTo>
                    <a:pt x="248644" y="306008"/>
                  </a:lnTo>
                  <a:lnTo>
                    <a:pt x="196426" y="311573"/>
                  </a:lnTo>
                  <a:lnTo>
                    <a:pt x="144208" y="306008"/>
                  </a:lnTo>
                  <a:lnTo>
                    <a:pt x="97286" y="290303"/>
                  </a:lnTo>
                  <a:lnTo>
                    <a:pt x="57532" y="265944"/>
                  </a:lnTo>
                  <a:lnTo>
                    <a:pt x="26817" y="234415"/>
                  </a:lnTo>
                  <a:lnTo>
                    <a:pt x="7016" y="197200"/>
                  </a:lnTo>
                  <a:lnTo>
                    <a:pt x="0" y="1557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7" name="object 7"/>
            <p:cNvSpPr/>
            <p:nvPr/>
          </p:nvSpPr>
          <p:spPr>
            <a:xfrm>
              <a:off x="4404729" y="1894840"/>
              <a:ext cx="81280" cy="650240"/>
            </a:xfrm>
            <a:custGeom>
              <a:avLst/>
              <a:gdLst/>
              <a:ahLst/>
              <a:cxnLst/>
              <a:rect l="l" t="t" r="r" b="b"/>
              <a:pathLst>
                <a:path w="81279" h="650239">
                  <a:moveTo>
                    <a:pt x="81279" y="0"/>
                  </a:moveTo>
                  <a:lnTo>
                    <a:pt x="0" y="65023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/>
            <p:nvPr/>
          </p:nvSpPr>
          <p:spPr>
            <a:xfrm>
              <a:off x="4404729" y="254508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0" y="0"/>
                  </a:moveTo>
                  <a:lnTo>
                    <a:pt x="24383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9" name="object 9"/>
            <p:cNvSpPr/>
            <p:nvPr/>
          </p:nvSpPr>
          <p:spPr>
            <a:xfrm>
              <a:off x="4648569" y="2545080"/>
              <a:ext cx="0" cy="325120"/>
            </a:xfrm>
            <a:custGeom>
              <a:avLst/>
              <a:gdLst/>
              <a:ahLst/>
              <a:cxnLst/>
              <a:rect l="l" t="t" r="r" b="b"/>
              <a:pathLst>
                <a:path h="325119">
                  <a:moveTo>
                    <a:pt x="0" y="0"/>
                  </a:moveTo>
                  <a:lnTo>
                    <a:pt x="1" y="32511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4648569" y="2870200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127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42169" y="2545080"/>
              <a:ext cx="162560" cy="406400"/>
            </a:xfrm>
            <a:custGeom>
              <a:avLst/>
              <a:gdLst/>
              <a:ahLst/>
              <a:cxnLst/>
              <a:rect l="l" t="t" r="r" b="b"/>
              <a:pathLst>
                <a:path w="162560" h="406400">
                  <a:moveTo>
                    <a:pt x="162559" y="0"/>
                  </a:moveTo>
                  <a:lnTo>
                    <a:pt x="0" y="40639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2" name="object 12"/>
            <p:cNvSpPr/>
            <p:nvPr/>
          </p:nvSpPr>
          <p:spPr>
            <a:xfrm>
              <a:off x="3998329" y="2951480"/>
              <a:ext cx="243840" cy="162560"/>
            </a:xfrm>
            <a:custGeom>
              <a:avLst/>
              <a:gdLst/>
              <a:ahLst/>
              <a:cxnLst/>
              <a:rect l="l" t="t" r="r" b="b"/>
              <a:pathLst>
                <a:path w="243839" h="162560">
                  <a:moveTo>
                    <a:pt x="243839" y="0"/>
                  </a:moveTo>
                  <a:lnTo>
                    <a:pt x="0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6009" y="2138680"/>
              <a:ext cx="243840" cy="162560"/>
            </a:xfrm>
            <a:custGeom>
              <a:avLst/>
              <a:gdLst/>
              <a:ahLst/>
              <a:cxnLst/>
              <a:rect l="l" t="t" r="r" b="b"/>
              <a:pathLst>
                <a:path w="243839" h="162560">
                  <a:moveTo>
                    <a:pt x="0" y="0"/>
                  </a:moveTo>
                  <a:lnTo>
                    <a:pt x="243839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9849" y="2138680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60" h="162560">
                  <a:moveTo>
                    <a:pt x="0" y="162559"/>
                  </a:moveTo>
                  <a:lnTo>
                    <a:pt x="16255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5" name="object 15"/>
            <p:cNvSpPr/>
            <p:nvPr/>
          </p:nvSpPr>
          <p:spPr>
            <a:xfrm>
              <a:off x="4404729" y="205740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0" y="0"/>
                  </a:moveTo>
                  <a:lnTo>
                    <a:pt x="24383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8569" y="1894840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60" h="162560">
                  <a:moveTo>
                    <a:pt x="0" y="162559"/>
                  </a:moveTo>
                  <a:lnTo>
                    <a:pt x="16255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1982" y="1657772"/>
              <a:ext cx="393065" cy="311785"/>
            </a:xfrm>
            <a:custGeom>
              <a:avLst/>
              <a:gdLst/>
              <a:ahLst/>
              <a:cxnLst/>
              <a:rect l="l" t="t" r="r" b="b"/>
              <a:pathLst>
                <a:path w="393064" h="311785">
                  <a:moveTo>
                    <a:pt x="0" y="155786"/>
                  </a:moveTo>
                  <a:lnTo>
                    <a:pt x="7016" y="114372"/>
                  </a:lnTo>
                  <a:lnTo>
                    <a:pt x="26817" y="77158"/>
                  </a:lnTo>
                  <a:lnTo>
                    <a:pt x="57532" y="45628"/>
                  </a:lnTo>
                  <a:lnTo>
                    <a:pt x="97286" y="21269"/>
                  </a:lnTo>
                  <a:lnTo>
                    <a:pt x="144208" y="5564"/>
                  </a:lnTo>
                  <a:lnTo>
                    <a:pt x="196426" y="0"/>
                  </a:lnTo>
                  <a:lnTo>
                    <a:pt x="248644" y="5564"/>
                  </a:lnTo>
                  <a:lnTo>
                    <a:pt x="295566" y="21269"/>
                  </a:lnTo>
                  <a:lnTo>
                    <a:pt x="335321" y="45628"/>
                  </a:lnTo>
                  <a:lnTo>
                    <a:pt x="366035" y="77158"/>
                  </a:lnTo>
                  <a:lnTo>
                    <a:pt x="385836" y="114372"/>
                  </a:lnTo>
                  <a:lnTo>
                    <a:pt x="392853" y="155786"/>
                  </a:lnTo>
                  <a:lnTo>
                    <a:pt x="385836" y="197200"/>
                  </a:lnTo>
                  <a:lnTo>
                    <a:pt x="366035" y="234415"/>
                  </a:lnTo>
                  <a:lnTo>
                    <a:pt x="335321" y="265944"/>
                  </a:lnTo>
                  <a:lnTo>
                    <a:pt x="295566" y="290303"/>
                  </a:lnTo>
                  <a:lnTo>
                    <a:pt x="248644" y="306008"/>
                  </a:lnTo>
                  <a:lnTo>
                    <a:pt x="196426" y="311573"/>
                  </a:lnTo>
                  <a:lnTo>
                    <a:pt x="144208" y="306008"/>
                  </a:lnTo>
                  <a:lnTo>
                    <a:pt x="97286" y="290303"/>
                  </a:lnTo>
                  <a:lnTo>
                    <a:pt x="57532" y="265944"/>
                  </a:lnTo>
                  <a:lnTo>
                    <a:pt x="26817" y="234415"/>
                  </a:lnTo>
                  <a:lnTo>
                    <a:pt x="7016" y="197200"/>
                  </a:lnTo>
                  <a:lnTo>
                    <a:pt x="0" y="1557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9049" y="1976120"/>
              <a:ext cx="81280" cy="731520"/>
            </a:xfrm>
            <a:custGeom>
              <a:avLst/>
              <a:gdLst/>
              <a:ahLst/>
              <a:cxnLst/>
              <a:rect l="l" t="t" r="r" b="b"/>
              <a:pathLst>
                <a:path w="81279" h="731519">
                  <a:moveTo>
                    <a:pt x="0" y="0"/>
                  </a:moveTo>
                  <a:lnTo>
                    <a:pt x="81279" y="73151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9" name="object 19"/>
            <p:cNvSpPr/>
            <p:nvPr/>
          </p:nvSpPr>
          <p:spPr>
            <a:xfrm>
              <a:off x="5705209" y="2626360"/>
              <a:ext cx="325120" cy="243840"/>
            </a:xfrm>
            <a:custGeom>
              <a:avLst/>
              <a:gdLst/>
              <a:ahLst/>
              <a:cxnLst/>
              <a:rect l="l" t="t" r="r" b="b"/>
              <a:pathLst>
                <a:path w="325120" h="243839">
                  <a:moveTo>
                    <a:pt x="325119" y="0"/>
                  </a:moveTo>
                  <a:lnTo>
                    <a:pt x="0" y="24383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0" name="object 20"/>
            <p:cNvSpPr/>
            <p:nvPr/>
          </p:nvSpPr>
          <p:spPr>
            <a:xfrm>
              <a:off x="5705209" y="2870200"/>
              <a:ext cx="162560" cy="325120"/>
            </a:xfrm>
            <a:custGeom>
              <a:avLst/>
              <a:gdLst/>
              <a:ahLst/>
              <a:cxnLst/>
              <a:rect l="l" t="t" r="r" b="b"/>
              <a:pathLst>
                <a:path w="162560" h="325119">
                  <a:moveTo>
                    <a:pt x="0" y="0"/>
                  </a:moveTo>
                  <a:lnTo>
                    <a:pt x="162559" y="32511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1" name="object 21"/>
            <p:cNvSpPr/>
            <p:nvPr/>
          </p:nvSpPr>
          <p:spPr>
            <a:xfrm>
              <a:off x="6030329" y="2626360"/>
              <a:ext cx="325120" cy="243840"/>
            </a:xfrm>
            <a:custGeom>
              <a:avLst/>
              <a:gdLst/>
              <a:ahLst/>
              <a:cxnLst/>
              <a:rect l="l" t="t" r="r" b="b"/>
              <a:pathLst>
                <a:path w="325120" h="243839">
                  <a:moveTo>
                    <a:pt x="0" y="0"/>
                  </a:moveTo>
                  <a:lnTo>
                    <a:pt x="325119" y="24383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6355449" y="2707640"/>
              <a:ext cx="243840" cy="162560"/>
            </a:xfrm>
            <a:custGeom>
              <a:avLst/>
              <a:gdLst/>
              <a:ahLst/>
              <a:cxnLst/>
              <a:rect l="l" t="t" r="r" b="b"/>
              <a:pathLst>
                <a:path w="243840" h="162560">
                  <a:moveTo>
                    <a:pt x="0" y="162559"/>
                  </a:moveTo>
                  <a:lnTo>
                    <a:pt x="24383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3" name="object 23"/>
            <p:cNvSpPr/>
            <p:nvPr/>
          </p:nvSpPr>
          <p:spPr>
            <a:xfrm>
              <a:off x="6599289" y="2707640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0" y="0"/>
                  </a:moveTo>
                  <a:lnTo>
                    <a:pt x="81279" y="8127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6489" y="2219960"/>
              <a:ext cx="162560" cy="243840"/>
            </a:xfrm>
            <a:custGeom>
              <a:avLst/>
              <a:gdLst/>
              <a:ahLst/>
              <a:cxnLst/>
              <a:rect l="l" t="t" r="r" b="b"/>
              <a:pathLst>
                <a:path w="162560" h="243839">
                  <a:moveTo>
                    <a:pt x="162559" y="0"/>
                  </a:moveTo>
                  <a:lnTo>
                    <a:pt x="0" y="24383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5" name="object 25"/>
            <p:cNvSpPr/>
            <p:nvPr/>
          </p:nvSpPr>
          <p:spPr>
            <a:xfrm>
              <a:off x="5542649" y="2382519"/>
              <a:ext cx="243840" cy="81280"/>
            </a:xfrm>
            <a:custGeom>
              <a:avLst/>
              <a:gdLst/>
              <a:ahLst/>
              <a:cxnLst/>
              <a:rect l="l" t="t" r="r" b="b"/>
              <a:pathLst>
                <a:path w="243839" h="81280">
                  <a:moveTo>
                    <a:pt x="243839" y="81279"/>
                  </a:moveTo>
                  <a:lnTo>
                    <a:pt x="0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6" name="object 26"/>
            <p:cNvSpPr/>
            <p:nvPr/>
          </p:nvSpPr>
          <p:spPr>
            <a:xfrm>
              <a:off x="5623929" y="2138680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325119" y="0"/>
                  </a:moveTo>
                  <a:lnTo>
                    <a:pt x="0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7" name="object 27"/>
            <p:cNvSpPr/>
            <p:nvPr/>
          </p:nvSpPr>
          <p:spPr>
            <a:xfrm>
              <a:off x="5380089" y="1976120"/>
              <a:ext cx="243840" cy="162560"/>
            </a:xfrm>
            <a:custGeom>
              <a:avLst/>
              <a:gdLst/>
              <a:ahLst/>
              <a:cxnLst/>
              <a:rect l="l" t="t" r="r" b="b"/>
              <a:pathLst>
                <a:path w="243839" h="162560">
                  <a:moveTo>
                    <a:pt x="243839" y="162559"/>
                  </a:moveTo>
                  <a:lnTo>
                    <a:pt x="0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6489" y="1813560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80">
                  <a:moveTo>
                    <a:pt x="0" y="81279"/>
                  </a:moveTo>
                  <a:lnTo>
                    <a:pt x="8127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9" name="object 29"/>
            <p:cNvSpPr/>
            <p:nvPr/>
          </p:nvSpPr>
          <p:spPr>
            <a:xfrm>
              <a:off x="4404729" y="1732280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60" h="162560">
                  <a:moveTo>
                    <a:pt x="162559" y="162559"/>
                  </a:moveTo>
                  <a:lnTo>
                    <a:pt x="0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0" name="object 30"/>
            <p:cNvSpPr/>
            <p:nvPr/>
          </p:nvSpPr>
          <p:spPr>
            <a:xfrm>
              <a:off x="4756942" y="3606431"/>
              <a:ext cx="677545" cy="408940"/>
            </a:xfrm>
            <a:custGeom>
              <a:avLst/>
              <a:gdLst/>
              <a:ahLst/>
              <a:cxnLst/>
              <a:rect l="l" t="t" r="r" b="b"/>
              <a:pathLst>
                <a:path w="677545" h="408939">
                  <a:moveTo>
                    <a:pt x="0" y="204230"/>
                  </a:moveTo>
                  <a:lnTo>
                    <a:pt x="21187" y="132968"/>
                  </a:lnTo>
                  <a:lnTo>
                    <a:pt x="46237" y="101151"/>
                  </a:lnTo>
                  <a:lnTo>
                    <a:pt x="79650" y="72647"/>
                  </a:lnTo>
                  <a:lnTo>
                    <a:pt x="120468" y="48032"/>
                  </a:lnTo>
                  <a:lnTo>
                    <a:pt x="167735" y="27883"/>
                  </a:lnTo>
                  <a:lnTo>
                    <a:pt x="220494" y="12777"/>
                  </a:lnTo>
                  <a:lnTo>
                    <a:pt x="277790" y="3290"/>
                  </a:lnTo>
                  <a:lnTo>
                    <a:pt x="338666" y="0"/>
                  </a:lnTo>
                  <a:lnTo>
                    <a:pt x="399542" y="3290"/>
                  </a:lnTo>
                  <a:lnTo>
                    <a:pt x="456838" y="12777"/>
                  </a:lnTo>
                  <a:lnTo>
                    <a:pt x="509598" y="27883"/>
                  </a:lnTo>
                  <a:lnTo>
                    <a:pt x="556865" y="48032"/>
                  </a:lnTo>
                  <a:lnTo>
                    <a:pt x="597683" y="72647"/>
                  </a:lnTo>
                  <a:lnTo>
                    <a:pt x="631095" y="101151"/>
                  </a:lnTo>
                  <a:lnTo>
                    <a:pt x="656145" y="132968"/>
                  </a:lnTo>
                  <a:lnTo>
                    <a:pt x="677333" y="204230"/>
                  </a:lnTo>
                  <a:lnTo>
                    <a:pt x="671876" y="240941"/>
                  </a:lnTo>
                  <a:lnTo>
                    <a:pt x="631095" y="307310"/>
                  </a:lnTo>
                  <a:lnTo>
                    <a:pt x="597683" y="335814"/>
                  </a:lnTo>
                  <a:lnTo>
                    <a:pt x="556865" y="360429"/>
                  </a:lnTo>
                  <a:lnTo>
                    <a:pt x="509598" y="380578"/>
                  </a:lnTo>
                  <a:lnTo>
                    <a:pt x="456838" y="395684"/>
                  </a:lnTo>
                  <a:lnTo>
                    <a:pt x="399542" y="405171"/>
                  </a:lnTo>
                  <a:lnTo>
                    <a:pt x="338666" y="408461"/>
                  </a:lnTo>
                  <a:lnTo>
                    <a:pt x="277790" y="405171"/>
                  </a:lnTo>
                  <a:lnTo>
                    <a:pt x="220494" y="395684"/>
                  </a:lnTo>
                  <a:lnTo>
                    <a:pt x="167735" y="380578"/>
                  </a:lnTo>
                  <a:lnTo>
                    <a:pt x="120468" y="360429"/>
                  </a:lnTo>
                  <a:lnTo>
                    <a:pt x="79650" y="335814"/>
                  </a:lnTo>
                  <a:lnTo>
                    <a:pt x="46237" y="307310"/>
                  </a:lnTo>
                  <a:lnTo>
                    <a:pt x="21187" y="275493"/>
                  </a:lnTo>
                  <a:lnTo>
                    <a:pt x="0" y="204230"/>
                  </a:lnTo>
                  <a:close/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1" name="object 31"/>
            <p:cNvSpPr/>
            <p:nvPr/>
          </p:nvSpPr>
          <p:spPr>
            <a:xfrm>
              <a:off x="4973689" y="3842908"/>
              <a:ext cx="81280" cy="64769"/>
            </a:xfrm>
            <a:custGeom>
              <a:avLst/>
              <a:gdLst/>
              <a:ahLst/>
              <a:cxnLst/>
              <a:rect l="l" t="t" r="r" b="b"/>
              <a:pathLst>
                <a:path w="81279" h="64770">
                  <a:moveTo>
                    <a:pt x="0" y="64493"/>
                  </a:moveTo>
                  <a:lnTo>
                    <a:pt x="81279" y="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2" name="object 32"/>
            <p:cNvSpPr/>
            <p:nvPr/>
          </p:nvSpPr>
          <p:spPr>
            <a:xfrm>
              <a:off x="5054969" y="384290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0" y="0"/>
                  </a:moveTo>
                  <a:lnTo>
                    <a:pt x="81279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3" name="object 33"/>
            <p:cNvSpPr/>
            <p:nvPr/>
          </p:nvSpPr>
          <p:spPr>
            <a:xfrm>
              <a:off x="5136249" y="3842909"/>
              <a:ext cx="81280" cy="64769"/>
            </a:xfrm>
            <a:custGeom>
              <a:avLst/>
              <a:gdLst/>
              <a:ahLst/>
              <a:cxnLst/>
              <a:rect l="l" t="t" r="r" b="b"/>
              <a:pathLst>
                <a:path w="81279" h="64770">
                  <a:moveTo>
                    <a:pt x="0" y="0"/>
                  </a:moveTo>
                  <a:lnTo>
                    <a:pt x="81279" y="6449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4" name="object 34"/>
            <p:cNvSpPr/>
            <p:nvPr/>
          </p:nvSpPr>
          <p:spPr>
            <a:xfrm>
              <a:off x="5136249" y="3713922"/>
              <a:ext cx="162560" cy="0"/>
            </a:xfrm>
            <a:custGeom>
              <a:avLst/>
              <a:gdLst/>
              <a:ahLst/>
              <a:cxnLst/>
              <a:rect l="l" t="t" r="r" b="b"/>
              <a:pathLst>
                <a:path w="162560">
                  <a:moveTo>
                    <a:pt x="0" y="0"/>
                  </a:moveTo>
                  <a:lnTo>
                    <a:pt x="162559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5" name="object 35"/>
            <p:cNvSpPr/>
            <p:nvPr/>
          </p:nvSpPr>
          <p:spPr>
            <a:xfrm>
              <a:off x="4892409" y="3713922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1279" y="0"/>
                  </a:moveTo>
                  <a:lnTo>
                    <a:pt x="0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6" name="object 36"/>
            <p:cNvSpPr/>
            <p:nvPr/>
          </p:nvSpPr>
          <p:spPr>
            <a:xfrm>
              <a:off x="4404729" y="4939306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h="64770">
                  <a:moveTo>
                    <a:pt x="0" y="64493"/>
                  </a:moveTo>
                  <a:lnTo>
                    <a:pt x="1" y="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7" name="object 37"/>
            <p:cNvSpPr/>
            <p:nvPr/>
          </p:nvSpPr>
          <p:spPr>
            <a:xfrm>
              <a:off x="5136249" y="4036391"/>
              <a:ext cx="0" cy="516255"/>
            </a:xfrm>
            <a:custGeom>
              <a:avLst/>
              <a:gdLst/>
              <a:ahLst/>
              <a:cxnLst/>
              <a:rect l="l" t="t" r="r" b="b"/>
              <a:pathLst>
                <a:path h="516254">
                  <a:moveTo>
                    <a:pt x="0" y="0"/>
                  </a:moveTo>
                  <a:lnTo>
                    <a:pt x="1" y="51595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8" name="object 38"/>
            <p:cNvSpPr/>
            <p:nvPr/>
          </p:nvSpPr>
          <p:spPr>
            <a:xfrm>
              <a:off x="5136249" y="4552342"/>
              <a:ext cx="406400" cy="0"/>
            </a:xfrm>
            <a:custGeom>
              <a:avLst/>
              <a:gdLst/>
              <a:ahLst/>
              <a:cxnLst/>
              <a:rect l="l" t="t" r="r" b="b"/>
              <a:pathLst>
                <a:path w="406400">
                  <a:moveTo>
                    <a:pt x="0" y="0"/>
                  </a:moveTo>
                  <a:lnTo>
                    <a:pt x="406399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9" name="object 39"/>
            <p:cNvSpPr/>
            <p:nvPr/>
          </p:nvSpPr>
          <p:spPr>
            <a:xfrm>
              <a:off x="5542649" y="4552342"/>
              <a:ext cx="162560" cy="387350"/>
            </a:xfrm>
            <a:custGeom>
              <a:avLst/>
              <a:gdLst/>
              <a:ahLst/>
              <a:cxnLst/>
              <a:rect l="l" t="t" r="r" b="b"/>
              <a:pathLst>
                <a:path w="162560" h="387350">
                  <a:moveTo>
                    <a:pt x="0" y="0"/>
                  </a:moveTo>
                  <a:lnTo>
                    <a:pt x="162559" y="38696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0" name="object 40"/>
            <p:cNvSpPr/>
            <p:nvPr/>
          </p:nvSpPr>
          <p:spPr>
            <a:xfrm>
              <a:off x="5705209" y="4874811"/>
              <a:ext cx="81280" cy="64769"/>
            </a:xfrm>
            <a:custGeom>
              <a:avLst/>
              <a:gdLst/>
              <a:ahLst/>
              <a:cxnLst/>
              <a:rect l="l" t="t" r="r" b="b"/>
              <a:pathLst>
                <a:path w="81279" h="64770">
                  <a:moveTo>
                    <a:pt x="0" y="64493"/>
                  </a:moveTo>
                  <a:lnTo>
                    <a:pt x="81279" y="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1" name="object 41"/>
            <p:cNvSpPr/>
            <p:nvPr/>
          </p:nvSpPr>
          <p:spPr>
            <a:xfrm>
              <a:off x="4729849" y="4552342"/>
              <a:ext cx="406400" cy="64769"/>
            </a:xfrm>
            <a:custGeom>
              <a:avLst/>
              <a:gdLst/>
              <a:ahLst/>
              <a:cxnLst/>
              <a:rect l="l" t="t" r="r" b="b"/>
              <a:pathLst>
                <a:path w="406400" h="64770">
                  <a:moveTo>
                    <a:pt x="406399" y="0"/>
                  </a:moveTo>
                  <a:lnTo>
                    <a:pt x="0" y="6449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2" name="object 42"/>
            <p:cNvSpPr/>
            <p:nvPr/>
          </p:nvSpPr>
          <p:spPr>
            <a:xfrm>
              <a:off x="4567289" y="4616836"/>
              <a:ext cx="162560" cy="387350"/>
            </a:xfrm>
            <a:custGeom>
              <a:avLst/>
              <a:gdLst/>
              <a:ahLst/>
              <a:cxnLst/>
              <a:rect l="l" t="t" r="r" b="b"/>
              <a:pathLst>
                <a:path w="162560" h="387350">
                  <a:moveTo>
                    <a:pt x="162559" y="0"/>
                  </a:moveTo>
                  <a:lnTo>
                    <a:pt x="0" y="38696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3" name="object 43"/>
            <p:cNvSpPr/>
            <p:nvPr/>
          </p:nvSpPr>
          <p:spPr>
            <a:xfrm>
              <a:off x="4404729" y="5003799"/>
              <a:ext cx="162560" cy="0"/>
            </a:xfrm>
            <a:custGeom>
              <a:avLst/>
              <a:gdLst/>
              <a:ahLst/>
              <a:cxnLst/>
              <a:rect l="l" t="t" r="r" b="b"/>
              <a:pathLst>
                <a:path w="162560">
                  <a:moveTo>
                    <a:pt x="162559" y="0"/>
                  </a:moveTo>
                  <a:lnTo>
                    <a:pt x="0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4" name="object 44"/>
            <p:cNvSpPr/>
            <p:nvPr/>
          </p:nvSpPr>
          <p:spPr>
            <a:xfrm>
              <a:off x="5136249" y="4036391"/>
              <a:ext cx="568960" cy="64769"/>
            </a:xfrm>
            <a:custGeom>
              <a:avLst/>
              <a:gdLst/>
              <a:ahLst/>
              <a:cxnLst/>
              <a:rect l="l" t="t" r="r" b="b"/>
              <a:pathLst>
                <a:path w="568960" h="64770">
                  <a:moveTo>
                    <a:pt x="0" y="0"/>
                  </a:moveTo>
                  <a:lnTo>
                    <a:pt x="568959" y="6449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5" name="object 45"/>
            <p:cNvSpPr/>
            <p:nvPr/>
          </p:nvSpPr>
          <p:spPr>
            <a:xfrm>
              <a:off x="5705209" y="3520439"/>
              <a:ext cx="406400" cy="581025"/>
            </a:xfrm>
            <a:custGeom>
              <a:avLst/>
              <a:gdLst/>
              <a:ahLst/>
              <a:cxnLst/>
              <a:rect l="l" t="t" r="r" b="b"/>
              <a:pathLst>
                <a:path w="406400" h="581025">
                  <a:moveTo>
                    <a:pt x="0" y="580444"/>
                  </a:moveTo>
                  <a:lnTo>
                    <a:pt x="406399" y="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6" name="object 46"/>
            <p:cNvSpPr/>
            <p:nvPr/>
          </p:nvSpPr>
          <p:spPr>
            <a:xfrm>
              <a:off x="6111609" y="352044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0" y="0"/>
                  </a:moveTo>
                  <a:lnTo>
                    <a:pt x="243839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7" name="object 47"/>
            <p:cNvSpPr/>
            <p:nvPr/>
          </p:nvSpPr>
          <p:spPr>
            <a:xfrm>
              <a:off x="4648569" y="4100884"/>
              <a:ext cx="487680" cy="64769"/>
            </a:xfrm>
            <a:custGeom>
              <a:avLst/>
              <a:gdLst/>
              <a:ahLst/>
              <a:cxnLst/>
              <a:rect l="l" t="t" r="r" b="b"/>
              <a:pathLst>
                <a:path w="487679" h="64770">
                  <a:moveTo>
                    <a:pt x="487679" y="0"/>
                  </a:moveTo>
                  <a:lnTo>
                    <a:pt x="0" y="64493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8" name="object 48"/>
            <p:cNvSpPr/>
            <p:nvPr/>
          </p:nvSpPr>
          <p:spPr>
            <a:xfrm>
              <a:off x="4079609" y="3520440"/>
              <a:ext cx="568960" cy="645160"/>
            </a:xfrm>
            <a:custGeom>
              <a:avLst/>
              <a:gdLst/>
              <a:ahLst/>
              <a:cxnLst/>
              <a:rect l="l" t="t" r="r" b="b"/>
              <a:pathLst>
                <a:path w="568960" h="645160">
                  <a:moveTo>
                    <a:pt x="568959" y="644938"/>
                  </a:moveTo>
                  <a:lnTo>
                    <a:pt x="0" y="0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9" name="object 49"/>
            <p:cNvSpPr/>
            <p:nvPr/>
          </p:nvSpPr>
          <p:spPr>
            <a:xfrm>
              <a:off x="3835769" y="352044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243839" y="0"/>
                  </a:moveTo>
                  <a:lnTo>
                    <a:pt x="0" y="1"/>
                  </a:lnTo>
                </a:path>
              </a:pathLst>
            </a:custGeom>
            <a:ln w="54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817796" y="2355317"/>
            <a:ext cx="1601880" cy="259781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81" rIns="0" bIns="0" rtlCol="0">
            <a:spAutoFit/>
          </a:bodyPr>
          <a:lstStyle/>
          <a:p>
            <a:pPr marL="59394">
              <a:spcBef>
                <a:spcPts val="13"/>
              </a:spcBef>
            </a:pPr>
            <a:r>
              <a:rPr sz="1677" b="1" dirty="0">
                <a:latin typeface="Arial"/>
                <a:cs typeface="Arial"/>
              </a:rPr>
              <a:t>instruction</a:t>
            </a:r>
            <a:r>
              <a:rPr sz="1677" b="1" spc="26" dirty="0">
                <a:latin typeface="Arial"/>
                <a:cs typeface="Arial"/>
              </a:rPr>
              <a:t> </a:t>
            </a:r>
            <a:r>
              <a:rPr sz="1677" b="1" spc="-22" dirty="0">
                <a:latin typeface="Arial"/>
                <a:cs typeface="Arial"/>
              </a:rPr>
              <a:t>set</a:t>
            </a:r>
            <a:endParaRPr sz="1677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12802" y="1474683"/>
            <a:ext cx="90599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1677" b="1" spc="-9" dirty="0">
                <a:latin typeface="Arial"/>
                <a:cs typeface="Arial"/>
              </a:rPr>
              <a:t>s</a:t>
            </a:r>
            <a:r>
              <a:rPr sz="1677" b="1" spc="-9" dirty="0">
                <a:latin typeface="Arial"/>
                <a:cs typeface="Arial"/>
              </a:rPr>
              <a:t>oftware</a:t>
            </a:r>
            <a:endParaRPr sz="1677" dirty="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1806" y="3185698"/>
            <a:ext cx="5874448" cy="29982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1888">
              <a:spcBef>
                <a:spcPts val="88"/>
              </a:spcBef>
            </a:pPr>
            <a:r>
              <a:rPr sz="1677" b="1" spc="-9" dirty="0">
                <a:latin typeface="Arial"/>
                <a:cs typeface="Arial"/>
              </a:rPr>
              <a:t>hardware</a:t>
            </a:r>
            <a:endParaRPr sz="1677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77" dirty="0">
              <a:latin typeface="Arial"/>
              <a:cs typeface="Arial"/>
            </a:endParaRPr>
          </a:p>
          <a:p>
            <a:pPr>
              <a:spcBef>
                <a:spcPts val="1328"/>
              </a:spcBef>
            </a:pPr>
            <a:endParaRPr sz="1677" dirty="0">
              <a:latin typeface="Arial"/>
              <a:cs typeface="Arial"/>
            </a:endParaRPr>
          </a:p>
          <a:p>
            <a:pPr marL="11207"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Properties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good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abstraction</a:t>
            </a:r>
            <a:endParaRPr lang="en-US" sz="2800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296957" indent="-28575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Lasts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through</a:t>
            </a:r>
            <a:r>
              <a:rPr sz="20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many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generations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(portability)</a:t>
            </a:r>
            <a:endParaRPr lang="en-US" sz="2000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296957" indent="-28575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Used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many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different</a:t>
            </a:r>
            <a:r>
              <a:rPr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ways</a:t>
            </a:r>
            <a:r>
              <a:rPr sz="2000" spc="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(generality)</a:t>
            </a:r>
            <a:endParaRPr lang="en-US" sz="2000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296957" indent="-28575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Provides</a:t>
            </a:r>
            <a:r>
              <a:rPr sz="2000" spc="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convenient</a:t>
            </a:r>
            <a:r>
              <a:rPr sz="2000" spc="3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functionality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higher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levels</a:t>
            </a:r>
            <a:endParaRPr lang="en-US" sz="2000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296957" indent="-28575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Permits</a:t>
            </a:r>
            <a:r>
              <a:rPr sz="2000" spc="1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</a:t>
            </a:r>
            <a:r>
              <a:rPr sz="2000" spc="2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efficient</a:t>
            </a:r>
            <a:r>
              <a:rPr sz="2000" spc="2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implementation</a:t>
            </a:r>
            <a:r>
              <a:rPr sz="2000" spc="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lower</a:t>
            </a:r>
            <a:r>
              <a:rPr sz="2000" spc="1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Calibri"/>
                <a:cs typeface="Calibri"/>
              </a:rPr>
              <a:t>levels</a:t>
            </a:r>
            <a:endParaRPr sz="20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BD000-A280-4D83-0F26-13679A14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CDBA-6A4B-FE58-83A9-96DAB825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Instruction Set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6DC1-64CC-6551-B96D-B2ED95311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980728"/>
            <a:ext cx="3384376" cy="5111750"/>
          </a:xfrm>
        </p:spPr>
        <p:txBody>
          <a:bodyPr/>
          <a:lstStyle/>
          <a:p>
            <a:r>
              <a:rPr lang="en-US" sz="2400" dirty="0"/>
              <a:t>Class of ISA</a:t>
            </a:r>
          </a:p>
          <a:p>
            <a:pPr lvl="1"/>
            <a:r>
              <a:rPr lang="en-US" sz="2000" dirty="0"/>
              <a:t>General-purpose registers architecture</a:t>
            </a:r>
          </a:p>
          <a:p>
            <a:pPr lvl="1"/>
            <a:r>
              <a:rPr lang="en-US" sz="2000" dirty="0"/>
              <a:t>Register-memory </a:t>
            </a:r>
            <a:br>
              <a:rPr lang="en-US" sz="2000" dirty="0"/>
            </a:br>
            <a:r>
              <a:rPr lang="en-US" sz="2000" dirty="0"/>
              <a:t>  vs. load-store</a:t>
            </a:r>
          </a:p>
          <a:p>
            <a:r>
              <a:rPr lang="en-US" sz="2400" dirty="0"/>
              <a:t>80x86 registers</a:t>
            </a:r>
          </a:p>
          <a:p>
            <a:pPr lvl="1"/>
            <a:r>
              <a:rPr lang="en-US" sz="2000" dirty="0"/>
              <a:t>16 </a:t>
            </a:r>
            <a:r>
              <a:rPr lang="en-US" sz="2000" dirty="0" err="1"/>
              <a:t>g.p.</a:t>
            </a:r>
            <a:r>
              <a:rPr lang="en-US" sz="2000" dirty="0"/>
              <a:t>, 16 </a:t>
            </a:r>
            <a:r>
              <a:rPr lang="en-US" sz="2000" dirty="0" err="1"/>
              <a:t>f.p.</a:t>
            </a:r>
            <a:endParaRPr lang="en-US" sz="2000" dirty="0"/>
          </a:p>
          <a:p>
            <a:pPr lvl="1"/>
            <a:r>
              <a:rPr lang="en-US" sz="2000" dirty="0"/>
              <a:t>Register-memory ISA</a:t>
            </a:r>
          </a:p>
          <a:p>
            <a:r>
              <a:rPr lang="en-US" sz="2400" dirty="0"/>
              <a:t>RISC-V registers</a:t>
            </a:r>
          </a:p>
          <a:p>
            <a:pPr lvl="1"/>
            <a:r>
              <a:rPr lang="en-US" sz="2000" dirty="0"/>
              <a:t>32 </a:t>
            </a:r>
            <a:r>
              <a:rPr lang="en-US" sz="2000" dirty="0" err="1"/>
              <a:t>g.p.</a:t>
            </a:r>
            <a:r>
              <a:rPr lang="en-US" sz="2000" dirty="0"/>
              <a:t>, 32 </a:t>
            </a:r>
            <a:r>
              <a:rPr lang="en-US" sz="2000" dirty="0" err="1"/>
              <a:t>f.p.</a:t>
            </a:r>
            <a:endParaRPr lang="en-US" sz="2000" dirty="0"/>
          </a:p>
          <a:p>
            <a:pPr lvl="1"/>
            <a:r>
              <a:rPr lang="en-US" sz="2000" dirty="0"/>
              <a:t>Load-store ISA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235B5-5F9D-2BA4-EFA2-6A9D027C4D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251375B-CCC4-761B-D05A-BF896EC98A8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265279" y="1511893"/>
            <a:ext cx="3390736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Defining Computer Architecture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157DC9-E40C-74A4-46F1-C5111C9E8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24222"/>
              </p:ext>
            </p:extLst>
          </p:nvPr>
        </p:nvGraphicFramePr>
        <p:xfrm>
          <a:off x="3563888" y="836712"/>
          <a:ext cx="5212092" cy="53949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03023">
                  <a:extLst>
                    <a:ext uri="{9D8B030D-6E8A-4147-A177-3AD203B41FA5}">
                      <a16:colId xmlns:a16="http://schemas.microsoft.com/office/drawing/2014/main" val="1109047718"/>
                    </a:ext>
                  </a:extLst>
                </a:gridCol>
                <a:gridCol w="1303023">
                  <a:extLst>
                    <a:ext uri="{9D8B030D-6E8A-4147-A177-3AD203B41FA5}">
                      <a16:colId xmlns:a16="http://schemas.microsoft.com/office/drawing/2014/main" val="1374743863"/>
                    </a:ext>
                  </a:extLst>
                </a:gridCol>
                <a:gridCol w="1303023">
                  <a:extLst>
                    <a:ext uri="{9D8B030D-6E8A-4147-A177-3AD203B41FA5}">
                      <a16:colId xmlns:a16="http://schemas.microsoft.com/office/drawing/2014/main" val="3585893500"/>
                    </a:ext>
                  </a:extLst>
                </a:gridCol>
                <a:gridCol w="1303023">
                  <a:extLst>
                    <a:ext uri="{9D8B030D-6E8A-4147-A177-3AD203B41FA5}">
                      <a16:colId xmlns:a16="http://schemas.microsoft.com/office/drawing/2014/main" val="274748936"/>
                    </a:ext>
                  </a:extLst>
                </a:gridCol>
              </a:tblGrid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774193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constant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324818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return 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488205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stack ptr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617660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global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ptr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996096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thread</a:t>
                      </a:r>
                      <a:r>
                        <a:rPr lang="en-US" sz="1400" baseline="0"/>
                        <a:t> ptr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35363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x5-x7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t0-t2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temporaries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908166"/>
                  </a:ext>
                </a:extLst>
              </a:tr>
              <a:tr h="4208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s0/</a:t>
                      </a:r>
                      <a:r>
                        <a:rPr lang="en-US" sz="1400" dirty="0" err="1"/>
                        <a:t>fp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saved/</a:t>
                      </a:r>
                    </a:p>
                    <a:p>
                      <a:pPr algn="ctr"/>
                      <a:r>
                        <a:rPr lang="en-US" sz="1400"/>
                        <a:t>frame</a:t>
                      </a:r>
                      <a:r>
                        <a:rPr lang="en-US" sz="1400" baseline="0"/>
                        <a:t> ptr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909666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123666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x10-x17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a0-a7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arguments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080338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x18-x27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s2-s11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69532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x28-x31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t3-t6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temporaries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1048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f0-f7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ft0-ft7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FP temps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152819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f8-f9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fs0-fs1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FP 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902364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f10-f17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fa0-fa7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FP arguments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14694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f18-f27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fs2-fs21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FP 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callee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114196"/>
                  </a:ext>
                </a:extLst>
              </a:tr>
              <a:tr h="24367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f28-f31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ft8-ft11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FP temps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27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19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8B02B-524F-758A-4137-171D13FD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RISC-V ISA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8B99E-ADF4-E88E-53D2-C1D2DCCF61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5" name="Picture 2" descr="Z:\WOMAT\Production\Artfinal\0000000038\MKCAD\978-0-12-811905-1\0003165540\XMLLowres\f01-04-9780128119051.jpg">
            <a:extLst>
              <a:ext uri="{FF2B5EF4-FFF2-40B4-BE49-F238E27FC236}">
                <a16:creationId xmlns:a16="http://schemas.microsoft.com/office/drawing/2014/main" id="{85A79951-BFD6-5F95-7E35-75136E4E1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259" y="832708"/>
            <a:ext cx="5207137" cy="4384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D4473B8-7F41-4ACF-28B3-F9FA863B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" y="5229200"/>
            <a:ext cx="833755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 sz="1600" b="1" dirty="0">
                <a:latin typeface="+mn-lt"/>
              </a:rPr>
              <a:t>Figure 1.4 RISC-V registers, names, usage, and calling conventions. </a:t>
            </a:r>
            <a:r>
              <a:rPr lang="en-US" altLang="en-US" sz="1600" dirty="0">
                <a:latin typeface="+mn-lt"/>
              </a:rPr>
              <a:t>In addition to the 32 general-purpose registers (x0–x31), RISC-V has 32 floating-point registers (f0–f31) that can hold either a 32-bit single-precision number or a 64-bit double-precision number. The registers that are preserved across a procedure call are labeled “Callee” saved.</a:t>
            </a:r>
          </a:p>
        </p:txBody>
      </p:sp>
    </p:spTree>
    <p:extLst>
      <p:ext uri="{BB962C8B-B14F-4D97-AF65-F5344CB8AC3E}">
        <p14:creationId xmlns:p14="http://schemas.microsoft.com/office/powerpoint/2010/main" val="2406984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RISC-V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70875" cy="5256584"/>
          </a:xfrm>
        </p:spPr>
        <p:txBody>
          <a:bodyPr/>
          <a:lstStyle/>
          <a:p>
            <a:r>
              <a:rPr lang="en-US" sz="2800" dirty="0"/>
              <a:t>Memory addressing</a:t>
            </a:r>
          </a:p>
          <a:p>
            <a:pPr lvl="1"/>
            <a:r>
              <a:rPr lang="en-US" sz="2400" dirty="0"/>
              <a:t>RISC-V: byte addressed, aligned accesses faster</a:t>
            </a:r>
          </a:p>
          <a:p>
            <a:r>
              <a:rPr lang="en-US" sz="2800" dirty="0"/>
              <a:t>Addressing modes</a:t>
            </a:r>
          </a:p>
          <a:p>
            <a:pPr lvl="1"/>
            <a:r>
              <a:rPr lang="en-US" sz="2400" dirty="0"/>
              <a:t>RISC-V: Register, immediate, </a:t>
            </a:r>
            <a:br>
              <a:rPr lang="en-US" sz="2400" dirty="0"/>
            </a:br>
            <a:r>
              <a:rPr lang="en-US" sz="2400" dirty="0"/>
              <a:t>displacement (base + offset)</a:t>
            </a:r>
          </a:p>
          <a:p>
            <a:pPr lvl="1"/>
            <a:r>
              <a:rPr lang="en-US" sz="2400" dirty="0"/>
              <a:t>Other examples: autoincrement, indexed, PC-relative</a:t>
            </a:r>
          </a:p>
          <a:p>
            <a:r>
              <a:rPr lang="en-US" sz="2800" dirty="0"/>
              <a:t>Types and size of operands</a:t>
            </a:r>
          </a:p>
          <a:p>
            <a:pPr lvl="1"/>
            <a:r>
              <a:rPr lang="en-US" sz="2400" dirty="0"/>
              <a:t>RISC-V:  8-bit, 32-bit, 64-bit</a:t>
            </a:r>
          </a:p>
          <a:p>
            <a:pPr lvl="1"/>
            <a:r>
              <a:rPr lang="en-US" sz="2400" dirty="0"/>
              <a:t>IEEE 754 floating point 32-bit (single precision) and 64-bit (double precision).</a:t>
            </a:r>
          </a:p>
          <a:p>
            <a:pPr lvl="1"/>
            <a:r>
              <a:rPr lang="en-US" sz="2400" dirty="0"/>
              <a:t>The 80x86 also supports 80-bit floating point (extended double precision).</a:t>
            </a:r>
          </a:p>
          <a:p>
            <a:pPr lvl="1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/>
              <a:t>Copyright © 2019, Elsevier Inc. All rights reserved.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 rot="5400000">
            <a:off x="7265279" y="1511893"/>
            <a:ext cx="3390736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Defining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12925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Instruction Set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80728"/>
            <a:ext cx="8270875" cy="5111750"/>
          </a:xfrm>
        </p:spPr>
        <p:txBody>
          <a:bodyPr/>
          <a:lstStyle/>
          <a:p>
            <a:r>
              <a:rPr lang="en-US" sz="2800" dirty="0"/>
              <a:t>Operations</a:t>
            </a:r>
          </a:p>
          <a:p>
            <a:pPr lvl="1"/>
            <a:r>
              <a:rPr lang="en-US" sz="2400" dirty="0"/>
              <a:t>RISC-V:  data transfer, arithmetic, logical, control, floating point</a:t>
            </a:r>
          </a:p>
          <a:p>
            <a:pPr lvl="1"/>
            <a:r>
              <a:rPr lang="en-US" sz="2400" dirty="0"/>
              <a:t>See Fig. 1.5 and Fig. 1.6 in text</a:t>
            </a:r>
          </a:p>
          <a:p>
            <a:r>
              <a:rPr lang="en-US" sz="2800" dirty="0"/>
              <a:t>Control flow instructions</a:t>
            </a:r>
          </a:p>
          <a:p>
            <a:pPr lvl="1"/>
            <a:r>
              <a:rPr lang="en-US" sz="2400" dirty="0"/>
              <a:t>Use content of registers (RISC-V) </a:t>
            </a:r>
            <a:br>
              <a:rPr lang="en-US" sz="2400" dirty="0"/>
            </a:br>
            <a:r>
              <a:rPr lang="en-US" sz="2400" dirty="0"/>
              <a:t>vs. status bits (x86, ARMv7, ARMv8)</a:t>
            </a:r>
          </a:p>
          <a:p>
            <a:pPr lvl="1"/>
            <a:r>
              <a:rPr lang="en-US" sz="2400" dirty="0"/>
              <a:t>Return address in register (RISC-V, ARMv7, ARMv8) vs. on stack (x86)</a:t>
            </a:r>
          </a:p>
          <a:p>
            <a:r>
              <a:rPr lang="en-US" sz="2800" dirty="0"/>
              <a:t>Encoding</a:t>
            </a:r>
          </a:p>
          <a:p>
            <a:pPr lvl="1"/>
            <a:r>
              <a:rPr lang="en-US" sz="2400" dirty="0"/>
              <a:t>Fixed (RISC-V, ARMv7/v8 except compact </a:t>
            </a:r>
            <a:br>
              <a:rPr lang="en-US" sz="2400" dirty="0"/>
            </a:br>
            <a:r>
              <a:rPr lang="en-US" sz="2400" dirty="0"/>
              <a:t>instruction set) vs. variable length (x86)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 rot="5400000">
            <a:off x="7265279" y="1511893"/>
            <a:ext cx="3390736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Defining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535005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D11A-DC59-E868-950C-7F092020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US" dirty="0"/>
              <a:t>Instructions for RISC-V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0B002-098F-DD56-6772-506E4DF1BB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2C5A7B-93FE-927D-AC7B-57E1C3735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6" y="752511"/>
            <a:ext cx="7626170" cy="555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98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DA4C-777A-7D88-FB93-089BCF60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116632"/>
            <a:ext cx="8281987" cy="584775"/>
          </a:xfrm>
        </p:spPr>
        <p:txBody>
          <a:bodyPr/>
          <a:lstStyle/>
          <a:p>
            <a:r>
              <a:rPr lang="en-US" sz="3200" dirty="0"/>
              <a:t>Floating point instructions for RISC-V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9BB5D-B6D4-F744-A37F-9A86EA741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5" name="Picture 2" descr="Z:\WOMAT\Production\Artfinal\0000000038\MKCAD\978-0-12-811905-1\0003165540\XMLLowres\f01-06-9780128119051.jpg">
            <a:extLst>
              <a:ext uri="{FF2B5EF4-FFF2-40B4-BE49-F238E27FC236}">
                <a16:creationId xmlns:a16="http://schemas.microsoft.com/office/drawing/2014/main" id="{63B8FB72-77D7-51A8-EE8A-40F2C9C7D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92" y="833569"/>
            <a:ext cx="7084215" cy="4470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4C05662-AEFF-FE2A-A686-D321EC14B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" y="5378666"/>
            <a:ext cx="8243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 sz="1600" b="1" dirty="0">
                <a:latin typeface="+mn-lt"/>
              </a:rPr>
              <a:t>Figure 1.6 Floating point instructions for RISC-V. </a:t>
            </a:r>
            <a:r>
              <a:rPr lang="en-US" altLang="en-US" sz="1600" dirty="0">
                <a:latin typeface="+mn-lt"/>
              </a:rPr>
              <a:t>RISC-V has a base set of instructions (R64I) and offers optional extensions for single-precision floating point (RVF) and double-precision floating point (RVD). SP = single precision; DP = double precision.</a:t>
            </a:r>
          </a:p>
        </p:txBody>
      </p:sp>
    </p:spTree>
    <p:extLst>
      <p:ext uri="{BB962C8B-B14F-4D97-AF65-F5344CB8AC3E}">
        <p14:creationId xmlns:p14="http://schemas.microsoft.com/office/powerpoint/2010/main" val="665691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7498F-FA2D-BC80-C5F7-DDB722AA9D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pic>
        <p:nvPicPr>
          <p:cNvPr id="5" name="Picture 2" descr="Z:\WOMAT\Production\Artfinal\0000000038\MKCAD\978-0-12-811905-1\0003165540\XMLLowres\f01-07-9780128119051.jpg">
            <a:extLst>
              <a:ext uri="{FF2B5EF4-FFF2-40B4-BE49-F238E27FC236}">
                <a16:creationId xmlns:a16="http://schemas.microsoft.com/office/drawing/2014/main" id="{75C328A9-E671-C83B-3DBF-7A3748E00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39" y="1268760"/>
            <a:ext cx="6432521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5A98FB9-DF43-CB97-8D7E-032ACD564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73" y="4437112"/>
            <a:ext cx="817205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en-US" sz="1600" b="1" dirty="0">
                <a:latin typeface="+mn-lt"/>
              </a:rPr>
              <a:t>Figure 1.7 </a:t>
            </a:r>
            <a:r>
              <a:rPr lang="en-US" altLang="en-US" sz="1600" dirty="0">
                <a:latin typeface="+mn-lt"/>
              </a:rPr>
              <a:t>The base RISC-V instruction set architecture formats. All instructions are 32 bits long. The R format is for integer register-to-register operations, such as ADD, SUB, and so on. The I format is for loads and immediate operations, such as LD and ADDI. The B format is for branches, and the J format is for jumps and link. The S format is for stores. Having a separate format for stores allows the three register specifiers (</a:t>
            </a:r>
            <a:r>
              <a:rPr lang="en-US" altLang="en-US" sz="1600" dirty="0" err="1">
                <a:latin typeface="+mn-lt"/>
              </a:rPr>
              <a:t>rd</a:t>
            </a:r>
            <a:r>
              <a:rPr lang="en-US" altLang="en-US" sz="1600" dirty="0">
                <a:latin typeface="+mn-lt"/>
              </a:rPr>
              <a:t>, rs1, rs2) to always be in the same location in all formats. The U format is for the wide immediate instructions (LUI, AUIPC).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61235A-D685-A7AF-D1BD-C122E0A6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US" dirty="0"/>
              <a:t>Encoding: RISC-V ISA</a:t>
            </a:r>
          </a:p>
        </p:txBody>
      </p:sp>
    </p:spTree>
    <p:extLst>
      <p:ext uri="{BB962C8B-B14F-4D97-AF65-F5344CB8AC3E}">
        <p14:creationId xmlns:p14="http://schemas.microsoft.com/office/powerpoint/2010/main" val="3434204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017" y="167735"/>
            <a:ext cx="7240391" cy="503758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  <a:tabLst>
                <a:tab pos="3565341" algn="l"/>
              </a:tabLst>
            </a:pPr>
            <a:r>
              <a:rPr sz="3200" dirty="0"/>
              <a:t>Example:</a:t>
            </a:r>
            <a:r>
              <a:rPr sz="3200" spc="-13" dirty="0"/>
              <a:t> </a:t>
            </a:r>
            <a:r>
              <a:rPr sz="3200" dirty="0"/>
              <a:t>MIPS</a:t>
            </a:r>
            <a:r>
              <a:rPr sz="3200" spc="-9" dirty="0"/>
              <a:t> R3000</a:t>
            </a:r>
            <a:r>
              <a:rPr sz="3200" dirty="0"/>
              <a:t>	</a:t>
            </a:r>
            <a:r>
              <a:rPr sz="3200" spc="-9" dirty="0"/>
              <a:t>(</a:t>
            </a:r>
            <a:r>
              <a:rPr lang="en-US" sz="3200" spc="-9" dirty="0"/>
              <a:t>June </a:t>
            </a:r>
            <a:r>
              <a:rPr sz="3200" spc="-9" dirty="0"/>
              <a:t>1988)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1671" y="1268505"/>
            <a:ext cx="1219200" cy="1290918"/>
            <a:chOff x="1046479" y="1437639"/>
            <a:chExt cx="1381760" cy="1463040"/>
          </a:xfrm>
        </p:grpSpPr>
        <p:sp>
          <p:nvSpPr>
            <p:cNvPr id="4" name="object 4"/>
            <p:cNvSpPr/>
            <p:nvPr/>
          </p:nvSpPr>
          <p:spPr>
            <a:xfrm>
              <a:off x="1053253" y="1444412"/>
              <a:ext cx="1368425" cy="1449705"/>
            </a:xfrm>
            <a:custGeom>
              <a:avLst/>
              <a:gdLst/>
              <a:ahLst/>
              <a:cxnLst/>
              <a:rect l="l" t="t" r="r" b="b"/>
              <a:pathLst>
                <a:path w="1368425" h="1449705">
                  <a:moveTo>
                    <a:pt x="0" y="0"/>
                  </a:moveTo>
                  <a:lnTo>
                    <a:pt x="1368213" y="0"/>
                  </a:lnTo>
                  <a:lnTo>
                    <a:pt x="1368213" y="1449493"/>
                  </a:lnTo>
                  <a:lnTo>
                    <a:pt x="0" y="144949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5" name="object 5"/>
            <p:cNvSpPr/>
            <p:nvPr/>
          </p:nvSpPr>
          <p:spPr>
            <a:xfrm>
              <a:off x="1046479" y="1600200"/>
              <a:ext cx="1381760" cy="0"/>
            </a:xfrm>
            <a:custGeom>
              <a:avLst/>
              <a:gdLst/>
              <a:ahLst/>
              <a:cxnLst/>
              <a:rect l="l" t="t" r="r" b="b"/>
              <a:pathLst>
                <a:path w="1381760">
                  <a:moveTo>
                    <a:pt x="0" y="0"/>
                  </a:moveTo>
                  <a:lnTo>
                    <a:pt x="138175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6" name="object 6"/>
            <p:cNvSpPr/>
            <p:nvPr/>
          </p:nvSpPr>
          <p:spPr>
            <a:xfrm>
              <a:off x="1046479" y="1762759"/>
              <a:ext cx="1381760" cy="0"/>
            </a:xfrm>
            <a:custGeom>
              <a:avLst/>
              <a:gdLst/>
              <a:ahLst/>
              <a:cxnLst/>
              <a:rect l="l" t="t" r="r" b="b"/>
              <a:pathLst>
                <a:path w="1381760">
                  <a:moveTo>
                    <a:pt x="0" y="0"/>
                  </a:moveTo>
                  <a:lnTo>
                    <a:pt x="138175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7" name="object 7"/>
            <p:cNvSpPr/>
            <p:nvPr/>
          </p:nvSpPr>
          <p:spPr>
            <a:xfrm>
              <a:off x="1046479" y="2738119"/>
              <a:ext cx="1381760" cy="0"/>
            </a:xfrm>
            <a:custGeom>
              <a:avLst/>
              <a:gdLst/>
              <a:ahLst/>
              <a:cxnLst/>
              <a:rect l="l" t="t" r="r" b="b"/>
              <a:pathLst>
                <a:path w="1381760">
                  <a:moveTo>
                    <a:pt x="0" y="0"/>
                  </a:moveTo>
                  <a:lnTo>
                    <a:pt x="1381759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7649" y="1274482"/>
            <a:ext cx="1207434" cy="144463"/>
          </a:xfrm>
          <a:prstGeom prst="rect">
            <a:avLst/>
          </a:prstGeom>
          <a:ln w="1354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14866" algn="ctr">
              <a:lnSpc>
                <a:spcPts val="1081"/>
              </a:lnSpc>
            </a:pPr>
            <a:r>
              <a:rPr sz="1324" spc="-44" dirty="0">
                <a:latin typeface="Arial MT"/>
                <a:cs typeface="Arial MT"/>
              </a:rPr>
              <a:t>0</a:t>
            </a:r>
            <a:endParaRPr sz="1324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536" y="1196752"/>
            <a:ext cx="207309" cy="1296942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11206" marR="4483">
              <a:lnSpc>
                <a:spcPts val="1694"/>
              </a:lnSpc>
              <a:spcBef>
                <a:spcPts val="405"/>
              </a:spcBef>
            </a:pPr>
            <a:r>
              <a:rPr sz="1677" b="1" spc="-22" dirty="0">
                <a:latin typeface="Calibri"/>
                <a:cs typeface="Calibri"/>
              </a:rPr>
              <a:t>r0 r1</a:t>
            </a:r>
            <a:endParaRPr sz="1677" dirty="0">
              <a:latin typeface="Calibri"/>
              <a:cs typeface="Calibri"/>
            </a:endParaRPr>
          </a:p>
          <a:p>
            <a:pPr marL="11206">
              <a:lnSpc>
                <a:spcPts val="1628"/>
              </a:lnSpc>
            </a:pPr>
            <a:r>
              <a:rPr lang="en-US" sz="1677" b="1" spc="-44" dirty="0">
                <a:latin typeface="Calibri"/>
                <a:cs typeface="Calibri"/>
              </a:rPr>
              <a:t> </a:t>
            </a:r>
            <a:r>
              <a:rPr sz="1677" b="1" spc="-44" dirty="0">
                <a:latin typeface="Calibri"/>
                <a:cs typeface="Calibri"/>
              </a:rPr>
              <a:t>°</a:t>
            </a:r>
            <a:endParaRPr sz="1677" dirty="0">
              <a:latin typeface="Calibri"/>
              <a:cs typeface="Calibri"/>
            </a:endParaRPr>
          </a:p>
          <a:p>
            <a:pPr marL="11206">
              <a:lnSpc>
                <a:spcPts val="1716"/>
              </a:lnSpc>
            </a:pPr>
            <a:r>
              <a:rPr lang="en-US" sz="1677" b="1" spc="-44" dirty="0">
                <a:latin typeface="Calibri"/>
                <a:cs typeface="Calibri"/>
              </a:rPr>
              <a:t> </a:t>
            </a:r>
            <a:r>
              <a:rPr sz="1677" b="1" spc="-44" dirty="0">
                <a:latin typeface="Calibri"/>
                <a:cs typeface="Calibri"/>
              </a:rPr>
              <a:t>°</a:t>
            </a:r>
            <a:endParaRPr sz="1677" dirty="0">
              <a:latin typeface="Calibri"/>
              <a:cs typeface="Calibri"/>
            </a:endParaRPr>
          </a:p>
          <a:p>
            <a:pPr marL="11206">
              <a:lnSpc>
                <a:spcPts val="1844"/>
              </a:lnSpc>
            </a:pPr>
            <a:r>
              <a:rPr lang="en-US" sz="1677" b="1" spc="-44" dirty="0">
                <a:latin typeface="Calibri"/>
                <a:cs typeface="Calibri"/>
              </a:rPr>
              <a:t> </a:t>
            </a:r>
            <a:r>
              <a:rPr sz="1677" b="1" spc="-44" dirty="0">
                <a:latin typeface="Calibri"/>
                <a:cs typeface="Calibri"/>
              </a:rPr>
              <a:t>°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7649" y="2637117"/>
            <a:ext cx="1207434" cy="131669"/>
          </a:xfrm>
          <a:custGeom>
            <a:avLst/>
            <a:gdLst/>
            <a:ahLst/>
            <a:cxnLst/>
            <a:rect l="l" t="t" r="r" b="b"/>
            <a:pathLst>
              <a:path w="1368425" h="149225">
                <a:moveTo>
                  <a:pt x="0" y="0"/>
                </a:moveTo>
                <a:lnTo>
                  <a:pt x="1368213" y="0"/>
                </a:lnTo>
                <a:lnTo>
                  <a:pt x="1368213" y="149013"/>
                </a:lnTo>
                <a:lnTo>
                  <a:pt x="0" y="149013"/>
                </a:lnTo>
                <a:lnTo>
                  <a:pt x="0" y="0"/>
                </a:lnTo>
                <a:close/>
              </a:path>
            </a:pathLst>
          </a:custGeom>
          <a:ln w="135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grpSp>
        <p:nvGrpSpPr>
          <p:cNvPr id="11" name="object 11"/>
          <p:cNvGrpSpPr/>
          <p:nvPr/>
        </p:nvGrpSpPr>
        <p:grpSpPr>
          <a:xfrm>
            <a:off x="1111671" y="2846293"/>
            <a:ext cx="1219200" cy="286871"/>
            <a:chOff x="1046479" y="3225799"/>
            <a:chExt cx="1381760" cy="325120"/>
          </a:xfrm>
        </p:grpSpPr>
        <p:sp>
          <p:nvSpPr>
            <p:cNvPr id="12" name="object 12"/>
            <p:cNvSpPr/>
            <p:nvPr/>
          </p:nvSpPr>
          <p:spPr>
            <a:xfrm>
              <a:off x="1053253" y="3232572"/>
              <a:ext cx="1368425" cy="149225"/>
            </a:xfrm>
            <a:custGeom>
              <a:avLst/>
              <a:gdLst/>
              <a:ahLst/>
              <a:cxnLst/>
              <a:rect l="l" t="t" r="r" b="b"/>
              <a:pathLst>
                <a:path w="1368425" h="149225">
                  <a:moveTo>
                    <a:pt x="0" y="0"/>
                  </a:moveTo>
                  <a:lnTo>
                    <a:pt x="1368213" y="0"/>
                  </a:lnTo>
                  <a:lnTo>
                    <a:pt x="1368213" y="149013"/>
                  </a:lnTo>
                  <a:lnTo>
                    <a:pt x="0" y="14901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53253" y="3395132"/>
              <a:ext cx="1368425" cy="149225"/>
            </a:xfrm>
            <a:custGeom>
              <a:avLst/>
              <a:gdLst/>
              <a:ahLst/>
              <a:cxnLst/>
              <a:rect l="l" t="t" r="r" b="b"/>
              <a:pathLst>
                <a:path w="1368425" h="149225">
                  <a:moveTo>
                    <a:pt x="0" y="0"/>
                  </a:moveTo>
                  <a:lnTo>
                    <a:pt x="1368213" y="0"/>
                  </a:lnTo>
                  <a:lnTo>
                    <a:pt x="1368213" y="149013"/>
                  </a:lnTo>
                  <a:lnTo>
                    <a:pt x="0" y="14901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5537" y="2320066"/>
            <a:ext cx="722219" cy="102473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59"/>
              </a:lnSpc>
              <a:spcBef>
                <a:spcPts val="88"/>
              </a:spcBef>
            </a:pPr>
            <a:r>
              <a:rPr sz="1677" b="1" dirty="0">
                <a:latin typeface="Calibri"/>
                <a:cs typeface="Calibri"/>
              </a:rPr>
              <a:t>R31 </a:t>
            </a:r>
            <a:r>
              <a:rPr sz="1677" b="1" spc="-18" dirty="0">
                <a:latin typeface="Calibri"/>
                <a:cs typeface="Calibri"/>
              </a:rPr>
              <a:t>(ra)</a:t>
            </a:r>
            <a:endParaRPr sz="1677" dirty="0">
              <a:latin typeface="Calibri"/>
              <a:cs typeface="Calibri"/>
            </a:endParaRPr>
          </a:p>
          <a:p>
            <a:pPr marL="357487">
              <a:lnSpc>
                <a:spcPts val="1791"/>
              </a:lnSpc>
            </a:pPr>
            <a:r>
              <a:rPr sz="1677" b="1" spc="-22" dirty="0">
                <a:latin typeface="Calibri"/>
                <a:cs typeface="Calibri"/>
              </a:rPr>
              <a:t>PC</a:t>
            </a:r>
            <a:endParaRPr sz="1677" dirty="0">
              <a:latin typeface="Calibri"/>
              <a:cs typeface="Calibri"/>
            </a:endParaRPr>
          </a:p>
          <a:p>
            <a:pPr marL="357487" marR="189389">
              <a:lnSpc>
                <a:spcPts val="1782"/>
              </a:lnSpc>
              <a:spcBef>
                <a:spcPts val="79"/>
              </a:spcBef>
            </a:pPr>
            <a:r>
              <a:rPr sz="1677" b="1" spc="-22" dirty="0">
                <a:latin typeface="Calibri"/>
                <a:cs typeface="Calibri"/>
              </a:rPr>
              <a:t>lo hi</a:t>
            </a:r>
            <a:endParaRPr sz="1677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11760" y="1124744"/>
            <a:ext cx="3416981" cy="1687415"/>
          </a:xfrm>
          <a:prstGeom prst="rect">
            <a:avLst/>
          </a:prstGeom>
        </p:spPr>
        <p:txBody>
          <a:bodyPr vert="horz" wrap="square" lIns="0" tIns="77881" rIns="0" bIns="0" rtlCol="0">
            <a:spAutoFit/>
          </a:bodyPr>
          <a:lstStyle/>
          <a:p>
            <a:pPr marL="33619">
              <a:spcBef>
                <a:spcPts val="613"/>
              </a:spcBef>
            </a:pPr>
            <a:r>
              <a:rPr sz="2000" b="1" dirty="0">
                <a:solidFill>
                  <a:srgbClr val="003399"/>
                </a:solidFill>
                <a:latin typeface="+mn-lt"/>
                <a:cs typeface="Calibri"/>
              </a:rPr>
              <a:t>Programmable</a:t>
            </a:r>
            <a:r>
              <a:rPr sz="2000" b="1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b="1" spc="-9" dirty="0">
                <a:solidFill>
                  <a:srgbClr val="003399"/>
                </a:solidFill>
                <a:latin typeface="+mn-lt"/>
                <a:cs typeface="Calibri"/>
              </a:rPr>
              <a:t>storage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5806">
              <a:spcBef>
                <a:spcPts val="582"/>
              </a:spcBef>
            </a:pP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32-bit</a:t>
            </a:r>
            <a:r>
              <a:rPr sz="1677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machine:</a:t>
            </a:r>
            <a:r>
              <a:rPr sz="1677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2</a:t>
            </a:r>
            <a:r>
              <a:rPr sz="1721" baseline="25641" dirty="0">
                <a:solidFill>
                  <a:srgbClr val="003399"/>
                </a:solidFill>
                <a:latin typeface="+mn-lt"/>
                <a:cs typeface="Calibri"/>
              </a:rPr>
              <a:t>32</a:t>
            </a:r>
            <a:r>
              <a:rPr sz="1721" spc="191" baseline="2564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x</a:t>
            </a:r>
            <a:r>
              <a:rPr sz="1677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u="sng" spc="-1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bytes</a:t>
            </a:r>
            <a:endParaRPr sz="167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622520" indent="-266714">
              <a:spcBef>
                <a:spcPts val="552"/>
              </a:spcBef>
              <a:buAutoNum type="arabicPlain" startAt="31"/>
              <a:tabLst>
                <a:tab pos="622520" algn="l"/>
              </a:tabLst>
            </a:pP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x</a:t>
            </a:r>
            <a:r>
              <a:rPr sz="1677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32-bit</a:t>
            </a:r>
            <a:r>
              <a:rPr sz="1677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GPRs</a:t>
            </a:r>
            <a:r>
              <a:rPr sz="1677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spc="-9" dirty="0">
                <a:solidFill>
                  <a:srgbClr val="003399"/>
                </a:solidFill>
                <a:latin typeface="+mn-lt"/>
                <a:cs typeface="Calibri"/>
              </a:rPr>
              <a:t>(R0=0)</a:t>
            </a:r>
            <a:endParaRPr sz="167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5806" marR="26896" indent="266714">
              <a:lnSpc>
                <a:spcPct val="126299"/>
              </a:lnSpc>
              <a:spcBef>
                <a:spcPts val="106"/>
              </a:spcBef>
              <a:buAutoNum type="arabicPlain" startAt="31"/>
              <a:tabLst>
                <a:tab pos="622520" algn="l"/>
              </a:tabLst>
            </a:pP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x</a:t>
            </a:r>
            <a:r>
              <a:rPr sz="1677" spc="-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32-bit</a:t>
            </a:r>
            <a:r>
              <a:rPr sz="1677" spc="-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FP regs</a:t>
            </a:r>
            <a:r>
              <a:rPr sz="1677" spc="-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(paired</a:t>
            </a:r>
            <a:r>
              <a:rPr sz="1677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spc="-22" dirty="0">
                <a:solidFill>
                  <a:srgbClr val="003399"/>
                </a:solidFill>
                <a:latin typeface="+mn-lt"/>
                <a:cs typeface="Calibri"/>
              </a:rPr>
              <a:t>DP)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HI,</a:t>
            </a:r>
            <a:r>
              <a:rPr sz="1677" spc="-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dirty="0">
                <a:solidFill>
                  <a:srgbClr val="003399"/>
                </a:solidFill>
                <a:latin typeface="+mn-lt"/>
                <a:cs typeface="Calibri"/>
              </a:rPr>
              <a:t>LO,</a:t>
            </a:r>
            <a:r>
              <a:rPr sz="1677" spc="-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677" spc="-22" dirty="0">
                <a:solidFill>
                  <a:srgbClr val="003399"/>
                </a:solidFill>
                <a:latin typeface="+mn-lt"/>
                <a:cs typeface="Calibri"/>
              </a:rPr>
              <a:t>PC</a:t>
            </a:r>
            <a:endParaRPr sz="1677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96136" y="1198735"/>
            <a:ext cx="3223092" cy="345174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724499">
              <a:spcBef>
                <a:spcPts val="88"/>
              </a:spcBef>
            </a:pPr>
            <a:r>
              <a:rPr sz="1853" b="1" dirty="0">
                <a:solidFill>
                  <a:srgbClr val="003399"/>
                </a:solidFill>
                <a:latin typeface="+mn-lt"/>
                <a:cs typeface="Calibri"/>
              </a:rPr>
              <a:t>Data</a:t>
            </a:r>
            <a:r>
              <a:rPr sz="1853" b="1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53" b="1" dirty="0">
                <a:solidFill>
                  <a:srgbClr val="003399"/>
                </a:solidFill>
                <a:latin typeface="+mn-lt"/>
                <a:cs typeface="Calibri"/>
              </a:rPr>
              <a:t>types</a:t>
            </a:r>
            <a:r>
              <a:rPr sz="1853" b="1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53" b="1" spc="-44" dirty="0">
                <a:solidFill>
                  <a:srgbClr val="003399"/>
                </a:solidFill>
                <a:latin typeface="+mn-lt"/>
                <a:cs typeface="Calibri"/>
              </a:rPr>
              <a:t>?</a:t>
            </a:r>
            <a:endParaRPr lang="en-US" sz="1853" b="1" spc="-44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28600" marR="724499" indent="-174625"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53" spc="-44" dirty="0">
                <a:solidFill>
                  <a:srgbClr val="003399"/>
                </a:solidFill>
                <a:latin typeface="+mn-lt"/>
                <a:cs typeface="Calibri"/>
              </a:rPr>
              <a:t>32-bit words</a:t>
            </a:r>
          </a:p>
          <a:p>
            <a:pPr marL="228600" marR="724499" indent="-174625"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53" spc="-44" dirty="0">
                <a:solidFill>
                  <a:srgbClr val="003399"/>
                </a:solidFill>
                <a:latin typeface="+mn-lt"/>
                <a:cs typeface="Calibri"/>
              </a:rPr>
              <a:t>16-bit halfwords</a:t>
            </a:r>
          </a:p>
          <a:p>
            <a:pPr marL="228600" marR="724499" indent="-174625">
              <a:spcBef>
                <a:spcPts val="88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53" spc="-44" dirty="0">
                <a:solidFill>
                  <a:srgbClr val="003399"/>
                </a:solidFill>
                <a:latin typeface="+mn-lt"/>
                <a:cs typeface="Calibri"/>
              </a:rPr>
              <a:t>8-bit bytes</a:t>
            </a:r>
          </a:p>
          <a:p>
            <a:pPr marL="11206" marR="724499">
              <a:spcBef>
                <a:spcPts val="88"/>
              </a:spcBef>
            </a:pPr>
            <a:r>
              <a:rPr sz="1853" b="1" dirty="0">
                <a:solidFill>
                  <a:srgbClr val="003399"/>
                </a:solidFill>
                <a:latin typeface="+mn-lt"/>
                <a:cs typeface="Calibri"/>
              </a:rPr>
              <a:t>Format</a:t>
            </a:r>
            <a:r>
              <a:rPr sz="1853" b="1" spc="-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53" b="1" spc="-44" dirty="0">
                <a:solidFill>
                  <a:srgbClr val="003399"/>
                </a:solidFill>
                <a:latin typeface="+mn-lt"/>
                <a:cs typeface="Calibri"/>
              </a:rPr>
              <a:t>?</a:t>
            </a:r>
            <a:endParaRPr lang="en-US" sz="1853" b="1" spc="-44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28600" marR="724499" indent="-174625"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53" dirty="0">
                <a:solidFill>
                  <a:srgbClr val="003399"/>
                </a:solidFill>
                <a:latin typeface="+mn-lt"/>
                <a:cs typeface="Calibri"/>
              </a:rPr>
              <a:t>R-type, I-type, J-type,</a:t>
            </a:r>
          </a:p>
          <a:p>
            <a:pPr marL="228600" marR="724499" indent="-174625">
              <a:spcBef>
                <a:spcPts val="88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853" dirty="0">
                <a:solidFill>
                  <a:srgbClr val="003399"/>
                </a:solidFill>
                <a:latin typeface="+mn-lt"/>
                <a:cs typeface="Calibri"/>
              </a:rPr>
              <a:t>FR, FI</a:t>
            </a:r>
            <a:endParaRPr sz="1853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11206">
              <a:spcBef>
                <a:spcPts val="763"/>
              </a:spcBef>
            </a:pPr>
            <a:r>
              <a:rPr sz="1853" b="1" dirty="0">
                <a:solidFill>
                  <a:srgbClr val="003399"/>
                </a:solidFill>
                <a:latin typeface="+mn-lt"/>
                <a:cs typeface="Calibri"/>
              </a:rPr>
              <a:t>Addressing</a:t>
            </a:r>
            <a:r>
              <a:rPr sz="1853" b="1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53" b="1" spc="-9" dirty="0">
                <a:solidFill>
                  <a:srgbClr val="003399"/>
                </a:solidFill>
                <a:latin typeface="+mn-lt"/>
                <a:cs typeface="Calibri"/>
              </a:rPr>
              <a:t>Modes</a:t>
            </a:r>
            <a:r>
              <a:rPr lang="en-US" sz="1853" b="1" spc="-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1853" b="1" spc="-9" dirty="0">
                <a:solidFill>
                  <a:srgbClr val="003399"/>
                </a:solidFill>
                <a:latin typeface="+mn-lt"/>
                <a:cs typeface="Calibri"/>
              </a:rPr>
              <a:t>?</a:t>
            </a:r>
            <a:endParaRPr lang="en-US" sz="1853" b="1" spc="-9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34950" indent="-173038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850" dirty="0">
                <a:solidFill>
                  <a:srgbClr val="003399"/>
                </a:solidFill>
                <a:latin typeface="+mn-lt"/>
              </a:rPr>
              <a:t>the base register plus </a:t>
            </a:r>
            <a:br>
              <a:rPr lang="en-US" sz="1850" dirty="0">
                <a:solidFill>
                  <a:srgbClr val="003399"/>
                </a:solidFill>
                <a:latin typeface="+mn-lt"/>
              </a:rPr>
            </a:br>
            <a:r>
              <a:rPr lang="en-US" sz="1850" dirty="0">
                <a:solidFill>
                  <a:srgbClr val="003399"/>
                </a:solidFill>
                <a:latin typeface="+mn-lt"/>
              </a:rPr>
              <a:t>a 16-bit signed displacement</a:t>
            </a:r>
            <a:endParaRPr sz="185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5408" y="3176195"/>
            <a:ext cx="4583206" cy="1455444"/>
          </a:xfrm>
          <a:prstGeom prst="rect">
            <a:avLst/>
          </a:prstGeom>
        </p:spPr>
        <p:txBody>
          <a:bodyPr vert="horz" wrap="square" lIns="0" tIns="83484" rIns="0" bIns="0" rtlCol="0">
            <a:spAutoFit/>
          </a:bodyPr>
          <a:lstStyle/>
          <a:p>
            <a:pPr marL="11206">
              <a:spcBef>
                <a:spcPts val="657"/>
              </a:spcBef>
            </a:pPr>
            <a:r>
              <a:rPr sz="1500" b="1" dirty="0">
                <a:latin typeface="Calibri"/>
                <a:cs typeface="Calibri"/>
              </a:rPr>
              <a:t>Arithmetic</a:t>
            </a:r>
            <a:r>
              <a:rPr sz="1500" b="1" spc="-26" dirty="0">
                <a:latin typeface="Calibri"/>
                <a:cs typeface="Calibri"/>
              </a:rPr>
              <a:t> </a:t>
            </a:r>
            <a:r>
              <a:rPr sz="1500" b="1" spc="-9" dirty="0">
                <a:latin typeface="Calibri"/>
                <a:cs typeface="Calibri"/>
              </a:rPr>
              <a:t>logical</a:t>
            </a:r>
            <a:endParaRPr sz="1500" dirty="0">
              <a:latin typeface="Calibri"/>
              <a:cs typeface="Calibri"/>
            </a:endParaRPr>
          </a:p>
          <a:p>
            <a:pPr marL="440975" marR="4483">
              <a:lnSpc>
                <a:spcPct val="122400"/>
              </a:lnSpc>
              <a:spcBef>
                <a:spcPts val="172"/>
              </a:spcBef>
            </a:pPr>
            <a:r>
              <a:rPr sz="1500" dirty="0">
                <a:latin typeface="Calibri"/>
                <a:cs typeface="Calibri"/>
              </a:rPr>
              <a:t>Add,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AddU,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Sub,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SubU,</a:t>
            </a:r>
            <a:r>
              <a:rPr sz="1500" spc="-1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And,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Or,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Xor,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18" dirty="0">
                <a:latin typeface="Calibri"/>
                <a:cs typeface="Calibri"/>
              </a:rPr>
              <a:t>Nor, </a:t>
            </a:r>
            <a:r>
              <a:rPr sz="1500" spc="-62" dirty="0">
                <a:latin typeface="Calibri"/>
                <a:cs typeface="Calibri"/>
              </a:rPr>
              <a:t>SLT,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SLTU, </a:t>
            </a:r>
            <a:r>
              <a:rPr sz="1500" dirty="0">
                <a:latin typeface="Calibri"/>
                <a:cs typeface="Calibri"/>
              </a:rPr>
              <a:t>AddI,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AddIU,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SLTI,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18" dirty="0">
                <a:latin typeface="Calibri"/>
                <a:cs typeface="Calibri"/>
              </a:rPr>
              <a:t>SLTIU,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AndI,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OrI,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XorI,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i="1" spc="-22" dirty="0">
                <a:latin typeface="Calibri"/>
                <a:cs typeface="Calibri"/>
              </a:rPr>
              <a:t>LUI</a:t>
            </a:r>
            <a:endParaRPr sz="1500" dirty="0">
              <a:latin typeface="Calibri"/>
              <a:cs typeface="Calibri"/>
            </a:endParaRPr>
          </a:p>
          <a:p>
            <a:pPr marL="440975">
              <a:spcBef>
                <a:spcPts val="424"/>
              </a:spcBef>
            </a:pPr>
            <a:r>
              <a:rPr sz="1500" dirty="0">
                <a:latin typeface="Calibri"/>
                <a:cs typeface="Calibri"/>
              </a:rPr>
              <a:t>SLL, SRL,</a:t>
            </a:r>
            <a:r>
              <a:rPr sz="1500" spc="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SRA, </a:t>
            </a:r>
            <a:r>
              <a:rPr sz="1500" spc="-40" dirty="0">
                <a:latin typeface="Calibri"/>
                <a:cs typeface="Calibri"/>
              </a:rPr>
              <a:t>SLLV,</a:t>
            </a:r>
            <a:r>
              <a:rPr sz="1500" spc="4" dirty="0">
                <a:latin typeface="Calibri"/>
                <a:cs typeface="Calibri"/>
              </a:rPr>
              <a:t> </a:t>
            </a:r>
            <a:r>
              <a:rPr sz="1500" spc="-40" dirty="0">
                <a:latin typeface="Calibri"/>
                <a:cs typeface="Calibri"/>
              </a:rPr>
              <a:t>SRLV,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8" dirty="0">
                <a:latin typeface="Calibri"/>
                <a:cs typeface="Calibri"/>
              </a:rPr>
              <a:t>SRAV</a:t>
            </a:r>
            <a:endParaRPr sz="1500" dirty="0">
              <a:latin typeface="Calibri"/>
              <a:cs typeface="Calibri"/>
            </a:endParaRPr>
          </a:p>
          <a:p>
            <a:pPr marL="11206">
              <a:spcBef>
                <a:spcPts val="317"/>
              </a:spcBef>
            </a:pPr>
            <a:r>
              <a:rPr sz="1500" b="1" dirty="0">
                <a:latin typeface="Calibri"/>
                <a:cs typeface="Calibri"/>
              </a:rPr>
              <a:t>Memory</a:t>
            </a:r>
            <a:r>
              <a:rPr sz="1500" b="1" spc="13" dirty="0">
                <a:latin typeface="Calibri"/>
                <a:cs typeface="Calibri"/>
              </a:rPr>
              <a:t> </a:t>
            </a:r>
            <a:r>
              <a:rPr sz="1500" b="1" spc="-9" dirty="0">
                <a:latin typeface="Calibri"/>
                <a:cs typeface="Calibri"/>
              </a:rPr>
              <a:t>Access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5408" y="4641925"/>
            <a:ext cx="4211171" cy="14465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0975" marR="1364949">
              <a:lnSpc>
                <a:spcPct val="122400"/>
              </a:lnSpc>
              <a:spcBef>
                <a:spcPts val="88"/>
              </a:spcBef>
            </a:pPr>
            <a:r>
              <a:rPr sz="1500" dirty="0">
                <a:latin typeface="Calibri"/>
                <a:cs typeface="Calibri"/>
              </a:rPr>
              <a:t>LB,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LBU,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LH,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LHU,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spc="-88" dirty="0">
                <a:latin typeface="Calibri"/>
                <a:cs typeface="Calibri"/>
              </a:rPr>
              <a:t>LW,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9" dirty="0">
                <a:solidFill>
                  <a:srgbClr val="919191"/>
                </a:solidFill>
                <a:latin typeface="Calibri"/>
                <a:cs typeface="Calibri"/>
              </a:rPr>
              <a:t>LWL,LWR </a:t>
            </a:r>
            <a:r>
              <a:rPr sz="1500" dirty="0">
                <a:latin typeface="Calibri"/>
                <a:cs typeface="Calibri"/>
              </a:rPr>
              <a:t>SB,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SH,</a:t>
            </a:r>
            <a:r>
              <a:rPr sz="1500" spc="-9" dirty="0">
                <a:latin typeface="Calibri"/>
                <a:cs typeface="Calibri"/>
              </a:rPr>
              <a:t> </a:t>
            </a:r>
            <a:r>
              <a:rPr sz="1500" spc="-49" dirty="0">
                <a:latin typeface="Calibri"/>
                <a:cs typeface="Calibri"/>
              </a:rPr>
              <a:t>SW,</a:t>
            </a:r>
            <a:r>
              <a:rPr sz="1500" spc="-9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919191"/>
                </a:solidFill>
                <a:latin typeface="Calibri"/>
                <a:cs typeface="Calibri"/>
              </a:rPr>
              <a:t>SWL,</a:t>
            </a:r>
            <a:r>
              <a:rPr sz="1500" spc="-4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1500" spc="-22" dirty="0">
                <a:solidFill>
                  <a:srgbClr val="919191"/>
                </a:solidFill>
                <a:latin typeface="Calibri"/>
                <a:cs typeface="Calibri"/>
              </a:rPr>
              <a:t>SWR</a:t>
            </a:r>
            <a:endParaRPr sz="1500" dirty="0">
              <a:latin typeface="Calibri"/>
              <a:cs typeface="Calibri"/>
            </a:endParaRPr>
          </a:p>
          <a:p>
            <a:pPr marL="11206">
              <a:spcBef>
                <a:spcPts val="317"/>
              </a:spcBef>
            </a:pPr>
            <a:r>
              <a:rPr sz="1500" b="1" spc="-9" dirty="0">
                <a:latin typeface="Calibri"/>
                <a:cs typeface="Calibri"/>
              </a:rPr>
              <a:t>Control</a:t>
            </a:r>
            <a:endParaRPr sz="1500" dirty="0">
              <a:latin typeface="Calibri"/>
              <a:cs typeface="Calibri"/>
            </a:endParaRPr>
          </a:p>
          <a:p>
            <a:pPr marL="440975">
              <a:spcBef>
                <a:spcPts val="675"/>
              </a:spcBef>
            </a:pPr>
            <a:r>
              <a:rPr sz="1500" dirty="0">
                <a:latin typeface="Calibri"/>
                <a:cs typeface="Calibri"/>
              </a:rPr>
              <a:t>J,</a:t>
            </a:r>
            <a:r>
              <a:rPr sz="1500" spc="-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JAL,</a:t>
            </a:r>
            <a:r>
              <a:rPr sz="1500" spc="-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JR,</a:t>
            </a:r>
            <a:r>
              <a:rPr sz="1500" spc="-13" dirty="0">
                <a:latin typeface="Calibri"/>
                <a:cs typeface="Calibri"/>
              </a:rPr>
              <a:t> </a:t>
            </a:r>
            <a:r>
              <a:rPr sz="1500" spc="-18" dirty="0">
                <a:solidFill>
                  <a:srgbClr val="919191"/>
                </a:solidFill>
                <a:latin typeface="Calibri"/>
                <a:cs typeface="Calibri"/>
              </a:rPr>
              <a:t>JALR</a:t>
            </a:r>
            <a:endParaRPr sz="1500" dirty="0">
              <a:latin typeface="Calibri"/>
              <a:cs typeface="Calibri"/>
            </a:endParaRPr>
          </a:p>
          <a:p>
            <a:pPr marL="440975">
              <a:spcBef>
                <a:spcPts val="401"/>
              </a:spcBef>
            </a:pPr>
            <a:r>
              <a:rPr sz="1500" dirty="0">
                <a:latin typeface="Calibri"/>
                <a:cs typeface="Calibri"/>
              </a:rPr>
              <a:t>BEQ,</a:t>
            </a:r>
            <a:r>
              <a:rPr sz="1500" spc="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BNE,</a:t>
            </a:r>
            <a:r>
              <a:rPr sz="1500" spc="31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BLEZ,BGTZ,BLTZ,BGEZ,</a:t>
            </a:r>
            <a:r>
              <a:rPr sz="1500" spc="-9" dirty="0">
                <a:solidFill>
                  <a:srgbClr val="919191"/>
                </a:solidFill>
                <a:latin typeface="Calibri"/>
                <a:cs typeface="Calibri"/>
              </a:rPr>
              <a:t>BLTZAL,BGEZAL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94982" y="4923188"/>
            <a:ext cx="382120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32-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bit</a:t>
            </a:r>
            <a:r>
              <a:rPr sz="1677" b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instructions</a:t>
            </a:r>
            <a:r>
              <a:rPr sz="1677" b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1677" b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dirty="0">
                <a:solidFill>
                  <a:srgbClr val="FF0000"/>
                </a:solidFill>
                <a:latin typeface="Arial"/>
                <a:cs typeface="Arial"/>
              </a:rPr>
              <a:t>word</a:t>
            </a:r>
            <a:r>
              <a:rPr sz="1677" b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F0000"/>
                </a:solidFill>
                <a:latin typeface="Arial"/>
                <a:cs typeface="Arial"/>
              </a:rPr>
              <a:t>boundary</a:t>
            </a:r>
            <a:endParaRPr sz="1677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MIP</a:t>
            </a:r>
            <a:r>
              <a:rPr spc="-31" dirty="0"/>
              <a:t> </a:t>
            </a:r>
            <a:r>
              <a:rPr spc="-9" dirty="0"/>
              <a:t>Registers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0973" y="1132784"/>
            <a:ext cx="4704152" cy="457837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70830" y="5780532"/>
            <a:ext cx="3291728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u="sng" spc="-26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  <a:hlinkClick r:id="rId4"/>
              </a:rPr>
              <a:t>http://homepage.cs.uiowa.edu/~ghosh/01-23-</a:t>
            </a:r>
            <a:r>
              <a:rPr sz="1147" u="sng" spc="-9" dirty="0">
                <a:solidFill>
                  <a:srgbClr val="FC0128"/>
                </a:solidFill>
                <a:uFill>
                  <a:solidFill>
                    <a:srgbClr val="FC0128"/>
                  </a:solidFill>
                </a:uFill>
                <a:latin typeface="Arial MT"/>
                <a:cs typeface="Arial MT"/>
                <a:hlinkClick r:id="rId4"/>
              </a:rPr>
              <a:t>07.pdf</a:t>
            </a:r>
            <a:endParaRPr sz="1147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8418" y="6049473"/>
            <a:ext cx="203274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147" dirty="0">
                <a:latin typeface="Arial MT"/>
                <a:cs typeface="Arial MT"/>
              </a:rPr>
              <a:t>Fig.</a:t>
            </a:r>
            <a:r>
              <a:rPr sz="1147" spc="-49" dirty="0">
                <a:latin typeface="Arial MT"/>
                <a:cs typeface="Arial MT"/>
              </a:rPr>
              <a:t> </a:t>
            </a:r>
            <a:r>
              <a:rPr sz="1147" dirty="0">
                <a:latin typeface="Arial MT"/>
                <a:cs typeface="Arial MT"/>
              </a:rPr>
              <a:t>1.4</a:t>
            </a:r>
            <a:r>
              <a:rPr sz="1147" spc="-62" dirty="0">
                <a:latin typeface="Arial MT"/>
                <a:cs typeface="Arial MT"/>
              </a:rPr>
              <a:t> </a:t>
            </a:r>
            <a:r>
              <a:rPr sz="1147" dirty="0">
                <a:latin typeface="Arial MT"/>
                <a:cs typeface="Arial MT"/>
              </a:rPr>
              <a:t>in</a:t>
            </a:r>
            <a:r>
              <a:rPr sz="1147" spc="-57" dirty="0">
                <a:latin typeface="Arial MT"/>
                <a:cs typeface="Arial MT"/>
              </a:rPr>
              <a:t> </a:t>
            </a:r>
            <a:r>
              <a:rPr sz="1147" spc="-9" dirty="0">
                <a:latin typeface="Arial MT"/>
                <a:cs typeface="Arial MT"/>
              </a:rPr>
              <a:t>textbook</a:t>
            </a:r>
            <a:r>
              <a:rPr sz="1147" spc="-57" dirty="0">
                <a:latin typeface="Arial MT"/>
                <a:cs typeface="Arial MT"/>
              </a:rPr>
              <a:t> </a:t>
            </a:r>
            <a:r>
              <a:rPr sz="1147" dirty="0">
                <a:latin typeface="Arial MT"/>
                <a:cs typeface="Arial MT"/>
              </a:rPr>
              <a:t>(5</a:t>
            </a:r>
            <a:r>
              <a:rPr sz="1191" baseline="24691" dirty="0">
                <a:latin typeface="Arial MT"/>
                <a:cs typeface="Arial MT"/>
              </a:rPr>
              <a:t>th</a:t>
            </a:r>
            <a:r>
              <a:rPr sz="1191" spc="53" baseline="24691" dirty="0">
                <a:latin typeface="Arial MT"/>
                <a:cs typeface="Arial MT"/>
              </a:rPr>
              <a:t> </a:t>
            </a:r>
            <a:r>
              <a:rPr sz="1147" spc="-9" dirty="0">
                <a:latin typeface="Arial MT"/>
                <a:cs typeface="Arial MT"/>
              </a:rPr>
              <a:t>edition)</a:t>
            </a:r>
            <a:endParaRPr sz="114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F164-DCEF-A0CA-E712-13C26B08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Encoding: MIPS64 ISA</a:t>
            </a:r>
          </a:p>
        </p:txBody>
      </p:sp>
      <p:pic>
        <p:nvPicPr>
          <p:cNvPr id="6" name="Content Placeholder 5" descr="A white sheet of paper with black text&#10;&#10;AI-generated content may be incorrect.">
            <a:extLst>
              <a:ext uri="{FF2B5EF4-FFF2-40B4-BE49-F238E27FC236}">
                <a16:creationId xmlns:a16="http://schemas.microsoft.com/office/drawing/2014/main" id="{97B82EC8-F0EA-2CBE-6E29-D6E39F0DC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68" y="836712"/>
            <a:ext cx="7380156" cy="5450159"/>
          </a:xfrm>
        </p:spPr>
      </p:pic>
    </p:spTree>
    <p:extLst>
      <p:ext uri="{BB962C8B-B14F-4D97-AF65-F5344CB8AC3E}">
        <p14:creationId xmlns:p14="http://schemas.microsoft.com/office/powerpoint/2010/main" val="2560793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C1235-2D60-128B-8F46-A658379F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MIPS64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B456-F4AA-B4C6-2B55-24274C83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4941192"/>
            <a:ext cx="8208962" cy="129612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Figure 1.5 </a:t>
            </a:r>
            <a:r>
              <a:rPr lang="en-US" sz="1800" dirty="0">
                <a:solidFill>
                  <a:schemeClr val="tx1"/>
                </a:solidFill>
              </a:rPr>
              <a:t>Subset of the instructions in MIPS64. SP = single precision; DP = double precision. Appendix A gives much more detail on MIPS64. For data, the most significant bit number is 0; least is 63.</a:t>
            </a:r>
          </a:p>
          <a:p>
            <a:endParaRPr lang="en-US" dirty="0"/>
          </a:p>
        </p:txBody>
      </p:sp>
      <p:pic>
        <p:nvPicPr>
          <p:cNvPr id="6" name="Picture 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122BD26D-EB7F-38B6-062D-6B1DA2603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01" y="980728"/>
            <a:ext cx="8576695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56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An</a:t>
            </a:r>
            <a:r>
              <a:rPr spc="13" dirty="0"/>
              <a:t> </a:t>
            </a:r>
            <a:r>
              <a:rPr dirty="0"/>
              <a:t>example:</a:t>
            </a:r>
            <a:r>
              <a:rPr spc="18" dirty="0"/>
              <a:t> </a:t>
            </a:r>
            <a:r>
              <a:rPr spc="-18" dirty="0"/>
              <a:t>SLTU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9552" y="836712"/>
            <a:ext cx="12659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7">
              <a:spcBef>
                <a:spcPts val="88"/>
              </a:spcBef>
              <a:tabLst>
                <a:tab pos="279602" algn="l"/>
              </a:tabLst>
            </a:pPr>
            <a:r>
              <a:rPr sz="2294" spc="-18" dirty="0">
                <a:latin typeface="Calibri"/>
                <a:cs typeface="Calibri"/>
              </a:rPr>
              <a:t>SLTU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552" y="1268760"/>
            <a:ext cx="8424936" cy="342049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An</a:t>
            </a:r>
            <a:r>
              <a:rPr spc="13" dirty="0"/>
              <a:t> </a:t>
            </a:r>
            <a:r>
              <a:rPr dirty="0"/>
              <a:t>example:</a:t>
            </a:r>
            <a:r>
              <a:rPr spc="18" dirty="0"/>
              <a:t> </a:t>
            </a:r>
            <a:r>
              <a:rPr spc="-18" dirty="0"/>
              <a:t>SLTU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575" y="4761261"/>
            <a:ext cx="3528395" cy="154266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79852" y="6369404"/>
            <a:ext cx="4355726" cy="155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257"/>
              </a:lnSpc>
            </a:pPr>
            <a:r>
              <a:rPr sz="1059" i="1" spc="-9" dirty="0">
                <a:latin typeface="Arial"/>
                <a:cs typeface="Arial"/>
              </a:rPr>
              <a:t>Source:</a:t>
            </a:r>
            <a:r>
              <a:rPr sz="1059" i="1" spc="379" dirty="0">
                <a:latin typeface="Arial"/>
                <a:cs typeface="Arial"/>
              </a:rPr>
              <a:t> </a:t>
            </a:r>
            <a:r>
              <a:rPr sz="1059" i="1" spc="-22" dirty="0">
                <a:latin typeface="Arial"/>
                <a:cs typeface="Arial"/>
              </a:rPr>
              <a:t>https://chortle.ccsu.edu/assemblytutorial/Chapter-</a:t>
            </a:r>
            <a:r>
              <a:rPr sz="1059" i="1" spc="-9" dirty="0">
                <a:latin typeface="Arial"/>
                <a:cs typeface="Arial"/>
              </a:rPr>
              <a:t>18/ass18_4.html</a:t>
            </a:r>
            <a:endParaRPr sz="1059" dirty="0">
              <a:latin typeface="Arial"/>
              <a:cs typeface="Arial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B823F0E9-98F0-7CCA-EEDD-565D2E07A31C}"/>
              </a:ext>
            </a:extLst>
          </p:cNvPr>
          <p:cNvSpPr txBox="1"/>
          <p:nvPr/>
        </p:nvSpPr>
        <p:spPr>
          <a:xfrm>
            <a:off x="539552" y="836712"/>
            <a:ext cx="1265938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7">
              <a:spcBef>
                <a:spcPts val="88"/>
              </a:spcBef>
              <a:tabLst>
                <a:tab pos="279602" algn="l"/>
              </a:tabLst>
            </a:pPr>
            <a:r>
              <a:rPr sz="2294" spc="-18" dirty="0">
                <a:latin typeface="Calibri"/>
                <a:cs typeface="Calibri"/>
              </a:rPr>
              <a:t>SLTU</a:t>
            </a:r>
            <a:endParaRPr sz="2294" dirty="0">
              <a:latin typeface="Calibri"/>
              <a:cs typeface="Calibri"/>
            </a:endParaRPr>
          </a:p>
        </p:txBody>
      </p:sp>
      <p:pic>
        <p:nvPicPr>
          <p:cNvPr id="14" name="object 5">
            <a:extLst>
              <a:ext uri="{FF2B5EF4-FFF2-40B4-BE49-F238E27FC236}">
                <a16:creationId xmlns:a16="http://schemas.microsoft.com/office/drawing/2014/main" id="{2D13EBEC-E617-2684-9953-03E72E19DB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552" y="1268760"/>
            <a:ext cx="8424936" cy="34204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3970" y="4005064"/>
            <a:ext cx="4860030" cy="225112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Instruction</a:t>
            </a:r>
            <a:r>
              <a:rPr spc="-4" dirty="0"/>
              <a:t> </a:t>
            </a:r>
            <a:r>
              <a:rPr dirty="0"/>
              <a:t>Set</a:t>
            </a:r>
            <a:r>
              <a:rPr spc="-4" dirty="0"/>
              <a:t> </a:t>
            </a:r>
            <a:r>
              <a:rPr spc="-9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602" y="1134316"/>
            <a:ext cx="7706846" cy="1646612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11206" marR="205079">
              <a:lnSpc>
                <a:spcPct val="83300"/>
              </a:lnSpc>
              <a:spcBef>
                <a:spcPts val="547"/>
              </a:spcBef>
              <a:tabLst>
                <a:tab pos="2102336" algn="l"/>
              </a:tabLst>
            </a:pPr>
            <a:r>
              <a:rPr sz="2294" i="1" dirty="0">
                <a:latin typeface="Calibri"/>
                <a:cs typeface="Calibri"/>
              </a:rPr>
              <a:t>“...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the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attributes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of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[computing]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system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as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seen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by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the </a:t>
            </a:r>
            <a:r>
              <a:rPr sz="2294" i="1" spc="-18" dirty="0">
                <a:latin typeface="Calibri"/>
                <a:cs typeface="Calibri"/>
              </a:rPr>
              <a:t>programmer,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i.e.</a:t>
            </a:r>
            <a:r>
              <a:rPr sz="2294" i="1" dirty="0">
                <a:latin typeface="Calibri"/>
                <a:cs typeface="Calibri"/>
              </a:rPr>
              <a:t>	the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conceptual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structure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and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functional </a:t>
            </a:r>
            <a:r>
              <a:rPr sz="2294" i="1" spc="-18" dirty="0">
                <a:latin typeface="Calibri"/>
                <a:cs typeface="Calibri"/>
              </a:rPr>
              <a:t>behavior,</a:t>
            </a:r>
            <a:r>
              <a:rPr sz="2294" i="1" spc="-66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as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distinct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from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the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organization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of</a:t>
            </a:r>
            <a:r>
              <a:rPr sz="2294" i="1" spc="-66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the</a:t>
            </a:r>
            <a:r>
              <a:rPr sz="2294" i="1" spc="-66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data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flows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and </a:t>
            </a:r>
            <a:r>
              <a:rPr sz="2294" i="1" spc="-18" dirty="0">
                <a:latin typeface="Calibri"/>
                <a:cs typeface="Calibri"/>
              </a:rPr>
              <a:t>controls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the</a:t>
            </a:r>
            <a:r>
              <a:rPr sz="2294" i="1" spc="-93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logic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design,</a:t>
            </a:r>
            <a:r>
              <a:rPr sz="2294" i="1" spc="-84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and</a:t>
            </a:r>
            <a:r>
              <a:rPr sz="2294" i="1" spc="-93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the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physical</a:t>
            </a:r>
            <a:r>
              <a:rPr sz="2294" i="1" spc="-88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implementation.”</a:t>
            </a:r>
            <a:endParaRPr sz="2294" dirty="0">
              <a:latin typeface="Calibri"/>
              <a:cs typeface="Calibri"/>
            </a:endParaRPr>
          </a:p>
          <a:p>
            <a:pPr marL="3362504">
              <a:spcBef>
                <a:spcPts val="424"/>
              </a:spcBef>
              <a:tabLst>
                <a:tab pos="7112753" algn="l"/>
              </a:tabLst>
            </a:pPr>
            <a:r>
              <a:rPr sz="2294" i="1" dirty="0">
                <a:latin typeface="Calibri"/>
                <a:cs typeface="Calibri"/>
              </a:rPr>
              <a:t>–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spc="-22" dirty="0">
                <a:latin typeface="Calibri"/>
                <a:cs typeface="Calibri"/>
              </a:rPr>
              <a:t>Amdahl,</a:t>
            </a:r>
            <a:r>
              <a:rPr sz="2294" i="1" spc="-71" dirty="0">
                <a:latin typeface="Calibri"/>
                <a:cs typeface="Calibri"/>
              </a:rPr>
              <a:t> </a:t>
            </a:r>
            <a:r>
              <a:rPr sz="2294" i="1" spc="-18" dirty="0">
                <a:latin typeface="Calibri"/>
                <a:cs typeface="Calibri"/>
              </a:rPr>
              <a:t>Blaauw,</a:t>
            </a:r>
            <a:r>
              <a:rPr sz="2294" i="1" spc="-75" dirty="0">
                <a:latin typeface="Calibri"/>
                <a:cs typeface="Calibri"/>
              </a:rPr>
              <a:t> </a:t>
            </a:r>
            <a:r>
              <a:rPr sz="2294" i="1" dirty="0">
                <a:latin typeface="Calibri"/>
                <a:cs typeface="Calibri"/>
              </a:rPr>
              <a:t>and</a:t>
            </a:r>
            <a:r>
              <a:rPr sz="2294" i="1" spc="-79" dirty="0">
                <a:latin typeface="Calibri"/>
                <a:cs typeface="Calibri"/>
              </a:rPr>
              <a:t> </a:t>
            </a:r>
            <a:r>
              <a:rPr sz="2294" i="1" spc="-9" dirty="0">
                <a:latin typeface="Calibri"/>
                <a:cs typeface="Calibri"/>
              </a:rPr>
              <a:t>Brooks,</a:t>
            </a:r>
            <a:r>
              <a:rPr sz="2294" i="1" dirty="0">
                <a:latin typeface="Calibri"/>
                <a:cs typeface="Calibri"/>
              </a:rPr>
              <a:t>	</a:t>
            </a:r>
            <a:r>
              <a:rPr sz="2294" i="1" spc="-18" dirty="0">
                <a:latin typeface="Calibri"/>
                <a:cs typeface="Calibri"/>
              </a:rPr>
              <a:t>1964</a:t>
            </a:r>
            <a:endParaRPr sz="2294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11295" y="3036345"/>
            <a:ext cx="3383055" cy="2072528"/>
            <a:chOff x="5753734" y="3441191"/>
            <a:chExt cx="3834129" cy="2348865"/>
          </a:xfrm>
        </p:grpSpPr>
        <p:sp>
          <p:nvSpPr>
            <p:cNvPr id="5" name="object 5"/>
            <p:cNvSpPr/>
            <p:nvPr/>
          </p:nvSpPr>
          <p:spPr>
            <a:xfrm>
              <a:off x="6329679" y="3669453"/>
              <a:ext cx="3251200" cy="0"/>
            </a:xfrm>
            <a:custGeom>
              <a:avLst/>
              <a:gdLst/>
              <a:ahLst/>
              <a:cxnLst/>
              <a:rect l="l" t="t" r="r" b="b"/>
              <a:pathLst>
                <a:path w="3251200">
                  <a:moveTo>
                    <a:pt x="0" y="0"/>
                  </a:moveTo>
                  <a:lnTo>
                    <a:pt x="257385" y="0"/>
                  </a:lnTo>
                </a:path>
                <a:path w="3251200">
                  <a:moveTo>
                    <a:pt x="2252132" y="0"/>
                  </a:moveTo>
                  <a:lnTo>
                    <a:pt x="3251199" y="0"/>
                  </a:lnTo>
                </a:path>
              </a:pathLst>
            </a:custGeom>
            <a:ln w="135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492" y="4163906"/>
              <a:ext cx="3400212" cy="16120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67492" y="4163906"/>
              <a:ext cx="3400425" cy="1612265"/>
            </a:xfrm>
            <a:custGeom>
              <a:avLst/>
              <a:gdLst/>
              <a:ahLst/>
              <a:cxnLst/>
              <a:rect l="l" t="t" r="r" b="b"/>
              <a:pathLst>
                <a:path w="3400425" h="1612264">
                  <a:moveTo>
                    <a:pt x="0" y="0"/>
                  </a:moveTo>
                  <a:lnTo>
                    <a:pt x="3400213" y="0"/>
                  </a:lnTo>
                  <a:lnTo>
                    <a:pt x="3400213" y="1612053"/>
                  </a:lnTo>
                  <a:lnTo>
                    <a:pt x="0" y="161205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/>
            <p:nvPr/>
          </p:nvSpPr>
          <p:spPr>
            <a:xfrm>
              <a:off x="5760719" y="3669452"/>
              <a:ext cx="568960" cy="487680"/>
            </a:xfrm>
            <a:custGeom>
              <a:avLst/>
              <a:gdLst/>
              <a:ahLst/>
              <a:cxnLst/>
              <a:rect l="l" t="t" r="r" b="b"/>
              <a:pathLst>
                <a:path w="568960" h="487679">
                  <a:moveTo>
                    <a:pt x="0" y="487679"/>
                  </a:moveTo>
                  <a:lnTo>
                    <a:pt x="56895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9" name="object 9"/>
            <p:cNvSpPr/>
            <p:nvPr/>
          </p:nvSpPr>
          <p:spPr>
            <a:xfrm>
              <a:off x="9174479" y="3669452"/>
              <a:ext cx="406400" cy="1544320"/>
            </a:xfrm>
            <a:custGeom>
              <a:avLst/>
              <a:gdLst/>
              <a:ahLst/>
              <a:cxnLst/>
              <a:rect l="l" t="t" r="r" b="b"/>
              <a:pathLst>
                <a:path w="406400" h="1544320">
                  <a:moveTo>
                    <a:pt x="406399" y="0"/>
                  </a:moveTo>
                  <a:lnTo>
                    <a:pt x="0" y="487679"/>
                  </a:lnTo>
                </a:path>
                <a:path w="406400" h="1544320">
                  <a:moveTo>
                    <a:pt x="406399" y="0"/>
                  </a:moveTo>
                  <a:lnTo>
                    <a:pt x="406398" y="154431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4479" y="5213772"/>
              <a:ext cx="406400" cy="568960"/>
            </a:xfrm>
            <a:custGeom>
              <a:avLst/>
              <a:gdLst/>
              <a:ahLst/>
              <a:cxnLst/>
              <a:rect l="l" t="t" r="r" b="b"/>
              <a:pathLst>
                <a:path w="406400" h="568960">
                  <a:moveTo>
                    <a:pt x="406399" y="0"/>
                  </a:moveTo>
                  <a:lnTo>
                    <a:pt x="0" y="5689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9567" y="3441191"/>
              <a:ext cx="2279904" cy="73456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995147" y="3107616"/>
            <a:ext cx="1650626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94" b="1" spc="-40" dirty="0">
                <a:latin typeface="Arial"/>
                <a:cs typeface="Arial"/>
              </a:rPr>
              <a:t>SOFTWARE</a:t>
            </a:r>
            <a:endParaRPr sz="2294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91200" y="4026647"/>
            <a:ext cx="2229410" cy="1010210"/>
            <a:chOff x="6410959" y="4563533"/>
            <a:chExt cx="2526665" cy="1144905"/>
          </a:xfrm>
        </p:grpSpPr>
        <p:sp>
          <p:nvSpPr>
            <p:cNvPr id="14" name="object 14"/>
            <p:cNvSpPr/>
            <p:nvPr/>
          </p:nvSpPr>
          <p:spPr>
            <a:xfrm>
              <a:off x="6500012" y="5396306"/>
              <a:ext cx="398780" cy="305435"/>
            </a:xfrm>
            <a:custGeom>
              <a:avLst/>
              <a:gdLst/>
              <a:ahLst/>
              <a:cxnLst/>
              <a:rect l="l" t="t" r="r" b="b"/>
              <a:pathLst>
                <a:path w="398779" h="305435">
                  <a:moveTo>
                    <a:pt x="398602" y="142163"/>
                  </a:moveTo>
                  <a:lnTo>
                    <a:pt x="389166" y="93433"/>
                  </a:lnTo>
                  <a:lnTo>
                    <a:pt x="363232" y="50838"/>
                  </a:lnTo>
                  <a:lnTo>
                    <a:pt x="323824" y="16548"/>
                  </a:lnTo>
                  <a:lnTo>
                    <a:pt x="292963" y="0"/>
                  </a:lnTo>
                  <a:lnTo>
                    <a:pt x="298564" y="10528"/>
                  </a:lnTo>
                  <a:lnTo>
                    <a:pt x="303555" y="19900"/>
                  </a:lnTo>
                  <a:lnTo>
                    <a:pt x="303618" y="20294"/>
                  </a:lnTo>
                  <a:lnTo>
                    <a:pt x="310565" y="61315"/>
                  </a:lnTo>
                  <a:lnTo>
                    <a:pt x="303555" y="102730"/>
                  </a:lnTo>
                  <a:lnTo>
                    <a:pt x="283743" y="139941"/>
                  </a:lnTo>
                  <a:lnTo>
                    <a:pt x="253034" y="171475"/>
                  </a:lnTo>
                  <a:lnTo>
                    <a:pt x="213283" y="195834"/>
                  </a:lnTo>
                  <a:lnTo>
                    <a:pt x="166357" y="211531"/>
                  </a:lnTo>
                  <a:lnTo>
                    <a:pt x="114134" y="217093"/>
                  </a:lnTo>
                  <a:lnTo>
                    <a:pt x="61925" y="211531"/>
                  </a:lnTo>
                  <a:lnTo>
                    <a:pt x="19062" y="197205"/>
                  </a:lnTo>
                  <a:lnTo>
                    <a:pt x="14998" y="195834"/>
                  </a:lnTo>
                  <a:lnTo>
                    <a:pt x="10998" y="193382"/>
                  </a:lnTo>
                  <a:lnTo>
                    <a:pt x="0" y="186639"/>
                  </a:lnTo>
                  <a:lnTo>
                    <a:pt x="1676" y="191757"/>
                  </a:lnTo>
                  <a:lnTo>
                    <a:pt x="27609" y="234340"/>
                  </a:lnTo>
                  <a:lnTo>
                    <a:pt x="67017" y="268630"/>
                  </a:lnTo>
                  <a:lnTo>
                    <a:pt x="117068" y="292646"/>
                  </a:lnTo>
                  <a:lnTo>
                    <a:pt x="155016" y="301942"/>
                  </a:lnTo>
                  <a:lnTo>
                    <a:pt x="195694" y="305142"/>
                  </a:lnTo>
                  <a:lnTo>
                    <a:pt x="215239" y="304342"/>
                  </a:lnTo>
                  <a:lnTo>
                    <a:pt x="215950" y="304342"/>
                  </a:lnTo>
                  <a:lnTo>
                    <a:pt x="235648" y="301942"/>
                  </a:lnTo>
                  <a:lnTo>
                    <a:pt x="235927" y="301942"/>
                  </a:lnTo>
                  <a:lnTo>
                    <a:pt x="255727" y="297878"/>
                  </a:lnTo>
                  <a:lnTo>
                    <a:pt x="291985" y="285673"/>
                  </a:lnTo>
                  <a:lnTo>
                    <a:pt x="338772" y="257848"/>
                  </a:lnTo>
                  <a:lnTo>
                    <a:pt x="373926" y="220370"/>
                  </a:lnTo>
                  <a:lnTo>
                    <a:pt x="394512" y="175272"/>
                  </a:lnTo>
                  <a:lnTo>
                    <a:pt x="398551" y="143027"/>
                  </a:lnTo>
                  <a:lnTo>
                    <a:pt x="398602" y="142163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5" name="object 15"/>
            <p:cNvSpPr/>
            <p:nvPr/>
          </p:nvSpPr>
          <p:spPr>
            <a:xfrm>
              <a:off x="6417732" y="5301827"/>
              <a:ext cx="393065" cy="311785"/>
            </a:xfrm>
            <a:custGeom>
              <a:avLst/>
              <a:gdLst/>
              <a:ahLst/>
              <a:cxnLst/>
              <a:rect l="l" t="t" r="r" b="b"/>
              <a:pathLst>
                <a:path w="393065" h="311785">
                  <a:moveTo>
                    <a:pt x="196427" y="0"/>
                  </a:moveTo>
                  <a:lnTo>
                    <a:pt x="144209" y="5564"/>
                  </a:lnTo>
                  <a:lnTo>
                    <a:pt x="97286" y="21269"/>
                  </a:lnTo>
                  <a:lnTo>
                    <a:pt x="57532" y="45628"/>
                  </a:lnTo>
                  <a:lnTo>
                    <a:pt x="26818" y="77157"/>
                  </a:lnTo>
                  <a:lnTo>
                    <a:pt x="7016" y="114371"/>
                  </a:lnTo>
                  <a:lnTo>
                    <a:pt x="0" y="155785"/>
                  </a:lnTo>
                  <a:lnTo>
                    <a:pt x="7016" y="197200"/>
                  </a:lnTo>
                  <a:lnTo>
                    <a:pt x="26818" y="234414"/>
                  </a:lnTo>
                  <a:lnTo>
                    <a:pt x="57532" y="265943"/>
                  </a:lnTo>
                  <a:lnTo>
                    <a:pt x="97286" y="290303"/>
                  </a:lnTo>
                  <a:lnTo>
                    <a:pt x="144209" y="306008"/>
                  </a:lnTo>
                  <a:lnTo>
                    <a:pt x="196427" y="311572"/>
                  </a:lnTo>
                  <a:lnTo>
                    <a:pt x="248645" y="306008"/>
                  </a:lnTo>
                  <a:lnTo>
                    <a:pt x="295567" y="290303"/>
                  </a:lnTo>
                  <a:lnTo>
                    <a:pt x="335321" y="265943"/>
                  </a:lnTo>
                  <a:lnTo>
                    <a:pt x="366036" y="234414"/>
                  </a:lnTo>
                  <a:lnTo>
                    <a:pt x="385837" y="197200"/>
                  </a:lnTo>
                  <a:lnTo>
                    <a:pt x="392854" y="155785"/>
                  </a:lnTo>
                  <a:lnTo>
                    <a:pt x="385837" y="114371"/>
                  </a:lnTo>
                  <a:lnTo>
                    <a:pt x="366036" y="77157"/>
                  </a:lnTo>
                  <a:lnTo>
                    <a:pt x="335321" y="45628"/>
                  </a:lnTo>
                  <a:lnTo>
                    <a:pt x="295567" y="21269"/>
                  </a:lnTo>
                  <a:lnTo>
                    <a:pt x="248645" y="5564"/>
                  </a:lnTo>
                  <a:lnTo>
                    <a:pt x="196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6" name="object 16"/>
            <p:cNvSpPr/>
            <p:nvPr/>
          </p:nvSpPr>
          <p:spPr>
            <a:xfrm>
              <a:off x="6417732" y="5301827"/>
              <a:ext cx="393065" cy="311785"/>
            </a:xfrm>
            <a:custGeom>
              <a:avLst/>
              <a:gdLst/>
              <a:ahLst/>
              <a:cxnLst/>
              <a:rect l="l" t="t" r="r" b="b"/>
              <a:pathLst>
                <a:path w="393065" h="311785">
                  <a:moveTo>
                    <a:pt x="0" y="155786"/>
                  </a:moveTo>
                  <a:lnTo>
                    <a:pt x="7016" y="114372"/>
                  </a:lnTo>
                  <a:lnTo>
                    <a:pt x="26817" y="77158"/>
                  </a:lnTo>
                  <a:lnTo>
                    <a:pt x="57532" y="45628"/>
                  </a:lnTo>
                  <a:lnTo>
                    <a:pt x="97286" y="21269"/>
                  </a:lnTo>
                  <a:lnTo>
                    <a:pt x="144208" y="5564"/>
                  </a:lnTo>
                  <a:lnTo>
                    <a:pt x="196426" y="0"/>
                  </a:lnTo>
                  <a:lnTo>
                    <a:pt x="248644" y="5564"/>
                  </a:lnTo>
                  <a:lnTo>
                    <a:pt x="295566" y="21269"/>
                  </a:lnTo>
                  <a:lnTo>
                    <a:pt x="335321" y="45628"/>
                  </a:lnTo>
                  <a:lnTo>
                    <a:pt x="366035" y="77158"/>
                  </a:lnTo>
                  <a:lnTo>
                    <a:pt x="385836" y="114372"/>
                  </a:lnTo>
                  <a:lnTo>
                    <a:pt x="392853" y="155786"/>
                  </a:lnTo>
                  <a:lnTo>
                    <a:pt x="385836" y="197200"/>
                  </a:lnTo>
                  <a:lnTo>
                    <a:pt x="366035" y="234415"/>
                  </a:lnTo>
                  <a:lnTo>
                    <a:pt x="335321" y="265944"/>
                  </a:lnTo>
                  <a:lnTo>
                    <a:pt x="295566" y="290303"/>
                  </a:lnTo>
                  <a:lnTo>
                    <a:pt x="248644" y="306008"/>
                  </a:lnTo>
                  <a:lnTo>
                    <a:pt x="196426" y="311573"/>
                  </a:lnTo>
                  <a:lnTo>
                    <a:pt x="144208" y="306008"/>
                  </a:lnTo>
                  <a:lnTo>
                    <a:pt x="97286" y="290303"/>
                  </a:lnTo>
                  <a:lnTo>
                    <a:pt x="57532" y="265944"/>
                  </a:lnTo>
                  <a:lnTo>
                    <a:pt x="26817" y="234415"/>
                  </a:lnTo>
                  <a:lnTo>
                    <a:pt x="7016" y="197200"/>
                  </a:lnTo>
                  <a:lnTo>
                    <a:pt x="0" y="1557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7366" y="5304840"/>
              <a:ext cx="315595" cy="315595"/>
            </a:xfrm>
            <a:custGeom>
              <a:avLst/>
              <a:gdLst/>
              <a:ahLst/>
              <a:cxnLst/>
              <a:rect l="l" t="t" r="r" b="b"/>
              <a:pathLst>
                <a:path w="315595" h="315595">
                  <a:moveTo>
                    <a:pt x="315341" y="152438"/>
                  </a:moveTo>
                  <a:lnTo>
                    <a:pt x="307936" y="104127"/>
                  </a:lnTo>
                  <a:lnTo>
                    <a:pt x="287388" y="61620"/>
                  </a:lnTo>
                  <a:lnTo>
                    <a:pt x="255943" y="27139"/>
                  </a:lnTo>
                  <a:lnTo>
                    <a:pt x="215760" y="2870"/>
                  </a:lnTo>
                  <a:lnTo>
                    <a:pt x="207835" y="0"/>
                  </a:lnTo>
                  <a:lnTo>
                    <a:pt x="217512" y="18707"/>
                  </a:lnTo>
                  <a:lnTo>
                    <a:pt x="219354" y="22263"/>
                  </a:lnTo>
                  <a:lnTo>
                    <a:pt x="227291" y="71501"/>
                  </a:lnTo>
                  <a:lnTo>
                    <a:pt x="219354" y="120738"/>
                  </a:lnTo>
                  <a:lnTo>
                    <a:pt x="197231" y="163499"/>
                  </a:lnTo>
                  <a:lnTo>
                    <a:pt x="163512" y="197231"/>
                  </a:lnTo>
                  <a:lnTo>
                    <a:pt x="120751" y="219341"/>
                  </a:lnTo>
                  <a:lnTo>
                    <a:pt x="71513" y="227279"/>
                  </a:lnTo>
                  <a:lnTo>
                    <a:pt x="22263" y="219341"/>
                  </a:lnTo>
                  <a:lnTo>
                    <a:pt x="18707" y="217512"/>
                  </a:lnTo>
                  <a:lnTo>
                    <a:pt x="10845" y="213436"/>
                  </a:lnTo>
                  <a:lnTo>
                    <a:pt x="0" y="207822"/>
                  </a:lnTo>
                  <a:lnTo>
                    <a:pt x="3136" y="216357"/>
                  </a:lnTo>
                  <a:lnTo>
                    <a:pt x="10020" y="230555"/>
                  </a:lnTo>
                  <a:lnTo>
                    <a:pt x="38112" y="267982"/>
                  </a:lnTo>
                  <a:lnTo>
                    <a:pt x="75590" y="295859"/>
                  </a:lnTo>
                  <a:lnTo>
                    <a:pt x="120370" y="312089"/>
                  </a:lnTo>
                  <a:lnTo>
                    <a:pt x="153123" y="315328"/>
                  </a:lnTo>
                  <a:lnTo>
                    <a:pt x="168440" y="314528"/>
                  </a:lnTo>
                  <a:lnTo>
                    <a:pt x="169291" y="314528"/>
                  </a:lnTo>
                  <a:lnTo>
                    <a:pt x="185877" y="311962"/>
                  </a:lnTo>
                  <a:lnTo>
                    <a:pt x="201447" y="307924"/>
                  </a:lnTo>
                  <a:lnTo>
                    <a:pt x="216369" y="302425"/>
                  </a:lnTo>
                  <a:lnTo>
                    <a:pt x="217652" y="301802"/>
                  </a:lnTo>
                  <a:lnTo>
                    <a:pt x="230555" y="295554"/>
                  </a:lnTo>
                  <a:lnTo>
                    <a:pt x="267881" y="267563"/>
                  </a:lnTo>
                  <a:lnTo>
                    <a:pt x="295871" y="229971"/>
                  </a:lnTo>
                  <a:lnTo>
                    <a:pt x="312102" y="185191"/>
                  </a:lnTo>
                  <a:lnTo>
                    <a:pt x="315302" y="153123"/>
                  </a:lnTo>
                  <a:lnTo>
                    <a:pt x="315341" y="152438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3092" y="5220547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155787" y="0"/>
                  </a:moveTo>
                  <a:lnTo>
                    <a:pt x="106546" y="7942"/>
                  </a:lnTo>
                  <a:lnTo>
                    <a:pt x="63781" y="30057"/>
                  </a:lnTo>
                  <a:lnTo>
                    <a:pt x="30057" y="63780"/>
                  </a:lnTo>
                  <a:lnTo>
                    <a:pt x="7942" y="106545"/>
                  </a:lnTo>
                  <a:lnTo>
                    <a:pt x="0" y="155785"/>
                  </a:lnTo>
                  <a:lnTo>
                    <a:pt x="7942" y="205026"/>
                  </a:lnTo>
                  <a:lnTo>
                    <a:pt x="30057" y="247791"/>
                  </a:lnTo>
                  <a:lnTo>
                    <a:pt x="63781" y="281514"/>
                  </a:lnTo>
                  <a:lnTo>
                    <a:pt x="106546" y="303630"/>
                  </a:lnTo>
                  <a:lnTo>
                    <a:pt x="155787" y="311572"/>
                  </a:lnTo>
                  <a:lnTo>
                    <a:pt x="205027" y="303630"/>
                  </a:lnTo>
                  <a:lnTo>
                    <a:pt x="247792" y="281514"/>
                  </a:lnTo>
                  <a:lnTo>
                    <a:pt x="281516" y="247791"/>
                  </a:lnTo>
                  <a:lnTo>
                    <a:pt x="303632" y="205026"/>
                  </a:lnTo>
                  <a:lnTo>
                    <a:pt x="311574" y="155785"/>
                  </a:lnTo>
                  <a:lnTo>
                    <a:pt x="303632" y="106545"/>
                  </a:lnTo>
                  <a:lnTo>
                    <a:pt x="281516" y="63780"/>
                  </a:lnTo>
                  <a:lnTo>
                    <a:pt x="247792" y="30057"/>
                  </a:lnTo>
                  <a:lnTo>
                    <a:pt x="205027" y="7942"/>
                  </a:lnTo>
                  <a:lnTo>
                    <a:pt x="155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9" name="object 19"/>
            <p:cNvSpPr/>
            <p:nvPr/>
          </p:nvSpPr>
          <p:spPr>
            <a:xfrm>
              <a:off x="7393092" y="5220547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0" y="155786"/>
                  </a:moveTo>
                  <a:lnTo>
                    <a:pt x="7942" y="106546"/>
                  </a:lnTo>
                  <a:lnTo>
                    <a:pt x="30057" y="63781"/>
                  </a:lnTo>
                  <a:lnTo>
                    <a:pt x="63781" y="30057"/>
                  </a:lnTo>
                  <a:lnTo>
                    <a:pt x="106546" y="7942"/>
                  </a:lnTo>
                  <a:lnTo>
                    <a:pt x="155786" y="0"/>
                  </a:lnTo>
                  <a:lnTo>
                    <a:pt x="205027" y="7942"/>
                  </a:lnTo>
                  <a:lnTo>
                    <a:pt x="247792" y="30057"/>
                  </a:lnTo>
                  <a:lnTo>
                    <a:pt x="281515" y="63781"/>
                  </a:lnTo>
                  <a:lnTo>
                    <a:pt x="303631" y="106546"/>
                  </a:lnTo>
                  <a:lnTo>
                    <a:pt x="311573" y="155786"/>
                  </a:lnTo>
                  <a:lnTo>
                    <a:pt x="303631" y="205027"/>
                  </a:lnTo>
                  <a:lnTo>
                    <a:pt x="281515" y="247792"/>
                  </a:lnTo>
                  <a:lnTo>
                    <a:pt x="247792" y="281515"/>
                  </a:lnTo>
                  <a:lnTo>
                    <a:pt x="205027" y="303631"/>
                  </a:lnTo>
                  <a:lnTo>
                    <a:pt x="155786" y="311573"/>
                  </a:lnTo>
                  <a:lnTo>
                    <a:pt x="106546" y="303631"/>
                  </a:lnTo>
                  <a:lnTo>
                    <a:pt x="63781" y="281515"/>
                  </a:lnTo>
                  <a:lnTo>
                    <a:pt x="30057" y="247792"/>
                  </a:lnTo>
                  <a:lnTo>
                    <a:pt x="7942" y="205027"/>
                  </a:lnTo>
                  <a:lnTo>
                    <a:pt x="0" y="1557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0" name="object 20"/>
            <p:cNvSpPr/>
            <p:nvPr/>
          </p:nvSpPr>
          <p:spPr>
            <a:xfrm>
              <a:off x="8371446" y="4654600"/>
              <a:ext cx="315595" cy="315595"/>
            </a:xfrm>
            <a:custGeom>
              <a:avLst/>
              <a:gdLst/>
              <a:ahLst/>
              <a:cxnLst/>
              <a:rect l="l" t="t" r="r" b="b"/>
              <a:pathLst>
                <a:path w="315595" h="315595">
                  <a:moveTo>
                    <a:pt x="315341" y="152438"/>
                  </a:moveTo>
                  <a:lnTo>
                    <a:pt x="314566" y="137871"/>
                  </a:lnTo>
                  <a:lnTo>
                    <a:pt x="314464" y="135826"/>
                  </a:lnTo>
                  <a:lnTo>
                    <a:pt x="311975" y="119697"/>
                  </a:lnTo>
                  <a:lnTo>
                    <a:pt x="295554" y="75006"/>
                  </a:lnTo>
                  <a:lnTo>
                    <a:pt x="267500" y="37604"/>
                  </a:lnTo>
                  <a:lnTo>
                    <a:pt x="229984" y="9690"/>
                  </a:lnTo>
                  <a:lnTo>
                    <a:pt x="207835" y="0"/>
                  </a:lnTo>
                  <a:lnTo>
                    <a:pt x="217512" y="18707"/>
                  </a:lnTo>
                  <a:lnTo>
                    <a:pt x="219354" y="22263"/>
                  </a:lnTo>
                  <a:lnTo>
                    <a:pt x="227291" y="71501"/>
                  </a:lnTo>
                  <a:lnTo>
                    <a:pt x="219354" y="120738"/>
                  </a:lnTo>
                  <a:lnTo>
                    <a:pt x="197231" y="163499"/>
                  </a:lnTo>
                  <a:lnTo>
                    <a:pt x="163512" y="197231"/>
                  </a:lnTo>
                  <a:lnTo>
                    <a:pt x="120751" y="219341"/>
                  </a:lnTo>
                  <a:lnTo>
                    <a:pt x="71513" y="227279"/>
                  </a:lnTo>
                  <a:lnTo>
                    <a:pt x="22263" y="219341"/>
                  </a:lnTo>
                  <a:lnTo>
                    <a:pt x="18707" y="217512"/>
                  </a:lnTo>
                  <a:lnTo>
                    <a:pt x="10845" y="213436"/>
                  </a:lnTo>
                  <a:lnTo>
                    <a:pt x="0" y="207822"/>
                  </a:lnTo>
                  <a:lnTo>
                    <a:pt x="3136" y="216357"/>
                  </a:lnTo>
                  <a:lnTo>
                    <a:pt x="10020" y="230555"/>
                  </a:lnTo>
                  <a:lnTo>
                    <a:pt x="38112" y="267982"/>
                  </a:lnTo>
                  <a:lnTo>
                    <a:pt x="75590" y="295859"/>
                  </a:lnTo>
                  <a:lnTo>
                    <a:pt x="120370" y="312089"/>
                  </a:lnTo>
                  <a:lnTo>
                    <a:pt x="153123" y="315328"/>
                  </a:lnTo>
                  <a:lnTo>
                    <a:pt x="168427" y="314528"/>
                  </a:lnTo>
                  <a:lnTo>
                    <a:pt x="169291" y="314528"/>
                  </a:lnTo>
                  <a:lnTo>
                    <a:pt x="185877" y="311962"/>
                  </a:lnTo>
                  <a:lnTo>
                    <a:pt x="201447" y="307924"/>
                  </a:lnTo>
                  <a:lnTo>
                    <a:pt x="216369" y="302425"/>
                  </a:lnTo>
                  <a:lnTo>
                    <a:pt x="217652" y="301802"/>
                  </a:lnTo>
                  <a:lnTo>
                    <a:pt x="230555" y="295554"/>
                  </a:lnTo>
                  <a:lnTo>
                    <a:pt x="267881" y="267563"/>
                  </a:lnTo>
                  <a:lnTo>
                    <a:pt x="295871" y="229971"/>
                  </a:lnTo>
                  <a:lnTo>
                    <a:pt x="312102" y="185191"/>
                  </a:lnTo>
                  <a:lnTo>
                    <a:pt x="315302" y="153123"/>
                  </a:lnTo>
                  <a:lnTo>
                    <a:pt x="315341" y="152438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1" name="object 21"/>
            <p:cNvSpPr/>
            <p:nvPr/>
          </p:nvSpPr>
          <p:spPr>
            <a:xfrm>
              <a:off x="8287172" y="4570307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155787" y="0"/>
                  </a:moveTo>
                  <a:lnTo>
                    <a:pt x="106546" y="7942"/>
                  </a:lnTo>
                  <a:lnTo>
                    <a:pt x="63781" y="30057"/>
                  </a:lnTo>
                  <a:lnTo>
                    <a:pt x="30057" y="63780"/>
                  </a:lnTo>
                  <a:lnTo>
                    <a:pt x="7942" y="106545"/>
                  </a:lnTo>
                  <a:lnTo>
                    <a:pt x="0" y="155785"/>
                  </a:lnTo>
                  <a:lnTo>
                    <a:pt x="7942" y="205026"/>
                  </a:lnTo>
                  <a:lnTo>
                    <a:pt x="30057" y="247791"/>
                  </a:lnTo>
                  <a:lnTo>
                    <a:pt x="63781" y="281514"/>
                  </a:lnTo>
                  <a:lnTo>
                    <a:pt x="106546" y="303630"/>
                  </a:lnTo>
                  <a:lnTo>
                    <a:pt x="155787" y="311572"/>
                  </a:lnTo>
                  <a:lnTo>
                    <a:pt x="205027" y="303630"/>
                  </a:lnTo>
                  <a:lnTo>
                    <a:pt x="247792" y="281514"/>
                  </a:lnTo>
                  <a:lnTo>
                    <a:pt x="281516" y="247791"/>
                  </a:lnTo>
                  <a:lnTo>
                    <a:pt x="303632" y="205026"/>
                  </a:lnTo>
                  <a:lnTo>
                    <a:pt x="311574" y="155785"/>
                  </a:lnTo>
                  <a:lnTo>
                    <a:pt x="303632" y="106545"/>
                  </a:lnTo>
                  <a:lnTo>
                    <a:pt x="281516" y="63780"/>
                  </a:lnTo>
                  <a:lnTo>
                    <a:pt x="247792" y="30057"/>
                  </a:lnTo>
                  <a:lnTo>
                    <a:pt x="205027" y="7942"/>
                  </a:lnTo>
                  <a:lnTo>
                    <a:pt x="155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2" name="object 22"/>
            <p:cNvSpPr/>
            <p:nvPr/>
          </p:nvSpPr>
          <p:spPr>
            <a:xfrm>
              <a:off x="8287172" y="4570307"/>
              <a:ext cx="311785" cy="311785"/>
            </a:xfrm>
            <a:custGeom>
              <a:avLst/>
              <a:gdLst/>
              <a:ahLst/>
              <a:cxnLst/>
              <a:rect l="l" t="t" r="r" b="b"/>
              <a:pathLst>
                <a:path w="311784" h="311785">
                  <a:moveTo>
                    <a:pt x="0" y="155786"/>
                  </a:moveTo>
                  <a:lnTo>
                    <a:pt x="7942" y="106546"/>
                  </a:lnTo>
                  <a:lnTo>
                    <a:pt x="30057" y="63781"/>
                  </a:lnTo>
                  <a:lnTo>
                    <a:pt x="63781" y="30057"/>
                  </a:lnTo>
                  <a:lnTo>
                    <a:pt x="106546" y="7942"/>
                  </a:lnTo>
                  <a:lnTo>
                    <a:pt x="155786" y="0"/>
                  </a:lnTo>
                  <a:lnTo>
                    <a:pt x="205027" y="7942"/>
                  </a:lnTo>
                  <a:lnTo>
                    <a:pt x="247792" y="30057"/>
                  </a:lnTo>
                  <a:lnTo>
                    <a:pt x="281515" y="63781"/>
                  </a:lnTo>
                  <a:lnTo>
                    <a:pt x="303631" y="106546"/>
                  </a:lnTo>
                  <a:lnTo>
                    <a:pt x="311573" y="155786"/>
                  </a:lnTo>
                  <a:lnTo>
                    <a:pt x="303631" y="205027"/>
                  </a:lnTo>
                  <a:lnTo>
                    <a:pt x="281515" y="247792"/>
                  </a:lnTo>
                  <a:lnTo>
                    <a:pt x="247792" y="281515"/>
                  </a:lnTo>
                  <a:lnTo>
                    <a:pt x="205027" y="303631"/>
                  </a:lnTo>
                  <a:lnTo>
                    <a:pt x="155786" y="311573"/>
                  </a:lnTo>
                  <a:lnTo>
                    <a:pt x="106546" y="303631"/>
                  </a:lnTo>
                  <a:lnTo>
                    <a:pt x="63781" y="281515"/>
                  </a:lnTo>
                  <a:lnTo>
                    <a:pt x="30057" y="247792"/>
                  </a:lnTo>
                  <a:lnTo>
                    <a:pt x="7942" y="205027"/>
                  </a:lnTo>
                  <a:lnTo>
                    <a:pt x="0" y="15578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3" name="object 23"/>
            <p:cNvSpPr/>
            <p:nvPr/>
          </p:nvSpPr>
          <p:spPr>
            <a:xfrm>
              <a:off x="6654799" y="5213772"/>
              <a:ext cx="894080" cy="81280"/>
            </a:xfrm>
            <a:custGeom>
              <a:avLst/>
              <a:gdLst/>
              <a:ahLst/>
              <a:cxnLst/>
              <a:rect l="l" t="t" r="r" b="b"/>
              <a:pathLst>
                <a:path w="894079" h="81279">
                  <a:moveTo>
                    <a:pt x="0" y="81279"/>
                  </a:moveTo>
                  <a:lnTo>
                    <a:pt x="89407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4" name="object 24"/>
            <p:cNvSpPr/>
            <p:nvPr/>
          </p:nvSpPr>
          <p:spPr>
            <a:xfrm>
              <a:off x="6736079" y="5620173"/>
              <a:ext cx="975360" cy="81280"/>
            </a:xfrm>
            <a:custGeom>
              <a:avLst/>
              <a:gdLst/>
              <a:ahLst/>
              <a:cxnLst/>
              <a:rect l="l" t="t" r="r" b="b"/>
              <a:pathLst>
                <a:path w="975359" h="81279">
                  <a:moveTo>
                    <a:pt x="0" y="81279"/>
                  </a:moveTo>
                  <a:lnTo>
                    <a:pt x="97535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6319" y="4644813"/>
              <a:ext cx="894080" cy="650240"/>
            </a:xfrm>
            <a:custGeom>
              <a:avLst/>
              <a:gdLst/>
              <a:ahLst/>
              <a:cxnLst/>
              <a:rect l="l" t="t" r="r" b="b"/>
              <a:pathLst>
                <a:path w="894079" h="650239">
                  <a:moveTo>
                    <a:pt x="0" y="650239"/>
                  </a:moveTo>
                  <a:lnTo>
                    <a:pt x="89407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6" name="object 26"/>
            <p:cNvSpPr/>
            <p:nvPr/>
          </p:nvSpPr>
          <p:spPr>
            <a:xfrm>
              <a:off x="7792719" y="4888653"/>
              <a:ext cx="812800" cy="650240"/>
            </a:xfrm>
            <a:custGeom>
              <a:avLst/>
              <a:gdLst/>
              <a:ahLst/>
              <a:cxnLst/>
              <a:rect l="l" t="t" r="r" b="b"/>
              <a:pathLst>
                <a:path w="812800" h="650239">
                  <a:moveTo>
                    <a:pt x="0" y="650239"/>
                  </a:moveTo>
                  <a:lnTo>
                    <a:pt x="81279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7" name="object 27"/>
            <p:cNvSpPr/>
            <p:nvPr/>
          </p:nvSpPr>
          <p:spPr>
            <a:xfrm>
              <a:off x="6654800" y="4725669"/>
              <a:ext cx="894080" cy="406400"/>
            </a:xfrm>
            <a:custGeom>
              <a:avLst/>
              <a:gdLst/>
              <a:ahLst/>
              <a:cxnLst/>
              <a:rect l="l" t="t" r="r" b="b"/>
              <a:pathLst>
                <a:path w="894079" h="406400">
                  <a:moveTo>
                    <a:pt x="894080" y="0"/>
                  </a:moveTo>
                  <a:lnTo>
                    <a:pt x="806018" y="0"/>
                  </a:lnTo>
                  <a:lnTo>
                    <a:pt x="806018" y="7620"/>
                  </a:lnTo>
                  <a:lnTo>
                    <a:pt x="806018" y="13970"/>
                  </a:lnTo>
                  <a:lnTo>
                    <a:pt x="806018" y="318770"/>
                  </a:lnTo>
                  <a:lnTo>
                    <a:pt x="13538" y="318770"/>
                  </a:lnTo>
                  <a:lnTo>
                    <a:pt x="6769" y="318770"/>
                  </a:lnTo>
                  <a:lnTo>
                    <a:pt x="0" y="318770"/>
                  </a:lnTo>
                  <a:lnTo>
                    <a:pt x="0" y="393700"/>
                  </a:lnTo>
                  <a:lnTo>
                    <a:pt x="0" y="406400"/>
                  </a:lnTo>
                  <a:lnTo>
                    <a:pt x="894080" y="406400"/>
                  </a:lnTo>
                  <a:lnTo>
                    <a:pt x="894080" y="393700"/>
                  </a:lnTo>
                  <a:lnTo>
                    <a:pt x="894080" y="13970"/>
                  </a:lnTo>
                  <a:lnTo>
                    <a:pt x="894080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8" name="object 28"/>
            <p:cNvSpPr/>
            <p:nvPr/>
          </p:nvSpPr>
          <p:spPr>
            <a:xfrm>
              <a:off x="6580292" y="4651587"/>
              <a:ext cx="880744" cy="393065"/>
            </a:xfrm>
            <a:custGeom>
              <a:avLst/>
              <a:gdLst/>
              <a:ahLst/>
              <a:cxnLst/>
              <a:rect l="l" t="t" r="r" b="b"/>
              <a:pathLst>
                <a:path w="880745" h="393064">
                  <a:moveTo>
                    <a:pt x="880534" y="0"/>
                  </a:moveTo>
                  <a:lnTo>
                    <a:pt x="0" y="0"/>
                  </a:lnTo>
                  <a:lnTo>
                    <a:pt x="0" y="392852"/>
                  </a:lnTo>
                  <a:lnTo>
                    <a:pt x="880534" y="392852"/>
                  </a:lnTo>
                  <a:lnTo>
                    <a:pt x="8805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9" name="object 29"/>
            <p:cNvSpPr/>
            <p:nvPr/>
          </p:nvSpPr>
          <p:spPr>
            <a:xfrm>
              <a:off x="6580292" y="4651587"/>
              <a:ext cx="880744" cy="393065"/>
            </a:xfrm>
            <a:custGeom>
              <a:avLst/>
              <a:gdLst/>
              <a:ahLst/>
              <a:cxnLst/>
              <a:rect l="l" t="t" r="r" b="b"/>
              <a:pathLst>
                <a:path w="880745" h="393064">
                  <a:moveTo>
                    <a:pt x="0" y="0"/>
                  </a:moveTo>
                  <a:lnTo>
                    <a:pt x="880533" y="0"/>
                  </a:lnTo>
                  <a:lnTo>
                    <a:pt x="880533" y="392853"/>
                  </a:lnTo>
                  <a:lnTo>
                    <a:pt x="0" y="392853"/>
                  </a:lnTo>
                  <a:lnTo>
                    <a:pt x="0" y="0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0" name="object 30"/>
            <p:cNvSpPr/>
            <p:nvPr/>
          </p:nvSpPr>
          <p:spPr>
            <a:xfrm>
              <a:off x="6654799" y="4644813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1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1" name="object 31"/>
            <p:cNvSpPr/>
            <p:nvPr/>
          </p:nvSpPr>
          <p:spPr>
            <a:xfrm>
              <a:off x="6817359" y="4644813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1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2" name="object 32"/>
            <p:cNvSpPr/>
            <p:nvPr/>
          </p:nvSpPr>
          <p:spPr>
            <a:xfrm>
              <a:off x="6979919" y="4644813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1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3" name="object 33"/>
            <p:cNvSpPr/>
            <p:nvPr/>
          </p:nvSpPr>
          <p:spPr>
            <a:xfrm>
              <a:off x="7223759" y="4644813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1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4" name="object 34"/>
            <p:cNvSpPr/>
            <p:nvPr/>
          </p:nvSpPr>
          <p:spPr>
            <a:xfrm>
              <a:off x="7386319" y="4644813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60">
                  <a:moveTo>
                    <a:pt x="0" y="0"/>
                  </a:moveTo>
                  <a:lnTo>
                    <a:pt x="1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5" name="object 35"/>
            <p:cNvSpPr/>
            <p:nvPr/>
          </p:nvSpPr>
          <p:spPr>
            <a:xfrm>
              <a:off x="8442959" y="464481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0" y="81279"/>
                  </a:moveTo>
                  <a:lnTo>
                    <a:pt x="8127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6" name="object 36"/>
            <p:cNvSpPr/>
            <p:nvPr/>
          </p:nvSpPr>
          <p:spPr>
            <a:xfrm>
              <a:off x="7467599" y="5376333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>
                  <a:moveTo>
                    <a:pt x="81279" y="0"/>
                  </a:moveTo>
                  <a:lnTo>
                    <a:pt x="0" y="1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7" name="object 37"/>
            <p:cNvSpPr/>
            <p:nvPr/>
          </p:nvSpPr>
          <p:spPr>
            <a:xfrm>
              <a:off x="6573519" y="5376333"/>
              <a:ext cx="243840" cy="81280"/>
            </a:xfrm>
            <a:custGeom>
              <a:avLst/>
              <a:gdLst/>
              <a:ahLst/>
              <a:cxnLst/>
              <a:rect l="l" t="t" r="r" b="b"/>
              <a:pathLst>
                <a:path w="243840" h="81279">
                  <a:moveTo>
                    <a:pt x="0" y="81279"/>
                  </a:moveTo>
                  <a:lnTo>
                    <a:pt x="243839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8" name="object 38"/>
            <p:cNvSpPr/>
            <p:nvPr/>
          </p:nvSpPr>
          <p:spPr>
            <a:xfrm>
              <a:off x="8693572" y="5057987"/>
              <a:ext cx="230504" cy="149225"/>
            </a:xfrm>
            <a:custGeom>
              <a:avLst/>
              <a:gdLst/>
              <a:ahLst/>
              <a:cxnLst/>
              <a:rect l="l" t="t" r="r" b="b"/>
              <a:pathLst>
                <a:path w="230504" h="149225">
                  <a:moveTo>
                    <a:pt x="0" y="74506"/>
                  </a:moveTo>
                  <a:lnTo>
                    <a:pt x="9048" y="45505"/>
                  </a:lnTo>
                  <a:lnTo>
                    <a:pt x="33725" y="21822"/>
                  </a:lnTo>
                  <a:lnTo>
                    <a:pt x="70326" y="5855"/>
                  </a:lnTo>
                  <a:lnTo>
                    <a:pt x="115146" y="0"/>
                  </a:lnTo>
                  <a:lnTo>
                    <a:pt x="159966" y="5855"/>
                  </a:lnTo>
                  <a:lnTo>
                    <a:pt x="196567" y="21822"/>
                  </a:lnTo>
                  <a:lnTo>
                    <a:pt x="221244" y="45505"/>
                  </a:lnTo>
                  <a:lnTo>
                    <a:pt x="230293" y="74506"/>
                  </a:lnTo>
                  <a:lnTo>
                    <a:pt x="221244" y="103508"/>
                  </a:lnTo>
                  <a:lnTo>
                    <a:pt x="196567" y="127190"/>
                  </a:lnTo>
                  <a:lnTo>
                    <a:pt x="159966" y="143158"/>
                  </a:lnTo>
                  <a:lnTo>
                    <a:pt x="115146" y="149013"/>
                  </a:lnTo>
                  <a:lnTo>
                    <a:pt x="70326" y="143158"/>
                  </a:lnTo>
                  <a:lnTo>
                    <a:pt x="33725" y="127190"/>
                  </a:lnTo>
                  <a:lnTo>
                    <a:pt x="9048" y="103508"/>
                  </a:lnTo>
                  <a:lnTo>
                    <a:pt x="0" y="74506"/>
                  </a:lnTo>
                  <a:close/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39" name="object 39"/>
            <p:cNvSpPr/>
            <p:nvPr/>
          </p:nvSpPr>
          <p:spPr>
            <a:xfrm>
              <a:off x="8768079" y="5213772"/>
              <a:ext cx="0" cy="243840"/>
            </a:xfrm>
            <a:custGeom>
              <a:avLst/>
              <a:gdLst/>
              <a:ahLst/>
              <a:cxnLst/>
              <a:rect l="l" t="t" r="r" b="b"/>
              <a:pathLst>
                <a:path h="243839">
                  <a:moveTo>
                    <a:pt x="0" y="0"/>
                  </a:moveTo>
                  <a:lnTo>
                    <a:pt x="1" y="24383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0" name="object 40"/>
            <p:cNvSpPr/>
            <p:nvPr/>
          </p:nvSpPr>
          <p:spPr>
            <a:xfrm>
              <a:off x="8605519" y="5457612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59" h="162560">
                  <a:moveTo>
                    <a:pt x="162559" y="0"/>
                  </a:moveTo>
                  <a:lnTo>
                    <a:pt x="0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1" name="object 41"/>
            <p:cNvSpPr/>
            <p:nvPr/>
          </p:nvSpPr>
          <p:spPr>
            <a:xfrm>
              <a:off x="8605519" y="5620173"/>
              <a:ext cx="0" cy="81280"/>
            </a:xfrm>
            <a:custGeom>
              <a:avLst/>
              <a:gdLst/>
              <a:ahLst/>
              <a:cxnLst/>
              <a:rect l="l" t="t" r="r" b="b"/>
              <a:pathLst>
                <a:path h="81279">
                  <a:moveTo>
                    <a:pt x="0" y="0"/>
                  </a:moveTo>
                  <a:lnTo>
                    <a:pt x="1" y="8127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2" name="object 42"/>
            <p:cNvSpPr/>
            <p:nvPr/>
          </p:nvSpPr>
          <p:spPr>
            <a:xfrm>
              <a:off x="8768079" y="5457612"/>
              <a:ext cx="162560" cy="162560"/>
            </a:xfrm>
            <a:custGeom>
              <a:avLst/>
              <a:gdLst/>
              <a:ahLst/>
              <a:cxnLst/>
              <a:rect l="l" t="t" r="r" b="b"/>
              <a:pathLst>
                <a:path w="162559" h="162560">
                  <a:moveTo>
                    <a:pt x="0" y="0"/>
                  </a:moveTo>
                  <a:lnTo>
                    <a:pt x="162559" y="16255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3" name="object 43"/>
            <p:cNvSpPr/>
            <p:nvPr/>
          </p:nvSpPr>
          <p:spPr>
            <a:xfrm>
              <a:off x="8849359" y="562017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81279" y="0"/>
                  </a:moveTo>
                  <a:lnTo>
                    <a:pt x="0" y="8127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4" name="object 44"/>
            <p:cNvSpPr/>
            <p:nvPr/>
          </p:nvSpPr>
          <p:spPr>
            <a:xfrm>
              <a:off x="8686799" y="5295053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79" h="81279">
                  <a:moveTo>
                    <a:pt x="81279" y="0"/>
                  </a:moveTo>
                  <a:lnTo>
                    <a:pt x="0" y="81279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5" name="object 45"/>
            <p:cNvSpPr/>
            <p:nvPr/>
          </p:nvSpPr>
          <p:spPr>
            <a:xfrm>
              <a:off x="8524239" y="5295053"/>
              <a:ext cx="162560" cy="81280"/>
            </a:xfrm>
            <a:custGeom>
              <a:avLst/>
              <a:gdLst/>
              <a:ahLst/>
              <a:cxnLst/>
              <a:rect l="l" t="t" r="r" b="b"/>
              <a:pathLst>
                <a:path w="162559" h="81279">
                  <a:moveTo>
                    <a:pt x="162559" y="81279"/>
                  </a:moveTo>
                  <a:lnTo>
                    <a:pt x="0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6" name="object 46"/>
            <p:cNvSpPr/>
            <p:nvPr/>
          </p:nvSpPr>
          <p:spPr>
            <a:xfrm>
              <a:off x="8524239" y="5132493"/>
              <a:ext cx="243840" cy="162560"/>
            </a:xfrm>
            <a:custGeom>
              <a:avLst/>
              <a:gdLst/>
              <a:ahLst/>
              <a:cxnLst/>
              <a:rect l="l" t="t" r="r" b="b"/>
              <a:pathLst>
                <a:path w="243840" h="162560">
                  <a:moveTo>
                    <a:pt x="243839" y="162559"/>
                  </a:moveTo>
                  <a:lnTo>
                    <a:pt x="0" y="0"/>
                  </a:lnTo>
                </a:path>
              </a:pathLst>
            </a:custGeom>
            <a:ln w="135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body" idx="1"/>
          </p:nvPr>
        </p:nvSpPr>
        <p:spPr>
          <a:xfrm>
            <a:off x="606051" y="2780928"/>
            <a:ext cx="7297831" cy="3430049"/>
          </a:xfrm>
          <a:prstGeom prst="rect">
            <a:avLst/>
          </a:prstGeom>
        </p:spPr>
        <p:txBody>
          <a:bodyPr vert="horz" wrap="square" lIns="0" tIns="145676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79602" indent="-268395">
              <a:spcBef>
                <a:spcPts val="1147"/>
              </a:spcBef>
              <a:buSzPct val="100000"/>
              <a:buFont typeface="Arial MT"/>
              <a:buChar char="•"/>
              <a:tabLst>
                <a:tab pos="279602" algn="l"/>
              </a:tabLst>
            </a:pPr>
            <a:r>
              <a:rPr sz="2000" dirty="0"/>
              <a:t>Organization</a:t>
            </a:r>
            <a:r>
              <a:rPr sz="2000" spc="-31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Programmable</a:t>
            </a:r>
            <a:r>
              <a:rPr sz="2000" spc="-31" dirty="0"/>
              <a:t> </a:t>
            </a:r>
            <a:r>
              <a:rPr sz="2000" spc="-9" dirty="0"/>
              <a:t>Storage</a:t>
            </a:r>
          </a:p>
          <a:p>
            <a:pPr marL="280162" marR="4483" indent="-268956">
              <a:spcBef>
                <a:spcPts val="1566"/>
              </a:spcBef>
              <a:buSzPct val="100000"/>
              <a:buFont typeface="Arial MT"/>
              <a:buChar char="•"/>
              <a:tabLst>
                <a:tab pos="280162" algn="l"/>
              </a:tabLst>
            </a:pPr>
            <a:r>
              <a:rPr sz="2000" dirty="0"/>
              <a:t>Data</a:t>
            </a:r>
            <a:r>
              <a:rPr sz="2000" spc="-18" dirty="0"/>
              <a:t> </a:t>
            </a:r>
            <a:r>
              <a:rPr sz="2000" dirty="0"/>
              <a:t>Types</a:t>
            </a:r>
            <a:r>
              <a:rPr sz="2000" spc="-22" dirty="0"/>
              <a:t> </a:t>
            </a:r>
            <a:r>
              <a:rPr sz="2000" dirty="0"/>
              <a:t>&amp;</a:t>
            </a:r>
            <a:r>
              <a:rPr sz="2000" spc="-13" dirty="0"/>
              <a:t> </a:t>
            </a:r>
            <a:r>
              <a:rPr sz="2000" dirty="0"/>
              <a:t>Data</a:t>
            </a:r>
            <a:r>
              <a:rPr sz="2000" spc="-13" dirty="0"/>
              <a:t> </a:t>
            </a:r>
            <a:r>
              <a:rPr sz="2000" dirty="0"/>
              <a:t>Structures:</a:t>
            </a:r>
            <a:r>
              <a:rPr sz="2000" spc="-13" dirty="0"/>
              <a:t> </a:t>
            </a:r>
            <a:br>
              <a:rPr lang="en-US" sz="2000" spc="-13" dirty="0"/>
            </a:br>
            <a:r>
              <a:rPr sz="2000" dirty="0"/>
              <a:t>Encodings</a:t>
            </a:r>
            <a:r>
              <a:rPr sz="2000" spc="-22" dirty="0"/>
              <a:t> </a:t>
            </a:r>
            <a:r>
              <a:rPr sz="2000" spc="-44" dirty="0"/>
              <a:t>&amp; </a:t>
            </a:r>
            <a:r>
              <a:rPr sz="2000" spc="-9" dirty="0"/>
              <a:t>Representations</a:t>
            </a:r>
          </a:p>
          <a:p>
            <a:pPr marL="279602" indent="-268395">
              <a:spcBef>
                <a:spcPts val="1081"/>
              </a:spcBef>
              <a:buSzPct val="100000"/>
              <a:buFont typeface="Arial MT"/>
              <a:buChar char="•"/>
              <a:tabLst>
                <a:tab pos="279602" algn="l"/>
              </a:tabLst>
            </a:pPr>
            <a:r>
              <a:rPr sz="2000" dirty="0"/>
              <a:t>Instruction</a:t>
            </a:r>
            <a:r>
              <a:rPr sz="2000" spc="9" dirty="0"/>
              <a:t> </a:t>
            </a:r>
            <a:r>
              <a:rPr sz="2000" spc="-9" dirty="0"/>
              <a:t>Formats</a:t>
            </a:r>
          </a:p>
          <a:p>
            <a:pPr marL="279602" indent="-268395">
              <a:spcBef>
                <a:spcPts val="993"/>
              </a:spcBef>
              <a:buSzPct val="100000"/>
              <a:buFont typeface="Arial MT"/>
              <a:buChar char="•"/>
              <a:tabLst>
                <a:tab pos="279602" algn="l"/>
              </a:tabLst>
            </a:pPr>
            <a:r>
              <a:rPr sz="2000" dirty="0"/>
              <a:t>Instruction</a:t>
            </a:r>
            <a:r>
              <a:rPr sz="2000" spc="9" dirty="0"/>
              <a:t> </a:t>
            </a:r>
            <a:r>
              <a:rPr sz="2000" dirty="0"/>
              <a:t>(or Operation</a:t>
            </a:r>
            <a:r>
              <a:rPr sz="2000" spc="13" dirty="0"/>
              <a:t> </a:t>
            </a:r>
            <a:r>
              <a:rPr sz="2000" dirty="0"/>
              <a:t>Code)</a:t>
            </a:r>
            <a:r>
              <a:rPr sz="2000" spc="9" dirty="0"/>
              <a:t> </a:t>
            </a:r>
            <a:r>
              <a:rPr sz="2000" spc="-22" dirty="0"/>
              <a:t>Set</a:t>
            </a:r>
          </a:p>
          <a:p>
            <a:pPr marL="280162" marR="169218" indent="-268956">
              <a:spcBef>
                <a:spcPts val="1610"/>
              </a:spcBef>
              <a:buSzPct val="100000"/>
              <a:buFont typeface="Arial MT"/>
              <a:buChar char="•"/>
              <a:tabLst>
                <a:tab pos="280162" algn="l"/>
              </a:tabLst>
            </a:pPr>
            <a:r>
              <a:rPr sz="2000" dirty="0"/>
              <a:t>Modes</a:t>
            </a:r>
            <a:r>
              <a:rPr sz="2000" spc="4" dirty="0"/>
              <a:t> </a:t>
            </a:r>
            <a:r>
              <a:rPr sz="2000" dirty="0"/>
              <a:t>of</a:t>
            </a:r>
            <a:r>
              <a:rPr sz="2000" spc="13" dirty="0"/>
              <a:t> </a:t>
            </a:r>
            <a:r>
              <a:rPr sz="2000" dirty="0"/>
              <a:t>Addressing</a:t>
            </a:r>
            <a:r>
              <a:rPr sz="2000" spc="18" dirty="0"/>
              <a:t> </a:t>
            </a:r>
            <a:r>
              <a:rPr sz="2000" dirty="0"/>
              <a:t>and</a:t>
            </a:r>
            <a:r>
              <a:rPr sz="2000" spc="13" dirty="0"/>
              <a:t> </a:t>
            </a:r>
            <a:r>
              <a:rPr sz="2000" dirty="0"/>
              <a:t>Accessing</a:t>
            </a:r>
            <a:r>
              <a:rPr sz="2000" spc="18" dirty="0"/>
              <a:t> </a:t>
            </a:r>
            <a:br>
              <a:rPr lang="en-US" sz="2000" spc="18" dirty="0"/>
            </a:br>
            <a:r>
              <a:rPr sz="2000" spc="-18" dirty="0"/>
              <a:t>Data </a:t>
            </a:r>
            <a:r>
              <a:rPr sz="2000" dirty="0"/>
              <a:t>Items</a:t>
            </a:r>
            <a:r>
              <a:rPr sz="2000" spc="4" dirty="0"/>
              <a:t> </a:t>
            </a:r>
            <a:r>
              <a:rPr sz="2000" dirty="0"/>
              <a:t>and</a:t>
            </a:r>
            <a:r>
              <a:rPr sz="2000" spc="18" dirty="0"/>
              <a:t> </a:t>
            </a:r>
            <a:r>
              <a:rPr sz="2000" spc="-9" dirty="0"/>
              <a:t>Instructions</a:t>
            </a:r>
          </a:p>
          <a:p>
            <a:pPr marL="279602" indent="-268395">
              <a:spcBef>
                <a:spcPts val="1081"/>
              </a:spcBef>
              <a:buSzPct val="100000"/>
              <a:buFont typeface="Arial MT"/>
              <a:buChar char="•"/>
              <a:tabLst>
                <a:tab pos="279602" algn="l"/>
              </a:tabLst>
            </a:pPr>
            <a:r>
              <a:rPr sz="2000" dirty="0"/>
              <a:t>Exceptional</a:t>
            </a:r>
            <a:r>
              <a:rPr sz="2000" spc="-26" dirty="0"/>
              <a:t> </a:t>
            </a:r>
            <a:r>
              <a:rPr sz="2000" spc="-9" dirty="0"/>
              <a:t>Conditions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642662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ISA</a:t>
            </a:r>
            <a:r>
              <a:rPr spc="9" dirty="0"/>
              <a:t> </a:t>
            </a:r>
            <a:r>
              <a:rPr dirty="0"/>
              <a:t>vs.</a:t>
            </a:r>
            <a:r>
              <a:rPr spc="9" dirty="0"/>
              <a:t> </a:t>
            </a:r>
            <a:r>
              <a:rPr dirty="0"/>
              <a:t>Computer</a:t>
            </a:r>
            <a:r>
              <a:rPr spc="4" dirty="0"/>
              <a:t> </a:t>
            </a:r>
            <a:r>
              <a:rPr spc="-9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1560" y="1300331"/>
            <a:ext cx="8064896" cy="41402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7" indent="-342900">
              <a:lnSpc>
                <a:spcPts val="2616"/>
              </a:lnSpc>
              <a:spcBef>
                <a:spcPts val="88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Old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definition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architecture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b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set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design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buSzPct val="10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Other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aspects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computer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design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called</a:t>
            </a:r>
            <a:r>
              <a:rPr sz="2400" spc="3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implementation</a:t>
            </a:r>
            <a:endParaRPr lang="en-US" sz="2400" spc="-9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buSzPct val="10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Insinuates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implementation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uninteresting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13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less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challenging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463"/>
              </a:spcBef>
              <a:buSzPct val="10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H&amp;P’s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view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architecture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mbria Math"/>
                <a:cs typeface="Cambria Math"/>
              </a:rPr>
              <a:t>≫</a:t>
            </a:r>
            <a:r>
              <a:rPr sz="2800" spc="-71" dirty="0">
                <a:solidFill>
                  <a:srgbClr val="003399"/>
                </a:solidFill>
                <a:latin typeface="Cambria Math"/>
                <a:cs typeface="Cambria Math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ISA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>
              <a:spcBef>
                <a:spcPts val="1284"/>
              </a:spcBef>
              <a:buSzPct val="100000"/>
              <a:buFont typeface="Calibri"/>
              <a:buChar char="•"/>
            </a:pPr>
            <a:endParaRPr sz="2294" dirty="0">
              <a:latin typeface="Calibri"/>
              <a:cs typeface="Calibri"/>
            </a:endParaRPr>
          </a:p>
          <a:p>
            <a:pPr marL="354106" marR="4483" indent="-342900" algn="just">
              <a:lnSpc>
                <a:spcPct val="88500"/>
              </a:lnSpc>
              <a:buSzPct val="10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Architect’s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job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much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more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than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set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design; technical</a:t>
            </a:r>
            <a:r>
              <a:rPr sz="2800" spc="-1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hurdles</a:t>
            </a:r>
            <a:r>
              <a:rPr sz="2800" spc="-1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today</a:t>
            </a:r>
            <a:r>
              <a:rPr sz="2800" spc="-115" dirty="0"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114FFB"/>
                </a:solidFill>
                <a:latin typeface="Calibri"/>
                <a:cs typeface="Calibri"/>
              </a:rPr>
              <a:t>more</a:t>
            </a:r>
            <a:r>
              <a:rPr sz="2800" i="1" spc="-110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challenging</a:t>
            </a:r>
            <a:r>
              <a:rPr sz="2800" spc="-1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than</a:t>
            </a:r>
            <a:r>
              <a:rPr sz="2800" spc="-1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those</a:t>
            </a:r>
            <a:r>
              <a:rPr sz="2800" spc="-10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in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set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design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188938"/>
            <a:ext cx="7786678" cy="503758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200" dirty="0"/>
              <a:t>Comp.</a:t>
            </a:r>
            <a:r>
              <a:rPr sz="3200" spc="4" dirty="0"/>
              <a:t> </a:t>
            </a:r>
            <a:r>
              <a:rPr sz="3200" dirty="0"/>
              <a:t>Arch.</a:t>
            </a:r>
            <a:r>
              <a:rPr sz="3200" spc="9" dirty="0"/>
              <a:t> </a:t>
            </a:r>
            <a:r>
              <a:rPr sz="3200" dirty="0"/>
              <a:t>is an</a:t>
            </a:r>
            <a:r>
              <a:rPr sz="3200" spc="13" dirty="0"/>
              <a:t> </a:t>
            </a:r>
            <a:r>
              <a:rPr sz="3200" dirty="0"/>
              <a:t>Integrated</a:t>
            </a:r>
            <a:r>
              <a:rPr sz="3200" spc="13" dirty="0"/>
              <a:t> </a:t>
            </a:r>
            <a:r>
              <a:rPr sz="3200" spc="-9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576" y="1196752"/>
            <a:ext cx="7602642" cy="4840948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468406" marR="304816" indent="-457200">
              <a:spcBef>
                <a:spcPts val="397"/>
              </a:spcBef>
              <a:buClr>
                <a:srgbClr val="0033CC"/>
              </a:buClr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What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really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matters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functioning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complete system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3875" lvl="1" indent="-342900">
              <a:spcBef>
                <a:spcPts val="388"/>
              </a:spcBef>
              <a:buSzPct val="10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hardware,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runtime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system,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compiler,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operating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system,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application</a:t>
            </a:r>
            <a:endParaRPr lang="en-US" sz="2400" spc="-9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83875" lvl="1" indent="-342900">
              <a:spcBef>
                <a:spcPts val="388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networking,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this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called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dirty="0">
                <a:solidFill>
                  <a:srgbClr val="FC0128"/>
                </a:solidFill>
                <a:latin typeface="Calibri"/>
                <a:cs typeface="Calibri"/>
              </a:rPr>
              <a:t>End</a:t>
            </a:r>
            <a:r>
              <a:rPr sz="2400" spc="13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C0128"/>
                </a:solidFill>
                <a:latin typeface="Calibri"/>
                <a:cs typeface="Calibri"/>
              </a:rPr>
              <a:t>to</a:t>
            </a:r>
            <a:r>
              <a:rPr sz="2400" spc="18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C0128"/>
                </a:solidFill>
                <a:latin typeface="Calibri"/>
                <a:cs typeface="Calibri"/>
              </a:rPr>
              <a:t>End</a:t>
            </a:r>
            <a:r>
              <a:rPr sz="2400" spc="13" dirty="0">
                <a:solidFill>
                  <a:srgbClr val="FC012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C0128"/>
                </a:solidFill>
                <a:latin typeface="Calibri"/>
                <a:cs typeface="Calibri"/>
              </a:rPr>
              <a:t>argument</a:t>
            </a:r>
            <a:r>
              <a:rPr sz="2400" spc="-9" dirty="0">
                <a:latin typeface="Calibri"/>
                <a:cs typeface="Calibri"/>
              </a:rPr>
              <a:t>”</a:t>
            </a:r>
            <a:endParaRPr sz="1677" dirty="0">
              <a:latin typeface="Calibri"/>
              <a:cs typeface="Calibri"/>
            </a:endParaRPr>
          </a:p>
          <a:p>
            <a:pPr marL="468406" marR="439294" indent="-457200">
              <a:buClr>
                <a:srgbClr val="0033CC"/>
              </a:buClr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architecture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not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just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about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transistors, individual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instructions,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or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particular</a:t>
            </a:r>
            <a:r>
              <a:rPr lang="en-US"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implementations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3875" marR="61636" lvl="1" indent="-342900">
              <a:spcBef>
                <a:spcPts val="591"/>
              </a:spcBef>
              <a:buSzPct val="10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example,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original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RISC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projects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4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replaced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complex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instructions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with: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compiler</a:t>
            </a:r>
            <a:r>
              <a:rPr sz="2400" u="sng" spc="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400" u="sng" spc="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simple</a:t>
            </a:r>
            <a:r>
              <a:rPr sz="2400" u="sng" spc="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5F9DA-53F1-A93E-2AD6-F2A29DEFC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25538"/>
            <a:ext cx="7272337" cy="511175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800" dirty="0"/>
              <a:t>Determine what attributes are </a:t>
            </a:r>
            <a:br>
              <a:rPr lang="en-US" sz="2800" dirty="0"/>
            </a:br>
            <a:r>
              <a:rPr lang="en-US" sz="2800" dirty="0"/>
              <a:t>important for a new computer</a:t>
            </a:r>
          </a:p>
          <a:p>
            <a:r>
              <a:rPr lang="en-US" sz="2800" dirty="0"/>
              <a:t>Design a computer to maximize</a:t>
            </a:r>
          </a:p>
          <a:p>
            <a:pPr lvl="1"/>
            <a:r>
              <a:rPr lang="en-US" sz="2400" dirty="0"/>
              <a:t>Performance</a:t>
            </a:r>
          </a:p>
          <a:p>
            <a:pPr lvl="1">
              <a:spcAft>
                <a:spcPts val="1200"/>
              </a:spcAft>
            </a:pPr>
            <a:r>
              <a:rPr lang="en-US" sz="2400" dirty="0"/>
              <a:t>Energy efficiency </a:t>
            </a:r>
          </a:p>
          <a:p>
            <a:r>
              <a:rPr lang="en-US" sz="2800" dirty="0"/>
              <a:t>While staying within </a:t>
            </a:r>
          </a:p>
          <a:p>
            <a:pPr lvl="1"/>
            <a:r>
              <a:rPr lang="en-US" sz="2400" dirty="0"/>
              <a:t>Cost</a:t>
            </a:r>
          </a:p>
          <a:p>
            <a:pPr lvl="1"/>
            <a:r>
              <a:rPr lang="en-US" sz="2400" dirty="0"/>
              <a:t>Power</a:t>
            </a:r>
          </a:p>
          <a:p>
            <a:pPr lvl="1"/>
            <a:r>
              <a:rPr lang="en-US" sz="2400" dirty="0"/>
              <a:t>Availability constraints.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E0F9B-D0A1-DA0E-99CD-690025467A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8FEC1E0-94D1-10ED-BA46-F53A4429E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8979"/>
            <a:ext cx="8281987" cy="701675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200" dirty="0"/>
              <a:t>Comp.</a:t>
            </a:r>
            <a:r>
              <a:rPr sz="3200" spc="4" dirty="0"/>
              <a:t> </a:t>
            </a:r>
            <a:r>
              <a:rPr sz="3200" dirty="0"/>
              <a:t>Arch.</a:t>
            </a:r>
            <a:r>
              <a:rPr sz="3200" spc="9" dirty="0"/>
              <a:t> </a:t>
            </a:r>
            <a:r>
              <a:rPr sz="3200" dirty="0"/>
              <a:t>is an</a:t>
            </a:r>
            <a:r>
              <a:rPr sz="3200" spc="13" dirty="0"/>
              <a:t> </a:t>
            </a:r>
            <a:r>
              <a:rPr sz="3200" dirty="0"/>
              <a:t>Integrated</a:t>
            </a:r>
            <a:r>
              <a:rPr sz="3200" spc="13" dirty="0"/>
              <a:t> </a:t>
            </a:r>
            <a:r>
              <a:rPr sz="3200" spc="-9" dirty="0"/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1964090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2E48-233E-BCAC-7D8B-ECC267953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315E05-A203-E334-6F84-540663C93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1336" y="3312522"/>
            <a:ext cx="6050056" cy="595193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3794" spc="-18" dirty="0">
                <a:latin typeface="Arial"/>
                <a:cs typeface="Arial"/>
              </a:rPr>
              <a:t>Trends in Technology</a:t>
            </a:r>
            <a:endParaRPr sz="3794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8807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Trends in Technology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759" y="873124"/>
            <a:ext cx="8766745" cy="5364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Integrated circuit technology (Moore’s Law)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Transistor density:  35%/year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Die size:  10-20%/year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Integration overall:  40-55%/year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2000" dirty="0"/>
              <a:t>DRAM capacity:  25-40%/year (slowing)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8 Gb (2014), 16 Gb (2019), possibly no 32 Gb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2000" dirty="0"/>
              <a:t>Flash capacity:  50-60%/year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8-10X cheaper/bit than DRAM</a:t>
            </a:r>
          </a:p>
          <a:p>
            <a:pPr>
              <a:lnSpc>
                <a:spcPct val="90000"/>
              </a:lnSpc>
            </a:pPr>
            <a:endParaRPr lang="en-US" sz="1200" dirty="0"/>
          </a:p>
          <a:p>
            <a:pPr>
              <a:lnSpc>
                <a:spcPct val="90000"/>
              </a:lnSpc>
            </a:pPr>
            <a:r>
              <a:rPr lang="en-US" sz="2000" dirty="0"/>
              <a:t>Magnetic disk capacity: recently slowed to 5%/year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Density increases may no longer be possible, maybe increase from 7 to 9 platters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8-10X cheaper/bit then Flash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200-300X cheaper/bit than DRAM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200" dirty="0"/>
              <a:t>Network technology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Depends both on the performance of switches and transmission systems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2CAE236-72BB-DABC-87EE-4E64177C0EC8}"/>
              </a:ext>
            </a:extLst>
          </p:cNvPr>
          <p:cNvGrpSpPr/>
          <p:nvPr/>
        </p:nvGrpSpPr>
        <p:grpSpPr>
          <a:xfrm>
            <a:off x="5970423" y="260648"/>
            <a:ext cx="2768749" cy="1698696"/>
            <a:chOff x="5970423" y="404664"/>
            <a:chExt cx="2768749" cy="1698696"/>
          </a:xfrm>
        </p:grpSpPr>
        <p:pic>
          <p:nvPicPr>
            <p:cNvPr id="4" name="Graphic 3" descr="A cloud though bubble">
              <a:extLst>
                <a:ext uri="{FF2B5EF4-FFF2-40B4-BE49-F238E27FC236}">
                  <a16:creationId xmlns:a16="http://schemas.microsoft.com/office/drawing/2014/main" id="{E34C76AE-4C54-7E24-FC02-E66882480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70423" y="404664"/>
              <a:ext cx="2768749" cy="1698696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B7E8D6-DC1B-CCA8-8219-5610A8E9BA78}"/>
                </a:ext>
              </a:extLst>
            </p:cNvPr>
            <p:cNvSpPr txBox="1"/>
            <p:nvPr/>
          </p:nvSpPr>
          <p:spPr>
            <a:xfrm>
              <a:off x="6742622" y="591192"/>
              <a:ext cx="131603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2017 view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Bandwidth and Latency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Bandwidth or throughput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Total work done in a given time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32,000-40,000X </a:t>
            </a:r>
            <a:r>
              <a:rPr lang="en-US" sz="2400" dirty="0"/>
              <a:t>improvement for processors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300-1200X improvement for memory and disks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Latency or response time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Time between start and completion of an event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50-90X </a:t>
            </a:r>
            <a:r>
              <a:rPr lang="en-US" sz="2400" dirty="0"/>
              <a:t>improvement for processors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6-8X improvement for memory and disks</a:t>
            </a:r>
            <a:endParaRPr lang="en-US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Bandwidth and Latency</a:t>
            </a:r>
            <a:endParaRPr lang="en-GB" dirty="0"/>
          </a:p>
        </p:txBody>
      </p:sp>
      <p:sp>
        <p:nvSpPr>
          <p:cNvPr id="483336" name="Text Box 8"/>
          <p:cNvSpPr txBox="1">
            <a:spLocks noChangeArrowheads="1"/>
          </p:cNvSpPr>
          <p:nvPr/>
        </p:nvSpPr>
        <p:spPr bwMode="auto">
          <a:xfrm>
            <a:off x="1437914" y="5805264"/>
            <a:ext cx="579838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000066"/>
                </a:solidFill>
                <a:latin typeface="Arial" charset="0"/>
              </a:rPr>
              <a:t>Log-log plot of bandwidth and latency milestones</a:t>
            </a:r>
            <a:endParaRPr lang="en-GB" sz="2000" dirty="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05" y="969338"/>
            <a:ext cx="5400600" cy="483592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Transistors and Wires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Feature size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Minimum size of transistor or wire in x or y dimension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10 microns in 1971 to </a:t>
            </a:r>
            <a:r>
              <a:rPr lang="en-US"/>
              <a:t>.011 </a:t>
            </a:r>
            <a:r>
              <a:rPr lang="en-US" dirty="0"/>
              <a:t>microns </a:t>
            </a:r>
            <a:r>
              <a:rPr lang="en-US"/>
              <a:t>in 2017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Transistor performance scales linearly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Wire delay does not improve with feature size!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Integration density scales </a:t>
            </a:r>
            <a:r>
              <a:rPr lang="en-US" dirty="0" err="1"/>
              <a:t>quadratically</a:t>
            </a:r>
            <a:endParaRPr lang="en-US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and Energy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Problem:  Get power in, get power out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Thermal Design Power (TDP)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Characterizes sustained power consumption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Used as target for power supply and cooling system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Lower than </a:t>
            </a:r>
            <a:r>
              <a:rPr lang="en-US" sz="2400"/>
              <a:t>peak power (1.5X higher), </a:t>
            </a:r>
            <a:r>
              <a:rPr lang="en-US" sz="2400" dirty="0"/>
              <a:t>higher than average power consumption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Clock rate can be reduced dynamically to limit power consumption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Energy per task is often a better measurement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409358" y="1365311"/>
            <a:ext cx="3099951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Power and Energy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Energy and Power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Dynamic energy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Transistor switch from 0 -&gt; 1 or 1 -&gt; 0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½ x Capacitive load x Voltage</a:t>
            </a:r>
            <a:r>
              <a:rPr lang="en-US" sz="2400" baseline="30000" dirty="0"/>
              <a:t>2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800" dirty="0"/>
              <a:t>Dynamic power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½ x Capacitive load x Voltage</a:t>
            </a:r>
            <a:r>
              <a:rPr lang="en-US" sz="2400" baseline="30000" dirty="0"/>
              <a:t>2</a:t>
            </a:r>
            <a:r>
              <a:rPr lang="en-US" sz="2400" dirty="0"/>
              <a:t> x Frequency switched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Reducing clock rate reduces power, not energy</a:t>
            </a:r>
            <a:endParaRPr lang="en-US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409358" y="1365311"/>
            <a:ext cx="3099951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Power and Energy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Rate and Power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125538"/>
            <a:ext cx="3024335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Intel 80386 consumed ~ 2 W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3.3 GHz Intel Core i7 consumes 130 W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Heat must be dissipated from 1.5 x 1.5 cm chip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This is the limit of what can be cooled by air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409358" y="1365311"/>
            <a:ext cx="3099951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Power and Energy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1268760"/>
            <a:ext cx="5465938" cy="380642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Power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52736"/>
            <a:ext cx="8270875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Techniques for reducing power: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 nothing well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Dynamic Voltage-Frequency Scaling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Low power state for DRAM, disks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Overclocking, turning off cores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409358" y="1365311"/>
            <a:ext cx="3099951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Power and Energy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564904"/>
            <a:ext cx="5940152" cy="27940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Power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Static </a:t>
            </a:r>
            <a:r>
              <a:rPr lang="en-US" sz="2800"/>
              <a:t>power consumption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25-50% of total power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 err="1"/>
              <a:t>Current</a:t>
            </a:r>
            <a:r>
              <a:rPr lang="en-US" sz="2400" baseline="-25000" dirty="0" err="1"/>
              <a:t>static</a:t>
            </a:r>
            <a:r>
              <a:rPr lang="en-US" sz="2400" dirty="0"/>
              <a:t> x Voltage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Scales with number of transistors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To reduce:  power gating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409358" y="1365311"/>
            <a:ext cx="3099951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Power and Energy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212976"/>
            <a:ext cx="6738540" cy="291625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336" y="3312522"/>
            <a:ext cx="6050056" cy="595193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794" spc="-18" dirty="0">
                <a:latin typeface="Arial"/>
                <a:cs typeface="Arial"/>
              </a:rPr>
              <a:t>MANUFACTURING</a:t>
            </a:r>
            <a:r>
              <a:rPr sz="3794" spc="-199" dirty="0">
                <a:latin typeface="Arial"/>
                <a:cs typeface="Arial"/>
              </a:rPr>
              <a:t> </a:t>
            </a:r>
            <a:r>
              <a:rPr sz="3794" spc="-9" dirty="0">
                <a:latin typeface="Arial"/>
                <a:cs typeface="Arial"/>
              </a:rPr>
              <a:t>COSTS</a:t>
            </a:r>
            <a:endParaRPr sz="3794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3064" y="6346231"/>
            <a:ext cx="23476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747"/>
              </a:lnSpc>
            </a:pPr>
            <a:r>
              <a:rPr sz="1500" spc="-22" dirty="0">
                <a:latin typeface="Arial MT"/>
                <a:cs typeface="Arial MT"/>
              </a:rPr>
              <a:t>10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in Cost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Cost driven down by learning curve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Yield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DRAM: price closely tracks cost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Microprocessors: price depends on volume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10% less for each doubling of volume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121091" y="653576"/>
            <a:ext cx="1676485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Cost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3064" y="6328185"/>
            <a:ext cx="23476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spc="-22" dirty="0">
                <a:latin typeface="Arial MT"/>
                <a:cs typeface="Arial MT"/>
              </a:rPr>
              <a:t>12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3" y="137835"/>
            <a:ext cx="8034073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4000" dirty="0"/>
              <a:t>Manufacture</a:t>
            </a:r>
            <a:r>
              <a:rPr sz="4000" spc="-9" dirty="0"/>
              <a:t> </a:t>
            </a:r>
            <a:r>
              <a:rPr sz="4000" dirty="0"/>
              <a:t>of</a:t>
            </a:r>
            <a:r>
              <a:rPr sz="4000" spc="-4" dirty="0"/>
              <a:t> </a:t>
            </a:r>
            <a:r>
              <a:rPr sz="4000" dirty="0"/>
              <a:t>DRAM</a:t>
            </a:r>
            <a:r>
              <a:rPr sz="4000" spc="4" dirty="0"/>
              <a:t> </a:t>
            </a:r>
            <a:r>
              <a:rPr sz="4000" dirty="0"/>
              <a:t>and</a:t>
            </a:r>
            <a:r>
              <a:rPr sz="4000" spc="4" dirty="0"/>
              <a:t> </a:t>
            </a:r>
            <a:r>
              <a:rPr sz="4000" dirty="0"/>
              <a:t>other</a:t>
            </a:r>
            <a:r>
              <a:rPr sz="4000" spc="-4" dirty="0"/>
              <a:t> </a:t>
            </a:r>
            <a:r>
              <a:rPr sz="4000" spc="-9" dirty="0"/>
              <a:t>chips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3576" y="1124744"/>
            <a:ext cx="3674408" cy="1968450"/>
          </a:xfrm>
          <a:prstGeom prst="rect">
            <a:avLst/>
          </a:prstGeom>
        </p:spPr>
        <p:txBody>
          <a:bodyPr vert="horz" wrap="square" lIns="0" tIns="52668" rIns="0" bIns="0" rtlCol="0">
            <a:spAutoFit/>
          </a:bodyPr>
          <a:lstStyle/>
          <a:p>
            <a:pPr marL="353546" marR="4483" indent="-342900">
              <a:lnSpc>
                <a:spcPct val="88100"/>
              </a:lnSpc>
              <a:spcBef>
                <a:spcPts val="415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Chips</a:t>
            </a:r>
            <a:r>
              <a:rPr sz="2294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are</a:t>
            </a:r>
            <a:r>
              <a:rPr sz="2294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3399"/>
                </a:solidFill>
                <a:latin typeface="Calibri"/>
                <a:cs typeface="Calibri"/>
              </a:rPr>
              <a:t>manufactured</a:t>
            </a:r>
            <a:r>
              <a:rPr sz="2294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003399"/>
                </a:solidFill>
                <a:latin typeface="Calibri"/>
                <a:cs typeface="Calibri"/>
              </a:rPr>
              <a:t>on </a:t>
            </a:r>
            <a:r>
              <a:rPr sz="2294" b="1" spc="-18" dirty="0">
                <a:solidFill>
                  <a:srgbClr val="003399"/>
                </a:solidFill>
                <a:latin typeface="Calibri"/>
                <a:cs typeface="Calibri"/>
              </a:rPr>
              <a:t>wafers</a:t>
            </a:r>
            <a:r>
              <a:rPr sz="2294" b="1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z="2294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3399"/>
                </a:solidFill>
                <a:latin typeface="Calibri"/>
                <a:cs typeface="Calibri"/>
              </a:rPr>
              <a:t>circular</a:t>
            </a:r>
            <a:r>
              <a:rPr sz="2294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18" dirty="0">
                <a:solidFill>
                  <a:srgbClr val="003399"/>
                </a:solidFill>
                <a:latin typeface="Calibri"/>
                <a:cs typeface="Calibri"/>
              </a:rPr>
              <a:t>disks </a:t>
            </a:r>
            <a:r>
              <a:rPr sz="2294" spc="-22" dirty="0">
                <a:solidFill>
                  <a:srgbClr val="003399"/>
                </a:solidFill>
                <a:latin typeface="Calibri"/>
                <a:cs typeface="Calibri"/>
              </a:rPr>
              <a:t>containing</a:t>
            </a:r>
            <a:r>
              <a:rPr sz="2294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many</a:t>
            </a:r>
            <a:r>
              <a:rPr sz="2294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dies</a:t>
            </a:r>
            <a:r>
              <a:rPr sz="2294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3399"/>
                </a:solidFill>
                <a:latin typeface="Calibri"/>
                <a:cs typeface="Calibri"/>
              </a:rPr>
              <a:t>(chips).</a:t>
            </a:r>
            <a:endParaRPr lang="en-US" sz="2294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3546" marR="4483" indent="-342900">
              <a:lnSpc>
                <a:spcPct val="88100"/>
              </a:lnSpc>
              <a:spcBef>
                <a:spcPts val="415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294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9" dirty="0">
                <a:solidFill>
                  <a:srgbClr val="003399"/>
                </a:solidFill>
                <a:latin typeface="Calibri"/>
                <a:cs typeface="Calibri"/>
              </a:rPr>
              <a:t>wafer</a:t>
            </a:r>
            <a:r>
              <a:rPr sz="2294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294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tested</a:t>
            </a:r>
            <a:r>
              <a:rPr sz="2294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spc="-22" dirty="0">
                <a:solidFill>
                  <a:srgbClr val="003399"/>
                </a:solidFill>
                <a:latin typeface="Calibri"/>
                <a:cs typeface="Calibri"/>
              </a:rPr>
              <a:t>and </a:t>
            </a:r>
            <a:r>
              <a:rPr sz="2294" spc="-9" dirty="0">
                <a:solidFill>
                  <a:srgbClr val="003399"/>
                </a:solidFill>
                <a:latin typeface="Calibri"/>
                <a:cs typeface="Calibri"/>
              </a:rPr>
              <a:t>chopped</a:t>
            </a:r>
            <a:r>
              <a:rPr sz="2294"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dirty="0">
                <a:solidFill>
                  <a:srgbClr val="003399"/>
                </a:solidFill>
                <a:latin typeface="Calibri"/>
                <a:cs typeface="Calibri"/>
              </a:rPr>
              <a:t>into</a:t>
            </a:r>
            <a:r>
              <a:rPr sz="2294" spc="-1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294" b="1" spc="-18" dirty="0">
                <a:solidFill>
                  <a:srgbClr val="003399"/>
                </a:solidFill>
                <a:latin typeface="Calibri"/>
                <a:cs typeface="Calibri"/>
              </a:rPr>
              <a:t>dies</a:t>
            </a:r>
            <a:r>
              <a:rPr sz="2294" spc="-18" dirty="0">
                <a:solidFill>
                  <a:srgbClr val="003399"/>
                </a:solidFill>
                <a:latin typeface="Calibri"/>
                <a:cs typeface="Calibri"/>
              </a:rPr>
              <a:t>.</a:t>
            </a:r>
            <a:endParaRPr sz="2294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769" y="3212976"/>
            <a:ext cx="4343409" cy="30204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89927" y="5733256"/>
            <a:ext cx="3354481" cy="5191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lnSpc>
                <a:spcPts val="1777"/>
              </a:lnSpc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An</a:t>
            </a:r>
            <a:r>
              <a:rPr sz="1500" b="1" spc="-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Intel</a:t>
            </a:r>
            <a:r>
              <a:rPr sz="1500" b="1" spc="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Core</a:t>
            </a:r>
            <a:r>
              <a:rPr sz="1500" b="1" spc="-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i7</a:t>
            </a:r>
            <a:r>
              <a:rPr sz="1500" b="1" spc="-4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Micro-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processor 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die</a:t>
            </a:r>
            <a:endParaRPr sz="1500" dirty="0">
              <a:latin typeface="Arial"/>
              <a:cs typeface="Arial"/>
            </a:endParaRPr>
          </a:p>
          <a:p>
            <a:pPr marL="33619">
              <a:lnSpc>
                <a:spcPts val="1777"/>
              </a:lnSpc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18.9mm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x</a:t>
            </a:r>
            <a:r>
              <a:rPr sz="1500" b="1" spc="-31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13.6mm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(257mm</a:t>
            </a:r>
            <a:r>
              <a:rPr sz="1456" b="1" spc="-13" baseline="25252" dirty="0">
                <a:solidFill>
                  <a:srgbClr val="FC0128"/>
                </a:solidFill>
                <a:latin typeface="Arial"/>
                <a:cs typeface="Arial"/>
              </a:rPr>
              <a:t>2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)</a:t>
            </a:r>
            <a:endParaRPr sz="15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8064" y="1833055"/>
            <a:ext cx="3625810" cy="35401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49826" y="1089273"/>
            <a:ext cx="2458571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791"/>
              </a:lnSpc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300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mm</a:t>
            </a:r>
            <a:r>
              <a:rPr sz="1500" b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wafer</a:t>
            </a:r>
            <a:r>
              <a:rPr sz="1500" b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44" dirty="0">
                <a:solidFill>
                  <a:srgbClr val="FC0128"/>
                </a:solidFill>
                <a:latin typeface="Arial"/>
                <a:cs typeface="Arial"/>
              </a:rPr>
              <a:t>~</a:t>
            </a:r>
            <a:endParaRPr sz="1500">
              <a:latin typeface="Arial"/>
              <a:cs typeface="Arial"/>
            </a:endParaRPr>
          </a:p>
          <a:p>
            <a:pPr marL="11206" marR="4483">
              <a:lnSpc>
                <a:spcPts val="1844"/>
              </a:lnSpc>
              <a:spcBef>
                <a:spcPts val="13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280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full</a:t>
            </a:r>
            <a:r>
              <a:rPr sz="1500" b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Sandy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Bridge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18" dirty="0">
                <a:solidFill>
                  <a:srgbClr val="FC0128"/>
                </a:solidFill>
                <a:latin typeface="Arial"/>
                <a:cs typeface="Arial"/>
              </a:rPr>
              <a:t>dies,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each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20.7x10.5mm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Wafers</a:t>
            </a:r>
            <a:r>
              <a:rPr spc="-13" dirty="0"/>
              <a:t> </a:t>
            </a:r>
            <a:r>
              <a:rPr dirty="0"/>
              <a:t>and </a:t>
            </a:r>
            <a:r>
              <a:rPr spc="-18" dirty="0"/>
              <a:t>Dies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3568" y="692696"/>
            <a:ext cx="7602642" cy="4855854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468406" indent="-457200">
              <a:spcBef>
                <a:spcPts val="785"/>
              </a:spcBef>
              <a:buSzPct val="120000"/>
              <a:buFont typeface="Wingdings" panose="05000000000000000000" pitchFamily="2" charset="2"/>
              <a:buChar char="§"/>
              <a:tabLst>
                <a:tab pos="279041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find</a:t>
            </a:r>
            <a:r>
              <a:rPr sz="2800" spc="-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cost</a:t>
            </a:r>
            <a:r>
              <a:rPr sz="2800" spc="-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3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die: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3875" marR="397830" lvl="1" indent="-342900">
              <a:spcBef>
                <a:spcPts val="988"/>
              </a:spcBef>
              <a:spcAft>
                <a:spcPts val="18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Number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-6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dies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per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wafer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33CC"/>
                </a:solidFill>
                <a:latin typeface="Calibri"/>
                <a:cs typeface="Calibri"/>
              </a:rPr>
              <a:t>at</a:t>
            </a:r>
            <a:r>
              <a:rPr sz="2400" i="1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0033CC"/>
                </a:solidFill>
                <a:latin typeface="Calibri"/>
                <a:cs typeface="Calibri"/>
              </a:rPr>
              <a:t>most</a:t>
            </a:r>
            <a:r>
              <a:rPr sz="2400" i="1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area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the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wafer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divided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area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Calibri"/>
                <a:cs typeface="Calibri"/>
              </a:rPr>
              <a:t>die.</a:t>
            </a:r>
            <a:endParaRPr lang="en-US" sz="2400" spc="-18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440975" marR="397830" lvl="1">
              <a:spcBef>
                <a:spcPts val="988"/>
              </a:spcBef>
              <a:buSzPct val="100000"/>
              <a:tabLst>
                <a:tab pos="656139" algn="l"/>
              </a:tabLst>
            </a:pPr>
            <a:endParaRPr lang="en-US" sz="2400" spc="-18" dirty="0">
              <a:latin typeface="Calibri"/>
              <a:cs typeface="Calibri"/>
            </a:endParaRPr>
          </a:p>
          <a:p>
            <a:pPr marL="783875" marR="397830" lvl="1" indent="-342900">
              <a:spcBef>
                <a:spcPts val="988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cost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wafer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divided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number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spc="-22" dirty="0">
                <a:solidFill>
                  <a:srgbClr val="000090"/>
                </a:solidFill>
                <a:latin typeface="Calibri"/>
                <a:cs typeface="Calibri"/>
              </a:rPr>
              <a:t>working</a:t>
            </a:r>
            <a:r>
              <a:rPr sz="2400" b="1" spc="-88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dies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per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wafer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cost</a:t>
            </a:r>
            <a:r>
              <a:rPr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each</a:t>
            </a:r>
            <a:r>
              <a:rPr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Calibri"/>
                <a:cs typeface="Calibri"/>
              </a:rPr>
              <a:t>die.</a:t>
            </a:r>
            <a:endParaRPr lang="en-US" sz="2400" spc="-18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83875" marR="397830" lvl="1" indent="-342900">
              <a:spcBef>
                <a:spcPts val="988"/>
              </a:spcBef>
              <a:buSzPct val="10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endParaRPr lang="en-US" sz="2400" spc="-18" dirty="0">
              <a:latin typeface="Calibri"/>
              <a:cs typeface="Calibri"/>
            </a:endParaRPr>
          </a:p>
          <a:p>
            <a:pPr marL="783875" marR="397830" lvl="1" indent="-342900">
              <a:spcBef>
                <a:spcPts val="988"/>
              </a:spcBef>
              <a:buSzPct val="10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endParaRPr lang="en-US" sz="2400" spc="-18" dirty="0">
              <a:latin typeface="Calibri"/>
              <a:cs typeface="Calibri"/>
            </a:endParaRPr>
          </a:p>
          <a:p>
            <a:pPr marL="342900" marR="397830" indent="-342900">
              <a:spcBef>
                <a:spcPts val="988"/>
              </a:spcBef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4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fraction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lang="en-US" sz="24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working</a:t>
            </a:r>
            <a:r>
              <a:rPr lang="en-US" sz="24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dies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lang="en-US" sz="24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called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4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die</a:t>
            </a:r>
            <a:r>
              <a:rPr lang="en-US" sz="2400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i="1" spc="-9" dirty="0">
                <a:solidFill>
                  <a:srgbClr val="FF0000"/>
                </a:solidFill>
                <a:latin typeface="Calibri"/>
                <a:cs typeface="Calibri"/>
              </a:rPr>
              <a:t>yield</a:t>
            </a:r>
            <a:r>
              <a:rPr lang="en-US" sz="2400" spc="-9" dirty="0">
                <a:latin typeface="Calibri"/>
                <a:cs typeface="Calibri"/>
              </a:rPr>
              <a:t>,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which</a:t>
            </a:r>
            <a:r>
              <a:rPr lang="en-US" sz="24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decreases</a:t>
            </a:r>
            <a:r>
              <a:rPr lang="en-US" sz="2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lang="en-US" sz="2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area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lang="en-US" sz="24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Calibri"/>
                <a:cs typeface="Calibri"/>
              </a:rPr>
              <a:t>die</a:t>
            </a:r>
            <a:r>
              <a:rPr lang="en-US" sz="24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99"/>
                </a:solidFill>
                <a:latin typeface="Calibri"/>
                <a:cs typeface="Calibri"/>
              </a:rPr>
              <a:t>increases.</a:t>
            </a:r>
            <a:endParaRPr lang="en-US" sz="24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46712DD3-3716-B920-5DE1-E4E2FD65B603}"/>
                  </a:ext>
                </a:extLst>
              </p:cNvPr>
              <p:cNvSpPr txBox="1"/>
              <p:nvPr/>
            </p:nvSpPr>
            <p:spPr bwMode="auto">
              <a:xfrm>
                <a:off x="1763688" y="3705508"/>
                <a:ext cx="4824536" cy="803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Cost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die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Cost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waffer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Dies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waffer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Die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yield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46712DD3-3716-B920-5DE1-E4E2FD65B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688" y="3705508"/>
                <a:ext cx="4824536" cy="803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12">
            <a:extLst>
              <a:ext uri="{FF2B5EF4-FFF2-40B4-BE49-F238E27FC236}">
                <a16:creationId xmlns:a16="http://schemas.microsoft.com/office/drawing/2014/main" id="{A13CE674-D4BD-6A02-98F4-F14618865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08213" y="2204864"/>
            <a:ext cx="6160758" cy="56844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BC96107F-4110-E8F9-1715-62E9F5EA9185}"/>
                  </a:ext>
                </a:extLst>
              </p:cNvPr>
              <p:cNvSpPr txBox="1"/>
              <p:nvPr/>
            </p:nvSpPr>
            <p:spPr bwMode="auto">
              <a:xfrm>
                <a:off x="976313" y="5464175"/>
                <a:ext cx="7148512" cy="1204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Die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yield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Waffer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yield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Defects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per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unit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area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Die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area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en-US">
                    <a:solidFill>
                      <a:srgbClr val="000000"/>
                    </a:solidFill>
                  </a:rPr>
                </a:br>
                <a:endParaRPr lang="en-US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BC96107F-4110-E8F9-1715-62E9F5EA9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6313" y="5464175"/>
                <a:ext cx="7148512" cy="1204913"/>
              </a:xfrm>
              <a:prstGeom prst="rect">
                <a:avLst/>
              </a:prstGeom>
              <a:blipFill>
                <a:blip r:embed="rId4"/>
                <a:stretch>
                  <a:fillRect l="-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Circuit Cost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Integrated circuit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Bose-Einstein formula:</a:t>
            </a:r>
          </a:p>
          <a:p>
            <a:pPr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Defects per unit area = 0.016-0.057 defects per square cm (2010)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N = process-complexity factor = 11.5-15.5 (40 nm, 2010)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121091" y="653576"/>
            <a:ext cx="1676485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Cost</a:t>
            </a:r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09960" name="Picture 8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520" y="1544270"/>
            <a:ext cx="8496944" cy="510108"/>
          </a:xfrm>
          <a:prstGeom prst="rect">
            <a:avLst/>
          </a:prstGeom>
          <a:noFill/>
        </p:spPr>
      </p:pic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09962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1520" y="2624390"/>
            <a:ext cx="3388377" cy="504056"/>
          </a:xfrm>
          <a:prstGeom prst="rect">
            <a:avLst/>
          </a:prstGeom>
          <a:noFill/>
        </p:spPr>
      </p:pic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09964" name="Picture 1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9" y="3704510"/>
            <a:ext cx="6160758" cy="568449"/>
          </a:xfrm>
          <a:prstGeom prst="rect">
            <a:avLst/>
          </a:prstGeom>
          <a:noFill/>
        </p:spPr>
      </p:pic>
      <p:sp>
        <p:nvSpPr>
          <p:cNvPr id="50996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09966" name="Picture 1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3608" y="5013176"/>
            <a:ext cx="6768752" cy="294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821" y="3130773"/>
            <a:ext cx="4247029" cy="1123988"/>
          </a:xfrm>
          <a:prstGeom prst="rect">
            <a:avLst/>
          </a:prstGeom>
        </p:spPr>
        <p:txBody>
          <a:bodyPr vert="horz" wrap="square" lIns="0" tIns="71718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 marR="4483">
              <a:lnSpc>
                <a:spcPts val="4147"/>
              </a:lnSpc>
              <a:spcBef>
                <a:spcPts val="565"/>
              </a:spcBef>
            </a:pPr>
            <a:r>
              <a:rPr sz="3794" spc="-9" dirty="0">
                <a:latin typeface="Arial"/>
                <a:cs typeface="Arial"/>
              </a:rPr>
              <a:t>PERFORMANCE</a:t>
            </a:r>
            <a:r>
              <a:rPr sz="3794" spc="-256" dirty="0">
                <a:latin typeface="Arial"/>
                <a:cs typeface="Arial"/>
              </a:rPr>
              <a:t> </a:t>
            </a:r>
            <a:r>
              <a:rPr sz="3794" spc="-44" dirty="0">
                <a:latin typeface="Arial"/>
                <a:cs typeface="Arial"/>
              </a:rPr>
              <a:t>&amp; </a:t>
            </a:r>
            <a:r>
              <a:rPr sz="3794" spc="-9" dirty="0">
                <a:latin typeface="Arial"/>
                <a:cs typeface="Arial"/>
              </a:rPr>
              <a:t>MEASUREMENT</a:t>
            </a:r>
            <a:endParaRPr sz="379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Dependability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44" y="901588"/>
            <a:ext cx="8568952" cy="51917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7" indent="-342900">
              <a:spcBef>
                <a:spcPts val="88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What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decision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criteria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“system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operating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properly”?</a:t>
            </a:r>
            <a:endParaRPr sz="2294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Infrastructure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providers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started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offer: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3875" marR="256068" lvl="1" indent="-342900">
              <a:spcBef>
                <a:spcPts val="759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b="1" spc="6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Level</a:t>
            </a:r>
            <a:r>
              <a:rPr sz="2400" b="1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Agreements</a:t>
            </a:r>
            <a:r>
              <a:rPr sz="2400" b="1" spc="57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(SLA)</a:t>
            </a:r>
            <a:r>
              <a:rPr sz="2400" spc="57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400" spc="5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guarantee</a:t>
            </a:r>
            <a:r>
              <a:rPr sz="2400" spc="6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how</a:t>
            </a:r>
            <a:r>
              <a:rPr sz="2400" spc="57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dependable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their</a:t>
            </a:r>
            <a:r>
              <a:rPr sz="24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networking</a:t>
            </a:r>
            <a:r>
              <a:rPr sz="24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24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power</a:t>
            </a:r>
            <a:r>
              <a:rPr sz="2400" spc="4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4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will</a:t>
            </a:r>
            <a:r>
              <a:rPr sz="2400" spc="3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be.</a:t>
            </a:r>
            <a:endParaRPr sz="1853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Systems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alternate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between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two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states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service: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3875" marR="847209" lvl="1" indent="-342900">
              <a:spcBef>
                <a:spcPts val="578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accomplishment</a:t>
            </a:r>
            <a:r>
              <a:rPr sz="2400" spc="6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66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(working:</a:t>
            </a:r>
            <a:r>
              <a:rPr sz="2400" spc="6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6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delivered</a:t>
            </a:r>
            <a:r>
              <a:rPr sz="2400" spc="6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as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specified</a:t>
            </a:r>
            <a:r>
              <a:rPr sz="24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4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Calibri"/>
                <a:cs typeface="Calibri"/>
              </a:rPr>
              <a:t>SLA)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83875" marR="231974" lvl="1" indent="-342900">
              <a:spcBef>
                <a:spcPts val="600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4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interruption</a:t>
            </a:r>
            <a:r>
              <a:rPr sz="2400" spc="4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49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(not</a:t>
            </a:r>
            <a:r>
              <a:rPr sz="2400" spc="5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working:</a:t>
            </a:r>
            <a:r>
              <a:rPr sz="2400" spc="4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delivered</a:t>
            </a:r>
            <a:r>
              <a:rPr sz="2400" spc="4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5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4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different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from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Calibri"/>
                <a:cs typeface="Calibri"/>
              </a:rPr>
              <a:t>SLA)</a:t>
            </a:r>
            <a:endParaRPr sz="1853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Failure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transition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working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not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working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12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Restoration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transition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not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working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working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Dependability</a:t>
            </a:r>
            <a:r>
              <a:rPr spc="40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306" y="968416"/>
            <a:ext cx="8362742" cy="5124880"/>
          </a:xfrm>
          <a:prstGeom prst="rect">
            <a:avLst/>
          </a:prstGeom>
        </p:spPr>
        <p:txBody>
          <a:bodyPr vert="horz" wrap="square" lIns="0" tIns="129428" rIns="0" bIns="0" rtlCol="0">
            <a:spAutoFit/>
          </a:bodyPr>
          <a:lstStyle/>
          <a:p>
            <a:pPr marL="354107" indent="-342900">
              <a:spcBef>
                <a:spcPts val="1019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b="1" u="sng" spc="-9" dirty="0">
                <a:solidFill>
                  <a:srgbClr val="003399"/>
                </a:solidFill>
                <a:latin typeface="Calibri"/>
                <a:cs typeface="Calibri"/>
              </a:rPr>
              <a:t>Module</a:t>
            </a:r>
            <a:r>
              <a:rPr sz="2800" b="1" u="sng" spc="-1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u="sng" spc="-9" dirty="0">
                <a:solidFill>
                  <a:srgbClr val="003399"/>
                </a:solidFill>
                <a:latin typeface="Calibri"/>
                <a:cs typeface="Calibri"/>
              </a:rPr>
              <a:t>reliability</a:t>
            </a:r>
            <a:endParaRPr sz="2800" b="1" u="sng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679"/>
              </a:spcBef>
              <a:spcAft>
                <a:spcPts val="18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Measure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continuous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service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accomplishment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400" spc="18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(or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time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failure)</a:t>
            </a:r>
            <a:endParaRPr sz="1677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4"/>
              </a:spcBef>
              <a:spcAft>
                <a:spcPts val="1800"/>
              </a:spcAft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Mean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Failure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(MTTF)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measures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reliability</a:t>
            </a:r>
            <a:endParaRPr sz="2294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Failures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(FIT)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1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/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MTTF,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FF0000"/>
                </a:solidFill>
                <a:latin typeface="Calibri"/>
                <a:cs typeface="Calibri"/>
              </a:rPr>
              <a:t>failure</a:t>
            </a:r>
            <a:r>
              <a:rPr sz="2800" spc="-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FF0000"/>
                </a:solidFill>
                <a:latin typeface="Calibri"/>
                <a:cs typeface="Calibri"/>
              </a:rPr>
              <a:t>rate</a:t>
            </a:r>
            <a:endParaRPr sz="2800" dirty="0"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8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Usually,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reported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as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failures</a:t>
            </a:r>
            <a:r>
              <a:rPr sz="2400" u="sng" spc="9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</a:t>
            </a:r>
            <a:r>
              <a:rPr sz="2400" u="sng" spc="9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billion</a:t>
            </a:r>
            <a:r>
              <a:rPr sz="2400" u="sng" spc="22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hours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operation</a:t>
            </a:r>
            <a:endParaRPr sz="1677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6" marR="742990" indent="-342900">
              <a:spcAft>
                <a:spcPts val="1800"/>
              </a:spcAft>
              <a:buSzPct val="12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Mean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Repair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(MTTR)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measures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service interruption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03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Mean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Between</a:t>
            </a:r>
            <a:r>
              <a:rPr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Failures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(MTBF)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MTTF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+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MTT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Dependability</a:t>
            </a:r>
            <a:r>
              <a:rPr spc="40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4" y="1075029"/>
            <a:ext cx="7642662" cy="1345844"/>
          </a:xfrm>
          <a:prstGeom prst="rect">
            <a:avLst/>
          </a:prstGeom>
        </p:spPr>
        <p:txBody>
          <a:bodyPr vert="horz" wrap="square" lIns="0" tIns="52668" rIns="0" bIns="0" rtlCol="0">
            <a:spAutoFit/>
          </a:bodyPr>
          <a:lstStyle/>
          <a:p>
            <a:pPr marL="354106" marR="4483" indent="-342900" algn="just">
              <a:spcBef>
                <a:spcPts val="415"/>
              </a:spcBef>
              <a:buSzPct val="12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800" b="1" u="sng" spc="-9" dirty="0">
                <a:solidFill>
                  <a:srgbClr val="003399"/>
                </a:solidFill>
                <a:latin typeface="Calibri"/>
                <a:cs typeface="Calibri"/>
              </a:rPr>
              <a:t>Module</a:t>
            </a:r>
            <a:r>
              <a:rPr sz="2800" b="1" u="sng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u="sng" spc="-18" dirty="0">
                <a:solidFill>
                  <a:srgbClr val="003399"/>
                </a:solidFill>
                <a:latin typeface="Calibri"/>
                <a:cs typeface="Calibri"/>
              </a:rPr>
              <a:t>availability</a:t>
            </a:r>
            <a:r>
              <a:rPr sz="2800" b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measures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service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alternate between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two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states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accomplishment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and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interruption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(number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between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0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1,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e.g.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0.9)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754" y="2806375"/>
            <a:ext cx="3250174" cy="4422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7" indent="-342900">
              <a:spcBef>
                <a:spcPts val="88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b="1" spc="-18" dirty="0">
                <a:solidFill>
                  <a:srgbClr val="3366FF"/>
                </a:solidFill>
                <a:latin typeface="Calibri"/>
                <a:cs typeface="Calibri"/>
              </a:rPr>
              <a:t>Module</a:t>
            </a:r>
            <a:r>
              <a:rPr sz="2800" b="1" spc="-101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9" dirty="0">
                <a:solidFill>
                  <a:srgbClr val="3366FF"/>
                </a:solidFill>
                <a:latin typeface="Calibri"/>
                <a:cs typeface="Calibri"/>
              </a:rPr>
              <a:t>availability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9952" y="2704899"/>
            <a:ext cx="3872163" cy="1002273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11206">
              <a:spcBef>
                <a:spcPts val="596"/>
              </a:spcBef>
            </a:pPr>
            <a:r>
              <a:rPr sz="2800" b="1" dirty="0">
                <a:solidFill>
                  <a:srgbClr val="3366FF"/>
                </a:solidFill>
                <a:latin typeface="Calibri"/>
                <a:cs typeface="Calibri"/>
              </a:rPr>
              <a:t>=</a:t>
            </a:r>
            <a:r>
              <a:rPr sz="2800" b="1" spc="-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9" dirty="0">
                <a:solidFill>
                  <a:srgbClr val="3366FF"/>
                </a:solidFill>
                <a:latin typeface="Calibri"/>
                <a:cs typeface="Calibri"/>
              </a:rPr>
              <a:t>MTTF</a:t>
            </a:r>
            <a:r>
              <a:rPr sz="2800" b="1" spc="-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366FF"/>
                </a:solidFill>
                <a:latin typeface="Calibri"/>
                <a:cs typeface="Calibri"/>
              </a:rPr>
              <a:t>/</a:t>
            </a:r>
            <a:r>
              <a:rPr sz="2800" b="1" spc="-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18" dirty="0">
                <a:solidFill>
                  <a:srgbClr val="3366FF"/>
                </a:solidFill>
                <a:latin typeface="Calibri"/>
                <a:cs typeface="Calibri"/>
              </a:rPr>
              <a:t>MTBF</a:t>
            </a:r>
            <a:endParaRPr sz="2800" dirty="0">
              <a:latin typeface="Calibri"/>
              <a:cs typeface="Calibri"/>
            </a:endParaRPr>
          </a:p>
          <a:p>
            <a:pPr marL="11206">
              <a:spcBef>
                <a:spcPts val="507"/>
              </a:spcBef>
            </a:pPr>
            <a:r>
              <a:rPr sz="2800" b="1" dirty="0">
                <a:solidFill>
                  <a:srgbClr val="3366FF"/>
                </a:solidFill>
                <a:latin typeface="Calibri"/>
                <a:cs typeface="Calibri"/>
              </a:rPr>
              <a:t>=</a:t>
            </a:r>
            <a:r>
              <a:rPr sz="2800" b="1" spc="-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9" dirty="0">
                <a:solidFill>
                  <a:srgbClr val="3366FF"/>
                </a:solidFill>
                <a:latin typeface="Calibri"/>
                <a:cs typeface="Calibri"/>
              </a:rPr>
              <a:t>MTTF</a:t>
            </a:r>
            <a:r>
              <a:rPr sz="2800" b="1" spc="-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366FF"/>
                </a:solidFill>
                <a:latin typeface="Calibri"/>
                <a:cs typeface="Calibri"/>
              </a:rPr>
              <a:t>/</a:t>
            </a:r>
            <a:r>
              <a:rPr sz="2800" b="1" spc="-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18" dirty="0">
                <a:solidFill>
                  <a:srgbClr val="3366FF"/>
                </a:solidFill>
                <a:latin typeface="Calibri"/>
                <a:cs typeface="Calibri"/>
              </a:rPr>
              <a:t>(MTTF</a:t>
            </a:r>
            <a:r>
              <a:rPr sz="2800" b="1" spc="-62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366FF"/>
                </a:solidFill>
                <a:latin typeface="Calibri"/>
                <a:cs typeface="Calibri"/>
              </a:rPr>
              <a:t>+</a:t>
            </a:r>
            <a:r>
              <a:rPr sz="2800" b="1" spc="-57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2800" b="1" spc="-18" dirty="0">
                <a:solidFill>
                  <a:srgbClr val="3366FF"/>
                </a:solidFill>
                <a:latin typeface="Calibri"/>
                <a:cs typeface="Calibri"/>
              </a:rPr>
              <a:t>MTTR)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754" y="3958222"/>
            <a:ext cx="7858686" cy="1775034"/>
          </a:xfrm>
          <a:prstGeom prst="rect">
            <a:avLst/>
          </a:prstGeom>
        </p:spPr>
        <p:txBody>
          <a:bodyPr vert="horz" wrap="square" lIns="0" tIns="50987" rIns="0" bIns="0" rtlCol="0">
            <a:spAutoFit/>
          </a:bodyPr>
          <a:lstStyle/>
          <a:p>
            <a:pPr marL="354106" marR="4483" indent="-342900">
              <a:spcBef>
                <a:spcPts val="401"/>
              </a:spcBef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  <a:tabLst>
                <a:tab pos="280162" algn="l"/>
              </a:tabLst>
            </a:pP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If</a:t>
            </a:r>
            <a:r>
              <a:rPr sz="2800" spc="-66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modules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have</a:t>
            </a:r>
            <a:r>
              <a:rPr sz="2800" spc="-7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chemeClr val="bg1"/>
                </a:solidFill>
                <a:latin typeface="Calibri"/>
                <a:cs typeface="Calibri"/>
              </a:rPr>
              <a:t>exponentially</a:t>
            </a:r>
            <a:r>
              <a:rPr sz="2800" spc="-7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chemeClr val="bg1"/>
                </a:solidFill>
                <a:latin typeface="Calibri"/>
                <a:cs typeface="Calibri"/>
              </a:rPr>
              <a:t>distributed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lifetimes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(i.e.,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age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module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does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not</a:t>
            </a:r>
            <a:r>
              <a:rPr sz="2800" spc="-8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affect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its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chemeClr val="bg1"/>
                </a:solidFill>
                <a:latin typeface="Calibri"/>
                <a:cs typeface="Calibri"/>
              </a:rPr>
              <a:t>probability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chemeClr val="bg1"/>
                </a:solidFill>
                <a:latin typeface="Calibri"/>
                <a:cs typeface="Calibri"/>
              </a:rPr>
              <a:t>of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failure),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overall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failure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rate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(FIT)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is</a:t>
            </a:r>
            <a:r>
              <a:rPr sz="2800" spc="-8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sum</a:t>
            </a:r>
            <a:r>
              <a:rPr sz="2800" spc="-10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sz="2800" spc="-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failure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rates</a:t>
            </a:r>
            <a:r>
              <a:rPr sz="2800" spc="-93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of</a:t>
            </a:r>
            <a:r>
              <a:rPr sz="2800" spc="-7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2800" spc="-8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chemeClr val="bg1"/>
                </a:solidFill>
                <a:latin typeface="Calibri"/>
                <a:cs typeface="Calibri"/>
              </a:rPr>
              <a:t>modules</a:t>
            </a:r>
            <a:endParaRPr sz="28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Dependability</a:t>
            </a:r>
            <a:r>
              <a:rPr spc="40" dirty="0"/>
              <a:t> </a:t>
            </a:r>
            <a:r>
              <a:rPr spc="-9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7478" y="764704"/>
            <a:ext cx="7496930" cy="3043216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spcBef>
                <a:spcPts val="671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Example: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Calculating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reliability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656139" marR="4483" indent="-215164">
              <a:spcBef>
                <a:spcPts val="613"/>
              </a:spcBef>
            </a:pPr>
            <a:r>
              <a:rPr sz="2000" dirty="0">
                <a:latin typeface="Calibri"/>
                <a:cs typeface="Calibri"/>
              </a:rPr>
              <a:t>–</a:t>
            </a:r>
            <a:r>
              <a:rPr sz="2000" spc="44" dirty="0"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Calculate</a:t>
            </a:r>
            <a:r>
              <a:rPr sz="20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FIT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(rate)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MTTF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(1/rate)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000" spc="13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lang="en-US"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disk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subsystem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CC"/>
                </a:solidFill>
                <a:latin typeface="Calibri"/>
                <a:cs typeface="Calibri"/>
              </a:rPr>
              <a:t>consists </a:t>
            </a:r>
            <a:r>
              <a:rPr sz="2000" spc="-22" dirty="0">
                <a:solidFill>
                  <a:srgbClr val="0033CC"/>
                </a:solidFill>
                <a:latin typeface="Calibri"/>
                <a:cs typeface="Calibri"/>
              </a:rPr>
              <a:t>of: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410"/>
              </a:spcBef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»</a:t>
            </a:r>
            <a:r>
              <a:rPr sz="2000" spc="3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10</a:t>
            </a:r>
            <a:r>
              <a:rPr sz="20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disks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(1M</a:t>
            </a:r>
            <a:r>
              <a:rPr sz="20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hour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MTTF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per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CC"/>
                </a:solidFill>
                <a:latin typeface="Calibri"/>
                <a:cs typeface="Calibri"/>
              </a:rPr>
              <a:t>disk)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»</a:t>
            </a:r>
            <a:r>
              <a:rPr sz="2000" spc="3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ATA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disk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controller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(0.5M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hour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CC"/>
                </a:solidFill>
                <a:latin typeface="Calibri"/>
                <a:cs typeface="Calibri"/>
              </a:rPr>
              <a:t>MTTF)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357"/>
              </a:spcBef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»</a:t>
            </a:r>
            <a:r>
              <a:rPr sz="2000" spc="3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</a:t>
            </a:r>
            <a:r>
              <a:rPr sz="20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power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supply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(0.2M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hour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033CC"/>
                </a:solidFill>
                <a:latin typeface="Calibri"/>
                <a:cs typeface="Calibri"/>
              </a:rPr>
              <a:t>MTTF)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»</a:t>
            </a:r>
            <a:r>
              <a:rPr sz="2000" spc="3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fan,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0.2M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hour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0033CC"/>
                </a:solidFill>
                <a:latin typeface="Calibri"/>
                <a:cs typeface="Calibri"/>
              </a:rPr>
              <a:t>MTTF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</a:pP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»</a:t>
            </a:r>
            <a:r>
              <a:rPr sz="2000" spc="35" dirty="0">
                <a:solidFill>
                  <a:srgbClr val="0033CC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</a:t>
            </a:r>
            <a:r>
              <a:rPr sz="20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ATA</a:t>
            </a:r>
            <a:r>
              <a:rPr sz="20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cable,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1M</a:t>
            </a:r>
            <a:r>
              <a:rPr sz="20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Calibri"/>
                <a:cs typeface="Calibri"/>
              </a:rPr>
              <a:t>hour</a:t>
            </a:r>
            <a:r>
              <a:rPr sz="20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0033CC"/>
                </a:solidFill>
                <a:latin typeface="Calibri"/>
                <a:cs typeface="Calibri"/>
              </a:rPr>
              <a:t>MTTF</a:t>
            </a:r>
            <a:endParaRPr sz="20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AE75975-612E-D625-F2E9-15CF0520F180}"/>
              </a:ext>
            </a:extLst>
          </p:cNvPr>
          <p:cNvGrpSpPr/>
          <p:nvPr/>
        </p:nvGrpSpPr>
        <p:grpSpPr>
          <a:xfrm>
            <a:off x="1640409" y="3991813"/>
            <a:ext cx="1348301" cy="309028"/>
            <a:chOff x="1640409" y="3991813"/>
            <a:chExt cx="1348301" cy="309028"/>
          </a:xfrm>
        </p:grpSpPr>
        <p:sp>
          <p:nvSpPr>
            <p:cNvPr id="5" name="object 5"/>
            <p:cNvSpPr txBox="1"/>
            <p:nvPr/>
          </p:nvSpPr>
          <p:spPr>
            <a:xfrm>
              <a:off x="1640409" y="3991813"/>
              <a:ext cx="1030381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11206">
                <a:spcBef>
                  <a:spcPts val="124"/>
                </a:spcBef>
              </a:pPr>
              <a:r>
                <a:rPr sz="1677" i="1" spc="-18" dirty="0">
                  <a:latin typeface="Times New Roman"/>
                  <a:cs typeface="Times New Roman"/>
                </a:rPr>
                <a:t>FailureRate</a:t>
              </a:r>
              <a:endParaRPr sz="1677" dirty="0">
                <a:latin typeface="Times New Roman"/>
                <a:cs typeface="Times New Roman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645250" y="4137863"/>
              <a:ext cx="343460" cy="162978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971" i="1" spc="-9" dirty="0">
                  <a:latin typeface="Times New Roman"/>
                  <a:cs typeface="Times New Roman"/>
                </a:rPr>
                <a:t>system</a:t>
              </a:r>
              <a:endParaRPr sz="971">
                <a:latin typeface="Times New Roman"/>
                <a:cs typeface="Times New Roman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4D2BB1-C683-33CD-BBFC-DB9137ED5145}"/>
              </a:ext>
            </a:extLst>
          </p:cNvPr>
          <p:cNvGrpSpPr/>
          <p:nvPr/>
        </p:nvGrpSpPr>
        <p:grpSpPr>
          <a:xfrm>
            <a:off x="3026981" y="3861048"/>
            <a:ext cx="4067678" cy="577911"/>
            <a:chOff x="3026981" y="3861048"/>
            <a:chExt cx="4067678" cy="577911"/>
          </a:xfrm>
        </p:grpSpPr>
        <p:sp>
          <p:nvSpPr>
            <p:cNvPr id="7" name="object 7"/>
            <p:cNvSpPr/>
            <p:nvPr/>
          </p:nvSpPr>
          <p:spPr>
            <a:xfrm>
              <a:off x="3566275" y="4173692"/>
              <a:ext cx="301999" cy="0"/>
            </a:xfrm>
            <a:custGeom>
              <a:avLst/>
              <a:gdLst/>
              <a:ahLst/>
              <a:cxnLst/>
              <a:rect l="l" t="t" r="r" b="b"/>
              <a:pathLst>
                <a:path w="342264">
                  <a:moveTo>
                    <a:pt x="0" y="0"/>
                  </a:moveTo>
                  <a:lnTo>
                    <a:pt x="34226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/>
            <p:nvPr/>
          </p:nvSpPr>
          <p:spPr>
            <a:xfrm>
              <a:off x="4056135" y="4173692"/>
              <a:ext cx="723340" cy="0"/>
            </a:xfrm>
            <a:custGeom>
              <a:avLst/>
              <a:gdLst/>
              <a:ahLst/>
              <a:cxnLst/>
              <a:rect l="l" t="t" r="r" b="b"/>
              <a:pathLst>
                <a:path w="819785">
                  <a:moveTo>
                    <a:pt x="0" y="0"/>
                  </a:moveTo>
                  <a:lnTo>
                    <a:pt x="81945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9" name="object 9"/>
            <p:cNvSpPr/>
            <p:nvPr/>
          </p:nvSpPr>
          <p:spPr>
            <a:xfrm>
              <a:off x="4967045" y="4173692"/>
              <a:ext cx="723340" cy="0"/>
            </a:xfrm>
            <a:custGeom>
              <a:avLst/>
              <a:gdLst/>
              <a:ahLst/>
              <a:cxnLst/>
              <a:rect l="l" t="t" r="r" b="b"/>
              <a:pathLst>
                <a:path w="819784">
                  <a:moveTo>
                    <a:pt x="0" y="0"/>
                  </a:moveTo>
                  <a:lnTo>
                    <a:pt x="81945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0" name="object 10"/>
            <p:cNvSpPr/>
            <p:nvPr/>
          </p:nvSpPr>
          <p:spPr>
            <a:xfrm>
              <a:off x="5877956" y="4173692"/>
              <a:ext cx="723340" cy="0"/>
            </a:xfrm>
            <a:custGeom>
              <a:avLst/>
              <a:gdLst/>
              <a:ahLst/>
              <a:cxnLst/>
              <a:rect l="l" t="t" r="r" b="b"/>
              <a:pathLst>
                <a:path w="819784">
                  <a:moveTo>
                    <a:pt x="0" y="0"/>
                  </a:moveTo>
                  <a:lnTo>
                    <a:pt x="81945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026981" y="3991813"/>
              <a:ext cx="3736601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11206">
                <a:spcBef>
                  <a:spcPts val="124"/>
                </a:spcBef>
                <a:tabLst>
                  <a:tab pos="876907" algn="l"/>
                  <a:tab pos="1787994" algn="l"/>
                  <a:tab pos="2699081" algn="l"/>
                  <a:tab pos="3610167" algn="l"/>
                </a:tabLst>
              </a:pPr>
              <a:r>
                <a:rPr sz="1677" spc="-26" dirty="0">
                  <a:latin typeface="Symbol"/>
                  <a:cs typeface="Symbol"/>
                </a:rPr>
                <a:t></a:t>
              </a:r>
              <a:r>
                <a:rPr sz="1677" spc="-238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677" spc="-172" dirty="0">
                  <a:latin typeface="Times New Roman"/>
                  <a:cs typeface="Times New Roman"/>
                </a:rPr>
                <a:t> </a:t>
              </a:r>
              <a:r>
                <a:rPr sz="1677" spc="-44" dirty="0">
                  <a:latin typeface="Symbol"/>
                  <a:cs typeface="Symbol"/>
                </a:rPr>
                <a:t>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Symbol"/>
                  <a:cs typeface="Symbol"/>
                </a:rPr>
                <a:t>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Symbol"/>
                  <a:cs typeface="Symbol"/>
                </a:rPr>
                <a:t>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Symbol"/>
                  <a:cs typeface="Symbol"/>
                </a:rPr>
                <a:t>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Symbol"/>
                  <a:cs typeface="Symbol"/>
                </a:rPr>
                <a:t></a:t>
              </a:r>
              <a:endParaRPr sz="1677" dirty="0">
                <a:latin typeface="Symbol"/>
                <a:cs typeface="Symbo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652276" y="3861048"/>
              <a:ext cx="3349999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11206">
                <a:spcBef>
                  <a:spcPts val="124"/>
                </a:spcBef>
                <a:tabLst>
                  <a:tab pos="711611" algn="l"/>
                  <a:tab pos="1622698" algn="l"/>
                  <a:tab pos="2533225" algn="l"/>
                  <a:tab pos="3233630" algn="l"/>
                </a:tabLst>
              </a:pPr>
              <a:r>
                <a:rPr sz="1677" spc="-44" dirty="0">
                  <a:latin typeface="Times New Roman"/>
                  <a:cs typeface="Times New Roman"/>
                </a:rPr>
                <a:t>1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Times New Roman"/>
                  <a:cs typeface="Times New Roman"/>
                </a:rPr>
                <a:t>1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Times New Roman"/>
                  <a:cs typeface="Times New Roman"/>
                </a:rPr>
                <a:t>1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Times New Roman"/>
                  <a:cs typeface="Times New Roman"/>
                </a:rPr>
                <a:t>1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4" dirty="0">
                  <a:latin typeface="Times New Roman"/>
                  <a:cs typeface="Times New Roman"/>
                </a:rPr>
                <a:t>1</a:t>
              </a:r>
              <a:endParaRPr sz="1677" dirty="0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524465" y="4165034"/>
              <a:ext cx="3570194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33619">
                <a:spcBef>
                  <a:spcPts val="124"/>
                </a:spcBef>
                <a:tabLst>
                  <a:tab pos="543514" algn="l"/>
                  <a:tab pos="1454601" algn="l"/>
                  <a:tab pos="2365128" algn="l"/>
                  <a:tab pos="3256043" algn="l"/>
                </a:tabLst>
              </a:pP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456" spc="-33" baseline="42929" dirty="0">
                  <a:latin typeface="Times New Roman"/>
                  <a:cs typeface="Times New Roman"/>
                </a:rPr>
                <a:t>6</a:t>
              </a:r>
              <a:r>
                <a:rPr sz="1456" baseline="42929" dirty="0">
                  <a:latin typeface="Times New Roman"/>
                  <a:cs typeface="Times New Roman"/>
                </a:rPr>
                <a:t>	</a:t>
              </a:r>
              <a:r>
                <a:rPr sz="1677" spc="-40" dirty="0">
                  <a:latin typeface="Times New Roman"/>
                  <a:cs typeface="Times New Roman"/>
                </a:rPr>
                <a:t>500,</a:t>
              </a:r>
              <a:r>
                <a:rPr sz="1677" spc="-190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000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0" dirty="0">
                  <a:latin typeface="Times New Roman"/>
                  <a:cs typeface="Times New Roman"/>
                </a:rPr>
                <a:t>200,</a:t>
              </a:r>
              <a:r>
                <a:rPr sz="1677" spc="-190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000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40" dirty="0">
                  <a:latin typeface="Times New Roman"/>
                  <a:cs typeface="Times New Roman"/>
                </a:rPr>
                <a:t>200,</a:t>
              </a:r>
              <a:r>
                <a:rPr sz="1677" spc="-190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000</a:t>
              </a:r>
              <a:r>
                <a:rPr sz="1677" dirty="0">
                  <a:latin typeface="Times New Roman"/>
                  <a:cs typeface="Times New Roman"/>
                </a:rPr>
                <a:t>	</a:t>
              </a: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456" spc="-33" baseline="42929" dirty="0">
                  <a:latin typeface="Times New Roman"/>
                  <a:cs typeface="Times New Roman"/>
                </a:rPr>
                <a:t>6</a:t>
              </a:r>
              <a:endParaRPr sz="1456" baseline="42929" dirty="0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788867" y="4173692"/>
              <a:ext cx="301999" cy="0"/>
            </a:xfrm>
            <a:custGeom>
              <a:avLst/>
              <a:gdLst/>
              <a:ahLst/>
              <a:cxnLst/>
              <a:rect l="l" t="t" r="r" b="b"/>
              <a:pathLst>
                <a:path w="342265">
                  <a:moveTo>
                    <a:pt x="0" y="0"/>
                  </a:moveTo>
                  <a:lnTo>
                    <a:pt x="34226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DABB87-F2D9-250C-EEF6-8630B603AE89}"/>
              </a:ext>
            </a:extLst>
          </p:cNvPr>
          <p:cNvGrpSpPr/>
          <p:nvPr/>
        </p:nvGrpSpPr>
        <p:grpSpPr>
          <a:xfrm>
            <a:off x="3004569" y="4523227"/>
            <a:ext cx="2827939" cy="522380"/>
            <a:chOff x="3004569" y="4523227"/>
            <a:chExt cx="2827939" cy="522380"/>
          </a:xfrm>
        </p:grpSpPr>
        <p:sp>
          <p:nvSpPr>
            <p:cNvPr id="15" name="object 15"/>
            <p:cNvSpPr txBox="1"/>
            <p:nvPr/>
          </p:nvSpPr>
          <p:spPr>
            <a:xfrm>
              <a:off x="3004569" y="4523227"/>
              <a:ext cx="1995207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33619">
                <a:spcBef>
                  <a:spcPts val="124"/>
                </a:spcBef>
              </a:pPr>
              <a:r>
                <a:rPr sz="2515" spc="-39" baseline="-33625" dirty="0">
                  <a:latin typeface="Symbol"/>
                  <a:cs typeface="Symbol"/>
                </a:rPr>
                <a:t></a:t>
              </a:r>
              <a:r>
                <a:rPr sz="2515" spc="-158" baseline="-33625" dirty="0">
                  <a:latin typeface="Times New Roman"/>
                  <a:cs typeface="Times New Roman"/>
                </a:rPr>
                <a:t> </a:t>
              </a:r>
              <a:r>
                <a:rPr sz="1677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10</a:t>
              </a:r>
              <a:r>
                <a:rPr sz="1677" u="sng" spc="-163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6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</a:t>
              </a:r>
              <a:r>
                <a:rPr sz="1677" u="sng" spc="-163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2</a:t>
              </a:r>
              <a:r>
                <a:rPr sz="1677" u="sng" spc="-163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6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</a:t>
              </a:r>
              <a:r>
                <a:rPr sz="1677" u="sng" spc="-159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5</a:t>
              </a:r>
              <a:r>
                <a:rPr sz="1677" u="sng" spc="-238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6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</a:t>
              </a:r>
              <a:r>
                <a:rPr sz="1677" u="sng" spc="-159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5</a:t>
              </a:r>
              <a:r>
                <a:rPr sz="1677" u="sng" spc="-23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r>
                <a:rPr sz="1677" u="sng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</a:t>
              </a:r>
              <a:r>
                <a:rPr sz="1677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1</a:t>
              </a:r>
              <a:r>
                <a:rPr sz="1677" spc="-79" dirty="0">
                  <a:latin typeface="Times New Roman"/>
                  <a:cs typeface="Times New Roman"/>
                </a:rPr>
                <a:t> </a:t>
              </a:r>
              <a:r>
                <a:rPr sz="2515" baseline="-33625" dirty="0">
                  <a:latin typeface="Symbol"/>
                  <a:cs typeface="Symbol"/>
                </a:rPr>
                <a:t></a:t>
              </a:r>
              <a:r>
                <a:rPr sz="2515" spc="575" baseline="-33625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23</a:t>
              </a:r>
              <a:endParaRPr sz="1677" dirty="0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654986" y="4770742"/>
              <a:ext cx="347943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33619">
                <a:spcBef>
                  <a:spcPts val="124"/>
                </a:spcBef>
              </a:pP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456" spc="-33" baseline="42929" dirty="0">
                  <a:latin typeface="Times New Roman"/>
                  <a:cs typeface="Times New Roman"/>
                </a:rPr>
                <a:t>6</a:t>
              </a:r>
              <a:endParaRPr sz="1456" baseline="42929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704366" y="4779400"/>
              <a:ext cx="301999" cy="0"/>
            </a:xfrm>
            <a:custGeom>
              <a:avLst/>
              <a:gdLst/>
              <a:ahLst/>
              <a:cxnLst/>
              <a:rect l="l" t="t" r="r" b="b"/>
              <a:pathLst>
                <a:path w="342264">
                  <a:moveTo>
                    <a:pt x="0" y="0"/>
                  </a:moveTo>
                  <a:lnTo>
                    <a:pt x="34226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487802" y="4627977"/>
              <a:ext cx="1344706" cy="417630"/>
            </a:xfrm>
            <a:prstGeom prst="rect">
              <a:avLst/>
            </a:prstGeom>
          </p:spPr>
          <p:txBody>
            <a:bodyPr vert="horz" wrap="square" lIns="0" tIns="158003" rIns="0" bIns="0" rtlCol="0">
              <a:spAutoFit/>
            </a:bodyPr>
            <a:lstStyle/>
            <a:p>
              <a:pPr marL="207880">
                <a:spcBef>
                  <a:spcPts val="1244"/>
                </a:spcBef>
              </a:pP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456" spc="-33" baseline="42929" dirty="0">
                  <a:latin typeface="Times New Roman"/>
                  <a:cs typeface="Times New Roman"/>
                </a:rPr>
                <a:t>6</a:t>
              </a:r>
              <a:endParaRPr sz="1456" baseline="42929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87A1EDB-DD0A-3B86-7477-E680CED6B43F}"/>
              </a:ext>
            </a:extLst>
          </p:cNvPr>
          <p:cNvGrpSpPr/>
          <p:nvPr/>
        </p:nvGrpSpPr>
        <p:grpSpPr>
          <a:xfrm>
            <a:off x="1619672" y="5692732"/>
            <a:ext cx="4470041" cy="596342"/>
            <a:chOff x="1619672" y="5692732"/>
            <a:chExt cx="4470041" cy="59634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8D202AE-4E2F-427D-65EF-B1B4604A38EE}"/>
                </a:ext>
              </a:extLst>
            </p:cNvPr>
            <p:cNvGrpSpPr/>
            <p:nvPr/>
          </p:nvGrpSpPr>
          <p:grpSpPr>
            <a:xfrm>
              <a:off x="1619672" y="5883581"/>
              <a:ext cx="1472748" cy="282865"/>
              <a:chOff x="1619672" y="5883581"/>
              <a:chExt cx="1472748" cy="282865"/>
            </a:xfrm>
          </p:grpSpPr>
          <p:sp>
            <p:nvSpPr>
              <p:cNvPr id="22" name="object 22"/>
              <p:cNvSpPr txBox="1"/>
              <p:nvPr/>
            </p:nvSpPr>
            <p:spPr>
              <a:xfrm>
                <a:off x="1619672" y="5883581"/>
                <a:ext cx="1093134" cy="282865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33619">
                  <a:spcBef>
                    <a:spcPts val="88"/>
                  </a:spcBef>
                </a:pPr>
                <a:r>
                  <a:rPr sz="2647" i="1" spc="-72" baseline="13888" dirty="0">
                    <a:latin typeface="Times New Roman"/>
                    <a:cs typeface="Times New Roman"/>
                  </a:rPr>
                  <a:t>MTTF</a:t>
                </a:r>
                <a:r>
                  <a:rPr sz="1015" i="1" spc="-49" dirty="0">
                    <a:latin typeface="Times New Roman"/>
                    <a:cs typeface="Times New Roman"/>
                  </a:rPr>
                  <a:t>system</a:t>
                </a:r>
                <a:r>
                  <a:rPr sz="1015" i="1" spc="115" dirty="0">
                    <a:latin typeface="Times New Roman"/>
                    <a:cs typeface="Times New Roman"/>
                  </a:rPr>
                  <a:t> </a:t>
                </a:r>
                <a:r>
                  <a:rPr sz="2647" spc="-66" baseline="13888" dirty="0">
                    <a:latin typeface="Symbol"/>
                    <a:cs typeface="Symbol"/>
                  </a:rPr>
                  <a:t></a:t>
                </a:r>
                <a:endParaRPr sz="2647" baseline="13888" dirty="0">
                  <a:latin typeface="Symbol"/>
                  <a:cs typeface="Symbol"/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2726548" y="6014724"/>
                <a:ext cx="365872" cy="0"/>
              </a:xfrm>
              <a:custGeom>
                <a:avLst/>
                <a:gdLst/>
                <a:ahLst/>
                <a:cxnLst/>
                <a:rect l="l" t="t" r="r" b="b"/>
                <a:pathLst>
                  <a:path w="414654">
                    <a:moveTo>
                      <a:pt x="0" y="0"/>
                    </a:moveTo>
                    <a:lnTo>
                      <a:pt x="414467" y="0"/>
                    </a:lnTo>
                  </a:path>
                </a:pathLst>
              </a:custGeom>
              <a:ln w="1256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2821121" y="5692732"/>
              <a:ext cx="960344" cy="28292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  <a:tabLst>
                  <a:tab pos="630365" algn="l"/>
                </a:tabLst>
              </a:pPr>
              <a:r>
                <a:rPr sz="1765" spc="-44" dirty="0">
                  <a:latin typeface="Times New Roman"/>
                  <a:cs typeface="Times New Roman"/>
                </a:rPr>
                <a:t>1</a:t>
              </a:r>
              <a:r>
                <a:rPr sz="1765" dirty="0">
                  <a:latin typeface="Times New Roman"/>
                  <a:cs typeface="Times New Roman"/>
                </a:rPr>
                <a:t>	</a:t>
              </a:r>
              <a:r>
                <a:rPr sz="1765" spc="-22" dirty="0">
                  <a:latin typeface="Times New Roman"/>
                  <a:cs typeface="Times New Roman"/>
                </a:rPr>
                <a:t>10</a:t>
              </a:r>
              <a:r>
                <a:rPr sz="1522" spc="-33" baseline="43478" dirty="0">
                  <a:latin typeface="Times New Roman"/>
                  <a:cs typeface="Times New Roman"/>
                </a:rPr>
                <a:t>9</a:t>
              </a:r>
              <a:endParaRPr sz="1522" baseline="43478" dirty="0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731990" y="6006146"/>
              <a:ext cx="1188384" cy="28292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585539" algn="l"/>
                </a:tabLst>
              </a:pPr>
              <a:r>
                <a:rPr sz="1765" i="1" spc="-22" dirty="0">
                  <a:latin typeface="Times New Roman"/>
                  <a:cs typeface="Times New Roman"/>
                </a:rPr>
                <a:t>FIT</a:t>
              </a:r>
              <a:r>
                <a:rPr sz="1765" i="1" dirty="0">
                  <a:latin typeface="Times New Roman"/>
                  <a:cs typeface="Times New Roman"/>
                </a:rPr>
                <a:t>	</a:t>
              </a:r>
              <a:r>
                <a:rPr sz="1765" spc="-101" dirty="0">
                  <a:latin typeface="Times New Roman"/>
                  <a:cs typeface="Times New Roman"/>
                </a:rPr>
                <a:t>23,</a:t>
              </a:r>
              <a:r>
                <a:rPr sz="1765" spc="-207" dirty="0">
                  <a:latin typeface="Times New Roman"/>
                  <a:cs typeface="Times New Roman"/>
                </a:rPr>
                <a:t> </a:t>
              </a:r>
              <a:r>
                <a:rPr sz="1765" spc="-26" dirty="0">
                  <a:latin typeface="Times New Roman"/>
                  <a:cs typeface="Times New Roman"/>
                </a:rPr>
                <a:t>000</a:t>
              </a:r>
              <a:endParaRPr sz="1765" dirty="0">
                <a:latin typeface="Times New Roman"/>
                <a:cs typeface="Times New Roman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694D167-FE90-98FB-143D-339A25709006}"/>
                </a:ext>
              </a:extLst>
            </p:cNvPr>
            <p:cNvGrpSpPr/>
            <p:nvPr/>
          </p:nvGrpSpPr>
          <p:grpSpPr>
            <a:xfrm>
              <a:off x="3129329" y="5827552"/>
              <a:ext cx="2960384" cy="282928"/>
              <a:chOff x="3129329" y="5827552"/>
              <a:chExt cx="2960384" cy="282928"/>
            </a:xfrm>
          </p:grpSpPr>
          <p:sp>
            <p:nvSpPr>
              <p:cNvPr id="24" name="object 24"/>
              <p:cNvSpPr txBox="1"/>
              <p:nvPr/>
            </p:nvSpPr>
            <p:spPr>
              <a:xfrm>
                <a:off x="3129329" y="5827552"/>
                <a:ext cx="139513" cy="28292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765" spc="-44" dirty="0">
                    <a:latin typeface="Symbol"/>
                    <a:cs typeface="Symbol"/>
                  </a:rPr>
                  <a:t></a:t>
                </a:r>
                <a:endParaRPr sz="1765">
                  <a:latin typeface="Symbol"/>
                  <a:cs typeface="Symbol"/>
                </a:endParaRPr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3305352" y="6014724"/>
                <a:ext cx="616324" cy="0"/>
              </a:xfrm>
              <a:custGeom>
                <a:avLst/>
                <a:gdLst/>
                <a:ahLst/>
                <a:cxnLst/>
                <a:rect l="l" t="t" r="r" b="b"/>
                <a:pathLst>
                  <a:path w="698500">
                    <a:moveTo>
                      <a:pt x="0" y="0"/>
                    </a:moveTo>
                    <a:lnTo>
                      <a:pt x="698117" y="0"/>
                    </a:lnTo>
                  </a:path>
                </a:pathLst>
              </a:custGeom>
              <a:ln w="1256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28" name="object 28"/>
              <p:cNvSpPr txBox="1"/>
              <p:nvPr/>
            </p:nvSpPr>
            <p:spPr>
              <a:xfrm>
                <a:off x="3964517" y="5827552"/>
                <a:ext cx="2125196" cy="282928"/>
              </a:xfrm>
              <a:prstGeom prst="rect">
                <a:avLst/>
              </a:prstGeom>
            </p:spPr>
            <p:txBody>
              <a:bodyPr vert="horz" wrap="square" lIns="0" tIns="11206" rIns="0" bIns="0" rtlCol="0">
                <a:spAutoFit/>
              </a:bodyPr>
              <a:lstStyle/>
              <a:p>
                <a:pPr marL="11206">
                  <a:spcBef>
                    <a:spcPts val="88"/>
                  </a:spcBef>
                </a:pPr>
                <a:r>
                  <a:rPr sz="1765" dirty="0">
                    <a:latin typeface="Symbol"/>
                    <a:cs typeface="Symbol"/>
                  </a:rPr>
                  <a:t></a:t>
                </a:r>
                <a:r>
                  <a:rPr sz="1765" spc="-110" dirty="0">
                    <a:latin typeface="Times New Roman"/>
                    <a:cs typeface="Times New Roman"/>
                  </a:rPr>
                  <a:t> </a:t>
                </a:r>
                <a:r>
                  <a:rPr sz="1765" spc="-101" dirty="0">
                    <a:latin typeface="Times New Roman"/>
                    <a:cs typeface="Times New Roman"/>
                  </a:rPr>
                  <a:t>43,</a:t>
                </a:r>
                <a:r>
                  <a:rPr sz="1765" spc="-224" dirty="0">
                    <a:latin typeface="Times New Roman"/>
                    <a:cs typeface="Times New Roman"/>
                  </a:rPr>
                  <a:t> </a:t>
                </a:r>
                <a:r>
                  <a:rPr sz="1765" dirty="0">
                    <a:latin typeface="Times New Roman"/>
                    <a:cs typeface="Times New Roman"/>
                  </a:rPr>
                  <a:t>500</a:t>
                </a:r>
                <a:r>
                  <a:rPr sz="1765" spc="13" dirty="0">
                    <a:latin typeface="Times New Roman"/>
                    <a:cs typeface="Times New Roman"/>
                  </a:rPr>
                  <a:t> </a:t>
                </a:r>
                <a:r>
                  <a:rPr sz="1765" i="1" spc="-44" dirty="0">
                    <a:latin typeface="Times New Roman"/>
                    <a:cs typeface="Times New Roman"/>
                  </a:rPr>
                  <a:t>hours</a:t>
                </a:r>
                <a:r>
                  <a:rPr sz="1765" i="1" spc="-66" dirty="0">
                    <a:latin typeface="Times New Roman"/>
                    <a:cs typeface="Times New Roman"/>
                  </a:rPr>
                  <a:t> </a:t>
                </a:r>
                <a:r>
                  <a:rPr sz="1765" spc="-62" dirty="0">
                    <a:latin typeface="Symbol"/>
                    <a:cs typeface="Symbol"/>
                  </a:rPr>
                  <a:t></a:t>
                </a:r>
                <a:r>
                  <a:rPr sz="1765" spc="-53" dirty="0">
                    <a:latin typeface="Times New Roman"/>
                    <a:cs typeface="Times New Roman"/>
                  </a:rPr>
                  <a:t> </a:t>
                </a:r>
                <a:r>
                  <a:rPr sz="1765" spc="-22" dirty="0">
                    <a:latin typeface="Times New Roman"/>
                    <a:cs typeface="Times New Roman"/>
                  </a:rPr>
                  <a:t>5</a:t>
                </a:r>
                <a:r>
                  <a:rPr sz="1765" i="1" spc="-22" dirty="0">
                    <a:latin typeface="Times New Roman"/>
                    <a:cs typeface="Times New Roman"/>
                  </a:rPr>
                  <a:t>years</a:t>
                </a:r>
                <a:endParaRPr sz="1765">
                  <a:latin typeface="Times New Roman"/>
                  <a:cs typeface="Times New Roman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379827-679A-5956-0060-A0256EF8850D}"/>
              </a:ext>
            </a:extLst>
          </p:cNvPr>
          <p:cNvGrpSpPr/>
          <p:nvPr/>
        </p:nvGrpSpPr>
        <p:grpSpPr>
          <a:xfrm>
            <a:off x="3004569" y="5043593"/>
            <a:ext cx="3421383" cy="577912"/>
            <a:chOff x="3004569" y="5043593"/>
            <a:chExt cx="3421383" cy="577912"/>
          </a:xfrm>
        </p:grpSpPr>
        <p:sp>
          <p:nvSpPr>
            <p:cNvPr id="19" name="object 19"/>
            <p:cNvSpPr txBox="1"/>
            <p:nvPr/>
          </p:nvSpPr>
          <p:spPr>
            <a:xfrm>
              <a:off x="3004569" y="5043593"/>
              <a:ext cx="823632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33619">
                <a:spcBef>
                  <a:spcPts val="124"/>
                </a:spcBef>
              </a:pPr>
              <a:r>
                <a:rPr sz="2515" baseline="-33625" dirty="0">
                  <a:latin typeface="Symbol"/>
                  <a:cs typeface="Symbol"/>
                </a:rPr>
                <a:t></a:t>
              </a:r>
              <a:r>
                <a:rPr sz="2515" spc="66" baseline="-33625" dirty="0">
                  <a:latin typeface="Times New Roman"/>
                  <a:cs typeface="Times New Roman"/>
                </a:rPr>
                <a:t> </a:t>
              </a:r>
              <a:r>
                <a:rPr sz="1677" spc="-79" dirty="0">
                  <a:latin typeface="Times New Roman"/>
                  <a:cs typeface="Times New Roman"/>
                </a:rPr>
                <a:t>23,</a:t>
              </a:r>
              <a:r>
                <a:rPr sz="1677" spc="-202" dirty="0">
                  <a:latin typeface="Times New Roman"/>
                  <a:cs typeface="Times New Roman"/>
                </a:rPr>
                <a:t> </a:t>
              </a:r>
              <a:r>
                <a:rPr sz="1677" spc="-22" dirty="0">
                  <a:latin typeface="Times New Roman"/>
                  <a:cs typeface="Times New Roman"/>
                </a:rPr>
                <a:t>000</a:t>
              </a:r>
              <a:endParaRPr sz="1677" dirty="0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3310936" y="5347580"/>
              <a:ext cx="347943" cy="273925"/>
            </a:xfrm>
            <a:prstGeom prst="rect">
              <a:avLst/>
            </a:prstGeom>
          </p:spPr>
          <p:txBody>
            <a:bodyPr vert="horz" wrap="square" lIns="0" tIns="15688" rIns="0" bIns="0" rtlCol="0">
              <a:spAutoFit/>
            </a:bodyPr>
            <a:lstStyle/>
            <a:p>
              <a:pPr marL="33619">
                <a:spcBef>
                  <a:spcPts val="124"/>
                </a:spcBef>
              </a:pPr>
              <a:r>
                <a:rPr sz="1677" spc="-22" dirty="0">
                  <a:latin typeface="Times New Roman"/>
                  <a:cs typeface="Times New Roman"/>
                </a:rPr>
                <a:t>10</a:t>
              </a:r>
              <a:r>
                <a:rPr sz="1456" spc="-33" baseline="42929" dirty="0">
                  <a:latin typeface="Times New Roman"/>
                  <a:cs typeface="Times New Roman"/>
                </a:rPr>
                <a:t>9</a:t>
              </a:r>
              <a:endParaRPr sz="1456" baseline="42929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381" y="5356238"/>
              <a:ext cx="606238" cy="0"/>
            </a:xfrm>
            <a:custGeom>
              <a:avLst/>
              <a:gdLst/>
              <a:ahLst/>
              <a:cxnLst/>
              <a:rect l="l" t="t" r="r" b="b"/>
              <a:pathLst>
                <a:path w="687070">
                  <a:moveTo>
                    <a:pt x="0" y="0"/>
                  </a:moveTo>
                  <a:lnTo>
                    <a:pt x="687005" y="0"/>
                  </a:lnTo>
                </a:path>
              </a:pathLst>
            </a:custGeom>
            <a:ln w="12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1E6FD24-C023-92B6-7852-93CCF5048A9D}"/>
                </a:ext>
              </a:extLst>
            </p:cNvPr>
            <p:cNvSpPr txBox="1"/>
            <p:nvPr/>
          </p:nvSpPr>
          <p:spPr>
            <a:xfrm>
              <a:off x="4572000" y="5206828"/>
              <a:ext cx="1853952" cy="350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3619">
                <a:spcBef>
                  <a:spcPts val="1169"/>
                </a:spcBef>
              </a:pPr>
              <a:r>
                <a:rPr lang="en-US" sz="1680" dirty="0">
                  <a:latin typeface="Times New Roman"/>
                  <a:cs typeface="Times New Roman"/>
                </a:rPr>
                <a:t>i.e.,</a:t>
              </a:r>
              <a:r>
                <a:rPr lang="en-US" sz="1680" spc="57" dirty="0">
                  <a:latin typeface="Times New Roman"/>
                  <a:cs typeface="Times New Roman"/>
                </a:rPr>
                <a:t> </a:t>
              </a:r>
              <a:r>
                <a:rPr lang="en-US" sz="1680" spc="-79" dirty="0">
                  <a:latin typeface="Times New Roman"/>
                  <a:cs typeface="Times New Roman"/>
                </a:rPr>
                <a:t>23,</a:t>
              </a:r>
              <a:r>
                <a:rPr lang="en-US" sz="1680" spc="-207" dirty="0">
                  <a:latin typeface="Times New Roman"/>
                  <a:cs typeface="Times New Roman"/>
                </a:rPr>
                <a:t> </a:t>
              </a:r>
              <a:r>
                <a:rPr lang="en-US" sz="1680" spc="-9" dirty="0">
                  <a:latin typeface="Times New Roman"/>
                  <a:cs typeface="Times New Roman"/>
                </a:rPr>
                <a:t>000</a:t>
              </a:r>
              <a:r>
                <a:rPr lang="en-US" sz="1680" i="1" spc="-9" dirty="0">
                  <a:latin typeface="Times New Roman"/>
                  <a:cs typeface="Times New Roman"/>
                </a:rPr>
                <a:t>FIT</a:t>
              </a:r>
              <a:endParaRPr lang="en-US" sz="1680" dirty="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Measuring Performance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53554"/>
            <a:ext cx="8270875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Typical performance metrics: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Response time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Throughput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Speedup of X relative to 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Execution </a:t>
            </a:r>
            <a:r>
              <a:rPr lang="en-US" sz="1800" dirty="0" err="1"/>
              <a:t>time</a:t>
            </a:r>
            <a:r>
              <a:rPr lang="en-US" sz="1800" baseline="-25000" dirty="0" err="1"/>
              <a:t>Y</a:t>
            </a:r>
            <a:r>
              <a:rPr lang="en-US" sz="1800" dirty="0"/>
              <a:t> / Execution </a:t>
            </a:r>
            <a:r>
              <a:rPr lang="en-US" sz="1800" dirty="0" err="1"/>
              <a:t>time</a:t>
            </a:r>
            <a:r>
              <a:rPr lang="en-US" sz="1800" baseline="-25000" dirty="0" err="1"/>
              <a:t>X</a:t>
            </a:r>
            <a:endParaRPr lang="en-US" sz="1800" baseline="-250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000" dirty="0"/>
              <a:t>Execution time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Wall clock time:  includes all system overheads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CPU time:  only computation time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000" dirty="0"/>
              <a:t>Benchmarks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Kernels (e.g. matrix multiply)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Toy programs (e.g. sorting)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Synthetic benchmarks (e.g. Dhrystone)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Benchmark suites (e.g. SPEC06fp, TPC-C)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7635895" y="1138773"/>
            <a:ext cx="2646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Measuring Performance</a:t>
            </a:r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157863"/>
            <a:ext cx="7786678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Comparing</a:t>
            </a:r>
            <a:r>
              <a:rPr sz="3000" spc="22" dirty="0"/>
              <a:t> </a:t>
            </a:r>
            <a:r>
              <a:rPr sz="3000" dirty="0"/>
              <a:t>performance</a:t>
            </a:r>
            <a:r>
              <a:rPr sz="3000" spc="13" dirty="0"/>
              <a:t> </a:t>
            </a:r>
            <a:r>
              <a:rPr sz="3000" dirty="0"/>
              <a:t>of</a:t>
            </a:r>
            <a:r>
              <a:rPr sz="3000" spc="13" dirty="0"/>
              <a:t> </a:t>
            </a:r>
            <a:r>
              <a:rPr sz="3000" dirty="0"/>
              <a:t>two</a:t>
            </a:r>
            <a:r>
              <a:rPr sz="3000" spc="18" dirty="0"/>
              <a:t> </a:t>
            </a:r>
            <a:r>
              <a:rPr sz="3000" spc="-9" dirty="0"/>
              <a:t>machines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300331"/>
            <a:ext cx="7314610" cy="298135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68407" indent="-457200">
              <a:spcBef>
                <a:spcPts val="88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Definition:</a:t>
            </a:r>
            <a:endParaRPr lang="en-US" sz="2800" spc="-9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811307" lvl="1" indent="-342900">
              <a:spcBef>
                <a:spcPts val="88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Performance is the inverse of execution time</a:t>
            </a:r>
          </a:p>
          <a:p>
            <a:pPr marL="11207">
              <a:spcBef>
                <a:spcPts val="88"/>
              </a:spcBef>
              <a:buSzPct val="120000"/>
              <a:tabLst>
                <a:tab pos="279602" algn="l"/>
              </a:tabLst>
            </a:pPr>
            <a:endParaRPr lang="en-US" sz="2400" spc="-9" dirty="0">
              <a:latin typeface="+mn-lt"/>
              <a:cs typeface="Calibri"/>
            </a:endParaRPr>
          </a:p>
          <a:p>
            <a:pPr marL="11207">
              <a:spcBef>
                <a:spcPts val="88"/>
              </a:spcBef>
              <a:buSzPct val="120000"/>
              <a:tabLst>
                <a:tab pos="279602" algn="l"/>
              </a:tabLst>
            </a:pPr>
            <a:endParaRPr lang="en-US" sz="2800" spc="-9" dirty="0">
              <a:latin typeface="+mn-lt"/>
              <a:cs typeface="Calibri"/>
            </a:endParaRPr>
          </a:p>
          <a:p>
            <a:pPr marL="354107" indent="-342900">
              <a:spcBef>
                <a:spcPts val="88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endParaRPr lang="en-US" sz="2800" spc="-9" dirty="0">
              <a:latin typeface="+mn-lt"/>
              <a:cs typeface="Calibri"/>
            </a:endParaRPr>
          </a:p>
          <a:p>
            <a:pPr marL="354107" indent="-342900">
              <a:spcBef>
                <a:spcPts val="88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endParaRPr lang="en-US" sz="2800" spc="-9" dirty="0">
              <a:latin typeface="+mn-lt"/>
              <a:cs typeface="Calibri"/>
            </a:endParaRPr>
          </a:p>
          <a:p>
            <a:pPr marL="468407" indent="-457200">
              <a:spcBef>
                <a:spcPts val="88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lang="en-US" sz="2800" spc="-9" dirty="0">
                <a:solidFill>
                  <a:srgbClr val="003399"/>
                </a:solidFill>
                <a:latin typeface="+mn-lt"/>
                <a:cs typeface="Calibri"/>
              </a:rPr>
              <a:t>Problem: How to measure execution time?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099F9742-7E3C-C83E-76A8-53F227D956BC}"/>
                  </a:ext>
                </a:extLst>
              </p:cNvPr>
              <p:cNvSpPr txBox="1"/>
              <p:nvPr/>
            </p:nvSpPr>
            <p:spPr bwMode="auto">
              <a:xfrm>
                <a:off x="1775891" y="2385792"/>
                <a:ext cx="5604421" cy="827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𝑃𝑒𝑟𝑓𝑜𝑟𝑚𝑎𝑛𝑐𝑒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𝐸𝑥𝑒𝑐𝑢𝑡𝑖𝑜𝑛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𝑇𝑖𝑚𝑒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099F9742-7E3C-C83E-76A8-53F227D9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5891" y="2385792"/>
                <a:ext cx="5604421" cy="8271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What</a:t>
            </a:r>
            <a:r>
              <a:rPr spc="4" dirty="0"/>
              <a:t> </a:t>
            </a:r>
            <a:r>
              <a:rPr dirty="0"/>
              <a:t>is </a:t>
            </a:r>
            <a:r>
              <a:rPr spc="-9" dirty="0"/>
              <a:t>time?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44" y="908720"/>
            <a:ext cx="8352928" cy="4885734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468406" indent="-457200">
              <a:spcBef>
                <a:spcPts val="785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79041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Unix</a:t>
            </a:r>
            <a:r>
              <a:rPr sz="28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172" dirty="0">
                <a:solidFill>
                  <a:srgbClr val="003399"/>
                </a:solidFill>
                <a:latin typeface="+mn-lt"/>
                <a:cs typeface="Arial MT"/>
              </a:rPr>
              <a:t>time</a:t>
            </a:r>
            <a:r>
              <a:rPr sz="2800" spc="-185" dirty="0">
                <a:solidFill>
                  <a:srgbClr val="003399"/>
                </a:solidFill>
                <a:latin typeface="+mn-l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command</a:t>
            </a:r>
            <a:r>
              <a:rPr sz="2800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example: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40975">
              <a:spcBef>
                <a:spcPts val="609"/>
              </a:spcBef>
              <a:spcAft>
                <a:spcPts val="1800"/>
              </a:spcAft>
            </a:pPr>
            <a:r>
              <a:rPr lang="en-US" sz="2294" dirty="0">
                <a:latin typeface="+mn-lt"/>
                <a:cs typeface="Calibri"/>
              </a:rPr>
              <a:t>	     </a:t>
            </a:r>
            <a:r>
              <a:rPr sz="2294" dirty="0">
                <a:latin typeface="+mn-lt"/>
                <a:cs typeface="Calibri"/>
              </a:rPr>
              <a:t>90.7u</a:t>
            </a:r>
            <a:r>
              <a:rPr sz="2294" spc="-97" dirty="0">
                <a:latin typeface="+mn-lt"/>
                <a:cs typeface="Calibri"/>
              </a:rPr>
              <a:t> </a:t>
            </a:r>
            <a:r>
              <a:rPr sz="2294" dirty="0">
                <a:latin typeface="+mn-lt"/>
                <a:cs typeface="Calibri"/>
              </a:rPr>
              <a:t>12.9s</a:t>
            </a:r>
            <a:r>
              <a:rPr sz="2294" spc="-97" dirty="0">
                <a:latin typeface="+mn-lt"/>
                <a:cs typeface="Calibri"/>
              </a:rPr>
              <a:t> </a:t>
            </a:r>
            <a:r>
              <a:rPr sz="2294" dirty="0">
                <a:latin typeface="+mn-lt"/>
                <a:cs typeface="Calibri"/>
              </a:rPr>
              <a:t>2:39</a:t>
            </a:r>
            <a:r>
              <a:rPr sz="2294" spc="-97" dirty="0">
                <a:latin typeface="+mn-lt"/>
                <a:cs typeface="Calibri"/>
              </a:rPr>
              <a:t> </a:t>
            </a:r>
            <a:r>
              <a:rPr sz="2294" spc="-22" dirty="0">
                <a:latin typeface="+mn-lt"/>
                <a:cs typeface="Calibri"/>
              </a:rPr>
              <a:t>65%</a:t>
            </a:r>
            <a:endParaRPr sz="2294" dirty="0">
              <a:latin typeface="+mn-lt"/>
              <a:cs typeface="Calibri"/>
            </a:endParaRPr>
          </a:p>
          <a:p>
            <a:pPr marL="783875" marR="540152" lvl="1" indent="-342900">
              <a:spcBef>
                <a:spcPts val="732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used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90.7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(user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22" dirty="0">
                <a:solidFill>
                  <a:srgbClr val="0033CC"/>
                </a:solidFill>
                <a:latin typeface="+mn-lt"/>
                <a:cs typeface="Calibri"/>
              </a:rPr>
              <a:t>CPU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endParaRPr lang="en-US" sz="2200" spc="-9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83875" marR="540152" lvl="1" indent="-342900">
              <a:spcBef>
                <a:spcPts val="732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system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used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it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12.9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(system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endParaRPr lang="en-US" sz="22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83875" marR="540152" lvl="1" indent="-342900">
              <a:spcBef>
                <a:spcPts val="732"/>
              </a:spcBef>
              <a:spcAft>
                <a:spcPts val="24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Elapsed</a:t>
            </a:r>
            <a:r>
              <a:rPr sz="2200" spc="-10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time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(wall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clock</a:t>
            </a:r>
            <a:r>
              <a:rPr sz="2200" spc="-10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r>
              <a:rPr sz="220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from</a:t>
            </a:r>
            <a:r>
              <a:rPr sz="2200" spc="-11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user's</a:t>
            </a:r>
            <a:r>
              <a:rPr sz="220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request </a:t>
            </a:r>
            <a:br>
              <a:rPr lang="en-US" sz="2200" spc="-9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completion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task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was</a:t>
            </a:r>
            <a:r>
              <a:rPr lang="en-US" sz="2200" dirty="0">
                <a:solidFill>
                  <a:srgbClr val="0033CC"/>
                </a:solidFill>
                <a:latin typeface="+mn-lt"/>
                <a:cs typeface="Calibri"/>
              </a:rPr>
              <a:t>: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200" spc="-84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2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minutes,</a:t>
            </a:r>
            <a:r>
              <a:rPr sz="22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39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(159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seconds)</a:t>
            </a:r>
            <a:endParaRPr lang="en-US" sz="2200" spc="-9" dirty="0">
              <a:latin typeface="+mn-lt"/>
              <a:cs typeface="Calibri"/>
            </a:endParaRPr>
          </a:p>
          <a:p>
            <a:pPr marL="783875" marR="540152" lvl="1" indent="-342900">
              <a:lnSpc>
                <a:spcPts val="2480"/>
              </a:lnSpc>
              <a:spcBef>
                <a:spcPts val="732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(90.7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+</a:t>
            </a:r>
            <a:r>
              <a:rPr sz="22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12.9)</a:t>
            </a:r>
            <a:r>
              <a:rPr lang="en-US" sz="2200" spc="-18" dirty="0">
                <a:solidFill>
                  <a:srgbClr val="0033CC"/>
                </a:solidFill>
                <a:latin typeface="+mn-lt"/>
                <a:cs typeface="Calibri"/>
              </a:rPr>
              <a:t> /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159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=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22" dirty="0">
                <a:solidFill>
                  <a:srgbClr val="0033CC"/>
                </a:solidFill>
                <a:latin typeface="+mn-lt"/>
                <a:cs typeface="Calibri"/>
              </a:rPr>
              <a:t>65%</a:t>
            </a:r>
            <a:endParaRPr sz="22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1087029" marR="463388" indent="-215164">
              <a:spcBef>
                <a:spcPts val="666"/>
              </a:spcBef>
            </a:pPr>
            <a:r>
              <a:rPr sz="1853" dirty="0">
                <a:latin typeface="+mn-lt"/>
                <a:cs typeface="Calibri"/>
              </a:rPr>
              <a:t>»</a:t>
            </a:r>
            <a:r>
              <a:rPr sz="1853" spc="349" dirty="0"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rest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was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spent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waiting</a:t>
            </a:r>
            <a:r>
              <a:rPr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I/O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or</a:t>
            </a:r>
            <a:r>
              <a:rPr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running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other</a:t>
            </a:r>
            <a:r>
              <a:rPr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programs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0FF2-CA60-CE80-EE10-F8A2D8CC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27FDF7-4854-7C8B-F837-B48B751F1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What</a:t>
            </a:r>
            <a:r>
              <a:rPr spc="4" dirty="0"/>
              <a:t> </a:t>
            </a:r>
            <a:r>
              <a:rPr dirty="0"/>
              <a:t>is </a:t>
            </a:r>
            <a:r>
              <a:rPr spc="-9" dirty="0"/>
              <a:t>time?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49085E-CE71-CEEF-A965-27E4A36AA327}"/>
              </a:ext>
            </a:extLst>
          </p:cNvPr>
          <p:cNvSpPr txBox="1"/>
          <p:nvPr/>
        </p:nvSpPr>
        <p:spPr>
          <a:xfrm>
            <a:off x="467544" y="908720"/>
            <a:ext cx="8352928" cy="5725323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468406" indent="-457200">
              <a:spcBef>
                <a:spcPts val="785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79041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Unix</a:t>
            </a:r>
            <a:r>
              <a:rPr sz="28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172" dirty="0">
                <a:solidFill>
                  <a:srgbClr val="003399"/>
                </a:solidFill>
                <a:latin typeface="+mn-lt"/>
                <a:cs typeface="Arial MT"/>
              </a:rPr>
              <a:t>time</a:t>
            </a:r>
            <a:r>
              <a:rPr sz="2800" spc="-185" dirty="0">
                <a:solidFill>
                  <a:srgbClr val="003399"/>
                </a:solidFill>
                <a:latin typeface="+mn-l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command</a:t>
            </a:r>
            <a:r>
              <a:rPr sz="2800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example: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1355375" lvl="2">
              <a:spcBef>
                <a:spcPts val="609"/>
              </a:spcBef>
              <a:spcAft>
                <a:spcPts val="1800"/>
              </a:spcAf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real 2m39.000s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 1m30.700s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sys  0m12.900s</a:t>
            </a:r>
          </a:p>
          <a:p>
            <a:pPr marL="783875" indent="-342900">
              <a:spcBef>
                <a:spcPts val="609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u="sng" dirty="0">
                <a:solidFill>
                  <a:srgbClr val="0033CC"/>
                </a:solidFill>
                <a:latin typeface="+mn-lt"/>
                <a:cs typeface="Calibri"/>
              </a:rPr>
              <a:t>user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used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90.7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(user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22" dirty="0">
                <a:solidFill>
                  <a:srgbClr val="0033CC"/>
                </a:solidFill>
                <a:latin typeface="+mn-lt"/>
                <a:cs typeface="Calibri"/>
              </a:rPr>
              <a:t>CPU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endParaRPr lang="en-US" sz="2200" spc="-9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83875" marR="540152" lvl="1" indent="-342900">
              <a:spcBef>
                <a:spcPts val="732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u="sng" spc="-9" dirty="0">
                <a:solidFill>
                  <a:srgbClr val="0033CC"/>
                </a:solidFill>
                <a:latin typeface="+mn-lt"/>
                <a:cs typeface="Calibri"/>
              </a:rPr>
              <a:t>system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used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it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12.9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(system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endParaRPr lang="en-US" sz="22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83875" marR="540152" lvl="1" indent="-342900">
              <a:spcBef>
                <a:spcPts val="732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lang="en-US" sz="2200" u="sng" spc="-9" dirty="0">
                <a:solidFill>
                  <a:srgbClr val="0033CC"/>
                </a:solidFill>
                <a:latin typeface="+mn-lt"/>
                <a:cs typeface="Calibri"/>
              </a:rPr>
              <a:t>Real</a:t>
            </a:r>
            <a:r>
              <a:rPr lang="en-US" sz="2200" spc="-9" dirty="0">
                <a:solidFill>
                  <a:srgbClr val="0033CC"/>
                </a:solidFill>
                <a:latin typeface="+mn-lt"/>
                <a:cs typeface="Calibri"/>
              </a:rPr>
              <a:t>: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Elapsed</a:t>
            </a:r>
            <a:r>
              <a:rPr sz="2200" spc="-10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time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(wall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clock</a:t>
            </a:r>
            <a:r>
              <a:rPr sz="2200" spc="-10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time)</a:t>
            </a:r>
            <a:r>
              <a:rPr sz="220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from</a:t>
            </a:r>
            <a:r>
              <a:rPr sz="2200" spc="-11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200" spc="-97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user's</a:t>
            </a:r>
            <a:r>
              <a:rPr sz="220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request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completion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task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was</a:t>
            </a:r>
            <a:r>
              <a:rPr lang="en-US" sz="2200" dirty="0">
                <a:solidFill>
                  <a:srgbClr val="0033CC"/>
                </a:solidFill>
                <a:latin typeface="+mn-lt"/>
                <a:cs typeface="Calibri"/>
              </a:rPr>
              <a:t>: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200" spc="-84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2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minutes,</a:t>
            </a:r>
            <a:r>
              <a:rPr sz="22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39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(159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seconds)</a:t>
            </a:r>
            <a:endParaRPr lang="en-US" sz="2200" spc="-9" dirty="0">
              <a:latin typeface="+mn-lt"/>
              <a:cs typeface="Calibri"/>
            </a:endParaRPr>
          </a:p>
          <a:p>
            <a:pPr marL="783875" marR="540152" lvl="1" indent="-342900">
              <a:lnSpc>
                <a:spcPts val="2480"/>
              </a:lnSpc>
              <a:spcBef>
                <a:spcPts val="732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(90.7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+</a:t>
            </a:r>
            <a:r>
              <a:rPr sz="22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12.9)</a:t>
            </a:r>
            <a:r>
              <a:rPr lang="en-US" sz="2200" spc="-18" dirty="0">
                <a:solidFill>
                  <a:srgbClr val="0033CC"/>
                </a:solidFill>
                <a:latin typeface="+mn-lt"/>
                <a:cs typeface="Calibri"/>
              </a:rPr>
              <a:t> /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159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=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22" dirty="0">
                <a:solidFill>
                  <a:srgbClr val="0033CC"/>
                </a:solidFill>
                <a:latin typeface="+mn-lt"/>
                <a:cs typeface="Calibri"/>
              </a:rPr>
              <a:t>65%</a:t>
            </a:r>
            <a:endParaRPr lang="en-US" sz="2200" spc="-22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898175" marR="540152" lvl="2">
              <a:lnSpc>
                <a:spcPts val="2480"/>
              </a:lnSpc>
              <a:spcBef>
                <a:spcPts val="732"/>
              </a:spcBef>
              <a:buSzPct val="120000"/>
              <a:tabLst>
                <a:tab pos="656139" algn="l"/>
              </a:tabLst>
            </a:pPr>
            <a:r>
              <a:rPr lang="en-US" sz="2000" dirty="0">
                <a:latin typeface="+mn-lt"/>
                <a:cs typeface="Calibri"/>
              </a:rPr>
              <a:t>»</a:t>
            </a:r>
            <a:r>
              <a:rPr lang="en-US" sz="2000" spc="349" dirty="0"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lang="en-US"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rest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lang="en-US"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lang="en-US"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was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spent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waiting</a:t>
            </a:r>
            <a:r>
              <a:rPr lang="en-US"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I/O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 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or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running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other</a:t>
            </a:r>
            <a:r>
              <a:rPr lang="en-US" sz="2000" spc="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programs</a:t>
            </a:r>
            <a:endParaRPr lang="en-US"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540152" lvl="1" indent="-342900">
              <a:lnSpc>
                <a:spcPts val="2480"/>
              </a:lnSpc>
              <a:spcBef>
                <a:spcPts val="732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endParaRPr sz="2200" dirty="0">
              <a:solidFill>
                <a:srgbClr val="0033CC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763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65827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Time</a:t>
            </a:r>
            <a:r>
              <a:rPr spc="9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658" y="1124744"/>
            <a:ext cx="8085797" cy="2301988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468407" indent="-457200">
              <a:spcBef>
                <a:spcPts val="671"/>
              </a:spcBef>
              <a:spcAft>
                <a:spcPts val="600"/>
              </a:spcAft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Usual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measurements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time: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4483" lvl="1" indent="-342900">
              <a:spcBef>
                <a:spcPts val="613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lang="en-US" sz="2400" b="1" dirty="0">
                <a:solidFill>
                  <a:srgbClr val="0033CC"/>
                </a:solidFill>
                <a:latin typeface="+mn-lt"/>
                <a:cs typeface="Calibri"/>
              </a:rPr>
              <a:t>S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ystem</a:t>
            </a:r>
            <a:r>
              <a:rPr sz="2400" b="1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performance</a:t>
            </a:r>
            <a:r>
              <a:rPr sz="2400" b="1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measures the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wall</a:t>
            </a:r>
            <a:r>
              <a:rPr sz="2400" b="1" spc="-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clock</a:t>
            </a:r>
            <a:r>
              <a:rPr sz="2400" b="1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time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on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unloaded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(single</a:t>
            </a: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user)</a:t>
            </a:r>
            <a:r>
              <a:rPr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system</a:t>
            </a:r>
            <a:endParaRPr lang="en-US" sz="2400" spc="-9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83875" marR="4483" lvl="1" indent="-342900">
              <a:spcBef>
                <a:spcPts val="613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400" b="1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performance</a:t>
            </a:r>
            <a:r>
              <a:rPr sz="2400" b="1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measures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user</a:t>
            </a:r>
            <a:r>
              <a:rPr sz="2400" b="1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CPU</a:t>
            </a:r>
            <a:r>
              <a:rPr sz="2400" b="1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+mn-lt"/>
                <a:cs typeface="Calibri"/>
              </a:rPr>
              <a:t>time</a:t>
            </a:r>
            <a:r>
              <a:rPr sz="2400" b="1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on</a:t>
            </a:r>
            <a:r>
              <a:rPr sz="2400" spc="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unloaded</a:t>
            </a:r>
            <a:r>
              <a:rPr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system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44624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Reproducibility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8188" y="1182878"/>
            <a:ext cx="7297831" cy="3398250"/>
          </a:xfrm>
          <a:prstGeom prst="rect">
            <a:avLst/>
          </a:prstGeom>
        </p:spPr>
        <p:txBody>
          <a:bodyPr vert="horz" wrap="square" lIns="0" tIns="12688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1206" marR="4483" indent="0">
              <a:spcBef>
                <a:spcPts val="415"/>
              </a:spcBef>
              <a:spcAft>
                <a:spcPts val="1200"/>
              </a:spcAft>
              <a:buNone/>
              <a:tabLst>
                <a:tab pos="280162" algn="l"/>
              </a:tabLst>
            </a:pPr>
            <a:r>
              <a:rPr sz="2800" spc="-22" dirty="0"/>
              <a:t>Benchmarking</a:t>
            </a:r>
            <a:r>
              <a:rPr sz="2800" spc="-66" dirty="0"/>
              <a:t> </a:t>
            </a:r>
            <a:r>
              <a:rPr sz="2800" dirty="0"/>
              <a:t>is</a:t>
            </a:r>
            <a:r>
              <a:rPr sz="2800" spc="-62" dirty="0"/>
              <a:t> </a:t>
            </a:r>
            <a:r>
              <a:rPr sz="2800" dirty="0"/>
              <a:t>a</a:t>
            </a:r>
            <a:r>
              <a:rPr sz="2800" spc="-57" dirty="0"/>
              <a:t> </a:t>
            </a:r>
            <a:r>
              <a:rPr sz="2800" spc="-18" dirty="0"/>
              <a:t>laboratory</a:t>
            </a:r>
            <a:r>
              <a:rPr sz="2800" spc="-62" dirty="0"/>
              <a:t> </a:t>
            </a:r>
            <a:r>
              <a:rPr sz="2800" spc="-18" dirty="0"/>
              <a:t>experiment,</a:t>
            </a:r>
            <a:r>
              <a:rPr sz="2800" spc="-49" dirty="0"/>
              <a:t> </a:t>
            </a:r>
            <a:r>
              <a:rPr sz="2800" dirty="0"/>
              <a:t>and</a:t>
            </a:r>
            <a:r>
              <a:rPr sz="2800" spc="-62" dirty="0"/>
              <a:t> </a:t>
            </a:r>
            <a:r>
              <a:rPr sz="2800" dirty="0"/>
              <a:t>needs</a:t>
            </a:r>
            <a:r>
              <a:rPr sz="2800" spc="-57" dirty="0"/>
              <a:t> </a:t>
            </a:r>
            <a:r>
              <a:rPr sz="2800" spc="-22" dirty="0"/>
              <a:t>to </a:t>
            </a:r>
            <a:r>
              <a:rPr sz="2800" dirty="0"/>
              <a:t>be</a:t>
            </a:r>
            <a:r>
              <a:rPr sz="2800" spc="-53" dirty="0"/>
              <a:t> </a:t>
            </a:r>
            <a:r>
              <a:rPr sz="2800" spc="-18" dirty="0"/>
              <a:t>documented</a:t>
            </a:r>
            <a:r>
              <a:rPr sz="2800" spc="-57" dirty="0"/>
              <a:t> </a:t>
            </a:r>
            <a:r>
              <a:rPr sz="2800" dirty="0"/>
              <a:t>as</a:t>
            </a:r>
            <a:r>
              <a:rPr sz="2800" spc="-49" dirty="0"/>
              <a:t> </a:t>
            </a:r>
            <a:r>
              <a:rPr sz="2800" dirty="0"/>
              <a:t>fully</a:t>
            </a:r>
            <a:r>
              <a:rPr sz="2800" spc="-57" dirty="0"/>
              <a:t> </a:t>
            </a:r>
            <a:r>
              <a:rPr sz="2800" dirty="0"/>
              <a:t>as</a:t>
            </a:r>
            <a:r>
              <a:rPr sz="2800" spc="-49" dirty="0"/>
              <a:t> </a:t>
            </a:r>
            <a:r>
              <a:rPr sz="2800" dirty="0"/>
              <a:t>a</a:t>
            </a:r>
            <a:r>
              <a:rPr sz="2800" spc="-57" dirty="0"/>
              <a:t> </a:t>
            </a:r>
            <a:r>
              <a:rPr sz="2800" spc="-31" dirty="0"/>
              <a:t>well-</a:t>
            </a:r>
            <a:r>
              <a:rPr sz="2800" dirty="0"/>
              <a:t>run</a:t>
            </a:r>
            <a:r>
              <a:rPr sz="2800" spc="-53" dirty="0"/>
              <a:t> </a:t>
            </a:r>
            <a:r>
              <a:rPr sz="2800" spc="-9" dirty="0"/>
              <a:t>chemistry experiment</a:t>
            </a:r>
          </a:p>
          <a:p>
            <a:pPr marL="783875" lvl="1" indent="-342900">
              <a:spcBef>
                <a:spcPts val="512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cs typeface="Calibri"/>
              </a:rPr>
              <a:t>Identify</a:t>
            </a:r>
            <a:r>
              <a:rPr sz="2400" spc="9" dirty="0">
                <a:cs typeface="Calibri"/>
              </a:rPr>
              <a:t> </a:t>
            </a:r>
            <a:r>
              <a:rPr sz="2400" dirty="0">
                <a:cs typeface="Calibri"/>
              </a:rPr>
              <a:t>each</a:t>
            </a:r>
            <a:r>
              <a:rPr sz="2400" spc="18" dirty="0">
                <a:cs typeface="Calibri"/>
              </a:rPr>
              <a:t> </a:t>
            </a:r>
            <a:r>
              <a:rPr sz="2400" dirty="0">
                <a:cs typeface="Calibri"/>
              </a:rPr>
              <a:t>variable</a:t>
            </a:r>
            <a:r>
              <a:rPr sz="2400" spc="18" dirty="0">
                <a:cs typeface="Calibri"/>
              </a:rPr>
              <a:t> </a:t>
            </a:r>
            <a:r>
              <a:rPr sz="2400" dirty="0">
                <a:cs typeface="Calibri"/>
              </a:rPr>
              <a:t>hardware</a:t>
            </a:r>
            <a:r>
              <a:rPr sz="2400" spc="18" dirty="0">
                <a:cs typeface="Calibri"/>
              </a:rPr>
              <a:t> </a:t>
            </a:r>
            <a:r>
              <a:rPr sz="2400" spc="-9" dirty="0">
                <a:cs typeface="Calibri"/>
              </a:rPr>
              <a:t>component</a:t>
            </a:r>
            <a:endParaRPr sz="2400" dirty="0">
              <a:cs typeface="Calibri"/>
            </a:endParaRPr>
          </a:p>
          <a:p>
            <a:pPr marL="783875" lvl="1" indent="-342900">
              <a:spcBef>
                <a:spcPts val="468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cs typeface="Calibri"/>
              </a:rPr>
              <a:t>Identify</a:t>
            </a:r>
            <a:r>
              <a:rPr sz="2400" spc="18" dirty="0">
                <a:cs typeface="Calibri"/>
              </a:rPr>
              <a:t> </a:t>
            </a:r>
            <a:r>
              <a:rPr sz="2400" dirty="0">
                <a:cs typeface="Calibri"/>
              </a:rPr>
              <a:t>compiler</a:t>
            </a:r>
            <a:r>
              <a:rPr sz="2400" spc="18" dirty="0">
                <a:cs typeface="Calibri"/>
              </a:rPr>
              <a:t> </a:t>
            </a:r>
            <a:r>
              <a:rPr sz="2400" dirty="0">
                <a:cs typeface="Calibri"/>
              </a:rPr>
              <a:t>flags</a:t>
            </a:r>
            <a:r>
              <a:rPr sz="2400" spc="13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31" dirty="0">
                <a:cs typeface="Calibri"/>
              </a:rPr>
              <a:t> </a:t>
            </a:r>
            <a:r>
              <a:rPr sz="2400" dirty="0">
                <a:cs typeface="Calibri"/>
              </a:rPr>
              <a:t>measure</a:t>
            </a:r>
            <a:r>
              <a:rPr sz="2400" spc="26" dirty="0">
                <a:cs typeface="Calibri"/>
              </a:rPr>
              <a:t> </a:t>
            </a:r>
            <a:r>
              <a:rPr sz="2400" spc="-9" dirty="0">
                <a:cs typeface="Calibri"/>
              </a:rPr>
              <a:t>variability</a:t>
            </a:r>
            <a:endParaRPr sz="2400" dirty="0">
              <a:cs typeface="Calibri"/>
            </a:endParaRPr>
          </a:p>
          <a:p>
            <a:pPr marL="783875" marR="245422" lvl="1" indent="-342900">
              <a:spcBef>
                <a:spcPts val="547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400" dirty="0">
                <a:cs typeface="Calibri"/>
              </a:rPr>
              <a:t>Verify</a:t>
            </a:r>
            <a:r>
              <a:rPr sz="2400" spc="9" dirty="0">
                <a:cs typeface="Calibri"/>
              </a:rPr>
              <a:t> </a:t>
            </a:r>
            <a:r>
              <a:rPr sz="2400" dirty="0">
                <a:cs typeface="Calibri"/>
              </a:rPr>
              <a:t>reproducibility</a:t>
            </a:r>
            <a:r>
              <a:rPr sz="2400" spc="9" dirty="0">
                <a:cs typeface="Calibri"/>
              </a:rPr>
              <a:t> </a:t>
            </a:r>
            <a:r>
              <a:rPr sz="2400" dirty="0">
                <a:cs typeface="Calibri"/>
              </a:rPr>
              <a:t>and</a:t>
            </a:r>
            <a:r>
              <a:rPr sz="2400" spc="18" dirty="0">
                <a:cs typeface="Calibri"/>
              </a:rPr>
              <a:t> </a:t>
            </a:r>
            <a:r>
              <a:rPr sz="2400" dirty="0">
                <a:cs typeface="Calibri"/>
              </a:rPr>
              <a:t>provide</a:t>
            </a:r>
            <a:r>
              <a:rPr sz="2400" spc="22" dirty="0">
                <a:cs typeface="Calibri"/>
              </a:rPr>
              <a:t> </a:t>
            </a:r>
            <a:r>
              <a:rPr sz="2400" dirty="0">
                <a:cs typeface="Calibri"/>
              </a:rPr>
              <a:t>data</a:t>
            </a:r>
            <a:r>
              <a:rPr sz="2400" spc="13" dirty="0">
                <a:cs typeface="Calibri"/>
              </a:rPr>
              <a:t> </a:t>
            </a:r>
            <a:r>
              <a:rPr sz="2400" dirty="0">
                <a:cs typeface="Calibri"/>
              </a:rPr>
              <a:t>for</a:t>
            </a:r>
            <a:r>
              <a:rPr sz="2400" spc="4" dirty="0">
                <a:cs typeface="Calibri"/>
              </a:rPr>
              <a:t> </a:t>
            </a:r>
            <a:r>
              <a:rPr sz="2400" dirty="0">
                <a:cs typeface="Calibri"/>
              </a:rPr>
              <a:t>others</a:t>
            </a:r>
            <a:r>
              <a:rPr sz="2400" spc="9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13" dirty="0">
                <a:cs typeface="Calibri"/>
              </a:rPr>
              <a:t> </a:t>
            </a:r>
            <a:r>
              <a:rPr sz="2400" dirty="0">
                <a:cs typeface="Calibri"/>
              </a:rPr>
              <a:t>reproduce</a:t>
            </a:r>
            <a:r>
              <a:rPr sz="2400" spc="18" dirty="0">
                <a:cs typeface="Calibri"/>
              </a:rPr>
              <a:t> </a:t>
            </a:r>
            <a:r>
              <a:rPr sz="2400" spc="-22" dirty="0">
                <a:cs typeface="Calibri"/>
              </a:rPr>
              <a:t>the</a:t>
            </a:r>
            <a:r>
              <a:rPr lang="en-US" sz="2400" spc="-22" dirty="0">
                <a:cs typeface="Calibri"/>
              </a:rPr>
              <a:t> </a:t>
            </a:r>
            <a:r>
              <a:rPr sz="2400" dirty="0">
                <a:cs typeface="Calibri"/>
              </a:rPr>
              <a:t>benchmarking</a:t>
            </a:r>
            <a:r>
              <a:rPr sz="2400" spc="71" dirty="0">
                <a:cs typeface="Calibri"/>
              </a:rPr>
              <a:t> </a:t>
            </a:r>
            <a:r>
              <a:rPr sz="2400" spc="-9" dirty="0">
                <a:cs typeface="Calibri"/>
              </a:rPr>
              <a:t>results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44624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Reporting</a:t>
            </a:r>
            <a:r>
              <a:rPr spc="-9" dirty="0"/>
              <a:t> 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4" y="908720"/>
            <a:ext cx="7934105" cy="5331338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44825" marR="114866">
              <a:spcBef>
                <a:spcPts val="397"/>
              </a:spcBef>
              <a:spcAft>
                <a:spcPts val="1200"/>
              </a:spcAft>
              <a:tabLst>
                <a:tab pos="313781" algn="l"/>
              </a:tabLst>
            </a:pP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Example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performance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SPEC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benchmark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H&amp;P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Figure</a:t>
            </a:r>
            <a:r>
              <a:rPr sz="28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  <a:t>1.17</a:t>
            </a:r>
            <a:r>
              <a:rPr lang="en-US" sz="28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  <a:t>(5</a:t>
            </a:r>
            <a:r>
              <a:rPr lang="en-US" sz="2800" baseline="26143" dirty="0">
                <a:solidFill>
                  <a:srgbClr val="003399"/>
                </a:solidFill>
                <a:latin typeface="+mn-lt"/>
                <a:cs typeface="Calibri"/>
              </a:rPr>
              <a:t>th</a:t>
            </a:r>
            <a: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  <a:t>)</a:t>
            </a:r>
            <a:r>
              <a:rPr lang="en-US"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lang="en-US" sz="28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+mn-lt"/>
                <a:cs typeface="Calibri"/>
              </a:rPr>
              <a:t>Figure</a:t>
            </a:r>
            <a:r>
              <a:rPr lang="en-US"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1.19</a:t>
            </a:r>
            <a:r>
              <a:rPr sz="28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(6</a:t>
            </a:r>
            <a:r>
              <a:rPr sz="2800" spc="-13" baseline="26143" dirty="0">
                <a:solidFill>
                  <a:srgbClr val="003399"/>
                </a:solidFill>
                <a:latin typeface="+mn-lt"/>
                <a:cs typeface="Calibri"/>
              </a:rPr>
              <a:t>th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)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03145" indent="-285750">
              <a:spcBef>
                <a:spcPts val="388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Fig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1.17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Sun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Ultra5, AMD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Opteron,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Intel Itanium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44" dirty="0">
                <a:solidFill>
                  <a:srgbClr val="0033CC"/>
                </a:solidFill>
                <a:latin typeface="+mn-lt"/>
                <a:cs typeface="Calibri"/>
              </a:rPr>
              <a:t>2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303145" indent="-285750">
              <a:spcBef>
                <a:spcPts val="446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Fig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1.19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Sun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Ultra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Enterprise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2,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AMD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A10,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Intel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Xeon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E5-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2690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303145" marR="38102" indent="-285750">
              <a:spcBef>
                <a:spcPts val="737"/>
              </a:spcBef>
              <a:buSzPct val="120000"/>
              <a:buFont typeface="Arial" panose="020B0604020202020204" pitchFamily="34" charset="0"/>
              <a:buChar char="•"/>
              <a:tabLst>
                <a:tab pos="689759" algn="l"/>
              </a:tabLst>
            </a:pP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N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eed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look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on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SPEC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web</a:t>
            </a:r>
            <a:r>
              <a:rPr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site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all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parameters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400" spc="13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machines, including</a:t>
            </a:r>
            <a:endParaRPr lang="en-US"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914400" marR="477956" indent="-214313">
              <a:spcBef>
                <a:spcPts val="640"/>
              </a:spcBef>
            </a:pP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»</a:t>
            </a:r>
            <a:r>
              <a:rPr lang="en-US" sz="2000" spc="31" dirty="0">
                <a:solidFill>
                  <a:srgbClr val="003399"/>
                </a:solidFill>
                <a:latin typeface="+mn-lt"/>
                <a:cs typeface="Calibri"/>
              </a:rPr>
              <a:t> 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data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on</a:t>
            </a:r>
            <a:r>
              <a:rPr lang="en-US"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hardware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–</a:t>
            </a:r>
            <a: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CPU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(how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many,</a:t>
            </a:r>
            <a: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primary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secondary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caches),</a:t>
            </a:r>
            <a:r>
              <a:rPr lang="en-US" sz="2000" spc="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memory,</a:t>
            </a:r>
            <a:r>
              <a:rPr lang="en-US" sz="2000" spc="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18" dirty="0">
                <a:solidFill>
                  <a:srgbClr val="003399"/>
                </a:solidFill>
                <a:latin typeface="+mn-lt"/>
                <a:cs typeface="Calibri"/>
              </a:rPr>
              <a:t>disk</a:t>
            </a:r>
            <a:endParaRPr lang="en-US"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marR="83488" indent="-214313">
              <a:spcBef>
                <a:spcPts val="657"/>
              </a:spcBef>
              <a:spcAft>
                <a:spcPts val="1800"/>
              </a:spcAft>
            </a:pP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»</a:t>
            </a:r>
            <a:r>
              <a:rPr lang="en-US" sz="2000" spc="31" dirty="0">
                <a:solidFill>
                  <a:srgbClr val="003399"/>
                </a:solidFill>
                <a:latin typeface="+mn-lt"/>
                <a:cs typeface="Calibri"/>
              </a:rPr>
              <a:t> 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data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on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software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–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OS,</a:t>
            </a:r>
            <a: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compilers,</a:t>
            </a:r>
            <a: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file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system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type,</a:t>
            </a:r>
            <a: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9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lang="en-US" sz="2000" spc="1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compiler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flags</a:t>
            </a:r>
            <a:r>
              <a:rPr lang="en-US" sz="20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used</a:t>
            </a:r>
            <a:r>
              <a:rPr lang="en-US" sz="2000" spc="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dirty="0">
                <a:solidFill>
                  <a:srgbClr val="003399"/>
                </a:solidFill>
                <a:latin typeface="+mn-lt"/>
                <a:cs typeface="Calibri"/>
              </a:rPr>
              <a:t>(very</a:t>
            </a:r>
            <a:r>
              <a:rPr lang="en-US" sz="2000" spc="1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000" spc="-9" dirty="0">
                <a:solidFill>
                  <a:srgbClr val="003399"/>
                </a:solidFill>
                <a:latin typeface="+mn-lt"/>
                <a:cs typeface="Calibri"/>
              </a:rPr>
              <a:t>important!)</a:t>
            </a:r>
            <a:endParaRPr sz="1677" dirty="0">
              <a:latin typeface="+mn-lt"/>
              <a:cs typeface="Calibri"/>
            </a:endParaRPr>
          </a:p>
          <a:p>
            <a:pPr marL="387726" indent="-342900">
              <a:buSzPct val="120000"/>
              <a:buFont typeface="Arial" panose="020B0604020202020204" pitchFamily="34" charset="0"/>
              <a:buChar char="•"/>
              <a:tabLst>
                <a:tab pos="313221" algn="l"/>
              </a:tabLst>
            </a:pP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How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summarize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results?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84270" y="6357437"/>
            <a:ext cx="212351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9"/>
              </a:lnSpc>
            </a:pPr>
            <a:r>
              <a:rPr sz="1500" spc="-31" dirty="0">
                <a:latin typeface="Arial MT"/>
                <a:cs typeface="Arial MT"/>
              </a:rPr>
              <a:t>12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59" y="201706"/>
            <a:ext cx="8427079" cy="6454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8460" y="6368527"/>
            <a:ext cx="111106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00" i="1" dirty="0">
                <a:latin typeface="Arial"/>
                <a:cs typeface="Arial"/>
              </a:rPr>
              <a:t>(from</a:t>
            </a:r>
            <a:r>
              <a:rPr sz="1500" i="1" spc="18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5</a:t>
            </a:r>
            <a:r>
              <a:rPr sz="1456" i="1" baseline="25252" dirty="0">
                <a:latin typeface="Arial"/>
                <a:cs typeface="Arial"/>
              </a:rPr>
              <a:t>th</a:t>
            </a:r>
            <a:r>
              <a:rPr sz="1456" i="1" spc="251" baseline="25252" dirty="0">
                <a:latin typeface="Arial"/>
                <a:cs typeface="Arial"/>
              </a:rPr>
              <a:t> </a:t>
            </a:r>
            <a:r>
              <a:rPr sz="1500" i="1" spc="-22" dirty="0">
                <a:latin typeface="Arial"/>
                <a:cs typeface="Arial"/>
              </a:rPr>
              <a:t>ed)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A2F0F7-B9EB-87D4-7117-DDE2A64B11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330D6-6757-E765-25F2-EF23F5A87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60648"/>
            <a:ext cx="8424936" cy="60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589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Statistical</a:t>
            </a:r>
            <a:r>
              <a:rPr spc="40" dirty="0"/>
              <a:t> </a:t>
            </a:r>
            <a:r>
              <a:rPr spc="-9" dirty="0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802" y="1196752"/>
            <a:ext cx="7875650" cy="4225395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54106" marR="27456" indent="-342900">
              <a:spcBef>
                <a:spcPts val="397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“It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rare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indeed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when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advertisers,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politicians,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pop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economists,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drumbeaters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medical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programs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offer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statistical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argument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not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either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misleading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or downright</a:t>
            </a:r>
            <a:r>
              <a:rPr sz="24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deceptive.”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sz="24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Martin</a:t>
            </a:r>
            <a:r>
              <a:rPr sz="24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Gardner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279"/>
              </a:spcBef>
              <a:buSzPct val="120000"/>
              <a:buFont typeface="Wingdings" panose="05000000000000000000" pitchFamily="2" charset="2"/>
              <a:buChar char="§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4106" marR="91892" indent="-342900"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“...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mathematics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don't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understand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things,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just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get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used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them.”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John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von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Neumann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310"/>
              </a:spcBef>
              <a:buSzPct val="120000"/>
              <a:buFont typeface="Wingdings" panose="05000000000000000000" pitchFamily="2" charset="2"/>
              <a:buChar char="§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4106" marR="4483" indent="-342900"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“...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torture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your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data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long</a:t>
            </a:r>
            <a:r>
              <a:rPr sz="2400" spc="-10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enough,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they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will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tell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you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what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want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hear.”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James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L.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Mills,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M.D.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Statistical</a:t>
            </a:r>
            <a:r>
              <a:rPr spc="18" dirty="0"/>
              <a:t> </a:t>
            </a:r>
            <a:r>
              <a:rPr dirty="0"/>
              <a:t>reporting</a:t>
            </a:r>
            <a:r>
              <a:rPr spc="22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600" y="1159401"/>
            <a:ext cx="7530634" cy="4501847"/>
          </a:xfrm>
          <a:prstGeom prst="rect">
            <a:avLst/>
          </a:prstGeom>
        </p:spPr>
        <p:txBody>
          <a:bodyPr vert="horz" wrap="square" lIns="0" tIns="52107" rIns="0" bIns="0" rtlCol="0">
            <a:spAutoFit/>
          </a:bodyPr>
          <a:lstStyle/>
          <a:p>
            <a:pPr marL="468406" marR="478517" indent="-457200">
              <a:spcBef>
                <a:spcPts val="410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47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b="1" dirty="0">
                <a:solidFill>
                  <a:srgbClr val="003399"/>
                </a:solidFill>
                <a:latin typeface="+mn-lt"/>
                <a:cs typeface="Calibri"/>
              </a:rPr>
              <a:t>average</a:t>
            </a:r>
            <a:r>
              <a:rPr sz="2647" b="1" spc="-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execution</a:t>
            </a:r>
            <a:r>
              <a:rPr sz="2647" spc="-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647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647" spc="-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47" spc="-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b="1" spc="-9" dirty="0">
                <a:solidFill>
                  <a:srgbClr val="003399"/>
                </a:solidFill>
                <a:latin typeface="+mn-lt"/>
                <a:cs typeface="Calibri"/>
              </a:rPr>
              <a:t>arithmetic mean</a:t>
            </a:r>
            <a:r>
              <a:rPr sz="2647" spc="-9" dirty="0">
                <a:solidFill>
                  <a:srgbClr val="003399"/>
                </a:solidFill>
                <a:latin typeface="+mn-lt"/>
                <a:cs typeface="Calibri"/>
              </a:rPr>
              <a:t>:</a:t>
            </a:r>
            <a:endParaRPr sz="264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4483" indent="-342900">
              <a:spcBef>
                <a:spcPts val="781"/>
              </a:spcBef>
              <a:buSzPct val="120000"/>
              <a:buFontTx/>
              <a:buChar char="-"/>
            </a:pP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sum</a:t>
            </a:r>
            <a:r>
              <a:rPr sz="2294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94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18" dirty="0">
                <a:solidFill>
                  <a:srgbClr val="0033CC"/>
                </a:solidFill>
                <a:latin typeface="+mn-lt"/>
                <a:cs typeface="Calibri"/>
              </a:rPr>
              <a:t>execution</a:t>
            </a:r>
            <a:r>
              <a:rPr sz="2294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times</a:t>
            </a:r>
            <a:r>
              <a:rPr sz="2294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294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each</a:t>
            </a:r>
            <a:r>
              <a:rPr sz="2294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18" dirty="0">
                <a:solidFill>
                  <a:srgbClr val="0033CC"/>
                </a:solidFill>
                <a:latin typeface="+mn-lt"/>
                <a:cs typeface="Calibri"/>
              </a:rPr>
              <a:t>program</a:t>
            </a:r>
            <a:r>
              <a:rPr sz="2294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294" spc="-97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lang="en-US" sz="2294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9" dirty="0">
                <a:solidFill>
                  <a:srgbClr val="0033CC"/>
                </a:solidFill>
                <a:latin typeface="+mn-lt"/>
                <a:cs typeface="Calibri"/>
              </a:rPr>
              <a:t>divide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by</a:t>
            </a:r>
            <a:r>
              <a:rPr sz="2294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94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9" dirty="0">
                <a:solidFill>
                  <a:srgbClr val="0033CC"/>
                </a:solidFill>
                <a:latin typeface="+mn-lt"/>
                <a:cs typeface="Calibri"/>
              </a:rPr>
              <a:t>number</a:t>
            </a:r>
            <a:r>
              <a:rPr sz="2294" spc="-6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294" spc="-5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22" dirty="0">
                <a:solidFill>
                  <a:srgbClr val="0033CC"/>
                </a:solidFill>
                <a:latin typeface="+mn-lt"/>
                <a:cs typeface="Calibri"/>
              </a:rPr>
              <a:t>programs</a:t>
            </a:r>
            <a:r>
              <a:rPr sz="2294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b="1" i="1" spc="-44" dirty="0">
                <a:solidFill>
                  <a:srgbClr val="0033CC"/>
                </a:solidFill>
                <a:latin typeface="+mn-lt"/>
                <a:cs typeface="Calibri"/>
              </a:rPr>
              <a:t>n</a:t>
            </a:r>
            <a:endParaRPr sz="2294" b="1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924"/>
              </a:spcBef>
              <a:buSzPct val="120000"/>
              <a:buFont typeface="Wingdings" panose="05000000000000000000" pitchFamily="2" charset="2"/>
              <a:buChar char="§"/>
            </a:pPr>
            <a:endParaRPr sz="2294" dirty="0">
              <a:latin typeface="+mn-lt"/>
              <a:cs typeface="Calibri"/>
            </a:endParaRPr>
          </a:p>
          <a:p>
            <a:pPr marL="468406" marR="300894" indent="-457200">
              <a:spcBef>
                <a:spcPts val="4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47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b="1" dirty="0">
                <a:solidFill>
                  <a:srgbClr val="003399"/>
                </a:solidFill>
                <a:latin typeface="+mn-lt"/>
                <a:cs typeface="Calibri"/>
              </a:rPr>
              <a:t>harmonic</a:t>
            </a:r>
            <a:r>
              <a:rPr sz="2647" b="1" spc="-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b="1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647" b="1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647" spc="-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b="1" i="1" dirty="0">
                <a:solidFill>
                  <a:srgbClr val="003399"/>
                </a:solidFill>
                <a:latin typeface="+mn-lt"/>
                <a:cs typeface="Calibri"/>
              </a:rPr>
              <a:t>n</a:t>
            </a:r>
            <a:r>
              <a:rPr sz="2647" i="1" spc="-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divided</a:t>
            </a:r>
            <a:r>
              <a:rPr sz="2647" spc="-3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by</a:t>
            </a:r>
            <a:r>
              <a:rPr sz="2647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47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sum</a:t>
            </a:r>
            <a:r>
              <a:rPr sz="2647" spc="-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spc="-22" dirty="0">
                <a:solidFill>
                  <a:srgbClr val="003399"/>
                </a:solidFill>
                <a:latin typeface="+mn-lt"/>
                <a:cs typeface="Calibri"/>
              </a:rPr>
              <a:t>of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some</a:t>
            </a:r>
            <a:r>
              <a:rPr sz="2647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function</a:t>
            </a:r>
            <a:r>
              <a:rPr sz="2647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647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each</a:t>
            </a:r>
            <a:r>
              <a:rPr sz="2647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execution</a:t>
            </a:r>
            <a:r>
              <a:rPr sz="2647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spc="-18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endParaRPr sz="264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57200" indent="-457200">
              <a:spcBef>
                <a:spcPts val="1452"/>
              </a:spcBef>
              <a:buSzPct val="120000"/>
              <a:buFont typeface="Wingdings" panose="05000000000000000000" pitchFamily="2" charset="2"/>
              <a:buChar char="§"/>
            </a:pPr>
            <a:endParaRPr sz="2647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68406" marR="69480" indent="-457200">
              <a:spcBef>
                <a:spcPts val="4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Often,</a:t>
            </a:r>
            <a:r>
              <a:rPr sz="2647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both</a:t>
            </a:r>
            <a:r>
              <a:rPr sz="2647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647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these</a:t>
            </a:r>
            <a:r>
              <a:rPr sz="2647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means</a:t>
            </a:r>
            <a:r>
              <a:rPr sz="2647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are</a:t>
            </a:r>
            <a:r>
              <a:rPr sz="2647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modified</a:t>
            </a:r>
            <a:r>
              <a:rPr sz="2647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647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spc="-18" dirty="0">
                <a:solidFill>
                  <a:srgbClr val="003399"/>
                </a:solidFill>
                <a:latin typeface="+mn-lt"/>
                <a:cs typeface="Calibri"/>
              </a:rPr>
              <a:t>give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more</a:t>
            </a:r>
            <a:r>
              <a:rPr sz="2647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weight</a:t>
            </a:r>
            <a:r>
              <a:rPr sz="2647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647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more</a:t>
            </a:r>
            <a:r>
              <a:rPr sz="2647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dirty="0">
                <a:solidFill>
                  <a:srgbClr val="003399"/>
                </a:solidFill>
                <a:latin typeface="+mn-lt"/>
                <a:cs typeface="Calibri"/>
              </a:rPr>
              <a:t>important</a:t>
            </a:r>
            <a:r>
              <a:rPr sz="2647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47" spc="-9" dirty="0">
                <a:solidFill>
                  <a:srgbClr val="003399"/>
                </a:solidFill>
                <a:latin typeface="+mn-lt"/>
                <a:cs typeface="Calibri"/>
              </a:rPr>
              <a:t>programs</a:t>
            </a:r>
            <a:endParaRPr sz="2647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Statistical</a:t>
            </a:r>
            <a:r>
              <a:rPr spc="18" dirty="0"/>
              <a:t> </a:t>
            </a:r>
            <a:r>
              <a:rPr dirty="0"/>
              <a:t>reporting</a:t>
            </a:r>
            <a:r>
              <a:rPr spc="22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254" y="1196752"/>
            <a:ext cx="8142194" cy="4530840"/>
          </a:xfrm>
          <a:prstGeom prst="rect">
            <a:avLst/>
          </a:prstGeom>
        </p:spPr>
        <p:txBody>
          <a:bodyPr vert="horz" wrap="square" lIns="0" tIns="51546" rIns="0" bIns="0" rtlCol="0">
            <a:spAutoFit/>
          </a:bodyPr>
          <a:lstStyle/>
          <a:p>
            <a:pPr marL="468406" marR="4483" indent="-457200" algn="just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Arithmetic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good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weights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represent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your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own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workload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then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can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compare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how</a:t>
            </a:r>
            <a:r>
              <a:rPr lang="en-US" sz="2800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each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machine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will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perform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you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122711" indent="-342900">
              <a:spcBef>
                <a:spcPts val="829"/>
              </a:spcBef>
              <a:buSzPct val="120000"/>
              <a:buFontTx/>
              <a:buChar char="-"/>
            </a:pPr>
            <a:r>
              <a:rPr sz="2400" i="1" spc="-9" dirty="0">
                <a:solidFill>
                  <a:srgbClr val="0033CC"/>
                </a:solidFill>
                <a:latin typeface="+mn-lt"/>
                <a:cs typeface="Calibri"/>
              </a:rPr>
              <a:t>Should</a:t>
            </a:r>
            <a:r>
              <a:rPr sz="2400" i="1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i="1" dirty="0">
                <a:solidFill>
                  <a:srgbClr val="0033CC"/>
                </a:solidFill>
                <a:latin typeface="+mn-lt"/>
                <a:cs typeface="Calibri"/>
              </a:rPr>
              <a:t>not</a:t>
            </a:r>
            <a:r>
              <a:rPr sz="2400" i="1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set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weights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based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on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performance</a:t>
            </a:r>
            <a:r>
              <a:rPr sz="24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+mn-lt"/>
                <a:cs typeface="Calibri"/>
              </a:rPr>
              <a:t>on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any</a:t>
            </a:r>
            <a:r>
              <a:rPr sz="24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particular</a:t>
            </a:r>
            <a:r>
              <a:rPr sz="24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machine;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can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get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confusing</a:t>
            </a:r>
            <a:r>
              <a:rPr sz="24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results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+mn-lt"/>
                <a:cs typeface="Calibri"/>
              </a:rPr>
              <a:t>by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doing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that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937"/>
              </a:spcBef>
              <a:buSzPct val="120000"/>
              <a:buFont typeface="Wingdings" panose="05000000000000000000" pitchFamily="2" charset="2"/>
              <a:buChar char="§"/>
            </a:pPr>
            <a:endParaRPr sz="2294" dirty="0">
              <a:latin typeface="+mn-lt"/>
              <a:cs typeface="Calibri"/>
            </a:endParaRPr>
          </a:p>
          <a:p>
            <a:pPr marL="468406" marR="185467" indent="-457200"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Harmonic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gives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same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sort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information,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but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used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when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rates</a:t>
            </a:r>
            <a:r>
              <a:rPr sz="2800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(e.g.,</a:t>
            </a:r>
            <a:r>
              <a:rPr sz="28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instructions</a:t>
            </a:r>
            <a:r>
              <a:rPr sz="28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+mn-lt"/>
                <a:cs typeface="Calibri"/>
              </a:rPr>
              <a:t>per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second)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are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measured</a:t>
            </a:r>
            <a:r>
              <a:rPr sz="28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instead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times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Geometric</a:t>
            </a:r>
            <a:r>
              <a:rPr spc="13" dirty="0"/>
              <a:t> </a:t>
            </a:r>
            <a:r>
              <a:rPr spc="-18" dirty="0"/>
              <a:t>mean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2" y="980728"/>
            <a:ext cx="7056784" cy="5052190"/>
          </a:xfrm>
          <a:prstGeom prst="rect">
            <a:avLst/>
          </a:prstGeom>
        </p:spPr>
        <p:txBody>
          <a:bodyPr vert="horz" wrap="square" lIns="0" tIns="52107" rIns="0" bIns="0" rtlCol="0">
            <a:spAutoFit/>
          </a:bodyPr>
          <a:lstStyle/>
          <a:p>
            <a:pPr marL="468406" marR="159692" indent="-457200">
              <a:spcBef>
                <a:spcPts val="410"/>
              </a:spcBef>
              <a:spcAft>
                <a:spcPts val="6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6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measure</a:t>
            </a:r>
            <a:r>
              <a:rPr sz="26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relative</a:t>
            </a:r>
            <a:r>
              <a:rPr sz="26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9" dirty="0">
                <a:solidFill>
                  <a:srgbClr val="003399"/>
                </a:solidFill>
                <a:latin typeface="+mn-lt"/>
                <a:cs typeface="Calibri"/>
              </a:rPr>
              <a:t>performance,</a:t>
            </a:r>
            <a:r>
              <a:rPr sz="26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600" spc="-57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b="1" spc="-9" dirty="0">
                <a:solidFill>
                  <a:srgbClr val="003399"/>
                </a:solidFill>
                <a:latin typeface="+mn-lt"/>
                <a:cs typeface="Calibri"/>
              </a:rPr>
              <a:t>geometric </a:t>
            </a:r>
            <a:r>
              <a:rPr sz="2600" b="1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600" b="1" spc="-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can</a:t>
            </a:r>
            <a:r>
              <a:rPr sz="2600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be</a:t>
            </a:r>
            <a:r>
              <a:rPr sz="2600" spc="-3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18" dirty="0">
                <a:solidFill>
                  <a:srgbClr val="003399"/>
                </a:solidFill>
                <a:latin typeface="+mn-lt"/>
                <a:cs typeface="Calibri"/>
              </a:rPr>
              <a:t>used</a:t>
            </a:r>
            <a:endParaRPr sz="26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34740" indent="-342900" algn="just">
              <a:spcBef>
                <a:spcPts val="781"/>
              </a:spcBef>
              <a:buSzPct val="120000"/>
              <a:buFontTx/>
              <a:buChar char="-"/>
            </a:pP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Choose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a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b="1" i="1" spc="-9" dirty="0">
                <a:solidFill>
                  <a:srgbClr val="0033CC"/>
                </a:solidFill>
                <a:latin typeface="+mn-lt"/>
                <a:cs typeface="Calibri"/>
              </a:rPr>
              <a:t>reference</a:t>
            </a:r>
            <a:r>
              <a:rPr sz="2200" b="1" i="1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b="1" i="1" spc="-18" dirty="0">
                <a:solidFill>
                  <a:srgbClr val="0033CC"/>
                </a:solidFill>
                <a:latin typeface="+mn-lt"/>
                <a:cs typeface="Calibri"/>
              </a:rPr>
              <a:t>machine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,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divide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all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execution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times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by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corresponding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times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on</a:t>
            </a:r>
            <a:r>
              <a:rPr sz="2200" spc="-75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reference</a:t>
            </a:r>
            <a:r>
              <a:rPr sz="22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machine, multiply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those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ratios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together,</a:t>
            </a:r>
            <a:r>
              <a:rPr sz="22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take</a:t>
            </a:r>
            <a:r>
              <a:rPr sz="22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i="1" spc="-31" dirty="0">
                <a:solidFill>
                  <a:srgbClr val="0033CC"/>
                </a:solidFill>
                <a:latin typeface="+mn-lt"/>
                <a:cs typeface="Calibri"/>
              </a:rPr>
              <a:t>n-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</a:t>
            </a:r>
            <a:r>
              <a:rPr sz="22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18" dirty="0">
                <a:solidFill>
                  <a:srgbClr val="0033CC"/>
                </a:solidFill>
                <a:latin typeface="+mn-lt"/>
                <a:cs typeface="Calibri"/>
              </a:rPr>
              <a:t>root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200" spc="-5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200" spc="-5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00" spc="-9" dirty="0">
                <a:solidFill>
                  <a:srgbClr val="0033CC"/>
                </a:solidFill>
                <a:latin typeface="+mn-lt"/>
                <a:cs typeface="Calibri"/>
              </a:rPr>
              <a:t>product</a:t>
            </a:r>
            <a:endParaRPr sz="2200" dirty="0">
              <a:solidFill>
                <a:srgbClr val="0033CC"/>
              </a:solidFill>
              <a:latin typeface="+mn-lt"/>
              <a:cs typeface="Calibri"/>
            </a:endParaRPr>
          </a:p>
          <a:p>
            <a:pPr>
              <a:spcBef>
                <a:spcPts val="1377"/>
              </a:spcBef>
            </a:pPr>
            <a:endParaRPr lang="en-US" sz="2294" dirty="0">
              <a:latin typeface="+mn-lt"/>
              <a:cs typeface="Calibri"/>
            </a:endParaRPr>
          </a:p>
          <a:p>
            <a:pPr>
              <a:spcBef>
                <a:spcPts val="1377"/>
              </a:spcBef>
            </a:pPr>
            <a:endParaRPr sz="2294" dirty="0">
              <a:latin typeface="+mn-lt"/>
              <a:cs typeface="Calibri"/>
            </a:endParaRPr>
          </a:p>
          <a:p>
            <a:pPr marL="468406" marR="4483" indent="-457200">
              <a:spcBef>
                <a:spcPts val="4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600" b="1" dirty="0">
                <a:solidFill>
                  <a:srgbClr val="003399"/>
                </a:solidFill>
                <a:latin typeface="+mn-lt"/>
                <a:cs typeface="Calibri"/>
              </a:rPr>
              <a:t>Geometric</a:t>
            </a:r>
            <a:r>
              <a:rPr sz="2600" b="1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b="1" dirty="0">
                <a:solidFill>
                  <a:srgbClr val="003399"/>
                </a:solidFill>
                <a:latin typeface="+mn-lt"/>
                <a:cs typeface="Calibri"/>
              </a:rPr>
              <a:t>means</a:t>
            </a:r>
            <a:r>
              <a:rPr sz="2600" b="1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have</a:t>
            </a:r>
            <a:r>
              <a:rPr sz="26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6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nice</a:t>
            </a:r>
            <a:r>
              <a:rPr sz="26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property</a:t>
            </a:r>
            <a:r>
              <a:rPr sz="26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600" spc="-62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600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22" dirty="0">
                <a:solidFill>
                  <a:srgbClr val="003399"/>
                </a:solidFill>
                <a:latin typeface="+mn-lt"/>
                <a:cs typeface="Calibri"/>
              </a:rPr>
              <a:t>you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get</a:t>
            </a:r>
            <a:r>
              <a:rPr sz="26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consistent</a:t>
            </a:r>
            <a:r>
              <a:rPr sz="26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results</a:t>
            </a:r>
            <a:r>
              <a:rPr sz="26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(relative</a:t>
            </a:r>
            <a:r>
              <a:rPr sz="26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9" dirty="0">
                <a:solidFill>
                  <a:srgbClr val="003399"/>
                </a:solidFill>
                <a:latin typeface="+mn-lt"/>
                <a:cs typeface="Calibri"/>
              </a:rPr>
              <a:t>performance) regardless</a:t>
            </a:r>
            <a:r>
              <a:rPr sz="2600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600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which</a:t>
            </a:r>
            <a:r>
              <a:rPr sz="2600" spc="-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machine</a:t>
            </a:r>
            <a:r>
              <a:rPr sz="2600" spc="-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600" spc="-53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600" spc="-4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used</a:t>
            </a:r>
            <a:r>
              <a:rPr sz="26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6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9" dirty="0">
                <a:solidFill>
                  <a:srgbClr val="003399"/>
                </a:solidFill>
                <a:latin typeface="+mn-lt"/>
                <a:cs typeface="Calibri"/>
              </a:rPr>
              <a:t>normalize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(</a:t>
            </a:r>
            <a:r>
              <a:rPr lang="en-US" sz="2600" dirty="0">
                <a:solidFill>
                  <a:srgbClr val="003399"/>
                </a:solidFill>
                <a:latin typeface="+mn-lt"/>
                <a:cs typeface="Calibri"/>
              </a:rPr>
              <a:t>H&amp;P 5</a:t>
            </a:r>
            <a:r>
              <a:rPr lang="en-US" sz="2600" baseline="30000" dirty="0">
                <a:solidFill>
                  <a:srgbClr val="003399"/>
                </a:solidFill>
                <a:latin typeface="+mn-lt"/>
                <a:cs typeface="Calibri"/>
              </a:rPr>
              <a:t>th</a:t>
            </a:r>
            <a:r>
              <a:rPr lang="en-US" sz="2600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dirty="0">
                <a:solidFill>
                  <a:srgbClr val="003399"/>
                </a:solidFill>
                <a:latin typeface="+mn-lt"/>
                <a:cs typeface="Calibri"/>
              </a:rPr>
              <a:t>Figure</a:t>
            </a:r>
            <a:r>
              <a:rPr sz="26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600" spc="-18" dirty="0">
                <a:solidFill>
                  <a:srgbClr val="003399"/>
                </a:solidFill>
                <a:latin typeface="+mn-lt"/>
                <a:cs typeface="Calibri"/>
              </a:rPr>
              <a:t>1.17)</a:t>
            </a:r>
            <a:endParaRPr sz="26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D2820-194C-EEFA-29AF-A7F907AE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14" y="3429000"/>
            <a:ext cx="3474772" cy="86409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SPEC</a:t>
            </a:r>
            <a:r>
              <a:rPr spc="-18" dirty="0"/>
              <a:t> Ratio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226113"/>
            <a:ext cx="7098586" cy="1701824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spcBef>
                <a:spcPts val="671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spc="-9" dirty="0" err="1">
                <a:solidFill>
                  <a:srgbClr val="003399"/>
                </a:solidFill>
                <a:latin typeface="+mn-lt"/>
                <a:cs typeface="Calibri"/>
              </a:rPr>
              <a:t>SPECRatio</a:t>
            </a:r>
            <a:endParaRPr lang="en-US"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40975" marR="4483">
              <a:spcBef>
                <a:spcPts val="613"/>
              </a:spcBef>
            </a:pP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Normalize</a:t>
            </a:r>
            <a:r>
              <a:rPr lang="en-US" sz="2400" spc="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execution</a:t>
            </a:r>
            <a:r>
              <a:rPr lang="en-US" sz="2400" spc="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times</a:t>
            </a:r>
            <a:r>
              <a:rPr lang="en-US"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lang="en-US"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reference</a:t>
            </a:r>
            <a:r>
              <a:rPr lang="en-US" sz="2400" spc="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computer,</a:t>
            </a:r>
            <a:r>
              <a:rPr lang="en-US"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yielding</a:t>
            </a:r>
            <a:r>
              <a:rPr lang="en-US"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a</a:t>
            </a:r>
            <a:r>
              <a:rPr lang="en-US"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ratio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proportional</a:t>
            </a:r>
            <a:r>
              <a:rPr lang="en-US"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lang="en-US" sz="2400" spc="3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performance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F4BC55-8F97-C412-0520-8BD43C53CF9B}"/>
              </a:ext>
            </a:extLst>
          </p:cNvPr>
          <p:cNvGrpSpPr/>
          <p:nvPr/>
        </p:nvGrpSpPr>
        <p:grpSpPr>
          <a:xfrm>
            <a:off x="2721086" y="3501008"/>
            <a:ext cx="3629025" cy="716841"/>
            <a:chOff x="2721086" y="3501008"/>
            <a:chExt cx="3629025" cy="716841"/>
          </a:xfrm>
        </p:grpSpPr>
        <p:sp>
          <p:nvSpPr>
            <p:cNvPr id="4" name="object 4"/>
            <p:cNvSpPr txBox="1"/>
            <p:nvPr/>
          </p:nvSpPr>
          <p:spPr>
            <a:xfrm>
              <a:off x="2727987" y="3501008"/>
              <a:ext cx="3617819" cy="716841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 marR="4483" indent="131116">
                <a:lnSpc>
                  <a:spcPct val="117800"/>
                </a:lnSpc>
                <a:spcBef>
                  <a:spcPts val="84"/>
                </a:spcBef>
              </a:pPr>
              <a:r>
                <a:rPr sz="2030" spc="-44" dirty="0">
                  <a:latin typeface="Times New Roman"/>
                  <a:cs typeface="Times New Roman"/>
                </a:rPr>
                <a:t>Time</a:t>
              </a:r>
              <a:r>
                <a:rPr sz="2030" spc="-75" dirty="0">
                  <a:latin typeface="Times New Roman"/>
                  <a:cs typeface="Times New Roman"/>
                </a:rPr>
                <a:t> </a:t>
              </a:r>
              <a:r>
                <a:rPr sz="2030" dirty="0">
                  <a:latin typeface="Times New Roman"/>
                  <a:cs typeface="Times New Roman"/>
                </a:rPr>
                <a:t>on</a:t>
              </a:r>
              <a:r>
                <a:rPr sz="2030" spc="-62" dirty="0">
                  <a:latin typeface="Times New Roman"/>
                  <a:cs typeface="Times New Roman"/>
                </a:rPr>
                <a:t> </a:t>
              </a:r>
              <a:r>
                <a:rPr sz="2030" spc="-35" dirty="0">
                  <a:latin typeface="Times New Roman"/>
                  <a:cs typeface="Times New Roman"/>
                </a:rPr>
                <a:t>slow</a:t>
              </a:r>
              <a:r>
                <a:rPr sz="2030" spc="-75" dirty="0">
                  <a:latin typeface="Times New Roman"/>
                  <a:cs typeface="Times New Roman"/>
                </a:rPr>
                <a:t> </a:t>
              </a:r>
              <a:r>
                <a:rPr sz="2030" spc="-49" dirty="0">
                  <a:latin typeface="Times New Roman"/>
                  <a:cs typeface="Times New Roman"/>
                </a:rPr>
                <a:t>reference</a:t>
              </a:r>
              <a:r>
                <a:rPr sz="2030" spc="-75" dirty="0">
                  <a:latin typeface="Times New Roman"/>
                  <a:cs typeface="Times New Roman"/>
                </a:rPr>
                <a:t> </a:t>
              </a:r>
              <a:r>
                <a:rPr sz="2030" spc="-9" dirty="0">
                  <a:latin typeface="Times New Roman"/>
                  <a:cs typeface="Times New Roman"/>
                </a:rPr>
                <a:t>computer </a:t>
              </a:r>
              <a:r>
                <a:rPr sz="2030" spc="-44" dirty="0">
                  <a:latin typeface="Times New Roman"/>
                  <a:cs typeface="Times New Roman"/>
                </a:rPr>
                <a:t>Time</a:t>
              </a:r>
              <a:r>
                <a:rPr sz="2030" spc="-84" dirty="0">
                  <a:latin typeface="Times New Roman"/>
                  <a:cs typeface="Times New Roman"/>
                </a:rPr>
                <a:t> </a:t>
              </a:r>
              <a:r>
                <a:rPr sz="2030" dirty="0">
                  <a:latin typeface="Times New Roman"/>
                  <a:cs typeface="Times New Roman"/>
                </a:rPr>
                <a:t>on</a:t>
              </a:r>
              <a:r>
                <a:rPr sz="2030" spc="-88" dirty="0">
                  <a:latin typeface="Times New Roman"/>
                  <a:cs typeface="Times New Roman"/>
                </a:rPr>
                <a:t> </a:t>
              </a:r>
              <a:r>
                <a:rPr sz="2030" spc="-35" dirty="0">
                  <a:latin typeface="Times New Roman"/>
                  <a:cs typeface="Times New Roman"/>
                </a:rPr>
                <a:t>faster</a:t>
              </a:r>
              <a:r>
                <a:rPr sz="2030" spc="-88" dirty="0">
                  <a:latin typeface="Times New Roman"/>
                  <a:cs typeface="Times New Roman"/>
                </a:rPr>
                <a:t> </a:t>
              </a:r>
              <a:r>
                <a:rPr sz="2030" spc="-40" dirty="0">
                  <a:latin typeface="Times New Roman"/>
                  <a:cs typeface="Times New Roman"/>
                </a:rPr>
                <a:t>computer</a:t>
              </a:r>
              <a:r>
                <a:rPr sz="2030" spc="-88" dirty="0">
                  <a:latin typeface="Times New Roman"/>
                  <a:cs typeface="Times New Roman"/>
                </a:rPr>
                <a:t> </a:t>
              </a:r>
              <a:r>
                <a:rPr sz="2030" spc="-26" dirty="0">
                  <a:latin typeface="Times New Roman"/>
                  <a:cs typeface="Times New Roman"/>
                </a:rPr>
                <a:t>being</a:t>
              </a:r>
              <a:r>
                <a:rPr sz="2030" spc="-75" dirty="0">
                  <a:latin typeface="Times New Roman"/>
                  <a:cs typeface="Times New Roman"/>
                </a:rPr>
                <a:t> </a:t>
              </a:r>
              <a:r>
                <a:rPr sz="2030" spc="-18" dirty="0">
                  <a:latin typeface="Times New Roman"/>
                  <a:cs typeface="Times New Roman"/>
                </a:rPr>
                <a:t>rated</a:t>
              </a:r>
              <a:endParaRPr sz="2030" dirty="0"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721086" y="3925153"/>
              <a:ext cx="3629025" cy="0"/>
            </a:xfrm>
            <a:custGeom>
              <a:avLst/>
              <a:gdLst/>
              <a:ahLst/>
              <a:cxnLst/>
              <a:rect l="l" t="t" r="r" b="b"/>
              <a:pathLst>
                <a:path w="4112895">
                  <a:moveTo>
                    <a:pt x="0" y="0"/>
                  </a:moveTo>
                  <a:lnTo>
                    <a:pt x="4112278" y="0"/>
                  </a:lnTo>
                </a:path>
              </a:pathLst>
            </a:custGeom>
            <a:ln w="146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SPEC Ratio</a:t>
            </a:r>
            <a:r>
              <a:rPr spc="-4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8262" y="2224984"/>
            <a:ext cx="6521824" cy="356387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343453">
              <a:spcBef>
                <a:spcPts val="2303"/>
              </a:spcBef>
            </a:pPr>
            <a:r>
              <a:rPr sz="1985" i="1" spc="-9" dirty="0" err="1">
                <a:latin typeface="Times New Roman"/>
                <a:cs typeface="Times New Roman"/>
              </a:rPr>
              <a:t>ExecutionTime</a:t>
            </a:r>
            <a:r>
              <a:rPr sz="1721" i="1" spc="-13" baseline="-23504" dirty="0" err="1">
                <a:latin typeface="Times New Roman"/>
                <a:cs typeface="Times New Roman"/>
              </a:rPr>
              <a:t>reference</a:t>
            </a:r>
            <a:endParaRPr sz="1721" baseline="-23504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0839" y="2977135"/>
            <a:ext cx="1339663" cy="0"/>
          </a:xfrm>
          <a:custGeom>
            <a:avLst/>
            <a:gdLst/>
            <a:ahLst/>
            <a:cxnLst/>
            <a:rect l="l" t="t" r="r" b="b"/>
            <a:pathLst>
              <a:path w="1518285">
                <a:moveTo>
                  <a:pt x="0" y="0"/>
                </a:moveTo>
                <a:lnTo>
                  <a:pt x="1518185" y="0"/>
                </a:lnTo>
              </a:path>
            </a:pathLst>
          </a:custGeom>
          <a:ln w="12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5" name="object 5"/>
          <p:cNvSpPr/>
          <p:nvPr/>
        </p:nvSpPr>
        <p:spPr>
          <a:xfrm>
            <a:off x="4306225" y="2620507"/>
            <a:ext cx="2166097" cy="0"/>
          </a:xfrm>
          <a:custGeom>
            <a:avLst/>
            <a:gdLst/>
            <a:ahLst/>
            <a:cxnLst/>
            <a:rect l="l" t="t" r="r" b="b"/>
            <a:pathLst>
              <a:path w="2454909">
                <a:moveTo>
                  <a:pt x="0" y="0"/>
                </a:moveTo>
                <a:lnTo>
                  <a:pt x="2454374" y="0"/>
                </a:lnTo>
              </a:path>
            </a:pathLst>
          </a:custGeom>
          <a:ln w="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6" name="object 6"/>
          <p:cNvSpPr/>
          <p:nvPr/>
        </p:nvSpPr>
        <p:spPr>
          <a:xfrm>
            <a:off x="4306225" y="3330424"/>
            <a:ext cx="2166097" cy="0"/>
          </a:xfrm>
          <a:custGeom>
            <a:avLst/>
            <a:gdLst/>
            <a:ahLst/>
            <a:cxnLst/>
            <a:rect l="l" t="t" r="r" b="b"/>
            <a:pathLst>
              <a:path w="2454909">
                <a:moveTo>
                  <a:pt x="0" y="0"/>
                </a:moveTo>
                <a:lnTo>
                  <a:pt x="2454374" y="0"/>
                </a:lnTo>
              </a:path>
            </a:pathLst>
          </a:custGeom>
          <a:ln w="6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7" name="object 7"/>
          <p:cNvSpPr/>
          <p:nvPr/>
        </p:nvSpPr>
        <p:spPr>
          <a:xfrm>
            <a:off x="4282185" y="2977135"/>
            <a:ext cx="2213722" cy="0"/>
          </a:xfrm>
          <a:custGeom>
            <a:avLst/>
            <a:gdLst/>
            <a:ahLst/>
            <a:cxnLst/>
            <a:rect l="l" t="t" r="r" b="b"/>
            <a:pathLst>
              <a:path w="2508884">
                <a:moveTo>
                  <a:pt x="0" y="0"/>
                </a:moveTo>
                <a:lnTo>
                  <a:pt x="2508865" y="0"/>
                </a:lnTo>
              </a:path>
            </a:pathLst>
          </a:custGeom>
          <a:ln w="12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8" name="object 8"/>
          <p:cNvSpPr/>
          <p:nvPr/>
        </p:nvSpPr>
        <p:spPr>
          <a:xfrm>
            <a:off x="2680838" y="4077072"/>
            <a:ext cx="1708336" cy="0"/>
          </a:xfrm>
          <a:custGeom>
            <a:avLst/>
            <a:gdLst/>
            <a:ahLst/>
            <a:cxnLst/>
            <a:rect l="l" t="t" r="r" b="b"/>
            <a:pathLst>
              <a:path w="1936114">
                <a:moveTo>
                  <a:pt x="0" y="0"/>
                </a:moveTo>
                <a:lnTo>
                  <a:pt x="1935950" y="0"/>
                </a:lnTo>
              </a:path>
            </a:pathLst>
          </a:custGeom>
          <a:ln w="12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9" name="object 9"/>
          <p:cNvSpPr/>
          <p:nvPr/>
        </p:nvSpPr>
        <p:spPr>
          <a:xfrm>
            <a:off x="4650801" y="4077072"/>
            <a:ext cx="1508312" cy="0"/>
          </a:xfrm>
          <a:custGeom>
            <a:avLst/>
            <a:gdLst/>
            <a:ahLst/>
            <a:cxnLst/>
            <a:rect l="l" t="t" r="r" b="b"/>
            <a:pathLst>
              <a:path w="1709420">
                <a:moveTo>
                  <a:pt x="0" y="0"/>
                </a:moveTo>
                <a:lnTo>
                  <a:pt x="1708904" y="0"/>
                </a:lnTo>
              </a:path>
            </a:pathLst>
          </a:custGeom>
          <a:ln w="121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824"/>
          </a:p>
        </p:txBody>
      </p:sp>
      <p:sp>
        <p:nvSpPr>
          <p:cNvPr id="10" name="object 10"/>
          <p:cNvSpPr txBox="1"/>
          <p:nvPr/>
        </p:nvSpPr>
        <p:spPr>
          <a:xfrm>
            <a:off x="4300654" y="2596479"/>
            <a:ext cx="2164416" cy="668833"/>
          </a:xfrm>
          <a:prstGeom prst="rect">
            <a:avLst/>
          </a:prstGeom>
        </p:spPr>
        <p:txBody>
          <a:bodyPr vert="horz" wrap="square" lIns="0" tIns="31937" rIns="0" bIns="0" rtlCol="0">
            <a:spAutoFit/>
          </a:bodyPr>
          <a:lstStyle/>
          <a:p>
            <a:pPr marL="1121" algn="ctr">
              <a:spcBef>
                <a:spcPts val="251"/>
              </a:spcBef>
            </a:pPr>
            <a:r>
              <a:rPr sz="1985" i="1" spc="-9" dirty="0">
                <a:latin typeface="Times New Roman"/>
                <a:cs typeface="Times New Roman"/>
              </a:rPr>
              <a:t>ExecutionTime</a:t>
            </a:r>
            <a:r>
              <a:rPr sz="1721" i="1" spc="-13" baseline="-23504" dirty="0">
                <a:latin typeface="Times New Roman"/>
                <a:cs typeface="Times New Roman"/>
              </a:rPr>
              <a:t>A</a:t>
            </a:r>
            <a:endParaRPr sz="1721" baseline="-23504" dirty="0">
              <a:latin typeface="Times New Roman"/>
              <a:cs typeface="Times New Roman"/>
            </a:endParaRPr>
          </a:p>
          <a:p>
            <a:pPr algn="ctr">
              <a:spcBef>
                <a:spcPts val="176"/>
              </a:spcBef>
            </a:pPr>
            <a:r>
              <a:rPr sz="1985" i="1" spc="-9" dirty="0">
                <a:latin typeface="Times New Roman"/>
                <a:cs typeface="Times New Roman"/>
              </a:rPr>
              <a:t>ExecutionTime</a:t>
            </a:r>
            <a:r>
              <a:rPr sz="1721" i="1" spc="-13" baseline="-23504" dirty="0">
                <a:latin typeface="Times New Roman"/>
                <a:cs typeface="Times New Roman"/>
              </a:rPr>
              <a:t>reference</a:t>
            </a:r>
            <a:endParaRPr sz="1721" baseline="-23504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3932" y="2973944"/>
            <a:ext cx="1332379" cy="32074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1985" i="1" spc="-9" dirty="0">
                <a:latin typeface="Times New Roman"/>
                <a:cs typeface="Times New Roman"/>
              </a:rPr>
              <a:t>SPECRatio</a:t>
            </a:r>
            <a:r>
              <a:rPr sz="1721" i="1" spc="-13" baseline="-23504" dirty="0">
                <a:latin typeface="Times New Roman"/>
                <a:cs typeface="Times New Roman"/>
              </a:rPr>
              <a:t>B</a:t>
            </a:r>
            <a:endParaRPr sz="1721" baseline="-2350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600" y="3212976"/>
            <a:ext cx="6872567" cy="1729618"/>
          </a:xfrm>
          <a:prstGeom prst="rect">
            <a:avLst/>
          </a:prstGeom>
        </p:spPr>
        <p:txBody>
          <a:bodyPr vert="horz" wrap="square" lIns="0" tIns="96371" rIns="0" bIns="0" rtlCol="0">
            <a:spAutoFit/>
          </a:bodyPr>
          <a:lstStyle/>
          <a:p>
            <a:pPr marL="3574867">
              <a:spcBef>
                <a:spcPts val="759"/>
              </a:spcBef>
            </a:pPr>
            <a:r>
              <a:rPr sz="1985" i="1" spc="-9" dirty="0">
                <a:latin typeface="Times New Roman"/>
                <a:cs typeface="Times New Roman"/>
              </a:rPr>
              <a:t>ExecutionTime</a:t>
            </a:r>
            <a:r>
              <a:rPr sz="1721" i="1" spc="-13" baseline="-23504" dirty="0">
                <a:latin typeface="Times New Roman"/>
                <a:cs typeface="Times New Roman"/>
              </a:rPr>
              <a:t>B</a:t>
            </a:r>
            <a:endParaRPr sz="1721" baseline="-23504" dirty="0">
              <a:latin typeface="Times New Roman"/>
              <a:cs typeface="Times New Roman"/>
            </a:endParaRPr>
          </a:p>
          <a:p>
            <a:pPr marR="247103" algn="ctr">
              <a:spcBef>
                <a:spcPts val="679"/>
              </a:spcBef>
            </a:pPr>
            <a:r>
              <a:rPr sz="2978" baseline="-35802" dirty="0">
                <a:latin typeface="Symbol"/>
                <a:cs typeface="Symbol"/>
              </a:rPr>
              <a:t></a:t>
            </a:r>
            <a:r>
              <a:rPr sz="2978" spc="337" baseline="-35802" dirty="0">
                <a:latin typeface="Times New Roman"/>
                <a:cs typeface="Times New Roman"/>
              </a:rPr>
              <a:t> </a:t>
            </a:r>
            <a:r>
              <a:rPr sz="1985" i="1" dirty="0">
                <a:latin typeface="Times New Roman"/>
                <a:cs typeface="Times New Roman"/>
              </a:rPr>
              <a:t>ExecutionTime</a:t>
            </a:r>
            <a:r>
              <a:rPr sz="1721" i="1" baseline="-23504" dirty="0">
                <a:latin typeface="Times New Roman"/>
                <a:cs typeface="Times New Roman"/>
              </a:rPr>
              <a:t>B</a:t>
            </a:r>
            <a:r>
              <a:rPr sz="1721" i="1" spc="251" baseline="-23504" dirty="0">
                <a:latin typeface="Times New Roman"/>
                <a:cs typeface="Times New Roman"/>
              </a:rPr>
              <a:t>  </a:t>
            </a:r>
            <a:r>
              <a:rPr sz="2978" baseline="-35802" dirty="0">
                <a:latin typeface="Symbol"/>
                <a:cs typeface="Symbol"/>
              </a:rPr>
              <a:t></a:t>
            </a:r>
            <a:r>
              <a:rPr sz="2978" spc="357" baseline="-35802" dirty="0">
                <a:latin typeface="Times New Roman"/>
                <a:cs typeface="Times New Roman"/>
              </a:rPr>
              <a:t> </a:t>
            </a:r>
            <a:r>
              <a:rPr sz="1985" i="1" spc="-9" dirty="0">
                <a:latin typeface="Times New Roman"/>
                <a:cs typeface="Times New Roman"/>
              </a:rPr>
              <a:t>Performance</a:t>
            </a:r>
            <a:r>
              <a:rPr sz="1721" i="1" spc="-13" baseline="-23504" dirty="0">
                <a:latin typeface="Times New Roman"/>
                <a:cs typeface="Times New Roman"/>
              </a:rPr>
              <a:t>A</a:t>
            </a:r>
            <a:endParaRPr sz="1721" baseline="-23504" dirty="0">
              <a:latin typeface="Times New Roman"/>
              <a:cs typeface="Times New Roman"/>
            </a:endParaRPr>
          </a:p>
          <a:p>
            <a:pPr marR="24654" algn="ctr">
              <a:spcBef>
                <a:spcPts val="468"/>
              </a:spcBef>
              <a:tabLst>
                <a:tab pos="1969539" algn="l"/>
              </a:tabLst>
            </a:pPr>
            <a:r>
              <a:rPr sz="1985" i="1" spc="-9" dirty="0">
                <a:latin typeface="Times New Roman"/>
                <a:cs typeface="Times New Roman"/>
              </a:rPr>
              <a:t>ExecutionTime</a:t>
            </a:r>
            <a:r>
              <a:rPr sz="1721" i="1" spc="-13" baseline="-23504" dirty="0">
                <a:latin typeface="Times New Roman"/>
                <a:cs typeface="Times New Roman"/>
              </a:rPr>
              <a:t>A</a:t>
            </a:r>
            <a:r>
              <a:rPr sz="1721" i="1" baseline="-23504" dirty="0">
                <a:latin typeface="Times New Roman"/>
                <a:cs typeface="Times New Roman"/>
              </a:rPr>
              <a:t>	</a:t>
            </a:r>
            <a:r>
              <a:rPr sz="1985" i="1" spc="-9" dirty="0">
                <a:latin typeface="Times New Roman"/>
                <a:cs typeface="Times New Roman"/>
              </a:rPr>
              <a:t>Performance</a:t>
            </a:r>
            <a:r>
              <a:rPr sz="1721" i="1" spc="-13" baseline="-23504" dirty="0">
                <a:latin typeface="Times New Roman"/>
                <a:cs typeface="Times New Roman"/>
              </a:rPr>
              <a:t>B</a:t>
            </a:r>
            <a:endParaRPr sz="1721" baseline="-23504" dirty="0">
              <a:latin typeface="Times New Roman"/>
              <a:cs typeface="Times New Roman"/>
            </a:endParaRPr>
          </a:p>
          <a:p>
            <a:pPr>
              <a:spcBef>
                <a:spcPts val="2016"/>
              </a:spcBef>
            </a:pPr>
            <a:endParaRPr sz="1985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47383" y="2611974"/>
            <a:ext cx="2065804" cy="320809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33619">
              <a:spcBef>
                <a:spcPts val="119"/>
              </a:spcBef>
            </a:pPr>
            <a:r>
              <a:rPr sz="2978" baseline="-35802" dirty="0">
                <a:latin typeface="Times New Roman"/>
                <a:cs typeface="Times New Roman"/>
              </a:rPr>
              <a:t>1.25</a:t>
            </a:r>
            <a:r>
              <a:rPr sz="2978" spc="-112" baseline="-35802" dirty="0">
                <a:latin typeface="Times New Roman"/>
                <a:cs typeface="Times New Roman"/>
              </a:rPr>
              <a:t> </a:t>
            </a:r>
            <a:r>
              <a:rPr sz="2978" baseline="-35802" dirty="0">
                <a:latin typeface="Symbol"/>
                <a:cs typeface="Symbol"/>
              </a:rPr>
              <a:t></a:t>
            </a:r>
            <a:r>
              <a:rPr sz="2978" spc="304" baseline="-35802" dirty="0">
                <a:latin typeface="Times New Roman"/>
                <a:cs typeface="Times New Roman"/>
              </a:rPr>
              <a:t> </a:t>
            </a:r>
            <a:r>
              <a:rPr sz="1985" i="1" spc="-9" dirty="0">
                <a:latin typeface="Times New Roman"/>
                <a:cs typeface="Times New Roman"/>
              </a:rPr>
              <a:t>SPECRatio</a:t>
            </a:r>
            <a:r>
              <a:rPr sz="1721" i="1" spc="-13" baseline="-23504" dirty="0">
                <a:latin typeface="Times New Roman"/>
                <a:cs typeface="Times New Roman"/>
              </a:rPr>
              <a:t>A</a:t>
            </a:r>
            <a:endParaRPr sz="1721" baseline="-23504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71978" y="2773591"/>
            <a:ext cx="163606" cy="320744"/>
          </a:xfrm>
          <a:prstGeom prst="rect">
            <a:avLst/>
          </a:prstGeom>
        </p:spPr>
        <p:txBody>
          <a:bodyPr vert="horz" wrap="square" lIns="0" tIns="15128" rIns="0" bIns="0" rtlCol="0">
            <a:spAutoFit/>
          </a:bodyPr>
          <a:lstStyle/>
          <a:p>
            <a:pPr marL="11206">
              <a:spcBef>
                <a:spcPts val="119"/>
              </a:spcBef>
            </a:pPr>
            <a:r>
              <a:rPr sz="1985" spc="-44" dirty="0">
                <a:latin typeface="Symbol"/>
                <a:cs typeface="Symbol"/>
              </a:rPr>
              <a:t></a:t>
            </a:r>
            <a:endParaRPr sz="1985">
              <a:latin typeface="Symbol"/>
              <a:cs typeface="Symbo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5DD5DB-A964-547A-E1E9-57D8F9650CBC}"/>
              </a:ext>
            </a:extLst>
          </p:cNvPr>
          <p:cNvSpPr txBox="1"/>
          <p:nvPr/>
        </p:nvSpPr>
        <p:spPr>
          <a:xfrm>
            <a:off x="611560" y="4693552"/>
            <a:ext cx="8136904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312" marR="15689" indent="-342900">
              <a:lnSpc>
                <a:spcPct val="89600"/>
              </a:lnSpc>
              <a:buSzPct val="120000"/>
              <a:buFont typeface="Wingdings" panose="05000000000000000000" pitchFamily="2" charset="2"/>
              <a:buChar char="§"/>
              <a:tabLst>
                <a:tab pos="291368" algn="l"/>
              </a:tabLst>
            </a:pP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Note</a:t>
            </a:r>
            <a:r>
              <a:rPr lang="en-US"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that</a:t>
            </a:r>
            <a:r>
              <a:rPr lang="en-US"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when</a:t>
            </a:r>
            <a:r>
              <a:rPr lang="en-US"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comparing</a:t>
            </a:r>
            <a:r>
              <a:rPr lang="en-US"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computers</a:t>
            </a:r>
            <a:r>
              <a:rPr lang="en-US"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lang="en-US"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lang="en-US"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ratio, execution</a:t>
            </a:r>
            <a:r>
              <a:rPr lang="en-US"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times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on</a:t>
            </a:r>
            <a:r>
              <a:rPr lang="en-US"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reference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drop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out,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22" dirty="0">
                <a:solidFill>
                  <a:srgbClr val="003399"/>
                </a:solidFill>
                <a:latin typeface="Calibri"/>
                <a:cs typeface="Calibri"/>
              </a:rPr>
              <a:t>so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lang="en-US" sz="2800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FF0000"/>
                </a:solidFill>
                <a:latin typeface="Calibri"/>
                <a:cs typeface="Calibri"/>
              </a:rPr>
              <a:t>choice</a:t>
            </a:r>
            <a:r>
              <a:rPr lang="en-US" sz="28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lang="en-US" sz="28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FF0000"/>
                </a:solidFill>
                <a:latin typeface="Calibri"/>
                <a:cs typeface="Calibri"/>
              </a:rPr>
              <a:t>reference</a:t>
            </a:r>
            <a:r>
              <a:rPr lang="en-US" sz="28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FF0000"/>
                </a:solidFill>
                <a:latin typeface="Calibri"/>
                <a:cs typeface="Calibri"/>
              </a:rPr>
              <a:t>computer</a:t>
            </a:r>
            <a:r>
              <a:rPr lang="en-US" sz="2800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800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FF0000"/>
                </a:solidFill>
                <a:latin typeface="Calibri"/>
                <a:cs typeface="Calibri"/>
              </a:rPr>
              <a:t>irrelevant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60AE5-CAF3-4327-DD72-FB6521382010}"/>
              </a:ext>
            </a:extLst>
          </p:cNvPr>
          <p:cNvSpPr txBox="1"/>
          <p:nvPr/>
        </p:nvSpPr>
        <p:spPr>
          <a:xfrm>
            <a:off x="611560" y="1008865"/>
            <a:ext cx="73978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SzPct val="120000"/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If</a:t>
            </a:r>
            <a:r>
              <a:rPr lang="en-US"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lang="en-US"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program’s</a:t>
            </a:r>
            <a:r>
              <a:rPr lang="en-US"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22" dirty="0" err="1">
                <a:solidFill>
                  <a:srgbClr val="003399"/>
                </a:solidFill>
                <a:latin typeface="Calibri"/>
                <a:cs typeface="Calibri"/>
              </a:rPr>
              <a:t>SPECRatio</a:t>
            </a:r>
            <a:r>
              <a:rPr lang="en-US"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on</a:t>
            </a:r>
            <a:r>
              <a:rPr lang="en-US"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lang="en-US"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lang="en-US"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lang="en-US"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br>
              <a:rPr lang="en-US" sz="2800" spc="-66" dirty="0">
                <a:solidFill>
                  <a:srgbClr val="003399"/>
                </a:solidFill>
                <a:latin typeface="Calibri"/>
                <a:cs typeface="Calibri"/>
              </a:rPr>
            </a:b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1.25</a:t>
            </a:r>
            <a:r>
              <a:rPr lang="en-US"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times bigger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than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B,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then</a:t>
            </a:r>
            <a:endParaRPr lang="en-US" sz="2800" dirty="0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SPEC Ratio</a:t>
            </a:r>
            <a:r>
              <a:rPr spc="-4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9394" y="1628800"/>
            <a:ext cx="5995147" cy="84577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09477" algn="ctr">
              <a:lnSpc>
                <a:spcPts val="852"/>
              </a:lnSpc>
              <a:spcBef>
                <a:spcPts val="1504"/>
              </a:spcBef>
            </a:pPr>
            <a:r>
              <a:rPr lang="en-US" sz="1147" i="1" spc="-44" dirty="0">
                <a:latin typeface="Times New Roman"/>
                <a:cs typeface="Times New Roman"/>
              </a:rPr>
              <a:t>n</a:t>
            </a:r>
            <a:endParaRPr lang="en-US" sz="1147" dirty="0">
              <a:latin typeface="Times New Roman"/>
              <a:cs typeface="Times New Roman"/>
            </a:endParaRPr>
          </a:p>
          <a:p>
            <a:pPr marL="466750" algn="ctr">
              <a:lnSpc>
                <a:spcPts val="3128"/>
              </a:lnSpc>
            </a:pPr>
            <a:r>
              <a:rPr sz="2030" i="1" spc="-26" dirty="0" err="1">
                <a:latin typeface="Times New Roman"/>
                <a:cs typeface="Times New Roman"/>
              </a:rPr>
              <a:t>GeometricMean</a:t>
            </a:r>
            <a:r>
              <a:rPr sz="2030" i="1" spc="-88" dirty="0">
                <a:latin typeface="Times New Roman"/>
                <a:cs typeface="Times New Roman"/>
              </a:rPr>
              <a:t> </a:t>
            </a:r>
            <a:r>
              <a:rPr sz="2030" dirty="0">
                <a:latin typeface="Symbol"/>
                <a:cs typeface="Symbol"/>
              </a:rPr>
              <a:t></a:t>
            </a:r>
            <a:r>
              <a:rPr sz="2030" spc="84" dirty="0">
                <a:latin typeface="Times New Roman"/>
                <a:cs typeface="Times New Roman"/>
              </a:rPr>
              <a:t> </a:t>
            </a:r>
            <a:r>
              <a:rPr sz="1721" i="1" baseline="4273" dirty="0">
                <a:latin typeface="Times New Roman"/>
                <a:cs typeface="Times New Roman"/>
              </a:rPr>
              <a:t>n</a:t>
            </a:r>
            <a:r>
              <a:rPr sz="1721" i="1" spc="443" baseline="4273" dirty="0">
                <a:latin typeface="Times New Roman"/>
                <a:cs typeface="Times New Roman"/>
              </a:rPr>
              <a:t> </a:t>
            </a:r>
            <a:r>
              <a:rPr sz="4566" spc="-13" baseline="-6441" dirty="0">
                <a:latin typeface="Symbol"/>
                <a:cs typeface="Symbol"/>
              </a:rPr>
              <a:t></a:t>
            </a:r>
            <a:r>
              <a:rPr sz="2030" i="1" spc="-9" dirty="0">
                <a:latin typeface="Times New Roman"/>
                <a:cs typeface="Times New Roman"/>
              </a:rPr>
              <a:t>SPECRatio</a:t>
            </a:r>
            <a:r>
              <a:rPr sz="1721" i="1" spc="-13" baseline="-25641" dirty="0">
                <a:latin typeface="Times New Roman"/>
                <a:cs typeface="Times New Roman"/>
              </a:rPr>
              <a:t>i</a:t>
            </a:r>
            <a:endParaRPr sz="1721" baseline="-25641" dirty="0">
              <a:latin typeface="Times New Roman"/>
              <a:cs typeface="Times New Roman"/>
            </a:endParaRPr>
          </a:p>
          <a:p>
            <a:pPr marL="1319003" algn="ctr">
              <a:spcBef>
                <a:spcPts val="424"/>
              </a:spcBef>
            </a:pPr>
            <a:r>
              <a:rPr sz="1147" i="1" spc="-22" dirty="0">
                <a:latin typeface="Times New Roman"/>
                <a:cs typeface="Times New Roman"/>
              </a:rPr>
              <a:t>i</a:t>
            </a:r>
            <a:r>
              <a:rPr sz="1147" spc="-22" dirty="0">
                <a:latin typeface="Symbol"/>
                <a:cs typeface="Symbol"/>
              </a:rPr>
              <a:t></a:t>
            </a:r>
            <a:r>
              <a:rPr sz="1147" spc="-22" dirty="0">
                <a:latin typeface="Times New Roman"/>
                <a:cs typeface="Times New Roman"/>
              </a:rPr>
              <a:t>1</a:t>
            </a:r>
            <a:endParaRPr sz="1147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754" y="4005064"/>
            <a:ext cx="7811160" cy="792412"/>
          </a:xfrm>
          <a:prstGeom prst="rect">
            <a:avLst/>
          </a:prstGeom>
        </p:spPr>
        <p:txBody>
          <a:bodyPr vert="horz" wrap="square" lIns="0" tIns="53228" rIns="0" bIns="0" rtlCol="0">
            <a:spAutoFit/>
          </a:bodyPr>
          <a:lstStyle/>
          <a:p>
            <a:pPr marL="354106" marR="4483" indent="-342900">
              <a:spcBef>
                <a:spcPts val="419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ratio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geometric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means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SPEC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Ratio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equal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the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geometric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performance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ratios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0685" y="1756991"/>
            <a:ext cx="1732990" cy="749674"/>
          </a:xfrm>
          <a:custGeom>
            <a:avLst/>
            <a:gdLst/>
            <a:ahLst/>
            <a:cxnLst/>
            <a:rect l="l" t="t" r="r" b="b"/>
            <a:pathLst>
              <a:path w="1964054" h="849630">
                <a:moveTo>
                  <a:pt x="1963974" y="0"/>
                </a:moveTo>
                <a:lnTo>
                  <a:pt x="173469" y="0"/>
                </a:lnTo>
                <a:lnTo>
                  <a:pt x="101818" y="775205"/>
                </a:lnTo>
                <a:lnTo>
                  <a:pt x="39973" y="509661"/>
                </a:lnTo>
                <a:lnTo>
                  <a:pt x="0" y="569351"/>
                </a:lnTo>
                <a:lnTo>
                  <a:pt x="7542" y="574708"/>
                </a:lnTo>
                <a:lnTo>
                  <a:pt x="23380" y="547923"/>
                </a:lnTo>
                <a:lnTo>
                  <a:pt x="95031" y="849434"/>
                </a:lnTo>
                <a:lnTo>
                  <a:pt x="109360" y="849434"/>
                </a:lnTo>
                <a:lnTo>
                  <a:pt x="186291" y="14540"/>
                </a:lnTo>
                <a:lnTo>
                  <a:pt x="1963974" y="14540"/>
                </a:lnTo>
                <a:lnTo>
                  <a:pt x="1963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824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1B23F0-3BE0-5C0B-F067-B178AC0745B4}"/>
              </a:ext>
            </a:extLst>
          </p:cNvPr>
          <p:cNvGrpSpPr/>
          <p:nvPr/>
        </p:nvGrpSpPr>
        <p:grpSpPr>
          <a:xfrm>
            <a:off x="4310685" y="2703813"/>
            <a:ext cx="3031219" cy="1032027"/>
            <a:chOff x="2719712" y="2834741"/>
            <a:chExt cx="3031219" cy="1032027"/>
          </a:xfrm>
        </p:grpSpPr>
        <p:grpSp>
          <p:nvGrpSpPr>
            <p:cNvPr id="6" name="object 6"/>
            <p:cNvGrpSpPr/>
            <p:nvPr/>
          </p:nvGrpSpPr>
          <p:grpSpPr>
            <a:xfrm>
              <a:off x="2732650" y="3079352"/>
              <a:ext cx="1403537" cy="541244"/>
              <a:chOff x="2944603" y="3571541"/>
              <a:chExt cx="1590675" cy="613410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2948815" y="3946842"/>
                <a:ext cx="2794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7939" h="15239">
                    <a:moveTo>
                      <a:pt x="0" y="14923"/>
                    </a:moveTo>
                    <a:lnTo>
                      <a:pt x="27350" y="0"/>
                    </a:lnTo>
                  </a:path>
                </a:pathLst>
              </a:custGeom>
              <a:ln w="841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976165" y="3950982"/>
                <a:ext cx="39370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39369" h="225425">
                    <a:moveTo>
                      <a:pt x="0" y="0"/>
                    </a:moveTo>
                    <a:lnTo>
                      <a:pt x="39261" y="225025"/>
                    </a:lnTo>
                  </a:path>
                </a:pathLst>
              </a:custGeom>
              <a:ln w="1761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3019840" y="3575950"/>
                <a:ext cx="1515110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1515110" h="600075">
                    <a:moveTo>
                      <a:pt x="0" y="600057"/>
                    </a:moveTo>
                    <a:lnTo>
                      <a:pt x="52495" y="0"/>
                    </a:lnTo>
                  </a:path>
                  <a:path w="1515110" h="600075">
                    <a:moveTo>
                      <a:pt x="52495" y="0"/>
                    </a:moveTo>
                    <a:lnTo>
                      <a:pt x="1514876" y="0"/>
                    </a:lnTo>
                  </a:path>
                </a:pathLst>
              </a:custGeom>
              <a:ln w="855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4351918" y="2834741"/>
              <a:ext cx="1372160" cy="491938"/>
              <a:chOff x="4779773" y="3294315"/>
              <a:chExt cx="1555115" cy="55753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4783982" y="3636047"/>
                <a:ext cx="27940" cy="14604"/>
              </a:xfrm>
              <a:custGeom>
                <a:avLst/>
                <a:gdLst/>
                <a:ahLst/>
                <a:cxnLst/>
                <a:rect l="l" t="t" r="r" b="b"/>
                <a:pathLst>
                  <a:path w="27939" h="14604">
                    <a:moveTo>
                      <a:pt x="0" y="14506"/>
                    </a:moveTo>
                    <a:lnTo>
                      <a:pt x="27366" y="0"/>
                    </a:lnTo>
                  </a:path>
                </a:pathLst>
              </a:custGeom>
              <a:ln w="84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4811348" y="3640186"/>
                <a:ext cx="40005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203200">
                    <a:moveTo>
                      <a:pt x="0" y="0"/>
                    </a:moveTo>
                    <a:lnTo>
                      <a:pt x="39627" y="202640"/>
                    </a:lnTo>
                  </a:path>
                </a:pathLst>
              </a:custGeom>
              <a:ln w="1760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855419" y="3298725"/>
                <a:ext cx="1479550" cy="544195"/>
              </a:xfrm>
              <a:custGeom>
                <a:avLst/>
                <a:gdLst/>
                <a:ahLst/>
                <a:cxnLst/>
                <a:rect l="l" t="t" r="r" b="b"/>
                <a:pathLst>
                  <a:path w="1479550" h="544195">
                    <a:moveTo>
                      <a:pt x="0" y="544101"/>
                    </a:moveTo>
                    <a:lnTo>
                      <a:pt x="52067" y="0"/>
                    </a:lnTo>
                  </a:path>
                  <a:path w="1479550" h="544195">
                    <a:moveTo>
                      <a:pt x="52067" y="0"/>
                    </a:moveTo>
                    <a:lnTo>
                      <a:pt x="1479207" y="0"/>
                    </a:lnTo>
                  </a:path>
                </a:pathLst>
              </a:custGeom>
              <a:ln w="855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14" name="object 14"/>
            <p:cNvGrpSpPr/>
            <p:nvPr/>
          </p:nvGrpSpPr>
          <p:grpSpPr>
            <a:xfrm>
              <a:off x="4351916" y="3370773"/>
              <a:ext cx="1372160" cy="491938"/>
              <a:chOff x="4779771" y="3901818"/>
              <a:chExt cx="1555115" cy="55753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4783982" y="4243149"/>
                <a:ext cx="2794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7939" h="15239">
                    <a:moveTo>
                      <a:pt x="0" y="14907"/>
                    </a:moveTo>
                    <a:lnTo>
                      <a:pt x="27366" y="0"/>
                    </a:lnTo>
                  </a:path>
                </a:pathLst>
              </a:custGeom>
              <a:ln w="841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811348" y="4247289"/>
                <a:ext cx="40005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40004" h="203200">
                    <a:moveTo>
                      <a:pt x="0" y="0"/>
                    </a:moveTo>
                    <a:lnTo>
                      <a:pt x="39627" y="202641"/>
                    </a:lnTo>
                  </a:path>
                </a:pathLst>
              </a:custGeom>
              <a:ln w="1760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4855419" y="3906228"/>
                <a:ext cx="1479550" cy="544195"/>
              </a:xfrm>
              <a:custGeom>
                <a:avLst/>
                <a:gdLst/>
                <a:ahLst/>
                <a:cxnLst/>
                <a:rect l="l" t="t" r="r" b="b"/>
                <a:pathLst>
                  <a:path w="1479550" h="544195">
                    <a:moveTo>
                      <a:pt x="0" y="543702"/>
                    </a:moveTo>
                    <a:lnTo>
                      <a:pt x="52067" y="0"/>
                    </a:lnTo>
                  </a:path>
                  <a:path w="1479550" h="544195">
                    <a:moveTo>
                      <a:pt x="52067" y="0"/>
                    </a:moveTo>
                    <a:lnTo>
                      <a:pt x="1479207" y="0"/>
                    </a:lnTo>
                  </a:path>
                </a:pathLst>
              </a:custGeom>
              <a:ln w="855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sp>
          <p:nvSpPr>
            <p:cNvPr id="18" name="object 18"/>
            <p:cNvSpPr txBox="1"/>
            <p:nvPr/>
          </p:nvSpPr>
          <p:spPr>
            <a:xfrm>
              <a:off x="4549516" y="3372239"/>
              <a:ext cx="7844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794" i="1" spc="-44" dirty="0">
                  <a:latin typeface="Times New Roman"/>
                  <a:cs typeface="Times New Roman"/>
                </a:rPr>
                <a:t>n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5560244" y="3601502"/>
              <a:ext cx="15352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794" i="1" spc="-22" dirty="0">
                  <a:latin typeface="Times New Roman"/>
                  <a:cs typeface="Times New Roman"/>
                </a:rPr>
                <a:t>B</a:t>
              </a:r>
              <a:r>
                <a:rPr sz="860" i="1" spc="-33" baseline="-21367" dirty="0">
                  <a:latin typeface="Times New Roman"/>
                  <a:cs typeface="Times New Roman"/>
                </a:rPr>
                <a:t>i</a:t>
              </a:r>
              <a:endParaRPr sz="860" baseline="-21367">
                <a:latin typeface="Times New Roman"/>
                <a:cs typeface="Times New Roman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316525" y="3392357"/>
              <a:ext cx="1312209" cy="33667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33619">
                <a:spcBef>
                  <a:spcPts val="84"/>
                </a:spcBef>
              </a:pPr>
              <a:r>
                <a:rPr sz="1191" i="1" baseline="9259" dirty="0">
                  <a:latin typeface="Times New Roman"/>
                  <a:cs typeface="Times New Roman"/>
                </a:rPr>
                <a:t>n</a:t>
              </a:r>
              <a:r>
                <a:rPr sz="1191" i="1" spc="502" baseline="9259" dirty="0">
                  <a:latin typeface="Times New Roman"/>
                  <a:cs typeface="Times New Roman"/>
                </a:rPr>
                <a:t> </a:t>
              </a:r>
              <a:r>
                <a:rPr sz="3177" spc="152" baseline="-9259" dirty="0">
                  <a:latin typeface="Symbol"/>
                  <a:cs typeface="Symbol"/>
                </a:rPr>
                <a:t></a:t>
              </a:r>
              <a:r>
                <a:rPr sz="3177" spc="-476" baseline="-9259" dirty="0">
                  <a:latin typeface="Times New Roman"/>
                  <a:cs typeface="Times New Roman"/>
                </a:rPr>
                <a:t> </a:t>
              </a: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506398" y="3729845"/>
              <a:ext cx="172010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794" i="1" spc="-22" dirty="0">
                  <a:latin typeface="Times New Roman"/>
                  <a:cs typeface="Times New Roman"/>
                </a:rPr>
                <a:t>i</a:t>
              </a:r>
              <a:r>
                <a:rPr sz="794" spc="-22" dirty="0">
                  <a:latin typeface="Symbol"/>
                  <a:cs typeface="Symbol"/>
                </a:rPr>
                <a:t></a:t>
              </a:r>
              <a:r>
                <a:rPr sz="794" spc="-22" dirty="0">
                  <a:latin typeface="Times New Roman"/>
                  <a:cs typeface="Times New Roman"/>
                </a:rPr>
                <a:t>1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4549516" y="2836561"/>
              <a:ext cx="7844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794" i="1" spc="-44" dirty="0">
                  <a:latin typeface="Times New Roman"/>
                  <a:cs typeface="Times New Roman"/>
                </a:rPr>
                <a:t>n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4316525" y="2856678"/>
              <a:ext cx="1397374" cy="33667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33619">
                <a:spcBef>
                  <a:spcPts val="84"/>
                </a:spcBef>
              </a:pPr>
              <a:r>
                <a:rPr sz="1191" i="1" baseline="9259" dirty="0">
                  <a:latin typeface="Times New Roman"/>
                  <a:cs typeface="Times New Roman"/>
                </a:rPr>
                <a:t>n</a:t>
              </a:r>
              <a:r>
                <a:rPr sz="1191" i="1" spc="502" baseline="9259" dirty="0">
                  <a:latin typeface="Times New Roman"/>
                  <a:cs typeface="Times New Roman"/>
                </a:rPr>
                <a:t> </a:t>
              </a:r>
              <a:r>
                <a:rPr sz="3177" spc="152" baseline="-9259" dirty="0">
                  <a:latin typeface="Symbol"/>
                  <a:cs typeface="Symbol"/>
                </a:rPr>
                <a:t></a:t>
              </a:r>
              <a:r>
                <a:rPr sz="3177" spc="-476" baseline="-9259" dirty="0">
                  <a:latin typeface="Times New Roman"/>
                  <a:cs typeface="Times New Roman"/>
                </a:rPr>
                <a:t> </a:t>
              </a: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r>
                <a:rPr sz="1191" i="1" spc="-13" baseline="-24691" dirty="0">
                  <a:latin typeface="Times New Roman"/>
                  <a:cs typeface="Times New Roman"/>
                </a:rPr>
                <a:t>A</a:t>
              </a:r>
              <a:r>
                <a:rPr sz="860" i="1" spc="-13" baseline="-55555" dirty="0">
                  <a:latin typeface="Times New Roman"/>
                  <a:cs typeface="Times New Roman"/>
                </a:rPr>
                <a:t>i</a:t>
              </a:r>
              <a:endParaRPr sz="860" baseline="-55555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4324982" y="3193807"/>
              <a:ext cx="1425949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192190" algn="l"/>
                  <a:tab pos="1414258" algn="l"/>
                </a:tabLst>
              </a:pPr>
              <a:r>
                <a:rPr sz="794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794" i="1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794" u="sng" spc="-22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</a:t>
              </a:r>
              <a:r>
                <a:rPr sz="794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1</a:t>
              </a:r>
              <a:r>
                <a:rPr sz="794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2719712" y="3278266"/>
              <a:ext cx="7844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794" i="1" spc="-44" dirty="0">
                  <a:latin typeface="Times New Roman"/>
                  <a:cs typeface="Times New Roman"/>
                </a:rPr>
                <a:t>n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2930299" y="3093250"/>
              <a:ext cx="7844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794" i="1" spc="-44" dirty="0">
                  <a:latin typeface="Times New Roman"/>
                  <a:cs typeface="Times New Roman"/>
                </a:rPr>
                <a:t>n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3100786" y="3183202"/>
              <a:ext cx="974351" cy="136923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894277" algn="l"/>
                </a:tabLst>
              </a:pPr>
              <a:r>
                <a:rPr sz="794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794" i="1" u="sng" spc="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4043139" y="3518496"/>
              <a:ext cx="44824" cy="10136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574" i="1" spc="-44" dirty="0">
                  <a:latin typeface="Times New Roman"/>
                  <a:cs typeface="Times New Roman"/>
                </a:rPr>
                <a:t>i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4043139" y="3239507"/>
              <a:ext cx="88526" cy="101369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spc="44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3093944" y="3342984"/>
              <a:ext cx="997884" cy="228054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33619">
                <a:spcBef>
                  <a:spcPts val="84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r>
                <a:rPr sz="1191" i="1" spc="-13" baseline="-24691" dirty="0">
                  <a:latin typeface="Times New Roman"/>
                  <a:cs typeface="Times New Roman"/>
                </a:rPr>
                <a:t>B</a:t>
              </a:r>
              <a:endParaRPr sz="1191" baseline="-24691" dirty="0">
                <a:latin typeface="Times New Roman"/>
                <a:cs typeface="Times New Roman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116356" y="3063626"/>
              <a:ext cx="886384" cy="228054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endParaRPr sz="1412" dirty="0">
                <a:latin typeface="Times New Roman"/>
                <a:cs typeface="Times New Roman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2839988" y="3156878"/>
              <a:ext cx="258296" cy="45837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lnSpc>
                  <a:spcPts val="2440"/>
                </a:lnSpc>
                <a:spcBef>
                  <a:spcPts val="84"/>
                </a:spcBef>
              </a:pPr>
              <a:r>
                <a:rPr sz="2118" spc="57" dirty="0">
                  <a:latin typeface="Symbol"/>
                  <a:cs typeface="Symbol"/>
                </a:rPr>
                <a:t></a:t>
              </a:r>
              <a:endParaRPr sz="2118">
                <a:latin typeface="Symbol"/>
                <a:cs typeface="Symbol"/>
              </a:endParaRPr>
            </a:p>
            <a:p>
              <a:pPr marL="58274">
                <a:lnSpc>
                  <a:spcPts val="852"/>
                </a:lnSpc>
              </a:pPr>
              <a:r>
                <a:rPr sz="794" i="1" spc="-22" dirty="0">
                  <a:latin typeface="Times New Roman"/>
                  <a:cs typeface="Times New Roman"/>
                </a:rPr>
                <a:t>i</a:t>
              </a:r>
              <a:r>
                <a:rPr sz="794" spc="-22" dirty="0">
                  <a:latin typeface="Symbol"/>
                  <a:cs typeface="Symbol"/>
                </a:rPr>
                <a:t></a:t>
              </a:r>
              <a:r>
                <a:rPr sz="794" spc="-22" dirty="0">
                  <a:latin typeface="Times New Roman"/>
                  <a:cs typeface="Times New Roman"/>
                </a:rPr>
                <a:t>1</a:t>
              </a:r>
              <a:endParaRPr sz="794">
                <a:latin typeface="Times New Roman"/>
                <a:cs typeface="Times New Roman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174692" y="3202937"/>
              <a:ext cx="127187" cy="228054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1412" dirty="0">
                  <a:latin typeface="Symbol"/>
                  <a:cs typeface="Symbol"/>
                </a:rPr>
                <a:t></a:t>
              </a:r>
              <a:endParaRPr sz="1412">
                <a:latin typeface="Symbol"/>
                <a:cs typeface="Symbol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2AD5ED2-E7F0-9180-200A-9005F3D6F308}"/>
              </a:ext>
            </a:extLst>
          </p:cNvPr>
          <p:cNvGrpSpPr/>
          <p:nvPr/>
        </p:nvGrpSpPr>
        <p:grpSpPr>
          <a:xfrm>
            <a:off x="558839" y="4977827"/>
            <a:ext cx="7929684" cy="1115469"/>
            <a:chOff x="558839" y="4977827"/>
            <a:chExt cx="7929684" cy="1115469"/>
          </a:xfrm>
        </p:grpSpPr>
        <p:grpSp>
          <p:nvGrpSpPr>
            <p:cNvPr id="34" name="object 34"/>
            <p:cNvGrpSpPr/>
            <p:nvPr/>
          </p:nvGrpSpPr>
          <p:grpSpPr>
            <a:xfrm>
              <a:off x="2092591" y="5007575"/>
              <a:ext cx="1334060" cy="501463"/>
              <a:chOff x="2219203" y="5542669"/>
              <a:chExt cx="1511935" cy="568325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2223437" y="5890832"/>
                <a:ext cx="266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15239">
                    <a:moveTo>
                      <a:pt x="0" y="15176"/>
                    </a:moveTo>
                    <a:lnTo>
                      <a:pt x="26620" y="0"/>
                    </a:lnTo>
                  </a:path>
                </a:pathLst>
              </a:custGeom>
              <a:ln w="846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2250057" y="5895042"/>
                <a:ext cx="38735" cy="207010"/>
              </a:xfrm>
              <a:custGeom>
                <a:avLst/>
                <a:gdLst/>
                <a:ahLst/>
                <a:cxnLst/>
                <a:rect l="l" t="t" r="r" b="b"/>
                <a:pathLst>
                  <a:path w="38735" h="207010">
                    <a:moveTo>
                      <a:pt x="0" y="0"/>
                    </a:moveTo>
                    <a:lnTo>
                      <a:pt x="38202" y="206914"/>
                    </a:lnTo>
                  </a:path>
                </a:pathLst>
              </a:custGeom>
              <a:ln w="1715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2292581" y="5546959"/>
                <a:ext cx="1438275" cy="555625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555625">
                    <a:moveTo>
                      <a:pt x="0" y="554996"/>
                    </a:moveTo>
                    <a:lnTo>
                      <a:pt x="50993" y="0"/>
                    </a:lnTo>
                  </a:path>
                  <a:path w="1438275" h="555625">
                    <a:moveTo>
                      <a:pt x="50993" y="0"/>
                    </a:moveTo>
                    <a:lnTo>
                      <a:pt x="1438021" y="0"/>
                    </a:lnTo>
                  </a:path>
                </a:pathLst>
              </a:custGeom>
              <a:ln w="85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38" name="object 38"/>
            <p:cNvGrpSpPr/>
            <p:nvPr/>
          </p:nvGrpSpPr>
          <p:grpSpPr>
            <a:xfrm>
              <a:off x="2092591" y="5554540"/>
              <a:ext cx="1334060" cy="501463"/>
              <a:chOff x="2219203" y="6162563"/>
              <a:chExt cx="1511935" cy="568325"/>
            </a:xfrm>
          </p:grpSpPr>
          <p:sp>
            <p:nvSpPr>
              <p:cNvPr id="39" name="object 39"/>
              <p:cNvSpPr/>
              <p:nvPr/>
            </p:nvSpPr>
            <p:spPr>
              <a:xfrm>
                <a:off x="2223437" y="6510726"/>
                <a:ext cx="266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6669" h="15240">
                    <a:moveTo>
                      <a:pt x="0" y="15176"/>
                    </a:moveTo>
                    <a:lnTo>
                      <a:pt x="26620" y="0"/>
                    </a:lnTo>
                  </a:path>
                </a:pathLst>
              </a:custGeom>
              <a:ln w="846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2250057" y="6514936"/>
                <a:ext cx="38735" cy="207010"/>
              </a:xfrm>
              <a:custGeom>
                <a:avLst/>
                <a:gdLst/>
                <a:ahLst/>
                <a:cxnLst/>
                <a:rect l="l" t="t" r="r" b="b"/>
                <a:pathLst>
                  <a:path w="38735" h="207009">
                    <a:moveTo>
                      <a:pt x="0" y="0"/>
                    </a:moveTo>
                    <a:lnTo>
                      <a:pt x="38202" y="206915"/>
                    </a:lnTo>
                  </a:path>
                </a:pathLst>
              </a:custGeom>
              <a:ln w="1715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292581" y="6166853"/>
                <a:ext cx="1438275" cy="555625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555625">
                    <a:moveTo>
                      <a:pt x="0" y="554998"/>
                    </a:moveTo>
                    <a:lnTo>
                      <a:pt x="50993" y="0"/>
                    </a:lnTo>
                  </a:path>
                  <a:path w="1438275" h="555625">
                    <a:moveTo>
                      <a:pt x="50993" y="0"/>
                    </a:moveTo>
                    <a:lnTo>
                      <a:pt x="1438021" y="0"/>
                    </a:lnTo>
                  </a:path>
                </a:pathLst>
              </a:custGeom>
              <a:ln w="85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42" name="object 42"/>
            <p:cNvGrpSpPr/>
            <p:nvPr/>
          </p:nvGrpSpPr>
          <p:grpSpPr>
            <a:xfrm>
              <a:off x="3636282" y="5257084"/>
              <a:ext cx="1364316" cy="551890"/>
              <a:chOff x="3968719" y="5825446"/>
              <a:chExt cx="1546225" cy="625475"/>
            </a:xfrm>
          </p:grpSpPr>
          <p:sp>
            <p:nvSpPr>
              <p:cNvPr id="43" name="object 43"/>
              <p:cNvSpPr/>
              <p:nvPr/>
            </p:nvSpPr>
            <p:spPr>
              <a:xfrm>
                <a:off x="3972952" y="6208155"/>
                <a:ext cx="266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15239">
                    <a:moveTo>
                      <a:pt x="0" y="15176"/>
                    </a:moveTo>
                    <a:lnTo>
                      <a:pt x="26620" y="0"/>
                    </a:lnTo>
                  </a:path>
                </a:pathLst>
              </a:custGeom>
              <a:ln w="846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3999573" y="6212789"/>
                <a:ext cx="38735" cy="229870"/>
              </a:xfrm>
              <a:custGeom>
                <a:avLst/>
                <a:gdLst/>
                <a:ahLst/>
                <a:cxnLst/>
                <a:rect l="l" t="t" r="r" b="b"/>
                <a:pathLst>
                  <a:path w="38735" h="229870">
                    <a:moveTo>
                      <a:pt x="0" y="0"/>
                    </a:moveTo>
                    <a:lnTo>
                      <a:pt x="38202" y="229254"/>
                    </a:lnTo>
                  </a:path>
                </a:pathLst>
              </a:custGeom>
              <a:ln w="171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042096" y="5829737"/>
                <a:ext cx="1473200" cy="612775"/>
              </a:xfrm>
              <a:custGeom>
                <a:avLst/>
                <a:gdLst/>
                <a:ahLst/>
                <a:cxnLst/>
                <a:rect l="l" t="t" r="r" b="b"/>
                <a:pathLst>
                  <a:path w="1473200" h="612775">
                    <a:moveTo>
                      <a:pt x="0" y="612306"/>
                    </a:moveTo>
                    <a:lnTo>
                      <a:pt x="50993" y="0"/>
                    </a:lnTo>
                  </a:path>
                  <a:path w="1473200" h="612775">
                    <a:moveTo>
                      <a:pt x="50993" y="0"/>
                    </a:moveTo>
                    <a:lnTo>
                      <a:pt x="1472766" y="0"/>
                    </a:lnTo>
                  </a:path>
                </a:pathLst>
              </a:custGeom>
              <a:ln w="85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46" name="object 46"/>
            <p:cNvGrpSpPr/>
            <p:nvPr/>
          </p:nvGrpSpPr>
          <p:grpSpPr>
            <a:xfrm>
              <a:off x="5195225" y="4977827"/>
              <a:ext cx="1614207" cy="1084729"/>
              <a:chOff x="5735521" y="5508955"/>
              <a:chExt cx="1829435" cy="1229360"/>
            </a:xfrm>
          </p:grpSpPr>
          <p:sp>
            <p:nvSpPr>
              <p:cNvPr id="47" name="object 47"/>
              <p:cNvSpPr/>
              <p:nvPr/>
            </p:nvSpPr>
            <p:spPr>
              <a:xfrm>
                <a:off x="5739754" y="6257044"/>
                <a:ext cx="266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15239">
                    <a:moveTo>
                      <a:pt x="0" y="14751"/>
                    </a:moveTo>
                    <a:lnTo>
                      <a:pt x="26447" y="0"/>
                    </a:lnTo>
                  </a:path>
                </a:pathLst>
              </a:custGeom>
              <a:ln w="846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5766202" y="6261254"/>
                <a:ext cx="38735" cy="468630"/>
              </a:xfrm>
              <a:custGeom>
                <a:avLst/>
                <a:gdLst/>
                <a:ahLst/>
                <a:cxnLst/>
                <a:rect l="l" t="t" r="r" b="b"/>
                <a:pathLst>
                  <a:path w="38735" h="468629">
                    <a:moveTo>
                      <a:pt x="0" y="0"/>
                    </a:moveTo>
                    <a:lnTo>
                      <a:pt x="38202" y="468182"/>
                    </a:lnTo>
                  </a:path>
                </a:pathLst>
              </a:custGeom>
              <a:ln w="1716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5808725" y="5513246"/>
                <a:ext cx="1756410" cy="1216660"/>
              </a:xfrm>
              <a:custGeom>
                <a:avLst/>
                <a:gdLst/>
                <a:ahLst/>
                <a:cxnLst/>
                <a:rect l="l" t="t" r="r" b="b"/>
                <a:pathLst>
                  <a:path w="1756409" h="1216659">
                    <a:moveTo>
                      <a:pt x="0" y="1216190"/>
                    </a:moveTo>
                    <a:lnTo>
                      <a:pt x="51166" y="0"/>
                    </a:lnTo>
                  </a:path>
                  <a:path w="1756409" h="1216659">
                    <a:moveTo>
                      <a:pt x="51166" y="0"/>
                    </a:moveTo>
                    <a:lnTo>
                      <a:pt x="1755911" y="0"/>
                    </a:lnTo>
                  </a:path>
                </a:pathLst>
              </a:custGeom>
              <a:ln w="85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grpSp>
          <p:nvGrpSpPr>
            <p:cNvPr id="50" name="object 50"/>
            <p:cNvGrpSpPr/>
            <p:nvPr/>
          </p:nvGrpSpPr>
          <p:grpSpPr>
            <a:xfrm>
              <a:off x="7004305" y="5257084"/>
              <a:ext cx="1484218" cy="551890"/>
              <a:chOff x="7785812" y="5825446"/>
              <a:chExt cx="1682114" cy="625475"/>
            </a:xfrm>
          </p:grpSpPr>
          <p:sp>
            <p:nvSpPr>
              <p:cNvPr id="51" name="object 51"/>
              <p:cNvSpPr/>
              <p:nvPr/>
            </p:nvSpPr>
            <p:spPr>
              <a:xfrm>
                <a:off x="7790046" y="6208155"/>
                <a:ext cx="26670" cy="15240"/>
              </a:xfrm>
              <a:custGeom>
                <a:avLst/>
                <a:gdLst/>
                <a:ahLst/>
                <a:cxnLst/>
                <a:rect l="l" t="t" r="r" b="b"/>
                <a:pathLst>
                  <a:path w="26670" h="15239">
                    <a:moveTo>
                      <a:pt x="0" y="15176"/>
                    </a:moveTo>
                    <a:lnTo>
                      <a:pt x="26101" y="0"/>
                    </a:lnTo>
                  </a:path>
                </a:pathLst>
              </a:custGeom>
              <a:ln w="846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7816148" y="6212789"/>
                <a:ext cx="38735" cy="229870"/>
              </a:xfrm>
              <a:custGeom>
                <a:avLst/>
                <a:gdLst/>
                <a:ahLst/>
                <a:cxnLst/>
                <a:rect l="l" t="t" r="r" b="b"/>
                <a:pathLst>
                  <a:path w="38734" h="229870">
                    <a:moveTo>
                      <a:pt x="0" y="0"/>
                    </a:moveTo>
                    <a:lnTo>
                      <a:pt x="38720" y="229254"/>
                    </a:lnTo>
                  </a:path>
                </a:pathLst>
              </a:custGeom>
              <a:ln w="171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7859017" y="5829737"/>
                <a:ext cx="1609090" cy="612775"/>
              </a:xfrm>
              <a:custGeom>
                <a:avLst/>
                <a:gdLst/>
                <a:ahLst/>
                <a:cxnLst/>
                <a:rect l="l" t="t" r="r" b="b"/>
                <a:pathLst>
                  <a:path w="1609090" h="612775">
                    <a:moveTo>
                      <a:pt x="0" y="612306"/>
                    </a:moveTo>
                    <a:lnTo>
                      <a:pt x="50647" y="0"/>
                    </a:lnTo>
                  </a:path>
                  <a:path w="1609090" h="612775">
                    <a:moveTo>
                      <a:pt x="50647" y="0"/>
                    </a:moveTo>
                    <a:lnTo>
                      <a:pt x="1608807" y="0"/>
                    </a:lnTo>
                  </a:path>
                </a:pathLst>
              </a:custGeom>
              <a:ln w="850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2824"/>
              </a:p>
            </p:txBody>
          </p:sp>
        </p:grpSp>
        <p:sp>
          <p:nvSpPr>
            <p:cNvPr id="54" name="object 54"/>
            <p:cNvSpPr txBox="1"/>
            <p:nvPr/>
          </p:nvSpPr>
          <p:spPr>
            <a:xfrm>
              <a:off x="7195878" y="5271224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7361823" y="5363071"/>
              <a:ext cx="1067921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990093" algn="l"/>
                </a:tabLst>
              </a:pPr>
              <a:r>
                <a:rPr sz="838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838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5387255" y="5271224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5552742" y="5363071"/>
              <a:ext cx="1015253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937422" algn="l"/>
                </a:tabLst>
              </a:pPr>
              <a:r>
                <a:rPr sz="838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838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3828465" y="5271224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59" name="object 59"/>
            <p:cNvSpPr txBox="1"/>
            <p:nvPr/>
          </p:nvSpPr>
          <p:spPr>
            <a:xfrm>
              <a:off x="3993799" y="5363071"/>
              <a:ext cx="948018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869622" algn="l"/>
                </a:tabLst>
              </a:pPr>
              <a:r>
                <a:rPr sz="838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838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60" name="object 60"/>
            <p:cNvSpPr txBox="1"/>
            <p:nvPr/>
          </p:nvSpPr>
          <p:spPr>
            <a:xfrm>
              <a:off x="2079935" y="5727091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61" name="object 61"/>
            <p:cNvSpPr txBox="1"/>
            <p:nvPr/>
          </p:nvSpPr>
          <p:spPr>
            <a:xfrm>
              <a:off x="2284774" y="5556053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62" name="object 62"/>
            <p:cNvSpPr txBox="1"/>
            <p:nvPr/>
          </p:nvSpPr>
          <p:spPr>
            <a:xfrm>
              <a:off x="3266120" y="5789925"/>
              <a:ext cx="151279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838" i="1" spc="-22" dirty="0">
                  <a:latin typeface="Times New Roman"/>
                  <a:cs typeface="Times New Roman"/>
                </a:rPr>
                <a:t>B</a:t>
              </a:r>
              <a:r>
                <a:rPr sz="860" i="1" spc="-33" baseline="-21367" dirty="0">
                  <a:latin typeface="Times New Roman"/>
                  <a:cs typeface="Times New Roman"/>
                </a:rPr>
                <a:t>i</a:t>
              </a:r>
              <a:endParaRPr sz="860" baseline="-21367">
                <a:latin typeface="Times New Roman"/>
                <a:cs typeface="Times New Roman"/>
              </a:endParaRPr>
            </a:p>
          </p:txBody>
        </p:sp>
        <p:sp>
          <p:nvSpPr>
            <p:cNvPr id="63" name="object 63"/>
            <p:cNvSpPr txBox="1"/>
            <p:nvPr/>
          </p:nvSpPr>
          <p:spPr>
            <a:xfrm>
              <a:off x="2284774" y="5009087"/>
              <a:ext cx="76760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64" name="object 64"/>
            <p:cNvSpPr txBox="1"/>
            <p:nvPr/>
          </p:nvSpPr>
          <p:spPr>
            <a:xfrm>
              <a:off x="3271305" y="5242960"/>
              <a:ext cx="146237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838" i="1" spc="-22" dirty="0">
                  <a:latin typeface="Times New Roman"/>
                  <a:cs typeface="Times New Roman"/>
                </a:rPr>
                <a:t>A</a:t>
              </a:r>
              <a:r>
                <a:rPr sz="860" i="1" spc="-33" baseline="-21367" dirty="0">
                  <a:latin typeface="Times New Roman"/>
                  <a:cs typeface="Times New Roman"/>
                </a:rPr>
                <a:t>i</a:t>
              </a:r>
              <a:endParaRPr sz="860" baseline="-21367">
                <a:latin typeface="Times New Roman"/>
                <a:cs typeface="Times New Roman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2057523" y="5029542"/>
              <a:ext cx="1278031" cy="343470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33619">
                <a:spcBef>
                  <a:spcPts val="84"/>
                </a:spcBef>
              </a:pPr>
              <a:r>
                <a:rPr sz="1257" i="1" baseline="8771" dirty="0">
                  <a:latin typeface="Times New Roman"/>
                  <a:cs typeface="Times New Roman"/>
                </a:rPr>
                <a:t>n</a:t>
              </a:r>
              <a:r>
                <a:rPr sz="1257" i="1" spc="424" baseline="8771" dirty="0">
                  <a:latin typeface="Times New Roman"/>
                  <a:cs typeface="Times New Roman"/>
                </a:rPr>
                <a:t> </a:t>
              </a:r>
              <a:r>
                <a:rPr sz="3243" spc="-13" baseline="-9070" dirty="0">
                  <a:latin typeface="Symbol"/>
                  <a:cs typeface="Symbol"/>
                </a:rPr>
                <a:t></a:t>
              </a: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2066239" y="5374215"/>
              <a:ext cx="1386728" cy="1402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187148" algn="l"/>
                  <a:tab pos="1375035" algn="l"/>
                </a:tabLst>
              </a:pPr>
              <a:r>
                <a:rPr sz="838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838" i="1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838" u="sng" spc="-22" dirty="0">
                  <a:uFill>
                    <a:solidFill>
                      <a:srgbClr val="000000"/>
                    </a:solidFill>
                  </a:uFill>
                  <a:latin typeface="Symbol"/>
                  <a:cs typeface="Symbol"/>
                </a:rPr>
                <a:t></a:t>
              </a:r>
              <a:r>
                <a:rPr sz="838" u="sng" spc="-22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1</a:t>
              </a:r>
              <a:r>
                <a:rPr sz="838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67" name="object 67"/>
            <p:cNvSpPr txBox="1"/>
            <p:nvPr/>
          </p:nvSpPr>
          <p:spPr>
            <a:xfrm>
              <a:off x="558839" y="5389838"/>
              <a:ext cx="1333500" cy="37038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  <a:tabLst>
                  <a:tab pos="1232713" algn="l"/>
                </a:tabLst>
              </a:pPr>
              <a:r>
                <a:rPr sz="838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838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A</a:t>
              </a:r>
              <a:endParaRPr sz="838">
                <a:latin typeface="Times New Roman"/>
                <a:cs typeface="Times New Roman"/>
              </a:endParaRPr>
            </a:p>
            <a:p>
              <a:pPr marL="39783">
                <a:spcBef>
                  <a:spcPts val="93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GeometricMean</a:t>
              </a:r>
              <a:r>
                <a:rPr sz="1257" i="1" spc="-13" baseline="-23391" dirty="0">
                  <a:latin typeface="Times New Roman"/>
                  <a:cs typeface="Times New Roman"/>
                </a:rPr>
                <a:t>B</a:t>
              </a:r>
              <a:endParaRPr sz="1257" baseline="-23391">
                <a:latin typeface="Times New Roman"/>
                <a:cs typeface="Times New Roman"/>
              </a:endParaRPr>
            </a:p>
          </p:txBody>
        </p:sp>
        <p:sp>
          <p:nvSpPr>
            <p:cNvPr id="68" name="object 68"/>
            <p:cNvSpPr txBox="1"/>
            <p:nvPr/>
          </p:nvSpPr>
          <p:spPr>
            <a:xfrm>
              <a:off x="8398068" y="5705157"/>
              <a:ext cx="44263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574" i="1" spc="-44" dirty="0">
                  <a:latin typeface="Times New Roman"/>
                  <a:cs typeface="Times New Roman"/>
                </a:rPr>
                <a:t>i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69" name="object 69"/>
            <p:cNvSpPr txBox="1"/>
            <p:nvPr/>
          </p:nvSpPr>
          <p:spPr>
            <a:xfrm>
              <a:off x="8398068" y="5420328"/>
              <a:ext cx="86846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spc="44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0" name="object 70"/>
            <p:cNvSpPr txBox="1"/>
            <p:nvPr/>
          </p:nvSpPr>
          <p:spPr>
            <a:xfrm>
              <a:off x="7357105" y="5525925"/>
              <a:ext cx="1090332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Performance</a:t>
              </a:r>
              <a:r>
                <a:rPr sz="1257" i="1" spc="-13" baseline="-23391" dirty="0">
                  <a:latin typeface="Times New Roman"/>
                  <a:cs typeface="Times New Roman"/>
                </a:rPr>
                <a:t>B</a:t>
              </a:r>
              <a:endParaRPr sz="1257" baseline="-23391">
                <a:latin typeface="Times New Roman"/>
                <a:cs typeface="Times New Roman"/>
              </a:endParaRPr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6536824" y="5958740"/>
              <a:ext cx="44263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574" i="1" spc="-44" dirty="0">
                  <a:latin typeface="Times New Roman"/>
                  <a:cs typeface="Times New Roman"/>
                </a:rPr>
                <a:t>i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2" name="object 72"/>
            <p:cNvSpPr txBox="1"/>
            <p:nvPr/>
          </p:nvSpPr>
          <p:spPr>
            <a:xfrm>
              <a:off x="5567842" y="5679499"/>
              <a:ext cx="1222562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1146983" algn="l"/>
                </a:tabLst>
              </a:pPr>
              <a:r>
                <a:rPr sz="574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spc="44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3" name="object 73"/>
            <p:cNvSpPr txBox="1"/>
            <p:nvPr/>
          </p:nvSpPr>
          <p:spPr>
            <a:xfrm>
              <a:off x="6536824" y="5420328"/>
              <a:ext cx="268941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257189" algn="l"/>
                </a:tabLst>
              </a:pP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4" name="object 74"/>
            <p:cNvSpPr txBox="1"/>
            <p:nvPr/>
          </p:nvSpPr>
          <p:spPr>
            <a:xfrm>
              <a:off x="5567842" y="5141086"/>
              <a:ext cx="1222562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  <a:tabLst>
                  <a:tab pos="1146983" algn="l"/>
                </a:tabLst>
              </a:pPr>
              <a:r>
                <a:rPr sz="574" u="sng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	</a:t>
              </a: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spc="44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5" name="object 75"/>
            <p:cNvSpPr txBox="1"/>
            <p:nvPr/>
          </p:nvSpPr>
          <p:spPr>
            <a:xfrm>
              <a:off x="5730594" y="5779512"/>
              <a:ext cx="855009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ExecTime</a:t>
              </a:r>
              <a:r>
                <a:rPr sz="1257" i="1" spc="-13" baseline="-23391" dirty="0">
                  <a:latin typeface="Times New Roman"/>
                  <a:cs typeface="Times New Roman"/>
                </a:rPr>
                <a:t>B</a:t>
              </a:r>
              <a:endParaRPr sz="1257" baseline="-23391">
                <a:latin typeface="Times New Roman"/>
                <a:cs typeface="Times New Roman"/>
              </a:endParaRPr>
            </a:p>
          </p:txBody>
        </p:sp>
        <p:sp>
          <p:nvSpPr>
            <p:cNvPr id="76" name="object 76"/>
            <p:cNvSpPr txBox="1"/>
            <p:nvPr/>
          </p:nvSpPr>
          <p:spPr>
            <a:xfrm>
              <a:off x="5563581" y="5545996"/>
              <a:ext cx="1185022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2118" i="1" spc="-13" baseline="13888" dirty="0">
                  <a:latin typeface="Times New Roman"/>
                  <a:cs typeface="Times New Roman"/>
                </a:rPr>
                <a:t>ExecTime</a:t>
              </a:r>
              <a:r>
                <a:rPr sz="838" i="1" spc="-9" dirty="0">
                  <a:latin typeface="Times New Roman"/>
                  <a:cs typeface="Times New Roman"/>
                </a:rPr>
                <a:t>reference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77" name="object 77"/>
            <p:cNvSpPr txBox="1"/>
            <p:nvPr/>
          </p:nvSpPr>
          <p:spPr>
            <a:xfrm>
              <a:off x="4909704" y="5705157"/>
              <a:ext cx="44263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574" i="1" spc="-44" dirty="0">
                  <a:latin typeface="Times New Roman"/>
                  <a:cs typeface="Times New Roman"/>
                </a:rPr>
                <a:t>i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8" name="object 78"/>
            <p:cNvSpPr txBox="1"/>
            <p:nvPr/>
          </p:nvSpPr>
          <p:spPr>
            <a:xfrm>
              <a:off x="4909703" y="5420328"/>
              <a:ext cx="86846" cy="103068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574" i="1" u="sng" spc="-44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i</a:t>
              </a:r>
              <a:r>
                <a:rPr sz="574" i="1" u="sng" spc="441" dirty="0">
                  <a:uFill>
                    <a:solidFill>
                      <a:srgbClr val="000000"/>
                    </a:solidFill>
                  </a:uFill>
                  <a:latin typeface="Times New Roman"/>
                  <a:cs typeface="Times New Roman"/>
                </a:rPr>
                <a:t> </a:t>
              </a:r>
              <a:endParaRPr sz="574">
                <a:latin typeface="Times New Roman"/>
                <a:cs typeface="Times New Roman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7379517" y="5241096"/>
              <a:ext cx="978834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Performance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80" name="object 80"/>
            <p:cNvSpPr txBox="1"/>
            <p:nvPr/>
          </p:nvSpPr>
          <p:spPr>
            <a:xfrm>
              <a:off x="6846904" y="5383886"/>
              <a:ext cx="221876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dirty="0">
                  <a:latin typeface="Symbol"/>
                  <a:cs typeface="Symbol"/>
                </a:rPr>
                <a:t></a:t>
              </a:r>
              <a:r>
                <a:rPr sz="1412" spc="9" dirty="0">
                  <a:latin typeface="Times New Roman"/>
                  <a:cs typeface="Times New Roman"/>
                </a:rPr>
                <a:t> </a:t>
              </a: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81" name="object 81"/>
            <p:cNvSpPr txBox="1"/>
            <p:nvPr/>
          </p:nvSpPr>
          <p:spPr>
            <a:xfrm>
              <a:off x="7108176" y="5335924"/>
              <a:ext cx="252693" cy="47254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lnSpc>
                  <a:spcPts val="2480"/>
                </a:lnSpc>
                <a:spcBef>
                  <a:spcPts val="84"/>
                </a:spcBef>
              </a:pPr>
              <a:r>
                <a:rPr sz="2162" spc="-44" dirty="0">
                  <a:latin typeface="Symbol"/>
                  <a:cs typeface="Symbol"/>
                </a:rPr>
                <a:t></a:t>
              </a:r>
              <a:endParaRPr sz="2162">
                <a:latin typeface="Symbol"/>
                <a:cs typeface="Symbol"/>
              </a:endParaRPr>
            </a:p>
            <a:p>
              <a:pPr marL="56593">
                <a:lnSpc>
                  <a:spcPts val="891"/>
                </a:lnSpc>
              </a:pPr>
              <a:r>
                <a:rPr sz="838" i="1" spc="-22" dirty="0">
                  <a:latin typeface="Times New Roman"/>
                  <a:cs typeface="Times New Roman"/>
                </a:rPr>
                <a:t>i</a:t>
              </a:r>
              <a:r>
                <a:rPr sz="838" spc="-22" dirty="0">
                  <a:latin typeface="Symbol"/>
                  <a:cs typeface="Symbol"/>
                </a:rPr>
                <a:t></a:t>
              </a:r>
              <a:r>
                <a:rPr sz="838" spc="-22" dirty="0">
                  <a:latin typeface="Times New Roman"/>
                  <a:cs typeface="Times New Roman"/>
                </a:rPr>
                <a:t>1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82" name="object 82"/>
            <p:cNvSpPr txBox="1"/>
            <p:nvPr/>
          </p:nvSpPr>
          <p:spPr>
            <a:xfrm>
              <a:off x="5753006" y="5241096"/>
              <a:ext cx="753596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ExecTime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83" name="object 83"/>
            <p:cNvSpPr txBox="1"/>
            <p:nvPr/>
          </p:nvSpPr>
          <p:spPr>
            <a:xfrm>
              <a:off x="5563581" y="5007598"/>
              <a:ext cx="1185022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2118" i="1" spc="-13" baseline="13888" dirty="0">
                  <a:latin typeface="Times New Roman"/>
                  <a:cs typeface="Times New Roman"/>
                </a:rPr>
                <a:t>ExecTime</a:t>
              </a:r>
              <a:r>
                <a:rPr sz="838" i="1" spc="-9" dirty="0">
                  <a:latin typeface="Times New Roman"/>
                  <a:cs typeface="Times New Roman"/>
                </a:rPr>
                <a:t>reference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84" name="object 84"/>
            <p:cNvSpPr txBox="1"/>
            <p:nvPr/>
          </p:nvSpPr>
          <p:spPr>
            <a:xfrm>
              <a:off x="5182415" y="5335924"/>
              <a:ext cx="369794" cy="47254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lnSpc>
                  <a:spcPts val="2480"/>
                </a:lnSpc>
                <a:spcBef>
                  <a:spcPts val="84"/>
                </a:spcBef>
              </a:pPr>
              <a:r>
                <a:rPr sz="838" i="1" dirty="0">
                  <a:latin typeface="Times New Roman"/>
                  <a:cs typeface="Times New Roman"/>
                </a:rPr>
                <a:t>n</a:t>
              </a:r>
              <a:r>
                <a:rPr sz="838" i="1" spc="282" dirty="0">
                  <a:latin typeface="Times New Roman"/>
                  <a:cs typeface="Times New Roman"/>
                </a:rPr>
                <a:t> </a:t>
              </a:r>
              <a:r>
                <a:rPr sz="2162" spc="-53" dirty="0">
                  <a:latin typeface="Symbol"/>
                  <a:cs typeface="Symbol"/>
                </a:rPr>
                <a:t></a:t>
              </a:r>
              <a:endParaRPr sz="2162">
                <a:latin typeface="Symbol"/>
                <a:cs typeface="Symbol"/>
              </a:endParaRPr>
            </a:p>
            <a:p>
              <a:pPr marL="173700">
                <a:lnSpc>
                  <a:spcPts val="891"/>
                </a:lnSpc>
              </a:pPr>
              <a:r>
                <a:rPr sz="838" i="1" spc="-22" dirty="0">
                  <a:latin typeface="Times New Roman"/>
                  <a:cs typeface="Times New Roman"/>
                </a:rPr>
                <a:t>i</a:t>
              </a:r>
              <a:r>
                <a:rPr sz="838" spc="-22" dirty="0">
                  <a:latin typeface="Symbol"/>
                  <a:cs typeface="Symbol"/>
                </a:rPr>
                <a:t></a:t>
              </a:r>
              <a:r>
                <a:rPr sz="838" spc="-22" dirty="0">
                  <a:latin typeface="Times New Roman"/>
                  <a:cs typeface="Times New Roman"/>
                </a:rPr>
                <a:t>1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85" name="object 85"/>
            <p:cNvSpPr txBox="1"/>
            <p:nvPr/>
          </p:nvSpPr>
          <p:spPr>
            <a:xfrm>
              <a:off x="4009052" y="5241096"/>
              <a:ext cx="862853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86" name="object 86"/>
            <p:cNvSpPr txBox="1"/>
            <p:nvPr/>
          </p:nvSpPr>
          <p:spPr>
            <a:xfrm>
              <a:off x="2450110" y="5667965"/>
              <a:ext cx="862853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endParaRPr sz="1412">
                <a:latin typeface="Times New Roman"/>
                <a:cs typeface="Times New Roman"/>
              </a:endParaRPr>
            </a:p>
          </p:txBody>
        </p:sp>
        <p:sp>
          <p:nvSpPr>
            <p:cNvPr id="87" name="object 87"/>
            <p:cNvSpPr txBox="1"/>
            <p:nvPr/>
          </p:nvSpPr>
          <p:spPr>
            <a:xfrm>
              <a:off x="2196921" y="5620753"/>
              <a:ext cx="252693" cy="472543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lnSpc>
                  <a:spcPts val="2480"/>
                </a:lnSpc>
                <a:spcBef>
                  <a:spcPts val="84"/>
                </a:spcBef>
              </a:pPr>
              <a:r>
                <a:rPr sz="2162" spc="-44" dirty="0">
                  <a:latin typeface="Symbol"/>
                  <a:cs typeface="Symbol"/>
                </a:rPr>
                <a:t></a:t>
              </a:r>
              <a:endParaRPr sz="2162">
                <a:latin typeface="Symbol"/>
                <a:cs typeface="Symbol"/>
              </a:endParaRPr>
            </a:p>
            <a:p>
              <a:pPr marL="56593">
                <a:lnSpc>
                  <a:spcPts val="891"/>
                </a:lnSpc>
              </a:pPr>
              <a:r>
                <a:rPr sz="838" i="1" spc="-22" dirty="0">
                  <a:latin typeface="Times New Roman"/>
                  <a:cs typeface="Times New Roman"/>
                </a:rPr>
                <a:t>i</a:t>
              </a:r>
              <a:r>
                <a:rPr sz="838" spc="-22" dirty="0">
                  <a:latin typeface="Symbol"/>
                  <a:cs typeface="Symbol"/>
                </a:rPr>
                <a:t></a:t>
              </a:r>
              <a:r>
                <a:rPr sz="838" spc="-22" dirty="0">
                  <a:latin typeface="Times New Roman"/>
                  <a:cs typeface="Times New Roman"/>
                </a:rPr>
                <a:t>1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88" name="object 88"/>
            <p:cNvSpPr txBox="1"/>
            <p:nvPr/>
          </p:nvSpPr>
          <p:spPr>
            <a:xfrm>
              <a:off x="587688" y="5267877"/>
              <a:ext cx="1213597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i="1" spc="-9" dirty="0">
                  <a:latin typeface="Times New Roman"/>
                  <a:cs typeface="Times New Roman"/>
                </a:rPr>
                <a:t>GeometricMean</a:t>
              </a:r>
              <a:endParaRPr sz="1412" dirty="0">
                <a:latin typeface="Times New Roman"/>
                <a:cs typeface="Times New Roman"/>
              </a:endParaRPr>
            </a:p>
          </p:txBody>
        </p:sp>
        <p:sp>
          <p:nvSpPr>
            <p:cNvPr id="89" name="object 89"/>
            <p:cNvSpPr txBox="1"/>
            <p:nvPr/>
          </p:nvSpPr>
          <p:spPr>
            <a:xfrm>
              <a:off x="3740611" y="5335925"/>
              <a:ext cx="252693" cy="343470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2162" spc="-44" dirty="0">
                  <a:latin typeface="Symbol"/>
                  <a:cs typeface="Symbol"/>
                </a:rPr>
                <a:t></a:t>
              </a:r>
              <a:endParaRPr sz="2162">
                <a:latin typeface="Symbol"/>
                <a:cs typeface="Symbol"/>
              </a:endParaRPr>
            </a:p>
          </p:txBody>
        </p:sp>
        <p:sp>
          <p:nvSpPr>
            <p:cNvPr id="90" name="object 90"/>
            <p:cNvSpPr txBox="1"/>
            <p:nvPr/>
          </p:nvSpPr>
          <p:spPr>
            <a:xfrm>
              <a:off x="3478881" y="5383886"/>
              <a:ext cx="221876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dirty="0">
                  <a:latin typeface="Symbol"/>
                  <a:cs typeface="Symbol"/>
                </a:rPr>
                <a:t></a:t>
              </a:r>
              <a:r>
                <a:rPr sz="1412" spc="9" dirty="0">
                  <a:latin typeface="Times New Roman"/>
                  <a:cs typeface="Times New Roman"/>
                </a:rPr>
                <a:t> </a:t>
              </a:r>
              <a:r>
                <a:rPr sz="838" i="1" spc="-44" dirty="0">
                  <a:latin typeface="Times New Roman"/>
                  <a:cs typeface="Times New Roman"/>
                </a:rPr>
                <a:t>n</a:t>
              </a:r>
              <a:endParaRPr sz="838">
                <a:latin typeface="Times New Roman"/>
                <a:cs typeface="Times New Roman"/>
              </a:endParaRPr>
            </a:p>
          </p:txBody>
        </p:sp>
        <p:sp>
          <p:nvSpPr>
            <p:cNvPr id="91" name="object 91"/>
            <p:cNvSpPr txBox="1"/>
            <p:nvPr/>
          </p:nvSpPr>
          <p:spPr>
            <a:xfrm>
              <a:off x="3763957" y="5525925"/>
              <a:ext cx="1195107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33619">
                <a:spcBef>
                  <a:spcPts val="115"/>
                </a:spcBef>
              </a:pPr>
              <a:r>
                <a:rPr sz="1257" i="1" baseline="-17543" dirty="0">
                  <a:latin typeface="Times New Roman"/>
                  <a:cs typeface="Times New Roman"/>
                </a:rPr>
                <a:t>i</a:t>
              </a:r>
              <a:r>
                <a:rPr sz="1257" baseline="-17543" dirty="0">
                  <a:latin typeface="Symbol"/>
                  <a:cs typeface="Symbol"/>
                </a:rPr>
                <a:t></a:t>
              </a:r>
              <a:r>
                <a:rPr sz="1257" baseline="-17543" dirty="0">
                  <a:latin typeface="Times New Roman"/>
                  <a:cs typeface="Times New Roman"/>
                </a:rPr>
                <a:t>1</a:t>
              </a:r>
              <a:r>
                <a:rPr sz="1257" spc="628" baseline="-17543" dirty="0">
                  <a:latin typeface="Times New Roman"/>
                  <a:cs typeface="Times New Roman"/>
                </a:rPr>
                <a:t> </a:t>
              </a:r>
              <a:r>
                <a:rPr sz="1412" i="1" spc="-9" dirty="0">
                  <a:latin typeface="Times New Roman"/>
                  <a:cs typeface="Times New Roman"/>
                </a:rPr>
                <a:t>SPECRatio</a:t>
              </a:r>
              <a:r>
                <a:rPr sz="1257" i="1" spc="-13" baseline="-23391" dirty="0">
                  <a:latin typeface="Times New Roman"/>
                  <a:cs typeface="Times New Roman"/>
                </a:rPr>
                <a:t>B</a:t>
              </a:r>
              <a:endParaRPr sz="1257" baseline="-23391">
                <a:latin typeface="Times New Roman"/>
                <a:cs typeface="Times New Roman"/>
              </a:endParaRPr>
            </a:p>
          </p:txBody>
        </p:sp>
        <p:sp>
          <p:nvSpPr>
            <p:cNvPr id="92" name="object 92"/>
            <p:cNvSpPr txBox="1"/>
            <p:nvPr/>
          </p:nvSpPr>
          <p:spPr>
            <a:xfrm>
              <a:off x="5037671" y="5383137"/>
              <a:ext cx="124946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spc="-44" dirty="0">
                  <a:latin typeface="Symbol"/>
                  <a:cs typeface="Symbol"/>
                </a:rPr>
                <a:t></a:t>
              </a:r>
              <a:endParaRPr sz="1412">
                <a:latin typeface="Symbol"/>
                <a:cs typeface="Symbol"/>
              </a:endParaRPr>
            </a:p>
          </p:txBody>
        </p:sp>
        <p:sp>
          <p:nvSpPr>
            <p:cNvPr id="93" name="object 93"/>
            <p:cNvSpPr txBox="1"/>
            <p:nvPr/>
          </p:nvSpPr>
          <p:spPr>
            <a:xfrm>
              <a:off x="1920090" y="5383137"/>
              <a:ext cx="124946" cy="232014"/>
            </a:xfrm>
            <a:prstGeom prst="rect">
              <a:avLst/>
            </a:prstGeom>
          </p:spPr>
          <p:txBody>
            <a:bodyPr vert="horz" wrap="square" lIns="0" tIns="14568" rIns="0" bIns="0" rtlCol="0">
              <a:spAutoFit/>
            </a:bodyPr>
            <a:lstStyle/>
            <a:p>
              <a:pPr marL="11206">
                <a:spcBef>
                  <a:spcPts val="115"/>
                </a:spcBef>
              </a:pPr>
              <a:r>
                <a:rPr sz="1412" spc="-44" dirty="0">
                  <a:latin typeface="Symbol"/>
                  <a:cs typeface="Symbol"/>
                </a:rPr>
                <a:t></a:t>
              </a:r>
              <a:endParaRPr sz="1412">
                <a:latin typeface="Symbol"/>
                <a:cs typeface="Symbol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17A971F-5EC5-8E2C-B4BF-71162C3E933A}"/>
              </a:ext>
            </a:extLst>
          </p:cNvPr>
          <p:cNvSpPr txBox="1"/>
          <p:nvPr/>
        </p:nvSpPr>
        <p:spPr>
          <a:xfrm>
            <a:off x="612741" y="1013666"/>
            <a:ext cx="8207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6520" indent="-342900">
              <a:spcBef>
                <a:spcPts val="88"/>
              </a:spcBef>
              <a:buSzPct val="120000"/>
              <a:buFont typeface="Wingdings" panose="05000000000000000000" pitchFamily="2" charset="2"/>
              <a:buChar char="§"/>
              <a:tabLst>
                <a:tab pos="302015" algn="l"/>
              </a:tabLst>
            </a:pPr>
            <a:r>
              <a:rPr lang="en-US" sz="24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lang="en-US"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spc="-18" dirty="0">
                <a:solidFill>
                  <a:srgbClr val="003399"/>
                </a:solidFill>
                <a:latin typeface="+mn-lt"/>
                <a:cs typeface="Calibri"/>
              </a:rPr>
              <a:t>performance</a:t>
            </a:r>
            <a:r>
              <a:rPr lang="en-US"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spc="-9" dirty="0">
                <a:solidFill>
                  <a:srgbClr val="003399"/>
                </a:solidFill>
                <a:latin typeface="+mn-lt"/>
                <a:cs typeface="Calibri"/>
              </a:rPr>
              <a:t>ratios,</a:t>
            </a:r>
            <a:r>
              <a:rPr lang="en-US"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+mn-lt"/>
                <a:cs typeface="Calibri"/>
              </a:rPr>
              <a:t>use</a:t>
            </a:r>
            <a:r>
              <a:rPr lang="en-US"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lang="en-US"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spc="-18" dirty="0">
                <a:solidFill>
                  <a:srgbClr val="003399"/>
                </a:solidFill>
                <a:latin typeface="+mn-lt"/>
                <a:cs typeface="Calibri"/>
              </a:rPr>
              <a:t>geometric</a:t>
            </a:r>
            <a:r>
              <a:rPr lang="en-US"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spc="-18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endParaRPr lang="en-US"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SPEC Ratio</a:t>
            </a:r>
            <a:r>
              <a:rPr spc="-4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1560" y="986954"/>
            <a:ext cx="7848872" cy="5034334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440975" marR="30257" indent="-430329">
              <a:spcBef>
                <a:spcPts val="397"/>
              </a:spcBef>
              <a:buSzPct val="88461"/>
              <a:buAutoNum type="arabicPeriod"/>
              <a:tabLst>
                <a:tab pos="440975" algn="l"/>
              </a:tabLst>
            </a:pP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ratio</a:t>
            </a:r>
            <a:r>
              <a:rPr sz="2400" spc="-88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+mn-lt"/>
                <a:cs typeface="Calibri"/>
              </a:rPr>
              <a:t>geometric</a:t>
            </a:r>
            <a:r>
              <a:rPr sz="2400" spc="-88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means</a:t>
            </a:r>
            <a:r>
              <a:rPr sz="2400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SPEC</a:t>
            </a:r>
            <a:r>
              <a:rPr sz="2400" spc="-93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Ratio</a:t>
            </a:r>
            <a:r>
              <a:rPr sz="2400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is</a:t>
            </a:r>
            <a:r>
              <a:rPr sz="2400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equal</a:t>
            </a:r>
            <a:r>
              <a:rPr sz="2400" spc="-7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FF0000"/>
                </a:solidFill>
                <a:latin typeface="+mn-lt"/>
                <a:cs typeface="Calibri"/>
              </a:rPr>
              <a:t>to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+mn-lt"/>
                <a:cs typeface="Calibri"/>
              </a:rPr>
              <a:t>geometric</a:t>
            </a:r>
            <a:r>
              <a:rPr sz="2400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mean</a:t>
            </a:r>
            <a:r>
              <a:rPr sz="2400" spc="-79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of</a:t>
            </a:r>
            <a:r>
              <a:rPr sz="2400" spc="-7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+mn-lt"/>
                <a:cs typeface="Calibri"/>
              </a:rPr>
              <a:t>performance</a:t>
            </a:r>
            <a:r>
              <a:rPr sz="2400" spc="-7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ratios</a:t>
            </a:r>
            <a:endParaRPr sz="2400" dirty="0">
              <a:latin typeface="+mn-lt"/>
              <a:cs typeface="Calibri"/>
            </a:endParaRPr>
          </a:p>
          <a:p>
            <a:pPr marL="440975" indent="-429769">
              <a:spcBef>
                <a:spcPts val="468"/>
              </a:spcBef>
              <a:spcAft>
                <a:spcPts val="2400"/>
              </a:spcAft>
              <a:buSzPct val="88461"/>
              <a:buAutoNum type="arabicPeriod"/>
              <a:tabLst>
                <a:tab pos="440975" algn="l"/>
              </a:tabLst>
            </a:pP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The</a:t>
            </a:r>
            <a:r>
              <a:rPr sz="2400" spc="-7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choice</a:t>
            </a:r>
            <a:r>
              <a:rPr sz="2400" spc="-7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of</a:t>
            </a:r>
            <a:r>
              <a:rPr sz="2400" spc="-66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reference</a:t>
            </a:r>
            <a:r>
              <a:rPr sz="2400" spc="-7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+mn-lt"/>
                <a:cs typeface="Calibri"/>
              </a:rPr>
              <a:t>computer</a:t>
            </a:r>
            <a:r>
              <a:rPr sz="2400" spc="-66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+mn-lt"/>
                <a:cs typeface="Calibri"/>
              </a:rPr>
              <a:t>is</a:t>
            </a:r>
            <a:r>
              <a:rPr sz="2400" spc="-7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Calibri"/>
              </a:rPr>
              <a:t>irrelevant</a:t>
            </a:r>
            <a:endParaRPr sz="2400" dirty="0">
              <a:latin typeface="+mn-lt"/>
              <a:cs typeface="Calibri"/>
            </a:endParaRPr>
          </a:p>
          <a:p>
            <a:pPr marL="354106" marR="802383" lvl="1" indent="-342900">
              <a:spcBef>
                <a:spcPts val="4"/>
              </a:spcBef>
              <a:spcAft>
                <a:spcPts val="24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These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two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points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make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geometric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mean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ratios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attractive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summarize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performance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54106" marR="676311" lvl="1" indent="-342900">
              <a:spcBef>
                <a:spcPts val="4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u="heavy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Key</a:t>
            </a:r>
            <a:r>
              <a:rPr sz="2400" u="heavy" spc="-8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u="heavy" spc="-1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Question</a:t>
            </a:r>
            <a:r>
              <a:rPr sz="2400" spc="-1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:</a:t>
            </a:r>
            <a:r>
              <a:rPr sz="2400" spc="-84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Does</a:t>
            </a:r>
            <a:r>
              <a:rPr sz="2400" spc="-8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a</a:t>
            </a:r>
            <a:r>
              <a:rPr sz="2400" spc="-8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single</a:t>
            </a:r>
            <a:r>
              <a:rPr sz="2400" spc="-84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mean</a:t>
            </a:r>
            <a:r>
              <a:rPr sz="2400" spc="-8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well</a:t>
            </a:r>
            <a:r>
              <a:rPr lang="en-US" sz="2400" spc="-84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summarize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performance</a:t>
            </a:r>
            <a:r>
              <a:rPr sz="2400" spc="-62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of</a:t>
            </a:r>
            <a:r>
              <a:rPr sz="2400" spc="-53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programs</a:t>
            </a:r>
            <a:r>
              <a:rPr sz="2400" spc="-57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in</a:t>
            </a:r>
            <a:r>
              <a:rPr sz="2400" spc="-66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benchmark</a:t>
            </a:r>
            <a:r>
              <a:rPr sz="2400" spc="-66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suite?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237577" lvl="2" indent="-342900" algn="just">
              <a:spcBef>
                <a:spcPts val="693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Can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answer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question,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000" spc="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characterize</a:t>
            </a:r>
            <a:r>
              <a:rPr sz="2000" spc="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variability</a:t>
            </a:r>
            <a:r>
              <a:rPr sz="2000" spc="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22" dirty="0">
                <a:solidFill>
                  <a:srgbClr val="003399"/>
                </a:solidFill>
                <a:latin typeface="+mn-lt"/>
                <a:cs typeface="Calibri"/>
              </a:rPr>
              <a:t>of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distribution</a:t>
            </a:r>
            <a:r>
              <a:rPr sz="2000" spc="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using</a:t>
            </a:r>
            <a:r>
              <a:rPr sz="2000" spc="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standard</a:t>
            </a:r>
            <a:r>
              <a:rPr sz="2000" spc="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deviation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83875" marR="4483" lvl="2" indent="-342900">
              <a:spcBef>
                <a:spcPts val="706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Take</a:t>
            </a:r>
            <a:r>
              <a:rPr sz="2000" spc="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logarithm</a:t>
            </a:r>
            <a:r>
              <a:rPr sz="2000" spc="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000" spc="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SPECRatios,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53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compute</a:t>
            </a:r>
            <a:r>
              <a:rPr sz="2000" spc="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standard</a:t>
            </a:r>
            <a:r>
              <a:rPr sz="2000" spc="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18" dirty="0">
                <a:solidFill>
                  <a:srgbClr val="003399"/>
                </a:solidFill>
                <a:latin typeface="+mn-lt"/>
                <a:cs typeface="Calibri"/>
              </a:rPr>
              <a:t>mean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000" spc="4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standard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deviation,</a:t>
            </a:r>
            <a:r>
              <a:rPr sz="2000" spc="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000" spc="49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then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take</a:t>
            </a:r>
            <a:r>
              <a:rPr sz="2000" spc="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exponent</a:t>
            </a:r>
            <a:r>
              <a:rPr sz="2000" spc="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000" spc="5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000" spc="-9" dirty="0">
                <a:solidFill>
                  <a:srgbClr val="003399"/>
                </a:solidFill>
                <a:latin typeface="+mn-lt"/>
                <a:cs typeface="Calibri"/>
              </a:rPr>
              <a:t>convert back</a:t>
            </a:r>
            <a:endParaRPr sz="20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AU" dirty="0"/>
              <a:t>Principles of Computer Design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Take Advantage of Parallelism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e.g. multiple processors, disks, memory banks, pipelining, multiple functional units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Principle of Locality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Reuse of data and instructions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Focus on the Common Case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Amdahl’s Law</a:t>
            </a:r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366864" y="407804"/>
            <a:ext cx="1184940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Principles</a:t>
            </a:r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85868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How</a:t>
            </a:r>
            <a:r>
              <a:rPr spc="13" dirty="0"/>
              <a:t> </a:t>
            </a:r>
            <a:r>
              <a:rPr dirty="0"/>
              <a:t>to</a:t>
            </a:r>
            <a:r>
              <a:rPr spc="18" dirty="0"/>
              <a:t> </a:t>
            </a:r>
            <a:r>
              <a:rPr dirty="0"/>
              <a:t>make</a:t>
            </a:r>
            <a:r>
              <a:rPr spc="13" dirty="0"/>
              <a:t> </a:t>
            </a:r>
            <a:r>
              <a:rPr dirty="0"/>
              <a:t>computers</a:t>
            </a:r>
            <a:r>
              <a:rPr spc="9" dirty="0"/>
              <a:t> </a:t>
            </a:r>
            <a:r>
              <a:rPr spc="-9" dirty="0"/>
              <a:t>faster</a:t>
            </a:r>
            <a:r>
              <a:rPr lang="en-US" spc="-9" dirty="0"/>
              <a:t>?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691306" y="1412776"/>
            <a:ext cx="7858686" cy="368668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68407" indent="-457200">
              <a:spcBef>
                <a:spcPts val="88"/>
              </a:spcBef>
              <a:spcAft>
                <a:spcPts val="3000"/>
              </a:spcAft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b="1" spc="-9" dirty="0">
                <a:solidFill>
                  <a:srgbClr val="003399"/>
                </a:solidFill>
                <a:latin typeface="+mn-lt"/>
                <a:cs typeface="Calibri"/>
              </a:rPr>
              <a:t>Make</a:t>
            </a:r>
            <a:r>
              <a:rPr sz="2800" b="1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800" b="1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spc="-22" dirty="0">
                <a:solidFill>
                  <a:srgbClr val="003399"/>
                </a:solidFill>
                <a:latin typeface="+mn-lt"/>
                <a:cs typeface="Calibri"/>
              </a:rPr>
              <a:t>common</a:t>
            </a:r>
            <a:r>
              <a:rPr sz="2800" b="1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spc="-9" dirty="0">
                <a:solidFill>
                  <a:srgbClr val="003399"/>
                </a:solidFill>
                <a:latin typeface="+mn-lt"/>
                <a:cs typeface="Calibri"/>
              </a:rPr>
              <a:t>cases</a:t>
            </a:r>
            <a:r>
              <a:rPr sz="2800" b="1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b="1" spc="-9" dirty="0">
                <a:solidFill>
                  <a:srgbClr val="003399"/>
                </a:solidFill>
                <a:latin typeface="+mn-lt"/>
                <a:cs typeface="Calibri"/>
              </a:rPr>
              <a:t>faster!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68406" marR="4483" indent="-457200">
              <a:spcAft>
                <a:spcPts val="30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  <a:tab pos="1474773" algn="l"/>
              </a:tabLst>
            </a:pP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Example: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	</a:t>
            </a:r>
            <a:b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Put</a:t>
            </a:r>
            <a:r>
              <a:rPr sz="24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more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effort</a:t>
            </a:r>
            <a:r>
              <a:rPr sz="24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4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funds</a:t>
            </a:r>
            <a:r>
              <a:rPr sz="2400" spc="-9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into</a:t>
            </a:r>
            <a:r>
              <a:rPr sz="2400" spc="-97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optimizing</a:t>
            </a:r>
            <a:r>
              <a:rPr sz="240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+mn-lt"/>
                <a:cs typeface="Calibri"/>
              </a:rPr>
              <a:t>the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hardware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for</a:t>
            </a:r>
            <a:r>
              <a:rPr sz="24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addition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than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to</a:t>
            </a:r>
            <a:r>
              <a:rPr sz="2400" spc="-8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optimize</a:t>
            </a:r>
            <a:r>
              <a:rPr sz="2400" spc="-8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square</a:t>
            </a:r>
            <a:r>
              <a:rPr sz="2400" spc="-7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root</a:t>
            </a:r>
            <a:endParaRPr lang="en-US" sz="2400" spc="-18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468406" marR="4483" indent="-457200">
              <a:lnSpc>
                <a:spcPts val="2480"/>
              </a:lnSpc>
              <a:buSzPct val="120000"/>
              <a:buFont typeface="Wingdings" panose="05000000000000000000" pitchFamily="2" charset="2"/>
              <a:buChar char="§"/>
              <a:tabLst>
                <a:tab pos="280162" algn="l"/>
                <a:tab pos="1474773" algn="l"/>
              </a:tabLst>
            </a:pPr>
            <a:r>
              <a:rPr lang="en-US" sz="2800" b="1" spc="-18" dirty="0">
                <a:solidFill>
                  <a:srgbClr val="FF0000"/>
                </a:solidFill>
                <a:latin typeface="+mn-lt"/>
                <a:cs typeface="Calibri"/>
              </a:rPr>
              <a:t>Amdahl's</a:t>
            </a:r>
            <a:r>
              <a:rPr lang="en-US" sz="2800" b="1" spc="-8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800" b="1" spc="-22" dirty="0">
                <a:solidFill>
                  <a:srgbClr val="FF0000"/>
                </a:solidFill>
                <a:latin typeface="+mn-lt"/>
                <a:cs typeface="Calibri"/>
              </a:rPr>
              <a:t>law</a:t>
            </a:r>
            <a:r>
              <a:rPr lang="en-US" sz="2800" b="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+mn-lt"/>
                <a:cs typeface="Calibri"/>
              </a:rPr>
              <a:t>quantifies</a:t>
            </a:r>
            <a:r>
              <a:rPr lang="en-US"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+mn-lt"/>
                <a:cs typeface="Calibri"/>
              </a:rPr>
              <a:t>this</a:t>
            </a:r>
            <a:r>
              <a:rPr lang="en-US"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+mn-lt"/>
                <a:cs typeface="Calibri"/>
              </a:rPr>
              <a:t>principle:</a:t>
            </a:r>
          </a:p>
          <a:p>
            <a:pPr marL="800100" marR="4483" indent="-342900">
              <a:buSzPct val="120000"/>
              <a:buFontTx/>
              <a:buChar char="-"/>
              <a:tabLst>
                <a:tab pos="280162" algn="l"/>
                <a:tab pos="1474773" algn="l"/>
              </a:tabLst>
            </a:pP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Define</a:t>
            </a:r>
            <a:r>
              <a:rPr lang="en-US"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b="1" spc="-9" dirty="0">
                <a:solidFill>
                  <a:srgbClr val="0033CC"/>
                </a:solidFill>
                <a:latin typeface="+mn-lt"/>
                <a:cs typeface="Calibri"/>
              </a:rPr>
              <a:t>speedup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as the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time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task took originally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divided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by</a:t>
            </a:r>
            <a:r>
              <a:rPr lang="en-US"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lang="en-US"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spc="-18" dirty="0">
                <a:solidFill>
                  <a:srgbClr val="0033CC"/>
                </a:solidFill>
                <a:latin typeface="+mn-lt"/>
                <a:cs typeface="Calibri"/>
              </a:rPr>
              <a:t>time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lang="en-US"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task takes</a:t>
            </a:r>
            <a:r>
              <a:rPr lang="en-US"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after</a:t>
            </a:r>
            <a:r>
              <a:rPr lang="en-US"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improvement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Amdahl’s</a:t>
            </a:r>
            <a:r>
              <a:rPr spc="18" dirty="0"/>
              <a:t> </a:t>
            </a:r>
            <a:r>
              <a:rPr spc="-22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1600" y="1367234"/>
            <a:ext cx="6624736" cy="3573934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468406" marR="387183" indent="-457200">
              <a:spcBef>
                <a:spcPts val="397"/>
              </a:spcBef>
              <a:spcAft>
                <a:spcPts val="6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Then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Amdahl's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Law</a:t>
            </a:r>
            <a:r>
              <a:rPr sz="28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tells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us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what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44" dirty="0">
                <a:solidFill>
                  <a:srgbClr val="003399"/>
                </a:solidFill>
                <a:latin typeface="+mn-lt"/>
                <a:cs typeface="Calibri"/>
              </a:rPr>
              <a:t>a </a:t>
            </a: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particular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8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is,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+mn-lt"/>
                <a:cs typeface="Calibri"/>
              </a:rPr>
              <a:t>given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726725" marR="4483" lvl="1" indent="-285750">
              <a:spcBef>
                <a:spcPts val="591"/>
              </a:spcBef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F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raction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i="1" dirty="0">
                <a:solidFill>
                  <a:srgbClr val="0033CC"/>
                </a:solidFill>
                <a:latin typeface="+mn-lt"/>
                <a:cs typeface="Calibri"/>
              </a:rPr>
              <a:t>f</a:t>
            </a:r>
            <a:r>
              <a:rPr sz="2400" i="1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original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execution</a:t>
            </a:r>
            <a:r>
              <a:rPr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time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400" spc="18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that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task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could</a:t>
            </a:r>
            <a:r>
              <a:rPr sz="2400" spc="2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use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+mn-lt"/>
                <a:cs typeface="Calibri"/>
              </a:rPr>
              <a:t>the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improvement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30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T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he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speedup</a:t>
            </a:r>
            <a:r>
              <a:rPr lang="en-US" sz="2400" dirty="0">
                <a:solidFill>
                  <a:srgbClr val="0033CC"/>
                </a:solidFill>
                <a:latin typeface="+mn-lt"/>
                <a:cs typeface="Calibri"/>
              </a:rPr>
              <a:t> factor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i="1" dirty="0">
                <a:solidFill>
                  <a:srgbClr val="0033CC"/>
                </a:solidFill>
                <a:latin typeface="+mn-lt"/>
                <a:cs typeface="Calibri"/>
              </a:rPr>
              <a:t>s</a:t>
            </a:r>
            <a:r>
              <a:rPr sz="2400" i="1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task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that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always</a:t>
            </a:r>
            <a:r>
              <a:rPr sz="2400" spc="4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uses</a:t>
            </a:r>
            <a:r>
              <a:rPr sz="2400" spc="9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improvement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468407" indent="-457200"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Then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what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8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8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8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8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+mn-lt"/>
                <a:cs typeface="Calibri"/>
              </a:rPr>
              <a:t>task?</a:t>
            </a:r>
            <a:endParaRPr sz="28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3568" y="1340768"/>
            <a:ext cx="8136904" cy="259869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5873" indent="-342900" algn="just">
              <a:lnSpc>
                <a:spcPts val="2616"/>
              </a:lnSpc>
              <a:spcBef>
                <a:spcPts val="2122"/>
              </a:spcBef>
              <a:spcAft>
                <a:spcPts val="600"/>
              </a:spcAft>
              <a:buSzPct val="120000"/>
              <a:buFont typeface="Wingdings" panose="05000000000000000000" pitchFamily="2" charset="2"/>
              <a:buChar char="§"/>
              <a:tabLst>
                <a:tab pos="290808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Suppose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original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runs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dirty="0">
                <a:solidFill>
                  <a:srgbClr val="003399"/>
                </a:solidFill>
                <a:latin typeface="+mn-lt"/>
                <a:cs typeface="Calibri"/>
              </a:rPr>
              <a:t>1</a:t>
            </a:r>
            <a:r>
              <a:rPr sz="2400" i="1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second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634829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sz="2400" b="1" i="1" dirty="0">
                <a:solidFill>
                  <a:srgbClr val="0033CC"/>
                </a:solidFill>
                <a:latin typeface="+mn-lt"/>
                <a:cs typeface="Calibri"/>
              </a:rPr>
              <a:t>f</a:t>
            </a:r>
            <a:r>
              <a:rPr sz="2400" i="1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+mn-lt"/>
                <a:cs typeface="Calibri"/>
              </a:rPr>
              <a:t>represents the time spent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in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the</a:t>
            </a:r>
            <a:r>
              <a:rPr sz="24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CC"/>
                </a:solidFill>
                <a:latin typeface="+mn-lt"/>
                <a:cs typeface="Calibri"/>
              </a:rPr>
              <a:t>critical</a:t>
            </a:r>
            <a:r>
              <a:rPr sz="2400" spc="-6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piece,</a:t>
            </a:r>
            <a:r>
              <a:rPr sz="2400" spc="-6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br>
              <a:rPr lang="en-US" sz="2400" spc="-62" dirty="0">
                <a:solidFill>
                  <a:srgbClr val="0033CC"/>
                </a:solidFill>
                <a:latin typeface="+mn-lt"/>
                <a:cs typeface="Calibri"/>
              </a:rPr>
            </a:b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and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i="1" spc="-26" dirty="0">
                <a:solidFill>
                  <a:srgbClr val="0033CC"/>
                </a:solidFill>
                <a:latin typeface="+mn-lt"/>
                <a:cs typeface="Calibri"/>
              </a:rPr>
              <a:t>1</a:t>
            </a:r>
            <a:r>
              <a:rPr lang="en-US" sz="2400" b="1" i="1" spc="-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i="1" spc="-26" dirty="0">
                <a:solidFill>
                  <a:srgbClr val="0033CC"/>
                </a:solidFill>
                <a:latin typeface="+mn-lt"/>
                <a:cs typeface="Calibri"/>
              </a:rPr>
              <a:t>-</a:t>
            </a:r>
            <a:r>
              <a:rPr lang="en-US" sz="2400" b="1" i="1" spc="-2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b="1" i="1" dirty="0">
                <a:solidFill>
                  <a:srgbClr val="0033CC"/>
                </a:solidFill>
                <a:latin typeface="+mn-lt"/>
                <a:cs typeface="Calibri"/>
              </a:rPr>
              <a:t>f</a:t>
            </a:r>
            <a:r>
              <a:rPr sz="2400" i="1" spc="-62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+mn-lt"/>
                <a:cs typeface="Calibri"/>
              </a:rPr>
              <a:t>in</a:t>
            </a:r>
            <a:r>
              <a:rPr sz="2400" spc="-7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other</a:t>
            </a:r>
            <a:r>
              <a:rPr sz="2400" spc="-66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+mn-lt"/>
                <a:cs typeface="Calibri"/>
              </a:rPr>
              <a:t>things</a:t>
            </a:r>
            <a:endParaRPr sz="2400" dirty="0">
              <a:solidFill>
                <a:srgbClr val="0033CC"/>
              </a:solidFill>
              <a:latin typeface="+mn-lt"/>
              <a:cs typeface="Calibri"/>
            </a:endParaRPr>
          </a:p>
          <a:p>
            <a:pPr marL="365873" marR="155210" indent="-342900">
              <a:spcBef>
                <a:spcPts val="838"/>
              </a:spcBef>
              <a:buSzPct val="120000"/>
              <a:buFont typeface="Wingdings" panose="05000000000000000000" pitchFamily="2" charset="2"/>
              <a:buChar char="§"/>
              <a:tabLst>
                <a:tab pos="291929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Then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on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improved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machine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will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take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only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br>
              <a:rPr lang="en-US" sz="2400" spc="-88" dirty="0">
                <a:solidFill>
                  <a:srgbClr val="003399"/>
                </a:solidFill>
                <a:latin typeface="+mn-lt"/>
                <a:cs typeface="Calibri"/>
              </a:rPr>
            </a:br>
            <a:r>
              <a:rPr sz="2400" b="1" i="1" spc="-22" dirty="0">
                <a:solidFill>
                  <a:srgbClr val="003399"/>
                </a:solidFill>
                <a:latin typeface="+mn-lt"/>
                <a:cs typeface="Calibri"/>
              </a:rPr>
              <a:t>f</a:t>
            </a:r>
            <a:r>
              <a:rPr lang="en-US" sz="2400" b="1" i="1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spc="-22" dirty="0">
                <a:solidFill>
                  <a:srgbClr val="003399"/>
                </a:solidFill>
                <a:latin typeface="+mn-lt"/>
                <a:cs typeface="Calibri"/>
              </a:rPr>
              <a:t>/</a:t>
            </a:r>
            <a:r>
              <a:rPr lang="en-US" sz="2400" b="1" i="1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spc="-22" dirty="0">
                <a:solidFill>
                  <a:srgbClr val="003399"/>
                </a:solidFill>
                <a:latin typeface="+mn-lt"/>
                <a:cs typeface="Calibri"/>
              </a:rPr>
              <a:t>s</a:t>
            </a:r>
            <a:r>
              <a:rPr sz="2400" i="1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seconds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critical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piece,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but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will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still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take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spc="-26" dirty="0">
                <a:solidFill>
                  <a:srgbClr val="003399"/>
                </a:solidFill>
                <a:latin typeface="+mn-lt"/>
                <a:cs typeface="Calibri"/>
              </a:rPr>
              <a:t>1</a:t>
            </a:r>
            <a:r>
              <a:rPr lang="en-US" sz="2400" b="1" i="1" spc="-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spc="-26" dirty="0">
                <a:solidFill>
                  <a:srgbClr val="003399"/>
                </a:solidFill>
                <a:latin typeface="+mn-lt"/>
                <a:cs typeface="Calibri"/>
              </a:rPr>
              <a:t>-</a:t>
            </a:r>
            <a:r>
              <a:rPr lang="en-US" sz="2400" b="1" i="1" spc="-2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b="1" i="1" dirty="0">
                <a:solidFill>
                  <a:srgbClr val="003399"/>
                </a:solidFill>
                <a:latin typeface="+mn-lt"/>
                <a:cs typeface="Calibri"/>
              </a:rPr>
              <a:t>f</a:t>
            </a:r>
            <a:r>
              <a:rPr sz="2400" i="1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seconds</a:t>
            </a:r>
            <a:r>
              <a:rPr lang="en-US" sz="2400" spc="-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other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things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0286FB-2BC8-5110-EC71-58272A355181}"/>
              </a:ext>
            </a:extLst>
          </p:cNvPr>
          <p:cNvGrpSpPr/>
          <p:nvPr/>
        </p:nvGrpSpPr>
        <p:grpSpPr>
          <a:xfrm>
            <a:off x="1274818" y="4228414"/>
            <a:ext cx="6414573" cy="1648858"/>
            <a:chOff x="1274818" y="3790828"/>
            <a:chExt cx="6414573" cy="1648858"/>
          </a:xfrm>
        </p:grpSpPr>
        <p:sp>
          <p:nvSpPr>
            <p:cNvPr id="3" name="object 3"/>
            <p:cNvSpPr/>
            <p:nvPr/>
          </p:nvSpPr>
          <p:spPr>
            <a:xfrm>
              <a:off x="3415538" y="4384545"/>
              <a:ext cx="1549213" cy="0"/>
            </a:xfrm>
            <a:custGeom>
              <a:avLst/>
              <a:gdLst/>
              <a:ahLst/>
              <a:cxnLst/>
              <a:rect l="l" t="t" r="r" b="b"/>
              <a:pathLst>
                <a:path w="1755775">
                  <a:moveTo>
                    <a:pt x="0" y="0"/>
                  </a:moveTo>
                  <a:lnTo>
                    <a:pt x="1755324" y="0"/>
                  </a:lnTo>
                </a:path>
              </a:pathLst>
            </a:custGeom>
            <a:ln w="1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3429178" y="4385295"/>
              <a:ext cx="1528482" cy="492870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3133" i="1" spc="-110" dirty="0">
                  <a:latin typeface="Times New Roman"/>
                  <a:cs typeface="Times New Roman"/>
                </a:rPr>
                <a:t>new</a:t>
              </a:r>
              <a:r>
                <a:rPr sz="3133" i="1" spc="-499" dirty="0">
                  <a:latin typeface="Times New Roman"/>
                  <a:cs typeface="Times New Roman"/>
                </a:rPr>
                <a:t> </a:t>
              </a:r>
              <a:r>
                <a:rPr sz="3133" spc="-357" dirty="0">
                  <a:latin typeface="Times New Roman"/>
                  <a:cs typeface="Times New Roman"/>
                </a:rPr>
                <a:t> </a:t>
              </a:r>
              <a:r>
                <a:rPr lang="en-US" sz="3133" i="1" spc="-101" dirty="0">
                  <a:latin typeface="Times New Roman"/>
                  <a:cs typeface="Times New Roman"/>
                </a:rPr>
                <a:t>T</a:t>
              </a:r>
              <a:r>
                <a:rPr sz="3133" i="1" spc="-101" dirty="0">
                  <a:latin typeface="Times New Roman"/>
                  <a:cs typeface="Times New Roman"/>
                </a:rPr>
                <a:t>ime</a:t>
              </a:r>
              <a:endParaRPr sz="3133" dirty="0">
                <a:latin typeface="Times New Roman"/>
                <a:cs typeface="Times New Roman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440649" y="3796593"/>
              <a:ext cx="1976157" cy="527354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  <a:tabLst>
                  <a:tab pos="1730281" algn="l"/>
                </a:tabLst>
              </a:pPr>
              <a:r>
                <a:rPr sz="3133" i="1" spc="-88" dirty="0">
                  <a:latin typeface="Times New Roman"/>
                  <a:cs typeface="Times New Roman"/>
                </a:rPr>
                <a:t>old</a:t>
              </a:r>
              <a:r>
                <a:rPr sz="3133" i="1" spc="-84" dirty="0">
                  <a:latin typeface="Times New Roman"/>
                  <a:cs typeface="Times New Roman"/>
                </a:rPr>
                <a:t> </a:t>
              </a:r>
              <a:r>
                <a:rPr lang="en-US" sz="3133" i="1" spc="-18" dirty="0">
                  <a:latin typeface="Times New Roman"/>
                  <a:cs typeface="Times New Roman"/>
                </a:rPr>
                <a:t>T</a:t>
              </a:r>
              <a:r>
                <a:rPr sz="3133" i="1" spc="-18" dirty="0">
                  <a:latin typeface="Times New Roman"/>
                  <a:cs typeface="Times New Roman"/>
                </a:rPr>
                <a:t>ime</a:t>
              </a:r>
              <a:r>
                <a:rPr sz="3133" i="1" dirty="0">
                  <a:latin typeface="Times New Roman"/>
                  <a:cs typeface="Times New Roman"/>
                </a:rPr>
                <a:t>	</a:t>
              </a:r>
              <a:r>
                <a:rPr sz="5030" b="1" spc="-66" baseline="-38742" dirty="0">
                  <a:latin typeface="Calibri"/>
                  <a:cs typeface="Calibri"/>
                </a:rPr>
                <a:t>=</a:t>
              </a:r>
              <a:endParaRPr sz="5030" baseline="-38742" dirty="0">
                <a:latin typeface="Calibri"/>
                <a:cs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276836" y="4920340"/>
              <a:ext cx="374276" cy="0"/>
            </a:xfrm>
            <a:custGeom>
              <a:avLst/>
              <a:gdLst/>
              <a:ahLst/>
              <a:cxnLst/>
              <a:rect l="l" t="t" r="r" b="b"/>
              <a:pathLst>
                <a:path w="424179">
                  <a:moveTo>
                    <a:pt x="0" y="0"/>
                  </a:moveTo>
                  <a:lnTo>
                    <a:pt x="423573" y="0"/>
                  </a:lnTo>
                </a:path>
              </a:pathLst>
            </a:custGeom>
            <a:ln w="9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7" name="object 7"/>
            <p:cNvSpPr/>
            <p:nvPr/>
          </p:nvSpPr>
          <p:spPr>
            <a:xfrm>
              <a:off x="5629190" y="4387421"/>
              <a:ext cx="2060201" cy="0"/>
            </a:xfrm>
            <a:custGeom>
              <a:avLst/>
              <a:gdLst/>
              <a:ahLst/>
              <a:cxnLst/>
              <a:rect l="l" t="t" r="r" b="b"/>
              <a:pathLst>
                <a:path w="2334895">
                  <a:moveTo>
                    <a:pt x="0" y="0"/>
                  </a:moveTo>
                  <a:lnTo>
                    <a:pt x="2334440" y="0"/>
                  </a:lnTo>
                </a:path>
              </a:pathLst>
            </a:custGeom>
            <a:ln w="20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7365849" y="4915168"/>
              <a:ext cx="202266" cy="524518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3309" i="1" spc="71" dirty="0">
                  <a:latin typeface="Times New Roman"/>
                  <a:cs typeface="Times New Roman"/>
                </a:rPr>
                <a:t>s</a:t>
              </a:r>
              <a:endParaRPr sz="3309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619925" y="4590604"/>
              <a:ext cx="1936937" cy="524582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33619">
                <a:spcBef>
                  <a:spcPts val="119"/>
                </a:spcBef>
                <a:tabLst>
                  <a:tab pos="837684" algn="l"/>
                  <a:tab pos="1774546" algn="l"/>
                </a:tabLst>
              </a:pPr>
              <a:r>
                <a:rPr sz="3309" spc="110" dirty="0">
                  <a:latin typeface="Times New Roman"/>
                  <a:cs typeface="Times New Roman"/>
                </a:rPr>
                <a:t>(1</a:t>
              </a:r>
              <a:r>
                <a:rPr sz="3309" spc="110" dirty="0">
                  <a:latin typeface="Symbol"/>
                  <a:cs typeface="Symbol"/>
                </a:rPr>
                <a:t></a:t>
              </a:r>
              <a:r>
                <a:rPr sz="3309" dirty="0">
                  <a:latin typeface="Times New Roman"/>
                  <a:cs typeface="Times New Roman"/>
                </a:rPr>
                <a:t>	</a:t>
              </a:r>
              <a:r>
                <a:rPr sz="3309" i="1" spc="88" dirty="0">
                  <a:latin typeface="Times New Roman"/>
                  <a:cs typeface="Times New Roman"/>
                </a:rPr>
                <a:t>f</a:t>
              </a:r>
              <a:r>
                <a:rPr sz="3309" i="1" spc="40" dirty="0">
                  <a:latin typeface="Times New Roman"/>
                  <a:cs typeface="Times New Roman"/>
                </a:rPr>
                <a:t> </a:t>
              </a:r>
              <a:r>
                <a:rPr sz="3309" spc="97" dirty="0">
                  <a:latin typeface="Times New Roman"/>
                  <a:cs typeface="Times New Roman"/>
                </a:rPr>
                <a:t>)</a:t>
              </a:r>
              <a:r>
                <a:rPr sz="3309" spc="-216" dirty="0">
                  <a:latin typeface="Times New Roman"/>
                  <a:cs typeface="Times New Roman"/>
                </a:rPr>
                <a:t> </a:t>
              </a:r>
              <a:r>
                <a:rPr sz="3309" spc="119" dirty="0">
                  <a:latin typeface="Symbol"/>
                  <a:cs typeface="Symbol"/>
                </a:rPr>
                <a:t></a:t>
              </a:r>
              <a:r>
                <a:rPr sz="3309" dirty="0">
                  <a:latin typeface="Times New Roman"/>
                  <a:cs typeface="Times New Roman"/>
                </a:rPr>
                <a:t>	</a:t>
              </a:r>
              <a:r>
                <a:rPr sz="4964" i="1" spc="66" baseline="34814" dirty="0">
                  <a:latin typeface="Times New Roman"/>
                  <a:cs typeface="Times New Roman"/>
                </a:rPr>
                <a:t>f</a:t>
              </a:r>
              <a:endParaRPr sz="4964" baseline="34814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532185" y="3790828"/>
              <a:ext cx="253813" cy="524518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3309" spc="101" dirty="0">
                  <a:latin typeface="Times New Roman"/>
                  <a:cs typeface="Times New Roman"/>
                </a:rPr>
                <a:t>1</a:t>
              </a:r>
              <a:endParaRPr sz="3309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274818" y="4091941"/>
              <a:ext cx="1862978" cy="52729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3353" b="1" dirty="0">
                  <a:latin typeface="Calibri"/>
                  <a:cs typeface="Calibri"/>
                </a:rPr>
                <a:t>speedup</a:t>
              </a:r>
              <a:r>
                <a:rPr sz="3353" b="1" spc="128" dirty="0">
                  <a:latin typeface="Calibri"/>
                  <a:cs typeface="Calibri"/>
                </a:rPr>
                <a:t> </a:t>
              </a:r>
              <a:r>
                <a:rPr sz="3353" b="1" spc="-44" dirty="0">
                  <a:latin typeface="Calibri"/>
                  <a:cs typeface="Calibri"/>
                </a:rPr>
                <a:t>=</a:t>
              </a:r>
              <a:endParaRPr sz="3353" dirty="0">
                <a:latin typeface="Calibri"/>
                <a:cs typeface="Calibri"/>
              </a:endParaRPr>
            </a:p>
          </p:txBody>
        </p:sp>
      </p:grpSp>
      <p:sp>
        <p:nvSpPr>
          <p:cNvPr id="13" name="object 2">
            <a:extLst>
              <a:ext uri="{FF2B5EF4-FFF2-40B4-BE49-F238E27FC236}">
                <a16:creationId xmlns:a16="http://schemas.microsoft.com/office/drawing/2014/main" id="{E56B17CA-6F80-6CC7-B6D6-77A0E0DCC838}"/>
              </a:ext>
            </a:extLst>
          </p:cNvPr>
          <p:cNvSpPr txBox="1">
            <a:spLocks/>
          </p:cNvSpPr>
          <p:nvPr/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11206">
              <a:spcBef>
                <a:spcPts val="88"/>
              </a:spcBef>
              <a:buClrTx/>
              <a:buSzTx/>
              <a:buFontTx/>
            </a:pPr>
            <a:r>
              <a:rPr lang="en-US" kern="0" dirty="0"/>
              <a:t>Amdahl’s</a:t>
            </a:r>
            <a:r>
              <a:rPr lang="en-US" kern="0" spc="18" dirty="0"/>
              <a:t> </a:t>
            </a:r>
            <a:r>
              <a:rPr lang="en-US" kern="0" spc="-22" dirty="0"/>
              <a:t>Law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70694-3668-6E5E-ECB1-98DECB93B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05AC4D0E-5B20-E74B-8009-ED065D285660}"/>
                  </a:ext>
                </a:extLst>
              </p:cNvPr>
              <p:cNvSpPr txBox="1"/>
              <p:nvPr/>
            </p:nvSpPr>
            <p:spPr bwMode="auto">
              <a:xfrm>
                <a:off x="911225" y="2781300"/>
                <a:ext cx="7323138" cy="1171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Speedu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overall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oldTime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newTime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fractio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fractio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speedu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05AC4D0E-5B20-E74B-8009-ED065D285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1225" y="2781300"/>
                <a:ext cx="7323138" cy="11715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5FA5082A-FE6F-DB9C-E2D8-A346737772C2}"/>
                  </a:ext>
                </a:extLst>
              </p:cNvPr>
              <p:cNvSpPr txBox="1"/>
              <p:nvPr/>
            </p:nvSpPr>
            <p:spPr bwMode="auto">
              <a:xfrm>
                <a:off x="924322" y="1244600"/>
                <a:ext cx="7104062" cy="908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newTime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oldTime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fractio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fractio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speedu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Object 2">
                <a:extLst>
                  <a:ext uri="{FF2B5EF4-FFF2-40B4-BE49-F238E27FC236}">
                    <a16:creationId xmlns:a16="http://schemas.microsoft.com/office/drawing/2014/main" id="{5FA5082A-FE6F-DB9C-E2D8-A34673777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4322" y="1244600"/>
                <a:ext cx="7104062" cy="908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4">
            <a:extLst>
              <a:ext uri="{FF2B5EF4-FFF2-40B4-BE49-F238E27FC236}">
                <a16:creationId xmlns:a16="http://schemas.microsoft.com/office/drawing/2014/main" id="{B07C721F-2523-7462-F4E1-400C45456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437112"/>
            <a:ext cx="493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400" dirty="0">
                <a:latin typeface="Comic Sans MS" panose="030F0702030302020204" pitchFamily="66" charset="0"/>
              </a:rPr>
              <a:t>Best you could ever hope to 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214E3631-4796-D43C-7EEB-4B50BE8BC81A}"/>
                  </a:ext>
                </a:extLst>
              </p:cNvPr>
              <p:cNvSpPr txBox="1"/>
              <p:nvPr/>
            </p:nvSpPr>
            <p:spPr bwMode="auto">
              <a:xfrm>
                <a:off x="936179" y="4894263"/>
                <a:ext cx="4243387" cy="833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Speedu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maximum</m:t>
                          </m:r>
                        </m:sub>
                      </m:sSub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fractio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enhanced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214E3631-4796-D43C-7EEB-4B50BE8BC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179" y="4894263"/>
                <a:ext cx="4243387" cy="833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2">
            <a:extLst>
              <a:ext uri="{FF2B5EF4-FFF2-40B4-BE49-F238E27FC236}">
                <a16:creationId xmlns:a16="http://schemas.microsoft.com/office/drawing/2014/main" id="{2A17A052-B08D-B456-6A49-70FD0222F5D4}"/>
              </a:ext>
            </a:extLst>
          </p:cNvPr>
          <p:cNvSpPr txBox="1">
            <a:spLocks/>
          </p:cNvSpPr>
          <p:nvPr/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11206">
              <a:spcBef>
                <a:spcPts val="88"/>
              </a:spcBef>
              <a:buClrTx/>
              <a:buSzTx/>
              <a:buFontTx/>
            </a:pPr>
            <a:r>
              <a:rPr lang="en-US" kern="0" dirty="0"/>
              <a:t>Amdahl’s</a:t>
            </a:r>
            <a:r>
              <a:rPr lang="en-US" kern="0" spc="18" dirty="0"/>
              <a:t> </a:t>
            </a:r>
            <a:r>
              <a:rPr lang="en-US" kern="0" spc="-22" dirty="0"/>
              <a:t>Law </a:t>
            </a:r>
            <a:r>
              <a:rPr lang="en-US" sz="3200" kern="0" spc="-22" dirty="0"/>
              <a:t>(from the book)</a:t>
            </a:r>
          </a:p>
        </p:txBody>
      </p:sp>
    </p:spTree>
    <p:extLst>
      <p:ext uri="{BB962C8B-B14F-4D97-AF65-F5344CB8AC3E}">
        <p14:creationId xmlns:p14="http://schemas.microsoft.com/office/powerpoint/2010/main" val="28475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9A9A-77CD-254F-ACFD-BD38854C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altLang="en-US" dirty="0"/>
              <a:t>Amdahl’s Law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6904-E55F-8A62-7A27-26EE337C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052736"/>
            <a:ext cx="8270875" cy="5256560"/>
          </a:xfrm>
        </p:spPr>
        <p:txBody>
          <a:bodyPr/>
          <a:lstStyle/>
          <a:p>
            <a:r>
              <a:rPr lang="en-US" altLang="en-US" sz="2400" dirty="0"/>
              <a:t>New CPU 10X faster</a:t>
            </a:r>
          </a:p>
          <a:p>
            <a:r>
              <a:rPr lang="en-US" altLang="en-US" sz="2400" dirty="0"/>
              <a:t>I/O bound server, so 60% time waiting for I/O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r>
              <a:rPr lang="en-US" altLang="en-US" sz="2400" dirty="0"/>
              <a:t>Apparently, its human nature to be attracted by 10X faster, vs. keeping in perspective its just 1.6X faster</a:t>
            </a:r>
          </a:p>
          <a:p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A2A8D-8EBA-7B79-AC51-13F31B342A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32B74B9F-E31B-02C7-5B9B-7FC12AFEB4F2}"/>
                  </a:ext>
                </a:extLst>
              </p:cNvPr>
              <p:cNvSpPr txBox="1"/>
              <p:nvPr/>
            </p:nvSpPr>
            <p:spPr bwMode="auto">
              <a:xfrm>
                <a:off x="2051720" y="2139950"/>
                <a:ext cx="2786062" cy="1154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speedup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32B74B9F-E31B-02C7-5B9B-7FC12AFEB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720" y="2139950"/>
                <a:ext cx="2786062" cy="11541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BFDBC4AE-1A07-405F-1148-D3AD36947DA8}"/>
                  </a:ext>
                </a:extLst>
              </p:cNvPr>
              <p:cNvSpPr txBox="1"/>
              <p:nvPr/>
            </p:nvSpPr>
            <p:spPr bwMode="auto">
              <a:xfrm>
                <a:off x="3059833" y="3568043"/>
                <a:ext cx="3816424" cy="11539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0.4</m:t>
                              </m:r>
                            </m:e>
                          </m:d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0.64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=1.56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BFDBC4AE-1A07-405F-1148-D3AD3694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833" y="3568043"/>
                <a:ext cx="3816424" cy="11539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89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64764" y="1196752"/>
            <a:ext cx="7307636" cy="269615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5873" marR="4483" indent="-342900" algn="just">
              <a:spcBef>
                <a:spcPts val="2427"/>
              </a:spcBef>
              <a:buSzPct val="120000"/>
              <a:buFont typeface="Wingdings" panose="05000000000000000000" pitchFamily="2" charset="2"/>
              <a:buChar char="§"/>
              <a:tabLst>
                <a:tab pos="291929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Suppose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work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very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hard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improving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root hardware,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our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originally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spends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i="1" dirty="0">
                <a:solidFill>
                  <a:srgbClr val="003399"/>
                </a:solidFill>
                <a:latin typeface="+mn-lt"/>
                <a:cs typeface="Calibri"/>
              </a:rPr>
              <a:t>1%</a:t>
            </a:r>
            <a:r>
              <a:rPr sz="2400" i="1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its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doing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roots.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Even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improvement reduces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root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zero,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no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better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than</a:t>
            </a:r>
            <a:r>
              <a:rPr lang="en-US" sz="2400" spc="-18" dirty="0">
                <a:solidFill>
                  <a:srgbClr val="003399"/>
                </a:solidFill>
                <a:latin typeface="+mn-lt"/>
                <a:cs typeface="Calibri"/>
              </a:rPr>
              <a:t>: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63"/>
              </a:spcBef>
              <a:buSzPct val="120000"/>
              <a:buFont typeface="Wingdings" panose="05000000000000000000" pitchFamily="2" charset="2"/>
              <a:buChar char="§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65873" indent="-342900">
              <a:buSzPct val="120000"/>
              <a:buFont typeface="Wingdings" panose="05000000000000000000" pitchFamily="2" charset="2"/>
              <a:buChar char="§"/>
              <a:tabLst>
                <a:tab pos="291929" algn="l"/>
                <a:tab pos="169498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44" dirty="0">
                <a:solidFill>
                  <a:srgbClr val="003399"/>
                </a:solidFill>
                <a:latin typeface="+mn-lt"/>
                <a:cs typeface="Calibri"/>
              </a:rPr>
              <a:t>=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	</a:t>
            </a:r>
            <a:r>
              <a:rPr sz="2400" spc="-44" dirty="0">
                <a:solidFill>
                  <a:srgbClr val="003399"/>
                </a:solidFill>
                <a:latin typeface="+mn-lt"/>
                <a:cs typeface="Calibri"/>
              </a:rPr>
              <a:t>?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0C22BBE-EA39-B648-887D-79804F509425}"/>
              </a:ext>
            </a:extLst>
          </p:cNvPr>
          <p:cNvSpPr txBox="1">
            <a:spLocks/>
          </p:cNvSpPr>
          <p:nvPr/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66FF"/>
                </a:solidFill>
                <a:latin typeface="Arial" charset="0"/>
              </a:defRPr>
            </a:lvl9pPr>
          </a:lstStyle>
          <a:p>
            <a:pPr marL="11206">
              <a:spcBef>
                <a:spcPts val="88"/>
              </a:spcBef>
              <a:buClrTx/>
              <a:buSzTx/>
              <a:buFontTx/>
            </a:pPr>
            <a:r>
              <a:rPr lang="en-US" kern="0" dirty="0"/>
              <a:t>Review Question 1 </a:t>
            </a:r>
            <a:r>
              <a:rPr lang="en-US" kern="0" spc="-22" dirty="0"/>
              <a:t>(Speedup)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811E27-5A4B-3E87-E0E4-B06C59D6CED6}"/>
              </a:ext>
            </a:extLst>
          </p:cNvPr>
          <p:cNvGrpSpPr/>
          <p:nvPr/>
        </p:nvGrpSpPr>
        <p:grpSpPr>
          <a:xfrm>
            <a:off x="2521396" y="4262331"/>
            <a:ext cx="1549213" cy="1053420"/>
            <a:chOff x="2521396" y="4262331"/>
            <a:chExt cx="1549213" cy="1053420"/>
          </a:xfrm>
        </p:grpSpPr>
        <p:sp>
          <p:nvSpPr>
            <p:cNvPr id="7" name="object 7"/>
            <p:cNvSpPr/>
            <p:nvPr/>
          </p:nvSpPr>
          <p:spPr>
            <a:xfrm>
              <a:off x="2521396" y="4822130"/>
              <a:ext cx="1549213" cy="0"/>
            </a:xfrm>
            <a:custGeom>
              <a:avLst/>
              <a:gdLst/>
              <a:ahLst/>
              <a:cxnLst/>
              <a:rect l="l" t="t" r="r" b="b"/>
              <a:pathLst>
                <a:path w="1755775">
                  <a:moveTo>
                    <a:pt x="0" y="0"/>
                  </a:moveTo>
                  <a:lnTo>
                    <a:pt x="1755324" y="0"/>
                  </a:lnTo>
                </a:path>
              </a:pathLst>
            </a:custGeom>
            <a:ln w="1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2535036" y="4822881"/>
              <a:ext cx="1528482" cy="492870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3133" i="1" spc="-110" dirty="0">
                  <a:latin typeface="Times New Roman"/>
                  <a:cs typeface="Times New Roman"/>
                </a:rPr>
                <a:t>new</a:t>
              </a:r>
              <a:r>
                <a:rPr sz="3133" i="1" spc="-499" dirty="0">
                  <a:latin typeface="Times New Roman"/>
                  <a:cs typeface="Times New Roman"/>
                </a:rPr>
                <a:t> </a:t>
              </a:r>
              <a:r>
                <a:rPr lang="en-US" sz="3133" i="1" spc="-101" dirty="0">
                  <a:latin typeface="Times New Roman"/>
                  <a:cs typeface="Times New Roman"/>
                </a:rPr>
                <a:t>T</a:t>
              </a:r>
              <a:r>
                <a:rPr sz="3133" i="1" spc="-101" dirty="0">
                  <a:latin typeface="Times New Roman"/>
                  <a:cs typeface="Times New Roman"/>
                </a:rPr>
                <a:t>ime</a:t>
              </a:r>
              <a:endParaRPr sz="3133" dirty="0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2568918" y="4262331"/>
              <a:ext cx="1454524" cy="492870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3133" i="1" spc="-88" dirty="0">
                  <a:latin typeface="Times New Roman"/>
                  <a:cs typeface="Times New Roman"/>
                </a:rPr>
                <a:t>old</a:t>
              </a:r>
              <a:r>
                <a:rPr sz="3133" i="1" spc="-84" dirty="0">
                  <a:latin typeface="Times New Roman"/>
                  <a:cs typeface="Times New Roman"/>
                </a:rPr>
                <a:t> </a:t>
              </a:r>
              <a:r>
                <a:rPr lang="en-US" sz="3133" i="1" spc="-101" dirty="0">
                  <a:latin typeface="Times New Roman"/>
                  <a:cs typeface="Times New Roman"/>
                </a:rPr>
                <a:t>T</a:t>
              </a:r>
              <a:r>
                <a:rPr sz="3133" i="1" spc="-101" dirty="0">
                  <a:latin typeface="Times New Roman"/>
                  <a:cs typeface="Times New Roman"/>
                </a:rPr>
                <a:t>ime</a:t>
              </a:r>
              <a:endParaRPr sz="3133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29A1D92-E7EC-18A8-02F9-80682E6DFE76}"/>
              </a:ext>
            </a:extLst>
          </p:cNvPr>
          <p:cNvGrpSpPr/>
          <p:nvPr/>
        </p:nvGrpSpPr>
        <p:grpSpPr>
          <a:xfrm>
            <a:off x="4212641" y="4228413"/>
            <a:ext cx="2582608" cy="1648859"/>
            <a:chOff x="4212641" y="4228413"/>
            <a:chExt cx="2582608" cy="1648859"/>
          </a:xfrm>
        </p:grpSpPr>
        <p:sp>
          <p:nvSpPr>
            <p:cNvPr id="10" name="object 10"/>
            <p:cNvSpPr/>
            <p:nvPr/>
          </p:nvSpPr>
          <p:spPr>
            <a:xfrm>
              <a:off x="6382695" y="5357925"/>
              <a:ext cx="374276" cy="0"/>
            </a:xfrm>
            <a:custGeom>
              <a:avLst/>
              <a:gdLst/>
              <a:ahLst/>
              <a:cxnLst/>
              <a:rect l="l" t="t" r="r" b="b"/>
              <a:pathLst>
                <a:path w="424179">
                  <a:moveTo>
                    <a:pt x="0" y="0"/>
                  </a:moveTo>
                  <a:lnTo>
                    <a:pt x="423573" y="0"/>
                  </a:lnTo>
                </a:path>
              </a:pathLst>
            </a:custGeom>
            <a:ln w="9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1" name="object 11"/>
            <p:cNvSpPr/>
            <p:nvPr/>
          </p:nvSpPr>
          <p:spPr>
            <a:xfrm>
              <a:off x="4735048" y="4825007"/>
              <a:ext cx="2060201" cy="0"/>
            </a:xfrm>
            <a:custGeom>
              <a:avLst/>
              <a:gdLst/>
              <a:ahLst/>
              <a:cxnLst/>
              <a:rect l="l" t="t" r="r" b="b"/>
              <a:pathLst>
                <a:path w="2334895">
                  <a:moveTo>
                    <a:pt x="0" y="0"/>
                  </a:moveTo>
                  <a:lnTo>
                    <a:pt x="2334440" y="0"/>
                  </a:lnTo>
                </a:path>
              </a:pathLst>
            </a:custGeom>
            <a:ln w="20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471707" y="5352754"/>
              <a:ext cx="202266" cy="524518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3309" i="1" spc="71" dirty="0">
                  <a:latin typeface="Times New Roman"/>
                  <a:cs typeface="Times New Roman"/>
                </a:rPr>
                <a:t>s</a:t>
              </a:r>
              <a:endParaRPr sz="3309">
                <a:latin typeface="Times New Roman"/>
                <a:cs typeface="Times New Roman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4725783" y="5028190"/>
              <a:ext cx="1936937" cy="524582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33619">
                <a:spcBef>
                  <a:spcPts val="119"/>
                </a:spcBef>
                <a:tabLst>
                  <a:tab pos="837684" algn="l"/>
                  <a:tab pos="1774546" algn="l"/>
                </a:tabLst>
              </a:pPr>
              <a:r>
                <a:rPr sz="3309" spc="110" dirty="0">
                  <a:latin typeface="Times New Roman"/>
                  <a:cs typeface="Times New Roman"/>
                </a:rPr>
                <a:t>(1</a:t>
              </a:r>
              <a:r>
                <a:rPr sz="3309" spc="110" dirty="0">
                  <a:latin typeface="Symbol"/>
                  <a:cs typeface="Symbol"/>
                </a:rPr>
                <a:t></a:t>
              </a:r>
              <a:r>
                <a:rPr sz="3309" dirty="0">
                  <a:latin typeface="Times New Roman"/>
                  <a:cs typeface="Times New Roman"/>
                </a:rPr>
                <a:t>	</a:t>
              </a:r>
              <a:r>
                <a:rPr sz="3309" i="1" spc="88" dirty="0">
                  <a:latin typeface="Times New Roman"/>
                  <a:cs typeface="Times New Roman"/>
                </a:rPr>
                <a:t>f</a:t>
              </a:r>
              <a:r>
                <a:rPr sz="3309" i="1" spc="40" dirty="0">
                  <a:latin typeface="Times New Roman"/>
                  <a:cs typeface="Times New Roman"/>
                </a:rPr>
                <a:t> </a:t>
              </a:r>
              <a:r>
                <a:rPr sz="3309" spc="97" dirty="0">
                  <a:latin typeface="Times New Roman"/>
                  <a:cs typeface="Times New Roman"/>
                </a:rPr>
                <a:t>)</a:t>
              </a:r>
              <a:r>
                <a:rPr sz="3309" spc="-216" dirty="0">
                  <a:latin typeface="Times New Roman"/>
                  <a:cs typeface="Times New Roman"/>
                </a:rPr>
                <a:t> </a:t>
              </a:r>
              <a:r>
                <a:rPr sz="3309" spc="119" dirty="0">
                  <a:latin typeface="Symbol"/>
                  <a:cs typeface="Symbol"/>
                </a:rPr>
                <a:t></a:t>
              </a:r>
              <a:r>
                <a:rPr sz="3309" dirty="0">
                  <a:latin typeface="Times New Roman"/>
                  <a:cs typeface="Times New Roman"/>
                </a:rPr>
                <a:t>	</a:t>
              </a:r>
              <a:r>
                <a:rPr sz="4964" i="1" spc="66" baseline="34814" dirty="0">
                  <a:latin typeface="Times New Roman"/>
                  <a:cs typeface="Times New Roman"/>
                </a:rPr>
                <a:t>f</a:t>
              </a:r>
              <a:endParaRPr sz="4964" baseline="34814">
                <a:latin typeface="Times New Roman"/>
                <a:cs typeface="Times New Roman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5638044" y="4228413"/>
              <a:ext cx="253813" cy="524518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3309" spc="101" dirty="0">
                  <a:latin typeface="Times New Roman"/>
                  <a:cs typeface="Times New Roman"/>
                </a:rPr>
                <a:t>1</a:t>
              </a:r>
              <a:endParaRPr sz="3309">
                <a:latin typeface="Times New Roman"/>
                <a:cs typeface="Times New Roman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7F2070-3DF0-FAA0-AB41-58CA99F43A44}"/>
                </a:ext>
              </a:extLst>
            </p:cNvPr>
            <p:cNvSpPr txBox="1"/>
            <p:nvPr/>
          </p:nvSpPr>
          <p:spPr>
            <a:xfrm>
              <a:off x="4212641" y="4529742"/>
              <a:ext cx="50188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+mn-lt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 Question</a:t>
            </a:r>
            <a:r>
              <a:rPr spc="4" dirty="0"/>
              <a:t> </a:t>
            </a:r>
            <a:r>
              <a:rPr dirty="0"/>
              <a:t>1 </a:t>
            </a:r>
            <a:r>
              <a:rPr spc="-9" dirty="0"/>
              <a:t>(Speedup)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BD8866EE-4B08-5828-BE93-C178DCB141F0}"/>
              </a:ext>
            </a:extLst>
          </p:cNvPr>
          <p:cNvSpPr txBox="1"/>
          <p:nvPr/>
        </p:nvSpPr>
        <p:spPr>
          <a:xfrm>
            <a:off x="864764" y="1196752"/>
            <a:ext cx="7307636" cy="43950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65873" marR="4483" indent="-342900" algn="just">
              <a:spcBef>
                <a:spcPts val="2427"/>
              </a:spcBef>
              <a:buSzPct val="120000"/>
              <a:buFont typeface="Wingdings" panose="05000000000000000000" pitchFamily="2" charset="2"/>
              <a:buChar char="§"/>
              <a:tabLst>
                <a:tab pos="291929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Suppose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work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very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hard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improving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root hardware,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our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originally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spends</a:t>
            </a:r>
            <a:r>
              <a:rPr sz="2400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i="1" dirty="0">
                <a:solidFill>
                  <a:srgbClr val="003399"/>
                </a:solidFill>
                <a:latin typeface="+mn-lt"/>
                <a:cs typeface="Calibri"/>
              </a:rPr>
              <a:t>1%</a:t>
            </a:r>
            <a:r>
              <a:rPr sz="2400" i="1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its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doing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roots.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Even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improvement reduces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square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root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to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zero,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no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better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than</a:t>
            </a:r>
            <a:r>
              <a:rPr lang="en-US" sz="2400" spc="-18" dirty="0">
                <a:solidFill>
                  <a:srgbClr val="003399"/>
                </a:solidFill>
                <a:latin typeface="+mn-lt"/>
                <a:cs typeface="Calibri"/>
              </a:rPr>
              <a:t>: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42900" indent="-342900">
              <a:spcBef>
                <a:spcPts val="163"/>
              </a:spcBef>
              <a:buSzPct val="120000"/>
              <a:buFont typeface="Wingdings" panose="05000000000000000000" pitchFamily="2" charset="2"/>
              <a:buChar char="§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65873" indent="-342900">
              <a:buSzPct val="120000"/>
              <a:buFont typeface="Wingdings" panose="05000000000000000000" pitchFamily="2" charset="2"/>
              <a:buChar char="§"/>
              <a:tabLst>
                <a:tab pos="291929" algn="l"/>
                <a:tab pos="169498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44" dirty="0">
                <a:solidFill>
                  <a:srgbClr val="003399"/>
                </a:solidFill>
                <a:latin typeface="+mn-lt"/>
                <a:cs typeface="Calibri"/>
              </a:rPr>
              <a:t>=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	</a:t>
            </a:r>
            <a:endParaRPr lang="en-US"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2973">
              <a:buSzPct val="120000"/>
              <a:tabLst>
                <a:tab pos="291929" algn="l"/>
                <a:tab pos="1694980" algn="l"/>
              </a:tabLst>
            </a:pPr>
            <a:endParaRPr lang="en-US"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22973">
              <a:buSzPct val="120000"/>
              <a:tabLst>
                <a:tab pos="291929" algn="l"/>
                <a:tab pos="1694980" algn="l"/>
              </a:tabLst>
            </a:pPr>
            <a:endParaRPr lang="en-US"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365873" indent="-342900">
              <a:buSzPct val="120000"/>
              <a:buFont typeface="Wingdings" panose="05000000000000000000" pitchFamily="2" charset="2"/>
              <a:buChar char="§"/>
              <a:tabLst>
                <a:tab pos="291929" algn="l"/>
                <a:tab pos="1694980" algn="l"/>
              </a:tabLst>
            </a:pP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lang="en-US" sz="2400" i="1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we</a:t>
            </a:r>
            <a:r>
              <a:rPr lang="en-US" sz="24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spc="-18" dirty="0">
                <a:solidFill>
                  <a:srgbClr val="003399"/>
                </a:solidFill>
                <a:latin typeface="Calibri"/>
                <a:cs typeface="Calibri"/>
              </a:rPr>
              <a:t>might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be</a:t>
            </a:r>
            <a:r>
              <a:rPr lang="en-US" sz="24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spc="-9" dirty="0">
                <a:solidFill>
                  <a:srgbClr val="003399"/>
                </a:solidFill>
                <a:latin typeface="Calibri"/>
                <a:cs typeface="Calibri"/>
              </a:rPr>
              <a:t>better</a:t>
            </a:r>
            <a:r>
              <a:rPr lang="en-US" sz="24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off</a:t>
            </a:r>
            <a:r>
              <a:rPr lang="en-US" sz="2400" i="1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spc="-18" dirty="0">
                <a:solidFill>
                  <a:srgbClr val="003399"/>
                </a:solidFill>
                <a:latin typeface="Calibri"/>
                <a:cs typeface="Calibri"/>
              </a:rPr>
              <a:t>putting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our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effort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b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</a:b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into</a:t>
            </a:r>
            <a:r>
              <a:rPr lang="en-US" sz="24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spc="-18" dirty="0">
                <a:solidFill>
                  <a:srgbClr val="003399"/>
                </a:solidFill>
                <a:latin typeface="Calibri"/>
                <a:cs typeface="Calibri"/>
              </a:rPr>
              <a:t>more </a:t>
            </a:r>
            <a:r>
              <a:rPr lang="en-US" sz="2400" i="1" spc="-22" dirty="0">
                <a:solidFill>
                  <a:srgbClr val="003399"/>
                </a:solidFill>
                <a:latin typeface="Calibri"/>
                <a:cs typeface="Calibri"/>
              </a:rPr>
              <a:t>important</a:t>
            </a:r>
            <a:r>
              <a:rPr lang="en-US" sz="24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part</a:t>
            </a:r>
            <a:r>
              <a:rPr lang="en-US" sz="24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lang="en-US" sz="2400" i="1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lang="en-US" sz="2400" i="1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400" i="1" spc="-18" dirty="0">
                <a:solidFill>
                  <a:srgbClr val="003399"/>
                </a:solidFill>
                <a:latin typeface="Calibri"/>
                <a:cs typeface="Calibri"/>
              </a:rPr>
              <a:t>task</a:t>
            </a:r>
            <a:endParaRPr lang="en-US" sz="24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91ACFD-18A9-D1BE-C8C5-B04F9EC204D8}"/>
              </a:ext>
            </a:extLst>
          </p:cNvPr>
          <p:cNvGrpSpPr/>
          <p:nvPr/>
        </p:nvGrpSpPr>
        <p:grpSpPr>
          <a:xfrm>
            <a:off x="2801306" y="3314483"/>
            <a:ext cx="978638" cy="800233"/>
            <a:chOff x="2801306" y="3314483"/>
            <a:chExt cx="978638" cy="800233"/>
          </a:xfrm>
        </p:grpSpPr>
        <p:sp>
          <p:nvSpPr>
            <p:cNvPr id="6" name="object 6"/>
            <p:cNvSpPr/>
            <p:nvPr/>
          </p:nvSpPr>
          <p:spPr>
            <a:xfrm>
              <a:off x="2832487" y="3741209"/>
              <a:ext cx="947457" cy="0"/>
            </a:xfrm>
            <a:custGeom>
              <a:avLst/>
              <a:gdLst/>
              <a:ahLst/>
              <a:cxnLst/>
              <a:rect l="l" t="t" r="r" b="b"/>
              <a:pathLst>
                <a:path w="1073785">
                  <a:moveTo>
                    <a:pt x="0" y="0"/>
                  </a:moveTo>
                  <a:lnTo>
                    <a:pt x="1073708" y="0"/>
                  </a:lnTo>
                </a:path>
              </a:pathLst>
            </a:custGeom>
            <a:ln w="143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801306" y="3739662"/>
              <a:ext cx="858931" cy="375054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  <a:tabLst>
                  <a:tab pos="715534" algn="l"/>
                </a:tabLst>
              </a:pPr>
              <a:r>
                <a:rPr sz="2338" spc="688" dirty="0">
                  <a:latin typeface="Times New Roman"/>
                  <a:cs typeface="Times New Roman"/>
                </a:rPr>
                <a:t>1</a:t>
              </a:r>
              <a:r>
                <a:rPr sz="2338" spc="-287" dirty="0">
                  <a:latin typeface="Times New Roman"/>
                  <a:cs typeface="Times New Roman"/>
                </a:rPr>
                <a:t> </a:t>
              </a:r>
              <a:r>
                <a:rPr sz="2338" spc="723" dirty="0">
                  <a:latin typeface="Symbol"/>
                  <a:cs typeface="Symbol"/>
                </a:rPr>
                <a:t></a:t>
              </a:r>
              <a:r>
                <a:rPr sz="2338" dirty="0">
                  <a:latin typeface="Times New Roman"/>
                  <a:cs typeface="Times New Roman"/>
                </a:rPr>
                <a:t>	</a:t>
              </a:r>
              <a:r>
                <a:rPr sz="2338" i="1" spc="340" dirty="0">
                  <a:latin typeface="Times New Roman"/>
                  <a:cs typeface="Times New Roman"/>
                </a:rPr>
                <a:t>f</a:t>
              </a:r>
              <a:endParaRPr sz="2338" dirty="0">
                <a:latin typeface="Times New Roman"/>
                <a:cs typeface="Times New Roman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3176074" y="3314483"/>
              <a:ext cx="259416" cy="375054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2338" spc="644" dirty="0">
                  <a:latin typeface="Times New Roman"/>
                  <a:cs typeface="Times New Roman"/>
                </a:rPr>
                <a:t>1</a:t>
              </a:r>
              <a:endParaRPr sz="2338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1CD1E0-319A-09F9-2B96-CFD51D60789D}"/>
              </a:ext>
            </a:extLst>
          </p:cNvPr>
          <p:cNvGrpSpPr/>
          <p:nvPr/>
        </p:nvGrpSpPr>
        <p:grpSpPr>
          <a:xfrm>
            <a:off x="3886624" y="3284984"/>
            <a:ext cx="2242037" cy="829732"/>
            <a:chOff x="3886624" y="3284984"/>
            <a:chExt cx="2242037" cy="8297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729BF3-148F-5E82-085F-DBEAC8E5FF5A}"/>
                </a:ext>
              </a:extLst>
            </p:cNvPr>
            <p:cNvSpPr txBox="1"/>
            <p:nvPr/>
          </p:nvSpPr>
          <p:spPr>
            <a:xfrm>
              <a:off x="3886624" y="3454911"/>
              <a:ext cx="47374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spc="-44" dirty="0">
                  <a:latin typeface="Calibri"/>
                  <a:cs typeface="Calibri"/>
                </a:rPr>
                <a:t>=</a:t>
              </a:r>
              <a:endParaRPr lang="en-US" dirty="0"/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5437435" y="3533379"/>
              <a:ext cx="691226" cy="3643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7">
                <a:spcBef>
                  <a:spcPts val="88"/>
                </a:spcBef>
                <a:tabLst>
                  <a:tab pos="279602" algn="l"/>
                  <a:tab pos="2968036" algn="l"/>
                  <a:tab pos="3818608" algn="l"/>
                  <a:tab pos="4090926" algn="l"/>
                </a:tabLst>
              </a:pPr>
              <a:r>
                <a:rPr sz="2294" spc="-18" dirty="0">
                  <a:latin typeface="Calibri"/>
                  <a:cs typeface="Calibri"/>
                </a:rPr>
                <a:t>1.01</a:t>
              </a:r>
              <a:endParaRPr sz="2294" dirty="0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401677" y="3727640"/>
              <a:ext cx="412937" cy="0"/>
            </a:xfrm>
            <a:custGeom>
              <a:avLst/>
              <a:gdLst/>
              <a:ahLst/>
              <a:cxnLst/>
              <a:rect l="l" t="t" r="r" b="b"/>
              <a:pathLst>
                <a:path w="467995">
                  <a:moveTo>
                    <a:pt x="0" y="0"/>
                  </a:moveTo>
                  <a:lnTo>
                    <a:pt x="467937" y="0"/>
                  </a:lnTo>
                </a:path>
              </a:pathLst>
            </a:custGeom>
            <a:ln w="15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392354" y="3725940"/>
              <a:ext cx="407334" cy="388776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2427" spc="-22" dirty="0">
                  <a:latin typeface="Times New Roman"/>
                  <a:cs typeface="Times New Roman"/>
                </a:rPr>
                <a:t>.99</a:t>
              </a:r>
              <a:endParaRPr sz="2427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4517219" y="3284984"/>
              <a:ext cx="177613" cy="388776"/>
            </a:xfrm>
            <a:prstGeom prst="rect">
              <a:avLst/>
            </a:prstGeom>
          </p:spPr>
          <p:txBody>
            <a:bodyPr vert="horz" wrap="square" lIns="0" tIns="15128" rIns="0" bIns="0" rtlCol="0">
              <a:spAutoFit/>
            </a:bodyPr>
            <a:lstStyle/>
            <a:p>
              <a:pPr marL="11206">
                <a:spcBef>
                  <a:spcPts val="119"/>
                </a:spcBef>
              </a:pPr>
              <a:r>
                <a:rPr sz="2427" spc="-44" dirty="0">
                  <a:latin typeface="Times New Roman"/>
                  <a:cs typeface="Times New Roman"/>
                </a:rPr>
                <a:t>1</a:t>
              </a:r>
              <a:endParaRPr sz="2427">
                <a:latin typeface="Times New Roman"/>
                <a:cs typeface="Times New Roman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71ACED-69BF-0BCA-A7E7-26CDF8A823AA}"/>
                </a:ext>
              </a:extLst>
            </p:cNvPr>
            <p:cNvSpPr txBox="1"/>
            <p:nvPr/>
          </p:nvSpPr>
          <p:spPr>
            <a:xfrm>
              <a:off x="4963689" y="3433551"/>
              <a:ext cx="47374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spc="-44" dirty="0">
                  <a:latin typeface="Calibri"/>
                  <a:cs typeface="Calibri"/>
                </a:rPr>
                <a:t>=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9" dirty="0"/>
              <a:t> </a:t>
            </a:r>
            <a:r>
              <a:rPr spc="-9" dirty="0"/>
              <a:t>Question</a:t>
            </a:r>
            <a:r>
              <a:rPr lang="en-US" spc="-9" dirty="0"/>
              <a:t> 2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899592" y="1124744"/>
            <a:ext cx="7488832" cy="4879315"/>
          </a:xfrm>
          <a:prstGeom prst="rect">
            <a:avLst/>
          </a:prstGeom>
        </p:spPr>
        <p:txBody>
          <a:bodyPr vert="horz" wrap="square" lIns="0" tIns="49306" rIns="0" bIns="0" rtlCol="0">
            <a:spAutoFit/>
          </a:bodyPr>
          <a:lstStyle/>
          <a:p>
            <a:pPr marL="354106" marR="4483" indent="-342900" algn="just">
              <a:spcBef>
                <a:spcPts val="388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Suppose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get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speedup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2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after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replace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the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GPU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card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installed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on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system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with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new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one.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new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card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can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process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every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GPU</a:t>
            </a:r>
            <a:r>
              <a:rPr sz="2400" spc="-9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instruction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5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times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faster, what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is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percentage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instructions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affected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by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57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new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GPU?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algn="just">
              <a:spcBef>
                <a:spcPts val="887"/>
              </a:spcBef>
              <a:buFont typeface="Calibri"/>
              <a:buChar char="•"/>
            </a:pP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4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[0%,</a:t>
            </a:r>
            <a:r>
              <a:rPr sz="2400" spc="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30%)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441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[30%,50%)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468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[50%,70%)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379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[70%,90%)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446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[90%,100%)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  <a:p>
            <a:pPr marL="914400" lvl="1" indent="-473075" algn="just">
              <a:spcBef>
                <a:spcPts val="468"/>
              </a:spcBef>
              <a:buSzPct val="100000"/>
              <a:buAutoNum type="alphaUcPeriod"/>
              <a:tabLst>
                <a:tab pos="914400" algn="l"/>
              </a:tabLst>
            </a:pP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100%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Review Question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3</a:t>
            </a:r>
            <a:r>
              <a:rPr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(Speedup)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4" y="1083177"/>
            <a:ext cx="7746658" cy="1896447"/>
          </a:xfrm>
          <a:prstGeom prst="rect">
            <a:avLst/>
          </a:prstGeom>
        </p:spPr>
        <p:txBody>
          <a:bodyPr vert="horz" wrap="square" lIns="0" tIns="49306" rIns="0" bIns="0" rtlCol="0">
            <a:spAutoFit/>
          </a:bodyPr>
          <a:lstStyle/>
          <a:p>
            <a:pPr marL="354106" marR="4483" indent="-342900">
              <a:spcBef>
                <a:spcPts val="388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  <a:tab pos="3502025" algn="l"/>
              </a:tabLst>
            </a:pP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Suppose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that,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for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the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same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cost,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can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speed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up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integer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arithmetic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by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factor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lang="en-US" sz="2400" dirty="0">
                <a:solidFill>
                  <a:srgbClr val="003399"/>
                </a:solidFill>
                <a:latin typeface="+mn-lt"/>
                <a:cs typeface="Calibri"/>
              </a:rPr>
              <a:t>20 or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speed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up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floating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point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arithmetic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by</a:t>
            </a:r>
            <a:r>
              <a:rPr sz="2400" spc="-6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factor</a:t>
            </a:r>
            <a:r>
              <a:rPr sz="24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4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2.</a:t>
            </a:r>
            <a:r>
              <a:rPr lang="en-US" sz="2400" spc="-22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If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our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task</a:t>
            </a:r>
            <a:r>
              <a:rPr sz="2400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spends</a:t>
            </a:r>
            <a:r>
              <a:rPr sz="2400" spc="-93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i="1" dirty="0">
                <a:solidFill>
                  <a:srgbClr val="003399"/>
                </a:solidFill>
                <a:latin typeface="+mn-lt"/>
                <a:cs typeface="Calibri"/>
              </a:rPr>
              <a:t>10%</a:t>
            </a:r>
            <a:r>
              <a:rPr sz="2400" i="1" spc="-10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its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400" spc="-75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integer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arithmetic,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and</a:t>
            </a:r>
            <a:r>
              <a:rPr sz="2400" spc="-66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i="1" dirty="0">
                <a:solidFill>
                  <a:srgbClr val="003399"/>
                </a:solidFill>
                <a:latin typeface="+mn-lt"/>
                <a:cs typeface="Calibri"/>
              </a:rPr>
              <a:t>40%</a:t>
            </a:r>
            <a:r>
              <a:rPr sz="2400" i="1" spc="-88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of</a:t>
            </a:r>
            <a:r>
              <a:rPr sz="2400" spc="-57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its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time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in</a:t>
            </a:r>
            <a:r>
              <a:rPr sz="2400" spc="-71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floating point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18" dirty="0">
                <a:solidFill>
                  <a:srgbClr val="003399"/>
                </a:solidFill>
                <a:latin typeface="+mn-lt"/>
                <a:cs typeface="Calibri"/>
              </a:rPr>
              <a:t>arithmetic,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which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9" dirty="0">
                <a:solidFill>
                  <a:srgbClr val="003399"/>
                </a:solidFill>
                <a:latin typeface="+mn-lt"/>
                <a:cs typeface="Calibri"/>
              </a:rPr>
              <a:t>should</a:t>
            </a:r>
            <a:r>
              <a:rPr sz="2400" spc="-84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dirty="0">
                <a:solidFill>
                  <a:srgbClr val="003399"/>
                </a:solidFill>
                <a:latin typeface="+mn-lt"/>
                <a:cs typeface="Calibri"/>
              </a:rPr>
              <a:t>we</a:t>
            </a:r>
            <a:r>
              <a:rPr sz="2400" spc="-79" dirty="0">
                <a:solidFill>
                  <a:srgbClr val="003399"/>
                </a:solidFill>
                <a:latin typeface="+mn-lt"/>
                <a:cs typeface="Calibri"/>
              </a:rPr>
              <a:t> </a:t>
            </a:r>
            <a:r>
              <a:rPr sz="2400" spc="-22" dirty="0">
                <a:solidFill>
                  <a:srgbClr val="003399"/>
                </a:solidFill>
                <a:latin typeface="+mn-lt"/>
                <a:cs typeface="Calibri"/>
              </a:rPr>
              <a:t>do?</a:t>
            </a:r>
            <a:endParaRPr sz="2400" dirty="0">
              <a:solidFill>
                <a:srgbClr val="003399"/>
              </a:solidFill>
              <a:latin typeface="+mn-lt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1806" y="4807324"/>
            <a:ext cx="2094940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7" indent="-342900">
              <a:spcBef>
                <a:spcPts val="88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sz="2294" spc="-9" dirty="0">
                <a:solidFill>
                  <a:srgbClr val="0033CC"/>
                </a:solidFill>
                <a:latin typeface="+mn-lt"/>
                <a:cs typeface="Calibri"/>
              </a:rPr>
              <a:t>Option</a:t>
            </a:r>
            <a:r>
              <a:rPr sz="2294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sz="2294" spc="-22" dirty="0">
                <a:solidFill>
                  <a:srgbClr val="0033CC"/>
                </a:solidFill>
                <a:latin typeface="+mn-lt"/>
                <a:cs typeface="Calibri"/>
              </a:rPr>
              <a:t>2:</a:t>
            </a:r>
            <a:endParaRPr sz="2294" dirty="0">
              <a:solidFill>
                <a:srgbClr val="0033CC"/>
              </a:solidFill>
              <a:latin typeface="+mn-lt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4384C6-87FC-A993-0DBA-E764D2FD2E0B}"/>
              </a:ext>
            </a:extLst>
          </p:cNvPr>
          <p:cNvGrpSpPr/>
          <p:nvPr/>
        </p:nvGrpSpPr>
        <p:grpSpPr>
          <a:xfrm>
            <a:off x="1862417" y="3537538"/>
            <a:ext cx="3572996" cy="1187606"/>
            <a:chOff x="1862417" y="3336519"/>
            <a:chExt cx="3572996" cy="1187606"/>
          </a:xfrm>
        </p:grpSpPr>
        <p:sp>
          <p:nvSpPr>
            <p:cNvPr id="4" name="object 4"/>
            <p:cNvSpPr txBox="1"/>
            <p:nvPr/>
          </p:nvSpPr>
          <p:spPr>
            <a:xfrm>
              <a:off x="1862417" y="3564815"/>
              <a:ext cx="3572996" cy="3643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2699081" algn="l"/>
                </a:tabLst>
              </a:pPr>
              <a:r>
                <a:rPr sz="2294" spc="-9" dirty="0">
                  <a:latin typeface="Calibri"/>
                  <a:cs typeface="Calibri"/>
                </a:rPr>
                <a:t>speedup</a:t>
              </a:r>
              <a:r>
                <a:rPr sz="2294" spc="-79" dirty="0">
                  <a:latin typeface="Calibri"/>
                  <a:cs typeface="Calibri"/>
                </a:rPr>
                <a:t> </a:t>
              </a:r>
              <a:r>
                <a:rPr sz="2294" spc="-44" dirty="0">
                  <a:latin typeface="Calibri"/>
                  <a:cs typeface="Calibri"/>
                </a:rPr>
                <a:t>=</a:t>
              </a:r>
              <a:r>
                <a:rPr sz="2294" dirty="0">
                  <a:latin typeface="Calibri"/>
                  <a:cs typeface="Calibri"/>
                </a:rPr>
                <a:t>	=</a:t>
              </a:r>
              <a:r>
                <a:rPr sz="2294" spc="-40" dirty="0">
                  <a:latin typeface="Calibri"/>
                  <a:cs typeface="Calibri"/>
                </a:rPr>
                <a:t> </a:t>
              </a:r>
              <a:r>
                <a:rPr sz="2294" spc="-9" dirty="0">
                  <a:latin typeface="Calibri"/>
                  <a:cs typeface="Calibri"/>
                </a:rPr>
                <a:t>1.105</a:t>
              </a:r>
              <a:endParaRPr sz="2294" dirty="0">
                <a:latin typeface="Calibri"/>
                <a:cs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933494" y="4150843"/>
              <a:ext cx="383241" cy="0"/>
            </a:xfrm>
            <a:custGeom>
              <a:avLst/>
              <a:gdLst/>
              <a:ahLst/>
              <a:cxnLst/>
              <a:rect l="l" t="t" r="r" b="b"/>
              <a:pathLst>
                <a:path w="434339">
                  <a:moveTo>
                    <a:pt x="0" y="0"/>
                  </a:moveTo>
                  <a:lnTo>
                    <a:pt x="433838" y="0"/>
                  </a:lnTo>
                </a:path>
              </a:pathLst>
            </a:custGeom>
            <a:ln w="7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8" name="object 8"/>
            <p:cNvSpPr/>
            <p:nvPr/>
          </p:nvSpPr>
          <p:spPr>
            <a:xfrm>
              <a:off x="3357158" y="3768125"/>
              <a:ext cx="988359" cy="0"/>
            </a:xfrm>
            <a:custGeom>
              <a:avLst/>
              <a:gdLst/>
              <a:ahLst/>
              <a:cxnLst/>
              <a:rect l="l" t="t" r="r" b="b"/>
              <a:pathLst>
                <a:path w="1120139">
                  <a:moveTo>
                    <a:pt x="0" y="0"/>
                  </a:moveTo>
                  <a:lnTo>
                    <a:pt x="1119966" y="0"/>
                  </a:lnTo>
                </a:path>
              </a:pathLst>
            </a:custGeom>
            <a:ln w="14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945676" y="4143971"/>
              <a:ext cx="357468" cy="380154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2382" spc="93" dirty="0">
                  <a:latin typeface="Times New Roman"/>
                  <a:cs typeface="Times New Roman"/>
                </a:rPr>
                <a:t>20</a:t>
              </a:r>
              <a:endParaRPr sz="2382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3752863" y="3336519"/>
              <a:ext cx="197224" cy="380154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11206">
                <a:spcBef>
                  <a:spcPts val="106"/>
                </a:spcBef>
              </a:pPr>
              <a:r>
                <a:rPr sz="2382" spc="132" dirty="0">
                  <a:latin typeface="Times New Roman"/>
                  <a:cs typeface="Times New Roman"/>
                </a:rPr>
                <a:t>1</a:t>
              </a:r>
              <a:endParaRPr sz="2382">
                <a:latin typeface="Times New Roman"/>
                <a:cs typeface="Times New Roman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3324960" y="3910883"/>
              <a:ext cx="973231" cy="380217"/>
            </a:xfrm>
            <a:prstGeom prst="rect">
              <a:avLst/>
            </a:prstGeom>
          </p:spPr>
          <p:txBody>
            <a:bodyPr vert="horz" wrap="square" lIns="0" tIns="13447" rIns="0" bIns="0" rtlCol="0">
              <a:spAutoFit/>
            </a:bodyPr>
            <a:lstStyle/>
            <a:p>
              <a:pPr marL="33619">
                <a:spcBef>
                  <a:spcPts val="106"/>
                </a:spcBef>
                <a:tabLst>
                  <a:tab pos="677992" algn="l"/>
                </a:tabLst>
              </a:pPr>
              <a:r>
                <a:rPr sz="2382" spc="128" dirty="0">
                  <a:latin typeface="Times New Roman"/>
                  <a:cs typeface="Times New Roman"/>
                </a:rPr>
                <a:t>.9</a:t>
              </a:r>
              <a:r>
                <a:rPr sz="2382" spc="-176" dirty="0">
                  <a:latin typeface="Times New Roman"/>
                  <a:cs typeface="Times New Roman"/>
                </a:rPr>
                <a:t> </a:t>
              </a:r>
              <a:r>
                <a:rPr sz="2382" spc="150" dirty="0">
                  <a:latin typeface="Symbol"/>
                  <a:cs typeface="Symbol"/>
                </a:rPr>
                <a:t></a:t>
              </a:r>
              <a:r>
                <a:rPr sz="2382" dirty="0">
                  <a:latin typeface="Times New Roman"/>
                  <a:cs typeface="Times New Roman"/>
                </a:rPr>
                <a:t>	</a:t>
              </a:r>
              <a:r>
                <a:rPr sz="3574" spc="158" baseline="33950" dirty="0">
                  <a:latin typeface="Times New Roman"/>
                  <a:cs typeface="Times New Roman"/>
                </a:rPr>
                <a:t>.1</a:t>
              </a:r>
              <a:endParaRPr sz="3574" baseline="3395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09C508-4BD5-A109-5CB8-6F9140E47C40}"/>
              </a:ext>
            </a:extLst>
          </p:cNvPr>
          <p:cNvGrpSpPr/>
          <p:nvPr/>
        </p:nvGrpSpPr>
        <p:grpSpPr>
          <a:xfrm>
            <a:off x="1771852" y="5106134"/>
            <a:ext cx="3519004" cy="1162855"/>
            <a:chOff x="1771852" y="5106134"/>
            <a:chExt cx="3519004" cy="1162855"/>
          </a:xfrm>
        </p:grpSpPr>
        <p:sp>
          <p:nvSpPr>
            <p:cNvPr id="6" name="object 6"/>
            <p:cNvSpPr txBox="1"/>
            <p:nvPr/>
          </p:nvSpPr>
          <p:spPr>
            <a:xfrm>
              <a:off x="4550707" y="5401684"/>
              <a:ext cx="740149" cy="36436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294" dirty="0">
                  <a:latin typeface="Calibri"/>
                  <a:cs typeface="Calibri"/>
                </a:rPr>
                <a:t>=</a:t>
              </a:r>
              <a:r>
                <a:rPr sz="2294" spc="-40" dirty="0">
                  <a:latin typeface="Calibri"/>
                  <a:cs typeface="Calibri"/>
                </a:rPr>
                <a:t> </a:t>
              </a:r>
              <a:r>
                <a:rPr sz="2294" spc="-18" dirty="0">
                  <a:latin typeface="Calibri"/>
                  <a:cs typeface="Calibri"/>
                </a:rPr>
                <a:t>1.25</a:t>
              </a:r>
              <a:endParaRPr sz="2294">
                <a:latin typeface="Calibri"/>
                <a:cs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978281" y="5903726"/>
              <a:ext cx="239246" cy="0"/>
            </a:xfrm>
            <a:custGeom>
              <a:avLst/>
              <a:gdLst/>
              <a:ahLst/>
              <a:cxnLst/>
              <a:rect l="l" t="t" r="r" b="b"/>
              <a:pathLst>
                <a:path w="271145">
                  <a:moveTo>
                    <a:pt x="0" y="0"/>
                  </a:moveTo>
                  <a:lnTo>
                    <a:pt x="270592" y="0"/>
                  </a:lnTo>
                </a:path>
              </a:pathLst>
            </a:custGeom>
            <a:ln w="6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7295" y="5528981"/>
              <a:ext cx="765362" cy="0"/>
            </a:xfrm>
            <a:custGeom>
              <a:avLst/>
              <a:gdLst/>
              <a:ahLst/>
              <a:cxnLst/>
              <a:rect l="l" t="t" r="r" b="b"/>
              <a:pathLst>
                <a:path w="867410">
                  <a:moveTo>
                    <a:pt x="0" y="0"/>
                  </a:moveTo>
                  <a:lnTo>
                    <a:pt x="867013" y="0"/>
                  </a:lnTo>
                </a:path>
              </a:pathLst>
            </a:custGeom>
            <a:ln w="14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24"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015796" y="5896764"/>
              <a:ext cx="170890" cy="372225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2338" spc="-44" dirty="0">
                  <a:latin typeface="Times New Roman"/>
                  <a:cs typeface="Times New Roman"/>
                </a:rPr>
                <a:t>2</a:t>
              </a:r>
              <a:endParaRPr sz="2338">
                <a:latin typeface="Times New Roman"/>
                <a:cs typeface="Times New Roman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444880" y="5668532"/>
              <a:ext cx="792256" cy="372288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33619">
                <a:spcBef>
                  <a:spcPts val="97"/>
                </a:spcBef>
              </a:pPr>
              <a:r>
                <a:rPr sz="2338" spc="-9" dirty="0">
                  <a:latin typeface="Times New Roman"/>
                  <a:cs typeface="Times New Roman"/>
                </a:rPr>
                <a:t>.6</a:t>
              </a:r>
              <a:r>
                <a:rPr sz="2338" spc="-194" dirty="0">
                  <a:latin typeface="Times New Roman"/>
                  <a:cs typeface="Times New Roman"/>
                </a:rPr>
                <a:t> </a:t>
              </a:r>
              <a:r>
                <a:rPr sz="2338" dirty="0">
                  <a:latin typeface="Symbol"/>
                  <a:cs typeface="Symbol"/>
                </a:rPr>
                <a:t></a:t>
              </a:r>
              <a:r>
                <a:rPr sz="2338" spc="-71" dirty="0">
                  <a:latin typeface="Times New Roman"/>
                  <a:cs typeface="Times New Roman"/>
                </a:rPr>
                <a:t> </a:t>
              </a:r>
              <a:r>
                <a:rPr sz="3508" spc="-33" baseline="34591" dirty="0">
                  <a:latin typeface="Times New Roman"/>
                  <a:cs typeface="Times New Roman"/>
                </a:rPr>
                <a:t>.4</a:t>
              </a:r>
              <a:endParaRPr sz="3508" baseline="34591">
                <a:latin typeface="Times New Roman"/>
                <a:cs typeface="Times New Roman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772822" y="5106134"/>
              <a:ext cx="170890" cy="372225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2338" spc="-44" dirty="0">
                  <a:latin typeface="Times New Roman"/>
                  <a:cs typeface="Times New Roman"/>
                </a:rPr>
                <a:t>1</a:t>
              </a:r>
              <a:endParaRPr sz="2338">
                <a:latin typeface="Times New Roman"/>
                <a:cs typeface="Times New Roman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28EEB6-91B9-DC96-1E98-64C227BAB03D}"/>
                </a:ext>
              </a:extLst>
            </p:cNvPr>
            <p:cNvSpPr txBox="1"/>
            <p:nvPr/>
          </p:nvSpPr>
          <p:spPr>
            <a:xfrm>
              <a:off x="1771852" y="5321308"/>
              <a:ext cx="1401945" cy="4447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1924"/>
                </a:spcBef>
              </a:pPr>
              <a:r>
                <a:rPr lang="en-US" sz="2290" spc="-9" dirty="0">
                  <a:latin typeface="Calibri"/>
                  <a:cs typeface="Calibri"/>
                </a:rPr>
                <a:t>speedup</a:t>
              </a:r>
              <a:r>
                <a:rPr lang="en-US" sz="2290" spc="-79" dirty="0">
                  <a:latin typeface="Calibri"/>
                  <a:cs typeface="Calibri"/>
                </a:rPr>
                <a:t> </a:t>
              </a:r>
              <a:r>
                <a:rPr lang="en-US" sz="2290" spc="-44" dirty="0">
                  <a:latin typeface="Calibri"/>
                  <a:cs typeface="Calibri"/>
                </a:rPr>
                <a:t>=</a:t>
              </a:r>
              <a:endParaRPr lang="en-US" sz="2290" dirty="0">
                <a:latin typeface="Calibri"/>
                <a:cs typeface="Calibri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DBFECFF-3BDD-1CA2-E1FE-6DF96677D2B1}"/>
              </a:ext>
            </a:extLst>
          </p:cNvPr>
          <p:cNvSpPr txBox="1"/>
          <p:nvPr/>
        </p:nvSpPr>
        <p:spPr>
          <a:xfrm>
            <a:off x="918119" y="3192787"/>
            <a:ext cx="1888596" cy="44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107" indent="-342900">
              <a:spcBef>
                <a:spcPts val="512"/>
              </a:spcBef>
              <a:buSzPct val="120000"/>
              <a:buFont typeface="Arial" panose="020B0604020202020204" pitchFamily="34" charset="0"/>
              <a:buChar char="•"/>
              <a:tabLst>
                <a:tab pos="279602" algn="l"/>
              </a:tabLst>
            </a:pPr>
            <a:r>
              <a:rPr lang="en-US" sz="2290" spc="-9" dirty="0">
                <a:solidFill>
                  <a:srgbClr val="0033CC"/>
                </a:solidFill>
                <a:latin typeface="+mn-lt"/>
                <a:cs typeface="Calibri"/>
              </a:rPr>
              <a:t>Option</a:t>
            </a:r>
            <a:r>
              <a:rPr lang="en-US" sz="2290" spc="-101" dirty="0">
                <a:solidFill>
                  <a:srgbClr val="0033CC"/>
                </a:solidFill>
                <a:latin typeface="+mn-lt"/>
                <a:cs typeface="Calibri"/>
              </a:rPr>
              <a:t> </a:t>
            </a:r>
            <a:r>
              <a:rPr lang="en-US" sz="2290" spc="-22" dirty="0">
                <a:solidFill>
                  <a:srgbClr val="0033CC"/>
                </a:solidFill>
                <a:latin typeface="+mn-lt"/>
                <a:cs typeface="Calibri"/>
              </a:rPr>
              <a:t>1:</a:t>
            </a:r>
            <a:endParaRPr lang="en-US" sz="2290" dirty="0">
              <a:solidFill>
                <a:srgbClr val="0033CC"/>
              </a:solidFill>
              <a:latin typeface="+mn-l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05CE-0620-BB29-40EA-684DEA2B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F360FF-5E98-8384-5C86-44A313AB35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2821" y="3130773"/>
            <a:ext cx="5439379" cy="1123988"/>
          </a:xfrm>
          <a:prstGeom prst="rect">
            <a:avLst/>
          </a:prstGeom>
        </p:spPr>
        <p:txBody>
          <a:bodyPr vert="horz" wrap="square" lIns="0" tIns="71718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 marR="4483">
              <a:lnSpc>
                <a:spcPts val="4147"/>
              </a:lnSpc>
              <a:spcBef>
                <a:spcPts val="565"/>
              </a:spcBef>
            </a:pPr>
            <a:r>
              <a:rPr lang="en-US" sz="3794" spc="-9" dirty="0">
                <a:cs typeface="Arial"/>
              </a:rPr>
              <a:t>The Processor Performance Equation</a:t>
            </a:r>
          </a:p>
        </p:txBody>
      </p:sp>
    </p:spTree>
    <p:extLst>
      <p:ext uri="{BB962C8B-B14F-4D97-AF65-F5344CB8AC3E}">
        <p14:creationId xmlns:p14="http://schemas.microsoft.com/office/powerpoint/2010/main" val="36968452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C16F3C-5C41-E619-F10D-C7472064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4768F9B-98C7-7303-66DB-C404B6CD7E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>
            <a:extLst>
              <a:ext uri="{FF2B5EF4-FFF2-40B4-BE49-F238E27FC236}">
                <a16:creationId xmlns:a16="http://schemas.microsoft.com/office/drawing/2014/main" id="{6184F5AC-3517-6736-E102-6F50FEBC2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AU" dirty="0"/>
              <a:t>Principles of Computer Design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32D25BDF-FAB4-584D-201F-B72105EFC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589" y="1052736"/>
            <a:ext cx="8270875" cy="51117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 Processor Performance Equation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83E7DF21-5973-12D0-7E72-DC5FF3C114A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366864" y="407804"/>
            <a:ext cx="1184940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Principles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269AE11D-4504-7D56-2DD9-DA14A262F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>
            <a:extLst>
              <a:ext uri="{FF2B5EF4-FFF2-40B4-BE49-F238E27FC236}">
                <a16:creationId xmlns:a16="http://schemas.microsoft.com/office/drawing/2014/main" id="{B72FDD86-B8B7-5D8E-9BB9-FEFA967DE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>
            <a:extLst>
              <a:ext uri="{FF2B5EF4-FFF2-40B4-BE49-F238E27FC236}">
                <a16:creationId xmlns:a16="http://schemas.microsoft.com/office/drawing/2014/main" id="{A4F60E93-7E82-9779-19AC-0E84BEE6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>
            <a:extLst>
              <a:ext uri="{FF2B5EF4-FFF2-40B4-BE49-F238E27FC236}">
                <a16:creationId xmlns:a16="http://schemas.microsoft.com/office/drawing/2014/main" id="{F5DC0CE7-F106-EFDE-A1A6-F1A62806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>
            <a:extLst>
              <a:ext uri="{FF2B5EF4-FFF2-40B4-BE49-F238E27FC236}">
                <a16:creationId xmlns:a16="http://schemas.microsoft.com/office/drawing/2014/main" id="{AE802329-7E60-E9FB-DBCA-77D81EF85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>
            <a:extLst>
              <a:ext uri="{FF2B5EF4-FFF2-40B4-BE49-F238E27FC236}">
                <a16:creationId xmlns:a16="http://schemas.microsoft.com/office/drawing/2014/main" id="{A716F28E-ED29-FB1A-C4F7-18A4702F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F22FF4D6-D23E-0D2C-33EA-20FA4F8AA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4" name="Rectangle 4">
            <a:extLst>
              <a:ext uri="{FF2B5EF4-FFF2-40B4-BE49-F238E27FC236}">
                <a16:creationId xmlns:a16="http://schemas.microsoft.com/office/drawing/2014/main" id="{6F5E6B42-3A89-75E0-9D8D-12336AA46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56C81FCB-0F10-427C-1C58-8CC44DF11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0" name="Rectangle 4">
            <a:extLst>
              <a:ext uri="{FF2B5EF4-FFF2-40B4-BE49-F238E27FC236}">
                <a16:creationId xmlns:a16="http://schemas.microsoft.com/office/drawing/2014/main" id="{3E61A3F1-BC55-36E3-A6E5-D10B748EE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2" name="Rectangle 6">
            <a:extLst>
              <a:ext uri="{FF2B5EF4-FFF2-40B4-BE49-F238E27FC236}">
                <a16:creationId xmlns:a16="http://schemas.microsoft.com/office/drawing/2014/main" id="{85D71ADD-53FE-B8D4-080F-000AEA1B5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4" name="Rectangle 8">
            <a:extLst>
              <a:ext uri="{FF2B5EF4-FFF2-40B4-BE49-F238E27FC236}">
                <a16:creationId xmlns:a16="http://schemas.microsoft.com/office/drawing/2014/main" id="{65298FB6-0B18-7096-8280-D51C02A4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6" name="Rectangle 10">
            <a:extLst>
              <a:ext uri="{FF2B5EF4-FFF2-40B4-BE49-F238E27FC236}">
                <a16:creationId xmlns:a16="http://schemas.microsoft.com/office/drawing/2014/main" id="{0A7DAD44-F1CB-C3E2-CE55-ED6F5BC4E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A33B8F2F-269A-ADB8-1244-5137BD2A9128}"/>
                  </a:ext>
                </a:extLst>
              </p:cNvPr>
              <p:cNvSpPr txBox="1"/>
              <p:nvPr/>
            </p:nvSpPr>
            <p:spPr bwMode="auto">
              <a:xfrm>
                <a:off x="861972" y="1832719"/>
                <a:ext cx="7572701" cy="3993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program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A33B8F2F-269A-ADB8-1244-5137BD2A9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972" y="1832719"/>
                <a:ext cx="7572701" cy="399357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E77AEA4-FF8A-173E-207F-1C0D659A3CCB}"/>
                  </a:ext>
                </a:extLst>
              </p:cNvPr>
              <p:cNvSpPr txBox="1"/>
              <p:nvPr/>
            </p:nvSpPr>
            <p:spPr bwMode="auto">
              <a:xfrm>
                <a:off x="861973" y="2478274"/>
                <a:ext cx="5373981" cy="774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CPU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rate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E77AEA4-FF8A-173E-207F-1C0D659A3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973" y="2478274"/>
                <a:ext cx="5373981" cy="774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97DB07EC-DEE5-0EB7-3B16-AC68D55A24D2}"/>
                  </a:ext>
                </a:extLst>
              </p:cNvPr>
              <p:cNvSpPr txBox="1"/>
              <p:nvPr/>
            </p:nvSpPr>
            <p:spPr bwMode="auto">
              <a:xfrm>
                <a:off x="843322" y="3549650"/>
                <a:ext cx="6799263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CPU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Count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97DB07EC-DEE5-0EB7-3B16-AC68D55A2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22" y="3549650"/>
                <a:ext cx="6799263" cy="774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96E1CEE1-210F-A7CE-5836-7DD9AB077B30}"/>
                  </a:ext>
                </a:extLst>
              </p:cNvPr>
              <p:cNvSpPr txBox="1"/>
              <p:nvPr/>
            </p:nvSpPr>
            <p:spPr bwMode="auto">
              <a:xfrm>
                <a:off x="825788" y="4670052"/>
                <a:ext cx="8066692" cy="3714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count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2">
                <a:extLst>
                  <a:ext uri="{FF2B5EF4-FFF2-40B4-BE49-F238E27FC236}">
                    <a16:creationId xmlns:a16="http://schemas.microsoft.com/office/drawing/2014/main" id="{96E1CEE1-210F-A7CE-5836-7DD9AB077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788" y="4670052"/>
                <a:ext cx="8066692" cy="371446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17EB041C-0133-D91A-92F8-A593FF960230}"/>
                  </a:ext>
                </a:extLst>
              </p:cNvPr>
              <p:cNvSpPr txBox="1"/>
              <p:nvPr/>
            </p:nvSpPr>
            <p:spPr bwMode="auto">
              <a:xfrm>
                <a:off x="814917" y="5307201"/>
                <a:ext cx="6611644" cy="8243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17EB041C-0133-D91A-92F8-A593FF96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4917" y="5307201"/>
                <a:ext cx="6611644" cy="8243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5587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CPU</a:t>
            </a:r>
            <a:r>
              <a:rPr spc="-22" dirty="0"/>
              <a:t> </a:t>
            </a:r>
            <a:r>
              <a:rPr spc="-9" dirty="0"/>
              <a:t>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3568" y="908720"/>
            <a:ext cx="7704856" cy="43858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6" marR="4483" indent="-342900"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800" b="1" spc="-18" dirty="0">
                <a:solidFill>
                  <a:srgbClr val="003399"/>
                </a:solidFill>
                <a:latin typeface="Calibri"/>
                <a:cs typeface="Calibri"/>
              </a:rPr>
              <a:t>Clock cycle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: basic unit of time in a CPU</a:t>
            </a:r>
          </a:p>
          <a:p>
            <a:pPr marL="726725" lvl="1" indent="-285750">
              <a:spcBef>
                <a:spcPts val="388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lang="en-US" sz="2400" spc="-18" dirty="0">
                <a:solidFill>
                  <a:srgbClr val="0033CC"/>
                </a:solidFill>
                <a:latin typeface="Calibri"/>
                <a:cs typeface="Calibri"/>
              </a:rPr>
              <a:t>Something</a:t>
            </a:r>
            <a:r>
              <a:rPr lang="en-US"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new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happens</a:t>
            </a:r>
            <a:r>
              <a:rPr lang="en-US"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lang="en-US" sz="2400" spc="-75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lang="en-US"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18" dirty="0">
                <a:solidFill>
                  <a:srgbClr val="0033CC"/>
                </a:solidFill>
                <a:latin typeface="Calibri"/>
                <a:cs typeface="Calibri"/>
              </a:rPr>
              <a:t>computer</a:t>
            </a:r>
            <a:r>
              <a:rPr lang="en-US"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during</a:t>
            </a:r>
            <a:r>
              <a:rPr lang="en-US" sz="2400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every</a:t>
            </a:r>
            <a:r>
              <a:rPr lang="en-US" sz="2400" spc="-7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clock cycle</a:t>
            </a:r>
            <a:endParaRPr lang="en-US"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388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Clock</a:t>
            </a:r>
            <a:r>
              <a:rPr sz="2400" b="1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33CC"/>
                </a:solidFill>
                <a:latin typeface="Calibri"/>
                <a:cs typeface="Calibri"/>
              </a:rPr>
              <a:t>cycle</a:t>
            </a:r>
            <a:r>
              <a:rPr sz="2400" b="1" spc="3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b="1" spc="-18" dirty="0">
                <a:solidFill>
                  <a:srgbClr val="0033CC"/>
                </a:solidFill>
                <a:latin typeface="Calibri"/>
                <a:cs typeface="Calibri"/>
              </a:rPr>
              <a:t>time</a:t>
            </a:r>
            <a:r>
              <a:rPr lang="en-US" sz="2400" b="1" spc="-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18" dirty="0">
                <a:solidFill>
                  <a:srgbClr val="0033CC"/>
                </a:solidFill>
                <a:latin typeface="Calibri"/>
                <a:cs typeface="Calibri"/>
              </a:rPr>
              <a:t>(CCT)</a:t>
            </a:r>
            <a:r>
              <a:rPr lang="en-US" sz="2400" b="1" spc="-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i="1" spc="-18" dirty="0">
                <a:solidFill>
                  <a:srgbClr val="0033CC"/>
                </a:solidFill>
                <a:latin typeface="Calibri"/>
                <a:cs typeface="Calibri"/>
              </a:rPr>
              <a:t>(or clock period)</a:t>
            </a:r>
            <a:endParaRPr sz="2400" i="1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6" marR="113746" indent="-342900"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800" b="1" dirty="0">
                <a:solidFill>
                  <a:srgbClr val="003399"/>
                </a:solidFill>
                <a:latin typeface="Calibri"/>
                <a:cs typeface="Calibri"/>
              </a:rPr>
              <a:t>Clock rate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: the rate at which a CPU executes instructions</a:t>
            </a:r>
          </a:p>
          <a:p>
            <a:pPr marL="726725" lvl="1" indent="-285750">
              <a:spcBef>
                <a:spcPts val="388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Measured in Hertz </a:t>
            </a:r>
            <a:r>
              <a:rPr lang="en-US" sz="2400" i="1" dirty="0">
                <a:solidFill>
                  <a:srgbClr val="0033CC"/>
                </a:solidFill>
                <a:latin typeface="Calibri"/>
                <a:cs typeface="Calibri"/>
              </a:rPr>
              <a:t>(cycles per second)</a:t>
            </a:r>
          </a:p>
          <a:p>
            <a:pPr marL="726725" lvl="1" indent="-285750">
              <a:spcBef>
                <a:spcPts val="388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b="1" spc="-9" dirty="0">
                <a:solidFill>
                  <a:srgbClr val="0033CC"/>
                </a:solidFill>
                <a:latin typeface="Calibri"/>
                <a:cs typeface="Calibri"/>
              </a:rPr>
              <a:t>clock</a:t>
            </a:r>
            <a:r>
              <a:rPr lang="en-US" sz="2400" b="1" spc="-8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b="1" dirty="0">
                <a:solidFill>
                  <a:srgbClr val="0033CC"/>
                </a:solidFill>
                <a:latin typeface="Calibri"/>
                <a:cs typeface="Calibri"/>
              </a:rPr>
              <a:t>rate</a:t>
            </a:r>
            <a:r>
              <a:rPr lang="en-US" sz="2400" b="1" spc="-7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lang="en-US" sz="2400" spc="-8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what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18" dirty="0">
                <a:solidFill>
                  <a:srgbClr val="0033CC"/>
                </a:solidFill>
                <a:latin typeface="Calibri"/>
                <a:cs typeface="Calibri"/>
              </a:rPr>
              <a:t>manufacturers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usually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advertise</a:t>
            </a:r>
            <a:r>
              <a:rPr lang="en-US" sz="2400" spc="-8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22" dirty="0">
                <a:solidFill>
                  <a:srgbClr val="0033CC"/>
                </a:solidFill>
                <a:latin typeface="Calibri"/>
                <a:cs typeface="Calibri"/>
              </a:rPr>
              <a:t>to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indicate</a:t>
            </a:r>
            <a:r>
              <a:rPr lang="en-US" sz="2400" spc="-9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lang="en-US" sz="2400" spc="-9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chip's</a:t>
            </a:r>
            <a:r>
              <a:rPr lang="en-US" sz="2400" spc="-9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speed</a:t>
            </a:r>
            <a:endParaRPr lang="en-US"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388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e.g.,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3.3GHz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Intel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Core-i9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(2017)</a:t>
            </a:r>
            <a:endParaRPr lang="en-US" sz="2400" spc="-9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29C5F9D-13FD-B9F2-45E9-4102FC8BA5B5}"/>
                  </a:ext>
                </a:extLst>
              </p:cNvPr>
              <p:cNvSpPr txBox="1"/>
              <p:nvPr/>
            </p:nvSpPr>
            <p:spPr bwMode="auto">
              <a:xfrm>
                <a:off x="2289614" y="5318596"/>
                <a:ext cx="4564772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</m:t>
                          </m:r>
                          <m: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Time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429C5F9D-13FD-B9F2-45E9-4102FC8BA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9614" y="5318596"/>
                <a:ext cx="4564772" cy="774700"/>
              </a:xfrm>
              <a:prstGeom prst="rect">
                <a:avLst/>
              </a:prstGeom>
              <a:blipFill>
                <a:blip r:embed="rId3"/>
                <a:stretch>
                  <a:fillRect b="-23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7873-2483-4B28-9A9A-DF822359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8C0D412-C6DB-32DC-0F73-E0939FAEEF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>
            <a:extLst>
              <a:ext uri="{FF2B5EF4-FFF2-40B4-BE49-F238E27FC236}">
                <a16:creationId xmlns:a16="http://schemas.microsoft.com/office/drawing/2014/main" id="{2B6A685A-129D-6139-D5F7-2898D4C6C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US" dirty="0"/>
              <a:t>CPU</a:t>
            </a:r>
            <a:r>
              <a:rPr lang="en-US" spc="-22" dirty="0"/>
              <a:t> </a:t>
            </a:r>
            <a:r>
              <a:rPr lang="en-US" spc="-9" dirty="0"/>
              <a:t>Performance (cont.)</a:t>
            </a:r>
            <a:endParaRPr lang="en-AU" dirty="0"/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A4E09948-15FB-E34E-1337-378135F8B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980728"/>
            <a:ext cx="7694811" cy="5111750"/>
          </a:xfrm>
        </p:spPr>
        <p:txBody>
          <a:bodyPr/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CPU time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(or process time): amount of time that a CPU was used for processing instructions of a computer program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A4844B7A-A956-777E-0DB9-000A6715153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366864" y="407804"/>
            <a:ext cx="1184940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Principles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39F594AA-1956-43D3-F1FE-688C4FDB3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>
            <a:extLst>
              <a:ext uri="{FF2B5EF4-FFF2-40B4-BE49-F238E27FC236}">
                <a16:creationId xmlns:a16="http://schemas.microsoft.com/office/drawing/2014/main" id="{4B6BF8E6-EFB7-84AA-01A4-3A33FB56C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>
            <a:extLst>
              <a:ext uri="{FF2B5EF4-FFF2-40B4-BE49-F238E27FC236}">
                <a16:creationId xmlns:a16="http://schemas.microsoft.com/office/drawing/2014/main" id="{FCE88062-FD48-A1D4-AC33-BE40FEA07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>
            <a:extLst>
              <a:ext uri="{FF2B5EF4-FFF2-40B4-BE49-F238E27FC236}">
                <a16:creationId xmlns:a16="http://schemas.microsoft.com/office/drawing/2014/main" id="{49D346F5-2021-B0AF-0DA4-D99D2A938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>
            <a:extLst>
              <a:ext uri="{FF2B5EF4-FFF2-40B4-BE49-F238E27FC236}">
                <a16:creationId xmlns:a16="http://schemas.microsoft.com/office/drawing/2014/main" id="{A4130140-1F81-8025-55BD-FCCE5DB19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>
            <a:extLst>
              <a:ext uri="{FF2B5EF4-FFF2-40B4-BE49-F238E27FC236}">
                <a16:creationId xmlns:a16="http://schemas.microsoft.com/office/drawing/2014/main" id="{F3DBDC89-C372-27A5-DC0F-D9D22329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25B8B811-690B-E99B-A0ED-F2846D993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4" name="Rectangle 4">
            <a:extLst>
              <a:ext uri="{FF2B5EF4-FFF2-40B4-BE49-F238E27FC236}">
                <a16:creationId xmlns:a16="http://schemas.microsoft.com/office/drawing/2014/main" id="{9D5EAF2C-9538-FDBE-2516-6799E6939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8395A217-EABF-AD1A-181C-C087767D6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0" name="Rectangle 4">
            <a:extLst>
              <a:ext uri="{FF2B5EF4-FFF2-40B4-BE49-F238E27FC236}">
                <a16:creationId xmlns:a16="http://schemas.microsoft.com/office/drawing/2014/main" id="{517C014C-8F9B-0E2D-E63F-699FE16F4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2" name="Rectangle 6">
            <a:extLst>
              <a:ext uri="{FF2B5EF4-FFF2-40B4-BE49-F238E27FC236}">
                <a16:creationId xmlns:a16="http://schemas.microsoft.com/office/drawing/2014/main" id="{ABA36595-BAC4-4D17-BA62-8C7DB37BC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4" name="Rectangle 8">
            <a:extLst>
              <a:ext uri="{FF2B5EF4-FFF2-40B4-BE49-F238E27FC236}">
                <a16:creationId xmlns:a16="http://schemas.microsoft.com/office/drawing/2014/main" id="{11038F54-A1FE-6886-8C78-D980DD31C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6" name="Rectangle 10">
            <a:extLst>
              <a:ext uri="{FF2B5EF4-FFF2-40B4-BE49-F238E27FC236}">
                <a16:creationId xmlns:a16="http://schemas.microsoft.com/office/drawing/2014/main" id="{7D8E13B1-524E-B9E4-70DC-3DB74826C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4664B29-77C8-1F5E-2D56-AB8061710570}"/>
                  </a:ext>
                </a:extLst>
              </p:cNvPr>
              <p:cNvSpPr txBox="1"/>
              <p:nvPr/>
            </p:nvSpPr>
            <p:spPr bwMode="auto">
              <a:xfrm>
                <a:off x="971600" y="2814509"/>
                <a:ext cx="7849244" cy="443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64664B29-77C8-1F5E-2D56-AB8061710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2814509"/>
                <a:ext cx="7849244" cy="443337"/>
              </a:xfrm>
              <a:prstGeom prst="rect">
                <a:avLst/>
              </a:prstGeom>
              <a:blipFill>
                <a:blip r:embed="rId3"/>
                <a:stretch>
                  <a:fillRect l="-155" b="-236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3169B8A9-7BB5-40F9-640D-559690F5E6C5}"/>
                  </a:ext>
                </a:extLst>
              </p:cNvPr>
              <p:cNvSpPr txBox="1"/>
              <p:nvPr/>
            </p:nvSpPr>
            <p:spPr bwMode="auto">
              <a:xfrm>
                <a:off x="976318" y="3789040"/>
                <a:ext cx="6525835" cy="774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CPU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rate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3169B8A9-7BB5-40F9-640D-559690F5E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6318" y="3789040"/>
                <a:ext cx="6525835" cy="774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3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3241-2D34-C1E8-4B0E-E2798611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A47119-C228-F442-8055-048EDD5CAC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CPU</a:t>
            </a:r>
            <a:r>
              <a:rPr spc="-22" dirty="0"/>
              <a:t> </a:t>
            </a:r>
            <a:r>
              <a:rPr spc="-9" dirty="0"/>
              <a:t>Performance</a:t>
            </a:r>
            <a:r>
              <a:rPr lang="en-US" spc="-9" dirty="0"/>
              <a:t> (cont.)</a:t>
            </a:r>
            <a:endParaRPr spc="-9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1F0B07-3C66-827D-C152-E540315419E6}"/>
              </a:ext>
            </a:extLst>
          </p:cNvPr>
          <p:cNvSpPr txBox="1"/>
          <p:nvPr/>
        </p:nvSpPr>
        <p:spPr>
          <a:xfrm>
            <a:off x="673754" y="1124744"/>
            <a:ext cx="7858686" cy="50424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54106" marR="504852" indent="-342900" algn="just"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But</a:t>
            </a:r>
            <a:r>
              <a:rPr sz="2800" i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how</a:t>
            </a:r>
            <a:r>
              <a:rPr sz="2800" i="1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fast</a:t>
            </a:r>
            <a:r>
              <a:rPr sz="2800" i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i="1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spc="-18" dirty="0">
                <a:solidFill>
                  <a:srgbClr val="003399"/>
                </a:solidFill>
                <a:latin typeface="Calibri"/>
                <a:cs typeface="Calibri"/>
              </a:rPr>
              <a:t>machine</a:t>
            </a:r>
            <a:r>
              <a:rPr sz="2800" i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can</a:t>
            </a:r>
            <a:r>
              <a:rPr sz="2800" i="1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spc="-9" dirty="0">
                <a:solidFill>
                  <a:srgbClr val="003399"/>
                </a:solidFill>
                <a:latin typeface="Calibri"/>
                <a:cs typeface="Calibri"/>
              </a:rPr>
              <a:t>execute</a:t>
            </a:r>
            <a:r>
              <a:rPr sz="2800" i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800" i="1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spc="-18" dirty="0">
                <a:solidFill>
                  <a:srgbClr val="003399"/>
                </a:solidFill>
                <a:latin typeface="Calibri"/>
                <a:cs typeface="Calibri"/>
              </a:rPr>
              <a:t>program</a:t>
            </a:r>
            <a:r>
              <a:rPr sz="2800" i="1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spc="-18" dirty="0">
                <a:solidFill>
                  <a:srgbClr val="003399"/>
                </a:solidFill>
                <a:latin typeface="Calibri"/>
                <a:cs typeface="Calibri"/>
              </a:rPr>
              <a:t>also </a:t>
            </a:r>
            <a:r>
              <a:rPr sz="2800" i="1" spc="-9" dirty="0">
                <a:solidFill>
                  <a:srgbClr val="003399"/>
                </a:solidFill>
                <a:latin typeface="Calibri"/>
                <a:cs typeface="Calibri"/>
              </a:rPr>
              <a:t>depends</a:t>
            </a:r>
            <a:r>
              <a:rPr sz="2800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on</a:t>
            </a:r>
            <a:r>
              <a:rPr sz="2800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i="1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spc="-9" dirty="0">
                <a:solidFill>
                  <a:srgbClr val="003399"/>
                </a:solidFill>
                <a:latin typeface="Calibri"/>
                <a:cs typeface="Calibri"/>
              </a:rPr>
              <a:t>number</a:t>
            </a:r>
            <a:r>
              <a:rPr sz="2800" i="1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i="1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i="1" spc="-9" dirty="0">
                <a:solidFill>
                  <a:srgbClr val="003399"/>
                </a:solidFill>
                <a:latin typeface="Calibri"/>
                <a:cs typeface="Calibri"/>
              </a:rPr>
              <a:t>clock</a:t>
            </a:r>
            <a:r>
              <a:rPr sz="2800" b="1" i="1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i="1" spc="-9" dirty="0">
                <a:solidFill>
                  <a:srgbClr val="003399"/>
                </a:solidFill>
                <a:latin typeface="Calibri"/>
                <a:cs typeface="Calibri"/>
              </a:rPr>
              <a:t>cycles</a:t>
            </a:r>
            <a:r>
              <a:rPr sz="2800" b="1" i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3399"/>
                </a:solidFill>
                <a:latin typeface="Calibri"/>
                <a:cs typeface="Calibri"/>
              </a:rPr>
              <a:t>per</a:t>
            </a:r>
            <a:r>
              <a:rPr sz="2800" b="1" i="1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i="1" spc="-9" dirty="0">
                <a:solidFill>
                  <a:srgbClr val="003399"/>
                </a:solidFill>
                <a:latin typeface="Calibri"/>
                <a:cs typeface="Calibri"/>
              </a:rPr>
              <a:t>instruction </a:t>
            </a:r>
            <a:r>
              <a:rPr sz="2800" i="1" spc="-9" dirty="0">
                <a:solidFill>
                  <a:srgbClr val="003399"/>
                </a:solidFill>
                <a:latin typeface="Calibri"/>
                <a:cs typeface="Calibri"/>
              </a:rPr>
              <a:t>(CPI)</a:t>
            </a:r>
            <a:endParaRPr lang="en-US" sz="2800" i="1" spc="-9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54106" marR="4483" indent="-342900">
              <a:spcBef>
                <a:spcPts val="397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otal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CPU</a:t>
            </a:r>
            <a:r>
              <a:rPr lang="en-US" sz="2800"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lang="en-US"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99"/>
                </a:solidFill>
                <a:latin typeface="Calibri"/>
                <a:cs typeface="Calibri"/>
              </a:rPr>
              <a:t>instruction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count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(IC)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times</a:t>
            </a:r>
            <a:r>
              <a:rPr lang="en-US" sz="2800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22" dirty="0">
                <a:solidFill>
                  <a:srgbClr val="003399"/>
                </a:solidFill>
                <a:latin typeface="Calibri"/>
                <a:cs typeface="Calibri"/>
              </a:rPr>
              <a:t>CPI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divided</a:t>
            </a:r>
            <a:r>
              <a:rPr lang="en-US" sz="2800"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by</a:t>
            </a:r>
            <a:r>
              <a:rPr lang="en-US" sz="2800"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clock</a:t>
            </a:r>
            <a:r>
              <a:rPr lang="en-US" sz="2800" spc="-10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99"/>
                </a:solidFill>
                <a:latin typeface="Calibri"/>
                <a:cs typeface="Calibri"/>
              </a:rPr>
              <a:t>rate</a:t>
            </a:r>
            <a:r>
              <a:rPr lang="en-US" sz="2800"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99"/>
                </a:solidFill>
                <a:latin typeface="Calibri"/>
                <a:cs typeface="Calibri"/>
              </a:rPr>
              <a:t>(MHz/GHz)</a:t>
            </a:r>
            <a:endParaRPr lang="en-US"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440975">
              <a:spcBef>
                <a:spcPts val="388"/>
              </a:spcBef>
              <a:spcAft>
                <a:spcPts val="1200"/>
              </a:spcAft>
              <a:buSzPct val="120000"/>
            </a:pPr>
            <a:r>
              <a:rPr lang="en-US" sz="2400" dirty="0">
                <a:latin typeface="Calibri"/>
                <a:cs typeface="Calibri"/>
              </a:rPr>
              <a:t>–</a:t>
            </a:r>
            <a:r>
              <a:rPr lang="en-US" sz="2400" spc="44" dirty="0">
                <a:latin typeface="Calibri"/>
                <a:cs typeface="Calibri"/>
              </a:rPr>
              <a:t> 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IC</a:t>
            </a:r>
            <a:r>
              <a:rPr lang="en-US"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*</a:t>
            </a:r>
            <a:r>
              <a:rPr lang="en-US"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CPI</a:t>
            </a:r>
            <a:r>
              <a:rPr lang="en-US"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Calibri"/>
                <a:cs typeface="Calibri"/>
              </a:rPr>
              <a:t>/</a:t>
            </a:r>
            <a:r>
              <a:rPr lang="en-US"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400" spc="-22" dirty="0">
                <a:solidFill>
                  <a:srgbClr val="0033CC"/>
                </a:solidFill>
                <a:latin typeface="Calibri"/>
                <a:cs typeface="Calibri"/>
              </a:rPr>
              <a:t>GHz</a:t>
            </a:r>
          </a:p>
          <a:p>
            <a:pPr marL="440975">
              <a:spcBef>
                <a:spcPts val="388"/>
              </a:spcBef>
              <a:spcAft>
                <a:spcPts val="1200"/>
              </a:spcAft>
              <a:buSzPct val="120000"/>
            </a:pPr>
            <a:endParaRPr lang="en-US" sz="2400" spc="-22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440975">
              <a:spcBef>
                <a:spcPts val="388"/>
              </a:spcBef>
              <a:spcAft>
                <a:spcPts val="1200"/>
              </a:spcAft>
              <a:buSzPct val="120000"/>
            </a:pPr>
            <a:endParaRPr lang="en-US"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11206" marR="504852" algn="just">
              <a:tabLst>
                <a:tab pos="280162" algn="l"/>
              </a:tabLst>
            </a:pPr>
            <a:r>
              <a:rPr lang="en-US" sz="2800" b="1" i="1" spc="-9" dirty="0">
                <a:latin typeface="Calibri"/>
                <a:cs typeface="Calibri"/>
              </a:rPr>
              <a:t>Note: </a:t>
            </a:r>
            <a:r>
              <a:rPr lang="en-US" sz="2800" b="1" i="1" dirty="0">
                <a:latin typeface="Calibri"/>
                <a:cs typeface="Calibri"/>
              </a:rPr>
              <a:t>CPI</a:t>
            </a:r>
            <a:r>
              <a:rPr lang="en-US" sz="2800" b="1" i="1" spc="-71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is</a:t>
            </a:r>
            <a:r>
              <a:rPr lang="en-US" sz="2800" b="1" i="1" spc="-66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not</a:t>
            </a:r>
            <a:r>
              <a:rPr lang="en-US" sz="2800" b="1" i="1" spc="-66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a</a:t>
            </a:r>
            <a:r>
              <a:rPr lang="en-US" sz="2800" b="1" i="1" spc="-79" dirty="0">
                <a:latin typeface="Calibri"/>
                <a:cs typeface="Calibri"/>
              </a:rPr>
              <a:t> </a:t>
            </a:r>
            <a:r>
              <a:rPr lang="en-US" sz="2800" b="1" i="1" spc="-18" dirty="0">
                <a:latin typeface="Calibri"/>
                <a:cs typeface="Calibri"/>
              </a:rPr>
              <a:t>good</a:t>
            </a:r>
            <a:r>
              <a:rPr lang="en-US" sz="2800" b="1" i="1" spc="-79" dirty="0">
                <a:latin typeface="Calibri"/>
                <a:cs typeface="Calibri"/>
              </a:rPr>
              <a:t> </a:t>
            </a:r>
            <a:r>
              <a:rPr lang="en-US" sz="2800" b="1" i="1" spc="-18" dirty="0">
                <a:latin typeface="Calibri"/>
                <a:cs typeface="Calibri"/>
              </a:rPr>
              <a:t>measure</a:t>
            </a:r>
            <a:r>
              <a:rPr lang="en-US" sz="2800" b="1" i="1" spc="-75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of</a:t>
            </a:r>
            <a:r>
              <a:rPr lang="en-US" sz="2800" b="1" i="1" spc="-66" dirty="0">
                <a:latin typeface="Calibri"/>
                <a:cs typeface="Calibri"/>
              </a:rPr>
              <a:t> </a:t>
            </a:r>
            <a:r>
              <a:rPr lang="en-US" sz="2800" b="1" i="1" spc="-22" dirty="0">
                <a:latin typeface="Calibri"/>
                <a:cs typeface="Calibri"/>
              </a:rPr>
              <a:t>performance</a:t>
            </a:r>
            <a:r>
              <a:rPr lang="en-US" sz="2800" b="1" i="1" spc="-75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all</a:t>
            </a:r>
            <a:r>
              <a:rPr lang="en-US" sz="2800" b="1" i="1" spc="-71" dirty="0">
                <a:latin typeface="Calibri"/>
                <a:cs typeface="Calibri"/>
              </a:rPr>
              <a:t> </a:t>
            </a:r>
            <a:r>
              <a:rPr lang="en-US" sz="2800" b="1" i="1" spc="-22" dirty="0">
                <a:latin typeface="Calibri"/>
                <a:cs typeface="Calibri"/>
              </a:rPr>
              <a:t>by </a:t>
            </a:r>
            <a:r>
              <a:rPr lang="en-US" sz="2800" b="1" i="1" dirty="0">
                <a:latin typeface="Calibri"/>
                <a:cs typeface="Calibri"/>
              </a:rPr>
              <a:t>itself</a:t>
            </a:r>
            <a:r>
              <a:rPr lang="en-US" sz="2800" b="1" i="1" spc="-84" dirty="0">
                <a:latin typeface="Calibri"/>
                <a:cs typeface="Calibri"/>
              </a:rPr>
              <a:t> </a:t>
            </a:r>
            <a:r>
              <a:rPr lang="en-US" sz="2800" b="1" i="1" spc="-9" dirty="0">
                <a:latin typeface="Calibri"/>
                <a:cs typeface="Calibri"/>
              </a:rPr>
              <a:t>since</a:t>
            </a:r>
            <a:r>
              <a:rPr lang="en-US" sz="2800" b="1" i="1" spc="-93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it</a:t>
            </a:r>
            <a:r>
              <a:rPr lang="en-US" sz="2800" b="1" i="1" spc="-79" dirty="0">
                <a:latin typeface="Calibri"/>
                <a:cs typeface="Calibri"/>
              </a:rPr>
              <a:t> </a:t>
            </a:r>
            <a:r>
              <a:rPr lang="en-US" sz="2800" b="1" i="1" spc="-9" dirty="0">
                <a:latin typeface="Calibri"/>
                <a:cs typeface="Calibri"/>
              </a:rPr>
              <a:t>varies</a:t>
            </a:r>
            <a:r>
              <a:rPr lang="en-US" sz="2800" b="1" i="1" spc="-84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by</a:t>
            </a:r>
            <a:r>
              <a:rPr lang="en-US" sz="2800" b="1" i="1" spc="-93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type</a:t>
            </a:r>
            <a:r>
              <a:rPr lang="en-US" sz="2800" b="1" i="1" spc="-93" dirty="0">
                <a:latin typeface="Calibri"/>
                <a:cs typeface="Calibri"/>
              </a:rPr>
              <a:t> </a:t>
            </a:r>
            <a:r>
              <a:rPr lang="en-US" sz="2800" b="1" i="1" dirty="0">
                <a:latin typeface="Calibri"/>
                <a:cs typeface="Calibri"/>
              </a:rPr>
              <a:t>of</a:t>
            </a:r>
            <a:r>
              <a:rPr lang="en-US" sz="2800" b="1" i="1" spc="-84" dirty="0">
                <a:latin typeface="Calibri"/>
                <a:cs typeface="Calibri"/>
              </a:rPr>
              <a:t> </a:t>
            </a:r>
            <a:r>
              <a:rPr lang="en-US" sz="2800" b="1" i="1" spc="-9" dirty="0">
                <a:latin typeface="Calibri"/>
                <a:cs typeface="Calibri"/>
              </a:rPr>
              <a:t>instruction!</a:t>
            </a:r>
            <a:endParaRPr lang="en-US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C34CF476-AF49-56CE-8F15-CA21B26E347F}"/>
                  </a:ext>
                </a:extLst>
              </p:cNvPr>
              <p:cNvSpPr txBox="1"/>
              <p:nvPr/>
            </p:nvSpPr>
            <p:spPr bwMode="auto">
              <a:xfrm>
                <a:off x="1001798" y="4082044"/>
                <a:ext cx="7746666" cy="8640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per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Clock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rate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C34CF476-AF49-56CE-8F15-CA21B26E3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1798" y="4082044"/>
                <a:ext cx="7746666" cy="8640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78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US" dirty="0"/>
              <a:t>CPU</a:t>
            </a:r>
            <a:r>
              <a:rPr lang="en-US" spc="-22" dirty="0"/>
              <a:t> </a:t>
            </a:r>
            <a:r>
              <a:rPr lang="en-US" spc="-9" dirty="0"/>
              <a:t>Performance (cont.)</a:t>
            </a:r>
            <a:endParaRPr lang="en-AU" dirty="0"/>
          </a:p>
        </p:txBody>
      </p:sp>
      <p:sp>
        <p:nvSpPr>
          <p:cNvPr id="242693" name="Text Box 5"/>
          <p:cNvSpPr txBox="1">
            <a:spLocks noChangeArrowheads="1"/>
          </p:cNvSpPr>
          <p:nvPr/>
        </p:nvSpPr>
        <p:spPr bwMode="auto">
          <a:xfrm rot="5400000">
            <a:off x="8366864" y="407804"/>
            <a:ext cx="1184940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Principles</a:t>
            </a:r>
          </a:p>
        </p:txBody>
      </p:sp>
      <p:sp>
        <p:nvSpPr>
          <p:cNvPr id="5099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/>
          <p:cNvSpPr>
            <a:spLocks noChangeArrowheads="1"/>
          </p:cNvSpPr>
          <p:nvPr/>
        </p:nvSpPr>
        <p:spPr bwMode="auto">
          <a:xfrm>
            <a:off x="0" y="7905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3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611560" y="1052736"/>
            <a:ext cx="8270875" cy="619460"/>
          </a:xfrm>
        </p:spPr>
        <p:txBody>
          <a:bodyPr/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Different instruction types having different CPIs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80B3979-1E81-DC5B-F9B7-23406E633854}"/>
                  </a:ext>
                </a:extLst>
              </p:cNvPr>
              <p:cNvSpPr txBox="1"/>
              <p:nvPr/>
            </p:nvSpPr>
            <p:spPr bwMode="auto">
              <a:xfrm>
                <a:off x="980121" y="2996952"/>
                <a:ext cx="5745845" cy="8765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IC</m:t>
                          </m:r>
                        </m:e>
                      </m:nary>
                      <m:r>
                        <a:rPr lang="en-US" sz="24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CPI</m:t>
                      </m:r>
                      <m:r>
                        <a:rPr lang="en-US" sz="2400" i="1" baseline="-25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2400" baseline="-25000" dirty="0"/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80B3979-1E81-DC5B-F9B7-23406E633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0121" y="2996952"/>
                <a:ext cx="5745845" cy="876564"/>
              </a:xfrm>
              <a:prstGeom prst="rect">
                <a:avLst/>
              </a:prstGeom>
              <a:blipFill>
                <a:blip r:embed="rId3"/>
                <a:stretch>
                  <a:fillRect b="-1958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34BFAE3-DA7B-D42F-095F-2776CC153B1A}"/>
                  </a:ext>
                </a:extLst>
              </p:cNvPr>
              <p:cNvSpPr txBox="1"/>
              <p:nvPr/>
            </p:nvSpPr>
            <p:spPr bwMode="auto">
              <a:xfrm>
                <a:off x="990519" y="4364934"/>
                <a:ext cx="7010980" cy="10802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IC</m:t>
                              </m:r>
                            </m:e>
                          </m:nary>
                          <m:r>
                            <a:rPr lang="en-US" sz="24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CPI</m:t>
                          </m:r>
                          <m:r>
                            <a:rPr lang="en-US" sz="24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Clock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34BFAE3-DA7B-D42F-095F-2776CC153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519" y="4364934"/>
                <a:ext cx="7010980" cy="1080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D4895913-B573-D6D1-11A4-303CB576D87F}"/>
                  </a:ext>
                </a:extLst>
              </p:cNvPr>
              <p:cNvSpPr txBox="1"/>
              <p:nvPr/>
            </p:nvSpPr>
            <p:spPr bwMode="auto">
              <a:xfrm>
                <a:off x="971600" y="1916832"/>
                <a:ext cx="4238972" cy="8763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IC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count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CPI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Cycles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instruction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2">
                <a:extLst>
                  <a:ext uri="{FF2B5EF4-FFF2-40B4-BE49-F238E27FC236}">
                    <a16:creationId xmlns:a16="http://schemas.microsoft.com/office/drawing/2014/main" id="{D4895913-B573-D6D1-11A4-303CB576D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1916832"/>
                <a:ext cx="4238972" cy="876394"/>
              </a:xfrm>
              <a:prstGeom prst="rect">
                <a:avLst/>
              </a:prstGeom>
              <a:blipFill>
                <a:blip r:embed="rId5"/>
                <a:stretch>
                  <a:fillRect l="-287" b="-34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2306-2093-52CA-51F1-B7A29659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>
            <a:extLst>
              <a:ext uri="{FF2B5EF4-FFF2-40B4-BE49-F238E27FC236}">
                <a16:creationId xmlns:a16="http://schemas.microsoft.com/office/drawing/2014/main" id="{FD8D54E4-1C28-6435-87DD-3E3D9AB42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52736"/>
            <a:ext cx="7694811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itchFamily="2" charset="2"/>
              <a:buChar char="n"/>
              <a:defRPr sz="3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55000"/>
              <a:buFont typeface="Wingdings" pitchFamily="2" charset="2"/>
              <a:buChar char="n"/>
              <a:defRPr sz="2800">
                <a:solidFill>
                  <a:srgbClr val="0033CC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50000"/>
              <a:buFont typeface="Wingdings" pitchFamily="2" charset="2"/>
              <a:buChar char="n"/>
              <a:defRPr sz="2400">
                <a:solidFill>
                  <a:srgbClr val="000066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55000"/>
              <a:buFont typeface="Wingdings" pitchFamily="2" charset="2"/>
              <a:buChar char="n"/>
              <a:defRPr sz="2000">
                <a:solidFill>
                  <a:srgbClr val="0066FF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SzPct val="50000"/>
              <a:buFont typeface="Wingdings" pitchFamily="2" charset="2"/>
              <a:buChar char="n"/>
              <a:defRPr sz="2000">
                <a:solidFill>
                  <a:srgbClr val="3399FF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SzPct val="50000"/>
              <a:buFont typeface="Wingdings" pitchFamily="2" charset="2"/>
              <a:buChar char="n"/>
              <a:defRPr sz="2000">
                <a:solidFill>
                  <a:srgbClr val="3399FF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SzPct val="50000"/>
              <a:buFont typeface="Wingdings" pitchFamily="2" charset="2"/>
              <a:buChar char="n"/>
              <a:defRPr sz="2000">
                <a:solidFill>
                  <a:srgbClr val="3399FF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SzPct val="50000"/>
              <a:buFont typeface="Wingdings" pitchFamily="2" charset="2"/>
              <a:buChar char="n"/>
              <a:defRPr sz="2000">
                <a:solidFill>
                  <a:srgbClr val="3399FF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FF"/>
              </a:buClr>
              <a:buSzPct val="50000"/>
              <a:buFont typeface="Wingdings" pitchFamily="2" charset="2"/>
              <a:buChar char="n"/>
              <a:defRPr sz="2000">
                <a:solidFill>
                  <a:srgbClr val="3399FF"/>
                </a:solidFill>
                <a:latin typeface="+mn-lt"/>
              </a:defRPr>
            </a:lvl9pPr>
          </a:lstStyle>
          <a:p>
            <a:r>
              <a:rPr lang="en-US" sz="2800" b="1" kern="0" dirty="0">
                <a:latin typeface="Calibri" panose="020F0502020204030204" pitchFamily="34" charset="0"/>
                <a:cs typeface="Calibri" panose="020F0502020204030204" pitchFamily="34" charset="0"/>
              </a:rPr>
              <a:t>CPU time </a:t>
            </a:r>
            <a:r>
              <a:rPr lang="en-US" sz="2800" kern="0" dirty="0">
                <a:latin typeface="Calibri" panose="020F0502020204030204" pitchFamily="34" charset="0"/>
                <a:cs typeface="Calibri" panose="020F0502020204030204" pitchFamily="34" charset="0"/>
              </a:rPr>
              <a:t>(or process time): amount of time that a CPU was used for processing instructions of a computer program</a:t>
            </a:r>
            <a:endParaRPr lang="en-US" sz="2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55DFC0A-5E72-150C-A057-9EB0A38D74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 dirty="0"/>
          </a:p>
        </p:txBody>
      </p:sp>
      <p:sp>
        <p:nvSpPr>
          <p:cNvPr id="242690" name="Rectangle 2">
            <a:extLst>
              <a:ext uri="{FF2B5EF4-FFF2-40B4-BE49-F238E27FC236}">
                <a16:creationId xmlns:a16="http://schemas.microsoft.com/office/drawing/2014/main" id="{64CF7594-E43E-1C10-6A88-BA988ED1A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7886"/>
          </a:xfrm>
        </p:spPr>
        <p:txBody>
          <a:bodyPr/>
          <a:lstStyle/>
          <a:p>
            <a:r>
              <a:rPr lang="en-US" dirty="0"/>
              <a:t>CPU</a:t>
            </a:r>
            <a:r>
              <a:rPr lang="en-US" spc="-22" dirty="0"/>
              <a:t> </a:t>
            </a:r>
            <a:r>
              <a:rPr lang="en-US" spc="-9" dirty="0"/>
              <a:t>Performance (cont.)</a:t>
            </a:r>
            <a:endParaRPr lang="en-AU" dirty="0"/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3AAF933F-CBF1-BCBB-A437-0CDFE164C40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366864" y="407804"/>
            <a:ext cx="1184940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Principles</a:t>
            </a:r>
          </a:p>
        </p:txBody>
      </p:sp>
      <p:sp>
        <p:nvSpPr>
          <p:cNvPr id="509956" name="Rectangle 4">
            <a:extLst>
              <a:ext uri="{FF2B5EF4-FFF2-40B4-BE49-F238E27FC236}">
                <a16:creationId xmlns:a16="http://schemas.microsoft.com/office/drawing/2014/main" id="{E118861C-844C-F01C-AED4-CD16442A9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8" name="Rectangle 6">
            <a:extLst>
              <a:ext uri="{FF2B5EF4-FFF2-40B4-BE49-F238E27FC236}">
                <a16:creationId xmlns:a16="http://schemas.microsoft.com/office/drawing/2014/main" id="{1F9B1BD1-9FF8-C8E4-50D9-7F39FB525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59" name="Rectangle 7">
            <a:extLst>
              <a:ext uri="{FF2B5EF4-FFF2-40B4-BE49-F238E27FC236}">
                <a16:creationId xmlns:a16="http://schemas.microsoft.com/office/drawing/2014/main" id="{8247DBA7-4753-B249-7BE3-3F6FB77EB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5409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509961" name="Rectangle 9">
            <a:extLst>
              <a:ext uri="{FF2B5EF4-FFF2-40B4-BE49-F238E27FC236}">
                <a16:creationId xmlns:a16="http://schemas.microsoft.com/office/drawing/2014/main" id="{38168814-7D6E-8C10-A5BF-CB393CBA5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3" name="Rectangle 11">
            <a:extLst>
              <a:ext uri="{FF2B5EF4-FFF2-40B4-BE49-F238E27FC236}">
                <a16:creationId xmlns:a16="http://schemas.microsoft.com/office/drawing/2014/main" id="{801C4625-CFAD-73F9-5DC7-5052B5B8D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09965" name="Rectangle 13">
            <a:extLst>
              <a:ext uri="{FF2B5EF4-FFF2-40B4-BE49-F238E27FC236}">
                <a16:creationId xmlns:a16="http://schemas.microsoft.com/office/drawing/2014/main" id="{3C2FB286-266A-ADD0-554B-220E35494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73709256-5D17-6F48-730C-01811417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7844" name="Rectangle 4">
            <a:extLst>
              <a:ext uri="{FF2B5EF4-FFF2-40B4-BE49-F238E27FC236}">
                <a16:creationId xmlns:a16="http://schemas.microsoft.com/office/drawing/2014/main" id="{1397D08B-7FAA-DB07-FBD1-289D46CB4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FBE76BAE-52E5-25EF-BD42-C028E2519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0" name="Rectangle 4">
            <a:extLst>
              <a:ext uri="{FF2B5EF4-FFF2-40B4-BE49-F238E27FC236}">
                <a16:creationId xmlns:a16="http://schemas.microsoft.com/office/drawing/2014/main" id="{0D0BD0BC-8D11-788C-0DD2-F8264D0F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2" name="Rectangle 6">
            <a:extLst>
              <a:ext uri="{FF2B5EF4-FFF2-40B4-BE49-F238E27FC236}">
                <a16:creationId xmlns:a16="http://schemas.microsoft.com/office/drawing/2014/main" id="{992B10D7-38F7-D04B-91A5-45CC2810B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4" name="Rectangle 8">
            <a:extLst>
              <a:ext uri="{FF2B5EF4-FFF2-40B4-BE49-F238E27FC236}">
                <a16:creationId xmlns:a16="http://schemas.microsoft.com/office/drawing/2014/main" id="{DD272FD3-76D5-AD1F-492A-44769E648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51946" name="Rectangle 10">
            <a:extLst>
              <a:ext uri="{FF2B5EF4-FFF2-40B4-BE49-F238E27FC236}">
                <a16:creationId xmlns:a16="http://schemas.microsoft.com/office/drawing/2014/main" id="{B30A3E36-9E3E-0E4E-38CD-BEFC4991B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2287063B-6A56-336E-0A8A-710A1A06F937}"/>
                  </a:ext>
                </a:extLst>
              </p:cNvPr>
              <p:cNvSpPr txBox="1"/>
              <p:nvPr/>
            </p:nvSpPr>
            <p:spPr bwMode="auto">
              <a:xfrm>
                <a:off x="971600" y="2996952"/>
                <a:ext cx="2945194" cy="858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CPU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2287063B-6A56-336E-0A8A-710A1A06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2996952"/>
                <a:ext cx="2945194" cy="858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182F15-7BA1-ABE9-3E68-4D894BC9912F}"/>
                  </a:ext>
                </a:extLst>
              </p:cNvPr>
              <p:cNvSpPr txBox="1"/>
              <p:nvPr/>
            </p:nvSpPr>
            <p:spPr>
              <a:xfrm>
                <a:off x="2260610" y="4156661"/>
                <a:ext cx="6057124" cy="858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Instruction</m:t>
                          </m:r>
                        </m:den>
                      </m:f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Cycle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182F15-7BA1-ABE9-3E68-4D894BC99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610" y="4156661"/>
                <a:ext cx="6057124" cy="858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20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CPU</a:t>
            </a:r>
            <a:r>
              <a:rPr spc="-22" dirty="0"/>
              <a:t> </a:t>
            </a:r>
            <a:r>
              <a:rPr dirty="0"/>
              <a:t>Performance</a:t>
            </a:r>
            <a:r>
              <a:rPr spc="-9" dirty="0"/>
              <a:t> </a:t>
            </a:r>
            <a:r>
              <a:rPr lang="en-US" spc="-9" dirty="0"/>
              <a:t>Example</a:t>
            </a:r>
            <a:endParaRPr spc="-9" dirty="0"/>
          </a:p>
        </p:txBody>
      </p:sp>
      <p:sp>
        <p:nvSpPr>
          <p:cNvPr id="3" name="object 3"/>
          <p:cNvSpPr txBox="1"/>
          <p:nvPr/>
        </p:nvSpPr>
        <p:spPr>
          <a:xfrm>
            <a:off x="432048" y="1072558"/>
            <a:ext cx="7371515" cy="481806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54107" indent="-342900">
              <a:spcBef>
                <a:spcPts val="441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An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example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that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illustrates</a:t>
            </a:r>
            <a:r>
              <a:rPr sz="2800"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overall</a:t>
            </a:r>
            <a:r>
              <a:rPr sz="2800"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effect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80" y="1772816"/>
            <a:ext cx="8172400" cy="387989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8362742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CPU</a:t>
            </a:r>
            <a:r>
              <a:rPr lang="en-US" spc="-22" dirty="0"/>
              <a:t> </a:t>
            </a:r>
            <a:r>
              <a:rPr lang="en-US" dirty="0"/>
              <a:t>Performance</a:t>
            </a:r>
            <a:r>
              <a:rPr lang="en-US" spc="-9" dirty="0"/>
              <a:t> Example (cont.)</a:t>
            </a:r>
            <a:endParaRPr spc="-9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5656" y="1412776"/>
            <a:ext cx="5040560" cy="15205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568" y="3429000"/>
            <a:ext cx="8064896" cy="1080120"/>
          </a:xfrm>
          <a:prstGeom prst="rect">
            <a:avLst/>
          </a:prstGeom>
        </p:spPr>
      </p:pic>
      <p:pic>
        <p:nvPicPr>
          <p:cNvPr id="10" name="object 5">
            <a:extLst>
              <a:ext uri="{FF2B5EF4-FFF2-40B4-BE49-F238E27FC236}">
                <a16:creationId xmlns:a16="http://schemas.microsoft.com/office/drawing/2014/main" id="{8608302F-119A-E1BB-14DE-6BF24B6F166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9672" y="5157192"/>
            <a:ext cx="5105260" cy="3174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1064F9-F71F-6828-1699-A9A108AF766E}"/>
              </a:ext>
            </a:extLst>
          </p:cNvPr>
          <p:cNvSpPr/>
          <p:nvPr/>
        </p:nvSpPr>
        <p:spPr bwMode="auto">
          <a:xfrm>
            <a:off x="2159732" y="2420722"/>
            <a:ext cx="4824536" cy="584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None/>
              <a:tabLst/>
            </a:pPr>
            <a:endParaRPr kumimoji="0" lang="en-US" sz="3200" b="0" i="0" u="none" strike="noStrike" cap="none" normalizeH="0" baseline="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Arial Black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3D3515-3DB8-2572-0570-ACE17505D161}"/>
              </a:ext>
            </a:extLst>
          </p:cNvPr>
          <p:cNvSpPr/>
          <p:nvPr/>
        </p:nvSpPr>
        <p:spPr bwMode="auto">
          <a:xfrm>
            <a:off x="2303748" y="4013443"/>
            <a:ext cx="4824536" cy="584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None/>
              <a:tabLst/>
            </a:pPr>
            <a:endParaRPr kumimoji="0" lang="en-US" sz="3200" b="0" i="0" u="none" strike="noStrike" cap="none" normalizeH="0" baseline="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Arial Black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AB997F-2B8C-5C6A-E276-30CFBEF81CBB}"/>
              </a:ext>
            </a:extLst>
          </p:cNvPr>
          <p:cNvSpPr/>
          <p:nvPr/>
        </p:nvSpPr>
        <p:spPr bwMode="auto">
          <a:xfrm>
            <a:off x="2987824" y="4955194"/>
            <a:ext cx="4824536" cy="584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None/>
              <a:tabLst/>
            </a:pPr>
            <a:endParaRPr kumimoji="0" lang="en-US" sz="3200" b="0" i="0" u="none" strike="noStrike" cap="none" normalizeH="0" baseline="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A3248-AA22-614B-58A5-90E6A2A8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CC5945-7B75-CB85-C41C-84968A91A5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8362742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dirty="0"/>
              <a:t>CPU</a:t>
            </a:r>
            <a:r>
              <a:rPr lang="en-US" spc="-22" dirty="0"/>
              <a:t> </a:t>
            </a:r>
            <a:r>
              <a:rPr lang="en-US" dirty="0"/>
              <a:t>Performance</a:t>
            </a:r>
            <a:r>
              <a:rPr lang="en-US" spc="-9" dirty="0"/>
              <a:t> Example (cont.)</a:t>
            </a:r>
            <a:endParaRPr spc="-9" dirty="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84960089-F5CB-43F7-BC75-A259CC73CE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576" y="2420888"/>
            <a:ext cx="7704856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292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8002702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How</a:t>
            </a:r>
            <a:r>
              <a:rPr spc="9" dirty="0"/>
              <a:t> </a:t>
            </a:r>
            <a:r>
              <a:rPr dirty="0"/>
              <a:t>to</a:t>
            </a:r>
            <a:r>
              <a:rPr spc="13" dirty="0"/>
              <a:t> </a:t>
            </a:r>
            <a:r>
              <a:rPr dirty="0"/>
              <a:t>design</a:t>
            </a:r>
            <a:r>
              <a:rPr spc="18" dirty="0"/>
              <a:t> </a:t>
            </a:r>
            <a:r>
              <a:rPr dirty="0"/>
              <a:t>a</a:t>
            </a:r>
            <a:r>
              <a:rPr spc="18" dirty="0"/>
              <a:t> </a:t>
            </a:r>
            <a:r>
              <a:rPr dirty="0"/>
              <a:t>fast</a:t>
            </a:r>
            <a:r>
              <a:rPr spc="9" dirty="0"/>
              <a:t> </a:t>
            </a:r>
            <a:r>
              <a:rPr spc="-9" dirty="0"/>
              <a:t>computer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4" y="1324398"/>
            <a:ext cx="7674650" cy="4849314"/>
          </a:xfrm>
          <a:prstGeom prst="rect">
            <a:avLst/>
          </a:prstGeom>
        </p:spPr>
        <p:txBody>
          <a:bodyPr vert="horz" wrap="square" lIns="0" tIns="52107" rIns="0" bIns="0" rtlCol="0">
            <a:spAutoFit/>
          </a:bodyPr>
          <a:lstStyle/>
          <a:p>
            <a:pPr marL="468406" marR="5043" indent="-457200">
              <a:spcBef>
                <a:spcPts val="410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Amdahl's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law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says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put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your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effort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into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optimizing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instructions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that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are</a:t>
            </a:r>
            <a:r>
              <a:rPr sz="2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often</a:t>
            </a:r>
            <a:r>
              <a:rPr sz="2800"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used.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468406" marR="4483" indent="-457200" algn="just"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z="2800" b="1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800" b="1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99"/>
                </a:solidFill>
                <a:latin typeface="Calibri"/>
                <a:cs typeface="Calibri"/>
              </a:rPr>
              <a:t>locality</a:t>
            </a:r>
            <a:r>
              <a:rPr sz="2800" b="1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b="1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99"/>
                </a:solidFill>
                <a:latin typeface="Calibri"/>
                <a:cs typeface="Calibri"/>
              </a:rPr>
              <a:t>reference</a:t>
            </a:r>
            <a:r>
              <a:rPr sz="2800" b="1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rule-</a:t>
            </a:r>
            <a:r>
              <a:rPr sz="2800" spc="-13" dirty="0">
                <a:solidFill>
                  <a:srgbClr val="003399"/>
                </a:solidFill>
                <a:latin typeface="Calibri"/>
                <a:cs typeface="Calibri"/>
              </a:rPr>
              <a:t>of-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thumb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says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99"/>
                </a:solidFill>
                <a:latin typeface="Calibri"/>
                <a:cs typeface="Calibri"/>
              </a:rPr>
              <a:t>that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program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spends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90%</a:t>
            </a:r>
            <a:r>
              <a:rPr sz="2800" i="1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its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time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3399"/>
                </a:solidFill>
                <a:latin typeface="Calibri"/>
                <a:cs typeface="Calibri"/>
              </a:rPr>
              <a:t>10%</a:t>
            </a:r>
            <a:r>
              <a:rPr sz="2800" i="1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99"/>
                </a:solidFill>
                <a:latin typeface="Calibri"/>
                <a:cs typeface="Calibri"/>
              </a:rPr>
              <a:t>the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code,</a:t>
            </a:r>
            <a:r>
              <a:rPr sz="28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so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we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should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put</a:t>
            </a:r>
            <a:r>
              <a:rPr sz="28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effort</a:t>
            </a:r>
            <a:r>
              <a:rPr sz="2800" spc="-4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into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taking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advantage</a:t>
            </a:r>
            <a:r>
              <a:rPr sz="2800"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this,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through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800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99"/>
                </a:solidFill>
                <a:latin typeface="Calibri"/>
                <a:cs typeface="Calibri"/>
              </a:rPr>
              <a:t>memory</a:t>
            </a:r>
            <a:r>
              <a:rPr sz="2800" b="1"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b="1" spc="-9" dirty="0">
                <a:solidFill>
                  <a:srgbClr val="003399"/>
                </a:solidFill>
                <a:latin typeface="Calibri"/>
                <a:cs typeface="Calibri"/>
              </a:rPr>
              <a:t>hierarchy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468406" indent="-457200">
              <a:buSzPct val="120000"/>
              <a:buFont typeface="Wingdings" panose="05000000000000000000" pitchFamily="2" charset="2"/>
              <a:buChar char="§"/>
              <a:tabLst>
                <a:tab pos="279041" algn="l"/>
              </a:tabLst>
            </a:pP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data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accesses,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2</a:t>
            </a:r>
            <a:r>
              <a:rPr sz="2800"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types</a:t>
            </a:r>
            <a:r>
              <a:rPr sz="2800" spc="-5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800"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99"/>
                </a:solidFill>
                <a:latin typeface="Calibri"/>
                <a:cs typeface="Calibri"/>
              </a:rPr>
              <a:t>locality</a:t>
            </a:r>
            <a:endParaRPr sz="2800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82638" lvl="1" indent="-261938">
              <a:spcBef>
                <a:spcPts val="525"/>
              </a:spcBef>
              <a:buSzPct val="12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Spatial</a:t>
            </a:r>
          </a:p>
          <a:p>
            <a:pPr marL="782638" lvl="1" indent="-261938">
              <a:spcBef>
                <a:spcPts val="525"/>
              </a:spcBef>
              <a:buSzPct val="12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T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emporal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82638" lvl="1" indent="-261938">
              <a:spcBef>
                <a:spcPts val="507"/>
              </a:spcBef>
              <a:buSzPct val="120000"/>
              <a:buFont typeface="Arial" panose="020B0604020202020204" pitchFamily="34" charset="0"/>
              <a:buChar char="•"/>
              <a:tabLst>
                <a:tab pos="655579" algn="l"/>
              </a:tabLst>
            </a:pP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930694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Take</a:t>
            </a:r>
            <a:r>
              <a:rPr spc="4" dirty="0"/>
              <a:t> </a:t>
            </a:r>
            <a:r>
              <a:rPr lang="en-US" dirty="0"/>
              <a:t>A</a:t>
            </a:r>
            <a:r>
              <a:rPr dirty="0"/>
              <a:t>dvantage</a:t>
            </a:r>
            <a:r>
              <a:rPr spc="9" dirty="0"/>
              <a:t> </a:t>
            </a:r>
            <a:r>
              <a:rPr dirty="0"/>
              <a:t>of</a:t>
            </a:r>
            <a:r>
              <a:rPr spc="9" dirty="0"/>
              <a:t> </a:t>
            </a:r>
            <a:r>
              <a:rPr lang="en-US" spc="-9" dirty="0"/>
              <a:t>P</a:t>
            </a:r>
            <a:r>
              <a:rPr spc="-9" dirty="0"/>
              <a:t>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1806" y="1226113"/>
            <a:ext cx="6666538" cy="4607234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spcBef>
                <a:spcPts val="671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system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800"/>
              </a:spcAft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e.g.,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use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multiple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CPUs,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CC"/>
                </a:solidFill>
                <a:latin typeface="Calibri"/>
                <a:cs typeface="Calibri"/>
              </a:rPr>
              <a:t>disks</a:t>
            </a:r>
            <a:endParaRPr sz="1677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pc="-62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processor</a:t>
            </a:r>
            <a:r>
              <a:rPr spc="-5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512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among</a:t>
            </a:r>
            <a:r>
              <a:rPr sz="2800" spc="40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instructions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379"/>
              </a:spcBef>
              <a:spcAft>
                <a:spcPts val="1800"/>
              </a:spcAft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pipelining</a:t>
            </a:r>
            <a:endParaRPr sz="1677" dirty="0">
              <a:latin typeface="Calibri"/>
              <a:cs typeface="Calibri"/>
            </a:endParaRPr>
          </a:p>
          <a:p>
            <a:pPr marL="354107" indent="-342900"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digital</a:t>
            </a:r>
            <a:r>
              <a:rPr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design</a:t>
            </a:r>
            <a:r>
              <a:rPr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level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512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e.g.,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set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associative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caches,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carry-lookahead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ALU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design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C2672-C473-34DC-E9BC-1BF46B2C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1D13B0-2358-E84E-D417-152ED7F30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592" y="3789040"/>
            <a:ext cx="6050056" cy="1179071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lang="en-US" sz="3794" spc="-18" dirty="0">
                <a:latin typeface="Arial"/>
                <a:cs typeface="Arial"/>
              </a:rPr>
              <a:t>Trends in Technology</a:t>
            </a:r>
            <a:br>
              <a:rPr lang="en-US" sz="3794" spc="-18" dirty="0">
                <a:latin typeface="Arial"/>
                <a:cs typeface="Arial"/>
              </a:rPr>
            </a:br>
            <a:r>
              <a:rPr lang="en-US" sz="3794" spc="-18" dirty="0">
                <a:latin typeface="Arial"/>
                <a:cs typeface="Arial"/>
              </a:rPr>
              <a:t>(Revisited)</a:t>
            </a:r>
            <a:endParaRPr sz="3794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7739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49FB-17BC-8C50-B932-F3C08EE6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D4C2522-A6E0-42A8-6815-9ABFED2B7C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242690" name="Rectangle 2">
            <a:extLst>
              <a:ext uri="{FF2B5EF4-FFF2-40B4-BE49-F238E27FC236}">
                <a16:creationId xmlns:a16="http://schemas.microsoft.com/office/drawing/2014/main" id="{66F1F956-0F47-847E-4688-C686F0A8F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Bandwidth and Latency</a:t>
            </a:r>
            <a:endParaRPr lang="en-AU" dirty="0"/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93586756-A1A9-E752-F0DB-BEC8BA65F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5418" y="1269554"/>
            <a:ext cx="8208962" cy="496775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Bandwidth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 throughput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Total work done in a given time</a:t>
            </a:r>
          </a:p>
          <a:p>
            <a:pPr lvl="1">
              <a:lnSpc>
                <a:spcPct val="90000"/>
              </a:lnSpc>
            </a:pPr>
            <a:r>
              <a:rPr lang="en-US" kern="1200" dirty="0">
                <a:latin typeface="Calibri" panose="020F0502020204030204" pitchFamily="34" charset="0"/>
                <a:cs typeface="Calibri" panose="020F0502020204030204" pitchFamily="34" charset="0"/>
              </a:rPr>
              <a:t>Maximum rate of data transfer across a given path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Focuses on data volume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Latency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or response time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Time between start and completion of an event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Delay before a transfer of data begins following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instruction for its transfer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Emphasizes data speed and responsiveness</a:t>
            </a:r>
          </a:p>
        </p:txBody>
      </p:sp>
      <p:sp>
        <p:nvSpPr>
          <p:cNvPr id="242693" name="Text Box 5">
            <a:extLst>
              <a:ext uri="{FF2B5EF4-FFF2-40B4-BE49-F238E27FC236}">
                <a16:creationId xmlns:a16="http://schemas.microsoft.com/office/drawing/2014/main" id="{ECE7B1AF-E16F-4A9C-FBFC-F5BF0D89385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</p:spTree>
    <p:extLst>
      <p:ext uri="{BB962C8B-B14F-4D97-AF65-F5344CB8AC3E}">
        <p14:creationId xmlns:p14="http://schemas.microsoft.com/office/powerpoint/2010/main" val="245622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5188-43D8-34AA-EAC2-7839F0A3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620DAED-0AA6-EB19-945F-31799F0230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2019, Elsevier Inc. All rights reserved.</a:t>
            </a:r>
            <a:endParaRPr lang="en-AU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DEFE08A4-3F46-8721-2EBF-0890340A1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Bandwidth and Latency</a:t>
            </a:r>
            <a:endParaRPr lang="en-GB" dirty="0"/>
          </a:p>
        </p:txBody>
      </p:sp>
      <p:sp>
        <p:nvSpPr>
          <p:cNvPr id="483336" name="Text Box 8">
            <a:extLst>
              <a:ext uri="{FF2B5EF4-FFF2-40B4-BE49-F238E27FC236}">
                <a16:creationId xmlns:a16="http://schemas.microsoft.com/office/drawing/2014/main" id="{18D65F00-664B-01B9-698F-85F96F1DA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914" y="5805264"/>
            <a:ext cx="5798382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rgbClr val="000066"/>
                </a:solidFill>
                <a:latin typeface="Arial" charset="0"/>
              </a:rPr>
              <a:t>Log-log plot of bandwidth and latency milestones</a:t>
            </a:r>
            <a:endParaRPr lang="en-GB" sz="2000" dirty="0">
              <a:solidFill>
                <a:srgbClr val="000066"/>
              </a:solidFill>
              <a:latin typeface="Arial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9F3BA7E-70FB-F84A-3FCF-92BFAF22093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776895" y="997773"/>
            <a:ext cx="2364878" cy="369332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66FF"/>
                </a:solidFill>
                <a:latin typeface="Arial" charset="0"/>
              </a:rPr>
              <a:t>Trends in Technology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B4320-1EDC-1A22-96AA-D0DE8024E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05" y="969338"/>
            <a:ext cx="5400600" cy="483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5709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576" y="137835"/>
            <a:ext cx="6318452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Bandwidth</a:t>
            </a:r>
            <a:r>
              <a:rPr spc="-26" dirty="0"/>
              <a:t> </a:t>
            </a:r>
            <a:r>
              <a:rPr spc="-9" dirty="0"/>
              <a:t>Improvement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4185" y="739579"/>
            <a:ext cx="6796166" cy="52565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4832" y="6000975"/>
            <a:ext cx="4852147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dirty="0">
                <a:solidFill>
                  <a:srgbClr val="000066"/>
                </a:solidFill>
                <a:latin typeface="Arial"/>
                <a:cs typeface="Arial"/>
              </a:rPr>
              <a:t>Plot</a:t>
            </a:r>
            <a:r>
              <a:rPr sz="1853" b="1" spc="4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53" b="1" dirty="0">
                <a:solidFill>
                  <a:srgbClr val="000066"/>
                </a:solidFill>
                <a:latin typeface="Arial"/>
                <a:cs typeface="Arial"/>
              </a:rPr>
              <a:t>of</a:t>
            </a:r>
            <a:r>
              <a:rPr sz="1853" b="1" spc="44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53" b="1" dirty="0">
                <a:solidFill>
                  <a:srgbClr val="000066"/>
                </a:solidFill>
                <a:latin typeface="Arial"/>
                <a:cs typeface="Arial"/>
              </a:rPr>
              <a:t>bandwidth</a:t>
            </a:r>
            <a:r>
              <a:rPr sz="1853" b="1" spc="53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53" b="1" dirty="0">
                <a:solidFill>
                  <a:srgbClr val="000066"/>
                </a:solidFill>
                <a:latin typeface="Arial"/>
                <a:cs typeface="Arial"/>
              </a:rPr>
              <a:t>improvement</a:t>
            </a:r>
            <a:r>
              <a:rPr sz="1853" b="1" spc="44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53" b="1" dirty="0">
                <a:solidFill>
                  <a:srgbClr val="000066"/>
                </a:solidFill>
                <a:latin typeface="Arial"/>
                <a:cs typeface="Arial"/>
              </a:rPr>
              <a:t>over</a:t>
            </a:r>
            <a:r>
              <a:rPr sz="1853" b="1" spc="44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853" b="1" spc="-9" dirty="0">
                <a:solidFill>
                  <a:srgbClr val="000066"/>
                </a:solidFill>
                <a:latin typeface="Arial"/>
                <a:cs typeface="Arial"/>
              </a:rPr>
              <a:t>years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9781" y="980728"/>
            <a:ext cx="1444438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500" b="1" dirty="0">
                <a:solidFill>
                  <a:srgbClr val="000066"/>
                </a:solidFill>
                <a:latin typeface="Arial"/>
                <a:cs typeface="Arial"/>
              </a:rPr>
              <a:t>6</a:t>
            </a:r>
            <a:r>
              <a:rPr sz="1456" b="1" baseline="25252" dirty="0">
                <a:solidFill>
                  <a:srgbClr val="000066"/>
                </a:solidFill>
                <a:latin typeface="Arial"/>
                <a:cs typeface="Arial"/>
              </a:rPr>
              <a:t>th</a:t>
            </a:r>
            <a:r>
              <a:rPr sz="1456" b="1" spc="224" baseline="25252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66"/>
                </a:solidFill>
                <a:latin typeface="Arial"/>
                <a:cs typeface="Arial"/>
              </a:rPr>
              <a:t>ed.</a:t>
            </a:r>
            <a:r>
              <a:rPr sz="1500" b="1" spc="-4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66"/>
                </a:solidFill>
                <a:latin typeface="Arial"/>
                <a:cs typeface="Arial"/>
              </a:rPr>
              <a:t>Fig. </a:t>
            </a:r>
            <a:r>
              <a:rPr sz="1500" b="1" spc="-18" dirty="0">
                <a:solidFill>
                  <a:srgbClr val="000066"/>
                </a:solidFill>
                <a:latin typeface="Arial"/>
                <a:cs typeface="Arial"/>
              </a:rPr>
              <a:t>1.23</a:t>
            </a:r>
            <a:endParaRPr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Latency</a:t>
            </a:r>
            <a:r>
              <a:rPr spc="26" dirty="0"/>
              <a:t> </a:t>
            </a:r>
            <a:r>
              <a:rPr dirty="0"/>
              <a:t>Lags</a:t>
            </a:r>
            <a:r>
              <a:rPr spc="31" dirty="0"/>
              <a:t> </a:t>
            </a:r>
            <a:r>
              <a:rPr spc="-9" dirty="0"/>
              <a:t>Bandwidth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9387" y="6370436"/>
            <a:ext cx="5796243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747"/>
              </a:lnSpc>
            </a:pPr>
            <a:r>
              <a:rPr sz="1500" i="1" dirty="0">
                <a:latin typeface="Arial"/>
                <a:cs typeface="Arial"/>
              </a:rPr>
              <a:t>Source:</a:t>
            </a:r>
            <a:r>
              <a:rPr sz="1500" i="1" spc="-22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Communications</a:t>
            </a:r>
            <a:r>
              <a:rPr sz="1500" i="1" spc="-22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of</a:t>
            </a:r>
            <a:r>
              <a:rPr sz="1500" i="1" spc="-22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the</a:t>
            </a:r>
            <a:r>
              <a:rPr sz="1500" i="1" spc="-79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ACM,</a:t>
            </a:r>
            <a:r>
              <a:rPr sz="1500" i="1" spc="-22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October</a:t>
            </a:r>
            <a:r>
              <a:rPr sz="1500" i="1" spc="-18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2004</a:t>
            </a:r>
            <a:r>
              <a:rPr sz="1500" i="1" spc="-26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/</a:t>
            </a:r>
            <a:r>
              <a:rPr sz="1500" i="1" spc="-22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Vol.47,</a:t>
            </a:r>
            <a:r>
              <a:rPr sz="1500" i="1" spc="-18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No.</a:t>
            </a:r>
            <a:r>
              <a:rPr sz="1500" i="1" spc="-22" dirty="0">
                <a:latin typeface="Arial"/>
                <a:cs typeface="Arial"/>
              </a:rPr>
              <a:t> 10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914" y="1196752"/>
            <a:ext cx="8050550" cy="3471539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spcBef>
                <a:spcPts val="671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Rule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Thumb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Latency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Lagging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pc="-22" dirty="0">
                <a:solidFill>
                  <a:srgbClr val="003399"/>
                </a:solidFill>
                <a:latin typeface="Calibri"/>
                <a:cs typeface="Calibri"/>
              </a:rPr>
              <a:t>Bandwidth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marR="20172" lvl="1" indent="-285750">
              <a:spcBef>
                <a:spcPts val="613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time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doubles,</a:t>
            </a:r>
            <a:r>
              <a:rPr sz="2800" b="1" spc="-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improves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no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more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than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44" dirty="0">
                <a:solidFill>
                  <a:srgbClr val="0033CC"/>
                </a:solidFill>
                <a:latin typeface="Calibri"/>
                <a:cs typeface="Calibri"/>
              </a:rPr>
              <a:t>a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factor</a:t>
            </a:r>
            <a:r>
              <a:rPr sz="2800" b="1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800" b="1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1.2</a:t>
            </a:r>
            <a:r>
              <a:rPr sz="2800" b="1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800" b="1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1.4</a:t>
            </a:r>
            <a:r>
              <a:rPr sz="2800" b="1" spc="39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(and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capacity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improves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faster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than</a:t>
            </a:r>
            <a: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bandwidth)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marR="4483" lvl="1" indent="-285750"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Stated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alternatively: </a:t>
            </a:r>
            <a:b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improves</a:t>
            </a:r>
            <a:r>
              <a:rPr lang="en-US" sz="2800" b="1" spc="-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more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than</a:t>
            </a:r>
            <a:r>
              <a:rPr sz="2800" b="1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800" b="1" spc="-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square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of </a:t>
            </a:r>
            <a:r>
              <a:rPr sz="2800" b="1" spc="-22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lang="en-US" sz="2800" b="1" spc="-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improvement</a:t>
            </a:r>
            <a:r>
              <a:rPr sz="2800" b="1" spc="-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b="1" spc="-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b="1" spc="-9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3" y="248399"/>
            <a:ext cx="8002703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13" dirty="0"/>
              <a:t> </a:t>
            </a:r>
            <a:r>
              <a:rPr sz="3000" dirty="0"/>
              <a:t>Reasons</a:t>
            </a:r>
            <a:r>
              <a:rPr sz="3000" spc="13" dirty="0"/>
              <a:t> </a:t>
            </a:r>
            <a:r>
              <a:rPr sz="3000" dirty="0"/>
              <a:t>Latency</a:t>
            </a:r>
            <a:r>
              <a:rPr sz="3000" spc="18" dirty="0"/>
              <a:t> </a:t>
            </a:r>
            <a:r>
              <a:rPr sz="3000" dirty="0"/>
              <a:t>Lags</a:t>
            </a:r>
            <a:r>
              <a:rPr sz="3000" spc="13" dirty="0"/>
              <a:t> </a:t>
            </a:r>
            <a:r>
              <a:rPr sz="3000" spc="-9" dirty="0"/>
              <a:t>Bandwidth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3568" y="1057089"/>
            <a:ext cx="7458626" cy="4324837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468406" indent="-457200">
              <a:spcBef>
                <a:spcPts val="671"/>
              </a:spcBef>
              <a:buSzPct val="100000"/>
              <a:buFont typeface="+mj-lt"/>
              <a:buAutoNum type="arabicPeriod"/>
              <a:tabLst>
                <a:tab pos="440975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Moore’s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Law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helps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BW</a:t>
            </a:r>
            <a:r>
              <a:rPr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more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than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pc="-9" dirty="0">
                <a:solidFill>
                  <a:srgbClr val="003399"/>
                </a:solidFill>
                <a:latin typeface="Calibri"/>
                <a:cs typeface="Calibri"/>
              </a:rPr>
              <a:t>L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atency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98175" indent="-457200">
              <a:spcBef>
                <a:spcPts val="427"/>
              </a:spcBef>
              <a:buSzPct val="120000"/>
              <a:buFontTx/>
              <a:buChar char="-"/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Faster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transistors, more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transistors,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4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more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pins help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endParaRPr lang="en-US" sz="2800" spc="-9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440975">
              <a:spcBef>
                <a:spcPts val="427"/>
              </a:spcBef>
              <a:buSzPct val="120000"/>
            </a:pPr>
            <a:endParaRPr lang="en-US" sz="2800" spc="-9" dirty="0">
              <a:latin typeface="Calibri"/>
              <a:cs typeface="Calibri"/>
            </a:endParaRPr>
          </a:p>
          <a:p>
            <a:pPr marL="440975">
              <a:spcBef>
                <a:spcPts val="427"/>
              </a:spcBef>
              <a:buSzPct val="120000"/>
            </a:pPr>
            <a:endParaRPr lang="en-US" sz="2800" spc="-9" dirty="0">
              <a:latin typeface="Calibri"/>
              <a:cs typeface="Calibri"/>
            </a:endParaRPr>
          </a:p>
          <a:p>
            <a:pPr marL="440975">
              <a:spcBef>
                <a:spcPts val="427"/>
              </a:spcBef>
              <a:buSzPct val="120000"/>
            </a:pPr>
            <a:endParaRPr lang="en-US" sz="2800" spc="-9" dirty="0">
              <a:latin typeface="Calibri"/>
              <a:cs typeface="Calibri"/>
            </a:endParaRPr>
          </a:p>
          <a:p>
            <a:pPr marL="898175" indent="-457200">
              <a:spcBef>
                <a:spcPts val="427"/>
              </a:spcBef>
              <a:buSzPct val="120000"/>
              <a:buFontTx/>
              <a:buChar char="-"/>
            </a:pPr>
            <a:r>
              <a:rPr lang="en-US" sz="2800" b="1" dirty="0">
                <a:solidFill>
                  <a:srgbClr val="0033CC"/>
                </a:solidFill>
                <a:latin typeface="Calibri"/>
                <a:cs typeface="Calibri"/>
              </a:rPr>
              <a:t>Smaller, faster transistors</a:t>
            </a:r>
            <a:r>
              <a:rPr lang="en-US" sz="2800" b="1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b="1" dirty="0">
                <a:solidFill>
                  <a:srgbClr val="0033CC"/>
                </a:solidFill>
                <a:latin typeface="Calibri"/>
                <a:cs typeface="Calibri"/>
              </a:rPr>
              <a:t>(also more pins)</a:t>
            </a:r>
            <a:r>
              <a:rPr lang="en-US" sz="2800" b="1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but communicating</a:t>
            </a:r>
            <a:r>
              <a:rPr lang="en-US"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CC"/>
                </a:solidFill>
                <a:latin typeface="Calibri"/>
                <a:cs typeface="Calibri"/>
              </a:rPr>
              <a:t>over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(</a:t>
            </a:r>
            <a:r>
              <a:rPr lang="en-US" sz="2800" u="sng" dirty="0">
                <a:solidFill>
                  <a:srgbClr val="0033CC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relatively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)</a:t>
            </a:r>
            <a:r>
              <a:rPr lang="en-US"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longer</a:t>
            </a:r>
            <a:r>
              <a:rPr lang="en-US"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lines</a:t>
            </a:r>
            <a:r>
              <a:rPr lang="en-US"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on</a:t>
            </a:r>
            <a: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larger</a:t>
            </a:r>
            <a:r>
              <a:rPr lang="en-US"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chips:</a:t>
            </a:r>
            <a: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limits</a:t>
            </a:r>
            <a:r>
              <a:rPr lang="en-US"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spc="-9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85171"/>
              </p:ext>
            </p:extLst>
          </p:nvPr>
        </p:nvGraphicFramePr>
        <p:xfrm>
          <a:off x="1517458" y="2747775"/>
          <a:ext cx="6643820" cy="1040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7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9721">
                <a:tc>
                  <a:txBody>
                    <a:bodyPr/>
                    <a:lstStyle/>
                    <a:p>
                      <a:pPr marR="22860" algn="ctr">
                        <a:lnSpc>
                          <a:spcPts val="160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»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60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CPU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Transistors: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160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0.130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vs.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60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1170</a:t>
                      </a:r>
                      <a:r>
                        <a:rPr sz="180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M</a:t>
                      </a:r>
                      <a:r>
                        <a:rPr sz="1800" spc="-3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xtors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0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(9000X)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665">
                <a:tc>
                  <a:txBody>
                    <a:bodyPr/>
                    <a:lstStyle/>
                    <a:p>
                      <a:pPr marR="22860" algn="ctr">
                        <a:lnSpc>
                          <a:spcPts val="195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»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95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DRAM</a:t>
                      </a:r>
                      <a:r>
                        <a:rPr sz="18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Transistors: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195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0.064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vs.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5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256</a:t>
                      </a:r>
                      <a:r>
                        <a:rPr sz="18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M</a:t>
                      </a:r>
                      <a:r>
                        <a:rPr sz="1800" spc="-3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xtors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55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(4000X)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07">
                <a:tc>
                  <a:txBody>
                    <a:bodyPr/>
                    <a:lstStyle/>
                    <a:p>
                      <a:pPr marR="22860" algn="ctr">
                        <a:lnSpc>
                          <a:spcPts val="2014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»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2014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CPU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Pins: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68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4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vs.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2014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1366</a:t>
                      </a:r>
                      <a:r>
                        <a:rPr sz="18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 dirty="0">
                          <a:latin typeface="Consolas"/>
                          <a:cs typeface="Consolas"/>
                        </a:rPr>
                        <a:t>pins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14"/>
                        </a:lnSpc>
                      </a:pPr>
                      <a:r>
                        <a:rPr sz="1800" spc="-10" dirty="0">
                          <a:latin typeface="Consolas"/>
                          <a:cs typeface="Consolas"/>
                        </a:rPr>
                        <a:t>(20X)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63">
                <a:tc>
                  <a:txBody>
                    <a:bodyPr/>
                    <a:lstStyle/>
                    <a:p>
                      <a:pPr marR="22860" algn="ctr">
                        <a:lnSpc>
                          <a:spcPts val="200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»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2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DRAM</a:t>
                      </a:r>
                      <a:r>
                        <a:rPr sz="180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Pins: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2000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16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vs.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200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134</a:t>
                      </a:r>
                      <a:r>
                        <a:rPr sz="180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0" dirty="0">
                          <a:latin typeface="Consolas"/>
                          <a:cs typeface="Consolas"/>
                        </a:rPr>
                        <a:t>pins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00"/>
                        </a:lnSpc>
                      </a:pPr>
                      <a:r>
                        <a:rPr sz="1800" spc="-20" dirty="0">
                          <a:latin typeface="Consolas"/>
                          <a:cs typeface="Consolas"/>
                        </a:rPr>
                        <a:t>(8X)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29842" y="5419482"/>
            <a:ext cx="7012352" cy="313774"/>
          </a:xfrm>
          <a:prstGeom prst="rect">
            <a:avLst/>
          </a:prstGeom>
        </p:spPr>
        <p:txBody>
          <a:bodyPr vert="horz" wrap="square" lIns="0" tIns="36419" rIns="0" bIns="0" rtlCol="0">
            <a:spAutoFit/>
          </a:bodyPr>
          <a:lstStyle/>
          <a:p>
            <a:pPr marL="463388">
              <a:spcBef>
                <a:spcPts val="419"/>
              </a:spcBef>
              <a:tabLst>
                <a:tab pos="2352240" algn="l"/>
                <a:tab pos="4304969" algn="l"/>
              </a:tabLst>
            </a:pPr>
            <a:r>
              <a:rPr sz="1800" dirty="0">
                <a:latin typeface="Consolas"/>
                <a:cs typeface="Consolas"/>
              </a:rPr>
              <a:t>»</a:t>
            </a:r>
            <a:r>
              <a:rPr sz="1800" spc="18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CPU</a:t>
            </a:r>
            <a:r>
              <a:rPr sz="1800" spc="-31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Die</a:t>
            </a:r>
            <a:r>
              <a:rPr sz="1800" spc="-31" dirty="0">
                <a:latin typeface="Consolas"/>
                <a:cs typeface="Consolas"/>
              </a:rPr>
              <a:t> </a:t>
            </a:r>
            <a:r>
              <a:rPr sz="1800" spc="-9" dirty="0">
                <a:latin typeface="Consolas"/>
                <a:cs typeface="Consolas"/>
              </a:rPr>
              <a:t>Size:</a:t>
            </a:r>
            <a:r>
              <a:rPr sz="1800" dirty="0">
                <a:latin typeface="Consolas"/>
                <a:cs typeface="Consolas"/>
              </a:rPr>
              <a:t>	47</a:t>
            </a:r>
            <a:r>
              <a:rPr sz="1800" spc="-44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vs.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240</a:t>
            </a:r>
            <a:r>
              <a:rPr sz="1800" spc="-31" dirty="0">
                <a:latin typeface="Consolas"/>
                <a:cs typeface="Consolas"/>
              </a:rPr>
              <a:t> </a:t>
            </a:r>
            <a:r>
              <a:rPr sz="1800" spc="-22" dirty="0">
                <a:latin typeface="Consolas"/>
                <a:cs typeface="Consolas"/>
              </a:rPr>
              <a:t>mm</a:t>
            </a:r>
            <a:r>
              <a:rPr sz="1800" spc="-33" baseline="25252" dirty="0">
                <a:latin typeface="Consolas"/>
                <a:cs typeface="Consolas"/>
              </a:rPr>
              <a:t>2</a:t>
            </a:r>
            <a:r>
              <a:rPr sz="1800" baseline="25252" dirty="0">
                <a:latin typeface="Consolas"/>
                <a:cs typeface="Consolas"/>
              </a:rPr>
              <a:t>	</a:t>
            </a:r>
            <a:r>
              <a:rPr sz="1800" dirty="0">
                <a:latin typeface="Consolas"/>
                <a:cs typeface="Consolas"/>
              </a:rPr>
              <a:t>(ratio</a:t>
            </a:r>
            <a:r>
              <a:rPr sz="1800" spc="-49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sqrt</a:t>
            </a:r>
            <a:r>
              <a:rPr sz="1800" spc="-49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→</a:t>
            </a:r>
            <a:r>
              <a:rPr sz="1800" spc="-44" dirty="0">
                <a:latin typeface="Consolas"/>
                <a:cs typeface="Consolas"/>
              </a:rPr>
              <a:t> </a:t>
            </a:r>
            <a:r>
              <a:rPr sz="1800" spc="-22" dirty="0">
                <a:latin typeface="Consolas"/>
                <a:cs typeface="Consolas"/>
              </a:rPr>
              <a:t>2X)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248399"/>
            <a:ext cx="8218726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9" dirty="0"/>
              <a:t> </a:t>
            </a:r>
            <a:r>
              <a:rPr sz="3000" dirty="0"/>
              <a:t>Reasons</a:t>
            </a:r>
            <a:r>
              <a:rPr sz="3000" spc="4" dirty="0"/>
              <a:t> </a:t>
            </a:r>
            <a:r>
              <a:rPr sz="3000" dirty="0"/>
              <a:t>Latency</a:t>
            </a:r>
            <a:r>
              <a:rPr sz="3000" spc="9" dirty="0"/>
              <a:t> </a:t>
            </a:r>
            <a:r>
              <a:rPr sz="3000" dirty="0"/>
              <a:t>Lags</a:t>
            </a:r>
            <a:r>
              <a:rPr sz="3000" spc="4" dirty="0"/>
              <a:t> </a:t>
            </a:r>
            <a:r>
              <a:rPr sz="3000" dirty="0"/>
              <a:t>Bandwidth</a:t>
            </a:r>
            <a:r>
              <a:rPr sz="3000" spc="13" dirty="0"/>
              <a:t> </a:t>
            </a:r>
            <a:r>
              <a:rPr sz="3000" spc="-9" dirty="0"/>
              <a:t>(cont’d)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754" y="1052736"/>
            <a:ext cx="7674650" cy="2925235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440975" indent="-429769">
              <a:spcBef>
                <a:spcPts val="671"/>
              </a:spcBef>
              <a:buSzPct val="100000"/>
              <a:buAutoNum type="arabicPeriod" startAt="2"/>
              <a:tabLst>
                <a:tab pos="440975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Distance</a:t>
            </a:r>
            <a:r>
              <a:rPr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limits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pc="-9" dirty="0">
                <a:solidFill>
                  <a:srgbClr val="003399"/>
                </a:solidFill>
                <a:latin typeface="Calibri"/>
                <a:cs typeface="Calibri"/>
              </a:rPr>
              <a:t>L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atency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marR="4483" lvl="1" indent="-285750">
              <a:spcBef>
                <a:spcPts val="613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Size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DRAM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block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CC"/>
                </a:solidFill>
                <a:latin typeface="Consolas"/>
                <a:cs typeface="Consolas"/>
              </a:rPr>
              <a:t>→</a:t>
            </a:r>
            <a:r>
              <a:rPr sz="2800" spc="-529" dirty="0">
                <a:solidFill>
                  <a:srgbClr val="0033CC"/>
                </a:solidFill>
                <a:latin typeface="Consolas"/>
                <a:cs typeface="Consolas"/>
              </a:rPr>
              <a:t> </a:t>
            </a:r>
            <a:br>
              <a:rPr lang="en-US" sz="2800" spc="-529" dirty="0">
                <a:solidFill>
                  <a:srgbClr val="0033CC"/>
                </a:solidFill>
                <a:latin typeface="Consolas"/>
                <a:cs typeface="Consolas"/>
              </a:rPr>
            </a:br>
            <a:r>
              <a:rPr lang="en-US" sz="2800" spc="-529" dirty="0">
                <a:solidFill>
                  <a:srgbClr val="0033CC"/>
                </a:solidFill>
                <a:latin typeface="Consolas"/>
                <a:cs typeface="Consolas"/>
              </a:rPr>
              <a:t> 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long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bit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word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lines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0033CC"/>
                </a:solidFill>
                <a:latin typeface="Consolas"/>
                <a:cs typeface="Consolas"/>
              </a:rPr>
              <a:t>→</a:t>
            </a:r>
            <a:r>
              <a:rPr sz="2800" spc="-529" dirty="0">
                <a:solidFill>
                  <a:srgbClr val="0033CC"/>
                </a:solidFill>
                <a:latin typeface="Consolas"/>
                <a:cs typeface="Consolas"/>
              </a:rPr>
              <a:t> </a:t>
            </a:r>
            <a:br>
              <a:rPr lang="en-US" sz="2800" spc="-529" dirty="0">
                <a:solidFill>
                  <a:srgbClr val="0033CC"/>
                </a:solidFill>
                <a:latin typeface="Consolas"/>
                <a:cs typeface="Consolas"/>
              </a:rPr>
            </a:br>
            <a:r>
              <a:rPr lang="en-US" sz="2800" spc="-529" dirty="0">
                <a:solidFill>
                  <a:srgbClr val="0033CC"/>
                </a:solidFill>
                <a:latin typeface="Consolas"/>
                <a:cs typeface="Consolas"/>
              </a:rPr>
              <a:t>   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most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DRAM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access </a:t>
            </a:r>
            <a:r>
              <a:rPr sz="2800" spc="-18" dirty="0">
                <a:solidFill>
                  <a:srgbClr val="0033CC"/>
                </a:solidFill>
                <a:latin typeface="Calibri"/>
                <a:cs typeface="Calibri"/>
              </a:rPr>
              <a:t>time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10"/>
              </a:spcBef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Speed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light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computers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on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network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68"/>
              </a:spcBef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1. &amp;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2.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explains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linear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vs.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square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0033CC"/>
                </a:solidFill>
                <a:latin typeface="Calibri"/>
                <a:cs typeface="Calibri"/>
              </a:rPr>
              <a:t>BW?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A2A6C-1EFC-C6E7-364E-198D0484D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6824AD-994B-943D-49D9-C535686E3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248399"/>
            <a:ext cx="8218726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9" dirty="0"/>
              <a:t> </a:t>
            </a:r>
            <a:r>
              <a:rPr sz="3000" dirty="0"/>
              <a:t>Reasons</a:t>
            </a:r>
            <a:r>
              <a:rPr sz="3000" spc="4" dirty="0"/>
              <a:t> </a:t>
            </a:r>
            <a:r>
              <a:rPr sz="3000" dirty="0"/>
              <a:t>Latency</a:t>
            </a:r>
            <a:r>
              <a:rPr sz="3000" spc="9" dirty="0"/>
              <a:t> </a:t>
            </a:r>
            <a:r>
              <a:rPr sz="3000" dirty="0"/>
              <a:t>Lags</a:t>
            </a:r>
            <a:r>
              <a:rPr sz="3000" spc="4" dirty="0"/>
              <a:t> </a:t>
            </a:r>
            <a:r>
              <a:rPr sz="3000" dirty="0"/>
              <a:t>Bandwidth</a:t>
            </a:r>
            <a:r>
              <a:rPr sz="3000" spc="13" dirty="0"/>
              <a:t> </a:t>
            </a:r>
            <a:r>
              <a:rPr sz="3000" spc="-9" dirty="0"/>
              <a:t>(cont’d)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32049A-9718-3875-4563-7DF43D8EAF5C}"/>
              </a:ext>
            </a:extLst>
          </p:cNvPr>
          <p:cNvSpPr txBox="1"/>
          <p:nvPr/>
        </p:nvSpPr>
        <p:spPr>
          <a:xfrm>
            <a:off x="673754" y="1052736"/>
            <a:ext cx="7858686" cy="4312795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525556" indent="-514350">
              <a:buSzPct val="100000"/>
              <a:buFont typeface="+mj-lt"/>
              <a:buAutoNum type="arabicPeriod" startAt="3"/>
              <a:tabLst>
                <a:tab pos="440975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Bandwidth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easier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sell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(“bigger=better”)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e.g.,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10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Gbits/s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Ethernet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(“10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Gig”)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lang="en-US" sz="2800" spc="18" dirty="0">
                <a:solidFill>
                  <a:srgbClr val="0033CC"/>
                </a:solidFill>
                <a:latin typeface="Calibri"/>
                <a:cs typeface="Calibri"/>
              </a:rPr>
              <a:t>  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vs.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10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msec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Ethernet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68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4400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MB/s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DIMM</a:t>
            </a:r>
            <a:r>
              <a:rPr sz="28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(“PC4400”)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vs.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50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ns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35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Even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if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it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just marketing,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4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customers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are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now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trained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marR="131676" lvl="1" indent="-285750">
              <a:spcBef>
                <a:spcPts val="653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Since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sells, more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resources thrown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at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bandwidth,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which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further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tips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balance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96693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248399"/>
            <a:ext cx="8362742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9" dirty="0"/>
              <a:t> </a:t>
            </a:r>
            <a:r>
              <a:rPr sz="3000" dirty="0"/>
              <a:t>Reasons</a:t>
            </a:r>
            <a:r>
              <a:rPr sz="3000" spc="4" dirty="0"/>
              <a:t> </a:t>
            </a:r>
            <a:r>
              <a:rPr sz="3000" dirty="0"/>
              <a:t>Latency</a:t>
            </a:r>
            <a:r>
              <a:rPr sz="3000" spc="9" dirty="0"/>
              <a:t> </a:t>
            </a:r>
            <a:r>
              <a:rPr sz="3000" dirty="0"/>
              <a:t>Lags</a:t>
            </a:r>
            <a:r>
              <a:rPr sz="3000" spc="4" dirty="0"/>
              <a:t> </a:t>
            </a:r>
            <a:r>
              <a:rPr sz="3000" dirty="0"/>
              <a:t>Bandwidth</a:t>
            </a:r>
            <a:r>
              <a:rPr sz="3000" spc="13" dirty="0"/>
              <a:t> </a:t>
            </a:r>
            <a:r>
              <a:rPr sz="3000" spc="-9" dirty="0"/>
              <a:t>(cont’d)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762" y="1062801"/>
            <a:ext cx="7859678" cy="5122247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440975" indent="-429769">
              <a:spcBef>
                <a:spcPts val="671"/>
              </a:spcBef>
              <a:buSzPct val="100000"/>
              <a:buAutoNum type="arabicPeriod" startAt="4"/>
              <a:tabLst>
                <a:tab pos="440975" algn="l"/>
              </a:tabLst>
            </a:pP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Latency</a:t>
            </a:r>
            <a:r>
              <a:rPr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helps</a:t>
            </a:r>
            <a:r>
              <a:rPr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lang="en-US" spc="-97" dirty="0">
                <a:solidFill>
                  <a:srgbClr val="003399"/>
                </a:solidFill>
                <a:latin typeface="Calibri"/>
                <a:cs typeface="Calibri"/>
              </a:rPr>
              <a:t>B</a:t>
            </a:r>
            <a:r>
              <a:rPr lang="en-US" dirty="0">
                <a:solidFill>
                  <a:srgbClr val="003399"/>
                </a:solidFill>
                <a:latin typeface="Calibri"/>
                <a:cs typeface="Calibri"/>
              </a:rPr>
              <a:t>andwidth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,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but</a:t>
            </a:r>
            <a:r>
              <a:rPr spc="-97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not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vice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versa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Spinning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disk faster improves both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bandwidth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rotational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3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3600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RPM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18" dirty="0">
                <a:latin typeface="Consolas"/>
                <a:cs typeface="Consolas"/>
              </a:rPr>
              <a:t>→</a:t>
            </a:r>
            <a:r>
              <a:rPr sz="2000" spc="-529" dirty="0"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15000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RPM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4.2X</a:t>
            </a:r>
            <a:endParaRPr sz="2000" dirty="0">
              <a:latin typeface="Calibri"/>
              <a:cs typeface="Calibri"/>
            </a:endParaRPr>
          </a:p>
          <a:p>
            <a:pPr marL="871304">
              <a:spcBef>
                <a:spcPts val="441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3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Average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rotational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latency: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8.3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ms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18" dirty="0">
                <a:latin typeface="Consolas"/>
                <a:cs typeface="Consolas"/>
              </a:rPr>
              <a:t>→</a:t>
            </a:r>
            <a:r>
              <a:rPr sz="2000" spc="-529" dirty="0"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2.0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ms</a:t>
            </a:r>
            <a:endParaRPr sz="2000" dirty="0">
              <a:latin typeface="Calibri"/>
              <a:cs typeface="Calibri"/>
            </a:endParaRPr>
          </a:p>
          <a:p>
            <a:pPr marL="871304">
              <a:spcBef>
                <a:spcPts val="468"/>
              </a:spcBef>
              <a:spcAft>
                <a:spcPts val="1200"/>
              </a:spcAft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43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Things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being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equal,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helps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BW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9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4.2X</a:t>
            </a:r>
            <a:endParaRPr sz="2000" dirty="0">
              <a:latin typeface="Calibri"/>
              <a:cs typeface="Calibri"/>
            </a:endParaRPr>
          </a:p>
          <a:p>
            <a:pPr marL="726725" lvl="1" indent="-285750">
              <a:spcBef>
                <a:spcPts val="361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Lower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DRAM</a:t>
            </a:r>
            <a:r>
              <a:rPr sz="28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onsolas"/>
                <a:cs typeface="Consolas"/>
              </a:rPr>
              <a:t>→</a:t>
            </a:r>
            <a:r>
              <a:rPr sz="2800" spc="-137" dirty="0">
                <a:solidFill>
                  <a:srgbClr val="0033CC"/>
                </a:solidFill>
                <a:latin typeface="Consolas"/>
                <a:cs typeface="Consolas"/>
              </a:rPr>
              <a:t> </a:t>
            </a:r>
            <a:br>
              <a:rPr lang="en-US" sz="2800" spc="-137" dirty="0">
                <a:solidFill>
                  <a:srgbClr val="0033CC"/>
                </a:solidFill>
                <a:latin typeface="Consolas"/>
                <a:cs typeface="Consolas"/>
              </a:rPr>
            </a:br>
            <a:r>
              <a:rPr lang="en-US" sz="2800" spc="-137" dirty="0">
                <a:solidFill>
                  <a:srgbClr val="0033CC"/>
                </a:solidFill>
                <a:latin typeface="Consolas"/>
                <a:cs typeface="Consolas"/>
              </a:rPr>
              <a:t> 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More</a:t>
            </a:r>
            <a:r>
              <a:rPr sz="28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access/second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(higher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bandwidth)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Higher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linear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density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helps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disk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spc="13" dirty="0">
                <a:solidFill>
                  <a:srgbClr val="0033CC"/>
                </a:solidFill>
                <a:latin typeface="Calibri"/>
                <a:cs typeface="Calibri"/>
              </a:rPr>
              <a:t>B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andwidth</a:t>
            </a:r>
            <a:r>
              <a:rPr sz="28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26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(and</a:t>
            </a:r>
            <a:r>
              <a:rPr sz="28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capacity),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but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not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disk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Latency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871304">
              <a:spcBef>
                <a:spcPts val="357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4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9,550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BPI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(bit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inch)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18" dirty="0">
                <a:latin typeface="Consolas"/>
                <a:cs typeface="Consolas"/>
              </a:rPr>
              <a:t>→</a:t>
            </a:r>
            <a:r>
              <a:rPr sz="2000" spc="-525" dirty="0"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533,000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BPI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spc="-18" dirty="0">
                <a:latin typeface="Consolas"/>
                <a:cs typeface="Consolas"/>
              </a:rPr>
              <a:t>→</a:t>
            </a:r>
            <a:r>
              <a:rPr sz="2000" spc="-525" dirty="0">
                <a:latin typeface="Consolas"/>
                <a:cs typeface="Consolas"/>
              </a:rPr>
              <a:t> </a:t>
            </a:r>
            <a:r>
              <a:rPr sz="2000" dirty="0">
                <a:latin typeface="Calibri"/>
                <a:cs typeface="Calibri"/>
              </a:rPr>
              <a:t>60X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BW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248399"/>
            <a:ext cx="8218726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9" dirty="0"/>
              <a:t> </a:t>
            </a:r>
            <a:r>
              <a:rPr sz="3000" dirty="0"/>
              <a:t>Reasons</a:t>
            </a:r>
            <a:r>
              <a:rPr sz="3000" spc="4" dirty="0"/>
              <a:t> </a:t>
            </a:r>
            <a:r>
              <a:rPr sz="3000" dirty="0"/>
              <a:t>Latency</a:t>
            </a:r>
            <a:r>
              <a:rPr sz="3000" spc="9" dirty="0"/>
              <a:t> </a:t>
            </a:r>
            <a:r>
              <a:rPr sz="3000" dirty="0"/>
              <a:t>Lags</a:t>
            </a:r>
            <a:r>
              <a:rPr sz="3000" spc="4" dirty="0"/>
              <a:t> </a:t>
            </a:r>
            <a:r>
              <a:rPr sz="3000" dirty="0"/>
              <a:t>Bandwidth</a:t>
            </a:r>
            <a:r>
              <a:rPr sz="3000" spc="13" dirty="0"/>
              <a:t> </a:t>
            </a:r>
            <a:r>
              <a:rPr sz="3000" spc="-9" dirty="0"/>
              <a:t>(cont’d)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3568" y="1057956"/>
            <a:ext cx="7297831" cy="2596940"/>
          </a:xfrm>
          <a:prstGeom prst="rect">
            <a:avLst/>
          </a:prstGeom>
        </p:spPr>
        <p:txBody>
          <a:bodyPr vert="horz" wrap="square" lIns="0" tIns="8516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40975" indent="-429769">
              <a:spcBef>
                <a:spcPts val="671"/>
              </a:spcBef>
              <a:buSzPct val="100000"/>
              <a:buAutoNum type="arabicPeriod" startAt="5"/>
              <a:tabLst>
                <a:tab pos="440975" algn="l"/>
              </a:tabLst>
            </a:pPr>
            <a:r>
              <a:rPr spc="-18" dirty="0">
                <a:latin typeface="Calibri" panose="020F0502020204030204" pitchFamily="34" charset="0"/>
                <a:cs typeface="Calibri" panose="020F0502020204030204" pitchFamily="34" charset="0"/>
              </a:rPr>
              <a:t>Bandwidth</a:t>
            </a:r>
            <a:r>
              <a:rPr spc="-10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hurts</a:t>
            </a:r>
            <a:r>
              <a:rPr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97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atency</a:t>
            </a:r>
          </a:p>
          <a:p>
            <a:pPr marL="726725" lvl="1">
              <a:spcBef>
                <a:spcPts val="42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Queues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help</a:t>
            </a:r>
            <a:r>
              <a:rPr spc="3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Bandwidth,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hurt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Latency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26725" marR="275679" lvl="1">
              <a:spcBef>
                <a:spcPts val="666"/>
              </a:spcBef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chips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widen</a:t>
            </a:r>
            <a:r>
              <a:rPr spc="2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r>
              <a:rPr spc="2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Bandwidth</a:t>
            </a:r>
            <a:r>
              <a:rPr spc="2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" dirty="0">
                <a:latin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higher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fan-out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pc="2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lines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increase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Latency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55E2-180C-0EA7-8108-89D57A1C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2EBC37-759E-F50A-58C2-CA2188659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248399"/>
            <a:ext cx="8218726" cy="472980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000" dirty="0"/>
              <a:t>6</a:t>
            </a:r>
            <a:r>
              <a:rPr sz="3000" spc="9" dirty="0"/>
              <a:t> </a:t>
            </a:r>
            <a:r>
              <a:rPr sz="3000" dirty="0"/>
              <a:t>Reasons</a:t>
            </a:r>
            <a:r>
              <a:rPr sz="3000" spc="4" dirty="0"/>
              <a:t> </a:t>
            </a:r>
            <a:r>
              <a:rPr sz="3000" dirty="0"/>
              <a:t>Latency</a:t>
            </a:r>
            <a:r>
              <a:rPr sz="3000" spc="9" dirty="0"/>
              <a:t> </a:t>
            </a:r>
            <a:r>
              <a:rPr sz="3000" dirty="0"/>
              <a:t>Lags</a:t>
            </a:r>
            <a:r>
              <a:rPr sz="3000" spc="4" dirty="0"/>
              <a:t> </a:t>
            </a:r>
            <a:r>
              <a:rPr sz="3000" dirty="0"/>
              <a:t>Bandwidth</a:t>
            </a:r>
            <a:r>
              <a:rPr sz="3000" spc="13" dirty="0"/>
              <a:t> </a:t>
            </a:r>
            <a:r>
              <a:rPr sz="3000" spc="-9" dirty="0"/>
              <a:t>(cont’d)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3C503D-18A8-914E-3A5A-FCFD90808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3568" y="1068116"/>
            <a:ext cx="7704856" cy="4612877"/>
          </a:xfrm>
          <a:prstGeom prst="rect">
            <a:avLst/>
          </a:prstGeom>
        </p:spPr>
        <p:txBody>
          <a:bodyPr vert="horz" wrap="square" lIns="0" tIns="8516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524996" marR="124952" indent="-514350">
              <a:buSzPct val="100000"/>
              <a:buFont typeface="+mj-lt"/>
              <a:buAutoNum type="arabicPeriod" startAt="6"/>
              <a:tabLst>
                <a:tab pos="440975" algn="l"/>
              </a:tabLst>
            </a:pPr>
            <a:r>
              <a:rPr spc="-18" dirty="0">
                <a:latin typeface="Calibri" panose="020F0502020204030204" pitchFamily="34" charset="0"/>
                <a:cs typeface="Calibri" panose="020F0502020204030204" pitchFamily="34" charset="0"/>
              </a:rPr>
              <a:t>Operating</a:t>
            </a:r>
            <a:r>
              <a:rPr spc="-10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spc="-1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overhead</a:t>
            </a:r>
            <a:r>
              <a:rPr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hurts</a:t>
            </a:r>
            <a:r>
              <a:rPr spc="-9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Latency</a:t>
            </a:r>
            <a:r>
              <a:rPr spc="-97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spc="-9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8" dirty="0">
                <a:latin typeface="Calibri" panose="020F0502020204030204" pitchFamily="34" charset="0"/>
                <a:cs typeface="Calibri" panose="020F0502020204030204" pitchFamily="34" charset="0"/>
              </a:rPr>
              <a:t>than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Bandwidth</a:t>
            </a:r>
          </a:p>
          <a:p>
            <a:pPr marL="898175" marR="380460" lvl="1" indent="-457200">
              <a:spcBef>
                <a:spcPts val="58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messages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amortize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overhead;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pc="18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overhead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bigger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short messages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98175" marR="4483" lvl="1" indent="-457200">
              <a:spcBef>
                <a:spcPts val="65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656139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spc="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takes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longer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message,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needed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instead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short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lessen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98175" lvl="1" indent="-457200">
              <a:spcBef>
                <a:spcPts val="419"/>
              </a:spcBef>
              <a:buSzPct val="120000"/>
              <a:buFont typeface="Arial" panose="020B0604020202020204" pitchFamily="34" charset="0"/>
              <a:buChar char="•"/>
              <a:tabLst>
                <a:tab pos="654458" algn="l"/>
              </a:tabLst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per</a:t>
            </a:r>
            <a:r>
              <a:rPr spc="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byte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pc="1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spc="1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spc="22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" dirty="0">
                <a:latin typeface="Calibri" panose="020F0502020204030204" pitchFamily="34" charset="0"/>
                <a:cs typeface="Calibri" panose="020F0502020204030204" pitchFamily="34" charset="0"/>
              </a:rPr>
              <a:t>overhead.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906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Wrapping</a:t>
            </a:r>
            <a:r>
              <a:rPr spc="-9" dirty="0"/>
              <a:t> </a:t>
            </a:r>
            <a:r>
              <a:rPr spc="-22" dirty="0"/>
              <a:t>up…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618" y="1331520"/>
            <a:ext cx="7957830" cy="4186410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54106" marR="4483" indent="-342900">
              <a:spcBef>
                <a:spcPts val="397"/>
              </a:spcBef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Computer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architecture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crossroads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br>
              <a:rPr lang="en-US" spc="-75" dirty="0">
                <a:solidFill>
                  <a:srgbClr val="003399"/>
                </a:solidFill>
                <a:latin typeface="Calibri"/>
                <a:cs typeface="Calibri"/>
              </a:rPr>
            </a:b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sequential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pc="-10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parallel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computing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marR="638769" lvl="1" indent="-285750">
              <a:spcBef>
                <a:spcPts val="591"/>
              </a:spcBef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Salvation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requires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innovation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many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fields,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including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computer architecture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An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architect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must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track</a:t>
            </a:r>
            <a:r>
              <a:rPr sz="28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&amp;</a:t>
            </a:r>
            <a:r>
              <a:rPr sz="28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extrapolate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technology</a:t>
            </a:r>
            <a:endParaRPr sz="2800" dirty="0">
              <a:latin typeface="Calibri"/>
              <a:cs typeface="Calibri"/>
            </a:endParaRPr>
          </a:p>
          <a:p>
            <a:pPr marL="354106" marR="468991" indent="-342900"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280162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Bandwidth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disks,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DRAM,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networks,</a:t>
            </a:r>
            <a:r>
              <a:rPr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processors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improves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by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least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much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square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pc="-66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22" dirty="0">
                <a:solidFill>
                  <a:srgbClr val="003399"/>
                </a:solidFill>
                <a:latin typeface="Calibri"/>
                <a:cs typeface="Calibri"/>
              </a:rPr>
              <a:t>the improvement</a:t>
            </a:r>
            <a:r>
              <a:rPr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pc="-4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latency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8D30-B9C6-DB01-870B-BA84049E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F2E891-5A74-DA0D-4A49-7BC5CBB08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Wrapping</a:t>
            </a:r>
            <a:r>
              <a:rPr spc="-9" dirty="0"/>
              <a:t> </a:t>
            </a:r>
            <a:r>
              <a:rPr spc="-22" dirty="0"/>
              <a:t>up…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B1945A9-0BC5-4459-5BE9-C56A4D5CA8E6}"/>
              </a:ext>
            </a:extLst>
          </p:cNvPr>
          <p:cNvSpPr txBox="1"/>
          <p:nvPr/>
        </p:nvSpPr>
        <p:spPr>
          <a:xfrm>
            <a:off x="646618" y="1345739"/>
            <a:ext cx="7957830" cy="4516243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54107" indent="-342900"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Quantify</a:t>
            </a:r>
            <a:r>
              <a:rPr spc="-11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dependability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Reliability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(MTTF, MTBF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, </a:t>
            </a:r>
            <a:r>
              <a:rPr lang="en-US" sz="2800" spc="-18" dirty="0">
                <a:solidFill>
                  <a:srgbClr val="0033CC"/>
                </a:solidFill>
                <a:latin typeface="Calibri"/>
                <a:cs typeface="Calibri"/>
              </a:rPr>
              <a:t>MTTR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,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and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FIT),</a:t>
            </a:r>
            <a:r>
              <a:rPr sz="2800" spc="-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br>
              <a:rPr lang="en-US" sz="2800" spc="-4" dirty="0">
                <a:solidFill>
                  <a:srgbClr val="0033CC"/>
                </a:solidFill>
                <a:latin typeface="Calibri"/>
                <a:cs typeface="Calibri"/>
              </a:rPr>
            </a:b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Availability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(</a:t>
            </a:r>
            <a:r>
              <a:rPr lang="en-US" sz="2800" spc="-9" dirty="0">
                <a:solidFill>
                  <a:srgbClr val="0033CC"/>
                </a:solidFill>
                <a:latin typeface="Calibri"/>
                <a:cs typeface="Calibri"/>
              </a:rPr>
              <a:t> MTTF</a:t>
            </a:r>
            <a:r>
              <a:rPr lang="en-US" sz="2800" spc="-6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/</a:t>
            </a:r>
            <a:r>
              <a:rPr lang="en-US" sz="2800" spc="-57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CC"/>
                </a:solidFill>
                <a:latin typeface="Calibri"/>
                <a:cs typeface="Calibri"/>
              </a:rPr>
              <a:t>(MTTF</a:t>
            </a:r>
            <a:r>
              <a:rPr lang="en-US" sz="2800" spc="-6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0033CC"/>
                </a:solidFill>
                <a:latin typeface="Calibri"/>
                <a:cs typeface="Calibri"/>
              </a:rPr>
              <a:t>+</a:t>
            </a:r>
            <a:r>
              <a:rPr lang="en-US" sz="2800" spc="-57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lang="en-US" sz="2800" spc="-18" dirty="0">
                <a:solidFill>
                  <a:srgbClr val="0033CC"/>
                </a:solidFill>
                <a:latin typeface="Calibri"/>
                <a:cs typeface="Calibri"/>
              </a:rPr>
              <a:t>MTTR) </a:t>
            </a:r>
            <a:r>
              <a:rPr sz="2800" spc="-9" dirty="0">
                <a:solidFill>
                  <a:srgbClr val="0033CC"/>
                </a:solidFill>
                <a:latin typeface="Calibri"/>
                <a:cs typeface="Calibri"/>
              </a:rPr>
              <a:t>)</a:t>
            </a:r>
            <a:endParaRPr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47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Quantify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summarize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performance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lang="en-US" sz="2800" dirty="0" err="1">
                <a:solidFill>
                  <a:srgbClr val="0033CC"/>
                </a:solidFill>
                <a:latin typeface="Calibri"/>
                <a:cs typeface="Calibri"/>
              </a:rPr>
              <a:t>SPEC</a:t>
            </a:r>
            <a:r>
              <a:rPr sz="2800" dirty="0" err="1">
                <a:solidFill>
                  <a:srgbClr val="0033CC"/>
                </a:solidFill>
                <a:latin typeface="Calibri"/>
                <a:cs typeface="Calibri"/>
              </a:rPr>
              <a:t>Ratio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,</a:t>
            </a:r>
            <a:r>
              <a:rPr sz="28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endParaRPr lang="en-US" sz="2800" spc="9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lang="en-US" sz="2800" spc="9" dirty="0">
                <a:solidFill>
                  <a:srgbClr val="0033CC"/>
                </a:solidFill>
                <a:latin typeface="Calibri"/>
                <a:cs typeface="Calibri"/>
              </a:rPr>
              <a:t>Arithmetic, Harmonic, and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Geometric</a:t>
            </a:r>
            <a:r>
              <a:rPr sz="28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33CC"/>
                </a:solidFill>
                <a:latin typeface="Calibri"/>
                <a:cs typeface="Calibri"/>
              </a:rPr>
              <a:t>Mean</a:t>
            </a:r>
            <a:endParaRPr lang="en-US" sz="28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lang="en-US" sz="2800" spc="-9" dirty="0">
                <a:solidFill>
                  <a:srgbClr val="0033CC"/>
                </a:solidFill>
                <a:latin typeface="Calibri"/>
                <a:cs typeface="Calibri"/>
              </a:rPr>
              <a:t>Amdahl's Law</a:t>
            </a:r>
          </a:p>
          <a:p>
            <a:pPr marL="726725" lvl="1" indent="-285750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lang="en-US" sz="2800" spc="-9" dirty="0">
                <a:solidFill>
                  <a:srgbClr val="0033CC"/>
                </a:solidFill>
                <a:latin typeface="Calibri"/>
                <a:cs typeface="Calibri"/>
              </a:rPr>
              <a:t>The Processor Performance Equation</a:t>
            </a:r>
          </a:p>
          <a:p>
            <a:pPr marL="726725" lvl="1" indent="-285750">
              <a:spcBef>
                <a:spcPts val="405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375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Fallacies and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052736"/>
            <a:ext cx="8270875" cy="5111750"/>
          </a:xfrm>
        </p:spPr>
        <p:txBody>
          <a:bodyPr/>
          <a:lstStyle/>
          <a:p>
            <a:r>
              <a:rPr lang="en-US" dirty="0"/>
              <a:t>All exponential laws must come to an end</a:t>
            </a:r>
          </a:p>
          <a:p>
            <a:pPr lvl="1"/>
            <a:r>
              <a:rPr lang="en-US" dirty="0"/>
              <a:t>Dennard scaling (constant power density)</a:t>
            </a:r>
          </a:p>
          <a:p>
            <a:pPr lvl="2"/>
            <a:r>
              <a:rPr lang="en-US" dirty="0"/>
              <a:t>Stopped by threshold voltage</a:t>
            </a:r>
          </a:p>
          <a:p>
            <a:pPr lvl="1"/>
            <a:r>
              <a:rPr lang="en-US" dirty="0"/>
              <a:t>Disk capacity</a:t>
            </a:r>
          </a:p>
          <a:p>
            <a:pPr lvl="2"/>
            <a:r>
              <a:rPr lang="en-US" dirty="0"/>
              <a:t>30-100% per year, reduced to 5% per year</a:t>
            </a:r>
          </a:p>
          <a:p>
            <a:pPr lvl="1"/>
            <a:r>
              <a:rPr lang="en-US" dirty="0"/>
              <a:t>Moore’s Law</a:t>
            </a:r>
          </a:p>
          <a:p>
            <a:pPr lvl="2"/>
            <a:r>
              <a:rPr lang="en-US" dirty="0"/>
              <a:t>Most visible with DRAM capacity</a:t>
            </a:r>
          </a:p>
          <a:p>
            <a:pPr lvl="2"/>
            <a:r>
              <a:rPr lang="en-US" dirty="0"/>
              <a:t>ITRS disbanded</a:t>
            </a:r>
          </a:p>
          <a:p>
            <a:pPr lvl="2"/>
            <a:r>
              <a:rPr lang="en-US" dirty="0"/>
              <a:t>Only four foundries left producing state-of-the-art logic chips</a:t>
            </a:r>
          </a:p>
          <a:p>
            <a:pPr lvl="2"/>
            <a:r>
              <a:rPr lang="en-US" dirty="0"/>
              <a:t>11 nm, 3 nm might be the limit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/>
              <a:t>Copyright © 2019, Elsevier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0962475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Fallacies</a:t>
            </a:r>
            <a:r>
              <a:rPr spc="4" dirty="0"/>
              <a:t> </a:t>
            </a:r>
            <a:r>
              <a:rPr dirty="0"/>
              <a:t>and</a:t>
            </a:r>
            <a:r>
              <a:rPr spc="18" dirty="0"/>
              <a:t> </a:t>
            </a:r>
            <a:r>
              <a:rPr spc="-9" dirty="0"/>
              <a:t>Pitfalls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2" y="1011402"/>
            <a:ext cx="8218726" cy="2499478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spcBef>
                <a:spcPts val="671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b="1" spc="-9" dirty="0">
                <a:solidFill>
                  <a:srgbClr val="003399"/>
                </a:solidFill>
                <a:latin typeface="Calibri"/>
                <a:cs typeface="Calibri"/>
              </a:rPr>
              <a:t>Fallacies</a:t>
            </a:r>
            <a:r>
              <a:rPr b="1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22" dirty="0">
                <a:solidFill>
                  <a:srgbClr val="003399"/>
                </a:solidFill>
                <a:latin typeface="Calibri"/>
                <a:cs typeface="Calibri"/>
              </a:rPr>
              <a:t>commonly</a:t>
            </a:r>
            <a:r>
              <a:rPr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held</a:t>
            </a:r>
            <a:r>
              <a:rPr spc="-7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misconceptions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When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discussing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fallacy, authors</a:t>
            </a:r>
            <a:r>
              <a:rPr sz="2400" spc="4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try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give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counterexample.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547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b="1" spc="-9" dirty="0">
                <a:solidFill>
                  <a:srgbClr val="003399"/>
                </a:solidFill>
                <a:latin typeface="Calibri"/>
                <a:cs typeface="Calibri"/>
              </a:rPr>
              <a:t>Pitfalls</a:t>
            </a:r>
            <a:r>
              <a:rPr b="1"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easily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made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mistakes.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lvl="1" indent="-285750">
              <a:spcBef>
                <a:spcPts val="427"/>
              </a:spcBef>
              <a:buSzPct val="120000"/>
              <a:buFont typeface="Wingdings" panose="05000000000000000000" pitchFamily="2" charset="2"/>
              <a:buChar char="§"/>
              <a:tabLst>
                <a:tab pos="654458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Often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generalizations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principles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true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limited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context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Fallacies and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052736"/>
            <a:ext cx="8270875" cy="5111750"/>
          </a:xfrm>
        </p:spPr>
        <p:txBody>
          <a:bodyPr/>
          <a:lstStyle/>
          <a:p>
            <a:r>
              <a:rPr lang="en-US" dirty="0"/>
              <a:t>Microprocessors are a silver bullet</a:t>
            </a:r>
          </a:p>
          <a:p>
            <a:pPr lvl="1"/>
            <a:r>
              <a:rPr lang="en-US" dirty="0"/>
              <a:t>Performance is now a programmer’s burden</a:t>
            </a:r>
          </a:p>
          <a:p>
            <a:r>
              <a:rPr lang="en-US" dirty="0"/>
              <a:t>Falling prey to Amdahl’s Law</a:t>
            </a:r>
          </a:p>
          <a:p>
            <a:r>
              <a:rPr lang="en-US" dirty="0"/>
              <a:t>A single point of failure</a:t>
            </a:r>
          </a:p>
          <a:p>
            <a:r>
              <a:rPr lang="en-US" dirty="0"/>
              <a:t>Hardware enhancements that increase performance also improve energy efficiency, or are at worst energy neutral</a:t>
            </a:r>
          </a:p>
          <a:p>
            <a:r>
              <a:rPr lang="en-US" dirty="0"/>
              <a:t>Benchmarks remain valid indefinitely</a:t>
            </a:r>
          </a:p>
          <a:p>
            <a:pPr lvl="1"/>
            <a:r>
              <a:rPr lang="en-US" dirty="0"/>
              <a:t>Compiler optimizations target benchmarks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Copyright © 2019, Elsevier Inc. All rights reserved.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21057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A4F4-8516-C322-0985-49B57E48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5F69E24-AB56-D855-2D57-9F28C99DFE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Fallacies</a:t>
            </a:r>
            <a:r>
              <a:rPr spc="4" dirty="0"/>
              <a:t> </a:t>
            </a:r>
            <a:r>
              <a:rPr dirty="0"/>
              <a:t>and</a:t>
            </a:r>
            <a:r>
              <a:rPr spc="18" dirty="0"/>
              <a:t> </a:t>
            </a:r>
            <a:r>
              <a:rPr spc="-9" dirty="0"/>
              <a:t>Pitfalls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6CBF02-96A2-F01F-50C4-524DE5AF7C44}"/>
              </a:ext>
            </a:extLst>
          </p:cNvPr>
          <p:cNvSpPr txBox="1"/>
          <p:nvPr/>
        </p:nvSpPr>
        <p:spPr>
          <a:xfrm>
            <a:off x="539552" y="1022534"/>
            <a:ext cx="8280920" cy="4874487"/>
          </a:xfrm>
          <a:prstGeom prst="rect">
            <a:avLst/>
          </a:prstGeom>
        </p:spPr>
        <p:txBody>
          <a:bodyPr vert="horz" wrap="square" lIns="0" tIns="85165" rIns="0" bIns="0" rtlCol="0">
            <a:spAutoFit/>
          </a:bodyPr>
          <a:lstStyle/>
          <a:p>
            <a:pPr marL="354107" indent="-342900"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Fallacy: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Benchmarks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remain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valid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indefinitely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marR="52110" lvl="1" indent="-285750">
              <a:spcBef>
                <a:spcPts val="587"/>
              </a:spcBef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Once</a:t>
            </a:r>
            <a:r>
              <a:rPr sz="2400" spc="3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a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benchmark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becomes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popular,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there</a:t>
            </a:r>
            <a:r>
              <a:rPr sz="2400" spc="3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tremendous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pressure</a:t>
            </a:r>
            <a:r>
              <a:rPr sz="2400" spc="31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improve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performance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targeted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optimizations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or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by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aggressive</a:t>
            </a:r>
            <a:r>
              <a:rPr lang="en-US" sz="2400" spc="-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interpretation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rules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running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benchmark.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726725" marR="83488" lvl="1" indent="-285750">
              <a:spcBef>
                <a:spcPts val="671"/>
              </a:spcBef>
              <a:spcAft>
                <a:spcPts val="1200"/>
              </a:spcAft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70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benchmarks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in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5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SPEC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releases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to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2000.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70%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dropped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from</a:t>
            </a:r>
            <a:r>
              <a:rPr sz="2400" spc="26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0033CC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next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release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because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no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longer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useful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  <a:p>
            <a:pPr marL="354107" indent="-342900">
              <a:spcBef>
                <a:spcPts val="424"/>
              </a:spcBef>
              <a:buSzPct val="120000"/>
              <a:buFont typeface="Wingdings" panose="05000000000000000000" pitchFamily="2" charset="2"/>
              <a:buChar char="§"/>
              <a:tabLst>
                <a:tab pos="279602" algn="l"/>
              </a:tabLst>
            </a:pP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Pitfall: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single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point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pc="-79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failure</a:t>
            </a:r>
            <a:endParaRPr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726725" marR="4483" lvl="1" indent="-285750">
              <a:spcBef>
                <a:spcPts val="587"/>
              </a:spcBef>
              <a:buSzPct val="120000"/>
              <a:buFont typeface="Wingdings" panose="05000000000000000000" pitchFamily="2" charset="2"/>
              <a:buChar char="§"/>
              <a:tabLst>
                <a:tab pos="656139" algn="l"/>
              </a:tabLst>
            </a:pP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Rule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of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thumb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for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fault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tolerant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systems: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make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sure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every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component</a:t>
            </a:r>
            <a:r>
              <a:rPr sz="2400" spc="9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is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redundant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so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that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no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single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component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failure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can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bring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down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the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whole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system</a:t>
            </a:r>
            <a:r>
              <a:rPr sz="2400" spc="22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(e.g.,</a:t>
            </a:r>
            <a:r>
              <a:rPr sz="2400" spc="13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33CC"/>
                </a:solidFill>
                <a:latin typeface="Calibri"/>
                <a:cs typeface="Calibri"/>
              </a:rPr>
              <a:t>power</a:t>
            </a:r>
            <a:r>
              <a:rPr sz="2400" spc="18" dirty="0">
                <a:solidFill>
                  <a:srgbClr val="0033CC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0033CC"/>
                </a:solidFill>
                <a:latin typeface="Calibri"/>
                <a:cs typeface="Calibri"/>
              </a:rPr>
              <a:t>supply)</a:t>
            </a:r>
            <a:endParaRPr sz="2400" dirty="0">
              <a:solidFill>
                <a:srgbClr val="0033C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029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44624"/>
            <a:ext cx="8281987" cy="701675"/>
          </a:xfrm>
        </p:spPr>
        <p:txBody>
          <a:bodyPr/>
          <a:lstStyle/>
          <a:p>
            <a:r>
              <a:rPr lang="en-US" dirty="0"/>
              <a:t>Fallacies and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052736"/>
            <a:ext cx="8270875" cy="5111750"/>
          </a:xfrm>
        </p:spPr>
        <p:txBody>
          <a:bodyPr/>
          <a:lstStyle/>
          <a:p>
            <a:r>
              <a:rPr lang="en-US" dirty="0"/>
              <a:t>The rated MTTF of disks is 1.2 million hours or almost 140 years, so disks practically never fail</a:t>
            </a:r>
          </a:p>
          <a:p>
            <a:pPr lvl="1"/>
            <a:r>
              <a:rPr lang="en-US" dirty="0"/>
              <a:t>MTTF value from manufacturers assume regular replacement</a:t>
            </a:r>
          </a:p>
          <a:p>
            <a:r>
              <a:rPr lang="en-US" dirty="0"/>
              <a:t>Peak performance tracks observed performance</a:t>
            </a:r>
          </a:p>
          <a:p>
            <a:r>
              <a:rPr lang="en-US" dirty="0"/>
              <a:t>Fault detection can lower availability</a:t>
            </a:r>
          </a:p>
          <a:p>
            <a:pPr lvl="1"/>
            <a:r>
              <a:rPr lang="en-US" dirty="0"/>
              <a:t>Not all operations are needed for correct execution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/>
              <a:t>Copyright © 2019, Elsevier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017161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Fallacies</a:t>
            </a:r>
            <a:r>
              <a:rPr spc="4" dirty="0"/>
              <a:t> </a:t>
            </a:r>
            <a:r>
              <a:rPr dirty="0"/>
              <a:t>and</a:t>
            </a:r>
            <a:r>
              <a:rPr spc="18" dirty="0"/>
              <a:t> </a:t>
            </a:r>
            <a:r>
              <a:rPr spc="-9" dirty="0"/>
              <a:t>Pitfalls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892" y="1050218"/>
            <a:ext cx="8097556" cy="4446994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387725" marR="699845" indent="-342900">
              <a:spcBef>
                <a:spcPts val="397"/>
              </a:spcBef>
              <a:spcAft>
                <a:spcPts val="600"/>
              </a:spcAft>
              <a:buSzPct val="120000"/>
              <a:buFont typeface="Wingdings" panose="05000000000000000000" pitchFamily="2" charset="2"/>
              <a:buChar char="§"/>
              <a:tabLst>
                <a:tab pos="313781" algn="l"/>
              </a:tabLst>
            </a:pP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Fallacy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-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Rated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MTTF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disks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1.2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9" dirty="0">
                <a:solidFill>
                  <a:srgbClr val="003399"/>
                </a:solidFill>
                <a:latin typeface="Calibri"/>
                <a:cs typeface="Calibri"/>
              </a:rPr>
              <a:t>million</a:t>
            </a:r>
            <a:r>
              <a:rPr spc="-93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hours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or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22" dirty="0">
                <a:solidFill>
                  <a:srgbClr val="003399"/>
                </a:solidFill>
                <a:latin typeface="Calibri"/>
                <a:cs typeface="Calibri"/>
              </a:rPr>
              <a:t>140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years,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so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disks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22" dirty="0">
                <a:solidFill>
                  <a:srgbClr val="003399"/>
                </a:solidFill>
                <a:latin typeface="Calibri"/>
                <a:cs typeface="Calibri"/>
              </a:rPr>
              <a:t>practically</a:t>
            </a:r>
            <a:r>
              <a:rPr spc="-88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3399"/>
                </a:solidFill>
                <a:latin typeface="Calibri"/>
                <a:cs typeface="Calibri"/>
              </a:rPr>
              <a:t>never</a:t>
            </a:r>
            <a:r>
              <a:rPr spc="-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pc="-18" dirty="0">
                <a:solidFill>
                  <a:srgbClr val="003399"/>
                </a:solidFill>
                <a:latin typeface="Calibri"/>
                <a:cs typeface="Calibri"/>
              </a:rPr>
              <a:t>fail</a:t>
            </a:r>
            <a:endParaRPr lang="en-US" spc="-18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844925" marR="699845" lvl="1" indent="-342900">
              <a:spcBef>
                <a:spcPts val="39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313781" algn="l"/>
              </a:tabLst>
            </a:pPr>
            <a:r>
              <a:rPr lang="en-US" sz="2800" dirty="0">
                <a:solidFill>
                  <a:srgbClr val="0033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MTTF value from manufacturers assume regular replacement</a:t>
            </a:r>
          </a:p>
          <a:p>
            <a:pPr marL="844925" marR="699845" lvl="1" indent="-342900">
              <a:spcBef>
                <a:spcPts val="397"/>
              </a:spcBef>
              <a:buSzPct val="120000"/>
              <a:buFont typeface="Arial" panose="020B0604020202020204" pitchFamily="34" charset="0"/>
              <a:buChar char="•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But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disk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lifetime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years;</a:t>
            </a:r>
            <a:r>
              <a:rPr sz="2800" spc="13" dirty="0">
                <a:latin typeface="Calibri"/>
                <a:cs typeface="Calibri"/>
              </a:rPr>
              <a:t> </a:t>
            </a:r>
            <a:br>
              <a:rPr lang="en-US" sz="2800" spc="13" dirty="0">
                <a:latin typeface="Calibri"/>
                <a:cs typeface="Calibri"/>
              </a:rPr>
            </a:br>
            <a:r>
              <a:rPr sz="2800" dirty="0">
                <a:latin typeface="Calibri"/>
                <a:cs typeface="Calibri"/>
              </a:rPr>
              <a:t>So,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replace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disk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years;</a:t>
            </a:r>
            <a:r>
              <a:rPr sz="2800" spc="13" dirty="0">
                <a:latin typeface="Calibri"/>
                <a:cs typeface="Calibri"/>
              </a:rPr>
              <a:t> </a:t>
            </a:r>
            <a:br>
              <a:rPr lang="en-US" sz="2800" spc="13" dirty="0">
                <a:latin typeface="Calibri"/>
                <a:cs typeface="Calibri"/>
              </a:rPr>
            </a:br>
            <a:r>
              <a:rPr lang="en-US" sz="2800" spc="13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n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average,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28 </a:t>
            </a:r>
            <a:r>
              <a:rPr sz="2800" dirty="0">
                <a:latin typeface="Calibri"/>
                <a:cs typeface="Calibri"/>
              </a:rPr>
              <a:t>replacements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(140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year),</a:t>
            </a:r>
            <a:r>
              <a:rPr sz="2800" spc="13" dirty="0">
                <a:latin typeface="Calibri"/>
                <a:cs typeface="Calibri"/>
              </a:rPr>
              <a:t> </a:t>
            </a:r>
            <a:br>
              <a:rPr lang="en-US" sz="2800" spc="13" dirty="0">
                <a:latin typeface="Calibri"/>
                <a:cs typeface="Calibri"/>
              </a:rPr>
            </a:br>
            <a:r>
              <a:rPr lang="en-US" sz="2800" spc="13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“never”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fail</a:t>
            </a:r>
            <a:endParaRPr lang="en-US" sz="2800" spc="-18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5AF6-6C96-65E6-EA5B-8AA205FA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9E36FD-E4F6-365C-9CD7-47A7CC42C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Fallacies</a:t>
            </a:r>
            <a:r>
              <a:rPr spc="4" dirty="0"/>
              <a:t> </a:t>
            </a:r>
            <a:r>
              <a:rPr dirty="0"/>
              <a:t>and</a:t>
            </a:r>
            <a:r>
              <a:rPr spc="18" dirty="0"/>
              <a:t> </a:t>
            </a:r>
            <a:r>
              <a:rPr spc="-9" dirty="0"/>
              <a:t>Pitfalls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B8EC7A-AD0C-8DBC-76AE-2E5CE48FBF28}"/>
              </a:ext>
            </a:extLst>
          </p:cNvPr>
          <p:cNvSpPr txBox="1"/>
          <p:nvPr/>
        </p:nvSpPr>
        <p:spPr>
          <a:xfrm>
            <a:off x="506892" y="1050218"/>
            <a:ext cx="8385588" cy="4388516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844925" marR="699845" lvl="1" indent="-342900">
              <a:spcBef>
                <a:spcPts val="397"/>
              </a:spcBef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unit: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%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(1.2M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MTTF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833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FIT)</a:t>
            </a:r>
            <a:endParaRPr lang="en-US" sz="2800" spc="-18" dirty="0">
              <a:latin typeface="Calibri"/>
              <a:cs typeface="Calibri"/>
            </a:endParaRPr>
          </a:p>
          <a:p>
            <a:pPr marL="844925" marR="699845" lvl="1" indent="-342900">
              <a:spcBef>
                <a:spcPts val="397"/>
              </a:spcBef>
              <a:buSzPct val="120000"/>
              <a:buFont typeface="Arial" panose="020B0604020202020204" pitchFamily="34" charset="0"/>
              <a:buChar char="•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Fail over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lifetime: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had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1000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disks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lang="en-US" sz="2800" spc="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years</a:t>
            </a:r>
            <a:endParaRPr sz="2800" dirty="0">
              <a:latin typeface="Calibri"/>
              <a:cs typeface="Calibri"/>
            </a:endParaRPr>
          </a:p>
          <a:p>
            <a:pPr marL="688975" indent="174625"/>
            <a:r>
              <a:rPr sz="2800" dirty="0">
                <a:latin typeface="Calibri"/>
                <a:cs typeface="Calibri"/>
              </a:rPr>
              <a:t>=</a:t>
            </a:r>
            <a:r>
              <a:rPr sz="2800" spc="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1000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*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(5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*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365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*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24)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*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833</a:t>
            </a:r>
            <a:r>
              <a:rPr sz="2800" spc="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baseline="25641" dirty="0">
                <a:latin typeface="Calibri"/>
                <a:cs typeface="Calibri"/>
              </a:rPr>
              <a:t>9</a:t>
            </a:r>
            <a:r>
              <a:rPr sz="2800" spc="212" baseline="2564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≈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37</a:t>
            </a:r>
            <a:endParaRPr sz="2800" dirty="0">
              <a:latin typeface="Calibri"/>
              <a:cs typeface="Calibri"/>
            </a:endParaRPr>
          </a:p>
          <a:p>
            <a:pPr marL="688975" indent="174625">
              <a:spcAft>
                <a:spcPts val="1200"/>
              </a:spcAft>
            </a:pPr>
            <a:r>
              <a:rPr sz="2800" dirty="0">
                <a:latin typeface="Calibri"/>
                <a:cs typeface="Calibri"/>
              </a:rPr>
              <a:t>=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3.7%</a:t>
            </a:r>
            <a:r>
              <a:rPr sz="2800" spc="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(37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1000)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lifetime</a:t>
            </a:r>
            <a:endParaRPr sz="2800" dirty="0">
              <a:latin typeface="Calibri"/>
              <a:cs typeface="Calibri"/>
            </a:endParaRPr>
          </a:p>
          <a:p>
            <a:pPr marL="1120648" marR="278481" indent="-215164">
              <a:spcBef>
                <a:spcPts val="737"/>
              </a:spcBef>
            </a:pPr>
            <a:r>
              <a:rPr sz="2800" dirty="0">
                <a:latin typeface="Calibri"/>
                <a:cs typeface="Calibri"/>
              </a:rPr>
              <a:t>»</a:t>
            </a:r>
            <a:r>
              <a:rPr sz="2800" spc="42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 under pristine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conditions</a:t>
            </a:r>
            <a:r>
              <a:rPr sz="2800" spc="-4" dirty="0">
                <a:latin typeface="Calibri"/>
                <a:cs typeface="Calibri"/>
              </a:rPr>
              <a:t> </a:t>
            </a:r>
            <a:endParaRPr lang="en-US" sz="2800" spc="-4" dirty="0">
              <a:latin typeface="Calibri"/>
              <a:cs typeface="Calibri"/>
            </a:endParaRPr>
          </a:p>
          <a:p>
            <a:pPr marL="1549400" marR="278481" indent="-342900">
              <a:spcBef>
                <a:spcPts val="737"/>
              </a:spcBef>
              <a:buSzPct val="80000"/>
              <a:buFont typeface="Courier New" panose="02070309020205020404" pitchFamily="49" charset="0"/>
              <a:buChar char="o"/>
            </a:pPr>
            <a:r>
              <a:rPr sz="2800" dirty="0">
                <a:latin typeface="Calibri"/>
                <a:cs typeface="Calibri"/>
              </a:rPr>
              <a:t>little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vibration</a:t>
            </a:r>
            <a:endParaRPr lang="en-US" sz="2800" dirty="0">
              <a:latin typeface="Calibri"/>
              <a:cs typeface="Calibri"/>
            </a:endParaRPr>
          </a:p>
          <a:p>
            <a:pPr marL="1549400" marR="278481" indent="-342900">
              <a:spcBef>
                <a:spcPts val="737"/>
              </a:spcBef>
              <a:buSzPct val="80000"/>
              <a:buFont typeface="Courier New" panose="02070309020205020404" pitchFamily="49" charset="0"/>
              <a:buChar char="o"/>
            </a:pPr>
            <a:r>
              <a:rPr sz="2800" dirty="0">
                <a:latin typeface="Calibri"/>
                <a:cs typeface="Calibri"/>
              </a:rPr>
              <a:t>narrow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temperature </a:t>
            </a:r>
            <a:r>
              <a:rPr sz="2800" dirty="0">
                <a:latin typeface="Calibri"/>
                <a:cs typeface="Calibri"/>
              </a:rPr>
              <a:t>range</a:t>
            </a:r>
            <a:endParaRPr lang="en-US" sz="2800" spc="18" dirty="0">
              <a:latin typeface="Calibri"/>
              <a:cs typeface="Calibri"/>
            </a:endParaRPr>
          </a:p>
          <a:p>
            <a:pPr marL="1549400" marR="278481" indent="-342900">
              <a:spcBef>
                <a:spcPts val="737"/>
              </a:spcBef>
              <a:buSzPct val="80000"/>
              <a:buFont typeface="Courier New" panose="02070309020205020404" pitchFamily="49" charset="0"/>
              <a:buChar char="o"/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failures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6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A303-561A-DD61-815B-F25CDF65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F680C0-1050-E92B-D667-C50F46B6B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754" y="94510"/>
            <a:ext cx="7307636" cy="626869"/>
          </a:xfrm>
          <a:prstGeom prst="rect">
            <a:avLst/>
          </a:prstGeom>
        </p:spPr>
        <p:txBody>
          <a:bodyPr vert="horz" wrap="square" lIns="0" tIns="11206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Fallacies</a:t>
            </a:r>
            <a:r>
              <a:rPr spc="4" dirty="0"/>
              <a:t> </a:t>
            </a:r>
            <a:r>
              <a:rPr dirty="0"/>
              <a:t>and</a:t>
            </a:r>
            <a:r>
              <a:rPr spc="18" dirty="0"/>
              <a:t> </a:t>
            </a:r>
            <a:r>
              <a:rPr spc="-9" dirty="0"/>
              <a:t>Pitfalls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2C4F018-9F37-52DB-504E-374578ADC8DC}"/>
              </a:ext>
            </a:extLst>
          </p:cNvPr>
          <p:cNvSpPr txBox="1"/>
          <p:nvPr/>
        </p:nvSpPr>
        <p:spPr>
          <a:xfrm>
            <a:off x="323528" y="1050218"/>
            <a:ext cx="8529604" cy="3703200"/>
          </a:xfrm>
          <a:prstGeom prst="rect">
            <a:avLst/>
          </a:prstGeom>
        </p:spPr>
        <p:txBody>
          <a:bodyPr vert="horz" wrap="square" lIns="0" tIns="50426" rIns="0" bIns="0" rtlCol="0">
            <a:spAutoFit/>
          </a:bodyPr>
          <a:lstStyle/>
          <a:p>
            <a:pPr marL="863600" lvl="1" indent="-390525">
              <a:buSzPct val="120000"/>
              <a:buFont typeface="Arial" panose="020B0604020202020204" pitchFamily="34" charset="0"/>
              <a:buChar char="•"/>
              <a:tabLst>
                <a:tab pos="863600" algn="l"/>
              </a:tabLst>
            </a:pPr>
            <a:r>
              <a:rPr sz="2800" dirty="0">
                <a:latin typeface="Calibri"/>
                <a:cs typeface="Calibri"/>
              </a:rPr>
              <a:t>Real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world: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3%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6%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SCSI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hard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drives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year</a:t>
            </a:r>
            <a:endParaRPr lang="en-US" sz="2800" dirty="0">
              <a:latin typeface="Calibri"/>
              <a:cs typeface="Calibri"/>
            </a:endParaRPr>
          </a:p>
          <a:p>
            <a:pPr marL="904923">
              <a:spcBef>
                <a:spcPts val="446"/>
              </a:spcBef>
            </a:pPr>
            <a:r>
              <a:rPr lang="en-US" sz="2800" dirty="0">
                <a:latin typeface="Calibri"/>
                <a:cs typeface="Calibri"/>
              </a:rPr>
              <a:t>» 3400</a:t>
            </a:r>
            <a:r>
              <a:rPr lang="en-US" sz="2800" spc="31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-</a:t>
            </a:r>
            <a:r>
              <a:rPr lang="en-US" sz="2800" spc="18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6800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FIT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or</a:t>
            </a:r>
            <a:r>
              <a:rPr lang="en-US" sz="2800" spc="18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150,000</a:t>
            </a:r>
            <a:r>
              <a:rPr lang="en-US" sz="2800" spc="26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to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300,000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hour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MTTF</a:t>
            </a:r>
            <a:r>
              <a:rPr lang="en-US" sz="2800" spc="18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[Gray</a:t>
            </a:r>
            <a:r>
              <a:rPr lang="en-US" sz="2800" spc="18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&amp;</a:t>
            </a:r>
            <a:r>
              <a:rPr lang="en-US" sz="2800" spc="22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van</a:t>
            </a:r>
            <a:r>
              <a:rPr lang="en-US" sz="2800" spc="26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Ingen</a:t>
            </a:r>
            <a:r>
              <a:rPr lang="en-US" sz="2800" spc="26" dirty="0">
                <a:latin typeface="Calibri"/>
                <a:cs typeface="Calibri"/>
              </a:rPr>
              <a:t> </a:t>
            </a:r>
            <a:r>
              <a:rPr lang="en-US" sz="2800" spc="-22" dirty="0">
                <a:latin typeface="Calibri"/>
                <a:cs typeface="Calibri"/>
              </a:rPr>
              <a:t>05]</a:t>
            </a:r>
          </a:p>
          <a:p>
            <a:pPr marL="904923">
              <a:spcBef>
                <a:spcPts val="446"/>
              </a:spcBef>
            </a:pPr>
            <a:endParaRPr lang="en-US" sz="2800" dirty="0">
              <a:latin typeface="Calibri"/>
              <a:cs typeface="Calibri"/>
            </a:endParaRPr>
          </a:p>
          <a:p>
            <a:pPr marL="931795" lvl="1" indent="-457200">
              <a:spcBef>
                <a:spcPts val="379"/>
              </a:spcBef>
              <a:buSzPct val="120000"/>
              <a:buFont typeface="Arial" panose="020B0604020202020204" pitchFamily="34" charset="0"/>
              <a:buChar char="•"/>
              <a:tabLst>
                <a:tab pos="688078" algn="l"/>
              </a:tabLst>
            </a:pPr>
            <a:r>
              <a:rPr sz="2800" dirty="0">
                <a:latin typeface="Calibri"/>
                <a:cs typeface="Calibri"/>
              </a:rPr>
              <a:t>3%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7%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ATA</a:t>
            </a:r>
            <a:r>
              <a:rPr sz="2800" spc="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drives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</a:t>
            </a:r>
            <a:r>
              <a:rPr sz="2800" spc="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</a:t>
            </a:r>
            <a:r>
              <a:rPr sz="2800" spc="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</a:t>
            </a:r>
            <a:r>
              <a:rPr sz="2800" spc="9" dirty="0">
                <a:latin typeface="Calibri"/>
                <a:cs typeface="Calibri"/>
              </a:rPr>
              <a:t> </a:t>
            </a:r>
            <a:br>
              <a:rPr lang="en-US" sz="2800" spc="9" dirty="0">
                <a:latin typeface="Calibri"/>
                <a:cs typeface="Calibri"/>
              </a:rPr>
            </a:br>
            <a:r>
              <a:rPr sz="2800" dirty="0">
                <a:latin typeface="Calibri"/>
                <a:cs typeface="Calibri"/>
              </a:rPr>
              <a:t>(Advanced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Attachment)</a:t>
            </a:r>
            <a:endParaRPr sz="2800" dirty="0">
              <a:latin typeface="Calibri"/>
              <a:cs typeface="Calibri"/>
            </a:endParaRPr>
          </a:p>
          <a:p>
            <a:pPr marL="904923">
              <a:spcBef>
                <a:spcPts val="446"/>
              </a:spcBef>
            </a:pPr>
            <a:r>
              <a:rPr sz="2800" dirty="0">
                <a:latin typeface="Calibri"/>
                <a:cs typeface="Calibri"/>
              </a:rPr>
              <a:t>»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3400</a:t>
            </a:r>
            <a:r>
              <a:rPr sz="2800" spc="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8000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FIT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125,000</a:t>
            </a:r>
            <a:r>
              <a:rPr sz="2800" spc="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300,000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hour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MTTF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[Gray</a:t>
            </a:r>
            <a:r>
              <a:rPr sz="2800" spc="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van</a:t>
            </a:r>
            <a:r>
              <a:rPr sz="2800" spc="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Ingen</a:t>
            </a:r>
            <a:r>
              <a:rPr sz="2800" spc="26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05]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304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1_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60000"/>
          <a:buFont typeface="Wingdings" pitchFamily="2" charset="2"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60000"/>
          <a:buFont typeface="Wingdings" pitchFamily="2" charset="2"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1_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16623</TotalTime>
  <Words>12657</Words>
  <Application>Microsoft Office PowerPoint</Application>
  <PresentationFormat>On-screen Show (4:3)</PresentationFormat>
  <Paragraphs>1918</Paragraphs>
  <Slides>119</Slides>
  <Notes>76</Notes>
  <HiddenSlides>11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37" baseType="lpstr">
      <vt:lpstr>AdvOT46dcae81</vt:lpstr>
      <vt:lpstr>AdvOT65f8a23b.I</vt:lpstr>
      <vt:lpstr>AdvOTab62ddd1</vt:lpstr>
      <vt:lpstr>AdvOTab62ddd1+20</vt:lpstr>
      <vt:lpstr>AdvOTc0286d31.I</vt:lpstr>
      <vt:lpstr>Arial</vt:lpstr>
      <vt:lpstr>Arial Black</vt:lpstr>
      <vt:lpstr>Arial MT</vt:lpstr>
      <vt:lpstr>Calibri</vt:lpstr>
      <vt:lpstr>Cambria Math</vt:lpstr>
      <vt:lpstr>Comic Sans MS</vt:lpstr>
      <vt:lpstr>Consolas</vt:lpstr>
      <vt:lpstr>Courier New</vt:lpstr>
      <vt:lpstr>Google Sans</vt:lpstr>
      <vt:lpstr>Symbol</vt:lpstr>
      <vt:lpstr>Times New Roman</vt:lpstr>
      <vt:lpstr>Wingdings</vt:lpstr>
      <vt:lpstr>1_cod4e</vt:lpstr>
      <vt:lpstr>PowerPoint Presentation</vt:lpstr>
      <vt:lpstr>Chapter 1</vt:lpstr>
      <vt:lpstr>Early development steps</vt:lpstr>
      <vt:lpstr>Later development steps</vt:lpstr>
      <vt:lpstr>Perspective: An example</vt:lpstr>
      <vt:lpstr>Perspective: An example (cont.)</vt:lpstr>
      <vt:lpstr>Computer Technology</vt:lpstr>
      <vt:lpstr>Single Processor Performance</vt:lpstr>
      <vt:lpstr>Conventional Wisdom in Comp. Arch</vt:lpstr>
      <vt:lpstr>Sea Change in Chip Design</vt:lpstr>
      <vt:lpstr>Current Trends in Architecture</vt:lpstr>
      <vt:lpstr>Problems with Sea Change</vt:lpstr>
      <vt:lpstr>Classes of Computers</vt:lpstr>
      <vt:lpstr>Parallelism</vt:lpstr>
      <vt:lpstr>Flynn’s Taxonomy</vt:lpstr>
      <vt:lpstr>PowerPoint Presentation</vt:lpstr>
      <vt:lpstr>PowerPoint Presentation</vt:lpstr>
      <vt:lpstr>PowerPoint Presentation</vt:lpstr>
      <vt:lpstr>PowerPoint Presentation</vt:lpstr>
      <vt:lpstr>Defining Computer Architecture</vt:lpstr>
      <vt:lpstr>INSTRUCTION SET ARCHITECTURE</vt:lpstr>
      <vt:lpstr>Instruction Set Architecture: Critical Interface</vt:lpstr>
      <vt:lpstr>Instruction Set Architecture</vt:lpstr>
      <vt:lpstr>RISC-V ISA</vt:lpstr>
      <vt:lpstr>RISC-V ISA</vt:lpstr>
      <vt:lpstr>Instruction Set Architecture</vt:lpstr>
      <vt:lpstr>Instructions for RISC-V</vt:lpstr>
      <vt:lpstr>Floating point instructions for RISC-V</vt:lpstr>
      <vt:lpstr>Encoding: RISC-V ISA</vt:lpstr>
      <vt:lpstr>Example: MIPS R3000 (June 1988)</vt:lpstr>
      <vt:lpstr>MIP Registers</vt:lpstr>
      <vt:lpstr>Encoding: MIPS64 ISA</vt:lpstr>
      <vt:lpstr>MIPS64 Instructions</vt:lpstr>
      <vt:lpstr>An example: SLTU</vt:lpstr>
      <vt:lpstr>An example: SLTU</vt:lpstr>
      <vt:lpstr>Instruction Set Architecture</vt:lpstr>
      <vt:lpstr>ISA vs. Computer Architecture</vt:lpstr>
      <vt:lpstr>Comp. Arch. is an Integrated Approach</vt:lpstr>
      <vt:lpstr>Comp. Arch. is an Integrated Approach</vt:lpstr>
      <vt:lpstr>Trends in Technology</vt:lpstr>
      <vt:lpstr>Trends in Technology</vt:lpstr>
      <vt:lpstr>Bandwidth and Latency</vt:lpstr>
      <vt:lpstr>Bandwidth and Latency</vt:lpstr>
      <vt:lpstr>Transistors and Wires</vt:lpstr>
      <vt:lpstr>Power and Energy</vt:lpstr>
      <vt:lpstr>Dynamic Energy and Power</vt:lpstr>
      <vt:lpstr>Clock Rate and Power</vt:lpstr>
      <vt:lpstr>Reducing Power</vt:lpstr>
      <vt:lpstr>Static Power</vt:lpstr>
      <vt:lpstr>MANUFACTURING COSTS</vt:lpstr>
      <vt:lpstr>Trends in Cost</vt:lpstr>
      <vt:lpstr>Manufacture of DRAM and other chips</vt:lpstr>
      <vt:lpstr>Wafers and Dies</vt:lpstr>
      <vt:lpstr>Integrated Circuit Cost</vt:lpstr>
      <vt:lpstr>PERFORMANCE &amp; MEASUREMENT</vt:lpstr>
      <vt:lpstr>Dependability</vt:lpstr>
      <vt:lpstr>Dependability (cont.)</vt:lpstr>
      <vt:lpstr>Dependability (cont.)</vt:lpstr>
      <vt:lpstr>Dependability (cont.)</vt:lpstr>
      <vt:lpstr>Measuring Performance</vt:lpstr>
      <vt:lpstr>Comparing performance of two machines</vt:lpstr>
      <vt:lpstr>What is time?</vt:lpstr>
      <vt:lpstr>What is time?</vt:lpstr>
      <vt:lpstr>Time (cont.)</vt:lpstr>
      <vt:lpstr>Reproducibility</vt:lpstr>
      <vt:lpstr>Reporting results</vt:lpstr>
      <vt:lpstr>PowerPoint Presentation</vt:lpstr>
      <vt:lpstr>PowerPoint Presentation</vt:lpstr>
      <vt:lpstr>Statistical reporting</vt:lpstr>
      <vt:lpstr>Statistical reporting (cont.)</vt:lpstr>
      <vt:lpstr>Statistical reporting (cont.)</vt:lpstr>
      <vt:lpstr>Geometric mean</vt:lpstr>
      <vt:lpstr>SPEC Ratio</vt:lpstr>
      <vt:lpstr>SPEC Ratio (cont.)</vt:lpstr>
      <vt:lpstr>SPEC Ratio (cont.)</vt:lpstr>
      <vt:lpstr>SPEC Ratio (cont.)</vt:lpstr>
      <vt:lpstr>Principles of Computer Design</vt:lpstr>
      <vt:lpstr>How to make computers faster?</vt:lpstr>
      <vt:lpstr>Amdahl’s Law</vt:lpstr>
      <vt:lpstr>PowerPoint Presentation</vt:lpstr>
      <vt:lpstr>PowerPoint Presentation</vt:lpstr>
      <vt:lpstr>Amdahl’s Law example</vt:lpstr>
      <vt:lpstr>PowerPoint Presentation</vt:lpstr>
      <vt:lpstr>Review Question 1 (Speedup)</vt:lpstr>
      <vt:lpstr>Review Question 2</vt:lpstr>
      <vt:lpstr>Review Question 3 (Speedup)</vt:lpstr>
      <vt:lpstr>The Processor Performance Equation</vt:lpstr>
      <vt:lpstr>Principles of Computer Design</vt:lpstr>
      <vt:lpstr>CPU Performance</vt:lpstr>
      <vt:lpstr>CPU Performance (cont.)</vt:lpstr>
      <vt:lpstr>CPU Performance (cont.)</vt:lpstr>
      <vt:lpstr>CPU Performance (cont.)</vt:lpstr>
      <vt:lpstr>CPU Performance (cont.)</vt:lpstr>
      <vt:lpstr>CPU Performance Example</vt:lpstr>
      <vt:lpstr>CPU Performance Example (cont.)</vt:lpstr>
      <vt:lpstr>CPU Performance Example (cont.)</vt:lpstr>
      <vt:lpstr>How to design a fast computer</vt:lpstr>
      <vt:lpstr>Take Advantage of Parallelism</vt:lpstr>
      <vt:lpstr>Trends in Technology (Revisited)</vt:lpstr>
      <vt:lpstr>Bandwidth and Latency</vt:lpstr>
      <vt:lpstr>Bandwidth and Latency</vt:lpstr>
      <vt:lpstr>Bandwidth Improvement</vt:lpstr>
      <vt:lpstr>Latency Lags Bandwidth</vt:lpstr>
      <vt:lpstr>6 Reasons Latency Lags Bandwidth</vt:lpstr>
      <vt:lpstr>6 Reasons Latency Lags Bandwidth (cont’d)</vt:lpstr>
      <vt:lpstr>6 Reasons Latency Lags Bandwidth (cont’d)</vt:lpstr>
      <vt:lpstr>6 Reasons Latency Lags Bandwidth (cont’d)</vt:lpstr>
      <vt:lpstr>6 Reasons Latency Lags Bandwidth (cont’d)</vt:lpstr>
      <vt:lpstr>6 Reasons Latency Lags Bandwidth (cont’d)</vt:lpstr>
      <vt:lpstr>Wrapping up…</vt:lpstr>
      <vt:lpstr>Wrapping up…</vt:lpstr>
      <vt:lpstr>Fallacies and Pitfalls</vt:lpstr>
      <vt:lpstr>Fallacies and Pitfalls</vt:lpstr>
      <vt:lpstr>Fallacies and Pitfalls</vt:lpstr>
      <vt:lpstr>Fallacies and Pitfalls</vt:lpstr>
      <vt:lpstr>Fallacies and Pitfalls</vt:lpstr>
      <vt:lpstr>Fallacies and Pitfalls</vt:lpstr>
      <vt:lpstr>Fallacies and Pitfalls</vt:lpstr>
      <vt:lpstr>Fallacies and Pitfalls</vt:lpstr>
    </vt:vector>
  </TitlesOfParts>
  <Company>Ashenden Designs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Peter Ashenden</dc:creator>
  <cp:lastModifiedBy>Richard Johnson</cp:lastModifiedBy>
  <cp:revision>777</cp:revision>
  <dcterms:created xsi:type="dcterms:W3CDTF">2008-07-27T22:34:41Z</dcterms:created>
  <dcterms:modified xsi:type="dcterms:W3CDTF">2025-09-03T15:07:00Z</dcterms:modified>
</cp:coreProperties>
</file>