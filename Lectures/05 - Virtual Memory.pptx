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44"/>
  </p:notesMasterIdLst>
  <p:sldIdLst>
    <p:sldId id="348" r:id="rId2"/>
    <p:sldId id="27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49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365" r:id="rId28"/>
    <p:sldId id="257" r:id="rId29"/>
    <p:sldId id="351" r:id="rId30"/>
    <p:sldId id="352" r:id="rId31"/>
    <p:sldId id="353" r:id="rId32"/>
    <p:sldId id="354" r:id="rId33"/>
    <p:sldId id="355" r:id="rId34"/>
    <p:sldId id="356" r:id="rId35"/>
    <p:sldId id="357" r:id="rId36"/>
    <p:sldId id="358" r:id="rId37"/>
    <p:sldId id="359" r:id="rId38"/>
    <p:sldId id="360" r:id="rId39"/>
    <p:sldId id="361" r:id="rId40"/>
    <p:sldId id="362" r:id="rId41"/>
    <p:sldId id="363" r:id="rId42"/>
    <p:sldId id="364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0066FF"/>
    <a:srgbClr val="0033CC"/>
    <a:srgbClr val="0332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710" autoAdjust="0"/>
  </p:normalViewPr>
  <p:slideViewPr>
    <p:cSldViewPr snapToGrid="0">
      <p:cViewPr varScale="1">
        <p:scale>
          <a:sx n="59" d="100"/>
          <a:sy n="59" d="100"/>
        </p:scale>
        <p:origin x="20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47FD1-F16B-4674-8E3F-229D935503A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FFC65-791B-4559-8ED4-77406F770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11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80CBAE93-06AC-4832-A6F6-170F7BEDB2E9}" type="datetime3">
              <a:rPr lang="en-US" smtClean="0"/>
              <a:t>27 October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CEACC0-B677-4A29-B1E6-BCE98563D55B}" type="slidenum">
              <a:rPr lang="en-US"/>
              <a:pPr/>
              <a:t>1</a:t>
            </a:fld>
            <a:endParaRPr lang="en-US"/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0739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28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In the olden days …</a:t>
            </a:r>
          </a:p>
          <a:p>
            <a:endParaRPr lang="en-US" dirty="0"/>
          </a:p>
          <a:p>
            <a:r>
              <a:rPr lang="en-US" dirty="0"/>
              <a:t>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898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less-olden days …</a:t>
            </a:r>
          </a:p>
          <a:p>
            <a:endParaRPr lang="en-US" dirty="0"/>
          </a:p>
          <a:p>
            <a:r>
              <a:rPr lang="en-US" dirty="0"/>
              <a:t>…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="1" dirty="0">
                <a:latin typeface="Times New Roman" panose="02020603050405020304" pitchFamily="18" charset="0"/>
              </a:rPr>
              <a:t>Virtual addressing</a:t>
            </a:r>
            <a:r>
              <a:rPr lang="en-US" altLang="en-US" dirty="0">
                <a:latin typeface="Times New Roman" panose="02020603050405020304" pitchFamily="18" charset="0"/>
              </a:rPr>
              <a:t> involves the separation of logical memory as perceived by developers from physical memory.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>
                <a:latin typeface="Times New Roman" panose="02020603050405020304" pitchFamily="18" charset="0"/>
              </a:rPr>
              <a:t>The separation allows </a:t>
            </a:r>
            <a:r>
              <a:rPr lang="en-US" altLang="en-US" dirty="0"/>
              <a:t>logical address space to be much larger than physical address space.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>
                <a:latin typeface="Times New Roman" panose="02020603050405020304" pitchFamily="18" charset="0"/>
              </a:rPr>
              <a:t>The </a:t>
            </a:r>
            <a:r>
              <a:rPr lang="en-US" altLang="en-US" b="1" dirty="0">
                <a:latin typeface="Times New Roman" panose="02020603050405020304" pitchFamily="18" charset="0"/>
              </a:rPr>
              <a:t>virtual address space </a:t>
            </a:r>
            <a:r>
              <a:rPr lang="en-US" altLang="en-US" dirty="0">
                <a:latin typeface="Times New Roman" panose="02020603050405020304" pitchFamily="18" charset="0"/>
              </a:rPr>
              <a:t>of a process refers to the </a:t>
            </a:r>
            <a:r>
              <a:rPr lang="en-US" altLang="en-US" dirty="0"/>
              <a:t>logical view of how process is stored in memory.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700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runs (“lives”) as an independent instance known as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operates within its own isolated virtual memory space,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gives the illusion of exclusive access to the entire memory address space.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the CPU is actively executing instructions for one process,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 processes may be in various states such as waiting for I/O operations,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ready to run, or partially completed, awaiting their next turn.</a:t>
            </a:r>
            <a:br>
              <a:rPr lang="en-US" dirty="0"/>
            </a:br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OS manages this by time-sharing the CPU among all active processes,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allocating short time slices to each in a rapid, interleaved manner,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creates the perception of simultaneous execution.</a:t>
            </a:r>
          </a:p>
          <a:p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memory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also managed to ensure isolation;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process has its own dedicated virtual memory space,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prevents processes from interfering with each other's data,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maintaining system stability and security.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275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program and its data are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managed across multiple memory levels, 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(including cache, main memory, and disk,)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their physical locations being scattered.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memory is divided into fixed-size pages,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these pages can be mapped to non-contiguous physical locations,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 a single program's data may reside in different,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scattered pages throughout main memory.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Furthermore, when main memory is insufficient,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OS may swap out less frequently used pages to disk storage.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page has a unique virtual address,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 hardware component known as)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 management unit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(MMU)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translates these virtual addresses into physical addresses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a relocation value.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process is known as </a:t>
            </a:r>
            <a:r>
              <a:rPr lang="en-US" b="1" dirty="0"/>
              <a:t>memory mapping</a:t>
            </a:r>
            <a:r>
              <a:rPr lang="en-US" dirty="0"/>
              <a:t> or </a:t>
            </a:r>
            <a:r>
              <a:rPr lang="en-US" b="1" dirty="0"/>
              <a:t>address translation</a:t>
            </a:r>
            <a:r>
              <a:rPr lang="en-US" b="0" dirty="0"/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reference: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 Management Unit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b="0" dirty="0">
                <a:effectLst/>
              </a:rPr>
              <a:t>MMU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is a hardware component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responsible for translating virtual memory addresses into physical addresses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enforcing memory protection to isolate processes and the OS.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624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This figure shows the mapping of virtual memory to physical memory for a program with four pages.</a:t>
            </a:r>
          </a:p>
          <a:p>
            <a:endParaRPr lang="en-US" dirty="0"/>
          </a:p>
          <a:p>
            <a:r>
              <a:rPr lang="en-US" dirty="0"/>
              <a:t>The virtual address space on the left consists of pages: A, B, C, and D. </a:t>
            </a:r>
          </a:p>
          <a:p>
            <a:endParaRPr lang="en-US" dirty="0"/>
          </a:p>
          <a:p>
            <a:r>
              <a:rPr lang="en-US" dirty="0"/>
              <a:t>The actual location of </a:t>
            </a:r>
            <a:r>
              <a:rPr lang="en-US" u="sng" dirty="0"/>
              <a:t>three</a:t>
            </a:r>
            <a:r>
              <a:rPr lang="en-US" dirty="0"/>
              <a:t> of the </a:t>
            </a:r>
            <a:r>
              <a:rPr lang="en-US" u="sng" dirty="0"/>
              <a:t>blocks</a:t>
            </a:r>
            <a:r>
              <a:rPr lang="en-US" dirty="0"/>
              <a:t> is in physical </a:t>
            </a:r>
            <a:r>
              <a:rPr lang="en-US" u="sng" dirty="0"/>
              <a:t>main memory</a:t>
            </a:r>
          </a:p>
          <a:p>
            <a:r>
              <a:rPr lang="en-US" dirty="0"/>
              <a:t>and the </a:t>
            </a:r>
            <a:r>
              <a:rPr lang="en-US" u="sng" dirty="0"/>
              <a:t>other</a:t>
            </a:r>
            <a:r>
              <a:rPr lang="en-US" dirty="0"/>
              <a:t> is located on the </a:t>
            </a:r>
            <a:r>
              <a:rPr lang="en-US" u="sng" dirty="0"/>
              <a:t>disk</a:t>
            </a:r>
            <a:r>
              <a:rPr lang="en-US" dirty="0"/>
              <a:t> as shown on the right.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618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The table shows a typical range of memory hierarchy parameters for caches and virtual memory. </a:t>
            </a:r>
          </a:p>
          <a:p>
            <a:endParaRPr lang="en-US" dirty="0"/>
          </a:p>
          <a:p>
            <a:r>
              <a:rPr lang="en-US" dirty="0"/>
              <a:t>Virtual memory parameters represent increases by 10 to 1,000,000 times over cache parameters. </a:t>
            </a:r>
          </a:p>
          <a:p>
            <a:endParaRPr lang="en-US" dirty="0"/>
          </a:p>
          <a:p>
            <a:r>
              <a:rPr lang="en-US" i="1" u="sng" dirty="0"/>
              <a:t>Optional:</a:t>
            </a:r>
          </a:p>
          <a:p>
            <a:r>
              <a:rPr lang="en-US" i="1" dirty="0"/>
              <a:t>Normally, first-level caches contain at most 1 MB of data, </a:t>
            </a:r>
          </a:p>
          <a:p>
            <a:r>
              <a:rPr lang="en-US" i="1" dirty="0"/>
              <a:t>whereas physical memory contains 256 MB to 1 TB.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237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Replacement on a cache miss is primarily controlled by hardware.</a:t>
            </a:r>
          </a:p>
          <a:p>
            <a:r>
              <a:rPr lang="en-US" dirty="0"/>
              <a:t>While page replacement in virtual memory is primarily controlled by the OS.</a:t>
            </a:r>
          </a:p>
          <a:p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 size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fixed for a particular machine.</a:t>
            </a:r>
          </a:p>
          <a:p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 memory size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determined by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system's architecture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available virtual address space,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is typically defined by the number of bits in the address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(which is fixed by the time a program executes)</a:t>
            </a:r>
          </a:p>
          <a:p>
            <a:endParaRPr lang="en-US" dirty="0"/>
          </a:p>
          <a:p>
            <a:r>
              <a:rPr lang="en-US" dirty="0"/>
              <a:t>Fundamental unit is a …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 miss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occurs when the requested data is not found in the CPU cache,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requiring the system to retrieve it from a slower level of the memory hierarchy,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 as main memory.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 fault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occurs when a requested memory page is not present in physical memory (RAM),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 is OS to load the page from secondary storage, such as a hard disk.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10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base and bounds protection mechanism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safeguards user processes from each other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defining a contiguous segment of physical memory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process using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bounds registers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 register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holds the starting physical address of the process's memory segment,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bound register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specifies the maximum allowable virtual address.</a:t>
            </a:r>
            <a:endParaRPr lang="en-US" dirty="0"/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memory reference made by a user process is checked against these two registers; 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virtual address generated by the process falls outside the valid range defined by the base and bound registers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memory protection violation exception is raised.</a:t>
            </a:r>
          </a:p>
          <a:p>
            <a:endParaRPr lang="en-US" dirty="0"/>
          </a:p>
          <a:p>
            <a:r>
              <a:rPr lang="en-US" i="1" u="sng" dirty="0"/>
              <a:t>For reference: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base and bounds protection mechanism relies on hardware to enforce memory protection,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the operating system (OS) configuring and managing the hardware registers.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434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/>
                <a:cs typeface="Calibri"/>
              </a:rPr>
              <a:t>Users</a:t>
            </a:r>
            <a:r>
              <a:rPr lang="en-US" sz="1200" spc="57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cannot</a:t>
            </a:r>
            <a:r>
              <a:rPr lang="en-US" sz="1200" spc="57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change</a:t>
            </a:r>
            <a:r>
              <a:rPr lang="en-US" sz="1200" spc="71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the</a:t>
            </a:r>
            <a:r>
              <a:rPr lang="en-US" sz="1200" spc="66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base</a:t>
            </a:r>
            <a:r>
              <a:rPr lang="en-US" sz="1200" spc="71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and</a:t>
            </a:r>
            <a:r>
              <a:rPr lang="en-US" sz="1200" spc="66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bound</a:t>
            </a:r>
            <a:r>
              <a:rPr lang="en-US" sz="1200" spc="66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registers.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spc="-9" dirty="0"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u="sng" spc="-9" dirty="0">
                <a:latin typeface="Calibri"/>
                <a:cs typeface="Calibri"/>
              </a:rPr>
              <a:t>Q.</a:t>
            </a:r>
            <a:r>
              <a:rPr lang="en-US" sz="1200" u="sng" spc="-9" dirty="0">
                <a:latin typeface="Calibri"/>
                <a:cs typeface="Calibri"/>
              </a:rPr>
              <a:t> So, who can change them?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(OS) requires access to base and bound registers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manage memory protection and allocation for user processes.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OS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kernel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unrestricted access to all memory locations,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including the ability to modify the base and limit registers.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access is essential for tasks such as loading and swapping processes in and out of memory.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latin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539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Segmentation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extends the concept of base and bounds addressing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 applying it to multiple logical segments within a process's virtual address space,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 than just a single contiguous block.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(such as code, heap, or stack)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treated as a separate unit with its own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 address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bounds register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allowing the OS to place these segments independently in physical memory.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enabling more efficient use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(of physical memory)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6579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earliest computer systems operated on a memory model that required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 needed by a given process to be allocated in a single, contiguous region of physical memory.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approach meant that all programs shared one address space,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was the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physical address space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machine.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Machine language programs had to be aware of the specific machine organization,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including the physical layout of memory,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there was no abstraction layer between the program and the physical memory.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a result,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was no mechanism to prevent a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 from accessing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 machine resource in memory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simple addressing method, common in pre-1978 computers,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lacked the protections and abstractions provided by modern virtual memory systems.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(making it difficult to run multiple programs simultaneously without interference.)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7901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u="sng" dirty="0"/>
              <a:t>The solution is </a:t>
            </a:r>
            <a:r>
              <a:rPr lang="en-US" u="sng" spc="-9" dirty="0"/>
              <a:t>virtual addressing,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introduces a layer of indirection between virtual addresses used by programs and the physical addresses in memory,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enabling each process to operate within a standardized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 address space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starting at zero,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regardless of its actual physical location.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hardware performs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 address translation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every memory reference,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converting virtual addresses to physical addresses dynamically during runtime.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translation is managed by the OS,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sets up and maintains page tables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define the mappings between virtual pages and physical frames.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 support is essential for key "modern" OS features: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Memory Management Unit (MMU)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performs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address translation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virtual to physical addresses,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page tables maintained by the OS.</a:t>
            </a:r>
          </a:p>
          <a:p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 protection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enforced by the MMU through protection bits in page table entries,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control read, write, and execute permissions,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preventing unauthorized access to memory regions belonging to other processes or the kernel.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hardware also supports controlled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memory between processes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allowing multiple page table entries to map to the same physical frame.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283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Demand paging uses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fully associative mapping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page faults are extremely expensive,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making it crucial to minimize miss rates.</a:t>
            </a:r>
          </a:p>
          <a:p>
            <a:endParaRPr lang="en-US" dirty="0"/>
          </a:p>
          <a:p>
            <a:r>
              <a:rPr lang="en-US" i="1" u="sng" dirty="0"/>
              <a:t>For reference:</a:t>
            </a:r>
          </a:p>
          <a:p>
            <a:r>
              <a:rPr lang="en-US" i="1" dirty="0"/>
              <a:t>(</a:t>
            </a:r>
            <a:r>
              <a:rPr lang="en-US" b="1" i="1" dirty="0"/>
              <a:t>demand paging</a:t>
            </a:r>
            <a:r>
              <a:rPr lang="en-US" i="1" dirty="0"/>
              <a:t>: only load </a:t>
            </a:r>
            <a:r>
              <a:rPr lang="en-US" altLang="en-US" i="1" dirty="0">
                <a:latin typeface="Times New Roman" panose="02020603050405020304" pitchFamily="18" charset="0"/>
              </a:rPr>
              <a:t>pages as they are needed</a:t>
            </a:r>
            <a:r>
              <a:rPr lang="en-US" i="1" dirty="0"/>
              <a:t>)</a:t>
            </a:r>
          </a:p>
          <a:p>
            <a:r>
              <a:rPr lang="en-US" i="1" dirty="0"/>
              <a:t>(</a:t>
            </a:r>
            <a:r>
              <a:rPr lang="en-US" b="1" i="1" dirty="0"/>
              <a:t>fully associative mapping</a:t>
            </a:r>
            <a:r>
              <a:rPr lang="en-US" i="1" dirty="0"/>
              <a:t>: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 page can be placed in any available frame within physical memory)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manage this large associativity efficiently,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 table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used to locate the frame containing a specific page.</a:t>
            </a:r>
          </a:p>
          <a:p>
            <a:endParaRPr lang="en-US" b="0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improve lookup efficiency, 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often used to map virtual addresses to specific entries in an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inverted page table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inverted page table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reduces memory overhead by maintaining a single system-wide table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one entry for each physical frame in main memory,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opposed to a separate page table for each process that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contains an entry for every virtual page in the virtual address space.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Principle of Locality: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requires translating virtual addresses to physical addresses,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can incur significant overhead if done for every memory access. </a:t>
            </a:r>
          </a:p>
          <a:p>
            <a:endParaRPr lang="en-US" sz="1200" b="0" i="0" u="sng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programs tend to access the same pages repeatedly within a short time,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principle of locality of reference is leveraged,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 a specialized hardware cache called 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Translation Lookaside Buffer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dirty="0">
                <a:effectLst/>
              </a:rPr>
              <a:t>TLB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en-US" dirty="0"/>
          </a:p>
          <a:p>
            <a:endParaRPr lang="en-US" dirty="0"/>
          </a:p>
          <a:p>
            <a:r>
              <a:rPr lang="en-US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TLB</a:t>
            </a:r>
            <a:r>
              <a:rPr lang="en-US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acts as an address-translation cache, </a:t>
            </a:r>
          </a:p>
          <a:p>
            <a:r>
              <a:rPr lang="en-US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storing mappings from the page table to avoid repeated, </a:t>
            </a:r>
          </a:p>
          <a:p>
            <a:r>
              <a:rPr lang="en-US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slow page table lookups.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4996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most machines,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least recently used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(LRU) page is replaced during paging to manage memory efficiently.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Moving pages between memory and disk is extremely slow,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making it worthwhile to implement approximations of true LRU.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(rather than the ideal but impractical perfect LRU)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 write policy: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Due to the high latency of disk access,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systems use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write-back caching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instead of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write-through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(meaning data is only written to disk when the page is replaced)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 and maintains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 bit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page that indicates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whether the page has been modified since it was loaded into memory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5102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 address space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divided into fixed-size blocks of memory called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there is a default page size on many systems,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OSs usually supports several page sizes.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 table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encodes virtual address spaces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mapping virtual pages to physical memory frames.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 page table entry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encodes the physical memory “frame” address corresponding to a virtual page,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enabling the translation of virtual addresses to physical addresses.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6874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This diagram illustrates the mapping of a virtual address to a physical address via a page table.</a:t>
            </a:r>
          </a:p>
          <a:p>
            <a:endParaRPr lang="en-US" dirty="0"/>
          </a:p>
          <a:p>
            <a:r>
              <a:rPr lang="en-US" dirty="0"/>
              <a:t>A virtual address is divided into a </a:t>
            </a:r>
            <a:r>
              <a:rPr lang="en-US" b="1" dirty="0"/>
              <a:t>virtual page number </a:t>
            </a:r>
            <a:r>
              <a:rPr lang="en-US" dirty="0"/>
              <a:t>and </a:t>
            </a:r>
            <a:r>
              <a:rPr lang="en-US" b="1" dirty="0"/>
              <a:t>page offset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 page 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 to index into the page table to find the corresponding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physical page 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b="0" dirty="0"/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 offset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 no translation and is directly mapped to the physical address.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656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 table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used to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 page numbers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physical frame numbers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each mapping stored as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 table entry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(PTE).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 memory works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treating main memory (DRAM) as a cache for secondary storage (e.g., disk),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enabling efficient memory management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allowing processes to use more memory than physically available.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8493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process maintains its own independent page table.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Paging mechanism: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base address of the current process's page table is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held in 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 Table Base Register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(PTBR),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 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 Table Length Register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(PTLR) indicates the number of entries in the table.)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 address translation,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Memory Management Unit (MMU) uses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page table to convert a logical address generated by the CPU into a physical address.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locate the correct page table entry,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hardware calculates the address of the entry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multiplying the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 page 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the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 of a page table entry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adding it to the base address stored in 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 Table Base Register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physical address is then calculated by combining the physical frame number with the offset.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done by shifting the frame number left by the number of bits in the offset and adding the offset.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567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two-level page table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be used to manage virtual memory more efficiently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reducing the memory overhead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compared to a single-level table.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two-level structure allows the OS to allocate only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necessary page table entries for the pages a process needs,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 than reserving space for the entire virtual address space.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(Go over example)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32-bit virtual address: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10-bit index for the outer table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10-bit index for the inner tables</a:t>
            </a:r>
          </a:p>
          <a:p>
            <a:r>
              <a:rPr lang="en-US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12-bit page offset</a:t>
            </a:r>
          </a:p>
          <a:p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2^10 = 1024 second-level tables …</a:t>
            </a:r>
          </a:p>
          <a:p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33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012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size of the page table is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inversely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proportional to the page size.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 page size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reduces the number of entries in the page table, which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keeps the page table small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en-US" sz="2200" dirty="0">
                <a:latin typeface="Calibri"/>
                <a:cs typeface="Calibri"/>
              </a:rPr>
              <a:t>educes</a:t>
            </a:r>
            <a:r>
              <a:rPr lang="en-US" sz="2200" spc="-9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cache miss</a:t>
            </a:r>
            <a:r>
              <a:rPr lang="en-US" sz="2200" spc="-9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times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200" dirty="0">
                <a:latin typeface="Calibri"/>
                <a:cs typeface="Calibri"/>
              </a:rPr>
              <a:t>reduces</a:t>
            </a:r>
            <a:r>
              <a:rPr lang="en-US" sz="2200" spc="-9" dirty="0">
                <a:latin typeface="Calibri"/>
                <a:cs typeface="Calibri"/>
              </a:rPr>
              <a:t> start-</a:t>
            </a:r>
            <a:r>
              <a:rPr lang="en-US" sz="2200" dirty="0">
                <a:latin typeface="Calibri"/>
                <a:cs typeface="Calibri"/>
              </a:rPr>
              <a:t>up overhead in moving data</a:t>
            </a:r>
            <a:r>
              <a:rPr lang="en-US" sz="2200" spc="-4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from disk</a:t>
            </a:r>
            <a:r>
              <a:rPr lang="en-US" sz="2200" spc="-9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to</a:t>
            </a:r>
            <a:r>
              <a:rPr lang="en-US" sz="2200" spc="-4" dirty="0">
                <a:latin typeface="Calibri"/>
                <a:cs typeface="Calibri"/>
              </a:rPr>
              <a:t> </a:t>
            </a:r>
            <a:r>
              <a:rPr lang="en-US" sz="2200" spc="-9" dirty="0">
                <a:latin typeface="Calibri"/>
                <a:cs typeface="Calibri"/>
              </a:rPr>
              <a:t>memory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200" spc="-9" dirty="0">
                <a:latin typeface="Calibri"/>
                <a:cs typeface="Calibri"/>
              </a:rPr>
              <a:t>and </a:t>
            </a:r>
            <a:r>
              <a:rPr lang="en-US" sz="2200" dirty="0">
                <a:latin typeface="Calibri"/>
                <a:cs typeface="Calibri"/>
              </a:rPr>
              <a:t>fewer</a:t>
            </a:r>
            <a:r>
              <a:rPr lang="en-US" sz="2200" spc="-9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TLB</a:t>
            </a:r>
            <a:r>
              <a:rPr lang="en-US" sz="2200" spc="-9" dirty="0">
                <a:latin typeface="Calibri"/>
                <a:cs typeface="Calibri"/>
              </a:rPr>
              <a:t> misses </a:t>
            </a:r>
            <a:r>
              <a:rPr lang="en-US" sz="2200" i="1" spc="-9" dirty="0">
                <a:latin typeface="Calibri"/>
                <a:cs typeface="Calibri"/>
              </a:rPr>
              <a:t>(as the number of TLB entries is restricted)</a:t>
            </a:r>
            <a:endParaRPr lang="en-US" sz="2200" i="1" dirty="0"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improving performance for memory-intensive applications.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larger page sizes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 internal fragmentation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(where unused space within a page is wasted)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can lead to longer program startup times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(if the initial memory allocation is not efficiently matched to the actual data size)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110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page replacement policy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determines which page to evict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a new page must be loaded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no free frames are available.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primary goal is to minimize page faults.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 support for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dirty bit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(which is set when a page is modified)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(or reference)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(which is set when a page is accessed)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used for page replacement such as a LRU approximation.</a:t>
            </a:r>
          </a:p>
          <a:p>
            <a:endParaRPr lang="en-US" b="0" dirty="0"/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optimize performance,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systems maintain a free page pool for frames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are clean and available for immediate use.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a page is evicted and is clean,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placed on the free list;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it is dirty, it is scheduled for writing to disk.</a:t>
            </a:r>
          </a:p>
          <a:p>
            <a:endParaRPr lang="en-US" b="0" dirty="0"/>
          </a:p>
          <a:p>
            <a:r>
              <a:rPr lang="en-US" b="0" u="sng" dirty="0"/>
              <a:t>Head pointer: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head pointer tracks the next frame to examine during replacement.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a page's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bit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still clear when it is considered for replacement,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placed on the free list,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indicating it has not been recently accessed.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9989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MIPS architecture,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 address translation is managed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the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 Management Unit (MMU)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the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Translation Lookaside Buffer (TLB)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TLB is a small, fast cache that stores recently used virtual-to-physical address mappings,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acts as a specialized cache for page table entries,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enabling rapid translation without accessing slower main memory.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TLB Control bits: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TLB also stores control bits for each entry, including valid, dirty, and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cacheability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bits,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provide protection and management information.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bits determine if a process has permission to read or write the mapped page, and whether the page is cached.</a:t>
            </a:r>
          </a:p>
          <a:p>
            <a:pPr marL="0" indent="0">
              <a:buFont typeface="+mj-lt"/>
              <a:buNone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3321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it works: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a process accesses a virtual address, </a:t>
            </a:r>
            <a:endParaRPr lang="en-US" sz="1200" b="0" i="0" u="sng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CPU first checks the TLB for a matching entry using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 Page 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(VPN)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Address Space Identifier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(ASID)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ensure the mapping belongs to the current process. 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+mj-lt"/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Address Space Identifier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(ASID) </a:t>
            </a:r>
          </a:p>
          <a:p>
            <a:pPr marL="0" indent="0">
              <a:buFont typeface="+mj-lt"/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 a unique identifier used by a processor to </a:t>
            </a:r>
          </a:p>
          <a:p>
            <a:pPr marL="0" indent="0">
              <a:buFont typeface="+mj-lt"/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distinguish between the virtual address spaces of different processes or tasks.</a:t>
            </a:r>
          </a:p>
          <a:p>
            <a:pPr marL="228600" indent="-228600">
              <a:buFont typeface="+mj-lt"/>
              <a:buAutoNum type="arabicPeriod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Font typeface="+mj-lt"/>
              <a:buAutoNum type="arabicPeriod" startAt="2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a valid entry is found (a TLB hit),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physical address is derived by combining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Physical Page Number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(PFN) from the TLB entry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the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page offset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the virtual address,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allowing immediate access to the correct physical memory location. </a:t>
            </a:r>
          </a:p>
          <a:p>
            <a:pPr marL="228600" indent="-228600">
              <a:buFont typeface="+mj-lt"/>
              <a:buAutoNum type="arabicPeriod" startAt="2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Font typeface="+mj-lt"/>
              <a:buAutoNum type="arabicPeriod" startAt="2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required mapping is not in the TLB (a TLB miss),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system performs a page table walk to find the translation in main memory,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updates the TLB with the new entry,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then restarts the original instruction.</a:t>
            </a:r>
          </a:p>
          <a:p>
            <a:pPr marL="0" indent="0">
              <a:buFont typeface="+mj-lt"/>
              <a:buNone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+mj-lt"/>
              <a:buNone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+mj-lt"/>
              <a:buNone/>
            </a:pPr>
            <a:r>
              <a:rPr lang="en-US" sz="1200" b="0" i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Optional:</a:t>
            </a:r>
          </a:p>
          <a:p>
            <a:pPr marL="0" indent="0">
              <a:buFont typeface="+mj-lt"/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process is fast and efficient, with a high hit ratio expected, </a:t>
            </a:r>
          </a:p>
          <a:p>
            <a:pPr marL="0" indent="0">
              <a:buFont typeface="+mj-lt"/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often between 0.95 and 0.99, due to the principle of locality.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9824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 when a cache hit occurs, the TLB translation is still required first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TLB acts as a cache for page table entries,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translating virtual addresses to physical addresses before the cache lookup can proceed.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because the cache,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needs the physical address to perform its lookup.</a:t>
            </a:r>
            <a:br>
              <a:rPr lang="en-US" dirty="0"/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Optional: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TLB is typically implemented as a direct-mapped or set-associative structure,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though it functions similarly to a cache,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entries being replaced when the buffer is full,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often using a least recently used (LRU)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93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(Explain the diagram.)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2838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key performance optimization in modern processors,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that the TLB translation can overlap with cache indexing.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599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 key performance optimization in modern processors,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that the TLB translation can overlap with cache indexing.)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achieved through a virtually-indexed, physically-tagged (VIPT) cache design,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the lower bits of the virtual address (the page offset)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 used to index the cache before the full physical address is known,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allowing the cache lookup to proceed in parallel with the TLB translation.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consider a system with a 4 KB page size,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requires 12 bits for the page offset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(since 2^12 = 4096 bytes).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a virtual address is 0x1804,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lower 12 bits (0x804) represent the page offset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are used directly to index the cache.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remaining higher bits of the virtual address form the virtual page number (VPN),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is used to look up the translation in the TLB or page table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obtain the physical page number (PPN).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the PPN is determined,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concatenated with the unchanged page offset to form the full physical address.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i="1" u="sng" dirty="0"/>
              <a:t>Question:</a:t>
            </a:r>
          </a:p>
          <a:p>
            <a:r>
              <a:rPr lang="en-US" dirty="0"/>
              <a:t>Having cache index in page offset works, but</a:t>
            </a:r>
          </a:p>
          <a:p>
            <a:r>
              <a:rPr lang="en-US" b="1" dirty="0"/>
              <a:t>Q.</a:t>
            </a:r>
            <a:r>
              <a:rPr lang="en-US" dirty="0"/>
              <a:t> What is the downside?</a:t>
            </a:r>
          </a:p>
          <a:p>
            <a:r>
              <a:rPr lang="en-US" b="1" dirty="0"/>
              <a:t>A.</a:t>
            </a:r>
            <a:r>
              <a:rPr lang="en-US" dirty="0"/>
              <a:t> Inflexibility. Size of cache limited by page size.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0514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u="sng" dirty="0"/>
              <a:t>For this example:</a:t>
            </a:r>
          </a:p>
          <a:p>
            <a:r>
              <a:rPr lang="en-US" dirty="0"/>
              <a:t>When the cache size increase from 4 KB to 8 KB,</a:t>
            </a:r>
          </a:p>
          <a:p>
            <a:r>
              <a:rPr lang="en-US" dirty="0"/>
              <a:t>the index size increases from 10 to 11 bits.</a:t>
            </a:r>
          </a:p>
          <a:p>
            <a:r>
              <a:rPr lang="en-US" dirty="0"/>
              <a:t>This bit is changed by virtual address translation</a:t>
            </a:r>
          </a:p>
          <a:p>
            <a:endParaRPr lang="en-US" dirty="0"/>
          </a:p>
          <a:p>
            <a:r>
              <a:rPr lang="en-US" u="sng" dirty="0"/>
              <a:t>Solution:</a:t>
            </a:r>
          </a:p>
          <a:p>
            <a:r>
              <a:rPr lang="en-US" dirty="0"/>
              <a:t>To maintain index alignment with the page offset</a:t>
            </a:r>
          </a:p>
          <a:p>
            <a:r>
              <a:rPr lang="en-US" dirty="0"/>
              <a:t>the cache must become 2-way set associative.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146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If the CPU</a:t>
            </a:r>
            <a:r>
              <a:rPr lang="en-US" spc="-35" dirty="0"/>
              <a:t> </a:t>
            </a:r>
            <a:r>
              <a:rPr lang="en-US" dirty="0"/>
              <a:t>use</a:t>
            </a:r>
            <a:r>
              <a:rPr lang="en-US" spc="-35" dirty="0"/>
              <a:t> </a:t>
            </a:r>
            <a:r>
              <a:rPr lang="en-US" dirty="0"/>
              <a:t>virtual</a:t>
            </a:r>
            <a:r>
              <a:rPr lang="en-US" spc="-26" dirty="0"/>
              <a:t> </a:t>
            </a:r>
            <a:r>
              <a:rPr lang="en-US" dirty="0"/>
              <a:t>addresses</a:t>
            </a:r>
            <a:r>
              <a:rPr lang="en-US" spc="-31" dirty="0"/>
              <a:t> </a:t>
            </a:r>
            <a:r>
              <a:rPr lang="en-US" dirty="0"/>
              <a:t>for</a:t>
            </a:r>
            <a:r>
              <a:rPr lang="en-US" spc="-35" dirty="0"/>
              <a:t> indexing </a:t>
            </a:r>
            <a:r>
              <a:rPr lang="en-US" spc="-9" dirty="0"/>
              <a:t>cache,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TLB is only accessed when a cache miss occurs.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However, there is a </a:t>
            </a:r>
            <a:r>
              <a:rPr lang="en-US" b="1" dirty="0"/>
              <a:t>downside</a:t>
            </a:r>
            <a:r>
              <a:rPr lang="en-US" dirty="0"/>
              <a:t>: 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75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The advantages</a:t>
            </a:r>
            <a:r>
              <a:rPr lang="en-US" spc="-49" dirty="0"/>
              <a:t> </a:t>
            </a:r>
            <a:r>
              <a:rPr lang="en-US" dirty="0"/>
              <a:t>of</a:t>
            </a:r>
            <a:r>
              <a:rPr lang="en-US" spc="-44" dirty="0"/>
              <a:t> p</a:t>
            </a:r>
            <a:r>
              <a:rPr lang="en-US" dirty="0"/>
              <a:t>aged</a:t>
            </a:r>
            <a:r>
              <a:rPr lang="en-US" spc="-40" dirty="0"/>
              <a:t> v</a:t>
            </a:r>
            <a:r>
              <a:rPr lang="en-US" dirty="0"/>
              <a:t>irtual</a:t>
            </a:r>
            <a:r>
              <a:rPr lang="en-US" spc="-40" dirty="0"/>
              <a:t> </a:t>
            </a:r>
            <a:r>
              <a:rPr lang="en-US" spc="-9" dirty="0"/>
              <a:t>memory can be divided into three categories.</a:t>
            </a:r>
          </a:p>
          <a:p>
            <a:pPr marL="228600" indent="-228600">
              <a:buFont typeface="+mj-lt"/>
              <a:buAutoNum type="arabicPeriod"/>
            </a:pPr>
            <a:r>
              <a:rPr lang="en-US" spc="-9" dirty="0"/>
              <a:t>Translation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pc="-9" dirty="0"/>
              <a:t>Protection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pc="-9" dirty="0"/>
              <a:t>Sharing</a:t>
            </a:r>
          </a:p>
          <a:p>
            <a:endParaRPr lang="en-US" spc="-9" dirty="0"/>
          </a:p>
          <a:p>
            <a:r>
              <a:rPr lang="en-US" spc="-9" dirty="0"/>
              <a:t>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1537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u="sng" dirty="0"/>
              <a:t>TLB misses: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introduction of two-level TLBs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typically, an L1 TLB for fast lookups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an L2 TLB to handle misses from the L1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 become standard in modern microarchitectures.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Questions …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Today, Virtual memory …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 but computers are still insecure …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virtual memory does not eliminate all vulnerabilities such as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 bugs,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privilege escalation flaws,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 attacks exploiting hardware-level weaknesses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738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length of the virtual address is determined by the sum of the bits used for the virtual page number and the bits used for the page offset.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Page size: 8KB = 2^13 bytes</a:t>
            </a:r>
          </a:p>
          <a:p>
            <a:r>
              <a:rPr lang="en-US" dirty="0"/>
              <a:t>Page offset: 13 bits</a:t>
            </a:r>
          </a:p>
          <a:p>
            <a:endParaRPr lang="en-US" dirty="0"/>
          </a:p>
          <a:p>
            <a:r>
              <a:rPr lang="en-US" dirty="0"/>
              <a:t>VPN: 30 bits</a:t>
            </a:r>
          </a:p>
          <a:p>
            <a:endParaRPr lang="en-US" dirty="0"/>
          </a:p>
          <a:p>
            <a:r>
              <a:rPr lang="en-US" dirty="0"/>
              <a:t>Virtual address: 30 + 13 = 43 bits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856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PFN: 20 bits</a:t>
            </a:r>
          </a:p>
          <a:p>
            <a:r>
              <a:rPr lang="en-US" dirty="0"/>
              <a:t>Frame offset: 13 bits</a:t>
            </a:r>
          </a:p>
          <a:p>
            <a:endParaRPr lang="en-US" dirty="0"/>
          </a:p>
          <a:p>
            <a:r>
              <a:rPr lang="en-US" dirty="0"/>
              <a:t>Physical address: 20 + 13 = 33 bits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7392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number of entries in the page table is determined by the width of the virtual page number.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VPN: 30 bits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 of entries: 2^30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9292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width of each page table entry is determined by the sum of the bits required to store the physical frame number and the bits required for administrative (metadata) purposes.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PFN: 20 bits</a:t>
            </a:r>
          </a:p>
          <a:p>
            <a:r>
              <a:rPr lang="en-US" dirty="0"/>
              <a:t>3 admin bits</a:t>
            </a:r>
          </a:p>
          <a:p>
            <a:endParaRPr lang="en-US" dirty="0"/>
          </a:p>
          <a:p>
            <a:r>
              <a:rPr lang="en-US" dirty="0"/>
              <a:t>Page table entry size: 23 bits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60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9263F-1986-45DF-BE88-D306C16C399B}" type="datetime1">
              <a:rPr lang="en-US" smtClean="0"/>
              <a:t>10/27/2025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3680302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B88F6-3F10-4B92-B47A-D401FF7B06F5}" type="datetime1">
              <a:rPr lang="en-US" smtClean="0"/>
              <a:t>10/27/2025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1735314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87903-293A-466C-9EBF-31BEE44EFCB7}" type="datetime1">
              <a:rPr lang="en-US" smtClean="0"/>
              <a:t>10/27/2025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404384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C8BA3-BC5A-47EA-AC87-47087FF70938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3125613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1253" y="1159438"/>
            <a:ext cx="7543223" cy="44824"/>
          </a:xfrm>
          <a:custGeom>
            <a:avLst/>
            <a:gdLst/>
            <a:ahLst/>
            <a:cxnLst/>
            <a:rect l="l" t="t" r="r" b="b"/>
            <a:pathLst>
              <a:path w="8297545" h="50800">
                <a:moveTo>
                  <a:pt x="8297342" y="20320"/>
                </a:moveTo>
                <a:lnTo>
                  <a:pt x="0" y="20320"/>
                </a:lnTo>
                <a:lnTo>
                  <a:pt x="0" y="50800"/>
                </a:lnTo>
                <a:lnTo>
                  <a:pt x="8297342" y="50800"/>
                </a:lnTo>
                <a:lnTo>
                  <a:pt x="8297342" y="20320"/>
                </a:lnTo>
                <a:close/>
              </a:path>
              <a:path w="8297545" h="50800">
                <a:moveTo>
                  <a:pt x="8297342" y="0"/>
                </a:moveTo>
                <a:lnTo>
                  <a:pt x="0" y="0"/>
                </a:lnTo>
                <a:lnTo>
                  <a:pt x="0" y="10160"/>
                </a:lnTo>
                <a:lnTo>
                  <a:pt x="8297342" y="10160"/>
                </a:lnTo>
                <a:lnTo>
                  <a:pt x="8297342" y="0"/>
                </a:lnTo>
                <a:close/>
              </a:path>
            </a:pathLst>
          </a:custGeom>
          <a:solidFill>
            <a:srgbClr val="FBBA03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0362" y="1671388"/>
            <a:ext cx="5164606" cy="43811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5EF926-E99C-4CD3-83D9-4D3081C911D4}" type="datetime1">
              <a:rPr lang="en-US" smtClean="0"/>
              <a:t>10/27/2025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4212037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Hennessy_cover-v2 (Final)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79512" y="1412776"/>
            <a:ext cx="1872208" cy="23090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0647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765175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endParaRPr lang="en-GB" sz="240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40649" name="Rectangle 9"/>
          <p:cNvSpPr>
            <a:spLocks noChangeArrowheads="1"/>
          </p:cNvSpPr>
          <p:nvPr userDrawn="1"/>
        </p:nvSpPr>
        <p:spPr bwMode="auto">
          <a:xfrm>
            <a:off x="0" y="765175"/>
            <a:ext cx="9144000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240657" name="Picture 17" descr="MK_logo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950" y="50800"/>
            <a:ext cx="1228725" cy="714375"/>
          </a:xfrm>
          <a:prstGeom prst="rect">
            <a:avLst/>
          </a:prstGeom>
          <a:noFill/>
        </p:spPr>
      </p:pic>
      <p:sp>
        <p:nvSpPr>
          <p:cNvPr id="240659" name="Rectangle 19"/>
          <p:cNvSpPr>
            <a:spLocks noChangeArrowheads="1"/>
          </p:cNvSpPr>
          <p:nvPr userDrawn="1"/>
        </p:nvSpPr>
        <p:spPr bwMode="auto">
          <a:xfrm>
            <a:off x="2197100" y="765175"/>
            <a:ext cx="46038" cy="5732463"/>
          </a:xfrm>
          <a:prstGeom prst="rect">
            <a:avLst/>
          </a:prstGeom>
          <a:gradFill rotWithShape="1">
            <a:gsLst>
              <a:gs pos="0">
                <a:srgbClr val="808080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60" name="Rectangle 20"/>
          <p:cNvSpPr>
            <a:spLocks noChangeArrowheads="1"/>
          </p:cNvSpPr>
          <p:nvPr userDrawn="1"/>
        </p:nvSpPr>
        <p:spPr bwMode="auto">
          <a:xfrm>
            <a:off x="2559050" y="1195388"/>
            <a:ext cx="46038" cy="3816350"/>
          </a:xfrm>
          <a:prstGeom prst="rect">
            <a:avLst/>
          </a:prstGeom>
          <a:gradFill rotWithShape="1">
            <a:gsLst>
              <a:gs pos="0">
                <a:srgbClr val="767D79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61" name="Rectangle 21"/>
          <p:cNvSpPr>
            <a:spLocks noChangeArrowheads="1"/>
          </p:cNvSpPr>
          <p:nvPr userDrawn="1"/>
        </p:nvSpPr>
        <p:spPr bwMode="auto">
          <a:xfrm>
            <a:off x="2341563" y="1916113"/>
            <a:ext cx="6623050" cy="46037"/>
          </a:xfrm>
          <a:prstGeom prst="rect">
            <a:avLst/>
          </a:prstGeom>
          <a:gradFill rotWithShape="1">
            <a:gsLst>
              <a:gs pos="0">
                <a:srgbClr val="5F5F5F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78" name="Rectangle 38"/>
          <p:cNvSpPr>
            <a:spLocks noChangeArrowheads="1"/>
          </p:cNvSpPr>
          <p:nvPr userDrawn="1"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79" name="Rectangle 39"/>
          <p:cNvSpPr>
            <a:spLocks noChangeArrowheads="1"/>
          </p:cNvSpPr>
          <p:nvPr userDrawn="1"/>
        </p:nvSpPr>
        <p:spPr bwMode="auto">
          <a:xfrm>
            <a:off x="0" y="6308725"/>
            <a:ext cx="9144000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80" name="Rectangle 40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dirty="0"/>
          </a:p>
        </p:txBody>
      </p:sp>
      <p:pic>
        <p:nvPicPr>
          <p:cNvPr id="240681" name="Picture 41" descr="MK_logo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6381750"/>
            <a:ext cx="792162" cy="460375"/>
          </a:xfrm>
          <a:prstGeom prst="rect">
            <a:avLst/>
          </a:prstGeom>
          <a:noFill/>
        </p:spPr>
      </p:pic>
      <p:sp>
        <p:nvSpPr>
          <p:cNvPr id="240682" name="Text Box 42"/>
          <p:cNvSpPr txBox="1">
            <a:spLocks noChangeArrowheads="1"/>
          </p:cNvSpPr>
          <p:nvPr userDrawn="1"/>
        </p:nvSpPr>
        <p:spPr bwMode="auto">
          <a:xfrm>
            <a:off x="8388350" y="6497638"/>
            <a:ext cx="5762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  <a:buClrTx/>
              <a:buSzTx/>
              <a:buFontTx/>
              <a:buNone/>
            </a:pPr>
            <a:fld id="{63BBFCE6-A6C8-4251-973B-1D0917AA6A4E}" type="slidenum">
              <a:rPr lang="en-AU" sz="1200" b="1">
                <a:latin typeface="Arial" charset="0"/>
              </a:rPr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t>‹#›</a:t>
            </a:fld>
            <a:endParaRPr lang="en-GB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59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1253" y="1159438"/>
            <a:ext cx="7543223" cy="44824"/>
          </a:xfrm>
          <a:custGeom>
            <a:avLst/>
            <a:gdLst/>
            <a:ahLst/>
            <a:cxnLst/>
            <a:rect l="l" t="t" r="r" b="b"/>
            <a:pathLst>
              <a:path w="8297545" h="50800">
                <a:moveTo>
                  <a:pt x="8297342" y="20320"/>
                </a:moveTo>
                <a:lnTo>
                  <a:pt x="0" y="20320"/>
                </a:lnTo>
                <a:lnTo>
                  <a:pt x="0" y="50800"/>
                </a:lnTo>
                <a:lnTo>
                  <a:pt x="8297342" y="50800"/>
                </a:lnTo>
                <a:lnTo>
                  <a:pt x="8297342" y="20320"/>
                </a:lnTo>
                <a:close/>
              </a:path>
              <a:path w="8297545" h="50800">
                <a:moveTo>
                  <a:pt x="8297342" y="0"/>
                </a:moveTo>
                <a:lnTo>
                  <a:pt x="0" y="0"/>
                </a:lnTo>
                <a:lnTo>
                  <a:pt x="0" y="10160"/>
                </a:lnTo>
                <a:lnTo>
                  <a:pt x="8297342" y="10160"/>
                </a:lnTo>
                <a:lnTo>
                  <a:pt x="8297342" y="0"/>
                </a:lnTo>
                <a:close/>
              </a:path>
            </a:pathLst>
          </a:custGeom>
          <a:solidFill>
            <a:srgbClr val="FBBA03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72308" y="3058065"/>
            <a:ext cx="64515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68120-B3EF-4FD0-81BE-28585F5DEF3E}" type="datetime1">
              <a:rPr lang="en-US" smtClean="0"/>
              <a:t>10/27/2025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68187" y="6346231"/>
            <a:ext cx="299796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22045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80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83" name="Rectangle 11"/>
          <p:cNvSpPr>
            <a:spLocks noChangeArrowheads="1"/>
          </p:cNvSpPr>
          <p:nvPr/>
        </p:nvSpPr>
        <p:spPr bwMode="auto">
          <a:xfrm>
            <a:off x="2843213" y="1254125"/>
            <a:ext cx="3780843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AU" sz="2400" dirty="0">
                <a:solidFill>
                  <a:srgbClr val="000099"/>
                </a:solidFill>
                <a:latin typeface="Arial" charset="0"/>
              </a:rPr>
              <a:t>Chapter 2 and Appendix B</a:t>
            </a:r>
            <a:endParaRPr lang="en-GB" sz="2400" dirty="0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233484" name="Rectangle 12"/>
          <p:cNvSpPr>
            <a:spLocks noChangeArrowheads="1"/>
          </p:cNvSpPr>
          <p:nvPr/>
        </p:nvSpPr>
        <p:spPr bwMode="auto">
          <a:xfrm>
            <a:off x="2843213" y="2060575"/>
            <a:ext cx="5832475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solidFill>
                  <a:srgbClr val="0332B7"/>
                </a:solidFill>
                <a:latin typeface="Arial MT"/>
                <a:cs typeface="Arial MT"/>
              </a:rPr>
              <a:t>Virtual Memory</a:t>
            </a:r>
            <a:endParaRPr lang="en-US" sz="2800" dirty="0">
              <a:latin typeface="Arial MT"/>
              <a:cs typeface="Arial MT"/>
            </a:endParaRPr>
          </a:p>
        </p:txBody>
      </p:sp>
      <p:sp>
        <p:nvSpPr>
          <p:cNvPr id="233485" name="Text Box 13"/>
          <p:cNvSpPr txBox="1">
            <a:spLocks noChangeArrowheads="1"/>
          </p:cNvSpPr>
          <p:nvPr/>
        </p:nvSpPr>
        <p:spPr bwMode="auto">
          <a:xfrm>
            <a:off x="3299585" y="-100013"/>
            <a:ext cx="3481466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</a:rPr>
              <a:t>Computer Architecture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rial" charset="0"/>
              </a:rPr>
              <a:t>A Quantitative Approach</a:t>
            </a:r>
            <a:endParaRPr lang="en-GB" sz="2000" dirty="0">
              <a:solidFill>
                <a:schemeClr val="bg1"/>
              </a:solidFill>
              <a:latin typeface="Arial" charset="0"/>
            </a:endParaRPr>
          </a:p>
        </p:txBody>
      </p:sp>
      <p:pic>
        <p:nvPicPr>
          <p:cNvPr id="3" name="Picture 2" descr="A book cover of a computer architecture&#10;&#10;AI-generated content may be incorrect.">
            <a:extLst>
              <a:ext uri="{FF2B5EF4-FFF2-40B4-BE49-F238E27FC236}">
                <a16:creationId xmlns:a16="http://schemas.microsoft.com/office/drawing/2014/main" id="{C8AD8ECF-BB96-6B99-D501-645D3AF2C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806512"/>
            <a:ext cx="1894513" cy="23155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739588" y="1875865"/>
            <a:ext cx="6858000" cy="85770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4377"/>
              </a:lnSpc>
              <a:spcBef>
                <a:spcPts val="88"/>
              </a:spcBef>
            </a:pPr>
            <a:r>
              <a:rPr lang="en-US" sz="3706" b="1" dirty="0">
                <a:latin typeface="Arial"/>
                <a:cs typeface="Arial"/>
              </a:rPr>
              <a:t>VIRTUAL MEMORY</a:t>
            </a:r>
            <a:endParaRPr sz="3706" dirty="0">
              <a:latin typeface="Arial"/>
              <a:cs typeface="Arial"/>
            </a:endParaRPr>
          </a:p>
          <a:p>
            <a:pPr marL="11206">
              <a:lnSpc>
                <a:spcPts val="2153"/>
              </a:lnSpc>
            </a:pPr>
            <a:r>
              <a:rPr lang="en-US" sz="1853" b="1" dirty="0">
                <a:latin typeface="Arial"/>
                <a:cs typeface="Arial"/>
              </a:rPr>
              <a:t>-</a:t>
            </a:r>
            <a:r>
              <a:rPr lang="en-US" sz="1853" b="1" spc="31" dirty="0">
                <a:latin typeface="Arial"/>
                <a:cs typeface="Arial"/>
              </a:rPr>
              <a:t> </a:t>
            </a:r>
            <a:r>
              <a:rPr lang="en-US" sz="1853" b="1" dirty="0">
                <a:latin typeface="Arial"/>
                <a:cs typeface="Arial"/>
              </a:rPr>
              <a:t>APPENDIX</a:t>
            </a:r>
            <a:r>
              <a:rPr lang="en-US" sz="1853" b="1" spc="44" dirty="0">
                <a:latin typeface="Arial"/>
                <a:cs typeface="Arial"/>
              </a:rPr>
              <a:t> </a:t>
            </a:r>
            <a:r>
              <a:rPr lang="en-US" sz="1853" b="1" dirty="0">
                <a:latin typeface="Arial"/>
                <a:cs typeface="Arial"/>
              </a:rPr>
              <a:t>B</a:t>
            </a:r>
            <a:r>
              <a:rPr lang="en-US" sz="1853" b="1" spc="49" dirty="0">
                <a:latin typeface="Arial"/>
                <a:cs typeface="Arial"/>
              </a:rPr>
              <a:t> </a:t>
            </a:r>
            <a:r>
              <a:rPr lang="en-US" sz="1853" b="1" dirty="0">
                <a:latin typeface="Arial"/>
                <a:cs typeface="Arial"/>
              </a:rPr>
              <a:t>/</a:t>
            </a:r>
            <a:r>
              <a:rPr lang="en-US" sz="1853" b="1" spc="26" dirty="0">
                <a:latin typeface="Arial"/>
                <a:cs typeface="Arial"/>
              </a:rPr>
              <a:t> </a:t>
            </a:r>
            <a:r>
              <a:rPr lang="en-US" sz="1853" b="1" dirty="0">
                <a:latin typeface="Arial"/>
                <a:cs typeface="Arial"/>
              </a:rPr>
              <a:t>CHAPTER</a:t>
            </a:r>
            <a:r>
              <a:rPr lang="en-US" sz="1853" b="1" spc="49" dirty="0">
                <a:latin typeface="Arial"/>
                <a:cs typeface="Arial"/>
              </a:rPr>
              <a:t> </a:t>
            </a:r>
            <a:r>
              <a:rPr lang="en-US" sz="1853" b="1" spc="-44" dirty="0">
                <a:latin typeface="Arial"/>
                <a:cs typeface="Arial"/>
              </a:rPr>
              <a:t>2</a:t>
            </a:r>
            <a:endParaRPr sz="1853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2</a:t>
            </a:fld>
            <a:endParaRPr spc="-2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7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Virtual</a:t>
            </a:r>
            <a:r>
              <a:rPr spc="-40" dirty="0"/>
              <a:t> </a:t>
            </a:r>
            <a:r>
              <a:rPr spc="-9" dirty="0"/>
              <a:t>addressing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320053"/>
            <a:ext cx="7463283" cy="3579524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4483" indent="-267835" algn="just"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Computers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designed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programs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be </a:t>
            </a:r>
            <a:r>
              <a:rPr sz="2400" dirty="0">
                <a:latin typeface="Calibri"/>
                <a:cs typeface="Calibri"/>
              </a:rPr>
              <a:t>active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time</a:t>
            </a:r>
            <a:endParaRPr sz="2400" dirty="0">
              <a:latin typeface="Calibri"/>
              <a:cs typeface="Calibri"/>
            </a:endParaRPr>
          </a:p>
          <a:p>
            <a:pPr marL="278481" marR="137840" indent="-267835" algn="just">
              <a:spcBef>
                <a:spcPts val="811"/>
              </a:spcBef>
              <a:buChar char="•"/>
              <a:tabLst>
                <a:tab pos="278481" algn="l"/>
                <a:tab pos="4507246" algn="l"/>
              </a:tabLst>
            </a:pPr>
            <a:r>
              <a:rPr sz="2400" dirty="0">
                <a:latin typeface="Calibri"/>
                <a:cs typeface="Calibri"/>
              </a:rPr>
              <a:t>At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program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compiled,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compiler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must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assign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addresses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item.</a:t>
            </a:r>
            <a:r>
              <a:rPr lang="en-US"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26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know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addresses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being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other programs?</a:t>
            </a:r>
            <a:endParaRPr sz="2400" dirty="0">
              <a:latin typeface="Calibri"/>
              <a:cs typeface="Calibri"/>
            </a:endParaRPr>
          </a:p>
          <a:p>
            <a:pPr marL="278481" marR="13448" indent="-267835" algn="just">
              <a:spcBef>
                <a:spcPts val="75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Instead,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compiler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assigns</a:t>
            </a:r>
            <a:r>
              <a:rPr sz="2400" spc="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virtual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addresses,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and </a:t>
            </a:r>
            <a:r>
              <a:rPr sz="2400" dirty="0">
                <a:latin typeface="Calibri"/>
                <a:cs typeface="Calibri"/>
              </a:rPr>
              <a:t>expects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loader/OS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provide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means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map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these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physical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addresses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75E572D5-A1C8-1070-4559-61A6EC28979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3</a:t>
            </a:fld>
            <a:endParaRPr spc="-22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In</a:t>
            </a:r>
            <a:r>
              <a:rPr spc="-9" dirty="0"/>
              <a:t> </a:t>
            </a:r>
            <a:r>
              <a:rPr dirty="0"/>
              <a:t>the</a:t>
            </a:r>
            <a:r>
              <a:rPr spc="-13" dirty="0"/>
              <a:t> </a:t>
            </a:r>
            <a:r>
              <a:rPr dirty="0"/>
              <a:t>olden</a:t>
            </a:r>
            <a:r>
              <a:rPr spc="-4" dirty="0"/>
              <a:t> </a:t>
            </a:r>
            <a:r>
              <a:rPr dirty="0"/>
              <a:t>days</a:t>
            </a:r>
            <a:r>
              <a:rPr spc="-13" dirty="0"/>
              <a:t> </a:t>
            </a:r>
            <a:r>
              <a:rPr spc="-53" dirty="0"/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386313"/>
            <a:ext cx="7476535" cy="4051448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177623" indent="-267835" algn="just"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loader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would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locate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unused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memory </a:t>
            </a:r>
            <a:r>
              <a:rPr sz="2400" dirty="0">
                <a:latin typeface="Calibri"/>
                <a:cs typeface="Calibri"/>
              </a:rPr>
              <a:t>addresses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load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program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there</a:t>
            </a:r>
            <a:endParaRPr sz="2400" dirty="0">
              <a:latin typeface="Calibri"/>
              <a:cs typeface="Calibri"/>
            </a:endParaRPr>
          </a:p>
          <a:p>
            <a:pPr marL="278481" marR="5043" indent="-267835" algn="just">
              <a:spcBef>
                <a:spcPts val="811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There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would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special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register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b="1" i="1" spc="-9" dirty="0">
                <a:solidFill>
                  <a:srgbClr val="FF0000"/>
                </a:solidFill>
                <a:latin typeface="Calibri"/>
                <a:cs typeface="Calibri"/>
              </a:rPr>
              <a:t>relocation </a:t>
            </a:r>
            <a:r>
              <a:rPr sz="2400" b="1" i="1" dirty="0">
                <a:solidFill>
                  <a:srgbClr val="FF0000"/>
                </a:solidFill>
                <a:latin typeface="Calibri"/>
                <a:cs typeface="Calibri"/>
              </a:rPr>
              <a:t>register</a:t>
            </a:r>
            <a:r>
              <a:rPr sz="2400" b="1" dirty="0">
                <a:latin typeface="Calibri"/>
                <a:cs typeface="Calibri"/>
              </a:rPr>
              <a:t>,</a:t>
            </a:r>
            <a:r>
              <a:rPr sz="2400" b="1" spc="62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71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all</a:t>
            </a:r>
            <a:r>
              <a:rPr sz="2400" b="1" spc="57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addresses</a:t>
            </a:r>
            <a:r>
              <a:rPr sz="2400" b="1" spc="66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71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program</a:t>
            </a:r>
            <a:r>
              <a:rPr sz="2400" b="1" spc="8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used</a:t>
            </a:r>
            <a:r>
              <a:rPr sz="2400" b="1" spc="71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would </a:t>
            </a:r>
            <a:r>
              <a:rPr sz="2400" b="1" dirty="0">
                <a:latin typeface="Calibri"/>
                <a:cs typeface="Calibri"/>
              </a:rPr>
              <a:t>be</a:t>
            </a:r>
            <a:r>
              <a:rPr sz="2400" b="1" spc="71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interpreted</a:t>
            </a:r>
            <a:r>
              <a:rPr sz="2400" b="1" spc="71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as</a:t>
            </a:r>
            <a:r>
              <a:rPr sz="2400" b="1" spc="71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addresses</a:t>
            </a:r>
            <a:r>
              <a:rPr sz="2400" b="1" spc="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relative</a:t>
            </a:r>
            <a:r>
              <a:rPr sz="2400" b="1" spc="71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66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base</a:t>
            </a:r>
            <a:r>
              <a:rPr sz="2400" b="1" spc="71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address </a:t>
            </a: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4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49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register</a:t>
            </a:r>
            <a:endParaRPr lang="en-US" sz="2400" b="1" spc="-9" dirty="0">
              <a:latin typeface="Calibri"/>
              <a:cs typeface="Calibri"/>
            </a:endParaRPr>
          </a:p>
          <a:p>
            <a:pPr marL="278481" marR="5043" indent="-267835" algn="just">
              <a:spcBef>
                <a:spcPts val="811"/>
              </a:spcBef>
              <a:buChar char="•"/>
              <a:tabLst>
                <a:tab pos="278481" algn="l"/>
              </a:tabLst>
            </a:pPr>
            <a:r>
              <a:rPr lang="en-US" sz="2400" spc="-9" dirty="0">
                <a:cs typeface="Calibri"/>
              </a:rPr>
              <a:t>So, if the program jumped to location 54, the jump would really be to 54 + contents of relocation register.</a:t>
            </a:r>
          </a:p>
          <a:p>
            <a:pPr marL="292100" marR="5043" algn="just">
              <a:spcBef>
                <a:spcPts val="811"/>
              </a:spcBef>
              <a:tabLst>
                <a:tab pos="2921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lang="en-US" sz="2400" spc="1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similar </a:t>
            </a:r>
            <a:r>
              <a:rPr sz="2400" dirty="0">
                <a:latin typeface="Calibri"/>
                <a:cs typeface="Calibri"/>
              </a:rPr>
              <a:t>thing,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perhaps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second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register,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would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happen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2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references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27D7BA07-1BD9-63F3-8FC0-E353A07C352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4</a:t>
            </a:fld>
            <a:endParaRPr spc="-22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7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In</a:t>
            </a:r>
            <a:r>
              <a:rPr spc="-18" dirty="0"/>
              <a:t> </a:t>
            </a:r>
            <a:r>
              <a:rPr dirty="0"/>
              <a:t>the</a:t>
            </a:r>
            <a:r>
              <a:rPr spc="-22" dirty="0"/>
              <a:t> </a:t>
            </a:r>
            <a:r>
              <a:rPr spc="-9" dirty="0"/>
              <a:t>less-</a:t>
            </a:r>
            <a:r>
              <a:rPr dirty="0"/>
              <a:t>olden</a:t>
            </a:r>
            <a:r>
              <a:rPr spc="-13" dirty="0"/>
              <a:t> </a:t>
            </a:r>
            <a:r>
              <a:rPr dirty="0"/>
              <a:t>days</a:t>
            </a:r>
            <a:r>
              <a:rPr spc="-26" dirty="0"/>
              <a:t> </a:t>
            </a:r>
            <a:r>
              <a:rPr spc="-22" dirty="0"/>
              <a:t>...</a:t>
            </a:r>
          </a:p>
        </p:txBody>
      </p:sp>
      <p:sp>
        <p:nvSpPr>
          <p:cNvPr id="3" name="object 3"/>
          <p:cNvSpPr/>
          <p:nvPr/>
        </p:nvSpPr>
        <p:spPr>
          <a:xfrm>
            <a:off x="5406888" y="2284340"/>
            <a:ext cx="765240" cy="326335"/>
          </a:xfrm>
          <a:custGeom>
            <a:avLst/>
            <a:gdLst/>
            <a:ahLst/>
            <a:cxnLst/>
            <a:rect l="l" t="t" r="r" b="b"/>
            <a:pathLst>
              <a:path w="793114" h="393700">
                <a:moveTo>
                  <a:pt x="792603" y="0"/>
                </a:moveTo>
                <a:lnTo>
                  <a:pt x="0" y="0"/>
                </a:lnTo>
                <a:lnTo>
                  <a:pt x="0" y="393700"/>
                </a:lnTo>
                <a:lnTo>
                  <a:pt x="792603" y="393700"/>
                </a:lnTo>
                <a:lnTo>
                  <a:pt x="79260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/>
          <p:nvPr/>
        </p:nvSpPr>
        <p:spPr>
          <a:xfrm>
            <a:off x="912091" y="1386312"/>
            <a:ext cx="7351376" cy="3664163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7360" marR="697043" indent="-266714" algn="just"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became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difficult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contiguous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segment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of 	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big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enough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hold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program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data.</a:t>
            </a:r>
            <a:endParaRPr sz="2400" dirty="0">
              <a:latin typeface="Calibri"/>
              <a:cs typeface="Calibri"/>
            </a:endParaRPr>
          </a:p>
          <a:p>
            <a:pPr marL="277360" marR="45386" indent="-266714" algn="just">
              <a:spcBef>
                <a:spcPts val="847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So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program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divided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pages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page 	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contiguously,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different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pages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available 	</a:t>
            </a:r>
            <a:r>
              <a:rPr sz="2400" dirty="0">
                <a:latin typeface="Calibri"/>
                <a:cs typeface="Calibri"/>
              </a:rPr>
              <a:t>spot,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either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disk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1116"/>
              </a:spcBef>
              <a:buFont typeface="Calibri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278481" indent="-267275"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virtual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addressing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scheme</a:t>
            </a:r>
            <a:endParaRPr sz="2400" dirty="0">
              <a:latin typeface="Calibri"/>
              <a:cs typeface="Calibri"/>
            </a:endParaRPr>
          </a:p>
          <a:p>
            <a:pPr marL="688975" marR="4483" indent="-249238" algn="just">
              <a:spcBef>
                <a:spcPts val="613"/>
              </a:spcBef>
            </a:pPr>
            <a:r>
              <a:rPr sz="2400" dirty="0">
                <a:latin typeface="Calibri"/>
                <a:cs typeface="Calibri"/>
              </a:rPr>
              <a:t>–</a:t>
            </a:r>
            <a:r>
              <a:rPr sz="2400" spc="43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 the program,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memory looks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like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contiguous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segment,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but data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scattered in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main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memory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perhaps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 </a:t>
            </a:r>
            <a:r>
              <a:rPr sz="2200" spc="-18" dirty="0">
                <a:latin typeface="Calibri"/>
                <a:cs typeface="Calibri"/>
              </a:rPr>
              <a:t>disk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A0BEC7AD-3040-F133-771B-EC09E4B652A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5</a:t>
            </a:fld>
            <a:endParaRPr spc="-2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7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Memory</a:t>
            </a:r>
            <a:r>
              <a:rPr spc="-66" dirty="0"/>
              <a:t> </a:t>
            </a:r>
            <a:r>
              <a:rPr spc="-9" dirty="0"/>
              <a:t>protection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2091" y="1386328"/>
            <a:ext cx="7463283" cy="2904981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328350" indent="-267835"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2400" dirty="0"/>
              <a:t>Each</a:t>
            </a:r>
            <a:r>
              <a:rPr sz="2400" spc="49" dirty="0"/>
              <a:t> </a:t>
            </a:r>
            <a:r>
              <a:rPr sz="2400" dirty="0"/>
              <a:t>program</a:t>
            </a:r>
            <a:r>
              <a:rPr sz="2400" spc="62" dirty="0"/>
              <a:t> </a:t>
            </a:r>
            <a:r>
              <a:rPr sz="2400" dirty="0"/>
              <a:t>“lives”</a:t>
            </a:r>
            <a:r>
              <a:rPr sz="2400" spc="44" dirty="0"/>
              <a:t> </a:t>
            </a:r>
            <a:r>
              <a:rPr sz="2400" dirty="0"/>
              <a:t>in</a:t>
            </a:r>
            <a:r>
              <a:rPr sz="2400" spc="53" dirty="0"/>
              <a:t> </a:t>
            </a:r>
            <a:r>
              <a:rPr sz="2400" dirty="0"/>
              <a:t>its</a:t>
            </a:r>
            <a:r>
              <a:rPr sz="2400" spc="49" dirty="0"/>
              <a:t> </a:t>
            </a:r>
            <a:r>
              <a:rPr sz="2400" dirty="0"/>
              <a:t>own</a:t>
            </a:r>
            <a:r>
              <a:rPr sz="2400" spc="53" dirty="0"/>
              <a:t> </a:t>
            </a:r>
            <a:r>
              <a:rPr sz="2400" dirty="0"/>
              <a:t>virtual</a:t>
            </a:r>
            <a:r>
              <a:rPr sz="2400" spc="40" dirty="0"/>
              <a:t> </a:t>
            </a:r>
            <a:r>
              <a:rPr sz="2400" dirty="0"/>
              <a:t>space,</a:t>
            </a:r>
            <a:r>
              <a:rPr sz="2400" spc="44" dirty="0"/>
              <a:t> </a:t>
            </a:r>
            <a:br>
              <a:rPr lang="en-US" sz="2400" spc="44" dirty="0"/>
            </a:br>
            <a:r>
              <a:rPr sz="2400" dirty="0"/>
              <a:t>called</a:t>
            </a:r>
            <a:r>
              <a:rPr sz="2400" spc="49" dirty="0"/>
              <a:t> </a:t>
            </a:r>
            <a:r>
              <a:rPr sz="2400" spc="-22" dirty="0"/>
              <a:t>its </a:t>
            </a:r>
            <a:r>
              <a:rPr sz="2400" spc="-9" dirty="0"/>
              <a:t>process</a:t>
            </a:r>
          </a:p>
          <a:p>
            <a:pPr marL="278481" marR="68920" indent="-267835">
              <a:spcBef>
                <a:spcPts val="874"/>
              </a:spcBef>
              <a:buChar char="•"/>
              <a:tabLst>
                <a:tab pos="278481" algn="l"/>
              </a:tabLst>
            </a:pPr>
            <a:r>
              <a:rPr sz="2400" dirty="0"/>
              <a:t>When</a:t>
            </a:r>
            <a:r>
              <a:rPr sz="2400" spc="62" dirty="0"/>
              <a:t> </a:t>
            </a:r>
            <a:r>
              <a:rPr sz="2400" dirty="0"/>
              <a:t>the</a:t>
            </a:r>
            <a:r>
              <a:rPr sz="2400" spc="62" dirty="0"/>
              <a:t> </a:t>
            </a:r>
            <a:r>
              <a:rPr sz="2400" dirty="0"/>
              <a:t>CPU</a:t>
            </a:r>
            <a:r>
              <a:rPr sz="2400" spc="62" dirty="0"/>
              <a:t> </a:t>
            </a:r>
            <a:r>
              <a:rPr sz="2400" dirty="0"/>
              <a:t>is</a:t>
            </a:r>
            <a:r>
              <a:rPr sz="2400" spc="53" dirty="0"/>
              <a:t> </a:t>
            </a:r>
            <a:r>
              <a:rPr sz="2400" dirty="0"/>
              <a:t>working</a:t>
            </a:r>
            <a:r>
              <a:rPr sz="2400" spc="53" dirty="0"/>
              <a:t> </a:t>
            </a:r>
            <a:r>
              <a:rPr sz="2400" dirty="0"/>
              <a:t>on</a:t>
            </a:r>
            <a:r>
              <a:rPr sz="2400" spc="62" dirty="0"/>
              <a:t> </a:t>
            </a:r>
            <a:r>
              <a:rPr sz="2400" dirty="0"/>
              <a:t>one</a:t>
            </a:r>
            <a:r>
              <a:rPr sz="2400" spc="62" dirty="0"/>
              <a:t> </a:t>
            </a:r>
            <a:r>
              <a:rPr sz="2400" dirty="0"/>
              <a:t>process,</a:t>
            </a:r>
            <a:r>
              <a:rPr sz="2400" spc="49" dirty="0"/>
              <a:t> </a:t>
            </a:r>
            <a:r>
              <a:rPr sz="2400" dirty="0"/>
              <a:t>others</a:t>
            </a:r>
            <a:r>
              <a:rPr sz="2400" spc="53" dirty="0"/>
              <a:t> </a:t>
            </a:r>
            <a:r>
              <a:rPr sz="2400" dirty="0"/>
              <a:t>may</a:t>
            </a:r>
            <a:r>
              <a:rPr sz="2400" spc="57" dirty="0"/>
              <a:t> </a:t>
            </a:r>
            <a:r>
              <a:rPr sz="2400" spc="-22" dirty="0"/>
              <a:t>be </a:t>
            </a:r>
            <a:r>
              <a:rPr sz="2400" dirty="0"/>
              <a:t>partially</a:t>
            </a:r>
            <a:r>
              <a:rPr sz="2400" spc="49" dirty="0"/>
              <a:t> </a:t>
            </a:r>
            <a:r>
              <a:rPr sz="2400" dirty="0"/>
              <a:t>completed</a:t>
            </a:r>
            <a:r>
              <a:rPr sz="2400" spc="57" dirty="0"/>
              <a:t> </a:t>
            </a:r>
            <a:r>
              <a:rPr sz="2400" dirty="0"/>
              <a:t>or</a:t>
            </a:r>
            <a:r>
              <a:rPr sz="2400" spc="44" dirty="0"/>
              <a:t> </a:t>
            </a:r>
            <a:r>
              <a:rPr sz="2400" dirty="0"/>
              <a:t>waiting</a:t>
            </a:r>
            <a:r>
              <a:rPr sz="2400" spc="49" dirty="0"/>
              <a:t> </a:t>
            </a:r>
            <a:r>
              <a:rPr sz="2400" dirty="0"/>
              <a:t>for</a:t>
            </a:r>
            <a:r>
              <a:rPr sz="2400" spc="44" dirty="0"/>
              <a:t> </a:t>
            </a:r>
            <a:r>
              <a:rPr sz="2400" spc="-9" dirty="0"/>
              <a:t>attention</a:t>
            </a:r>
          </a:p>
          <a:p>
            <a:pPr marL="278481" marR="4483" indent="-267835">
              <a:spcBef>
                <a:spcPts val="737"/>
              </a:spcBef>
              <a:buChar char="•"/>
              <a:tabLst>
                <a:tab pos="278481" algn="l"/>
              </a:tabLst>
            </a:pPr>
            <a:r>
              <a:rPr sz="2400" dirty="0"/>
              <a:t>The</a:t>
            </a:r>
            <a:r>
              <a:rPr sz="2400" spc="62" dirty="0"/>
              <a:t> </a:t>
            </a:r>
            <a:r>
              <a:rPr sz="2400" dirty="0"/>
              <a:t>CPU</a:t>
            </a:r>
            <a:r>
              <a:rPr sz="2400" spc="66" dirty="0"/>
              <a:t> </a:t>
            </a:r>
            <a:r>
              <a:rPr sz="2400" dirty="0"/>
              <a:t>is</a:t>
            </a:r>
            <a:r>
              <a:rPr sz="2400" spc="53" dirty="0"/>
              <a:t> </a:t>
            </a:r>
            <a:r>
              <a:rPr sz="2400" dirty="0"/>
              <a:t>time</a:t>
            </a:r>
            <a:r>
              <a:rPr sz="2400" spc="66" dirty="0"/>
              <a:t> </a:t>
            </a:r>
            <a:r>
              <a:rPr sz="2400" dirty="0"/>
              <a:t>shared</a:t>
            </a:r>
            <a:r>
              <a:rPr sz="2400" spc="57" dirty="0"/>
              <a:t> </a:t>
            </a:r>
            <a:r>
              <a:rPr sz="2400" dirty="0"/>
              <a:t>among</a:t>
            </a:r>
            <a:r>
              <a:rPr sz="2400" spc="53" dirty="0"/>
              <a:t> </a:t>
            </a:r>
            <a:r>
              <a:rPr sz="2400" dirty="0"/>
              <a:t>the</a:t>
            </a:r>
            <a:r>
              <a:rPr sz="2400" spc="66" dirty="0"/>
              <a:t> </a:t>
            </a:r>
            <a:r>
              <a:rPr sz="2400" dirty="0"/>
              <a:t>processes,</a:t>
            </a:r>
            <a:r>
              <a:rPr sz="2400" spc="49" dirty="0"/>
              <a:t> </a:t>
            </a:r>
            <a:r>
              <a:rPr sz="2400" dirty="0"/>
              <a:t>working</a:t>
            </a:r>
            <a:r>
              <a:rPr sz="2400" spc="57" dirty="0"/>
              <a:t> </a:t>
            </a:r>
            <a:r>
              <a:rPr sz="2400" spc="-22" dirty="0"/>
              <a:t>on </a:t>
            </a:r>
            <a:r>
              <a:rPr sz="2400" dirty="0"/>
              <a:t>each</a:t>
            </a:r>
            <a:r>
              <a:rPr sz="2400" spc="35" dirty="0"/>
              <a:t> </a:t>
            </a:r>
            <a:r>
              <a:rPr sz="2400" dirty="0"/>
              <a:t>in</a:t>
            </a:r>
            <a:r>
              <a:rPr sz="2400" spc="35" dirty="0"/>
              <a:t> </a:t>
            </a:r>
            <a:r>
              <a:rPr sz="2400" spc="-18" dirty="0"/>
              <a:t>turn</a:t>
            </a:r>
          </a:p>
          <a:p>
            <a:pPr marL="278481" indent="-267275">
              <a:spcBef>
                <a:spcPts val="507"/>
              </a:spcBef>
              <a:buChar char="•"/>
              <a:tabLst>
                <a:tab pos="278481" algn="l"/>
              </a:tabLst>
            </a:pPr>
            <a:r>
              <a:rPr sz="2400" dirty="0"/>
              <a:t>And</a:t>
            </a:r>
            <a:r>
              <a:rPr sz="2400" spc="53" dirty="0"/>
              <a:t> </a:t>
            </a:r>
            <a:r>
              <a:rPr sz="2400" dirty="0"/>
              <a:t>main</a:t>
            </a:r>
            <a:r>
              <a:rPr sz="2400" spc="57" dirty="0"/>
              <a:t> </a:t>
            </a:r>
            <a:r>
              <a:rPr sz="2400" dirty="0"/>
              <a:t>memory</a:t>
            </a:r>
            <a:r>
              <a:rPr sz="2400" spc="53" dirty="0"/>
              <a:t> </a:t>
            </a:r>
            <a:r>
              <a:rPr sz="2400" dirty="0"/>
              <a:t>is</a:t>
            </a:r>
            <a:r>
              <a:rPr sz="2400" spc="44" dirty="0"/>
              <a:t> </a:t>
            </a:r>
            <a:r>
              <a:rPr sz="2400" dirty="0"/>
              <a:t>also</a:t>
            </a:r>
            <a:r>
              <a:rPr sz="2400" spc="53" dirty="0"/>
              <a:t> </a:t>
            </a:r>
            <a:r>
              <a:rPr sz="2400" dirty="0"/>
              <a:t>shared</a:t>
            </a:r>
            <a:r>
              <a:rPr sz="2400" spc="57" dirty="0"/>
              <a:t> </a:t>
            </a:r>
            <a:r>
              <a:rPr sz="2400" dirty="0"/>
              <a:t>among</a:t>
            </a:r>
            <a:r>
              <a:rPr sz="2400" spc="44" dirty="0"/>
              <a:t> </a:t>
            </a:r>
            <a:r>
              <a:rPr sz="2400" spc="-9" dirty="0"/>
              <a:t>processes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5C70B7CD-FDD5-689E-01FF-8403EBCD01F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6</a:t>
            </a:fld>
            <a:endParaRPr spc="-2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7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But</a:t>
            </a:r>
            <a:r>
              <a:rPr spc="-26" dirty="0"/>
              <a:t> </a:t>
            </a:r>
            <a:r>
              <a:rPr dirty="0"/>
              <a:t>we</a:t>
            </a:r>
            <a:r>
              <a:rPr spc="-35" dirty="0"/>
              <a:t> </a:t>
            </a:r>
            <a:r>
              <a:rPr dirty="0"/>
              <a:t>know</a:t>
            </a:r>
            <a:r>
              <a:rPr spc="-26" dirty="0"/>
              <a:t> </a:t>
            </a:r>
            <a:r>
              <a:rPr dirty="0"/>
              <a:t>all</a:t>
            </a:r>
            <a:r>
              <a:rPr spc="-26" dirty="0"/>
              <a:t> </a:t>
            </a:r>
            <a:r>
              <a:rPr dirty="0"/>
              <a:t>about</a:t>
            </a:r>
            <a:r>
              <a:rPr spc="-26" dirty="0"/>
              <a:t> </a:t>
            </a:r>
            <a:r>
              <a:rPr spc="-9" dirty="0"/>
              <a:t>this!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2091" y="1386328"/>
            <a:ext cx="7351376" cy="2815212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178743" indent="-267835" algn="just"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2400" dirty="0"/>
              <a:t>Already</a:t>
            </a:r>
            <a:r>
              <a:rPr sz="2400" spc="44" dirty="0"/>
              <a:t> </a:t>
            </a:r>
            <a:r>
              <a:rPr sz="2400" dirty="0"/>
              <a:t>know</a:t>
            </a:r>
            <a:r>
              <a:rPr sz="2400" spc="49" dirty="0"/>
              <a:t> </a:t>
            </a:r>
            <a:r>
              <a:rPr sz="2400" dirty="0"/>
              <a:t>that</a:t>
            </a:r>
            <a:r>
              <a:rPr sz="2400" spc="35" dirty="0"/>
              <a:t> </a:t>
            </a:r>
            <a:r>
              <a:rPr sz="2400" dirty="0"/>
              <a:t>a</a:t>
            </a:r>
            <a:r>
              <a:rPr sz="2400" spc="44" dirty="0"/>
              <a:t> </a:t>
            </a:r>
            <a:r>
              <a:rPr sz="2400" dirty="0"/>
              <a:t>program</a:t>
            </a:r>
            <a:r>
              <a:rPr sz="2400" spc="53" dirty="0"/>
              <a:t> </a:t>
            </a:r>
            <a:r>
              <a:rPr sz="2400" dirty="0"/>
              <a:t>and</a:t>
            </a:r>
            <a:r>
              <a:rPr sz="2400" spc="49" dirty="0"/>
              <a:t> </a:t>
            </a:r>
            <a:r>
              <a:rPr sz="2400" dirty="0"/>
              <a:t>data</a:t>
            </a:r>
            <a:r>
              <a:rPr sz="2400" spc="44" dirty="0"/>
              <a:t> </a:t>
            </a:r>
            <a:r>
              <a:rPr sz="2400" dirty="0"/>
              <a:t>can</a:t>
            </a:r>
            <a:r>
              <a:rPr sz="2400" spc="53" dirty="0"/>
              <a:t> </a:t>
            </a:r>
            <a:r>
              <a:rPr sz="2400" dirty="0"/>
              <a:t>be</a:t>
            </a:r>
            <a:r>
              <a:rPr sz="2400" spc="49" dirty="0"/>
              <a:t> </a:t>
            </a:r>
            <a:r>
              <a:rPr sz="2400" spc="-9" dirty="0"/>
              <a:t>scattered </a:t>
            </a:r>
            <a:r>
              <a:rPr sz="2400" dirty="0"/>
              <a:t>between</a:t>
            </a:r>
            <a:r>
              <a:rPr sz="2400" spc="53" dirty="0"/>
              <a:t> </a:t>
            </a:r>
            <a:r>
              <a:rPr sz="2400" dirty="0"/>
              <a:t>cache</a:t>
            </a:r>
            <a:r>
              <a:rPr sz="2400" spc="57" dirty="0"/>
              <a:t> </a:t>
            </a:r>
            <a:r>
              <a:rPr sz="2400" dirty="0"/>
              <a:t>memory</a:t>
            </a:r>
            <a:r>
              <a:rPr sz="2400" spc="49" dirty="0"/>
              <a:t> </a:t>
            </a:r>
            <a:r>
              <a:rPr sz="2400" dirty="0"/>
              <a:t>and</a:t>
            </a:r>
            <a:r>
              <a:rPr sz="2400" spc="57" dirty="0"/>
              <a:t> </a:t>
            </a:r>
            <a:r>
              <a:rPr sz="2400" dirty="0"/>
              <a:t>main</a:t>
            </a:r>
            <a:r>
              <a:rPr sz="2400" spc="53" dirty="0"/>
              <a:t> </a:t>
            </a:r>
            <a:r>
              <a:rPr sz="2400" spc="-9" dirty="0"/>
              <a:t>memory</a:t>
            </a:r>
          </a:p>
          <a:p>
            <a:pPr marL="278481" marR="4483" indent="-267835" algn="just">
              <a:spcBef>
                <a:spcPts val="847"/>
              </a:spcBef>
              <a:buChar char="•"/>
              <a:tabLst>
                <a:tab pos="278481" algn="l"/>
              </a:tabLst>
            </a:pPr>
            <a:r>
              <a:rPr sz="2400" dirty="0"/>
              <a:t>Now</a:t>
            </a:r>
            <a:r>
              <a:rPr sz="2400" spc="44" dirty="0"/>
              <a:t> </a:t>
            </a:r>
            <a:r>
              <a:rPr sz="2400" dirty="0"/>
              <a:t>add</a:t>
            </a:r>
            <a:r>
              <a:rPr sz="2400" spc="49" dirty="0"/>
              <a:t> </a:t>
            </a:r>
            <a:r>
              <a:rPr sz="2400" dirty="0"/>
              <a:t>the</a:t>
            </a:r>
            <a:r>
              <a:rPr sz="2400" spc="49" dirty="0"/>
              <a:t> </a:t>
            </a:r>
            <a:r>
              <a:rPr sz="2400" dirty="0"/>
              <a:t>reality</a:t>
            </a:r>
            <a:r>
              <a:rPr sz="2400" spc="40" dirty="0"/>
              <a:t> </a:t>
            </a:r>
            <a:r>
              <a:rPr sz="2400" dirty="0"/>
              <a:t>that</a:t>
            </a:r>
            <a:r>
              <a:rPr sz="2400" spc="35" dirty="0"/>
              <a:t> </a:t>
            </a:r>
            <a:r>
              <a:rPr sz="2400" dirty="0"/>
              <a:t>its</a:t>
            </a:r>
            <a:r>
              <a:rPr sz="2400" spc="35" dirty="0"/>
              <a:t> </a:t>
            </a:r>
            <a:r>
              <a:rPr sz="2400" dirty="0"/>
              <a:t>location</a:t>
            </a:r>
            <a:r>
              <a:rPr sz="2400" spc="49" dirty="0"/>
              <a:t> </a:t>
            </a:r>
            <a:r>
              <a:rPr sz="2400" dirty="0"/>
              <a:t>in</a:t>
            </a:r>
            <a:r>
              <a:rPr sz="2400" spc="49" dirty="0"/>
              <a:t> </a:t>
            </a:r>
            <a:r>
              <a:rPr sz="2400" dirty="0"/>
              <a:t>main</a:t>
            </a:r>
            <a:r>
              <a:rPr sz="2400" spc="49" dirty="0"/>
              <a:t> </a:t>
            </a:r>
            <a:r>
              <a:rPr sz="2400" dirty="0"/>
              <a:t>memory</a:t>
            </a:r>
            <a:r>
              <a:rPr sz="2400" spc="40" dirty="0"/>
              <a:t> </a:t>
            </a:r>
            <a:r>
              <a:rPr sz="2400" spc="-22" dirty="0"/>
              <a:t>is </a:t>
            </a:r>
            <a:r>
              <a:rPr sz="2400" dirty="0"/>
              <a:t>also</a:t>
            </a:r>
            <a:r>
              <a:rPr sz="2400" spc="53" dirty="0"/>
              <a:t> </a:t>
            </a:r>
            <a:r>
              <a:rPr sz="2400" dirty="0"/>
              <a:t>determined</a:t>
            </a:r>
            <a:r>
              <a:rPr sz="2400" spc="57" dirty="0"/>
              <a:t> </a:t>
            </a:r>
            <a:r>
              <a:rPr sz="2400" dirty="0"/>
              <a:t>in</a:t>
            </a:r>
            <a:r>
              <a:rPr sz="2400" spc="57" dirty="0"/>
              <a:t> </a:t>
            </a:r>
            <a:r>
              <a:rPr sz="2400" dirty="0"/>
              <a:t>a</a:t>
            </a:r>
            <a:r>
              <a:rPr sz="2400" spc="53" dirty="0"/>
              <a:t> </a:t>
            </a:r>
            <a:r>
              <a:rPr sz="2400" dirty="0"/>
              <a:t>scattered</a:t>
            </a:r>
            <a:r>
              <a:rPr sz="2400" spc="57" dirty="0"/>
              <a:t> </a:t>
            </a:r>
            <a:r>
              <a:rPr sz="2400" dirty="0"/>
              <a:t>way,</a:t>
            </a:r>
            <a:r>
              <a:rPr sz="2400" spc="44" dirty="0"/>
              <a:t> </a:t>
            </a:r>
            <a:r>
              <a:rPr sz="2400" dirty="0"/>
              <a:t>and</a:t>
            </a:r>
            <a:r>
              <a:rPr sz="2400" spc="57" dirty="0"/>
              <a:t> </a:t>
            </a:r>
            <a:r>
              <a:rPr sz="2400" dirty="0"/>
              <a:t>some</a:t>
            </a:r>
            <a:r>
              <a:rPr sz="2400" spc="57" dirty="0"/>
              <a:t> </a:t>
            </a:r>
            <a:r>
              <a:rPr sz="2400" dirty="0"/>
              <a:t>pages</a:t>
            </a:r>
            <a:r>
              <a:rPr sz="2400" spc="49" dirty="0"/>
              <a:t> </a:t>
            </a:r>
            <a:r>
              <a:rPr sz="2400" spc="-22" dirty="0"/>
              <a:t>may </a:t>
            </a:r>
            <a:r>
              <a:rPr sz="2400" dirty="0"/>
              <a:t>also</a:t>
            </a:r>
            <a:r>
              <a:rPr sz="2400" spc="44" dirty="0"/>
              <a:t> </a:t>
            </a:r>
            <a:r>
              <a:rPr sz="2400" dirty="0"/>
              <a:t>be</a:t>
            </a:r>
            <a:r>
              <a:rPr sz="2400" spc="53" dirty="0"/>
              <a:t> </a:t>
            </a:r>
            <a:r>
              <a:rPr sz="2400" dirty="0"/>
              <a:t>located</a:t>
            </a:r>
            <a:r>
              <a:rPr sz="2400" spc="49" dirty="0"/>
              <a:t> </a:t>
            </a:r>
            <a:r>
              <a:rPr sz="2400" dirty="0"/>
              <a:t>on</a:t>
            </a:r>
            <a:r>
              <a:rPr sz="2400" spc="53" dirty="0"/>
              <a:t> </a:t>
            </a:r>
            <a:r>
              <a:rPr sz="2400" spc="-18" dirty="0"/>
              <a:t>disk</a:t>
            </a:r>
          </a:p>
          <a:p>
            <a:pPr marL="278481" indent="-267275" algn="just">
              <a:spcBef>
                <a:spcPts val="635"/>
              </a:spcBef>
              <a:buFont typeface="Calibri"/>
              <a:buChar char="•"/>
              <a:tabLst>
                <a:tab pos="278481" algn="l"/>
              </a:tabLst>
            </a:pPr>
            <a:r>
              <a:rPr sz="2400" b="1" dirty="0">
                <a:latin typeface="Calibri"/>
                <a:cs typeface="Calibri"/>
              </a:rPr>
              <a:t>So</a:t>
            </a:r>
            <a:r>
              <a:rPr lang="en-US" sz="2400" b="1" dirty="0">
                <a:latin typeface="Calibri"/>
                <a:cs typeface="Calibri"/>
              </a:rPr>
              <a:t>,</a:t>
            </a:r>
            <a:r>
              <a:rPr sz="2400" b="1" spc="4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each</a:t>
            </a:r>
            <a:r>
              <a:rPr sz="2400" b="1" spc="4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page</a:t>
            </a:r>
            <a:r>
              <a:rPr sz="2400" b="1" spc="5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has</a:t>
            </a:r>
            <a:r>
              <a:rPr sz="2400" b="1" spc="4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its</a:t>
            </a:r>
            <a:r>
              <a:rPr sz="2400" b="1" spc="4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own</a:t>
            </a:r>
            <a:r>
              <a:rPr sz="2400" b="1" spc="49" dirty="0">
                <a:latin typeface="Calibri"/>
                <a:cs typeface="Calibri"/>
              </a:rPr>
              <a:t> </a:t>
            </a:r>
            <a:r>
              <a:rPr lang="en-US" sz="2400" b="1" spc="49" dirty="0">
                <a:latin typeface="Calibri"/>
                <a:cs typeface="Calibri"/>
              </a:rPr>
              <a:t>unique </a:t>
            </a:r>
            <a:r>
              <a:rPr lang="en-US" sz="2400" b="1" dirty="0">
                <a:latin typeface="Calibri"/>
                <a:cs typeface="Calibri"/>
              </a:rPr>
              <a:t>virtual address or </a:t>
            </a:r>
            <a:r>
              <a:rPr lang="en-US" sz="2400" b="1" u="sng" dirty="0">
                <a:latin typeface="Calibri"/>
                <a:cs typeface="Calibri"/>
              </a:rPr>
              <a:t>virtual page number</a:t>
            </a:r>
            <a:endParaRPr sz="2400" b="1" u="sng" spc="-9" dirty="0">
              <a:latin typeface="Calibri"/>
              <a:cs typeface="Calibri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E0CEC4B9-AFF8-B579-8108-9A4F29D3CB5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7</a:t>
            </a:fld>
            <a:endParaRPr spc="-2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Virtual </a:t>
            </a:r>
            <a:r>
              <a:rPr spc="-22" dirty="0">
                <a:latin typeface="Arial MT"/>
                <a:cs typeface="Arial MT"/>
              </a:rPr>
              <a:t>Memory</a:t>
            </a:r>
            <a:r>
              <a:rPr spc="-322" dirty="0">
                <a:latin typeface="Arial MT"/>
                <a:cs typeface="Arial MT"/>
              </a:rPr>
              <a:t> </a:t>
            </a:r>
            <a:r>
              <a:rPr sz="1853" dirty="0">
                <a:latin typeface="Arial MT"/>
                <a:cs typeface="Arial MT"/>
              </a:rPr>
              <a:t>(Figure</a:t>
            </a:r>
            <a:r>
              <a:rPr sz="1853" spc="13" dirty="0">
                <a:latin typeface="Arial MT"/>
                <a:cs typeface="Arial MT"/>
              </a:rPr>
              <a:t> </a:t>
            </a:r>
            <a:r>
              <a:rPr sz="1853" spc="-9" dirty="0">
                <a:latin typeface="Arial MT"/>
                <a:cs typeface="Arial MT"/>
              </a:rPr>
              <a:t>B.19)</a:t>
            </a:r>
            <a:endParaRPr sz="1853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1978" y="1395539"/>
            <a:ext cx="6940043" cy="5164287"/>
          </a:xfrm>
          <a:prstGeom prst="rect">
            <a:avLst/>
          </a:prstGeom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BEBCE08D-5EA9-B474-9044-59B87709B24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8</a:t>
            </a:fld>
            <a:endParaRPr spc="-2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8451" y="664010"/>
            <a:ext cx="3177988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1935919" algn="l"/>
              </a:tabLst>
            </a:pPr>
            <a:r>
              <a:rPr spc="-9" dirty="0"/>
              <a:t>Parameters</a:t>
            </a:r>
            <a:r>
              <a:rPr dirty="0"/>
              <a:t>	</a:t>
            </a:r>
            <a:r>
              <a:rPr sz="1853" dirty="0"/>
              <a:t>(Figure</a:t>
            </a:r>
            <a:r>
              <a:rPr sz="1853" spc="35" dirty="0"/>
              <a:t> </a:t>
            </a:r>
            <a:r>
              <a:rPr sz="1853" spc="-9" dirty="0"/>
              <a:t>B.20)</a:t>
            </a:r>
            <a:endParaRPr sz="1853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625975"/>
              </p:ext>
            </p:extLst>
          </p:nvPr>
        </p:nvGraphicFramePr>
        <p:xfrm>
          <a:off x="1003308" y="1816668"/>
          <a:ext cx="7419413" cy="43481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3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3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129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Parameter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AE00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First-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level</a:t>
                      </a:r>
                      <a:r>
                        <a:rPr sz="18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cache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AE00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Virtual</a:t>
                      </a:r>
                      <a:r>
                        <a:rPr sz="18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memory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AE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129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Block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(page)</a:t>
                      </a:r>
                      <a:r>
                        <a:rPr sz="18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size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16-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128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bytes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4096-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65,536</a:t>
                      </a:r>
                      <a:r>
                        <a:rPr sz="18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bytes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129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Hit 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time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1-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clock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cycles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100-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200</a:t>
                      </a:r>
                      <a:r>
                        <a:rPr sz="18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cc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0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129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Miss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penalty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646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8-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200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cc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spc="-2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00" b="1" spc="-30" baseline="25641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-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00" b="1" baseline="25641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800" b="1" spc="209" baseline="2564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cc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064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129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(access</a:t>
                      </a:r>
                      <a:r>
                        <a:rPr sz="18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time)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206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(6-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160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cc)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20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(.8-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8)*10</a:t>
                      </a:r>
                      <a:r>
                        <a:rPr sz="1800" b="1" baseline="25641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00" b="1" spc="150" baseline="2564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cc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20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129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(transfer</a:t>
                      </a:r>
                      <a:r>
                        <a:rPr sz="18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time)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(2-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40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cc)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(.2-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2)*10</a:t>
                      </a:r>
                      <a:r>
                        <a:rPr sz="1800" b="1" baseline="25641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00" b="1" spc="150" baseline="2564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cc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40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129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Miss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rate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9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0.1-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10%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0.00001-0.001%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9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8809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Address</a:t>
                      </a:r>
                      <a:r>
                        <a:rPr sz="18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mapping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marR="421005">
                        <a:lnSpc>
                          <a:spcPct val="90000"/>
                        </a:lnSpc>
                        <a:spcBef>
                          <a:spcPts val="310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25-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45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bit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physical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address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14-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20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bit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cache</a:t>
                      </a:r>
                      <a:r>
                        <a:rPr sz="18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address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47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marR="421005">
                        <a:lnSpc>
                          <a:spcPct val="90000"/>
                        </a:lnSpc>
                        <a:spcBef>
                          <a:spcPts val="310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32-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64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bit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virtual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address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25-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45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bit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physical</a:t>
                      </a:r>
                      <a:r>
                        <a:rPr sz="18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address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34738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3">
            <a:extLst>
              <a:ext uri="{FF2B5EF4-FFF2-40B4-BE49-F238E27FC236}">
                <a16:creationId xmlns:a16="http://schemas.microsoft.com/office/drawing/2014/main" id="{D0CA8BBB-46CE-2BAC-5E70-1325342A411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9</a:t>
            </a:fld>
            <a:endParaRPr spc="-22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2B69B4-2417-2A6A-510E-CD4714379AD4}"/>
              </a:ext>
            </a:extLst>
          </p:cNvPr>
          <p:cNvSpPr txBox="1"/>
          <p:nvPr/>
        </p:nvSpPr>
        <p:spPr>
          <a:xfrm>
            <a:off x="5062332" y="1272209"/>
            <a:ext cx="1749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(2011 view)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Cache</a:t>
            </a:r>
            <a:r>
              <a:rPr spc="-57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vs.</a:t>
            </a:r>
            <a:r>
              <a:rPr spc="-49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virtual</a:t>
            </a:r>
            <a:r>
              <a:rPr spc="-44" dirty="0">
                <a:latin typeface="Arial MT"/>
                <a:cs typeface="Arial MT"/>
              </a:rPr>
              <a:t> </a:t>
            </a:r>
            <a:r>
              <a:rPr spc="-9" dirty="0">
                <a:latin typeface="Arial MT"/>
                <a:cs typeface="Arial MT"/>
              </a:rPr>
              <a:t>memory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174835"/>
              </p:ext>
            </p:extLst>
          </p:nvPr>
        </p:nvGraphicFramePr>
        <p:xfrm>
          <a:off x="920073" y="1911793"/>
          <a:ext cx="7134786" cy="37411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7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5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Cache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43143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AE00"/>
                    </a:solidFill>
                  </a:tcPr>
                </a:tc>
                <a:tc>
                  <a:txBody>
                    <a:bodyPr/>
                    <a:lstStyle/>
                    <a:p>
                      <a:pPr marL="114046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Virtual</a:t>
                      </a:r>
                      <a:r>
                        <a:rPr sz="18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memory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314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AE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041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75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Cache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miss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handled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by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hardware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196663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75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Page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faults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handled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by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OS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96663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9162">
                <a:tc>
                  <a:txBody>
                    <a:bodyPr/>
                    <a:lstStyle/>
                    <a:p>
                      <a:pPr marL="96520" marR="544195">
                        <a:lnSpc>
                          <a:spcPts val="209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Cache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size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fixed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particular machine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106456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marR="681355">
                        <a:lnSpc>
                          <a:spcPts val="2090"/>
                        </a:lnSpc>
                        <a:spcBef>
                          <a:spcPts val="95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Virtual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memory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size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fixed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a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particular</a:t>
                      </a:r>
                      <a:r>
                        <a:rPr sz="18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program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10645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22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Fundamental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unit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block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119903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6520" marR="259715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Fundamental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unit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br>
                        <a:rPr lang="en-US" sz="1800" spc="-20" dirty="0">
                          <a:latin typeface="Arial MT"/>
                          <a:cs typeface="Arial MT"/>
                        </a:rPr>
                      </a:br>
                      <a:r>
                        <a:rPr sz="1800" spc="-10" dirty="0">
                          <a:latin typeface="Arial MT"/>
                          <a:cs typeface="Arial MT"/>
                        </a:rPr>
                        <a:t>fixed-length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page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br>
                        <a:rPr lang="en-US" sz="1800" spc="-20" dirty="0">
                          <a:latin typeface="Arial MT"/>
                          <a:cs typeface="Arial MT"/>
                        </a:rPr>
                      </a:br>
                      <a:r>
                        <a:rPr sz="1800" spc="-10" dirty="0">
                          <a:latin typeface="Arial MT"/>
                          <a:cs typeface="Arial MT"/>
                        </a:rPr>
                        <a:t>variable-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length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segment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0256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112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664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cache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US" sz="1800" spc="-10" dirty="0">
                          <a:latin typeface="Arial MT"/>
                          <a:cs typeface="Arial MT"/>
                        </a:rPr>
                        <a:t>miss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186577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1664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page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fault</a:t>
                      </a:r>
                      <a:r>
                        <a:rPr lang="en-US"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US" sz="1800" i="1" spc="-10" dirty="0">
                          <a:latin typeface="Arial MT"/>
                          <a:cs typeface="Arial MT"/>
                        </a:rPr>
                        <a:t>(or address fault)</a:t>
                      </a:r>
                      <a:endParaRPr sz="1800" i="1" dirty="0">
                        <a:latin typeface="Arial MT"/>
                        <a:cs typeface="Arial MT"/>
                      </a:endParaRPr>
                    </a:p>
                  </a:txBody>
                  <a:tcPr marL="0" marR="0" marT="186577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3">
            <a:extLst>
              <a:ext uri="{FF2B5EF4-FFF2-40B4-BE49-F238E27FC236}">
                <a16:creationId xmlns:a16="http://schemas.microsoft.com/office/drawing/2014/main" id="{7E02A03E-81CE-B3F2-64BD-A93B0ED66AD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10</a:t>
            </a:fld>
            <a:endParaRPr spc="-2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2090" y="668848"/>
            <a:ext cx="6403109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Old</a:t>
            </a:r>
            <a:r>
              <a:rPr spc="-35" dirty="0"/>
              <a:t> </a:t>
            </a:r>
            <a:r>
              <a:rPr dirty="0"/>
              <a:t>Protection</a:t>
            </a:r>
            <a:r>
              <a:rPr spc="-35" dirty="0"/>
              <a:t> </a:t>
            </a:r>
            <a:r>
              <a:rPr dirty="0"/>
              <a:t>Mode:</a:t>
            </a:r>
            <a:r>
              <a:rPr spc="-31" dirty="0"/>
              <a:t> </a:t>
            </a:r>
            <a:r>
              <a:rPr dirty="0"/>
              <a:t>Base</a:t>
            </a:r>
            <a:r>
              <a:rPr spc="-49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9" dirty="0"/>
              <a:t>Bound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31551" y="1252817"/>
            <a:ext cx="7431916" cy="2156699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278481" indent="-267275">
              <a:spcBef>
                <a:spcPts val="618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User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processes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protected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other</a:t>
            </a:r>
            <a:endParaRPr sz="2400" dirty="0">
              <a:latin typeface="Calibri"/>
              <a:cs typeface="Calibri"/>
            </a:endParaRPr>
          </a:p>
          <a:p>
            <a:pPr marL="278481" marR="115427" indent="-267835">
              <a:spcBef>
                <a:spcPts val="772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Two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registers,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base</a:t>
            </a:r>
            <a:r>
              <a:rPr sz="2400" i="1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bound</a:t>
            </a:r>
            <a:r>
              <a:rPr sz="2400" i="1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whether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virtual </a:t>
            </a:r>
            <a:r>
              <a:rPr sz="2400" dirty="0">
                <a:latin typeface="Calibri"/>
                <a:cs typeface="Calibri"/>
              </a:rPr>
              <a:t>address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belongs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(Built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Cray-</a:t>
            </a:r>
            <a:r>
              <a:rPr sz="2400" spc="-22" dirty="0">
                <a:latin typeface="Calibri"/>
                <a:cs typeface="Calibri"/>
              </a:rPr>
              <a:t>1)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485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not,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protection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violation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exception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raised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Users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cannot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bound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registers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33197" y="3851462"/>
            <a:ext cx="2034579" cy="1355539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32A41611-79EE-D4D3-9CCC-0CAB9F0A2B89}"/>
              </a:ext>
            </a:extLst>
          </p:cNvPr>
          <p:cNvGrpSpPr/>
          <p:nvPr/>
        </p:nvGrpSpPr>
        <p:grpSpPr>
          <a:xfrm>
            <a:off x="831551" y="3801482"/>
            <a:ext cx="5284985" cy="2498401"/>
            <a:chOff x="831551" y="3801482"/>
            <a:chExt cx="5284985" cy="2498401"/>
          </a:xfrm>
        </p:grpSpPr>
        <p:grpSp>
          <p:nvGrpSpPr>
            <p:cNvPr id="5" name="object 5"/>
            <p:cNvGrpSpPr/>
            <p:nvPr/>
          </p:nvGrpSpPr>
          <p:grpSpPr>
            <a:xfrm>
              <a:off x="2540179" y="3858894"/>
              <a:ext cx="1007969" cy="1453963"/>
              <a:chOff x="2726469" y="4373412"/>
              <a:chExt cx="1142365" cy="1647825"/>
            </a:xfrm>
          </p:grpSpPr>
          <p:sp>
            <p:nvSpPr>
              <p:cNvPr id="6" name="object 6"/>
              <p:cNvSpPr/>
              <p:nvPr/>
            </p:nvSpPr>
            <p:spPr>
              <a:xfrm>
                <a:off x="2741630" y="4388572"/>
                <a:ext cx="1111885" cy="1617345"/>
              </a:xfrm>
              <a:custGeom>
                <a:avLst/>
                <a:gdLst/>
                <a:ahLst/>
                <a:cxnLst/>
                <a:rect l="l" t="t" r="r" b="b"/>
                <a:pathLst>
                  <a:path w="1111885" h="1617345">
                    <a:moveTo>
                      <a:pt x="1111778" y="0"/>
                    </a:moveTo>
                    <a:lnTo>
                      <a:pt x="0" y="0"/>
                    </a:lnTo>
                    <a:lnTo>
                      <a:pt x="0" y="1617134"/>
                    </a:lnTo>
                    <a:lnTo>
                      <a:pt x="1111778" y="1617134"/>
                    </a:lnTo>
                    <a:lnTo>
                      <a:pt x="1111778" y="0"/>
                    </a:lnTo>
                    <a:close/>
                  </a:path>
                </a:pathLst>
              </a:custGeom>
              <a:solidFill>
                <a:srgbClr val="CECECE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2741630" y="4388572"/>
                <a:ext cx="1111885" cy="1617345"/>
              </a:xfrm>
              <a:custGeom>
                <a:avLst/>
                <a:gdLst/>
                <a:ahLst/>
                <a:cxnLst/>
                <a:rect l="l" t="t" r="r" b="b"/>
                <a:pathLst>
                  <a:path w="1111885" h="1617345">
                    <a:moveTo>
                      <a:pt x="0" y="0"/>
                    </a:moveTo>
                    <a:lnTo>
                      <a:pt x="1111779" y="0"/>
                    </a:lnTo>
                    <a:lnTo>
                      <a:pt x="1111779" y="1617133"/>
                    </a:lnTo>
                    <a:lnTo>
                      <a:pt x="0" y="1617133"/>
                    </a:lnTo>
                    <a:lnTo>
                      <a:pt x="0" y="0"/>
                    </a:lnTo>
                    <a:close/>
                  </a:path>
                </a:pathLst>
              </a:custGeom>
              <a:ln w="3032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8" name="object 8"/>
            <p:cNvSpPr txBox="1"/>
            <p:nvPr/>
          </p:nvSpPr>
          <p:spPr>
            <a:xfrm>
              <a:off x="1996271" y="5156947"/>
              <a:ext cx="401731" cy="21508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324" b="1" spc="-18" dirty="0">
                  <a:latin typeface="Arial"/>
                  <a:cs typeface="Arial"/>
                </a:rPr>
                <a:t>base</a:t>
              </a:r>
              <a:endParaRPr sz="1324">
                <a:latin typeface="Arial"/>
                <a:cs typeface="Arial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831551" y="3801482"/>
              <a:ext cx="1576107" cy="866293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047806">
                <a:spcBef>
                  <a:spcPts val="88"/>
                </a:spcBef>
              </a:pPr>
              <a:r>
                <a:rPr sz="1324" b="1" spc="-9" dirty="0">
                  <a:latin typeface="Arial"/>
                  <a:cs typeface="Arial"/>
                </a:rPr>
                <a:t>bound</a:t>
              </a:r>
              <a:endParaRPr sz="1324" dirty="0">
                <a:latin typeface="Arial"/>
                <a:cs typeface="Arial"/>
              </a:endParaRPr>
            </a:p>
            <a:p>
              <a:pPr>
                <a:lnSpc>
                  <a:spcPct val="100000"/>
                </a:lnSpc>
              </a:pPr>
              <a:endParaRPr sz="1324" dirty="0">
                <a:latin typeface="Arial"/>
                <a:cs typeface="Arial"/>
              </a:endParaRPr>
            </a:p>
            <a:p>
              <a:pPr>
                <a:spcBef>
                  <a:spcPts val="124"/>
                </a:spcBef>
              </a:pPr>
              <a:endParaRPr sz="1324" dirty="0">
                <a:latin typeface="Arial"/>
                <a:cs typeface="Arial"/>
              </a:endParaRPr>
            </a:p>
            <a:p>
              <a:pPr marL="44826"/>
              <a:r>
                <a:rPr sz="1500" b="1" spc="-22" dirty="0">
                  <a:solidFill>
                    <a:srgbClr val="FC0128"/>
                  </a:solidFill>
                  <a:latin typeface="Arial"/>
                  <a:cs typeface="Arial"/>
                </a:rPr>
                <a:t>P</a:t>
              </a:r>
              <a:r>
                <a:rPr sz="1456" b="1" spc="-33" baseline="-15151" dirty="0">
                  <a:solidFill>
                    <a:srgbClr val="FC0128"/>
                  </a:solidFill>
                  <a:latin typeface="Arial"/>
                  <a:cs typeface="Arial"/>
                </a:rPr>
                <a:t>1</a:t>
              </a:r>
              <a:endParaRPr sz="1456" baseline="-15151" dirty="0">
                <a:latin typeface="Arial"/>
                <a:cs typeface="Arial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284225" y="3946587"/>
              <a:ext cx="486335" cy="251572"/>
            </a:xfrm>
            <a:custGeom>
              <a:avLst/>
              <a:gdLst/>
              <a:ahLst/>
              <a:cxnLst/>
              <a:rect l="l" t="t" r="r" b="b"/>
              <a:pathLst>
                <a:path w="551180" h="285114">
                  <a:moveTo>
                    <a:pt x="0" y="284683"/>
                  </a:moveTo>
                  <a:lnTo>
                    <a:pt x="550836" y="0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1342192" y="4903787"/>
              <a:ext cx="496981" cy="343460"/>
            </a:xfrm>
            <a:custGeom>
              <a:avLst/>
              <a:gdLst/>
              <a:ahLst/>
              <a:cxnLst/>
              <a:rect l="l" t="t" r="r" b="b"/>
              <a:pathLst>
                <a:path w="563244" h="389254">
                  <a:moveTo>
                    <a:pt x="0" y="0"/>
                  </a:moveTo>
                  <a:lnTo>
                    <a:pt x="562627" y="389123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grpSp>
          <p:nvGrpSpPr>
            <p:cNvPr id="14" name="object 14"/>
            <p:cNvGrpSpPr/>
            <p:nvPr/>
          </p:nvGrpSpPr>
          <p:grpSpPr>
            <a:xfrm>
              <a:off x="5108567" y="4786367"/>
              <a:ext cx="1007969" cy="1453963"/>
              <a:chOff x="5637309" y="5424549"/>
              <a:chExt cx="1142365" cy="1647825"/>
            </a:xfrm>
          </p:grpSpPr>
          <p:sp>
            <p:nvSpPr>
              <p:cNvPr id="15" name="object 15"/>
              <p:cNvSpPr/>
              <p:nvPr/>
            </p:nvSpPr>
            <p:spPr>
              <a:xfrm>
                <a:off x="5652470" y="5439709"/>
                <a:ext cx="1111885" cy="1617345"/>
              </a:xfrm>
              <a:custGeom>
                <a:avLst/>
                <a:gdLst/>
                <a:ahLst/>
                <a:cxnLst/>
                <a:rect l="l" t="t" r="r" b="b"/>
                <a:pathLst>
                  <a:path w="1111884" h="1617345">
                    <a:moveTo>
                      <a:pt x="1111778" y="0"/>
                    </a:moveTo>
                    <a:lnTo>
                      <a:pt x="0" y="0"/>
                    </a:lnTo>
                    <a:lnTo>
                      <a:pt x="0" y="1617133"/>
                    </a:lnTo>
                    <a:lnTo>
                      <a:pt x="1111778" y="1617133"/>
                    </a:lnTo>
                    <a:lnTo>
                      <a:pt x="1111778" y="0"/>
                    </a:lnTo>
                    <a:close/>
                  </a:path>
                </a:pathLst>
              </a:custGeom>
              <a:solidFill>
                <a:srgbClr val="CECECE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5652470" y="5439709"/>
                <a:ext cx="1111885" cy="1617345"/>
              </a:xfrm>
              <a:custGeom>
                <a:avLst/>
                <a:gdLst/>
                <a:ahLst/>
                <a:cxnLst/>
                <a:rect l="l" t="t" r="r" b="b"/>
                <a:pathLst>
                  <a:path w="1111884" h="1617345">
                    <a:moveTo>
                      <a:pt x="0" y="0"/>
                    </a:moveTo>
                    <a:lnTo>
                      <a:pt x="1111779" y="0"/>
                    </a:lnTo>
                    <a:lnTo>
                      <a:pt x="1111779" y="1617133"/>
                    </a:lnTo>
                    <a:lnTo>
                      <a:pt x="0" y="1617133"/>
                    </a:lnTo>
                    <a:lnTo>
                      <a:pt x="0" y="0"/>
                    </a:lnTo>
                    <a:close/>
                  </a:path>
                </a:pathLst>
              </a:custGeom>
              <a:ln w="3032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17" name="object 17"/>
            <p:cNvSpPr txBox="1"/>
            <p:nvPr/>
          </p:nvSpPr>
          <p:spPr>
            <a:xfrm>
              <a:off x="4564659" y="6084794"/>
              <a:ext cx="401731" cy="21508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324" b="1" spc="-18" dirty="0">
                  <a:latin typeface="Arial"/>
                  <a:cs typeface="Arial"/>
                </a:rPr>
                <a:t>base</a:t>
              </a:r>
              <a:endParaRPr sz="1324">
                <a:latin typeface="Arial"/>
                <a:cs typeface="Arial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4436834" y="4729330"/>
              <a:ext cx="527797" cy="21508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324" b="1" spc="-9" dirty="0">
                  <a:latin typeface="Arial"/>
                  <a:cs typeface="Arial"/>
                </a:rPr>
                <a:t>bound</a:t>
              </a:r>
              <a:endParaRPr sz="1324">
                <a:latin typeface="Arial"/>
                <a:cs typeface="Arial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3411144" y="5333551"/>
              <a:ext cx="262218" cy="24214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33619">
                <a:spcBef>
                  <a:spcPts val="88"/>
                </a:spcBef>
              </a:pPr>
              <a:r>
                <a:rPr sz="1500" b="1" spc="-22" dirty="0">
                  <a:solidFill>
                    <a:srgbClr val="FC0128"/>
                  </a:solidFill>
                  <a:latin typeface="Arial"/>
                  <a:cs typeface="Arial"/>
                </a:rPr>
                <a:t>P</a:t>
              </a:r>
              <a:r>
                <a:rPr sz="1456" b="1" spc="-33" baseline="-15151" dirty="0">
                  <a:solidFill>
                    <a:srgbClr val="FC0128"/>
                  </a:solidFill>
                  <a:latin typeface="Arial"/>
                  <a:cs typeface="Arial"/>
                </a:rPr>
                <a:t>2</a:t>
              </a:r>
              <a:endParaRPr sz="1456" baseline="-15151">
                <a:latin typeface="Arial"/>
                <a:cs typeface="Arial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3852613" y="4874062"/>
              <a:ext cx="486335" cy="251572"/>
            </a:xfrm>
            <a:custGeom>
              <a:avLst/>
              <a:gdLst/>
              <a:ahLst/>
              <a:cxnLst/>
              <a:rect l="l" t="t" r="r" b="b"/>
              <a:pathLst>
                <a:path w="551179" h="285114">
                  <a:moveTo>
                    <a:pt x="0" y="284683"/>
                  </a:moveTo>
                  <a:lnTo>
                    <a:pt x="550836" y="0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3910581" y="5831261"/>
              <a:ext cx="496981" cy="343460"/>
            </a:xfrm>
            <a:custGeom>
              <a:avLst/>
              <a:gdLst/>
              <a:ahLst/>
              <a:cxnLst/>
              <a:rect l="l" t="t" r="r" b="b"/>
              <a:pathLst>
                <a:path w="563245" h="389254">
                  <a:moveTo>
                    <a:pt x="0" y="0"/>
                  </a:moveTo>
                  <a:lnTo>
                    <a:pt x="562627" y="389123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" name="object 3">
            <a:extLst>
              <a:ext uri="{FF2B5EF4-FFF2-40B4-BE49-F238E27FC236}">
                <a16:creationId xmlns:a16="http://schemas.microsoft.com/office/drawing/2014/main" id="{1ADB5DA2-5D8B-1115-1A4C-BD7A16D2038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11</a:t>
            </a:fld>
            <a:endParaRPr spc="-2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Who</a:t>
            </a:r>
            <a:r>
              <a:rPr spc="-40" dirty="0"/>
              <a:t> </a:t>
            </a:r>
            <a:r>
              <a:rPr dirty="0"/>
              <a:t>can</a:t>
            </a:r>
            <a:r>
              <a:rPr spc="-26" dirty="0"/>
              <a:t> </a:t>
            </a:r>
            <a:r>
              <a:rPr dirty="0"/>
              <a:t>change</a:t>
            </a:r>
            <a:r>
              <a:rPr spc="-44" dirty="0"/>
              <a:t> </a:t>
            </a:r>
            <a:r>
              <a:rPr spc="-9" dirty="0"/>
              <a:t>them?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386312"/>
            <a:ext cx="7516292" cy="3223016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4483" indent="-267835" algn="just"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operating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system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needs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bound registers</a:t>
            </a:r>
            <a:endParaRPr sz="2400" dirty="0">
              <a:latin typeface="Calibri"/>
              <a:cs typeface="Calibri"/>
            </a:endParaRPr>
          </a:p>
          <a:p>
            <a:pPr marL="278481" marR="47628" indent="-267835" algn="just">
              <a:spcBef>
                <a:spcPts val="847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So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labeled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kernel</a:t>
            </a:r>
            <a:r>
              <a:rPr sz="2400" i="1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(also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supervisor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executive)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location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change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registers</a:t>
            </a:r>
            <a:endParaRPr sz="2400" dirty="0">
              <a:latin typeface="Calibri"/>
              <a:cs typeface="Calibri"/>
            </a:endParaRPr>
          </a:p>
          <a:p>
            <a:pPr marL="278481" marR="46507" indent="-267835" algn="just">
              <a:spcBef>
                <a:spcPts val="940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Kernel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processes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accessed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system</a:t>
            </a:r>
            <a:r>
              <a:rPr sz="2400" i="1" spc="93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calls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-44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return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subroutine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return,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restoring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process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3D0ED91C-7F61-49F8-C174-2A77982A1E1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12</a:t>
            </a:fld>
            <a:endParaRPr spc="-2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Segmentation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342" y="1249278"/>
            <a:ext cx="5499728" cy="872562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>
              <a:spcBef>
                <a:spcPts val="64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Basically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base</a:t>
            </a:r>
            <a:r>
              <a:rPr lang="en-US" sz="2400" spc="-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&amp;</a:t>
            </a:r>
            <a:r>
              <a:rPr lang="en-US" sz="2400" spc="-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bounds</a:t>
            </a:r>
            <a:endParaRPr sz="2400" dirty="0">
              <a:latin typeface="Calibri"/>
              <a:cs typeface="Calibri"/>
            </a:endParaRPr>
          </a:p>
          <a:p>
            <a:pPr marL="439294">
              <a:spcBef>
                <a:spcPts val="424"/>
              </a:spcBef>
            </a:pPr>
            <a:r>
              <a:rPr sz="2200" dirty="0">
                <a:latin typeface="Calibri"/>
                <a:cs typeface="Calibri"/>
              </a:rPr>
              <a:t>–</a:t>
            </a:r>
            <a:r>
              <a:rPr sz="2200" spc="43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</a:t>
            </a:r>
            <a:r>
              <a:rPr lang="en-US" sz="2200" dirty="0">
                <a:latin typeface="Calibri"/>
                <a:cs typeface="Calibri"/>
              </a:rPr>
              <a:t>ith</a:t>
            </a:r>
            <a:r>
              <a:rPr sz="2200" dirty="0">
                <a:latin typeface="Calibri"/>
                <a:cs typeface="Calibri"/>
              </a:rPr>
              <a:t> virtual</a:t>
            </a:r>
            <a:r>
              <a:rPr sz="2200" spc="-9" dirty="0">
                <a:latin typeface="Calibri"/>
                <a:cs typeface="Calibri"/>
              </a:rPr>
              <a:t> memory</a:t>
            </a:r>
            <a:endParaRPr sz="2200" dirty="0">
              <a:latin typeface="Calibri"/>
              <a:cs typeface="Calibri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4A6501F-1DAA-4D36-FFA7-E9C9A770DA20}"/>
              </a:ext>
            </a:extLst>
          </p:cNvPr>
          <p:cNvGrpSpPr/>
          <p:nvPr/>
        </p:nvGrpSpPr>
        <p:grpSpPr>
          <a:xfrm>
            <a:off x="1126764" y="2379328"/>
            <a:ext cx="4526035" cy="3711325"/>
            <a:chOff x="1126764" y="2233556"/>
            <a:chExt cx="4526035" cy="3711325"/>
          </a:xfrm>
        </p:grpSpPr>
        <p:sp>
          <p:nvSpPr>
            <p:cNvPr id="4" name="object 4"/>
            <p:cNvSpPr txBox="1"/>
            <p:nvPr/>
          </p:nvSpPr>
          <p:spPr>
            <a:xfrm>
              <a:off x="1126764" y="3765625"/>
              <a:ext cx="762000" cy="24214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500" b="1" spc="-9" dirty="0">
                  <a:solidFill>
                    <a:srgbClr val="FC0128"/>
                  </a:solidFill>
                  <a:latin typeface="Arial"/>
                  <a:cs typeface="Arial"/>
                </a:rPr>
                <a:t>Process</a:t>
              </a:r>
              <a:endParaRPr sz="1500">
                <a:latin typeface="Arial"/>
                <a:cs typeface="Arial"/>
              </a:endParaRPr>
            </a:p>
          </p:txBody>
        </p:sp>
        <p:grpSp>
          <p:nvGrpSpPr>
            <p:cNvPr id="5" name="object 5"/>
            <p:cNvGrpSpPr/>
            <p:nvPr/>
          </p:nvGrpSpPr>
          <p:grpSpPr>
            <a:xfrm>
              <a:off x="4476875" y="4431134"/>
              <a:ext cx="1007969" cy="1453963"/>
              <a:chOff x="4921391" y="5021951"/>
              <a:chExt cx="1142365" cy="1647825"/>
            </a:xfrm>
          </p:grpSpPr>
          <p:sp>
            <p:nvSpPr>
              <p:cNvPr id="6" name="object 6"/>
              <p:cNvSpPr/>
              <p:nvPr/>
            </p:nvSpPr>
            <p:spPr>
              <a:xfrm>
                <a:off x="4936552" y="5037112"/>
                <a:ext cx="1111885" cy="1617345"/>
              </a:xfrm>
              <a:custGeom>
                <a:avLst/>
                <a:gdLst/>
                <a:ahLst/>
                <a:cxnLst/>
                <a:rect l="l" t="t" r="r" b="b"/>
                <a:pathLst>
                  <a:path w="1111885" h="1617345">
                    <a:moveTo>
                      <a:pt x="1111778" y="0"/>
                    </a:moveTo>
                    <a:lnTo>
                      <a:pt x="0" y="0"/>
                    </a:lnTo>
                    <a:lnTo>
                      <a:pt x="0" y="1617132"/>
                    </a:lnTo>
                    <a:lnTo>
                      <a:pt x="1111778" y="1617132"/>
                    </a:lnTo>
                    <a:lnTo>
                      <a:pt x="1111778" y="0"/>
                    </a:lnTo>
                    <a:close/>
                  </a:path>
                </a:pathLst>
              </a:custGeom>
              <a:solidFill>
                <a:srgbClr val="CECECE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4936552" y="5037112"/>
                <a:ext cx="1111885" cy="1617345"/>
              </a:xfrm>
              <a:custGeom>
                <a:avLst/>
                <a:gdLst/>
                <a:ahLst/>
                <a:cxnLst/>
                <a:rect l="l" t="t" r="r" b="b"/>
                <a:pathLst>
                  <a:path w="1111885" h="1617345">
                    <a:moveTo>
                      <a:pt x="0" y="0"/>
                    </a:moveTo>
                    <a:lnTo>
                      <a:pt x="1111779" y="0"/>
                    </a:lnTo>
                    <a:lnTo>
                      <a:pt x="1111779" y="1617133"/>
                    </a:lnTo>
                    <a:lnTo>
                      <a:pt x="0" y="1617133"/>
                    </a:lnTo>
                    <a:lnTo>
                      <a:pt x="0" y="0"/>
                    </a:lnTo>
                    <a:close/>
                  </a:path>
                </a:pathLst>
              </a:custGeom>
              <a:ln w="3032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8" name="object 8"/>
            <p:cNvSpPr txBox="1"/>
            <p:nvPr/>
          </p:nvSpPr>
          <p:spPr>
            <a:xfrm>
              <a:off x="3603000" y="5729792"/>
              <a:ext cx="834278" cy="21508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324" b="1" dirty="0">
                  <a:latin typeface="Arial"/>
                  <a:cs typeface="Arial"/>
                </a:rPr>
                <a:t>heap</a:t>
              </a:r>
              <a:r>
                <a:rPr sz="1324" b="1" spc="-66" dirty="0">
                  <a:latin typeface="Arial"/>
                  <a:cs typeface="Arial"/>
                </a:rPr>
                <a:t> </a:t>
              </a:r>
              <a:r>
                <a:rPr sz="1324" b="1" spc="-18" dirty="0">
                  <a:latin typeface="Arial"/>
                  <a:cs typeface="Arial"/>
                </a:rPr>
                <a:t>base</a:t>
              </a:r>
              <a:endParaRPr sz="1324">
                <a:latin typeface="Arial"/>
                <a:cs typeface="Arial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3475174" y="4374327"/>
              <a:ext cx="960344" cy="21508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324" b="1" dirty="0">
                  <a:latin typeface="Arial"/>
                  <a:cs typeface="Arial"/>
                </a:rPr>
                <a:t>heap</a:t>
              </a:r>
              <a:r>
                <a:rPr sz="1324" b="1" spc="-66" dirty="0">
                  <a:latin typeface="Arial"/>
                  <a:cs typeface="Arial"/>
                </a:rPr>
                <a:t> </a:t>
              </a:r>
              <a:r>
                <a:rPr sz="1324" b="1" spc="-18" dirty="0">
                  <a:latin typeface="Arial"/>
                  <a:cs typeface="Arial"/>
                </a:rPr>
                <a:t>bound</a:t>
              </a:r>
              <a:endParaRPr sz="1324">
                <a:latin typeface="Arial"/>
                <a:cs typeface="Arial"/>
              </a:endParaRPr>
            </a:p>
          </p:txBody>
        </p:sp>
        <p:grpSp>
          <p:nvGrpSpPr>
            <p:cNvPr id="10" name="object 10"/>
            <p:cNvGrpSpPr/>
            <p:nvPr/>
          </p:nvGrpSpPr>
          <p:grpSpPr>
            <a:xfrm>
              <a:off x="4644830" y="2290810"/>
              <a:ext cx="1007969" cy="1453963"/>
              <a:chOff x="5111740" y="2596251"/>
              <a:chExt cx="1142365" cy="1647825"/>
            </a:xfrm>
          </p:grpSpPr>
          <p:sp>
            <p:nvSpPr>
              <p:cNvPr id="11" name="object 11"/>
              <p:cNvSpPr/>
              <p:nvPr/>
            </p:nvSpPr>
            <p:spPr>
              <a:xfrm>
                <a:off x="5126900" y="2611412"/>
                <a:ext cx="1111885" cy="1617345"/>
              </a:xfrm>
              <a:custGeom>
                <a:avLst/>
                <a:gdLst/>
                <a:ahLst/>
                <a:cxnLst/>
                <a:rect l="l" t="t" r="r" b="b"/>
                <a:pathLst>
                  <a:path w="1111885" h="1617345">
                    <a:moveTo>
                      <a:pt x="1111779" y="0"/>
                    </a:moveTo>
                    <a:lnTo>
                      <a:pt x="0" y="0"/>
                    </a:lnTo>
                    <a:lnTo>
                      <a:pt x="0" y="1617132"/>
                    </a:lnTo>
                    <a:lnTo>
                      <a:pt x="1111779" y="1617132"/>
                    </a:lnTo>
                    <a:lnTo>
                      <a:pt x="1111779" y="0"/>
                    </a:lnTo>
                    <a:close/>
                  </a:path>
                </a:pathLst>
              </a:custGeom>
              <a:solidFill>
                <a:srgbClr val="CECECE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5126900" y="2611412"/>
                <a:ext cx="1111885" cy="1617345"/>
              </a:xfrm>
              <a:custGeom>
                <a:avLst/>
                <a:gdLst/>
                <a:ahLst/>
                <a:cxnLst/>
                <a:rect l="l" t="t" r="r" b="b"/>
                <a:pathLst>
                  <a:path w="1111885" h="1617345">
                    <a:moveTo>
                      <a:pt x="0" y="0"/>
                    </a:moveTo>
                    <a:lnTo>
                      <a:pt x="1111779" y="0"/>
                    </a:lnTo>
                    <a:lnTo>
                      <a:pt x="1111779" y="1617133"/>
                    </a:lnTo>
                    <a:lnTo>
                      <a:pt x="0" y="1617133"/>
                    </a:lnTo>
                    <a:lnTo>
                      <a:pt x="0" y="0"/>
                    </a:lnTo>
                    <a:close/>
                  </a:path>
                </a:pathLst>
              </a:custGeom>
              <a:ln w="30321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13" name="object 13"/>
            <p:cNvSpPr txBox="1"/>
            <p:nvPr/>
          </p:nvSpPr>
          <p:spPr>
            <a:xfrm>
              <a:off x="3726366" y="3589019"/>
              <a:ext cx="870137" cy="21508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324" b="1" spc="-9" dirty="0">
                  <a:latin typeface="Arial"/>
                  <a:cs typeface="Arial"/>
                </a:rPr>
                <a:t>stack</a:t>
              </a:r>
              <a:r>
                <a:rPr sz="1324" b="1" spc="-57" dirty="0">
                  <a:latin typeface="Arial"/>
                  <a:cs typeface="Arial"/>
                </a:rPr>
                <a:t> </a:t>
              </a:r>
              <a:r>
                <a:rPr sz="1324" b="1" spc="-18" dirty="0">
                  <a:latin typeface="Arial"/>
                  <a:cs typeface="Arial"/>
                </a:rPr>
                <a:t>base</a:t>
              </a:r>
              <a:endParaRPr sz="1324">
                <a:latin typeface="Arial"/>
                <a:cs typeface="Arial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3598541" y="2233556"/>
              <a:ext cx="999004" cy="21508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324" b="1" spc="-9" dirty="0">
                  <a:latin typeface="Arial"/>
                  <a:cs typeface="Arial"/>
                </a:rPr>
                <a:t>stack</a:t>
              </a:r>
              <a:r>
                <a:rPr sz="1324" b="1" spc="-57" dirty="0">
                  <a:latin typeface="Arial"/>
                  <a:cs typeface="Arial"/>
                </a:rPr>
                <a:t> </a:t>
              </a:r>
              <a:r>
                <a:rPr sz="1324" b="1" spc="-18" dirty="0">
                  <a:latin typeface="Arial"/>
                  <a:cs typeface="Arial"/>
                </a:rPr>
                <a:t>bound</a:t>
              </a:r>
              <a:endParaRPr sz="1324">
                <a:latin typeface="Arial"/>
                <a:cs typeface="Arial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063064" y="2436470"/>
              <a:ext cx="1342465" cy="1141879"/>
            </a:xfrm>
            <a:custGeom>
              <a:avLst/>
              <a:gdLst/>
              <a:ahLst/>
              <a:cxnLst/>
              <a:rect l="l" t="t" r="r" b="b"/>
              <a:pathLst>
                <a:path w="1521460" h="1294129">
                  <a:moveTo>
                    <a:pt x="0" y="1293706"/>
                  </a:moveTo>
                  <a:lnTo>
                    <a:pt x="1521116" y="0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2063064" y="4291416"/>
              <a:ext cx="1208554" cy="1578909"/>
            </a:xfrm>
            <a:custGeom>
              <a:avLst/>
              <a:gdLst/>
              <a:ahLst/>
              <a:cxnLst/>
              <a:rect l="l" t="t" r="r" b="b"/>
              <a:pathLst>
                <a:path w="1369695" h="1789429">
                  <a:moveTo>
                    <a:pt x="0" y="0"/>
                  </a:moveTo>
                  <a:lnTo>
                    <a:pt x="1369510" y="1788953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A319722-A786-7B69-1DAF-D1F9894A5D2F}"/>
              </a:ext>
            </a:extLst>
          </p:cNvPr>
          <p:cNvGrpSpPr/>
          <p:nvPr/>
        </p:nvGrpSpPr>
        <p:grpSpPr>
          <a:xfrm>
            <a:off x="6058335" y="3205017"/>
            <a:ext cx="2217644" cy="820271"/>
            <a:chOff x="6058335" y="3059245"/>
            <a:chExt cx="2217644" cy="820271"/>
          </a:xfrm>
        </p:grpSpPr>
        <p:grpSp>
          <p:nvGrpSpPr>
            <p:cNvPr id="17" name="object 17"/>
            <p:cNvGrpSpPr/>
            <p:nvPr/>
          </p:nvGrpSpPr>
          <p:grpSpPr>
            <a:xfrm>
              <a:off x="6058335" y="3059245"/>
              <a:ext cx="2217644" cy="820271"/>
              <a:chOff x="6713713" y="3467144"/>
              <a:chExt cx="2513330" cy="929640"/>
            </a:xfrm>
          </p:grpSpPr>
          <p:sp>
            <p:nvSpPr>
              <p:cNvPr id="18" name="object 18"/>
              <p:cNvSpPr/>
              <p:nvPr/>
            </p:nvSpPr>
            <p:spPr>
              <a:xfrm>
                <a:off x="6740665" y="3493769"/>
                <a:ext cx="2486660" cy="902969"/>
              </a:xfrm>
              <a:custGeom>
                <a:avLst/>
                <a:gdLst/>
                <a:ahLst/>
                <a:cxnLst/>
                <a:rect l="l" t="t" r="r" b="b"/>
                <a:pathLst>
                  <a:path w="2486659" h="902970">
                    <a:moveTo>
                      <a:pt x="2486342" y="0"/>
                    </a:moveTo>
                    <a:lnTo>
                      <a:pt x="2452649" y="0"/>
                    </a:lnTo>
                    <a:lnTo>
                      <a:pt x="2452649" y="7620"/>
                    </a:lnTo>
                    <a:lnTo>
                      <a:pt x="2452649" y="13970"/>
                    </a:lnTo>
                    <a:lnTo>
                      <a:pt x="2452649" y="869950"/>
                    </a:lnTo>
                    <a:lnTo>
                      <a:pt x="13474" y="869950"/>
                    </a:lnTo>
                    <a:lnTo>
                      <a:pt x="6731" y="869950"/>
                    </a:lnTo>
                    <a:lnTo>
                      <a:pt x="0" y="869950"/>
                    </a:lnTo>
                    <a:lnTo>
                      <a:pt x="0" y="890270"/>
                    </a:lnTo>
                    <a:lnTo>
                      <a:pt x="0" y="902970"/>
                    </a:lnTo>
                    <a:lnTo>
                      <a:pt x="2486342" y="902970"/>
                    </a:lnTo>
                    <a:lnTo>
                      <a:pt x="2486342" y="890270"/>
                    </a:lnTo>
                    <a:lnTo>
                      <a:pt x="2486342" y="13970"/>
                    </a:lnTo>
                    <a:lnTo>
                      <a:pt x="2486342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6720451" y="3473883"/>
                <a:ext cx="2473325" cy="889635"/>
              </a:xfrm>
              <a:custGeom>
                <a:avLst/>
                <a:gdLst/>
                <a:ahLst/>
                <a:cxnLst/>
                <a:rect l="l" t="t" r="r" b="b"/>
                <a:pathLst>
                  <a:path w="2473325" h="889635">
                    <a:moveTo>
                      <a:pt x="0" y="0"/>
                    </a:moveTo>
                    <a:lnTo>
                      <a:pt x="2472866" y="0"/>
                    </a:lnTo>
                    <a:lnTo>
                      <a:pt x="2472866" y="889423"/>
                    </a:lnTo>
                    <a:lnTo>
                      <a:pt x="0" y="889423"/>
                    </a:lnTo>
                    <a:lnTo>
                      <a:pt x="0" y="0"/>
                    </a:lnTo>
                    <a:close/>
                  </a:path>
                </a:pathLst>
              </a:custGeom>
              <a:ln w="1347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20" name="object 20"/>
            <p:cNvSpPr txBox="1"/>
            <p:nvPr/>
          </p:nvSpPr>
          <p:spPr>
            <a:xfrm>
              <a:off x="6070226" y="3087893"/>
              <a:ext cx="2170579" cy="703813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79566" marR="138960">
                <a:spcBef>
                  <a:spcPts val="88"/>
                </a:spcBef>
              </a:pPr>
              <a:r>
                <a:rPr sz="1500" b="1" dirty="0">
                  <a:solidFill>
                    <a:srgbClr val="FC0128"/>
                  </a:solidFill>
                  <a:latin typeface="Arial"/>
                  <a:cs typeface="Arial"/>
                </a:rPr>
                <a:t>Each</a:t>
              </a:r>
              <a:r>
                <a:rPr sz="1500" b="1" spc="-44" dirty="0">
                  <a:solidFill>
                    <a:srgbClr val="FC0128"/>
                  </a:solidFill>
                  <a:latin typeface="Arial"/>
                  <a:cs typeface="Arial"/>
                </a:rPr>
                <a:t> </a:t>
              </a:r>
              <a:r>
                <a:rPr sz="1500" b="1" dirty="0">
                  <a:solidFill>
                    <a:srgbClr val="FC0128"/>
                  </a:solidFill>
                  <a:latin typeface="Arial"/>
                  <a:cs typeface="Arial"/>
                </a:rPr>
                <a:t>segment</a:t>
              </a:r>
              <a:r>
                <a:rPr sz="1500" b="1" spc="-40" dirty="0">
                  <a:solidFill>
                    <a:srgbClr val="FC0128"/>
                  </a:solidFill>
                  <a:latin typeface="Arial"/>
                  <a:cs typeface="Arial"/>
                </a:rPr>
                <a:t> </a:t>
              </a:r>
              <a:r>
                <a:rPr sz="1500" b="1" dirty="0">
                  <a:solidFill>
                    <a:srgbClr val="FC0128"/>
                  </a:solidFill>
                  <a:latin typeface="Arial"/>
                  <a:cs typeface="Arial"/>
                </a:rPr>
                <a:t>can</a:t>
              </a:r>
              <a:r>
                <a:rPr sz="1500" b="1" spc="-44" dirty="0">
                  <a:solidFill>
                    <a:srgbClr val="FC0128"/>
                  </a:solidFill>
                  <a:latin typeface="Arial"/>
                  <a:cs typeface="Arial"/>
                </a:rPr>
                <a:t> </a:t>
              </a:r>
              <a:r>
                <a:rPr sz="1500" b="1" spc="-22" dirty="0">
                  <a:solidFill>
                    <a:srgbClr val="FC0128"/>
                  </a:solidFill>
                  <a:latin typeface="Arial"/>
                  <a:cs typeface="Arial"/>
                </a:rPr>
                <a:t>be </a:t>
              </a:r>
              <a:r>
                <a:rPr sz="1500" b="1" dirty="0">
                  <a:solidFill>
                    <a:srgbClr val="FC0128"/>
                  </a:solidFill>
                  <a:latin typeface="Arial"/>
                  <a:cs typeface="Arial"/>
                </a:rPr>
                <a:t>located</a:t>
              </a:r>
              <a:r>
                <a:rPr sz="1500" b="1" spc="-66" dirty="0">
                  <a:solidFill>
                    <a:srgbClr val="FC0128"/>
                  </a:solidFill>
                  <a:latin typeface="Arial"/>
                  <a:cs typeface="Arial"/>
                </a:rPr>
                <a:t> </a:t>
              </a:r>
              <a:r>
                <a:rPr sz="1500" b="1" dirty="0">
                  <a:solidFill>
                    <a:srgbClr val="FC0128"/>
                  </a:solidFill>
                  <a:latin typeface="Arial"/>
                  <a:cs typeface="Arial"/>
                </a:rPr>
                <a:t>anywhere</a:t>
              </a:r>
              <a:r>
                <a:rPr sz="1500" b="1" spc="-66" dirty="0">
                  <a:solidFill>
                    <a:srgbClr val="FC0128"/>
                  </a:solidFill>
                  <a:latin typeface="Arial"/>
                  <a:cs typeface="Arial"/>
                </a:rPr>
                <a:t> </a:t>
              </a:r>
              <a:r>
                <a:rPr sz="1500" b="1" spc="-22" dirty="0">
                  <a:solidFill>
                    <a:srgbClr val="FC0128"/>
                  </a:solidFill>
                  <a:latin typeface="Arial"/>
                  <a:cs typeface="Arial"/>
                </a:rPr>
                <a:t>in </a:t>
              </a:r>
              <a:r>
                <a:rPr sz="1500" b="1" dirty="0">
                  <a:solidFill>
                    <a:srgbClr val="FC0128"/>
                  </a:solidFill>
                  <a:latin typeface="Arial"/>
                  <a:cs typeface="Arial"/>
                </a:rPr>
                <a:t>physical</a:t>
              </a:r>
              <a:r>
                <a:rPr sz="1500" b="1" spc="-84" dirty="0">
                  <a:solidFill>
                    <a:srgbClr val="FC0128"/>
                  </a:solidFill>
                  <a:latin typeface="Arial"/>
                  <a:cs typeface="Arial"/>
                </a:rPr>
                <a:t> </a:t>
              </a:r>
              <a:r>
                <a:rPr sz="1500" b="1" spc="-9" dirty="0">
                  <a:solidFill>
                    <a:srgbClr val="FC0128"/>
                  </a:solidFill>
                  <a:latin typeface="Arial"/>
                  <a:cs typeface="Arial"/>
                </a:rPr>
                <a:t>memory</a:t>
              </a:r>
              <a:endParaRPr sz="1500">
                <a:latin typeface="Arial"/>
                <a:cs typeface="Arial"/>
              </a:endParaRPr>
            </a:p>
          </p:txBody>
        </p:sp>
      </p:grpSp>
      <p:sp>
        <p:nvSpPr>
          <p:cNvPr id="22" name="object 3">
            <a:extLst>
              <a:ext uri="{FF2B5EF4-FFF2-40B4-BE49-F238E27FC236}">
                <a16:creationId xmlns:a16="http://schemas.microsoft.com/office/drawing/2014/main" id="{12B956F3-14BB-8D5C-2BFB-10C6828E5E0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13</a:t>
            </a:fld>
            <a:endParaRPr spc="-2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3827" y="3092824"/>
            <a:ext cx="1894354" cy="58160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3706" b="1" spc="-9" dirty="0">
                <a:latin typeface="Arial"/>
                <a:cs typeface="Arial"/>
              </a:rPr>
              <a:t>PAGING</a:t>
            </a:r>
            <a:endParaRPr sz="3706">
              <a:latin typeface="Arial"/>
              <a:cs typeface="Arial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CBCDE849-7F21-3974-21EA-003214624B3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14</a:t>
            </a:fld>
            <a:endParaRPr spc="-2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7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The</a:t>
            </a:r>
            <a:r>
              <a:rPr spc="-40" dirty="0"/>
              <a:t> </a:t>
            </a:r>
            <a:r>
              <a:rPr dirty="0"/>
              <a:t>Limits</a:t>
            </a:r>
            <a:r>
              <a:rPr spc="-26" dirty="0"/>
              <a:t> </a:t>
            </a:r>
            <a:r>
              <a:rPr dirty="0"/>
              <a:t>of</a:t>
            </a:r>
            <a:r>
              <a:rPr spc="-26" dirty="0"/>
              <a:t> </a:t>
            </a:r>
            <a:r>
              <a:rPr dirty="0"/>
              <a:t>Physical</a:t>
            </a:r>
            <a:r>
              <a:rPr spc="-18" dirty="0"/>
              <a:t> </a:t>
            </a:r>
            <a:r>
              <a:rPr spc="-9" dirty="0"/>
              <a:t>Addressing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87052" y="3004428"/>
            <a:ext cx="6356537" cy="3347161"/>
          </a:xfrm>
          <a:prstGeom prst="rect">
            <a:avLst/>
          </a:prstGeom>
        </p:spPr>
        <p:txBody>
          <a:bodyPr vert="horz" wrap="square" lIns="0" tIns="186018" rIns="0" bIns="0" rtlCol="0">
            <a:spAutoFit/>
          </a:bodyPr>
          <a:lstStyle/>
          <a:p>
            <a:pPr marR="298092" algn="ctr">
              <a:spcBef>
                <a:spcPts val="1465"/>
              </a:spcBef>
            </a:pPr>
            <a:r>
              <a:rPr sz="2030" spc="-18" dirty="0">
                <a:solidFill>
                  <a:srgbClr val="053DE8"/>
                </a:solidFill>
                <a:latin typeface="Times New Roman"/>
                <a:cs typeface="Times New Roman"/>
              </a:rPr>
              <a:t>Data</a:t>
            </a:r>
            <a:endParaRPr sz="2030" dirty="0">
              <a:latin typeface="Times New Roman"/>
              <a:cs typeface="Times New Roman"/>
            </a:endParaRPr>
          </a:p>
          <a:p>
            <a:pPr marL="1296590" marR="756998" indent="-802944">
              <a:lnSpc>
                <a:spcPts val="3009"/>
              </a:lnSpc>
              <a:spcBef>
                <a:spcPts val="1888"/>
              </a:spcBef>
            </a:pPr>
            <a:r>
              <a:rPr sz="2559" dirty="0">
                <a:latin typeface="Times New Roman"/>
                <a:cs typeface="Times New Roman"/>
              </a:rPr>
              <a:t>All</a:t>
            </a:r>
            <a:r>
              <a:rPr sz="2559" spc="-101" dirty="0"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programs</a:t>
            </a:r>
            <a:r>
              <a:rPr sz="2559" spc="-106" dirty="0"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shared</a:t>
            </a:r>
            <a:r>
              <a:rPr sz="2559" spc="-106" dirty="0"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one</a:t>
            </a:r>
            <a:r>
              <a:rPr sz="2559" spc="-97" dirty="0"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address</a:t>
            </a:r>
            <a:r>
              <a:rPr sz="2559" spc="-106" dirty="0">
                <a:latin typeface="Times New Roman"/>
                <a:cs typeface="Times New Roman"/>
              </a:rPr>
              <a:t> </a:t>
            </a:r>
            <a:r>
              <a:rPr sz="2559" spc="-9" dirty="0">
                <a:latin typeface="Times New Roman"/>
                <a:cs typeface="Times New Roman"/>
              </a:rPr>
              <a:t>space: </a:t>
            </a:r>
            <a:r>
              <a:rPr sz="2559" dirty="0">
                <a:latin typeface="Times New Roman"/>
                <a:cs typeface="Times New Roman"/>
              </a:rPr>
              <a:t>The</a:t>
            </a:r>
            <a:r>
              <a:rPr sz="2559" spc="-132" dirty="0">
                <a:latin typeface="Times New Roman"/>
                <a:cs typeface="Times New Roman"/>
              </a:rPr>
              <a:t> </a:t>
            </a:r>
            <a:r>
              <a:rPr sz="2559" dirty="0">
                <a:solidFill>
                  <a:srgbClr val="053DE8"/>
                </a:solidFill>
                <a:latin typeface="Times New Roman"/>
                <a:cs typeface="Times New Roman"/>
              </a:rPr>
              <a:t>physical</a:t>
            </a:r>
            <a:r>
              <a:rPr sz="2559" spc="-124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address</a:t>
            </a:r>
            <a:r>
              <a:rPr sz="2559" spc="-128" dirty="0">
                <a:latin typeface="Times New Roman"/>
                <a:cs typeface="Times New Roman"/>
              </a:rPr>
              <a:t> </a:t>
            </a:r>
            <a:r>
              <a:rPr sz="2559" spc="-9" dirty="0">
                <a:latin typeface="Times New Roman"/>
                <a:cs typeface="Times New Roman"/>
              </a:rPr>
              <a:t>space</a:t>
            </a:r>
            <a:endParaRPr sz="2559" dirty="0">
              <a:latin typeface="Times New Roman"/>
              <a:cs typeface="Times New Roman"/>
            </a:endParaRPr>
          </a:p>
          <a:p>
            <a:pPr marL="896518" marR="774928" indent="-239258">
              <a:lnSpc>
                <a:spcPts val="2982"/>
              </a:lnSpc>
              <a:spcBef>
                <a:spcPts val="1054"/>
              </a:spcBef>
            </a:pPr>
            <a:r>
              <a:rPr sz="2559" dirty="0">
                <a:latin typeface="Times New Roman"/>
                <a:cs typeface="Times New Roman"/>
              </a:rPr>
              <a:t>Machine</a:t>
            </a:r>
            <a:r>
              <a:rPr sz="2559" spc="-101" dirty="0">
                <a:latin typeface="Times New Roman"/>
                <a:cs typeface="Times New Roman"/>
              </a:rPr>
              <a:t> </a:t>
            </a:r>
            <a:r>
              <a:rPr sz="2559" spc="-9" dirty="0">
                <a:latin typeface="Times New Roman"/>
                <a:cs typeface="Times New Roman"/>
              </a:rPr>
              <a:t>language</a:t>
            </a:r>
            <a:r>
              <a:rPr sz="2559" spc="-101" dirty="0"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programs</a:t>
            </a:r>
            <a:r>
              <a:rPr sz="2559" spc="-97" dirty="0"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had</a:t>
            </a:r>
            <a:r>
              <a:rPr sz="2559" spc="-101" dirty="0"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to</a:t>
            </a:r>
            <a:r>
              <a:rPr sz="2559" spc="-101" dirty="0">
                <a:latin typeface="Times New Roman"/>
                <a:cs typeface="Times New Roman"/>
              </a:rPr>
              <a:t> </a:t>
            </a:r>
            <a:r>
              <a:rPr sz="2559" spc="-22" dirty="0">
                <a:latin typeface="Times New Roman"/>
                <a:cs typeface="Times New Roman"/>
              </a:rPr>
              <a:t>be </a:t>
            </a:r>
            <a:r>
              <a:rPr sz="2559" dirty="0">
                <a:latin typeface="Times New Roman"/>
                <a:cs typeface="Times New Roman"/>
              </a:rPr>
              <a:t>aware</a:t>
            </a:r>
            <a:r>
              <a:rPr sz="2559" spc="-88" dirty="0"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of</a:t>
            </a:r>
            <a:r>
              <a:rPr sz="2559" spc="-79" dirty="0"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the</a:t>
            </a:r>
            <a:r>
              <a:rPr sz="2559" spc="-88" dirty="0">
                <a:latin typeface="Times New Roman"/>
                <a:cs typeface="Times New Roman"/>
              </a:rPr>
              <a:t> </a:t>
            </a:r>
            <a:r>
              <a:rPr sz="2559" spc="-9" dirty="0">
                <a:latin typeface="Times New Roman"/>
                <a:cs typeface="Times New Roman"/>
              </a:rPr>
              <a:t>machine</a:t>
            </a:r>
            <a:r>
              <a:rPr sz="2559" spc="-84" dirty="0">
                <a:latin typeface="Times New Roman"/>
                <a:cs typeface="Times New Roman"/>
              </a:rPr>
              <a:t> </a:t>
            </a:r>
            <a:r>
              <a:rPr sz="2559" spc="-9" dirty="0">
                <a:latin typeface="Times New Roman"/>
                <a:cs typeface="Times New Roman"/>
              </a:rPr>
              <a:t>organization</a:t>
            </a:r>
            <a:endParaRPr sz="2559" dirty="0">
              <a:latin typeface="Times New Roman"/>
              <a:cs typeface="Times New Roman"/>
            </a:endParaRPr>
          </a:p>
          <a:p>
            <a:pPr marL="1308357" marR="4483" indent="-1297710">
              <a:lnSpc>
                <a:spcPts val="2982"/>
              </a:lnSpc>
              <a:spcBef>
                <a:spcPts val="1152"/>
              </a:spcBef>
            </a:pPr>
            <a:r>
              <a:rPr sz="2559" dirty="0">
                <a:latin typeface="Times New Roman"/>
                <a:cs typeface="Times New Roman"/>
              </a:rPr>
              <a:t>No</a:t>
            </a:r>
            <a:r>
              <a:rPr sz="2559" spc="-84" dirty="0"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way</a:t>
            </a:r>
            <a:r>
              <a:rPr sz="2559" spc="-84" dirty="0"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to</a:t>
            </a:r>
            <a:r>
              <a:rPr sz="2559" spc="-79" dirty="0"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prevent</a:t>
            </a:r>
            <a:r>
              <a:rPr sz="2559" spc="-79" dirty="0"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a</a:t>
            </a:r>
            <a:r>
              <a:rPr sz="2559" spc="-79" dirty="0"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program</a:t>
            </a:r>
            <a:r>
              <a:rPr sz="2559" spc="-88" dirty="0"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from</a:t>
            </a:r>
            <a:r>
              <a:rPr sz="2559" spc="-88" dirty="0">
                <a:latin typeface="Times New Roman"/>
                <a:cs typeface="Times New Roman"/>
              </a:rPr>
              <a:t> </a:t>
            </a:r>
            <a:r>
              <a:rPr sz="2559" spc="-9" dirty="0">
                <a:latin typeface="Times New Roman"/>
                <a:cs typeface="Times New Roman"/>
              </a:rPr>
              <a:t>accessing</a:t>
            </a:r>
            <a:r>
              <a:rPr sz="2559" spc="-124" dirty="0">
                <a:latin typeface="Times New Roman"/>
                <a:cs typeface="Times New Roman"/>
              </a:rPr>
              <a:t> </a:t>
            </a:r>
            <a:r>
              <a:rPr sz="2559" spc="-22" dirty="0">
                <a:solidFill>
                  <a:srgbClr val="053DE8"/>
                </a:solidFill>
                <a:latin typeface="Times New Roman"/>
                <a:cs typeface="Times New Roman"/>
              </a:rPr>
              <a:t>any </a:t>
            </a:r>
            <a:r>
              <a:rPr sz="2559" dirty="0">
                <a:solidFill>
                  <a:srgbClr val="053DE8"/>
                </a:solidFill>
                <a:latin typeface="Times New Roman"/>
                <a:cs typeface="Times New Roman"/>
              </a:rPr>
              <a:t>machine</a:t>
            </a:r>
            <a:r>
              <a:rPr sz="2559" spc="-110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559" dirty="0">
                <a:solidFill>
                  <a:srgbClr val="053DE8"/>
                </a:solidFill>
                <a:latin typeface="Times New Roman"/>
                <a:cs typeface="Times New Roman"/>
              </a:rPr>
              <a:t>resource</a:t>
            </a:r>
            <a:r>
              <a:rPr sz="2559" spc="-110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559" dirty="0">
                <a:solidFill>
                  <a:srgbClr val="053DE8"/>
                </a:solidFill>
                <a:latin typeface="Times New Roman"/>
                <a:cs typeface="Times New Roman"/>
              </a:rPr>
              <a:t>in</a:t>
            </a:r>
            <a:r>
              <a:rPr sz="2559" spc="-110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559" spc="-9" dirty="0">
                <a:solidFill>
                  <a:srgbClr val="053DE8"/>
                </a:solidFill>
                <a:latin typeface="Times New Roman"/>
                <a:cs typeface="Times New Roman"/>
              </a:rPr>
              <a:t>memory</a:t>
            </a:r>
            <a:endParaRPr sz="2559" dirty="0">
              <a:latin typeface="Times New Roman"/>
              <a:cs typeface="Times New Roman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F4F2056-3588-AB16-15B2-D5466F147CD8}"/>
              </a:ext>
            </a:extLst>
          </p:cNvPr>
          <p:cNvGrpSpPr/>
          <p:nvPr/>
        </p:nvGrpSpPr>
        <p:grpSpPr>
          <a:xfrm>
            <a:off x="926018" y="1415975"/>
            <a:ext cx="7641268" cy="2153214"/>
            <a:chOff x="926018" y="1415975"/>
            <a:chExt cx="7641268" cy="2153214"/>
          </a:xfrm>
        </p:grpSpPr>
        <p:sp>
          <p:nvSpPr>
            <p:cNvPr id="4" name="object 4"/>
            <p:cNvSpPr txBox="1"/>
            <p:nvPr/>
          </p:nvSpPr>
          <p:spPr>
            <a:xfrm>
              <a:off x="2557955" y="1415975"/>
              <a:ext cx="4057090" cy="29645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853" dirty="0">
                  <a:solidFill>
                    <a:srgbClr val="053DE8"/>
                  </a:solidFill>
                  <a:latin typeface="MS PGothic"/>
                  <a:cs typeface="MS PGothic"/>
                </a:rPr>
                <a:t>“</a:t>
              </a:r>
              <a:r>
                <a:rPr sz="1853" dirty="0">
                  <a:solidFill>
                    <a:srgbClr val="053DE8"/>
                  </a:solidFill>
                  <a:latin typeface="Times New Roman"/>
                  <a:cs typeface="Times New Roman"/>
                </a:rPr>
                <a:t>Physical</a:t>
              </a:r>
              <a:r>
                <a:rPr sz="1853" spc="4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1853" dirty="0">
                  <a:solidFill>
                    <a:srgbClr val="053DE8"/>
                  </a:solidFill>
                  <a:latin typeface="Times New Roman"/>
                  <a:cs typeface="Times New Roman"/>
                </a:rPr>
                <a:t>addresses</a:t>
              </a:r>
              <a:r>
                <a:rPr sz="1853" dirty="0">
                  <a:solidFill>
                    <a:srgbClr val="053DE8"/>
                  </a:solidFill>
                  <a:latin typeface="MS PGothic"/>
                  <a:cs typeface="MS PGothic"/>
                </a:rPr>
                <a:t>”</a:t>
              </a:r>
              <a:r>
                <a:rPr sz="1853" spc="-88" dirty="0">
                  <a:solidFill>
                    <a:srgbClr val="053DE8"/>
                  </a:solidFill>
                  <a:latin typeface="MS PGothic"/>
                  <a:cs typeface="MS PGothic"/>
                </a:rPr>
                <a:t> </a:t>
              </a:r>
              <a:r>
                <a:rPr sz="1853" dirty="0">
                  <a:solidFill>
                    <a:srgbClr val="053DE8"/>
                  </a:solidFill>
                  <a:latin typeface="Times New Roman"/>
                  <a:cs typeface="Times New Roman"/>
                </a:rPr>
                <a:t>of</a:t>
              </a:r>
              <a:r>
                <a:rPr sz="1853" spc="4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1853" dirty="0">
                  <a:solidFill>
                    <a:srgbClr val="053DE8"/>
                  </a:solidFill>
                  <a:latin typeface="Times New Roman"/>
                  <a:cs typeface="Times New Roman"/>
                </a:rPr>
                <a:t>memory</a:t>
              </a:r>
              <a:r>
                <a:rPr sz="1853" spc="13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1853" spc="-9" dirty="0">
                  <a:solidFill>
                    <a:srgbClr val="053DE8"/>
                  </a:solidFill>
                  <a:latin typeface="Times New Roman"/>
                  <a:cs typeface="Times New Roman"/>
                </a:rPr>
                <a:t>locations</a:t>
              </a:r>
              <a:endParaRPr sz="1853" dirty="0">
                <a:latin typeface="Times New Roman"/>
                <a:cs typeface="Times New Roman"/>
              </a:endParaRPr>
            </a:p>
          </p:txBody>
        </p:sp>
        <p:grpSp>
          <p:nvGrpSpPr>
            <p:cNvPr id="5" name="object 5"/>
            <p:cNvGrpSpPr/>
            <p:nvPr/>
          </p:nvGrpSpPr>
          <p:grpSpPr>
            <a:xfrm>
              <a:off x="1478133" y="3201076"/>
              <a:ext cx="6175001" cy="368113"/>
              <a:chOff x="1522818" y="3627885"/>
              <a:chExt cx="6998334" cy="417195"/>
            </a:xfrm>
          </p:grpSpPr>
          <p:sp>
            <p:nvSpPr>
              <p:cNvPr id="6" name="object 6"/>
              <p:cNvSpPr/>
              <p:nvPr/>
            </p:nvSpPr>
            <p:spPr>
              <a:xfrm>
                <a:off x="1558250" y="4020755"/>
                <a:ext cx="69469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946900">
                    <a:moveTo>
                      <a:pt x="0" y="0"/>
                    </a:moveTo>
                    <a:lnTo>
                      <a:pt x="6946388" y="1"/>
                    </a:lnTo>
                  </a:path>
                </a:pathLst>
              </a:custGeom>
              <a:ln w="269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1522818" y="3627894"/>
                <a:ext cx="6998334" cy="417195"/>
              </a:xfrm>
              <a:custGeom>
                <a:avLst/>
                <a:gdLst/>
                <a:ahLst/>
                <a:cxnLst/>
                <a:rect l="l" t="t" r="r" b="b"/>
                <a:pathLst>
                  <a:path w="6998334" h="417195">
                    <a:moveTo>
                      <a:pt x="80848" y="80848"/>
                    </a:moveTo>
                    <a:lnTo>
                      <a:pt x="67373" y="53898"/>
                    </a:lnTo>
                    <a:lnTo>
                      <a:pt x="40424" y="0"/>
                    </a:lnTo>
                    <a:lnTo>
                      <a:pt x="0" y="80848"/>
                    </a:lnTo>
                    <a:lnTo>
                      <a:pt x="26949" y="62890"/>
                    </a:lnTo>
                    <a:lnTo>
                      <a:pt x="26949" y="329984"/>
                    </a:lnTo>
                    <a:lnTo>
                      <a:pt x="0" y="312013"/>
                    </a:lnTo>
                    <a:lnTo>
                      <a:pt x="40424" y="392861"/>
                    </a:lnTo>
                    <a:lnTo>
                      <a:pt x="67373" y="338963"/>
                    </a:lnTo>
                    <a:lnTo>
                      <a:pt x="80848" y="312013"/>
                    </a:lnTo>
                    <a:lnTo>
                      <a:pt x="53898" y="329984"/>
                    </a:lnTo>
                    <a:lnTo>
                      <a:pt x="53898" y="62890"/>
                    </a:lnTo>
                    <a:lnTo>
                      <a:pt x="80848" y="80848"/>
                    </a:lnTo>
                    <a:close/>
                  </a:path>
                  <a:path w="6998334" h="417195">
                    <a:moveTo>
                      <a:pt x="6998284" y="335864"/>
                    </a:moveTo>
                    <a:lnTo>
                      <a:pt x="6971474" y="354050"/>
                    </a:lnTo>
                    <a:lnTo>
                      <a:pt x="6969150" y="62992"/>
                    </a:lnTo>
                    <a:lnTo>
                      <a:pt x="6969150" y="62776"/>
                    </a:lnTo>
                    <a:lnTo>
                      <a:pt x="6996239" y="80530"/>
                    </a:lnTo>
                    <a:lnTo>
                      <a:pt x="6982714" y="54013"/>
                    </a:lnTo>
                    <a:lnTo>
                      <a:pt x="6955168" y="0"/>
                    </a:lnTo>
                    <a:lnTo>
                      <a:pt x="6915391" y="81178"/>
                    </a:lnTo>
                    <a:lnTo>
                      <a:pt x="6942201" y="62992"/>
                    </a:lnTo>
                    <a:lnTo>
                      <a:pt x="6944525" y="354050"/>
                    </a:lnTo>
                    <a:lnTo>
                      <a:pt x="6944525" y="354266"/>
                    </a:lnTo>
                    <a:lnTo>
                      <a:pt x="6917423" y="336511"/>
                    </a:lnTo>
                    <a:lnTo>
                      <a:pt x="6958495" y="417042"/>
                    </a:lnTo>
                    <a:lnTo>
                      <a:pt x="6984860" y="363245"/>
                    </a:lnTo>
                    <a:lnTo>
                      <a:pt x="6998284" y="33586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grpSp>
          <p:nvGrpSpPr>
            <p:cNvPr id="8" name="object 8"/>
            <p:cNvGrpSpPr/>
            <p:nvPr/>
          </p:nvGrpSpPr>
          <p:grpSpPr>
            <a:xfrm>
              <a:off x="1454622" y="1770590"/>
              <a:ext cx="6196293" cy="358588"/>
              <a:chOff x="1496171" y="2006669"/>
              <a:chExt cx="7022465" cy="406400"/>
            </a:xfrm>
          </p:grpSpPr>
          <p:sp>
            <p:nvSpPr>
              <p:cNvPr id="9" name="object 9"/>
              <p:cNvSpPr/>
              <p:nvPr/>
            </p:nvSpPr>
            <p:spPr>
              <a:xfrm>
                <a:off x="1556586" y="2020145"/>
                <a:ext cx="69215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6921500" h="12700">
                    <a:moveTo>
                      <a:pt x="6921406" y="0"/>
                    </a:moveTo>
                    <a:lnTo>
                      <a:pt x="0" y="12088"/>
                    </a:lnTo>
                  </a:path>
                </a:pathLst>
              </a:custGeom>
              <a:ln w="269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1496161" y="2020150"/>
                <a:ext cx="7022465" cy="393065"/>
              </a:xfrm>
              <a:custGeom>
                <a:avLst/>
                <a:gdLst/>
                <a:ahLst/>
                <a:cxnLst/>
                <a:rect l="l" t="t" r="r" b="b"/>
                <a:pathLst>
                  <a:path w="7022465" h="393064">
                    <a:moveTo>
                      <a:pt x="80860" y="80860"/>
                    </a:moveTo>
                    <a:lnTo>
                      <a:pt x="67386" y="53898"/>
                    </a:lnTo>
                    <a:lnTo>
                      <a:pt x="40436" y="0"/>
                    </a:lnTo>
                    <a:lnTo>
                      <a:pt x="0" y="80860"/>
                    </a:lnTo>
                    <a:lnTo>
                      <a:pt x="26962" y="62890"/>
                    </a:lnTo>
                    <a:lnTo>
                      <a:pt x="26962" y="380784"/>
                    </a:lnTo>
                    <a:lnTo>
                      <a:pt x="53911" y="380784"/>
                    </a:lnTo>
                    <a:lnTo>
                      <a:pt x="53911" y="62890"/>
                    </a:lnTo>
                    <a:lnTo>
                      <a:pt x="80860" y="80860"/>
                    </a:lnTo>
                    <a:close/>
                  </a:path>
                  <a:path w="7022465" h="393064">
                    <a:moveTo>
                      <a:pt x="7022249" y="312013"/>
                    </a:moveTo>
                    <a:lnTo>
                      <a:pt x="6995300" y="329984"/>
                    </a:lnTo>
                    <a:lnTo>
                      <a:pt x="6995300" y="12090"/>
                    </a:lnTo>
                    <a:lnTo>
                      <a:pt x="6968350" y="12090"/>
                    </a:lnTo>
                    <a:lnTo>
                      <a:pt x="6968350" y="329984"/>
                    </a:lnTo>
                    <a:lnTo>
                      <a:pt x="6941401" y="312013"/>
                    </a:lnTo>
                    <a:lnTo>
                      <a:pt x="6981825" y="392874"/>
                    </a:lnTo>
                    <a:lnTo>
                      <a:pt x="7008774" y="338963"/>
                    </a:lnTo>
                    <a:lnTo>
                      <a:pt x="7022249" y="31201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11" name="object 11"/>
            <p:cNvSpPr txBox="1"/>
            <p:nvPr/>
          </p:nvSpPr>
          <p:spPr>
            <a:xfrm>
              <a:off x="926018" y="2129131"/>
              <a:ext cx="1176057" cy="990278"/>
            </a:xfrm>
            <a:prstGeom prst="rect">
              <a:avLst/>
            </a:prstGeom>
            <a:ln w="26952">
              <a:solidFill>
                <a:srgbClr val="000000"/>
              </a:solidFill>
            </a:ln>
          </p:spPr>
          <p:txBody>
            <a:bodyPr vert="horz" wrap="square" lIns="0" tIns="2801" rIns="0" bIns="0" rtlCol="0">
              <a:spAutoFit/>
            </a:bodyPr>
            <a:lstStyle/>
            <a:p>
              <a:pPr marL="331151">
                <a:spcBef>
                  <a:spcPts val="22"/>
                </a:spcBef>
              </a:pPr>
              <a:r>
                <a:rPr sz="1235" b="1" spc="-18" dirty="0">
                  <a:latin typeface="Arial"/>
                  <a:cs typeface="Arial"/>
                </a:rPr>
                <a:t>A0-</a:t>
              </a:r>
              <a:r>
                <a:rPr sz="1235" b="1" spc="-22" dirty="0">
                  <a:latin typeface="Arial"/>
                  <a:cs typeface="Arial"/>
                </a:rPr>
                <a:t>A31</a:t>
              </a:r>
              <a:endParaRPr sz="1235" dirty="0">
                <a:latin typeface="Arial"/>
                <a:cs typeface="Arial"/>
              </a:endParaRPr>
            </a:p>
            <a:p>
              <a:pPr marL="300334">
                <a:spcBef>
                  <a:spcPts val="649"/>
                </a:spcBef>
              </a:pPr>
              <a:r>
                <a:rPr sz="2030" b="1" spc="-22" dirty="0">
                  <a:solidFill>
                    <a:srgbClr val="053DE8"/>
                  </a:solidFill>
                  <a:latin typeface="Arial"/>
                  <a:cs typeface="Arial"/>
                </a:rPr>
                <a:t>CPU</a:t>
              </a:r>
              <a:endParaRPr sz="2030" dirty="0">
                <a:latin typeface="Arial"/>
                <a:cs typeface="Arial"/>
              </a:endParaRPr>
            </a:p>
            <a:p>
              <a:pPr marL="332272">
                <a:spcBef>
                  <a:spcPts val="1681"/>
                </a:spcBef>
              </a:pPr>
              <a:r>
                <a:rPr sz="1235" b="1" spc="-18" dirty="0">
                  <a:latin typeface="Arial"/>
                  <a:cs typeface="Arial"/>
                </a:rPr>
                <a:t>D0-</a:t>
              </a:r>
              <a:r>
                <a:rPr sz="1235" b="1" spc="-22" dirty="0">
                  <a:latin typeface="Arial"/>
                  <a:cs typeface="Arial"/>
                </a:rPr>
                <a:t>D31</a:t>
              </a:r>
              <a:endParaRPr sz="1235" dirty="0">
                <a:latin typeface="Arial"/>
                <a:cs typeface="Arial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6651080" y="2129131"/>
              <a:ext cx="1916206" cy="989758"/>
            </a:xfrm>
            <a:prstGeom prst="rect">
              <a:avLst/>
            </a:prstGeom>
            <a:ln w="26952">
              <a:solidFill>
                <a:srgbClr val="000000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12327" algn="ctr">
                <a:lnSpc>
                  <a:spcPts val="1443"/>
                </a:lnSpc>
              </a:pPr>
              <a:r>
                <a:rPr sz="1235" b="1" spc="-18" dirty="0">
                  <a:latin typeface="Arial"/>
                  <a:cs typeface="Arial"/>
                </a:rPr>
                <a:t>A0-</a:t>
              </a:r>
              <a:r>
                <a:rPr sz="1235" b="1" spc="-22" dirty="0">
                  <a:latin typeface="Arial"/>
                  <a:cs typeface="Arial"/>
                </a:rPr>
                <a:t>A31</a:t>
              </a:r>
              <a:endParaRPr sz="1235">
                <a:latin typeface="Arial"/>
                <a:cs typeface="Arial"/>
              </a:endParaRPr>
            </a:p>
            <a:p>
              <a:pPr marL="33619" algn="ctr">
                <a:spcBef>
                  <a:spcPts val="877"/>
                </a:spcBef>
              </a:pPr>
              <a:r>
                <a:rPr sz="2030" b="1" spc="-9" dirty="0">
                  <a:solidFill>
                    <a:srgbClr val="053DE8"/>
                  </a:solidFill>
                  <a:latin typeface="Arial"/>
                  <a:cs typeface="Arial"/>
                </a:rPr>
                <a:t>Memory</a:t>
              </a:r>
              <a:endParaRPr sz="2030">
                <a:latin typeface="Arial"/>
                <a:cs typeface="Arial"/>
              </a:endParaRPr>
            </a:p>
            <a:p>
              <a:pPr marL="12327" algn="ctr">
                <a:spcBef>
                  <a:spcPts val="1512"/>
                </a:spcBef>
              </a:pPr>
              <a:r>
                <a:rPr sz="1235" b="1" spc="-18" dirty="0">
                  <a:latin typeface="Arial"/>
                  <a:cs typeface="Arial"/>
                </a:rPr>
                <a:t>D0-</a:t>
              </a:r>
              <a:r>
                <a:rPr sz="1235" b="1" spc="-22" dirty="0">
                  <a:latin typeface="Arial"/>
                  <a:cs typeface="Arial"/>
                </a:rPr>
                <a:t>D31</a:t>
              </a:r>
              <a:endParaRPr sz="1235">
                <a:latin typeface="Arial"/>
                <a:cs typeface="Arial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2744490" y="2287344"/>
              <a:ext cx="3349437" cy="581600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96376" marR="4483" indent="-85730">
                <a:spcBef>
                  <a:spcPts val="88"/>
                </a:spcBef>
              </a:pPr>
              <a:r>
                <a:rPr sz="1853" b="1" dirty="0">
                  <a:solidFill>
                    <a:srgbClr val="0332B7"/>
                  </a:solidFill>
                  <a:latin typeface="Arial"/>
                  <a:cs typeface="Arial"/>
                </a:rPr>
                <a:t>Simple</a:t>
              </a:r>
              <a:r>
                <a:rPr sz="1853" b="1" spc="18" dirty="0">
                  <a:solidFill>
                    <a:srgbClr val="0332B7"/>
                  </a:solidFill>
                  <a:latin typeface="Arial"/>
                  <a:cs typeface="Arial"/>
                </a:rPr>
                <a:t> </a:t>
              </a:r>
              <a:r>
                <a:rPr sz="1853" b="1" dirty="0">
                  <a:solidFill>
                    <a:srgbClr val="0332B7"/>
                  </a:solidFill>
                  <a:latin typeface="Arial"/>
                  <a:cs typeface="Arial"/>
                </a:rPr>
                <a:t>addressing</a:t>
              </a:r>
              <a:r>
                <a:rPr sz="1853" b="1" spc="22" dirty="0">
                  <a:solidFill>
                    <a:srgbClr val="0332B7"/>
                  </a:solidFill>
                  <a:latin typeface="Arial"/>
                  <a:cs typeface="Arial"/>
                </a:rPr>
                <a:t> </a:t>
              </a:r>
              <a:r>
                <a:rPr sz="1853" b="1" dirty="0">
                  <a:solidFill>
                    <a:srgbClr val="0332B7"/>
                  </a:solidFill>
                  <a:latin typeface="Arial"/>
                  <a:cs typeface="Arial"/>
                </a:rPr>
                <a:t>method</a:t>
              </a:r>
              <a:r>
                <a:rPr sz="1853" b="1" spc="22" dirty="0">
                  <a:solidFill>
                    <a:srgbClr val="0332B7"/>
                  </a:solidFill>
                  <a:latin typeface="Arial"/>
                  <a:cs typeface="Arial"/>
                </a:rPr>
                <a:t> </a:t>
              </a:r>
              <a:r>
                <a:rPr sz="1853" b="1" spc="-22" dirty="0">
                  <a:solidFill>
                    <a:srgbClr val="0332B7"/>
                  </a:solidFill>
                  <a:latin typeface="Arial"/>
                  <a:cs typeface="Arial"/>
                </a:rPr>
                <a:t>of </a:t>
              </a:r>
              <a:r>
                <a:rPr sz="1853" b="1" dirty="0">
                  <a:solidFill>
                    <a:srgbClr val="FF0000"/>
                  </a:solidFill>
                  <a:latin typeface="Arial"/>
                  <a:cs typeface="Arial"/>
                </a:rPr>
                <a:t>archaic</a:t>
              </a:r>
              <a:r>
                <a:rPr sz="1853" b="1" spc="44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853" b="1" dirty="0">
                  <a:solidFill>
                    <a:srgbClr val="FF0000"/>
                  </a:solidFill>
                  <a:latin typeface="Arial"/>
                  <a:cs typeface="Arial"/>
                </a:rPr>
                <a:t>pre-1978</a:t>
              </a:r>
              <a:r>
                <a:rPr sz="1853" b="1" spc="49" dirty="0">
                  <a:solidFill>
                    <a:srgbClr val="FF0000"/>
                  </a:solidFill>
                  <a:latin typeface="Arial"/>
                  <a:cs typeface="Arial"/>
                </a:rPr>
                <a:t> </a:t>
              </a:r>
              <a:r>
                <a:rPr sz="1853" b="1" spc="-9" dirty="0">
                  <a:solidFill>
                    <a:srgbClr val="0332B7"/>
                  </a:solidFill>
                  <a:latin typeface="Arial"/>
                  <a:cs typeface="Arial"/>
                </a:rPr>
                <a:t>computers</a:t>
              </a:r>
              <a:endParaRPr sz="1853" dirty="0">
                <a:latin typeface="Arial"/>
                <a:cs typeface="Arial"/>
              </a:endParaRPr>
            </a:p>
          </p:txBody>
        </p:sp>
      </p:grpSp>
      <p:sp>
        <p:nvSpPr>
          <p:cNvPr id="15" name="object 3">
            <a:extLst>
              <a:ext uri="{FF2B5EF4-FFF2-40B4-BE49-F238E27FC236}">
                <a16:creationId xmlns:a16="http://schemas.microsoft.com/office/drawing/2014/main" id="{FD53B76C-A95E-A4DB-4B11-E056B459F0C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15</a:t>
            </a:fld>
            <a:endParaRPr spc="-22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8451" y="664010"/>
            <a:ext cx="5564841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1567226" algn="l"/>
              </a:tabLst>
            </a:pPr>
            <a:r>
              <a:rPr spc="-9" dirty="0"/>
              <a:t>Solution:</a:t>
            </a:r>
            <a:r>
              <a:rPr dirty="0"/>
              <a:t>	Add</a:t>
            </a:r>
            <a:r>
              <a:rPr spc="-18" dirty="0"/>
              <a:t> </a:t>
            </a:r>
            <a:r>
              <a:rPr dirty="0"/>
              <a:t>a</a:t>
            </a:r>
            <a:r>
              <a:rPr spc="-18" dirty="0"/>
              <a:t> </a:t>
            </a:r>
            <a:r>
              <a:rPr dirty="0"/>
              <a:t>Layer</a:t>
            </a:r>
            <a:r>
              <a:rPr spc="-18" dirty="0"/>
              <a:t> </a:t>
            </a:r>
            <a:r>
              <a:rPr dirty="0"/>
              <a:t>of</a:t>
            </a:r>
            <a:r>
              <a:rPr spc="-22" dirty="0"/>
              <a:t> </a:t>
            </a:r>
            <a:r>
              <a:rPr spc="-9" dirty="0"/>
              <a:t>Indirection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F8EF841-7843-EA87-6BDD-931A447DD69B}"/>
              </a:ext>
            </a:extLst>
          </p:cNvPr>
          <p:cNvGrpSpPr/>
          <p:nvPr/>
        </p:nvGrpSpPr>
        <p:grpSpPr>
          <a:xfrm>
            <a:off x="703068" y="1242957"/>
            <a:ext cx="7729382" cy="2274080"/>
            <a:chOff x="703068" y="1242957"/>
            <a:chExt cx="7729382" cy="2274080"/>
          </a:xfrm>
        </p:grpSpPr>
        <p:grpSp>
          <p:nvGrpSpPr>
            <p:cNvPr id="3" name="object 3"/>
            <p:cNvGrpSpPr/>
            <p:nvPr/>
          </p:nvGrpSpPr>
          <p:grpSpPr>
            <a:xfrm>
              <a:off x="1238150" y="1525191"/>
              <a:ext cx="6269131" cy="1991846"/>
              <a:chOff x="1250836" y="1728549"/>
              <a:chExt cx="7105015" cy="2257425"/>
            </a:xfrm>
          </p:grpSpPr>
          <p:sp>
            <p:nvSpPr>
              <p:cNvPr id="4" name="object 4"/>
              <p:cNvSpPr/>
              <p:nvPr/>
            </p:nvSpPr>
            <p:spPr>
              <a:xfrm>
                <a:off x="1313162" y="3959023"/>
                <a:ext cx="70262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26275">
                    <a:moveTo>
                      <a:pt x="0" y="0"/>
                    </a:moveTo>
                    <a:lnTo>
                      <a:pt x="7026107" y="1"/>
                    </a:lnTo>
                  </a:path>
                </a:pathLst>
              </a:custGeom>
              <a:ln w="269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5" name="object 5"/>
              <p:cNvSpPr/>
              <p:nvPr/>
            </p:nvSpPr>
            <p:spPr>
              <a:xfrm>
                <a:off x="1277785" y="3521049"/>
                <a:ext cx="7078345" cy="465455"/>
              </a:xfrm>
              <a:custGeom>
                <a:avLst/>
                <a:gdLst/>
                <a:ahLst/>
                <a:cxnLst/>
                <a:rect l="l" t="t" r="r" b="b"/>
                <a:pathLst>
                  <a:path w="7078345" h="465454">
                    <a:moveTo>
                      <a:pt x="80860" y="80860"/>
                    </a:moveTo>
                    <a:lnTo>
                      <a:pt x="67373" y="53911"/>
                    </a:lnTo>
                    <a:lnTo>
                      <a:pt x="40424" y="0"/>
                    </a:lnTo>
                    <a:lnTo>
                      <a:pt x="0" y="80860"/>
                    </a:lnTo>
                    <a:lnTo>
                      <a:pt x="26949" y="62890"/>
                    </a:lnTo>
                    <a:lnTo>
                      <a:pt x="26949" y="375094"/>
                    </a:lnTo>
                    <a:lnTo>
                      <a:pt x="0" y="357124"/>
                    </a:lnTo>
                    <a:lnTo>
                      <a:pt x="40424" y="437984"/>
                    </a:lnTo>
                    <a:lnTo>
                      <a:pt x="67373" y="384073"/>
                    </a:lnTo>
                    <a:lnTo>
                      <a:pt x="80860" y="357124"/>
                    </a:lnTo>
                    <a:lnTo>
                      <a:pt x="53898" y="375094"/>
                    </a:lnTo>
                    <a:lnTo>
                      <a:pt x="53898" y="62890"/>
                    </a:lnTo>
                    <a:lnTo>
                      <a:pt x="80860" y="80860"/>
                    </a:lnTo>
                    <a:close/>
                  </a:path>
                  <a:path w="7078345" h="465454">
                    <a:moveTo>
                      <a:pt x="7077735" y="383781"/>
                    </a:moveTo>
                    <a:lnTo>
                      <a:pt x="7050913" y="401942"/>
                    </a:lnTo>
                    <a:lnTo>
                      <a:pt x="7048462" y="62992"/>
                    </a:lnTo>
                    <a:lnTo>
                      <a:pt x="7048462" y="62801"/>
                    </a:lnTo>
                    <a:lnTo>
                      <a:pt x="7075538" y="80568"/>
                    </a:lnTo>
                    <a:lnTo>
                      <a:pt x="7062013" y="54000"/>
                    </a:lnTo>
                    <a:lnTo>
                      <a:pt x="7034530" y="0"/>
                    </a:lnTo>
                    <a:lnTo>
                      <a:pt x="6994690" y="81153"/>
                    </a:lnTo>
                    <a:lnTo>
                      <a:pt x="7021512" y="62992"/>
                    </a:lnTo>
                    <a:lnTo>
                      <a:pt x="7023963" y="401942"/>
                    </a:lnTo>
                    <a:lnTo>
                      <a:pt x="7023963" y="402145"/>
                    </a:lnTo>
                    <a:lnTo>
                      <a:pt x="6996887" y="384365"/>
                    </a:lnTo>
                    <a:lnTo>
                      <a:pt x="7037895" y="464934"/>
                    </a:lnTo>
                    <a:lnTo>
                      <a:pt x="7064311" y="411124"/>
                    </a:lnTo>
                    <a:lnTo>
                      <a:pt x="7077735" y="38378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1311478" y="1742202"/>
                <a:ext cx="2963545" cy="10160"/>
              </a:xfrm>
              <a:custGeom>
                <a:avLst/>
                <a:gdLst/>
                <a:ahLst/>
                <a:cxnLst/>
                <a:rect l="l" t="t" r="r" b="b"/>
                <a:pathLst>
                  <a:path w="2963545" h="10160">
                    <a:moveTo>
                      <a:pt x="2963059" y="10107"/>
                    </a:moveTo>
                    <a:lnTo>
                      <a:pt x="0" y="0"/>
                    </a:lnTo>
                  </a:path>
                </a:pathLst>
              </a:custGeom>
              <a:ln w="269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1250835" y="1728736"/>
                <a:ext cx="710247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7102475" h="438150">
                    <a:moveTo>
                      <a:pt x="80848" y="80848"/>
                    </a:moveTo>
                    <a:lnTo>
                      <a:pt x="67373" y="53898"/>
                    </a:lnTo>
                    <a:lnTo>
                      <a:pt x="40424" y="0"/>
                    </a:lnTo>
                    <a:lnTo>
                      <a:pt x="0" y="80848"/>
                    </a:lnTo>
                    <a:lnTo>
                      <a:pt x="26949" y="62890"/>
                    </a:lnTo>
                    <a:lnTo>
                      <a:pt x="26949" y="424497"/>
                    </a:lnTo>
                    <a:lnTo>
                      <a:pt x="53898" y="424497"/>
                    </a:lnTo>
                    <a:lnTo>
                      <a:pt x="53898" y="62890"/>
                    </a:lnTo>
                    <a:lnTo>
                      <a:pt x="80848" y="80848"/>
                    </a:lnTo>
                    <a:close/>
                  </a:path>
                  <a:path w="7102475" h="438150">
                    <a:moveTo>
                      <a:pt x="7101903" y="357111"/>
                    </a:moveTo>
                    <a:lnTo>
                      <a:pt x="7074954" y="375081"/>
                    </a:lnTo>
                    <a:lnTo>
                      <a:pt x="7074954" y="13474"/>
                    </a:lnTo>
                    <a:lnTo>
                      <a:pt x="7048005" y="13474"/>
                    </a:lnTo>
                    <a:lnTo>
                      <a:pt x="7048005" y="375081"/>
                    </a:lnTo>
                    <a:lnTo>
                      <a:pt x="7021055" y="357111"/>
                    </a:lnTo>
                    <a:lnTo>
                      <a:pt x="7061479" y="437972"/>
                    </a:lnTo>
                    <a:lnTo>
                      <a:pt x="7088429" y="384060"/>
                    </a:lnTo>
                    <a:lnTo>
                      <a:pt x="7101903" y="35711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8" name="object 8"/>
            <p:cNvSpPr txBox="1"/>
            <p:nvPr/>
          </p:nvSpPr>
          <p:spPr>
            <a:xfrm>
              <a:off x="703068" y="1911793"/>
              <a:ext cx="1189504" cy="1092350"/>
            </a:xfrm>
            <a:prstGeom prst="rect">
              <a:avLst/>
            </a:prstGeom>
            <a:ln w="26952">
              <a:solidFill>
                <a:srgbClr val="000000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340677">
                <a:lnSpc>
                  <a:spcPts val="1293"/>
                </a:lnSpc>
              </a:pPr>
              <a:r>
                <a:rPr sz="1235" spc="-22" dirty="0">
                  <a:latin typeface="Times New Roman"/>
                  <a:cs typeface="Times New Roman"/>
                </a:rPr>
                <a:t>A0-A31</a:t>
              </a:r>
              <a:endParaRPr sz="1235">
                <a:latin typeface="Times New Roman"/>
                <a:cs typeface="Times New Roman"/>
              </a:endParaRPr>
            </a:p>
            <a:p>
              <a:pPr marL="313221">
                <a:spcBef>
                  <a:spcPts val="1196"/>
                </a:spcBef>
              </a:pPr>
              <a:r>
                <a:rPr sz="2030" b="1" spc="-22" dirty="0">
                  <a:solidFill>
                    <a:srgbClr val="053DE8"/>
                  </a:solidFill>
                  <a:latin typeface="Times New Roman"/>
                  <a:cs typeface="Times New Roman"/>
                </a:rPr>
                <a:t>CPU</a:t>
              </a:r>
              <a:endParaRPr sz="2030">
                <a:latin typeface="Times New Roman"/>
                <a:cs typeface="Times New Roman"/>
              </a:endParaRPr>
            </a:p>
            <a:p>
              <a:pPr marL="353004">
                <a:spcBef>
                  <a:spcPts val="2149"/>
                </a:spcBef>
              </a:pPr>
              <a:r>
                <a:rPr sz="1235" spc="-22" dirty="0">
                  <a:latin typeface="Times New Roman"/>
                  <a:cs typeface="Times New Roman"/>
                </a:rPr>
                <a:t>D0-D31</a:t>
              </a:r>
              <a:endParaRPr sz="1235">
                <a:latin typeface="Times New Roman"/>
                <a:cs typeface="Times New Roman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6493832" y="1911793"/>
              <a:ext cx="1938618" cy="1101546"/>
            </a:xfrm>
            <a:prstGeom prst="rect">
              <a:avLst/>
            </a:prstGeom>
            <a:ln w="26952">
              <a:solidFill>
                <a:srgbClr val="000000"/>
              </a:solidFill>
            </a:ln>
          </p:spPr>
          <p:txBody>
            <a:bodyPr vert="horz" wrap="square" lIns="0" tIns="24093" rIns="0" bIns="0" rtlCol="0">
              <a:spAutoFit/>
            </a:bodyPr>
            <a:lstStyle/>
            <a:p>
              <a:pPr marL="750834">
                <a:spcBef>
                  <a:spcPts val="190"/>
                </a:spcBef>
              </a:pPr>
              <a:r>
                <a:rPr sz="1235" spc="-22" dirty="0">
                  <a:latin typeface="Times New Roman"/>
                  <a:cs typeface="Times New Roman"/>
                </a:rPr>
                <a:t>A0-A31</a:t>
              </a:r>
              <a:endParaRPr sz="1235">
                <a:latin typeface="Times New Roman"/>
                <a:cs typeface="Times New Roman"/>
              </a:endParaRPr>
            </a:p>
            <a:p>
              <a:pPr marL="177623">
                <a:spcBef>
                  <a:spcPts val="1006"/>
                </a:spcBef>
              </a:pPr>
              <a:r>
                <a:rPr sz="2030" b="1" dirty="0">
                  <a:solidFill>
                    <a:srgbClr val="053DE8"/>
                  </a:solidFill>
                  <a:latin typeface="Times New Roman"/>
                  <a:cs typeface="Times New Roman"/>
                </a:rPr>
                <a:t>Main</a:t>
              </a:r>
              <a:r>
                <a:rPr sz="2030" b="1" spc="4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2030" b="1" spc="-9" dirty="0">
                  <a:solidFill>
                    <a:srgbClr val="053DE8"/>
                  </a:solidFill>
                  <a:latin typeface="Times New Roman"/>
                  <a:cs typeface="Times New Roman"/>
                </a:rPr>
                <a:t>Memory</a:t>
              </a:r>
              <a:endParaRPr sz="2030">
                <a:latin typeface="Times New Roman"/>
                <a:cs typeface="Times New Roman"/>
              </a:endParaRPr>
            </a:p>
            <a:p>
              <a:pPr marL="721136">
                <a:spcBef>
                  <a:spcPts val="1959"/>
                </a:spcBef>
              </a:pPr>
              <a:r>
                <a:rPr sz="1235" spc="-22" dirty="0">
                  <a:latin typeface="Times New Roman"/>
                  <a:cs typeface="Times New Roman"/>
                </a:rPr>
                <a:t>D0-D31</a:t>
              </a:r>
              <a:endParaRPr sz="1235">
                <a:latin typeface="Times New Roman"/>
                <a:cs typeface="Times New Roman"/>
              </a:endParaRPr>
            </a:p>
          </p:txBody>
        </p:sp>
        <p:grpSp>
          <p:nvGrpSpPr>
            <p:cNvPr id="10" name="object 10"/>
            <p:cNvGrpSpPr/>
            <p:nvPr/>
          </p:nvGrpSpPr>
          <p:grpSpPr>
            <a:xfrm>
              <a:off x="3519519" y="1537238"/>
              <a:ext cx="1962710" cy="1777813"/>
              <a:chOff x="3836387" y="1742202"/>
              <a:chExt cx="2224405" cy="2014855"/>
            </a:xfrm>
          </p:grpSpPr>
          <p:sp>
            <p:nvSpPr>
              <p:cNvPr id="11" name="object 11"/>
              <p:cNvSpPr/>
              <p:nvPr/>
            </p:nvSpPr>
            <p:spPr>
              <a:xfrm>
                <a:off x="3850040" y="2166700"/>
                <a:ext cx="2197100" cy="1576705"/>
              </a:xfrm>
              <a:custGeom>
                <a:avLst/>
                <a:gdLst/>
                <a:ahLst/>
                <a:cxnLst/>
                <a:rect l="l" t="t" r="r" b="b"/>
                <a:pathLst>
                  <a:path w="2197100" h="1576704">
                    <a:moveTo>
                      <a:pt x="0" y="0"/>
                    </a:moveTo>
                    <a:lnTo>
                      <a:pt x="2196605" y="0"/>
                    </a:lnTo>
                    <a:lnTo>
                      <a:pt x="2196605" y="1576704"/>
                    </a:lnTo>
                    <a:lnTo>
                      <a:pt x="0" y="1576704"/>
                    </a:lnTo>
                    <a:lnTo>
                      <a:pt x="0" y="0"/>
                    </a:lnTo>
                    <a:close/>
                  </a:path>
                </a:pathLst>
              </a:custGeom>
              <a:ln w="269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4240847" y="1742202"/>
                <a:ext cx="81280" cy="424815"/>
              </a:xfrm>
              <a:custGeom>
                <a:avLst/>
                <a:gdLst/>
                <a:ahLst/>
                <a:cxnLst/>
                <a:rect l="l" t="t" r="r" b="b"/>
                <a:pathLst>
                  <a:path w="81279" h="424814">
                    <a:moveTo>
                      <a:pt x="0" y="343640"/>
                    </a:moveTo>
                    <a:lnTo>
                      <a:pt x="40429" y="424497"/>
                    </a:lnTo>
                    <a:lnTo>
                      <a:pt x="67380" y="370593"/>
                    </a:lnTo>
                    <a:lnTo>
                      <a:pt x="26953" y="370593"/>
                    </a:lnTo>
                    <a:lnTo>
                      <a:pt x="26953" y="361609"/>
                    </a:lnTo>
                    <a:lnTo>
                      <a:pt x="0" y="343640"/>
                    </a:lnTo>
                    <a:close/>
                  </a:path>
                  <a:path w="81279" h="424814">
                    <a:moveTo>
                      <a:pt x="26953" y="361609"/>
                    </a:moveTo>
                    <a:lnTo>
                      <a:pt x="26953" y="370593"/>
                    </a:lnTo>
                    <a:lnTo>
                      <a:pt x="40429" y="370593"/>
                    </a:lnTo>
                    <a:lnTo>
                      <a:pt x="26953" y="361609"/>
                    </a:lnTo>
                    <a:close/>
                  </a:path>
                  <a:path w="81279" h="424814">
                    <a:moveTo>
                      <a:pt x="53903" y="0"/>
                    </a:moveTo>
                    <a:lnTo>
                      <a:pt x="26951" y="0"/>
                    </a:lnTo>
                    <a:lnTo>
                      <a:pt x="26953" y="361609"/>
                    </a:lnTo>
                    <a:lnTo>
                      <a:pt x="40429" y="370593"/>
                    </a:lnTo>
                    <a:lnTo>
                      <a:pt x="53904" y="361609"/>
                    </a:lnTo>
                    <a:lnTo>
                      <a:pt x="53903" y="0"/>
                    </a:lnTo>
                    <a:close/>
                  </a:path>
                  <a:path w="81279" h="424814">
                    <a:moveTo>
                      <a:pt x="53905" y="361609"/>
                    </a:moveTo>
                    <a:lnTo>
                      <a:pt x="40429" y="370593"/>
                    </a:lnTo>
                    <a:lnTo>
                      <a:pt x="53905" y="370593"/>
                    </a:lnTo>
                    <a:lnTo>
                      <a:pt x="53905" y="361609"/>
                    </a:lnTo>
                    <a:close/>
                  </a:path>
                  <a:path w="81279" h="424814">
                    <a:moveTo>
                      <a:pt x="80857" y="343640"/>
                    </a:moveTo>
                    <a:lnTo>
                      <a:pt x="53905" y="361609"/>
                    </a:lnTo>
                    <a:lnTo>
                      <a:pt x="53905" y="370593"/>
                    </a:lnTo>
                    <a:lnTo>
                      <a:pt x="67380" y="370593"/>
                    </a:lnTo>
                    <a:lnTo>
                      <a:pt x="80857" y="34364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13" name="object 13"/>
            <p:cNvSpPr txBox="1"/>
            <p:nvPr/>
          </p:nvSpPr>
          <p:spPr>
            <a:xfrm>
              <a:off x="3697469" y="1895138"/>
              <a:ext cx="1593476" cy="968565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>
                <a:spcBef>
                  <a:spcPts val="88"/>
                </a:spcBef>
                <a:tabLst>
                  <a:tab pos="1058452" algn="l"/>
                </a:tabLst>
              </a:pPr>
              <a:r>
                <a:rPr sz="1235" spc="-9" dirty="0">
                  <a:latin typeface="Times New Roman"/>
                  <a:cs typeface="Times New Roman"/>
                </a:rPr>
                <a:t>Virtual</a:t>
              </a:r>
              <a:r>
                <a:rPr sz="1235" dirty="0">
                  <a:latin typeface="Times New Roman"/>
                  <a:cs typeface="Times New Roman"/>
                </a:rPr>
                <a:t>	</a:t>
              </a:r>
              <a:r>
                <a:rPr sz="1853" spc="-13" baseline="3968" dirty="0">
                  <a:latin typeface="Times New Roman"/>
                  <a:cs typeface="Times New Roman"/>
                </a:rPr>
                <a:t>Physical</a:t>
              </a:r>
              <a:endParaRPr sz="1853" baseline="3968">
                <a:latin typeface="Times New Roman"/>
                <a:cs typeface="Times New Roman"/>
              </a:endParaRPr>
            </a:p>
            <a:p>
              <a:pPr>
                <a:spcBef>
                  <a:spcPts val="454"/>
                </a:spcBef>
              </a:pPr>
              <a:endParaRPr sz="1235">
                <a:latin typeface="Times New Roman"/>
                <a:cs typeface="Times New Roman"/>
              </a:endParaRPr>
            </a:p>
            <a:p>
              <a:pPr marL="177062" marR="122711" indent="189389">
                <a:lnSpc>
                  <a:spcPts val="2030"/>
                </a:lnSpc>
              </a:pPr>
              <a:r>
                <a:rPr sz="2030" b="1" spc="-9" dirty="0">
                  <a:solidFill>
                    <a:srgbClr val="053DE8"/>
                  </a:solidFill>
                  <a:latin typeface="Times New Roman"/>
                  <a:cs typeface="Times New Roman"/>
                </a:rPr>
                <a:t>Address Translation</a:t>
              </a:r>
              <a:endParaRPr sz="2030">
                <a:latin typeface="Times New Roman"/>
                <a:cs typeface="Times New Roman"/>
              </a:endParaRPr>
            </a:p>
          </p:txBody>
        </p:sp>
        <p:grpSp>
          <p:nvGrpSpPr>
            <p:cNvPr id="14" name="object 14"/>
            <p:cNvGrpSpPr/>
            <p:nvPr/>
          </p:nvGrpSpPr>
          <p:grpSpPr>
            <a:xfrm>
              <a:off x="4982229" y="1519400"/>
              <a:ext cx="2503394" cy="381000"/>
              <a:chOff x="5494126" y="1721987"/>
              <a:chExt cx="2837180" cy="431800"/>
            </a:xfrm>
          </p:grpSpPr>
          <p:sp>
            <p:nvSpPr>
              <p:cNvPr id="15" name="object 15"/>
              <p:cNvSpPr/>
              <p:nvPr/>
            </p:nvSpPr>
            <p:spPr>
              <a:xfrm>
                <a:off x="5500863" y="1735463"/>
                <a:ext cx="283019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830195">
                    <a:moveTo>
                      <a:pt x="2829983" y="0"/>
                    </a:moveTo>
                    <a:lnTo>
                      <a:pt x="0" y="1"/>
                    </a:lnTo>
                  </a:path>
                </a:pathLst>
              </a:custGeom>
              <a:ln w="269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5494126" y="1728726"/>
                <a:ext cx="81280" cy="424815"/>
              </a:xfrm>
              <a:custGeom>
                <a:avLst/>
                <a:gdLst/>
                <a:ahLst/>
                <a:cxnLst/>
                <a:rect l="l" t="t" r="r" b="b"/>
                <a:pathLst>
                  <a:path w="81279" h="424814">
                    <a:moveTo>
                      <a:pt x="40427" y="53903"/>
                    </a:moveTo>
                    <a:lnTo>
                      <a:pt x="26951" y="62888"/>
                    </a:lnTo>
                    <a:lnTo>
                      <a:pt x="26951" y="424497"/>
                    </a:lnTo>
                    <a:lnTo>
                      <a:pt x="53905" y="424497"/>
                    </a:lnTo>
                    <a:lnTo>
                      <a:pt x="53903" y="62888"/>
                    </a:lnTo>
                    <a:lnTo>
                      <a:pt x="40427" y="53903"/>
                    </a:lnTo>
                    <a:close/>
                  </a:path>
                  <a:path w="81279" h="424814">
                    <a:moveTo>
                      <a:pt x="40427" y="0"/>
                    </a:moveTo>
                    <a:lnTo>
                      <a:pt x="0" y="80857"/>
                    </a:lnTo>
                    <a:lnTo>
                      <a:pt x="26951" y="62888"/>
                    </a:lnTo>
                    <a:lnTo>
                      <a:pt x="26951" y="53903"/>
                    </a:lnTo>
                    <a:lnTo>
                      <a:pt x="67379" y="53903"/>
                    </a:lnTo>
                    <a:lnTo>
                      <a:pt x="40427" y="0"/>
                    </a:lnTo>
                    <a:close/>
                  </a:path>
                  <a:path w="81279" h="424814">
                    <a:moveTo>
                      <a:pt x="67379" y="53903"/>
                    </a:moveTo>
                    <a:lnTo>
                      <a:pt x="53903" y="53903"/>
                    </a:lnTo>
                    <a:lnTo>
                      <a:pt x="53903" y="62888"/>
                    </a:lnTo>
                    <a:lnTo>
                      <a:pt x="80855" y="80857"/>
                    </a:lnTo>
                    <a:lnTo>
                      <a:pt x="67379" y="53903"/>
                    </a:lnTo>
                    <a:close/>
                  </a:path>
                  <a:path w="81279" h="424814">
                    <a:moveTo>
                      <a:pt x="40427" y="53903"/>
                    </a:moveTo>
                    <a:lnTo>
                      <a:pt x="26951" y="53903"/>
                    </a:lnTo>
                    <a:lnTo>
                      <a:pt x="26951" y="62888"/>
                    </a:lnTo>
                    <a:lnTo>
                      <a:pt x="40427" y="53903"/>
                    </a:lnTo>
                    <a:close/>
                  </a:path>
                  <a:path w="81279" h="424814">
                    <a:moveTo>
                      <a:pt x="53903" y="53903"/>
                    </a:moveTo>
                    <a:lnTo>
                      <a:pt x="40427" y="53903"/>
                    </a:lnTo>
                    <a:lnTo>
                      <a:pt x="53903" y="62888"/>
                    </a:lnTo>
                    <a:lnTo>
                      <a:pt x="53903" y="5390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17" name="object 17"/>
            <p:cNvSpPr txBox="1"/>
            <p:nvPr/>
          </p:nvSpPr>
          <p:spPr>
            <a:xfrm>
              <a:off x="1556375" y="1242957"/>
              <a:ext cx="6100482" cy="3237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  <a:tabLst>
                  <a:tab pos="3819168" algn="l"/>
                </a:tabLst>
              </a:pPr>
              <a:r>
                <a:rPr sz="3044" spc="-13" baseline="1207" dirty="0">
                  <a:solidFill>
                    <a:srgbClr val="053DE8"/>
                  </a:solidFill>
                  <a:latin typeface="MS PGothic"/>
                  <a:cs typeface="MS PGothic"/>
                </a:rPr>
                <a:t>“</a:t>
              </a:r>
              <a:r>
                <a:rPr sz="3044" spc="-13" baseline="1207" dirty="0">
                  <a:solidFill>
                    <a:srgbClr val="053DE8"/>
                  </a:solidFill>
                  <a:latin typeface="Times New Roman"/>
                  <a:cs typeface="Times New Roman"/>
                </a:rPr>
                <a:t>Virtual</a:t>
              </a:r>
              <a:r>
                <a:rPr sz="3044" spc="-119" baseline="1207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3044" spc="-13" baseline="1207" dirty="0">
                  <a:solidFill>
                    <a:srgbClr val="053DE8"/>
                  </a:solidFill>
                  <a:latin typeface="Times New Roman"/>
                  <a:cs typeface="Times New Roman"/>
                </a:rPr>
                <a:t>Addresses</a:t>
              </a:r>
              <a:r>
                <a:rPr sz="3044" spc="-13" baseline="1207" dirty="0">
                  <a:solidFill>
                    <a:srgbClr val="053DE8"/>
                  </a:solidFill>
                  <a:latin typeface="MS PGothic"/>
                  <a:cs typeface="MS PGothic"/>
                </a:rPr>
                <a:t>”</a:t>
              </a:r>
              <a:r>
                <a:rPr sz="3044" baseline="1207" dirty="0">
                  <a:solidFill>
                    <a:srgbClr val="053DE8"/>
                  </a:solidFill>
                  <a:latin typeface="MS PGothic"/>
                  <a:cs typeface="MS PGothic"/>
                </a:rPr>
                <a:t>	</a:t>
              </a:r>
              <a:r>
                <a:rPr sz="2030" dirty="0">
                  <a:solidFill>
                    <a:srgbClr val="053DE8"/>
                  </a:solidFill>
                  <a:latin typeface="MS PGothic"/>
                  <a:cs typeface="MS PGothic"/>
                </a:rPr>
                <a:t>“</a:t>
              </a:r>
              <a:r>
                <a:rPr sz="203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Physical</a:t>
              </a:r>
              <a:r>
                <a:rPr sz="2030" spc="-4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2030" spc="-9" dirty="0">
                  <a:solidFill>
                    <a:srgbClr val="053DE8"/>
                  </a:solidFill>
                  <a:latin typeface="Times New Roman"/>
                  <a:cs typeface="Times New Roman"/>
                </a:rPr>
                <a:t>Addresses</a:t>
              </a:r>
              <a:r>
                <a:rPr sz="2030" spc="-9" dirty="0">
                  <a:solidFill>
                    <a:srgbClr val="053DE8"/>
                  </a:solidFill>
                  <a:latin typeface="MS PGothic"/>
                  <a:cs typeface="MS PGothic"/>
                </a:rPr>
                <a:t>”</a:t>
              </a:r>
              <a:endParaRPr sz="2030">
                <a:latin typeface="MS PGothic"/>
                <a:cs typeface="MS PGothic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56671" y="3066006"/>
            <a:ext cx="6744260" cy="3371182"/>
          </a:xfrm>
          <a:prstGeom prst="rect">
            <a:avLst/>
          </a:prstGeom>
        </p:spPr>
        <p:txBody>
          <a:bodyPr vert="horz" wrap="square" lIns="0" tIns="91887" rIns="0" bIns="0" rtlCol="0">
            <a:spAutoFit/>
          </a:bodyPr>
          <a:lstStyle/>
          <a:p>
            <a:pPr marL="1123450">
              <a:spcBef>
                <a:spcPts val="723"/>
              </a:spcBef>
            </a:pPr>
            <a:r>
              <a:rPr sz="2030" spc="-18" dirty="0">
                <a:solidFill>
                  <a:srgbClr val="053DE8"/>
                </a:solidFill>
                <a:latin typeface="Times New Roman"/>
                <a:cs typeface="Times New Roman"/>
              </a:rPr>
              <a:t>Data</a:t>
            </a:r>
            <a:endParaRPr sz="2030" dirty="0">
              <a:latin typeface="Times New Roman"/>
              <a:cs typeface="Times New Roman"/>
            </a:endParaRPr>
          </a:p>
          <a:p>
            <a:pPr marL="819754" marR="666786" algn="ctr">
              <a:lnSpc>
                <a:spcPts val="2982"/>
              </a:lnSpc>
              <a:spcBef>
                <a:spcPts val="979"/>
              </a:spcBef>
            </a:pPr>
            <a:r>
              <a:rPr sz="2559" dirty="0">
                <a:latin typeface="Times New Roman"/>
                <a:cs typeface="Times New Roman"/>
              </a:rPr>
              <a:t>All</a:t>
            </a:r>
            <a:r>
              <a:rPr sz="2559" spc="-66" dirty="0"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user</a:t>
            </a:r>
            <a:r>
              <a:rPr sz="2559" spc="-66" dirty="0"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programs</a:t>
            </a:r>
            <a:r>
              <a:rPr sz="2559" spc="-66" dirty="0"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run</a:t>
            </a:r>
            <a:r>
              <a:rPr sz="2559" spc="-71" dirty="0"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in</a:t>
            </a:r>
            <a:r>
              <a:rPr sz="2559" spc="-71" dirty="0"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a</a:t>
            </a:r>
            <a:r>
              <a:rPr sz="2559" spc="-66" dirty="0">
                <a:latin typeface="Times New Roman"/>
                <a:cs typeface="Times New Roman"/>
              </a:rPr>
              <a:t> </a:t>
            </a:r>
            <a:r>
              <a:rPr sz="2559" spc="-9" dirty="0">
                <a:latin typeface="Times New Roman"/>
                <a:cs typeface="Times New Roman"/>
              </a:rPr>
              <a:t>standardized </a:t>
            </a:r>
            <a:r>
              <a:rPr sz="2559" dirty="0">
                <a:solidFill>
                  <a:srgbClr val="053DE8"/>
                </a:solidFill>
                <a:latin typeface="Times New Roman"/>
                <a:cs typeface="Times New Roman"/>
              </a:rPr>
              <a:t>virtual</a:t>
            </a:r>
            <a:r>
              <a:rPr sz="2559" spc="-106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address</a:t>
            </a:r>
            <a:r>
              <a:rPr sz="2559" spc="-106" dirty="0"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space</a:t>
            </a:r>
            <a:r>
              <a:rPr sz="2559" spc="-110" dirty="0"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starting</a:t>
            </a:r>
            <a:r>
              <a:rPr sz="2559" spc="-110" dirty="0"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at</a:t>
            </a:r>
            <a:r>
              <a:rPr sz="2559" spc="-101" dirty="0">
                <a:latin typeface="Times New Roman"/>
                <a:cs typeface="Times New Roman"/>
              </a:rPr>
              <a:t> </a:t>
            </a:r>
            <a:r>
              <a:rPr sz="2559" spc="-9" dirty="0">
                <a:latin typeface="Times New Roman"/>
                <a:cs typeface="Times New Roman"/>
              </a:rPr>
              <a:t>zero.</a:t>
            </a:r>
            <a:endParaRPr sz="2559" dirty="0">
              <a:latin typeface="Times New Roman"/>
              <a:cs typeface="Times New Roman"/>
            </a:endParaRPr>
          </a:p>
          <a:p>
            <a:pPr marL="10646" marR="4483" indent="-6164" algn="ctr">
              <a:lnSpc>
                <a:spcPct val="97600"/>
              </a:lnSpc>
              <a:spcBef>
                <a:spcPts val="459"/>
              </a:spcBef>
            </a:pPr>
            <a:r>
              <a:rPr sz="2559" dirty="0">
                <a:latin typeface="Times New Roman"/>
                <a:cs typeface="Times New Roman"/>
              </a:rPr>
              <a:t>Needs</a:t>
            </a:r>
            <a:r>
              <a:rPr sz="2559" spc="-119" dirty="0">
                <a:latin typeface="Times New Roman"/>
                <a:cs typeface="Times New Roman"/>
              </a:rPr>
              <a:t> </a:t>
            </a:r>
            <a:r>
              <a:rPr sz="2559" spc="-22" dirty="0">
                <a:latin typeface="Times New Roman"/>
                <a:cs typeface="Times New Roman"/>
              </a:rPr>
              <a:t>fast(</a:t>
            </a:r>
            <a:r>
              <a:rPr sz="2559" spc="-22" dirty="0">
                <a:solidFill>
                  <a:srgbClr val="FF0000"/>
                </a:solidFill>
                <a:latin typeface="Times New Roman"/>
                <a:cs typeface="Times New Roman"/>
              </a:rPr>
              <a:t>!</a:t>
            </a:r>
            <a:r>
              <a:rPr sz="2559" spc="-22" dirty="0">
                <a:latin typeface="Times New Roman"/>
                <a:cs typeface="Times New Roman"/>
              </a:rPr>
              <a:t>)</a:t>
            </a:r>
            <a:r>
              <a:rPr sz="2559" spc="-159" dirty="0">
                <a:latin typeface="Times New Roman"/>
                <a:cs typeface="Times New Roman"/>
              </a:rPr>
              <a:t> </a:t>
            </a:r>
            <a:r>
              <a:rPr sz="2559" spc="-9" dirty="0">
                <a:solidFill>
                  <a:srgbClr val="053DE8"/>
                </a:solidFill>
                <a:latin typeface="Times New Roman"/>
                <a:cs typeface="Times New Roman"/>
              </a:rPr>
              <a:t>Address</a:t>
            </a:r>
            <a:r>
              <a:rPr sz="2559" spc="-115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559" spc="-18" dirty="0">
                <a:solidFill>
                  <a:srgbClr val="053DE8"/>
                </a:solidFill>
                <a:latin typeface="Times New Roman"/>
                <a:cs typeface="Times New Roman"/>
              </a:rPr>
              <a:t>Translation</a:t>
            </a:r>
            <a:r>
              <a:rPr sz="2559" spc="-93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559" spc="-9" dirty="0">
                <a:latin typeface="Times New Roman"/>
                <a:cs typeface="Times New Roman"/>
              </a:rPr>
              <a:t>hardware, </a:t>
            </a:r>
            <a:r>
              <a:rPr sz="2559" dirty="0">
                <a:solidFill>
                  <a:srgbClr val="008000"/>
                </a:solidFill>
                <a:latin typeface="Times New Roman"/>
                <a:cs typeface="Times New Roman"/>
              </a:rPr>
              <a:t>managed</a:t>
            </a:r>
            <a:r>
              <a:rPr sz="2559" spc="-88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559" dirty="0">
                <a:solidFill>
                  <a:srgbClr val="008000"/>
                </a:solidFill>
                <a:latin typeface="Times New Roman"/>
                <a:cs typeface="Times New Roman"/>
              </a:rPr>
              <a:t>by</a:t>
            </a:r>
            <a:r>
              <a:rPr sz="2559" spc="-88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559" dirty="0">
                <a:solidFill>
                  <a:srgbClr val="008000"/>
                </a:solidFill>
                <a:latin typeface="Times New Roman"/>
                <a:cs typeface="Times New Roman"/>
              </a:rPr>
              <a:t>the</a:t>
            </a:r>
            <a:r>
              <a:rPr sz="2559" spc="-88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559" dirty="0">
                <a:solidFill>
                  <a:srgbClr val="008000"/>
                </a:solidFill>
                <a:latin typeface="Times New Roman"/>
                <a:cs typeface="Times New Roman"/>
              </a:rPr>
              <a:t>operating</a:t>
            </a:r>
            <a:r>
              <a:rPr sz="2559" spc="-88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559" dirty="0">
                <a:solidFill>
                  <a:srgbClr val="008000"/>
                </a:solidFill>
                <a:latin typeface="Times New Roman"/>
                <a:cs typeface="Times New Roman"/>
              </a:rPr>
              <a:t>system</a:t>
            </a:r>
            <a:r>
              <a:rPr sz="2559" spc="-97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559" dirty="0">
                <a:solidFill>
                  <a:srgbClr val="008000"/>
                </a:solidFill>
                <a:latin typeface="Times New Roman"/>
                <a:cs typeface="Times New Roman"/>
              </a:rPr>
              <a:t>(OS),</a:t>
            </a:r>
            <a:r>
              <a:rPr sz="2559" spc="-84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559" dirty="0">
                <a:solidFill>
                  <a:srgbClr val="008000"/>
                </a:solidFill>
                <a:latin typeface="Times New Roman"/>
                <a:cs typeface="Times New Roman"/>
              </a:rPr>
              <a:t>to</a:t>
            </a:r>
            <a:r>
              <a:rPr sz="2559" spc="-88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559" dirty="0">
                <a:solidFill>
                  <a:srgbClr val="008000"/>
                </a:solidFill>
                <a:latin typeface="Times New Roman"/>
                <a:cs typeface="Times New Roman"/>
              </a:rPr>
              <a:t>map</a:t>
            </a:r>
            <a:r>
              <a:rPr sz="2559" spc="-88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559" spc="-18" dirty="0">
                <a:solidFill>
                  <a:srgbClr val="008000"/>
                </a:solidFill>
                <a:latin typeface="Times New Roman"/>
                <a:cs typeface="Times New Roman"/>
              </a:rPr>
              <a:t>each </a:t>
            </a:r>
            <a:r>
              <a:rPr sz="2559" dirty="0">
                <a:solidFill>
                  <a:srgbClr val="008000"/>
                </a:solidFill>
                <a:latin typeface="Times New Roman"/>
                <a:cs typeface="Times New Roman"/>
              </a:rPr>
              <a:t>virtual</a:t>
            </a:r>
            <a:r>
              <a:rPr sz="2559" spc="-110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559" dirty="0">
                <a:solidFill>
                  <a:srgbClr val="008000"/>
                </a:solidFill>
                <a:latin typeface="Times New Roman"/>
                <a:cs typeface="Times New Roman"/>
              </a:rPr>
              <a:t>address</a:t>
            </a:r>
            <a:r>
              <a:rPr sz="2559" spc="-115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559" dirty="0">
                <a:solidFill>
                  <a:srgbClr val="008000"/>
                </a:solidFill>
                <a:latin typeface="Times New Roman"/>
                <a:cs typeface="Times New Roman"/>
              </a:rPr>
              <a:t>to</a:t>
            </a:r>
            <a:r>
              <a:rPr sz="2559" spc="-115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559" dirty="0">
                <a:solidFill>
                  <a:srgbClr val="008000"/>
                </a:solidFill>
                <a:latin typeface="Times New Roman"/>
                <a:cs typeface="Times New Roman"/>
              </a:rPr>
              <a:t>physical</a:t>
            </a:r>
            <a:r>
              <a:rPr sz="2559" spc="-110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559" spc="-9" dirty="0">
                <a:solidFill>
                  <a:srgbClr val="008000"/>
                </a:solidFill>
                <a:latin typeface="Times New Roman"/>
                <a:cs typeface="Times New Roman"/>
              </a:rPr>
              <a:t>memory</a:t>
            </a:r>
            <a:endParaRPr sz="2559" dirty="0">
              <a:latin typeface="Times New Roman"/>
              <a:cs typeface="Times New Roman"/>
            </a:endParaRPr>
          </a:p>
          <a:p>
            <a:pPr marL="312661" marR="145124" indent="1121" algn="ctr">
              <a:lnSpc>
                <a:spcPts val="2982"/>
              </a:lnSpc>
              <a:spcBef>
                <a:spcPts val="596"/>
              </a:spcBef>
            </a:pPr>
            <a:r>
              <a:rPr sz="2559" spc="-9" dirty="0">
                <a:latin typeface="Times New Roman"/>
                <a:cs typeface="Times New Roman"/>
              </a:rPr>
              <a:t>Hardware</a:t>
            </a:r>
            <a:r>
              <a:rPr sz="2559" spc="-132" dirty="0">
                <a:latin typeface="Times New Roman"/>
                <a:cs typeface="Times New Roman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supports</a:t>
            </a:r>
            <a:r>
              <a:rPr sz="2559" spc="-97" dirty="0">
                <a:latin typeface="Times New Roman"/>
                <a:cs typeface="Times New Roman"/>
              </a:rPr>
              <a:t> </a:t>
            </a:r>
            <a:r>
              <a:rPr sz="2559" spc="-22" dirty="0">
                <a:latin typeface="MS PGothic"/>
                <a:cs typeface="MS PGothic"/>
              </a:rPr>
              <a:t>“</a:t>
            </a:r>
            <a:r>
              <a:rPr sz="2559" spc="-22" dirty="0">
                <a:latin typeface="Times New Roman"/>
                <a:cs typeface="Times New Roman"/>
              </a:rPr>
              <a:t>modern</a:t>
            </a:r>
            <a:r>
              <a:rPr sz="2559" spc="-22" dirty="0">
                <a:latin typeface="MS PGothic"/>
                <a:cs typeface="MS PGothic"/>
              </a:rPr>
              <a:t>”</a:t>
            </a:r>
            <a:r>
              <a:rPr sz="2559" spc="-176" dirty="0">
                <a:latin typeface="MS PGothic"/>
                <a:cs typeface="MS PGothic"/>
              </a:rPr>
              <a:t> </a:t>
            </a:r>
            <a:r>
              <a:rPr sz="2559" dirty="0">
                <a:latin typeface="Times New Roman"/>
                <a:cs typeface="Times New Roman"/>
              </a:rPr>
              <a:t>OS</a:t>
            </a:r>
            <a:r>
              <a:rPr sz="2559" spc="-88" dirty="0">
                <a:latin typeface="Times New Roman"/>
                <a:cs typeface="Times New Roman"/>
              </a:rPr>
              <a:t> </a:t>
            </a:r>
            <a:r>
              <a:rPr sz="2559" spc="-9" dirty="0">
                <a:latin typeface="Times New Roman"/>
                <a:cs typeface="Times New Roman"/>
              </a:rPr>
              <a:t>features: </a:t>
            </a:r>
            <a:r>
              <a:rPr sz="25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Memory</a:t>
            </a:r>
            <a:r>
              <a:rPr sz="2559" u="sng" spc="-137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59" u="sng" spc="-22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protection</a:t>
            </a:r>
            <a:r>
              <a:rPr sz="2559" spc="-22" dirty="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sz="2559" spc="-15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559" dirty="0">
                <a:solidFill>
                  <a:srgbClr val="0000FF"/>
                </a:solidFill>
                <a:latin typeface="Times New Roman"/>
                <a:cs typeface="Times New Roman"/>
              </a:rPr>
              <a:t>Address</a:t>
            </a:r>
            <a:r>
              <a:rPr sz="2559" spc="-8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559" spc="-9" dirty="0">
                <a:solidFill>
                  <a:srgbClr val="0000FF"/>
                </a:solidFill>
                <a:latin typeface="Times New Roman"/>
                <a:cs typeface="Times New Roman"/>
              </a:rPr>
              <a:t>translation,</a:t>
            </a:r>
            <a:r>
              <a:rPr sz="2559" spc="-8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559" spc="-9" dirty="0">
                <a:solidFill>
                  <a:srgbClr val="0000FF"/>
                </a:solidFill>
                <a:latin typeface="Times New Roman"/>
                <a:cs typeface="Times New Roman"/>
              </a:rPr>
              <a:t>Sharing</a:t>
            </a:r>
            <a:endParaRPr sz="2559" dirty="0">
              <a:latin typeface="Times New Roman"/>
              <a:cs typeface="Times New Roman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0D3DB5F8-144E-38F6-E773-E81D190224C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16</a:t>
            </a:fld>
            <a:endParaRPr spc="-2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Paging</a:t>
            </a:r>
            <a:r>
              <a:rPr spc="-53" dirty="0"/>
              <a:t> </a:t>
            </a:r>
            <a:r>
              <a:rPr lang="en-US" spc="-9" dirty="0"/>
              <a:t>O</a:t>
            </a:r>
            <a:r>
              <a:rPr spc="-9" dirty="0"/>
              <a:t>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320053"/>
            <a:ext cx="7516291" cy="4831149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51549" indent="-267835" algn="just"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Fully-associative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mapping,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because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faults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really, </a:t>
            </a:r>
            <a:r>
              <a:rPr sz="2400" dirty="0">
                <a:latin typeface="Calibri"/>
                <a:cs typeface="Calibri"/>
              </a:rPr>
              <a:t>really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expensive</a:t>
            </a:r>
            <a:endParaRPr sz="2400" dirty="0">
              <a:latin typeface="Calibri"/>
              <a:cs typeface="Calibri"/>
            </a:endParaRPr>
          </a:p>
          <a:p>
            <a:pPr marL="278481" marR="134478" indent="-267835" algn="just">
              <a:spcBef>
                <a:spcPts val="87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Page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located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page</a:t>
            </a:r>
            <a:r>
              <a:rPr sz="2400" b="1" spc="62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table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entry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in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virtual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address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space</a:t>
            </a:r>
            <a:endParaRPr sz="2400" dirty="0">
              <a:latin typeface="Calibri"/>
              <a:cs typeface="Calibri"/>
            </a:endParaRPr>
          </a:p>
          <a:p>
            <a:pPr marL="741363" marR="220206" indent="-301625" algn="just">
              <a:spcBef>
                <a:spcPts val="679"/>
              </a:spcBef>
            </a:pPr>
            <a:r>
              <a:rPr sz="2400" dirty="0">
                <a:latin typeface="Calibri"/>
                <a:cs typeface="Calibri"/>
              </a:rPr>
              <a:t>–</a:t>
            </a:r>
            <a:r>
              <a:rPr sz="2400" spc="43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Size is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sometimes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reduced by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u="sng" dirty="0">
                <a:latin typeface="Calibri"/>
                <a:cs typeface="Calibri"/>
              </a:rPr>
              <a:t>hashing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make one entry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</a:t>
            </a:r>
            <a:r>
              <a:rPr sz="2200" spc="-9" dirty="0">
                <a:latin typeface="Calibri"/>
                <a:cs typeface="Calibri"/>
              </a:rPr>
              <a:t> physical </a:t>
            </a:r>
            <a:r>
              <a:rPr sz="2200" dirty="0">
                <a:latin typeface="Calibri"/>
                <a:cs typeface="Calibri"/>
              </a:rPr>
              <a:t>page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main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memory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lang="en-US" sz="2200" spc="-9" dirty="0">
                <a:latin typeface="Calibri"/>
                <a:cs typeface="Calibri"/>
              </a:rPr>
              <a:t>-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inverted</a:t>
            </a:r>
            <a:r>
              <a:rPr sz="2200" b="1" spc="-4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page</a:t>
            </a:r>
            <a:r>
              <a:rPr sz="2200" b="1" spc="-4" dirty="0">
                <a:latin typeface="Calibri"/>
                <a:cs typeface="Calibri"/>
              </a:rPr>
              <a:t> </a:t>
            </a:r>
            <a:r>
              <a:rPr sz="2200" b="1" spc="-9" dirty="0">
                <a:latin typeface="Calibri"/>
                <a:cs typeface="Calibri"/>
              </a:rPr>
              <a:t>table</a:t>
            </a:r>
            <a:endParaRPr sz="2200" b="1" dirty="0">
              <a:latin typeface="Calibri"/>
              <a:cs typeface="Calibri"/>
            </a:endParaRPr>
          </a:p>
          <a:p>
            <a:pPr marL="278481" marR="4483" indent="-267835" algn="just">
              <a:spcBef>
                <a:spcPts val="759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Since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locality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says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times, </a:t>
            </a:r>
            <a:r>
              <a:rPr sz="2400" dirty="0">
                <a:latin typeface="Calibri"/>
                <a:cs typeface="Calibri"/>
              </a:rPr>
              <a:t>address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translation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usually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tests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addresses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recently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referenced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pages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before</a:t>
            </a:r>
            <a:r>
              <a:rPr sz="2400" spc="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looking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places</a:t>
            </a:r>
            <a:endParaRPr sz="2400" dirty="0">
              <a:latin typeface="Calibri"/>
              <a:cs typeface="Calibri"/>
            </a:endParaRPr>
          </a:p>
          <a:p>
            <a:pPr marL="278481" marR="1116726" indent="-267835" algn="just">
              <a:spcBef>
                <a:spcPts val="75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So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address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translation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information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held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translation</a:t>
            </a:r>
            <a:r>
              <a:rPr sz="2400" spc="1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look-aside</a:t>
            </a:r>
            <a:r>
              <a:rPr sz="2400" spc="1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buffer</a:t>
            </a:r>
            <a:r>
              <a:rPr sz="2400" spc="10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(TLB)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29ABE1B-D601-902B-1CF0-162E54269AF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17</a:t>
            </a:fld>
            <a:endParaRPr spc="-22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Paging</a:t>
            </a:r>
            <a:r>
              <a:rPr spc="-62" dirty="0"/>
              <a:t> </a:t>
            </a:r>
            <a:r>
              <a:rPr lang="en-US" spc="-62" dirty="0"/>
              <a:t>O</a:t>
            </a:r>
            <a:r>
              <a:rPr dirty="0"/>
              <a:t>verview</a:t>
            </a:r>
            <a:r>
              <a:rPr spc="-62" dirty="0"/>
              <a:t> </a:t>
            </a:r>
            <a:r>
              <a:rPr spc="-9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249278"/>
            <a:ext cx="7351375" cy="2060066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 algn="just">
              <a:spcBef>
                <a:spcPts val="64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Most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machines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replace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LRU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page</a:t>
            </a:r>
            <a:endParaRPr sz="2400" dirty="0">
              <a:latin typeface="Calibri"/>
              <a:cs typeface="Calibri"/>
            </a:endParaRPr>
          </a:p>
          <a:p>
            <a:pPr marL="688975" marR="75644" indent="-249238" algn="just">
              <a:spcBef>
                <a:spcPts val="675"/>
              </a:spcBef>
            </a:pPr>
            <a:r>
              <a:rPr sz="2200" dirty="0">
                <a:latin typeface="Calibri"/>
                <a:cs typeface="Calibri"/>
              </a:rPr>
              <a:t>–</a:t>
            </a:r>
            <a:r>
              <a:rPr sz="2200" spc="43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moving pages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between memory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disk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slow that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it’s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worth </a:t>
            </a:r>
            <a:r>
              <a:rPr sz="2200" spc="-9" dirty="0">
                <a:latin typeface="Calibri"/>
                <a:cs typeface="Calibri"/>
              </a:rPr>
              <a:t>doing </a:t>
            </a:r>
            <a:r>
              <a:rPr sz="2200" dirty="0">
                <a:latin typeface="Calibri"/>
                <a:cs typeface="Calibri"/>
              </a:rPr>
              <a:t>something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close to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real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LRU</a:t>
            </a:r>
            <a:endParaRPr sz="2200" dirty="0">
              <a:latin typeface="Calibri"/>
              <a:cs typeface="Calibri"/>
            </a:endParaRPr>
          </a:p>
          <a:p>
            <a:pPr marL="278481" marR="4483" indent="-267835" algn="just">
              <a:spcBef>
                <a:spcPts val="83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Disks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slow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machines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write-back,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write- </a:t>
            </a:r>
            <a:r>
              <a:rPr sz="2400" dirty="0">
                <a:latin typeface="Calibri"/>
                <a:cs typeface="Calibri"/>
              </a:rPr>
              <a:t>through,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keep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dirty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page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84655BBE-28C6-61E6-C96A-6C02E9E9EAB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18</a:t>
            </a:fld>
            <a:endParaRPr spc="-22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68848"/>
            <a:ext cx="7609057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Page</a:t>
            </a:r>
            <a:r>
              <a:rPr spc="-53" dirty="0"/>
              <a:t> </a:t>
            </a:r>
            <a:r>
              <a:rPr dirty="0"/>
              <a:t>tables</a:t>
            </a:r>
            <a:r>
              <a:rPr spc="-44" dirty="0"/>
              <a:t> </a:t>
            </a:r>
            <a:r>
              <a:rPr dirty="0"/>
              <a:t>encode</a:t>
            </a:r>
            <a:r>
              <a:rPr spc="-49" dirty="0"/>
              <a:t> </a:t>
            </a:r>
            <a:r>
              <a:rPr dirty="0"/>
              <a:t>virtual</a:t>
            </a:r>
            <a:r>
              <a:rPr spc="-40" dirty="0"/>
              <a:t> </a:t>
            </a:r>
            <a:r>
              <a:rPr dirty="0"/>
              <a:t>address</a:t>
            </a:r>
            <a:r>
              <a:rPr spc="-44" dirty="0"/>
              <a:t> </a:t>
            </a:r>
            <a:r>
              <a:rPr spc="-9" dirty="0"/>
              <a:t>spaces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98355" y="2317564"/>
            <a:ext cx="1175691" cy="265162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82146" y="3082514"/>
            <a:ext cx="6689351" cy="31494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R="1037720" algn="r">
              <a:lnSpc>
                <a:spcPts val="3040"/>
              </a:lnSpc>
              <a:spcBef>
                <a:spcPts val="88"/>
              </a:spcBef>
            </a:pPr>
            <a:r>
              <a:rPr sz="2559" b="1" dirty="0">
                <a:latin typeface="Calibri"/>
                <a:cs typeface="Calibri"/>
              </a:rPr>
              <a:t>A</a:t>
            </a:r>
            <a:r>
              <a:rPr sz="2559" b="1" spc="-71" dirty="0">
                <a:latin typeface="Calibri"/>
                <a:cs typeface="Calibri"/>
              </a:rPr>
              <a:t> </a:t>
            </a:r>
            <a:r>
              <a:rPr sz="2559" b="1" spc="-9" dirty="0">
                <a:latin typeface="Calibri"/>
                <a:cs typeface="Calibri"/>
              </a:rPr>
              <a:t>machine</a:t>
            </a:r>
            <a:r>
              <a:rPr sz="2559" b="1" spc="-66" dirty="0">
                <a:latin typeface="Calibri"/>
                <a:cs typeface="Calibri"/>
              </a:rPr>
              <a:t> </a:t>
            </a:r>
            <a:r>
              <a:rPr sz="2559" b="1" spc="-9" dirty="0">
                <a:latin typeface="Calibri"/>
                <a:cs typeface="Calibri"/>
              </a:rPr>
              <a:t>usually</a:t>
            </a:r>
            <a:endParaRPr sz="2559" dirty="0">
              <a:latin typeface="Calibri"/>
              <a:cs typeface="Calibri"/>
            </a:endParaRPr>
          </a:p>
          <a:p>
            <a:pPr marL="3037516" marR="1035479" indent="1435550" algn="r">
              <a:lnSpc>
                <a:spcPct val="97600"/>
              </a:lnSpc>
              <a:spcBef>
                <a:spcPts val="40"/>
              </a:spcBef>
            </a:pPr>
            <a:r>
              <a:rPr sz="2559" b="1" spc="-22" dirty="0">
                <a:latin typeface="Calibri"/>
                <a:cs typeface="Calibri"/>
              </a:rPr>
              <a:t>supports </a:t>
            </a:r>
            <a:r>
              <a:rPr sz="2559" b="1" spc="-9" dirty="0">
                <a:latin typeface="Calibri"/>
                <a:cs typeface="Calibri"/>
              </a:rPr>
              <a:t>pages</a:t>
            </a:r>
            <a:r>
              <a:rPr sz="2559" b="1" spc="-75" dirty="0">
                <a:latin typeface="Calibri"/>
                <a:cs typeface="Calibri"/>
              </a:rPr>
              <a:t> </a:t>
            </a:r>
            <a:r>
              <a:rPr sz="2559" b="1" dirty="0">
                <a:latin typeface="Calibri"/>
                <a:cs typeface="Calibri"/>
              </a:rPr>
              <a:t>of</a:t>
            </a:r>
            <a:r>
              <a:rPr sz="2559" b="1" spc="-79" dirty="0">
                <a:latin typeface="Calibri"/>
                <a:cs typeface="Calibri"/>
              </a:rPr>
              <a:t> </a:t>
            </a:r>
            <a:r>
              <a:rPr sz="2559" b="1" dirty="0">
                <a:latin typeface="Calibri"/>
                <a:cs typeface="Calibri"/>
              </a:rPr>
              <a:t>a</a:t>
            </a:r>
            <a:r>
              <a:rPr sz="2559" b="1" spc="-75" dirty="0">
                <a:latin typeface="Calibri"/>
                <a:cs typeface="Calibri"/>
              </a:rPr>
              <a:t> </a:t>
            </a:r>
            <a:r>
              <a:rPr sz="2559" b="1" spc="-9" dirty="0">
                <a:latin typeface="Calibri"/>
                <a:cs typeface="Calibri"/>
              </a:rPr>
              <a:t>few</a:t>
            </a:r>
            <a:r>
              <a:rPr sz="2559" b="1" spc="-84" dirty="0">
                <a:latin typeface="Calibri"/>
                <a:cs typeface="Calibri"/>
              </a:rPr>
              <a:t> </a:t>
            </a:r>
            <a:r>
              <a:rPr sz="2559" b="1" spc="-18" dirty="0">
                <a:latin typeface="Calibri"/>
                <a:cs typeface="Calibri"/>
              </a:rPr>
              <a:t>sizes </a:t>
            </a:r>
            <a:r>
              <a:rPr sz="2559" b="1" dirty="0">
                <a:latin typeface="Calibri"/>
                <a:cs typeface="Calibri"/>
              </a:rPr>
              <a:t>(MIPS</a:t>
            </a:r>
            <a:r>
              <a:rPr sz="2559" b="1" spc="-97" dirty="0">
                <a:latin typeface="Calibri"/>
                <a:cs typeface="Calibri"/>
              </a:rPr>
              <a:t> </a:t>
            </a:r>
            <a:r>
              <a:rPr sz="2559" b="1" spc="-9" dirty="0">
                <a:latin typeface="Calibri"/>
                <a:cs typeface="Calibri"/>
              </a:rPr>
              <a:t>R4000):</a:t>
            </a:r>
            <a:endParaRPr sz="2559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559" dirty="0">
              <a:latin typeface="Calibri"/>
              <a:cs typeface="Calibri"/>
            </a:endParaRPr>
          </a:p>
          <a:p>
            <a:pPr>
              <a:spcBef>
                <a:spcPts val="256"/>
              </a:spcBef>
            </a:pPr>
            <a:endParaRPr sz="2559" dirty="0">
              <a:latin typeface="Calibri"/>
              <a:cs typeface="Calibri"/>
            </a:endParaRPr>
          </a:p>
          <a:p>
            <a:pPr marL="1410896" marR="4483" indent="-1400250">
              <a:lnSpc>
                <a:spcPts val="2982"/>
              </a:lnSpc>
              <a:spcBef>
                <a:spcPts val="4"/>
              </a:spcBef>
            </a:pPr>
            <a:r>
              <a:rPr sz="2559" b="1" dirty="0">
                <a:latin typeface="Calibri"/>
                <a:cs typeface="Calibri"/>
              </a:rPr>
              <a:t>A</a:t>
            </a:r>
            <a:r>
              <a:rPr sz="2559" b="1" spc="-101" dirty="0">
                <a:latin typeface="Calibri"/>
                <a:cs typeface="Calibri"/>
              </a:rPr>
              <a:t> </a:t>
            </a:r>
            <a:r>
              <a:rPr sz="2559" b="1" u="sng" spc="-9" dirty="0">
                <a:latin typeface="Calibri"/>
                <a:cs typeface="Calibri"/>
              </a:rPr>
              <a:t>valid</a:t>
            </a:r>
            <a:r>
              <a:rPr sz="2559" b="1" u="sng" spc="-101" dirty="0">
                <a:latin typeface="Calibri"/>
                <a:cs typeface="Calibri"/>
              </a:rPr>
              <a:t> </a:t>
            </a:r>
            <a:r>
              <a:rPr sz="2559" b="1" u="sng" dirty="0">
                <a:latin typeface="Calibri"/>
                <a:cs typeface="Calibri"/>
              </a:rPr>
              <a:t>page</a:t>
            </a:r>
            <a:r>
              <a:rPr sz="2559" b="1" u="sng" spc="-101" dirty="0">
                <a:latin typeface="Calibri"/>
                <a:cs typeface="Calibri"/>
              </a:rPr>
              <a:t> </a:t>
            </a:r>
            <a:r>
              <a:rPr sz="2559" b="1" u="sng" dirty="0">
                <a:latin typeface="Calibri"/>
                <a:cs typeface="Calibri"/>
              </a:rPr>
              <a:t>table</a:t>
            </a:r>
            <a:r>
              <a:rPr sz="2559" b="1" u="sng" spc="-101" dirty="0">
                <a:latin typeface="Calibri"/>
                <a:cs typeface="Calibri"/>
              </a:rPr>
              <a:t> </a:t>
            </a:r>
            <a:r>
              <a:rPr sz="2559" b="1" u="sng" dirty="0">
                <a:latin typeface="Calibri"/>
                <a:cs typeface="Calibri"/>
              </a:rPr>
              <a:t>entry</a:t>
            </a:r>
            <a:r>
              <a:rPr sz="2559" b="1" spc="-106" dirty="0">
                <a:latin typeface="Calibri"/>
                <a:cs typeface="Calibri"/>
              </a:rPr>
              <a:t> </a:t>
            </a:r>
            <a:r>
              <a:rPr sz="2559" b="1" spc="-9" dirty="0">
                <a:latin typeface="Calibri"/>
                <a:cs typeface="Calibri"/>
              </a:rPr>
              <a:t>encodes</a:t>
            </a:r>
            <a:r>
              <a:rPr sz="2559" b="1" spc="-84" dirty="0">
                <a:latin typeface="Calibri"/>
                <a:cs typeface="Calibri"/>
              </a:rPr>
              <a:t> </a:t>
            </a:r>
            <a:r>
              <a:rPr sz="2559" b="1" spc="-22" dirty="0">
                <a:solidFill>
                  <a:srgbClr val="0000FF"/>
                </a:solidFill>
                <a:latin typeface="Calibri"/>
                <a:cs typeface="Calibri"/>
              </a:rPr>
              <a:t>physical</a:t>
            </a:r>
            <a:r>
              <a:rPr sz="2559" b="1" spc="-9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59" b="1" spc="-9" dirty="0">
                <a:solidFill>
                  <a:srgbClr val="0000FF"/>
                </a:solidFill>
                <a:latin typeface="Calibri"/>
                <a:cs typeface="Calibri"/>
              </a:rPr>
              <a:t>memory </a:t>
            </a:r>
            <a:r>
              <a:rPr sz="2559" b="1" spc="-18" dirty="0">
                <a:solidFill>
                  <a:srgbClr val="0000FF"/>
                </a:solidFill>
                <a:latin typeface="Calibri"/>
                <a:cs typeface="Calibri"/>
              </a:rPr>
              <a:t>“frame”</a:t>
            </a:r>
            <a:r>
              <a:rPr sz="2559" b="1" spc="-97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59" b="1" spc="-9" dirty="0">
                <a:latin typeface="Calibri"/>
                <a:cs typeface="Calibri"/>
              </a:rPr>
              <a:t>address</a:t>
            </a:r>
            <a:r>
              <a:rPr sz="2559" b="1" spc="-97" dirty="0">
                <a:latin typeface="Calibri"/>
                <a:cs typeface="Calibri"/>
              </a:rPr>
              <a:t> </a:t>
            </a:r>
            <a:r>
              <a:rPr sz="2559" b="1" dirty="0">
                <a:latin typeface="Calibri"/>
                <a:cs typeface="Calibri"/>
              </a:rPr>
              <a:t>for</a:t>
            </a:r>
            <a:r>
              <a:rPr sz="2559" b="1" spc="-88" dirty="0">
                <a:latin typeface="Calibri"/>
                <a:cs typeface="Calibri"/>
              </a:rPr>
              <a:t> </a:t>
            </a:r>
            <a:r>
              <a:rPr sz="2559" b="1" dirty="0">
                <a:latin typeface="Calibri"/>
                <a:cs typeface="Calibri"/>
              </a:rPr>
              <a:t>the</a:t>
            </a:r>
            <a:r>
              <a:rPr sz="2559" b="1" spc="-93" dirty="0">
                <a:latin typeface="Calibri"/>
                <a:cs typeface="Calibri"/>
              </a:rPr>
              <a:t> </a:t>
            </a:r>
            <a:r>
              <a:rPr sz="2559" b="1" spc="-18" dirty="0">
                <a:latin typeface="Calibri"/>
                <a:cs typeface="Calibri"/>
              </a:rPr>
              <a:t>page</a:t>
            </a:r>
            <a:endParaRPr sz="2559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01344" y="1264022"/>
            <a:ext cx="2723590" cy="992794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177062" marR="48747" indent="-121590">
              <a:lnSpc>
                <a:spcPct val="100800"/>
              </a:lnSpc>
              <a:spcBef>
                <a:spcPts val="66"/>
              </a:spcBef>
            </a:pPr>
            <a:r>
              <a:rPr sz="2118" b="1" dirty="0">
                <a:latin typeface="Calibri"/>
                <a:cs typeface="Calibri"/>
              </a:rPr>
              <a:t>A</a:t>
            </a:r>
            <a:r>
              <a:rPr sz="2118" b="1" spc="57" dirty="0">
                <a:latin typeface="Calibri"/>
                <a:cs typeface="Calibri"/>
              </a:rPr>
              <a:t> </a:t>
            </a:r>
            <a:r>
              <a:rPr sz="2118" b="1" dirty="0">
                <a:latin typeface="Calibri"/>
                <a:cs typeface="Calibri"/>
              </a:rPr>
              <a:t>virtual</a:t>
            </a:r>
            <a:r>
              <a:rPr sz="2118" b="1" spc="49" dirty="0">
                <a:latin typeface="Calibri"/>
                <a:cs typeface="Calibri"/>
              </a:rPr>
              <a:t> </a:t>
            </a:r>
            <a:r>
              <a:rPr sz="2118" b="1" dirty="0">
                <a:latin typeface="Calibri"/>
                <a:cs typeface="Calibri"/>
              </a:rPr>
              <a:t>address</a:t>
            </a:r>
            <a:r>
              <a:rPr sz="2118" b="1" spc="53" dirty="0">
                <a:latin typeface="Calibri"/>
                <a:cs typeface="Calibri"/>
              </a:rPr>
              <a:t> </a:t>
            </a:r>
            <a:r>
              <a:rPr sz="2118" b="1" spc="-18" dirty="0">
                <a:latin typeface="Calibri"/>
                <a:cs typeface="Calibri"/>
              </a:rPr>
              <a:t>space </a:t>
            </a:r>
            <a:r>
              <a:rPr sz="2118" b="1" dirty="0">
                <a:latin typeface="Calibri"/>
                <a:cs typeface="Calibri"/>
              </a:rPr>
              <a:t>is</a:t>
            </a:r>
            <a:r>
              <a:rPr sz="2118" b="1" spc="35" dirty="0">
                <a:latin typeface="Calibri"/>
                <a:cs typeface="Calibri"/>
              </a:rPr>
              <a:t> </a:t>
            </a:r>
            <a:r>
              <a:rPr sz="2118" b="1" dirty="0">
                <a:latin typeface="Calibri"/>
                <a:cs typeface="Calibri"/>
              </a:rPr>
              <a:t>divided</a:t>
            </a:r>
            <a:r>
              <a:rPr sz="2118" b="1" spc="44" dirty="0">
                <a:latin typeface="Calibri"/>
                <a:cs typeface="Calibri"/>
              </a:rPr>
              <a:t> </a:t>
            </a:r>
            <a:r>
              <a:rPr sz="2118" b="1" dirty="0">
                <a:latin typeface="Calibri"/>
                <a:cs typeface="Calibri"/>
              </a:rPr>
              <a:t>into</a:t>
            </a:r>
            <a:r>
              <a:rPr sz="2118" b="1" spc="44" dirty="0">
                <a:latin typeface="Calibri"/>
                <a:cs typeface="Calibri"/>
              </a:rPr>
              <a:t> </a:t>
            </a:r>
            <a:r>
              <a:rPr sz="2118" b="1" spc="-9" dirty="0">
                <a:latin typeface="Calibri"/>
                <a:cs typeface="Calibri"/>
              </a:rPr>
              <a:t>blocks</a:t>
            </a:r>
            <a:endParaRPr sz="2118" dirty="0">
              <a:latin typeface="Calibri"/>
              <a:cs typeface="Calibri"/>
            </a:endParaRPr>
          </a:p>
          <a:p>
            <a:pPr marL="11206">
              <a:spcBef>
                <a:spcPts val="22"/>
              </a:spcBef>
            </a:pPr>
            <a:r>
              <a:rPr sz="2118" b="1" dirty="0">
                <a:latin typeface="Calibri"/>
                <a:cs typeface="Calibri"/>
              </a:rPr>
              <a:t>of</a:t>
            </a:r>
            <a:r>
              <a:rPr sz="2118" b="1" spc="57" dirty="0">
                <a:latin typeface="Calibri"/>
                <a:cs typeface="Calibri"/>
              </a:rPr>
              <a:t> </a:t>
            </a:r>
            <a:r>
              <a:rPr sz="2118" b="1" dirty="0">
                <a:latin typeface="Calibri"/>
                <a:cs typeface="Calibri"/>
              </a:rPr>
              <a:t>memory</a:t>
            </a:r>
            <a:r>
              <a:rPr sz="2118" b="1" spc="71" dirty="0">
                <a:latin typeface="Calibri"/>
                <a:cs typeface="Calibri"/>
              </a:rPr>
              <a:t> </a:t>
            </a:r>
            <a:r>
              <a:rPr sz="2118" b="1" dirty="0">
                <a:latin typeface="Calibri"/>
                <a:cs typeface="Calibri"/>
              </a:rPr>
              <a:t>called</a:t>
            </a:r>
            <a:r>
              <a:rPr sz="2118" b="1" spc="75" dirty="0">
                <a:latin typeface="Calibri"/>
                <a:cs typeface="Calibri"/>
              </a:rPr>
              <a:t> </a:t>
            </a:r>
            <a:r>
              <a:rPr sz="2118" b="1" spc="-18" dirty="0">
                <a:solidFill>
                  <a:srgbClr val="0000FF"/>
                </a:solidFill>
                <a:latin typeface="Calibri"/>
                <a:cs typeface="Calibri"/>
              </a:rPr>
              <a:t>pages</a:t>
            </a:r>
            <a:endParaRPr sz="2118" dirty="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158191" y="2051510"/>
          <a:ext cx="630331" cy="11284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0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9026"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b="1" spc="-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frame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4093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200" b="1" spc="-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frame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874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3365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200" b="1" spc="-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frame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723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026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b="1" spc="-1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frame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4738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951711" y="1453627"/>
            <a:ext cx="1018054" cy="41886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 indent="201156">
              <a:spcBef>
                <a:spcPts val="88"/>
              </a:spcBef>
            </a:pPr>
            <a:r>
              <a:rPr sz="1324" b="1" spc="-9" dirty="0">
                <a:latin typeface="Calibri"/>
                <a:cs typeface="Calibri"/>
              </a:rPr>
              <a:t>Physical Address</a:t>
            </a:r>
            <a:r>
              <a:rPr sz="1324" b="1" spc="-26" dirty="0">
                <a:latin typeface="Calibri"/>
                <a:cs typeface="Calibri"/>
              </a:rPr>
              <a:t> </a:t>
            </a:r>
            <a:r>
              <a:rPr sz="1324" b="1" spc="-18" dirty="0">
                <a:latin typeface="Calibri"/>
                <a:cs typeface="Calibri"/>
              </a:rPr>
              <a:t>Space</a:t>
            </a:r>
            <a:endParaRPr sz="1324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59965" y="2051509"/>
            <a:ext cx="1500468" cy="3154456"/>
            <a:chOff x="595560" y="2325044"/>
            <a:chExt cx="1700530" cy="3575050"/>
          </a:xfrm>
        </p:grpSpPr>
        <p:sp>
          <p:nvSpPr>
            <p:cNvPr id="9" name="object 9"/>
            <p:cNvSpPr/>
            <p:nvPr/>
          </p:nvSpPr>
          <p:spPr>
            <a:xfrm>
              <a:off x="610720" y="2340204"/>
              <a:ext cx="714375" cy="310515"/>
            </a:xfrm>
            <a:custGeom>
              <a:avLst/>
              <a:gdLst/>
              <a:ahLst/>
              <a:cxnLst/>
              <a:rect l="l" t="t" r="r" b="b"/>
              <a:pathLst>
                <a:path w="714375" h="310514">
                  <a:moveTo>
                    <a:pt x="0" y="0"/>
                  </a:moveTo>
                  <a:lnTo>
                    <a:pt x="714233" y="0"/>
                  </a:lnTo>
                  <a:lnTo>
                    <a:pt x="714233" y="309950"/>
                  </a:lnTo>
                  <a:lnTo>
                    <a:pt x="0" y="309950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AE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610720" y="2663630"/>
              <a:ext cx="714375" cy="310515"/>
            </a:xfrm>
            <a:custGeom>
              <a:avLst/>
              <a:gdLst/>
              <a:ahLst/>
              <a:cxnLst/>
              <a:rect l="l" t="t" r="r" b="b"/>
              <a:pathLst>
                <a:path w="714375" h="310514">
                  <a:moveTo>
                    <a:pt x="0" y="0"/>
                  </a:moveTo>
                  <a:lnTo>
                    <a:pt x="714233" y="0"/>
                  </a:lnTo>
                  <a:lnTo>
                    <a:pt x="714233" y="309950"/>
                  </a:lnTo>
                  <a:lnTo>
                    <a:pt x="0" y="309950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AE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610720" y="2987057"/>
              <a:ext cx="714375" cy="310515"/>
            </a:xfrm>
            <a:custGeom>
              <a:avLst/>
              <a:gdLst/>
              <a:ahLst/>
              <a:cxnLst/>
              <a:rect l="l" t="t" r="r" b="b"/>
              <a:pathLst>
                <a:path w="714375" h="310514">
                  <a:moveTo>
                    <a:pt x="0" y="0"/>
                  </a:moveTo>
                  <a:lnTo>
                    <a:pt x="714233" y="0"/>
                  </a:lnTo>
                  <a:lnTo>
                    <a:pt x="714233" y="309950"/>
                  </a:lnTo>
                  <a:lnTo>
                    <a:pt x="0" y="309950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AE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610720" y="3310484"/>
              <a:ext cx="714375" cy="310515"/>
            </a:xfrm>
            <a:custGeom>
              <a:avLst/>
              <a:gdLst/>
              <a:ahLst/>
              <a:cxnLst/>
              <a:rect l="l" t="t" r="r" b="b"/>
              <a:pathLst>
                <a:path w="714375" h="310514">
                  <a:moveTo>
                    <a:pt x="0" y="0"/>
                  </a:moveTo>
                  <a:lnTo>
                    <a:pt x="714233" y="0"/>
                  </a:lnTo>
                  <a:lnTo>
                    <a:pt x="714233" y="309950"/>
                  </a:lnTo>
                  <a:lnTo>
                    <a:pt x="0" y="309950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AE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610720" y="3633910"/>
              <a:ext cx="714375" cy="310515"/>
            </a:xfrm>
            <a:custGeom>
              <a:avLst/>
              <a:gdLst/>
              <a:ahLst/>
              <a:cxnLst/>
              <a:rect l="l" t="t" r="r" b="b"/>
              <a:pathLst>
                <a:path w="714375" h="310514">
                  <a:moveTo>
                    <a:pt x="0" y="0"/>
                  </a:moveTo>
                  <a:lnTo>
                    <a:pt x="714233" y="0"/>
                  </a:lnTo>
                  <a:lnTo>
                    <a:pt x="714233" y="309950"/>
                  </a:lnTo>
                  <a:lnTo>
                    <a:pt x="0" y="309950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AE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610720" y="3957337"/>
              <a:ext cx="714375" cy="310515"/>
            </a:xfrm>
            <a:custGeom>
              <a:avLst/>
              <a:gdLst/>
              <a:ahLst/>
              <a:cxnLst/>
              <a:rect l="l" t="t" r="r" b="b"/>
              <a:pathLst>
                <a:path w="714375" h="310514">
                  <a:moveTo>
                    <a:pt x="0" y="0"/>
                  </a:moveTo>
                  <a:lnTo>
                    <a:pt x="714233" y="0"/>
                  </a:lnTo>
                  <a:lnTo>
                    <a:pt x="714233" y="309950"/>
                  </a:lnTo>
                  <a:lnTo>
                    <a:pt x="0" y="309950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AE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610720" y="4280764"/>
              <a:ext cx="714375" cy="310515"/>
            </a:xfrm>
            <a:custGeom>
              <a:avLst/>
              <a:gdLst/>
              <a:ahLst/>
              <a:cxnLst/>
              <a:rect l="l" t="t" r="r" b="b"/>
              <a:pathLst>
                <a:path w="714375" h="310514">
                  <a:moveTo>
                    <a:pt x="0" y="0"/>
                  </a:moveTo>
                  <a:lnTo>
                    <a:pt x="714233" y="0"/>
                  </a:lnTo>
                  <a:lnTo>
                    <a:pt x="714233" y="309950"/>
                  </a:lnTo>
                  <a:lnTo>
                    <a:pt x="0" y="309950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AE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610720" y="4604190"/>
              <a:ext cx="714375" cy="310515"/>
            </a:xfrm>
            <a:custGeom>
              <a:avLst/>
              <a:gdLst/>
              <a:ahLst/>
              <a:cxnLst/>
              <a:rect l="l" t="t" r="r" b="b"/>
              <a:pathLst>
                <a:path w="714375" h="310514">
                  <a:moveTo>
                    <a:pt x="0" y="0"/>
                  </a:moveTo>
                  <a:lnTo>
                    <a:pt x="714233" y="0"/>
                  </a:lnTo>
                  <a:lnTo>
                    <a:pt x="714233" y="309950"/>
                  </a:lnTo>
                  <a:lnTo>
                    <a:pt x="0" y="309950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AE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610720" y="4927617"/>
              <a:ext cx="714375" cy="310515"/>
            </a:xfrm>
            <a:custGeom>
              <a:avLst/>
              <a:gdLst/>
              <a:ahLst/>
              <a:cxnLst/>
              <a:rect l="l" t="t" r="r" b="b"/>
              <a:pathLst>
                <a:path w="714375" h="310514">
                  <a:moveTo>
                    <a:pt x="0" y="0"/>
                  </a:moveTo>
                  <a:lnTo>
                    <a:pt x="714233" y="0"/>
                  </a:lnTo>
                  <a:lnTo>
                    <a:pt x="714233" y="309950"/>
                  </a:lnTo>
                  <a:lnTo>
                    <a:pt x="0" y="309950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AE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610720" y="5251044"/>
              <a:ext cx="714375" cy="310515"/>
            </a:xfrm>
            <a:custGeom>
              <a:avLst/>
              <a:gdLst/>
              <a:ahLst/>
              <a:cxnLst/>
              <a:rect l="l" t="t" r="r" b="b"/>
              <a:pathLst>
                <a:path w="714375" h="310514">
                  <a:moveTo>
                    <a:pt x="0" y="0"/>
                  </a:moveTo>
                  <a:lnTo>
                    <a:pt x="714233" y="0"/>
                  </a:lnTo>
                  <a:lnTo>
                    <a:pt x="714233" y="309950"/>
                  </a:lnTo>
                  <a:lnTo>
                    <a:pt x="0" y="309950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AE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610720" y="5574470"/>
              <a:ext cx="714375" cy="310515"/>
            </a:xfrm>
            <a:custGeom>
              <a:avLst/>
              <a:gdLst/>
              <a:ahLst/>
              <a:cxnLst/>
              <a:rect l="l" t="t" r="r" b="b"/>
              <a:pathLst>
                <a:path w="714375" h="310514">
                  <a:moveTo>
                    <a:pt x="0" y="0"/>
                  </a:moveTo>
                  <a:lnTo>
                    <a:pt x="714233" y="0"/>
                  </a:lnTo>
                  <a:lnTo>
                    <a:pt x="714233" y="309950"/>
                  </a:lnTo>
                  <a:lnTo>
                    <a:pt x="0" y="309950"/>
                  </a:lnTo>
                  <a:lnTo>
                    <a:pt x="0" y="0"/>
                  </a:lnTo>
                  <a:close/>
                </a:path>
              </a:pathLst>
            </a:custGeom>
            <a:ln w="30321">
              <a:solidFill>
                <a:srgbClr val="00AE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1324813" y="2488450"/>
              <a:ext cx="971550" cy="2931160"/>
            </a:xfrm>
            <a:custGeom>
              <a:avLst/>
              <a:gdLst/>
              <a:ahLst/>
              <a:cxnLst/>
              <a:rect l="l" t="t" r="r" b="b"/>
              <a:pathLst>
                <a:path w="971550" h="2931160">
                  <a:moveTo>
                    <a:pt x="971257" y="1071968"/>
                  </a:moveTo>
                  <a:lnTo>
                    <a:pt x="971143" y="1058633"/>
                  </a:lnTo>
                  <a:lnTo>
                    <a:pt x="971042" y="1045019"/>
                  </a:lnTo>
                  <a:lnTo>
                    <a:pt x="970927" y="1031684"/>
                  </a:lnTo>
                  <a:lnTo>
                    <a:pt x="970419" y="970280"/>
                  </a:lnTo>
                  <a:lnTo>
                    <a:pt x="889558" y="1031976"/>
                  </a:lnTo>
                  <a:lnTo>
                    <a:pt x="916800" y="1045311"/>
                  </a:lnTo>
                  <a:lnTo>
                    <a:pt x="0" y="2917647"/>
                  </a:lnTo>
                  <a:lnTo>
                    <a:pt x="27228" y="2930982"/>
                  </a:lnTo>
                  <a:lnTo>
                    <a:pt x="944029" y="1058633"/>
                  </a:lnTo>
                  <a:lnTo>
                    <a:pt x="971257" y="1071968"/>
                  </a:lnTo>
                  <a:close/>
                </a:path>
                <a:path w="971550" h="2931160">
                  <a:moveTo>
                    <a:pt x="971257" y="425119"/>
                  </a:moveTo>
                  <a:lnTo>
                    <a:pt x="971143" y="411784"/>
                  </a:lnTo>
                  <a:lnTo>
                    <a:pt x="971042" y="398170"/>
                  </a:lnTo>
                  <a:lnTo>
                    <a:pt x="970927" y="384835"/>
                  </a:lnTo>
                  <a:lnTo>
                    <a:pt x="970419" y="323418"/>
                  </a:lnTo>
                  <a:lnTo>
                    <a:pt x="889558" y="385114"/>
                  </a:lnTo>
                  <a:lnTo>
                    <a:pt x="916800" y="398449"/>
                  </a:lnTo>
                  <a:lnTo>
                    <a:pt x="799287" y="638429"/>
                  </a:lnTo>
                  <a:lnTo>
                    <a:pt x="548741" y="638429"/>
                  </a:lnTo>
                  <a:lnTo>
                    <a:pt x="931265" y="83489"/>
                  </a:lnTo>
                  <a:lnTo>
                    <a:pt x="956233" y="100698"/>
                  </a:lnTo>
                  <a:lnTo>
                    <a:pt x="962837" y="53809"/>
                  </a:lnTo>
                  <a:lnTo>
                    <a:pt x="970419" y="0"/>
                  </a:lnTo>
                  <a:lnTo>
                    <a:pt x="881341" y="49072"/>
                  </a:lnTo>
                  <a:lnTo>
                    <a:pt x="906310" y="66281"/>
                  </a:lnTo>
                  <a:lnTo>
                    <a:pt x="511911" y="638429"/>
                  </a:lnTo>
                  <a:lnTo>
                    <a:pt x="13614" y="638429"/>
                  </a:lnTo>
                  <a:lnTo>
                    <a:pt x="13614" y="668743"/>
                  </a:lnTo>
                  <a:lnTo>
                    <a:pt x="491020" y="668743"/>
                  </a:lnTo>
                  <a:lnTo>
                    <a:pt x="1130" y="1379435"/>
                  </a:lnTo>
                  <a:lnTo>
                    <a:pt x="26098" y="1396644"/>
                  </a:lnTo>
                  <a:lnTo>
                    <a:pt x="527837" y="668743"/>
                  </a:lnTo>
                  <a:lnTo>
                    <a:pt x="784440" y="668743"/>
                  </a:lnTo>
                  <a:lnTo>
                    <a:pt x="0" y="2270798"/>
                  </a:lnTo>
                  <a:lnTo>
                    <a:pt x="27228" y="2284120"/>
                  </a:lnTo>
                  <a:lnTo>
                    <a:pt x="818197" y="668743"/>
                  </a:lnTo>
                  <a:lnTo>
                    <a:pt x="879449" y="668743"/>
                  </a:lnTo>
                  <a:lnTo>
                    <a:pt x="879449" y="699071"/>
                  </a:lnTo>
                  <a:lnTo>
                    <a:pt x="940092" y="668743"/>
                  </a:lnTo>
                  <a:lnTo>
                    <a:pt x="970419" y="653592"/>
                  </a:lnTo>
                  <a:lnTo>
                    <a:pt x="940092" y="638429"/>
                  </a:lnTo>
                  <a:lnTo>
                    <a:pt x="879449" y="608101"/>
                  </a:lnTo>
                  <a:lnTo>
                    <a:pt x="879449" y="638429"/>
                  </a:lnTo>
                  <a:lnTo>
                    <a:pt x="833043" y="638429"/>
                  </a:lnTo>
                  <a:lnTo>
                    <a:pt x="944029" y="411784"/>
                  </a:lnTo>
                  <a:lnTo>
                    <a:pt x="971257" y="425119"/>
                  </a:lnTo>
                  <a:close/>
                </a:path>
              </a:pathLst>
            </a:custGeom>
            <a:solidFill>
              <a:srgbClr val="00AE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66861" y="1453627"/>
            <a:ext cx="1018054" cy="41886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 indent="243181">
              <a:spcBef>
                <a:spcPts val="88"/>
              </a:spcBef>
            </a:pPr>
            <a:r>
              <a:rPr sz="1324" b="1" spc="-9" dirty="0">
                <a:solidFill>
                  <a:srgbClr val="00AE00"/>
                </a:solidFill>
                <a:latin typeface="Calibri"/>
                <a:cs typeface="Calibri"/>
              </a:rPr>
              <a:t>Virtual Address</a:t>
            </a:r>
            <a:r>
              <a:rPr sz="1324" b="1" spc="-26" dirty="0">
                <a:solidFill>
                  <a:srgbClr val="00AE00"/>
                </a:solidFill>
                <a:latin typeface="Calibri"/>
                <a:cs typeface="Calibri"/>
              </a:rPr>
              <a:t> </a:t>
            </a:r>
            <a:r>
              <a:rPr sz="1324" b="1" spc="-18" dirty="0">
                <a:solidFill>
                  <a:srgbClr val="00AE00"/>
                </a:solidFill>
                <a:latin typeface="Calibri"/>
                <a:cs typeface="Calibri"/>
              </a:rPr>
              <a:t>Space</a:t>
            </a:r>
            <a:endParaRPr sz="1324">
              <a:latin typeface="Calibri"/>
              <a:cs typeface="Calibri"/>
            </a:endParaRPr>
          </a:p>
        </p:txBody>
      </p:sp>
      <p:sp>
        <p:nvSpPr>
          <p:cNvPr id="23" name="object 3">
            <a:extLst>
              <a:ext uri="{FF2B5EF4-FFF2-40B4-BE49-F238E27FC236}">
                <a16:creationId xmlns:a16="http://schemas.microsoft.com/office/drawing/2014/main" id="{B1DBF823-DDC4-D38B-56E3-6241A77CD54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19</a:t>
            </a:fld>
            <a:endParaRPr spc="-22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>
                <a:latin typeface="Arial MT"/>
                <a:cs typeface="Arial MT"/>
              </a:rPr>
              <a:t>Page</a:t>
            </a:r>
            <a:r>
              <a:rPr spc="-31" dirty="0">
                <a:latin typeface="Arial MT"/>
                <a:cs typeface="Arial MT"/>
              </a:rPr>
              <a:t> </a:t>
            </a:r>
            <a:r>
              <a:rPr lang="en-US" spc="-31" dirty="0">
                <a:latin typeface="Arial MT"/>
                <a:cs typeface="Arial MT"/>
              </a:rPr>
              <a:t>T</a:t>
            </a:r>
            <a:r>
              <a:rPr dirty="0">
                <a:latin typeface="Arial MT"/>
                <a:cs typeface="Arial MT"/>
              </a:rPr>
              <a:t>ables</a:t>
            </a:r>
            <a:r>
              <a:rPr spc="-26" dirty="0">
                <a:latin typeface="Arial MT"/>
                <a:cs typeface="Arial MT"/>
              </a:rPr>
              <a:t> </a:t>
            </a:r>
            <a:r>
              <a:rPr sz="2118" dirty="0">
                <a:latin typeface="Arial MT"/>
                <a:cs typeface="Arial MT"/>
              </a:rPr>
              <a:t>(Figure</a:t>
            </a:r>
            <a:r>
              <a:rPr sz="2118" spc="9" dirty="0">
                <a:latin typeface="Arial MT"/>
                <a:cs typeface="Arial MT"/>
              </a:rPr>
              <a:t> </a:t>
            </a:r>
            <a:r>
              <a:rPr sz="2118" spc="-9" dirty="0">
                <a:latin typeface="Arial MT"/>
                <a:cs typeface="Arial MT"/>
              </a:rPr>
              <a:t>B.23)</a:t>
            </a:r>
            <a:endParaRPr sz="2118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3762" y="1510747"/>
            <a:ext cx="8236476" cy="4678404"/>
          </a:xfrm>
          <a:prstGeom prst="rect">
            <a:avLst/>
          </a:prstGeom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C627B0A2-2B69-B114-34FF-63E045CCFA4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20</a:t>
            </a:fld>
            <a:endParaRPr spc="-22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27785" y="1266265"/>
            <a:ext cx="601196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b="1" spc="-9" dirty="0">
                <a:latin typeface="Arial"/>
                <a:cs typeface="Arial"/>
              </a:rPr>
              <a:t>Physical</a:t>
            </a:r>
            <a:endParaRPr sz="1147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14524" y="1467971"/>
            <a:ext cx="1029821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b="1" spc="-18" dirty="0">
                <a:latin typeface="Arial"/>
                <a:cs typeface="Arial"/>
              </a:rPr>
              <a:t>Memory</a:t>
            </a:r>
            <a:r>
              <a:rPr sz="1147" b="1" spc="-40" dirty="0">
                <a:latin typeface="Arial"/>
                <a:cs typeface="Arial"/>
              </a:rPr>
              <a:t> </a:t>
            </a:r>
            <a:r>
              <a:rPr sz="1147" b="1" spc="-9" dirty="0">
                <a:latin typeface="Arial"/>
                <a:cs typeface="Arial"/>
              </a:rPr>
              <a:t>Space</a:t>
            </a:r>
            <a:endParaRPr sz="1147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091" y="668850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Details</a:t>
            </a:r>
            <a:r>
              <a:rPr spc="-13" dirty="0"/>
              <a:t> </a:t>
            </a:r>
            <a:r>
              <a:rPr dirty="0"/>
              <a:t>of</a:t>
            </a:r>
            <a:r>
              <a:rPr spc="-13" dirty="0"/>
              <a:t> </a:t>
            </a:r>
            <a:r>
              <a:rPr dirty="0"/>
              <a:t>Page</a:t>
            </a:r>
            <a:r>
              <a:rPr spc="-18" dirty="0"/>
              <a:t> </a:t>
            </a:r>
            <a:r>
              <a:rPr spc="-9" dirty="0"/>
              <a:t>Table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2091" y="5182048"/>
            <a:ext cx="7454524" cy="1235293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4483" indent="-267835"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Page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maps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virtual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numbers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physical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frames </a:t>
            </a:r>
            <a:r>
              <a:rPr sz="2400" dirty="0">
                <a:latin typeface="Calibri"/>
                <a:cs typeface="Calibri"/>
              </a:rPr>
              <a:t>(“PTE”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Entry)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600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Virtual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=&gt;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treat</a:t>
            </a:r>
            <a:r>
              <a:rPr sz="2400" u="heavy" spc="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memory</a:t>
            </a:r>
            <a:r>
              <a:rPr sz="2400" u="heavy" spc="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</a:t>
            </a:r>
            <a:r>
              <a:rPr sz="2400" u="heavy" spc="-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cache</a:t>
            </a:r>
            <a:r>
              <a:rPr sz="2400" u="heavy" spc="4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2400" u="heavy" spc="4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disk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49254" y="1573754"/>
            <a:ext cx="1419225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spc="-9" dirty="0">
                <a:solidFill>
                  <a:srgbClr val="00AE00"/>
                </a:solidFill>
                <a:latin typeface="Arial"/>
                <a:cs typeface="Arial"/>
              </a:rPr>
              <a:t>Virtual</a:t>
            </a:r>
            <a:r>
              <a:rPr sz="1500" b="1" spc="-62" dirty="0">
                <a:solidFill>
                  <a:srgbClr val="00AE00"/>
                </a:solidFill>
                <a:latin typeface="Arial"/>
                <a:cs typeface="Arial"/>
              </a:rPr>
              <a:t> </a:t>
            </a:r>
            <a:r>
              <a:rPr sz="1500" b="1" spc="-9" dirty="0">
                <a:solidFill>
                  <a:srgbClr val="00AE00"/>
                </a:solidFill>
                <a:latin typeface="Arial"/>
                <a:cs typeface="Arial"/>
              </a:rPr>
              <a:t>Address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289440" y="2370917"/>
            <a:ext cx="535641" cy="1094254"/>
            <a:chOff x="4708965" y="2687038"/>
            <a:chExt cx="607060" cy="1240155"/>
          </a:xfrm>
        </p:grpSpPr>
        <p:sp>
          <p:nvSpPr>
            <p:cNvPr id="8" name="object 8"/>
            <p:cNvSpPr/>
            <p:nvPr/>
          </p:nvSpPr>
          <p:spPr>
            <a:xfrm>
              <a:off x="4722618" y="2700690"/>
              <a:ext cx="0" cy="1172845"/>
            </a:xfrm>
            <a:custGeom>
              <a:avLst/>
              <a:gdLst/>
              <a:ahLst/>
              <a:cxnLst/>
              <a:rect l="l" t="t" r="r" b="b"/>
              <a:pathLst>
                <a:path h="1172845">
                  <a:moveTo>
                    <a:pt x="0" y="0"/>
                  </a:moveTo>
                  <a:lnTo>
                    <a:pt x="1" y="1172421"/>
                  </a:lnTo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4736094" y="3846160"/>
              <a:ext cx="579755" cy="81280"/>
            </a:xfrm>
            <a:custGeom>
              <a:avLst/>
              <a:gdLst/>
              <a:ahLst/>
              <a:cxnLst/>
              <a:rect l="l" t="t" r="r" b="b"/>
              <a:pathLst>
                <a:path w="579754" h="81279">
                  <a:moveTo>
                    <a:pt x="498615" y="0"/>
                  </a:moveTo>
                  <a:lnTo>
                    <a:pt x="498615" y="80857"/>
                  </a:lnTo>
                  <a:lnTo>
                    <a:pt x="552520" y="53905"/>
                  </a:lnTo>
                  <a:lnTo>
                    <a:pt x="512091" y="53905"/>
                  </a:lnTo>
                  <a:lnTo>
                    <a:pt x="512091" y="26951"/>
                  </a:lnTo>
                  <a:lnTo>
                    <a:pt x="552519" y="26951"/>
                  </a:lnTo>
                  <a:lnTo>
                    <a:pt x="498615" y="0"/>
                  </a:lnTo>
                  <a:close/>
                </a:path>
                <a:path w="579754" h="81279">
                  <a:moveTo>
                    <a:pt x="498615" y="26951"/>
                  </a:moveTo>
                  <a:lnTo>
                    <a:pt x="0" y="26951"/>
                  </a:lnTo>
                  <a:lnTo>
                    <a:pt x="0" y="53905"/>
                  </a:lnTo>
                  <a:lnTo>
                    <a:pt x="498615" y="53905"/>
                  </a:lnTo>
                  <a:lnTo>
                    <a:pt x="498615" y="26951"/>
                  </a:lnTo>
                  <a:close/>
                </a:path>
                <a:path w="579754" h="81279">
                  <a:moveTo>
                    <a:pt x="552519" y="26951"/>
                  </a:moveTo>
                  <a:lnTo>
                    <a:pt x="512091" y="26951"/>
                  </a:lnTo>
                  <a:lnTo>
                    <a:pt x="512091" y="53905"/>
                  </a:lnTo>
                  <a:lnTo>
                    <a:pt x="552520" y="53905"/>
                  </a:lnTo>
                  <a:lnTo>
                    <a:pt x="579473" y="40429"/>
                  </a:lnTo>
                  <a:lnTo>
                    <a:pt x="552519" y="269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042062" y="3440206"/>
            <a:ext cx="476250" cy="830092"/>
          </a:xfrm>
          <a:prstGeom prst="rect">
            <a:avLst/>
          </a:prstGeom>
        </p:spPr>
        <p:txBody>
          <a:bodyPr vert="horz" wrap="square" lIns="0" tIns="44824" rIns="0" bIns="0" rtlCol="0">
            <a:spAutoFit/>
          </a:bodyPr>
          <a:lstStyle/>
          <a:p>
            <a:pPr marL="11206" marR="4483">
              <a:lnSpc>
                <a:spcPct val="85100"/>
              </a:lnSpc>
              <a:spcBef>
                <a:spcPts val="353"/>
              </a:spcBef>
            </a:pPr>
            <a:r>
              <a:rPr sz="1500" spc="-18" dirty="0">
                <a:latin typeface="Arial MT"/>
                <a:cs typeface="Arial MT"/>
              </a:rPr>
              <a:t>index into page </a:t>
            </a:r>
            <a:r>
              <a:rPr sz="1500" spc="-9" dirty="0">
                <a:latin typeface="Arial MT"/>
                <a:cs typeface="Arial MT"/>
              </a:rPr>
              <a:t>table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07158" y="2996452"/>
            <a:ext cx="968749" cy="451103"/>
          </a:xfrm>
          <a:prstGeom prst="rect">
            <a:avLst/>
          </a:prstGeom>
        </p:spPr>
        <p:txBody>
          <a:bodyPr vert="horz" wrap="square" lIns="0" tIns="40340" rIns="0" bIns="0" rtlCol="0">
            <a:spAutoFit/>
          </a:bodyPr>
          <a:lstStyle/>
          <a:p>
            <a:pPr marL="11206" marR="4483">
              <a:lnSpc>
                <a:spcPts val="1588"/>
              </a:lnSpc>
              <a:spcBef>
                <a:spcPts val="317"/>
              </a:spcBef>
            </a:pPr>
            <a:r>
              <a:rPr sz="1500" dirty="0">
                <a:latin typeface="Arial MT"/>
                <a:cs typeface="Arial MT"/>
              </a:rPr>
              <a:t>Page</a:t>
            </a:r>
            <a:r>
              <a:rPr sz="1500" spc="-79" dirty="0">
                <a:latin typeface="Arial MT"/>
                <a:cs typeface="Arial MT"/>
              </a:rPr>
              <a:t> </a:t>
            </a:r>
            <a:r>
              <a:rPr sz="1500" spc="-49" dirty="0">
                <a:latin typeface="Arial MT"/>
                <a:cs typeface="Arial MT"/>
              </a:rPr>
              <a:t>Table </a:t>
            </a:r>
            <a:r>
              <a:rPr sz="1500" dirty="0">
                <a:latin typeface="Arial MT"/>
                <a:cs typeface="Arial MT"/>
              </a:rPr>
              <a:t>Base</a:t>
            </a:r>
            <a:r>
              <a:rPr sz="1500" spc="-49" dirty="0">
                <a:latin typeface="Arial MT"/>
                <a:cs typeface="Arial MT"/>
              </a:rPr>
              <a:t> </a:t>
            </a:r>
            <a:r>
              <a:rPr sz="1500" spc="-22" dirty="0">
                <a:latin typeface="Arial MT"/>
                <a:cs typeface="Arial MT"/>
              </a:rPr>
              <a:t>Reg</a:t>
            </a:r>
            <a:endParaRPr sz="1500">
              <a:latin typeface="Arial MT"/>
              <a:cs typeface="Arial MT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824677" y="2763463"/>
          <a:ext cx="1569944" cy="1283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9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8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190">
                <a:tc gridSpan="3">
                  <a:txBody>
                    <a:bodyPr/>
                    <a:lstStyle/>
                    <a:p>
                      <a:pPr marL="208279">
                        <a:lnSpc>
                          <a:spcPts val="1385"/>
                        </a:lnSpc>
                      </a:pPr>
                      <a:r>
                        <a:rPr sz="1500" b="1" i="1" dirty="0">
                          <a:latin typeface="Arial"/>
                          <a:cs typeface="Arial"/>
                        </a:rPr>
                        <a:t>Page</a:t>
                      </a:r>
                      <a:r>
                        <a:rPr sz="1500" b="1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i="1" spc="-10" dirty="0">
                          <a:latin typeface="Arial"/>
                          <a:cs typeface="Arial"/>
                        </a:rPr>
                        <a:t>Table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049"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V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0646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965"/>
                        </a:lnSpc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Access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73660">
                        <a:lnSpc>
                          <a:spcPts val="1430"/>
                        </a:lnSpc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Rights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500" b="1" spc="-25" dirty="0">
                          <a:solidFill>
                            <a:srgbClr val="618FFD"/>
                          </a:solidFill>
                          <a:latin typeface="Arial"/>
                          <a:cs typeface="Arial"/>
                        </a:rPr>
                        <a:t>PA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1937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94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532747" y="1859772"/>
          <a:ext cx="630331" cy="11284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0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9026"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100" b="1" spc="-1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frame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8185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100" b="1" spc="-1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frame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3788" marB="0"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100" b="1" spc="-1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frame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40341" marB="0"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026"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100" b="1" spc="-1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frame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3228" marB="0"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4158799" y="3143966"/>
            <a:ext cx="666190" cy="71718"/>
          </a:xfrm>
          <a:custGeom>
            <a:avLst/>
            <a:gdLst/>
            <a:ahLst/>
            <a:cxnLst/>
            <a:rect l="l" t="t" r="r" b="b"/>
            <a:pathLst>
              <a:path w="755014" h="81279">
                <a:moveTo>
                  <a:pt x="673804" y="0"/>
                </a:moveTo>
                <a:lnTo>
                  <a:pt x="673804" y="80855"/>
                </a:lnTo>
                <a:lnTo>
                  <a:pt x="727709" y="53903"/>
                </a:lnTo>
                <a:lnTo>
                  <a:pt x="687282" y="53903"/>
                </a:lnTo>
                <a:lnTo>
                  <a:pt x="687282" y="26951"/>
                </a:lnTo>
                <a:lnTo>
                  <a:pt x="727709" y="26951"/>
                </a:lnTo>
                <a:lnTo>
                  <a:pt x="673804" y="0"/>
                </a:lnTo>
                <a:close/>
              </a:path>
              <a:path w="755014" h="81279">
                <a:moveTo>
                  <a:pt x="673804" y="26951"/>
                </a:moveTo>
                <a:lnTo>
                  <a:pt x="0" y="26951"/>
                </a:lnTo>
                <a:lnTo>
                  <a:pt x="0" y="53903"/>
                </a:lnTo>
                <a:lnTo>
                  <a:pt x="673804" y="53903"/>
                </a:lnTo>
                <a:lnTo>
                  <a:pt x="673804" y="26951"/>
                </a:lnTo>
                <a:close/>
              </a:path>
              <a:path w="755014" h="81279">
                <a:moveTo>
                  <a:pt x="727709" y="26951"/>
                </a:moveTo>
                <a:lnTo>
                  <a:pt x="687282" y="26951"/>
                </a:lnTo>
                <a:lnTo>
                  <a:pt x="687282" y="53903"/>
                </a:lnTo>
                <a:lnTo>
                  <a:pt x="727709" y="53903"/>
                </a:lnTo>
                <a:lnTo>
                  <a:pt x="754661" y="40427"/>
                </a:lnTo>
                <a:lnTo>
                  <a:pt x="727709" y="269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5" name="object 15"/>
          <p:cNvSpPr txBox="1"/>
          <p:nvPr/>
        </p:nvSpPr>
        <p:spPr>
          <a:xfrm>
            <a:off x="3861532" y="2097585"/>
            <a:ext cx="1391210" cy="230832"/>
          </a:xfrm>
          <a:prstGeom prst="rect">
            <a:avLst/>
          </a:prstGeom>
          <a:ln w="26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4998">
              <a:lnSpc>
                <a:spcPts val="1787"/>
              </a:lnSpc>
            </a:pPr>
            <a:r>
              <a:rPr sz="1500" b="1" dirty="0">
                <a:solidFill>
                  <a:srgbClr val="618FFD"/>
                </a:solidFill>
                <a:latin typeface="Arial"/>
                <a:cs typeface="Arial"/>
              </a:rPr>
              <a:t>V</a:t>
            </a:r>
            <a:r>
              <a:rPr sz="1500" b="1" spc="-26" dirty="0">
                <a:solidFill>
                  <a:srgbClr val="618FFD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618FFD"/>
                </a:solidFill>
                <a:latin typeface="Arial"/>
                <a:cs typeface="Arial"/>
              </a:rPr>
              <a:t>page</a:t>
            </a:r>
            <a:r>
              <a:rPr sz="1500" b="1" spc="-22" dirty="0">
                <a:solidFill>
                  <a:srgbClr val="618FFD"/>
                </a:solidFill>
                <a:latin typeface="Arial"/>
                <a:cs typeface="Arial"/>
              </a:rPr>
              <a:t> no.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52742" y="2097585"/>
            <a:ext cx="987238" cy="230832"/>
          </a:xfrm>
          <a:prstGeom prst="rect">
            <a:avLst/>
          </a:prstGeom>
          <a:ln w="2695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90808">
              <a:lnSpc>
                <a:spcPts val="1787"/>
              </a:lnSpc>
            </a:pPr>
            <a:r>
              <a:rPr sz="1500" b="1" spc="-9" dirty="0">
                <a:latin typeface="Arial"/>
                <a:cs typeface="Arial"/>
              </a:rPr>
              <a:t>offset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27983" y="1834627"/>
            <a:ext cx="233643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spc="-22" dirty="0">
                <a:latin typeface="Arial"/>
                <a:cs typeface="Arial"/>
              </a:rPr>
              <a:t>12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906729" y="1931116"/>
            <a:ext cx="333375" cy="71718"/>
          </a:xfrm>
          <a:custGeom>
            <a:avLst/>
            <a:gdLst/>
            <a:ahLst/>
            <a:cxnLst/>
            <a:rect l="l" t="t" r="r" b="b"/>
            <a:pathLst>
              <a:path w="377825" h="81280">
                <a:moveTo>
                  <a:pt x="296475" y="0"/>
                </a:moveTo>
                <a:lnTo>
                  <a:pt x="296475" y="80857"/>
                </a:lnTo>
                <a:lnTo>
                  <a:pt x="350379" y="53905"/>
                </a:lnTo>
                <a:lnTo>
                  <a:pt x="309951" y="53905"/>
                </a:lnTo>
                <a:lnTo>
                  <a:pt x="309951" y="26951"/>
                </a:lnTo>
                <a:lnTo>
                  <a:pt x="350377" y="26951"/>
                </a:lnTo>
                <a:lnTo>
                  <a:pt x="296475" y="0"/>
                </a:lnTo>
                <a:close/>
              </a:path>
              <a:path w="377825" h="81280">
                <a:moveTo>
                  <a:pt x="296475" y="26951"/>
                </a:moveTo>
                <a:lnTo>
                  <a:pt x="0" y="26951"/>
                </a:lnTo>
                <a:lnTo>
                  <a:pt x="0" y="53905"/>
                </a:lnTo>
                <a:lnTo>
                  <a:pt x="296475" y="53905"/>
                </a:lnTo>
                <a:lnTo>
                  <a:pt x="296475" y="26951"/>
                </a:lnTo>
                <a:close/>
              </a:path>
              <a:path w="377825" h="81280">
                <a:moveTo>
                  <a:pt x="350377" y="26951"/>
                </a:moveTo>
                <a:lnTo>
                  <a:pt x="309951" y="26951"/>
                </a:lnTo>
                <a:lnTo>
                  <a:pt x="309951" y="53905"/>
                </a:lnTo>
                <a:lnTo>
                  <a:pt x="350379" y="53905"/>
                </a:lnTo>
                <a:lnTo>
                  <a:pt x="377330" y="40429"/>
                </a:lnTo>
                <a:lnTo>
                  <a:pt x="350377" y="269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9" name="object 19"/>
          <p:cNvSpPr/>
          <p:nvPr/>
        </p:nvSpPr>
        <p:spPr>
          <a:xfrm>
            <a:off x="5240851" y="1943006"/>
            <a:ext cx="416299" cy="71718"/>
          </a:xfrm>
          <a:custGeom>
            <a:avLst/>
            <a:gdLst/>
            <a:ahLst/>
            <a:cxnLst/>
            <a:rect l="l" t="t" r="r" b="b"/>
            <a:pathLst>
              <a:path w="471804" h="81280">
                <a:moveTo>
                  <a:pt x="80857" y="0"/>
                </a:moveTo>
                <a:lnTo>
                  <a:pt x="0" y="40429"/>
                </a:lnTo>
                <a:lnTo>
                  <a:pt x="80857" y="80857"/>
                </a:lnTo>
                <a:lnTo>
                  <a:pt x="80857" y="53905"/>
                </a:lnTo>
                <a:lnTo>
                  <a:pt x="67381" y="53905"/>
                </a:lnTo>
                <a:lnTo>
                  <a:pt x="67381" y="26953"/>
                </a:lnTo>
                <a:lnTo>
                  <a:pt x="80857" y="26953"/>
                </a:lnTo>
                <a:lnTo>
                  <a:pt x="80857" y="0"/>
                </a:lnTo>
                <a:close/>
              </a:path>
              <a:path w="471804" h="81280">
                <a:moveTo>
                  <a:pt x="80857" y="26953"/>
                </a:moveTo>
                <a:lnTo>
                  <a:pt x="67381" y="26953"/>
                </a:lnTo>
                <a:lnTo>
                  <a:pt x="67381" y="53905"/>
                </a:lnTo>
                <a:lnTo>
                  <a:pt x="80857" y="53905"/>
                </a:lnTo>
                <a:lnTo>
                  <a:pt x="80857" y="26953"/>
                </a:lnTo>
                <a:close/>
              </a:path>
              <a:path w="471804" h="81280">
                <a:moveTo>
                  <a:pt x="471664" y="26953"/>
                </a:moveTo>
                <a:lnTo>
                  <a:pt x="80857" y="26953"/>
                </a:lnTo>
                <a:lnTo>
                  <a:pt x="80857" y="53905"/>
                </a:lnTo>
                <a:lnTo>
                  <a:pt x="471664" y="53905"/>
                </a:lnTo>
                <a:lnTo>
                  <a:pt x="471664" y="269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20" name="object 20"/>
          <p:cNvGrpSpPr/>
          <p:nvPr/>
        </p:nvGrpSpPr>
        <p:grpSpPr>
          <a:xfrm>
            <a:off x="5740261" y="2371072"/>
            <a:ext cx="2419910" cy="1873063"/>
            <a:chOff x="6353228" y="2687214"/>
            <a:chExt cx="2742565" cy="2122805"/>
          </a:xfrm>
        </p:grpSpPr>
        <p:sp>
          <p:nvSpPr>
            <p:cNvPr id="21" name="object 21"/>
            <p:cNvSpPr/>
            <p:nvPr/>
          </p:nvSpPr>
          <p:spPr>
            <a:xfrm>
              <a:off x="6366704" y="2687214"/>
              <a:ext cx="0" cy="189230"/>
            </a:xfrm>
            <a:custGeom>
              <a:avLst/>
              <a:gdLst/>
              <a:ahLst/>
              <a:cxnLst/>
              <a:rect l="l" t="t" r="r" b="b"/>
              <a:pathLst>
                <a:path h="189230">
                  <a:moveTo>
                    <a:pt x="0" y="0"/>
                  </a:moveTo>
                  <a:lnTo>
                    <a:pt x="1" y="188665"/>
                  </a:lnTo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6380180" y="2869141"/>
              <a:ext cx="2675255" cy="20320"/>
            </a:xfrm>
            <a:custGeom>
              <a:avLst/>
              <a:gdLst/>
              <a:ahLst/>
              <a:cxnLst/>
              <a:rect l="l" t="t" r="r" b="b"/>
              <a:pathLst>
                <a:path w="2675254" h="20319">
                  <a:moveTo>
                    <a:pt x="0" y="20214"/>
                  </a:moveTo>
                  <a:lnTo>
                    <a:pt x="2675007" y="0"/>
                  </a:lnTo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7114616" y="2869145"/>
              <a:ext cx="1981200" cy="1940560"/>
            </a:xfrm>
            <a:custGeom>
              <a:avLst/>
              <a:gdLst/>
              <a:ahLst/>
              <a:cxnLst/>
              <a:rect l="l" t="t" r="r" b="b"/>
              <a:pathLst>
                <a:path w="1981200" h="1940560">
                  <a:moveTo>
                    <a:pt x="692340" y="1849602"/>
                  </a:moveTo>
                  <a:lnTo>
                    <a:pt x="662025" y="1849602"/>
                  </a:lnTo>
                  <a:lnTo>
                    <a:pt x="662025" y="1066304"/>
                  </a:lnTo>
                  <a:lnTo>
                    <a:pt x="662025" y="1051140"/>
                  </a:lnTo>
                  <a:lnTo>
                    <a:pt x="662025" y="1042771"/>
                  </a:lnTo>
                  <a:lnTo>
                    <a:pt x="655231" y="1035977"/>
                  </a:lnTo>
                  <a:lnTo>
                    <a:pt x="0" y="1035977"/>
                  </a:lnTo>
                  <a:lnTo>
                    <a:pt x="0" y="1066304"/>
                  </a:lnTo>
                  <a:lnTo>
                    <a:pt x="631698" y="1066304"/>
                  </a:lnTo>
                  <a:lnTo>
                    <a:pt x="631698" y="1849602"/>
                  </a:lnTo>
                  <a:lnTo>
                    <a:pt x="601383" y="1849602"/>
                  </a:lnTo>
                  <a:lnTo>
                    <a:pt x="646861" y="1940560"/>
                  </a:lnTo>
                  <a:lnTo>
                    <a:pt x="684758" y="1864753"/>
                  </a:lnTo>
                  <a:lnTo>
                    <a:pt x="692340" y="1849602"/>
                  </a:lnTo>
                  <a:close/>
                </a:path>
                <a:path w="1981200" h="1940560">
                  <a:moveTo>
                    <a:pt x="1980996" y="1859699"/>
                  </a:moveTo>
                  <a:lnTo>
                    <a:pt x="1954047" y="1859699"/>
                  </a:lnTo>
                  <a:lnTo>
                    <a:pt x="1954047" y="0"/>
                  </a:lnTo>
                  <a:lnTo>
                    <a:pt x="1927085" y="0"/>
                  </a:lnTo>
                  <a:lnTo>
                    <a:pt x="1927085" y="1859699"/>
                  </a:lnTo>
                  <a:lnTo>
                    <a:pt x="1900135" y="1859699"/>
                  </a:lnTo>
                  <a:lnTo>
                    <a:pt x="1940572" y="1940560"/>
                  </a:lnTo>
                  <a:lnTo>
                    <a:pt x="1974253" y="1873186"/>
                  </a:lnTo>
                  <a:lnTo>
                    <a:pt x="1980996" y="18596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4625509" y="4377624"/>
            <a:ext cx="1244413" cy="679637"/>
            <a:chOff x="5089843" y="4961307"/>
            <a:chExt cx="1410335" cy="770255"/>
          </a:xfrm>
        </p:grpSpPr>
        <p:sp>
          <p:nvSpPr>
            <p:cNvPr id="25" name="object 25"/>
            <p:cNvSpPr/>
            <p:nvPr/>
          </p:nvSpPr>
          <p:spPr>
            <a:xfrm>
              <a:off x="5116792" y="4988559"/>
              <a:ext cx="1383030" cy="742950"/>
            </a:xfrm>
            <a:custGeom>
              <a:avLst/>
              <a:gdLst/>
              <a:ahLst/>
              <a:cxnLst/>
              <a:rect l="l" t="t" r="r" b="b"/>
              <a:pathLst>
                <a:path w="1383029" h="742950">
                  <a:moveTo>
                    <a:pt x="1382979" y="0"/>
                  </a:moveTo>
                  <a:lnTo>
                    <a:pt x="1349298" y="0"/>
                  </a:lnTo>
                  <a:lnTo>
                    <a:pt x="1349298" y="6350"/>
                  </a:lnTo>
                  <a:lnTo>
                    <a:pt x="1349298" y="12700"/>
                  </a:lnTo>
                  <a:lnTo>
                    <a:pt x="1349298" y="708660"/>
                  </a:lnTo>
                  <a:lnTo>
                    <a:pt x="13474" y="708660"/>
                  </a:lnTo>
                  <a:lnTo>
                    <a:pt x="6731" y="708660"/>
                  </a:lnTo>
                  <a:lnTo>
                    <a:pt x="0" y="708660"/>
                  </a:lnTo>
                  <a:lnTo>
                    <a:pt x="0" y="728980"/>
                  </a:lnTo>
                  <a:lnTo>
                    <a:pt x="0" y="742950"/>
                  </a:lnTo>
                  <a:lnTo>
                    <a:pt x="1382979" y="742950"/>
                  </a:lnTo>
                  <a:lnTo>
                    <a:pt x="1382979" y="728980"/>
                  </a:lnTo>
                  <a:lnTo>
                    <a:pt x="1382979" y="12700"/>
                  </a:lnTo>
                  <a:lnTo>
                    <a:pt x="1382979" y="0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5096581" y="4968045"/>
              <a:ext cx="1369695" cy="729615"/>
            </a:xfrm>
            <a:custGeom>
              <a:avLst/>
              <a:gdLst/>
              <a:ahLst/>
              <a:cxnLst/>
              <a:rect l="l" t="t" r="r" b="b"/>
              <a:pathLst>
                <a:path w="1369695" h="729614">
                  <a:moveTo>
                    <a:pt x="0" y="0"/>
                  </a:moveTo>
                  <a:lnTo>
                    <a:pt x="1369510" y="0"/>
                  </a:lnTo>
                  <a:lnTo>
                    <a:pt x="1369510" y="729394"/>
                  </a:lnTo>
                  <a:lnTo>
                    <a:pt x="0" y="729394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637399" y="4351917"/>
            <a:ext cx="1196788" cy="639112"/>
          </a:xfrm>
          <a:prstGeom prst="rect">
            <a:avLst/>
          </a:prstGeom>
        </p:spPr>
        <p:txBody>
          <a:bodyPr vert="horz" wrap="square" lIns="0" tIns="43143" rIns="0" bIns="0" rtlCol="0">
            <a:spAutoFit/>
          </a:bodyPr>
          <a:lstStyle/>
          <a:p>
            <a:pPr marL="59394" marR="52110" algn="ctr">
              <a:lnSpc>
                <a:spcPct val="85900"/>
              </a:lnSpc>
              <a:spcBef>
                <a:spcPts val="340"/>
              </a:spcBef>
            </a:pPr>
            <a:r>
              <a:rPr sz="1500" dirty="0">
                <a:solidFill>
                  <a:srgbClr val="FC0128"/>
                </a:solidFill>
                <a:latin typeface="Arial MT"/>
                <a:cs typeface="Arial MT"/>
              </a:rPr>
              <a:t>table</a:t>
            </a:r>
            <a:r>
              <a:rPr sz="1500" spc="-49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500" spc="-9" dirty="0">
                <a:solidFill>
                  <a:srgbClr val="FC0128"/>
                </a:solidFill>
                <a:latin typeface="Arial MT"/>
                <a:cs typeface="Arial MT"/>
              </a:rPr>
              <a:t>located </a:t>
            </a:r>
            <a:r>
              <a:rPr sz="1500" dirty="0">
                <a:solidFill>
                  <a:srgbClr val="FC0128"/>
                </a:solidFill>
                <a:latin typeface="Arial MT"/>
                <a:cs typeface="Arial MT"/>
              </a:rPr>
              <a:t>in</a:t>
            </a:r>
            <a:r>
              <a:rPr sz="1500" spc="-22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500" spc="-9" dirty="0">
                <a:solidFill>
                  <a:srgbClr val="FC0128"/>
                </a:solidFill>
                <a:latin typeface="Arial MT"/>
                <a:cs typeface="Arial MT"/>
              </a:rPr>
              <a:t>physical memory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306555" y="4249799"/>
            <a:ext cx="1391210" cy="230832"/>
          </a:xfrm>
          <a:prstGeom prst="rect">
            <a:avLst/>
          </a:prstGeom>
          <a:ln w="2695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4998">
              <a:lnSpc>
                <a:spcPts val="1782"/>
              </a:lnSpc>
            </a:pPr>
            <a:r>
              <a:rPr sz="1500" b="1" dirty="0">
                <a:solidFill>
                  <a:srgbClr val="618FFD"/>
                </a:solidFill>
                <a:latin typeface="Arial"/>
                <a:cs typeface="Arial"/>
              </a:rPr>
              <a:t>P</a:t>
            </a:r>
            <a:r>
              <a:rPr sz="1500" b="1" spc="-53" dirty="0">
                <a:solidFill>
                  <a:srgbClr val="618FFD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618FFD"/>
                </a:solidFill>
                <a:latin typeface="Arial"/>
                <a:cs typeface="Arial"/>
              </a:rPr>
              <a:t>page</a:t>
            </a:r>
            <a:r>
              <a:rPr sz="1500" b="1" spc="-22" dirty="0">
                <a:solidFill>
                  <a:srgbClr val="618FFD"/>
                </a:solidFill>
                <a:latin typeface="Arial"/>
                <a:cs typeface="Arial"/>
              </a:rPr>
              <a:t> no.</a:t>
            </a:r>
            <a:endParaRPr sz="15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697765" y="4249799"/>
            <a:ext cx="987238" cy="230832"/>
          </a:xfrm>
          <a:prstGeom prst="rect">
            <a:avLst/>
          </a:prstGeom>
          <a:ln w="2695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90808">
              <a:lnSpc>
                <a:spcPts val="1782"/>
              </a:lnSpc>
            </a:pPr>
            <a:r>
              <a:rPr sz="1500" b="1" spc="-9" dirty="0">
                <a:latin typeface="Arial"/>
                <a:cs typeface="Arial"/>
              </a:rPr>
              <a:t>offset</a:t>
            </a:r>
            <a:endParaRPr sz="15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66615" y="4605034"/>
            <a:ext cx="333375" cy="71718"/>
          </a:xfrm>
          <a:custGeom>
            <a:avLst/>
            <a:gdLst/>
            <a:ahLst/>
            <a:cxnLst/>
            <a:rect l="l" t="t" r="r" b="b"/>
            <a:pathLst>
              <a:path w="377825" h="81279">
                <a:moveTo>
                  <a:pt x="296475" y="0"/>
                </a:moveTo>
                <a:lnTo>
                  <a:pt x="296473" y="80857"/>
                </a:lnTo>
                <a:lnTo>
                  <a:pt x="350378" y="53905"/>
                </a:lnTo>
                <a:lnTo>
                  <a:pt x="309951" y="53905"/>
                </a:lnTo>
                <a:lnTo>
                  <a:pt x="309951" y="26953"/>
                </a:lnTo>
                <a:lnTo>
                  <a:pt x="350379" y="26953"/>
                </a:lnTo>
                <a:lnTo>
                  <a:pt x="296475" y="0"/>
                </a:lnTo>
                <a:close/>
              </a:path>
              <a:path w="377825" h="81279">
                <a:moveTo>
                  <a:pt x="296474" y="26953"/>
                </a:moveTo>
                <a:lnTo>
                  <a:pt x="0" y="26953"/>
                </a:lnTo>
                <a:lnTo>
                  <a:pt x="0" y="53905"/>
                </a:lnTo>
                <a:lnTo>
                  <a:pt x="296474" y="53905"/>
                </a:lnTo>
                <a:lnTo>
                  <a:pt x="296474" y="26953"/>
                </a:lnTo>
                <a:close/>
              </a:path>
              <a:path w="377825" h="81279">
                <a:moveTo>
                  <a:pt x="350379" y="26953"/>
                </a:moveTo>
                <a:lnTo>
                  <a:pt x="309951" y="26953"/>
                </a:lnTo>
                <a:lnTo>
                  <a:pt x="309951" y="53905"/>
                </a:lnTo>
                <a:lnTo>
                  <a:pt x="350378" y="53905"/>
                </a:lnTo>
                <a:lnTo>
                  <a:pt x="377330" y="40429"/>
                </a:lnTo>
                <a:lnTo>
                  <a:pt x="350379" y="269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1" name="object 31"/>
          <p:cNvSpPr/>
          <p:nvPr/>
        </p:nvSpPr>
        <p:spPr>
          <a:xfrm>
            <a:off x="7700737" y="4616925"/>
            <a:ext cx="404532" cy="71718"/>
          </a:xfrm>
          <a:custGeom>
            <a:avLst/>
            <a:gdLst/>
            <a:ahLst/>
            <a:cxnLst/>
            <a:rect l="l" t="t" r="r" b="b"/>
            <a:pathLst>
              <a:path w="458470" h="81279">
                <a:moveTo>
                  <a:pt x="80855" y="0"/>
                </a:moveTo>
                <a:lnTo>
                  <a:pt x="0" y="40429"/>
                </a:lnTo>
                <a:lnTo>
                  <a:pt x="80857" y="80857"/>
                </a:lnTo>
                <a:lnTo>
                  <a:pt x="80856" y="53905"/>
                </a:lnTo>
                <a:lnTo>
                  <a:pt x="67379" y="53905"/>
                </a:lnTo>
                <a:lnTo>
                  <a:pt x="67379" y="26953"/>
                </a:lnTo>
                <a:lnTo>
                  <a:pt x="80856" y="26953"/>
                </a:lnTo>
                <a:lnTo>
                  <a:pt x="80855" y="0"/>
                </a:lnTo>
                <a:close/>
              </a:path>
              <a:path w="458470" h="81279">
                <a:moveTo>
                  <a:pt x="80856" y="26953"/>
                </a:moveTo>
                <a:lnTo>
                  <a:pt x="67379" y="26953"/>
                </a:lnTo>
                <a:lnTo>
                  <a:pt x="67379" y="53905"/>
                </a:lnTo>
                <a:lnTo>
                  <a:pt x="80856" y="53905"/>
                </a:lnTo>
                <a:lnTo>
                  <a:pt x="80856" y="26953"/>
                </a:lnTo>
                <a:close/>
              </a:path>
              <a:path w="458470" h="81279">
                <a:moveTo>
                  <a:pt x="458188" y="26953"/>
                </a:moveTo>
                <a:lnTo>
                  <a:pt x="80856" y="26953"/>
                </a:lnTo>
                <a:lnTo>
                  <a:pt x="80856" y="53905"/>
                </a:lnTo>
                <a:lnTo>
                  <a:pt x="458188" y="53905"/>
                </a:lnTo>
                <a:lnTo>
                  <a:pt x="458188" y="269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2" name="object 32"/>
          <p:cNvSpPr txBox="1"/>
          <p:nvPr/>
        </p:nvSpPr>
        <p:spPr>
          <a:xfrm>
            <a:off x="6674363" y="4389569"/>
            <a:ext cx="1647265" cy="707773"/>
          </a:xfrm>
          <a:prstGeom prst="rect">
            <a:avLst/>
          </a:prstGeom>
        </p:spPr>
        <p:txBody>
          <a:bodyPr vert="horz" wrap="square" lIns="0" tIns="129428" rIns="0" bIns="0" rtlCol="0">
            <a:spAutoFit/>
          </a:bodyPr>
          <a:lstStyle/>
          <a:p>
            <a:pPr marR="4483" algn="r">
              <a:spcBef>
                <a:spcPts val="1019"/>
              </a:spcBef>
            </a:pPr>
            <a:r>
              <a:rPr sz="1500" b="1" spc="-22" dirty="0">
                <a:latin typeface="Arial"/>
                <a:cs typeface="Arial"/>
              </a:rPr>
              <a:t>12</a:t>
            </a:r>
            <a:endParaRPr sz="1500">
              <a:latin typeface="Arial"/>
              <a:cs typeface="Arial"/>
            </a:endParaRPr>
          </a:p>
          <a:p>
            <a:pPr marR="50429" algn="r">
              <a:spcBef>
                <a:spcPts val="931"/>
              </a:spcBef>
            </a:pPr>
            <a:r>
              <a:rPr sz="1500" b="1" spc="-9" dirty="0">
                <a:solidFill>
                  <a:srgbClr val="00AE00"/>
                </a:solidFill>
                <a:latin typeface="Arial"/>
                <a:cs typeface="Arial"/>
              </a:rPr>
              <a:t>Physical</a:t>
            </a:r>
            <a:r>
              <a:rPr sz="1500" b="1" spc="-66" dirty="0">
                <a:solidFill>
                  <a:srgbClr val="00AE00"/>
                </a:solidFill>
                <a:latin typeface="Arial"/>
                <a:cs typeface="Arial"/>
              </a:rPr>
              <a:t> </a:t>
            </a:r>
            <a:r>
              <a:rPr sz="1500" b="1" spc="-9" dirty="0">
                <a:solidFill>
                  <a:srgbClr val="00AE00"/>
                </a:solidFill>
                <a:latin typeface="Arial"/>
                <a:cs typeface="Arial"/>
              </a:rPr>
              <a:t>Address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709647" y="2008407"/>
            <a:ext cx="861732" cy="2588559"/>
          </a:xfrm>
          <a:custGeom>
            <a:avLst/>
            <a:gdLst/>
            <a:ahLst/>
            <a:cxnLst/>
            <a:rect l="l" t="t" r="r" b="b"/>
            <a:pathLst>
              <a:path w="976630" h="2933700">
                <a:moveTo>
                  <a:pt x="936015" y="679119"/>
                </a:moveTo>
                <a:lnTo>
                  <a:pt x="873607" y="679119"/>
                </a:lnTo>
                <a:lnTo>
                  <a:pt x="853389" y="679119"/>
                </a:lnTo>
                <a:lnTo>
                  <a:pt x="852830" y="719264"/>
                </a:lnTo>
                <a:lnTo>
                  <a:pt x="936015" y="679119"/>
                </a:lnTo>
                <a:close/>
              </a:path>
              <a:path w="976630" h="2933700">
                <a:moveTo>
                  <a:pt x="976083" y="1105877"/>
                </a:moveTo>
                <a:lnTo>
                  <a:pt x="975639" y="1052537"/>
                </a:lnTo>
                <a:lnTo>
                  <a:pt x="975639" y="1052169"/>
                </a:lnTo>
                <a:lnTo>
                  <a:pt x="974953" y="970280"/>
                </a:lnTo>
                <a:lnTo>
                  <a:pt x="867156" y="1052537"/>
                </a:lnTo>
                <a:lnTo>
                  <a:pt x="903465" y="1070317"/>
                </a:lnTo>
                <a:lnTo>
                  <a:pt x="0" y="2915424"/>
                </a:lnTo>
                <a:lnTo>
                  <a:pt x="36309" y="2933204"/>
                </a:lnTo>
                <a:lnTo>
                  <a:pt x="939774" y="1088097"/>
                </a:lnTo>
                <a:lnTo>
                  <a:pt x="976083" y="1105877"/>
                </a:lnTo>
                <a:close/>
              </a:path>
              <a:path w="976630" h="2933700">
                <a:moveTo>
                  <a:pt x="976083" y="459028"/>
                </a:moveTo>
                <a:lnTo>
                  <a:pt x="975639" y="405688"/>
                </a:lnTo>
                <a:lnTo>
                  <a:pt x="975639" y="405307"/>
                </a:lnTo>
                <a:lnTo>
                  <a:pt x="974953" y="323430"/>
                </a:lnTo>
                <a:lnTo>
                  <a:pt x="867156" y="405688"/>
                </a:lnTo>
                <a:lnTo>
                  <a:pt x="903465" y="423468"/>
                </a:lnTo>
                <a:lnTo>
                  <a:pt x="854278" y="523925"/>
                </a:lnTo>
                <a:lnTo>
                  <a:pt x="854278" y="615861"/>
                </a:lnTo>
                <a:lnTo>
                  <a:pt x="853960" y="638416"/>
                </a:lnTo>
                <a:lnTo>
                  <a:pt x="843292" y="638276"/>
                </a:lnTo>
                <a:lnTo>
                  <a:pt x="854278" y="615861"/>
                </a:lnTo>
                <a:lnTo>
                  <a:pt x="854278" y="523925"/>
                </a:lnTo>
                <a:lnTo>
                  <a:pt x="798588" y="637641"/>
                </a:lnTo>
                <a:lnTo>
                  <a:pt x="562254" y="634314"/>
                </a:lnTo>
                <a:lnTo>
                  <a:pt x="922756" y="111340"/>
                </a:lnTo>
                <a:lnTo>
                  <a:pt x="956043" y="134277"/>
                </a:lnTo>
                <a:lnTo>
                  <a:pt x="964857" y="71742"/>
                </a:lnTo>
                <a:lnTo>
                  <a:pt x="974953" y="0"/>
                </a:lnTo>
                <a:lnTo>
                  <a:pt x="856183" y="65443"/>
                </a:lnTo>
                <a:lnTo>
                  <a:pt x="889469" y="88392"/>
                </a:lnTo>
                <a:lnTo>
                  <a:pt x="513626" y="633628"/>
                </a:lnTo>
                <a:lnTo>
                  <a:pt x="18440" y="626643"/>
                </a:lnTo>
                <a:lnTo>
                  <a:pt x="17957" y="660336"/>
                </a:lnTo>
                <a:lnTo>
                  <a:pt x="17868" y="667067"/>
                </a:lnTo>
                <a:lnTo>
                  <a:pt x="486029" y="673671"/>
                </a:lnTo>
                <a:lnTo>
                  <a:pt x="1511" y="1376565"/>
                </a:lnTo>
                <a:lnTo>
                  <a:pt x="34798" y="1399514"/>
                </a:lnTo>
                <a:lnTo>
                  <a:pt x="534657" y="674357"/>
                </a:lnTo>
                <a:lnTo>
                  <a:pt x="778929" y="677799"/>
                </a:lnTo>
                <a:lnTo>
                  <a:pt x="0" y="2268575"/>
                </a:lnTo>
                <a:lnTo>
                  <a:pt x="36309" y="2286355"/>
                </a:lnTo>
                <a:lnTo>
                  <a:pt x="823633" y="678421"/>
                </a:lnTo>
                <a:lnTo>
                  <a:pt x="853389" y="678840"/>
                </a:lnTo>
                <a:lnTo>
                  <a:pt x="873607" y="678840"/>
                </a:lnTo>
                <a:lnTo>
                  <a:pt x="936599" y="678840"/>
                </a:lnTo>
                <a:lnTo>
                  <a:pt x="974953" y="660336"/>
                </a:lnTo>
                <a:lnTo>
                  <a:pt x="861301" y="601510"/>
                </a:lnTo>
                <a:lnTo>
                  <a:pt x="939774" y="441248"/>
                </a:lnTo>
                <a:lnTo>
                  <a:pt x="976083" y="459028"/>
                </a:lnTo>
                <a:close/>
              </a:path>
            </a:pathLst>
          </a:custGeom>
          <a:solidFill>
            <a:srgbClr val="053DE8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4" name="object 34"/>
          <p:cNvSpPr/>
          <p:nvPr/>
        </p:nvSpPr>
        <p:spPr>
          <a:xfrm>
            <a:off x="429582" y="3936184"/>
            <a:ext cx="582706" cy="107016"/>
          </a:xfrm>
          <a:custGeom>
            <a:avLst/>
            <a:gdLst/>
            <a:ahLst/>
            <a:cxnLst/>
            <a:rect l="l" t="t" r="r" b="b"/>
            <a:pathLst>
              <a:path w="660400" h="121285">
                <a:moveTo>
                  <a:pt x="539044" y="0"/>
                </a:moveTo>
                <a:lnTo>
                  <a:pt x="539044" y="121285"/>
                </a:lnTo>
                <a:lnTo>
                  <a:pt x="619901" y="80857"/>
                </a:lnTo>
                <a:lnTo>
                  <a:pt x="559258" y="80857"/>
                </a:lnTo>
                <a:lnTo>
                  <a:pt x="559258" y="40429"/>
                </a:lnTo>
                <a:lnTo>
                  <a:pt x="619901" y="40429"/>
                </a:lnTo>
                <a:lnTo>
                  <a:pt x="539044" y="0"/>
                </a:lnTo>
                <a:close/>
              </a:path>
              <a:path w="660400" h="121285">
                <a:moveTo>
                  <a:pt x="539044" y="40429"/>
                </a:moveTo>
                <a:lnTo>
                  <a:pt x="0" y="40429"/>
                </a:lnTo>
                <a:lnTo>
                  <a:pt x="0" y="80857"/>
                </a:lnTo>
                <a:lnTo>
                  <a:pt x="539044" y="80857"/>
                </a:lnTo>
                <a:lnTo>
                  <a:pt x="539044" y="40429"/>
                </a:lnTo>
                <a:close/>
              </a:path>
              <a:path w="660400" h="121285">
                <a:moveTo>
                  <a:pt x="619901" y="40429"/>
                </a:moveTo>
                <a:lnTo>
                  <a:pt x="559258" y="40429"/>
                </a:lnTo>
                <a:lnTo>
                  <a:pt x="559258" y="80857"/>
                </a:lnTo>
                <a:lnTo>
                  <a:pt x="619901" y="80857"/>
                </a:lnTo>
                <a:lnTo>
                  <a:pt x="660329" y="60643"/>
                </a:lnTo>
                <a:lnTo>
                  <a:pt x="619901" y="404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5" name="object 35"/>
          <p:cNvSpPr txBox="1"/>
          <p:nvPr/>
        </p:nvSpPr>
        <p:spPr>
          <a:xfrm>
            <a:off x="451075" y="4026049"/>
            <a:ext cx="524996" cy="328710"/>
          </a:xfrm>
          <a:prstGeom prst="rect">
            <a:avLst/>
          </a:prstGeom>
        </p:spPr>
        <p:txBody>
          <a:bodyPr vert="horz" wrap="square" lIns="0" tIns="20731" rIns="0" bIns="0" rtlCol="0">
            <a:spAutoFit/>
          </a:bodyPr>
          <a:lstStyle/>
          <a:p>
            <a:pPr marL="11206" marR="4483" indent="110944">
              <a:lnSpc>
                <a:spcPts val="1227"/>
              </a:lnSpc>
              <a:spcBef>
                <a:spcPts val="163"/>
              </a:spcBef>
            </a:pPr>
            <a:r>
              <a:rPr sz="1059" b="1" spc="-26" dirty="0">
                <a:latin typeface="Arial"/>
                <a:cs typeface="Arial"/>
              </a:rPr>
              <a:t>virtual address</a:t>
            </a:r>
            <a:endParaRPr sz="1059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64279" y="1325431"/>
            <a:ext cx="768163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b="1" spc="-9" dirty="0">
                <a:solidFill>
                  <a:srgbClr val="053DE8"/>
                </a:solidFill>
                <a:latin typeface="Arial"/>
                <a:cs typeface="Arial"/>
              </a:rPr>
              <a:t>Page</a:t>
            </a:r>
            <a:r>
              <a:rPr sz="1147" b="1" spc="-53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1147" b="1" spc="-22" dirty="0">
                <a:solidFill>
                  <a:srgbClr val="053DE8"/>
                </a:solidFill>
                <a:latin typeface="Arial"/>
                <a:cs typeface="Arial"/>
              </a:rPr>
              <a:t>Table</a:t>
            </a:r>
            <a:endParaRPr sz="1147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064247" y="1859771"/>
            <a:ext cx="667871" cy="2877671"/>
            <a:chOff x="1053747" y="2107741"/>
            <a:chExt cx="756920" cy="3261360"/>
          </a:xfrm>
        </p:grpSpPr>
        <p:sp>
          <p:nvSpPr>
            <p:cNvPr id="38" name="object 38"/>
            <p:cNvSpPr/>
            <p:nvPr/>
          </p:nvSpPr>
          <p:spPr>
            <a:xfrm>
              <a:off x="1073961" y="2127956"/>
              <a:ext cx="716280" cy="310515"/>
            </a:xfrm>
            <a:custGeom>
              <a:avLst/>
              <a:gdLst/>
              <a:ahLst/>
              <a:cxnLst/>
              <a:rect l="l" t="t" r="r" b="b"/>
              <a:pathLst>
                <a:path w="716280" h="310514">
                  <a:moveTo>
                    <a:pt x="0" y="0"/>
                  </a:moveTo>
                  <a:lnTo>
                    <a:pt x="715918" y="0"/>
                  </a:lnTo>
                  <a:lnTo>
                    <a:pt x="715918" y="309950"/>
                  </a:lnTo>
                  <a:lnTo>
                    <a:pt x="0" y="309950"/>
                  </a:lnTo>
                  <a:lnTo>
                    <a:pt x="0" y="0"/>
                  </a:lnTo>
                  <a:close/>
                </a:path>
              </a:pathLst>
            </a:custGeom>
            <a:ln w="40428">
              <a:solidFill>
                <a:srgbClr val="053D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1073961" y="2451381"/>
              <a:ext cx="716280" cy="310515"/>
            </a:xfrm>
            <a:custGeom>
              <a:avLst/>
              <a:gdLst/>
              <a:ahLst/>
              <a:cxnLst/>
              <a:rect l="l" t="t" r="r" b="b"/>
              <a:pathLst>
                <a:path w="716280" h="310514">
                  <a:moveTo>
                    <a:pt x="0" y="0"/>
                  </a:moveTo>
                  <a:lnTo>
                    <a:pt x="715918" y="0"/>
                  </a:lnTo>
                  <a:lnTo>
                    <a:pt x="715918" y="309950"/>
                  </a:lnTo>
                  <a:lnTo>
                    <a:pt x="0" y="309950"/>
                  </a:lnTo>
                  <a:lnTo>
                    <a:pt x="0" y="0"/>
                  </a:lnTo>
                  <a:close/>
                </a:path>
              </a:pathLst>
            </a:custGeom>
            <a:ln w="40428">
              <a:solidFill>
                <a:srgbClr val="053D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0" name="object 40"/>
            <p:cNvSpPr/>
            <p:nvPr/>
          </p:nvSpPr>
          <p:spPr>
            <a:xfrm>
              <a:off x="1073961" y="2774808"/>
              <a:ext cx="716280" cy="310515"/>
            </a:xfrm>
            <a:custGeom>
              <a:avLst/>
              <a:gdLst/>
              <a:ahLst/>
              <a:cxnLst/>
              <a:rect l="l" t="t" r="r" b="b"/>
              <a:pathLst>
                <a:path w="716280" h="310514">
                  <a:moveTo>
                    <a:pt x="0" y="0"/>
                  </a:moveTo>
                  <a:lnTo>
                    <a:pt x="715918" y="0"/>
                  </a:lnTo>
                  <a:lnTo>
                    <a:pt x="715918" y="309950"/>
                  </a:lnTo>
                  <a:lnTo>
                    <a:pt x="0" y="309950"/>
                  </a:lnTo>
                  <a:lnTo>
                    <a:pt x="0" y="0"/>
                  </a:lnTo>
                  <a:close/>
                </a:path>
              </a:pathLst>
            </a:custGeom>
            <a:ln w="40428">
              <a:solidFill>
                <a:srgbClr val="053D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1073961" y="3098236"/>
              <a:ext cx="716280" cy="310515"/>
            </a:xfrm>
            <a:custGeom>
              <a:avLst/>
              <a:gdLst/>
              <a:ahLst/>
              <a:cxnLst/>
              <a:rect l="l" t="t" r="r" b="b"/>
              <a:pathLst>
                <a:path w="716280" h="310514">
                  <a:moveTo>
                    <a:pt x="0" y="0"/>
                  </a:moveTo>
                  <a:lnTo>
                    <a:pt x="715918" y="0"/>
                  </a:lnTo>
                  <a:lnTo>
                    <a:pt x="715918" y="309950"/>
                  </a:lnTo>
                  <a:lnTo>
                    <a:pt x="0" y="309950"/>
                  </a:lnTo>
                  <a:lnTo>
                    <a:pt x="0" y="0"/>
                  </a:lnTo>
                  <a:close/>
                </a:path>
              </a:pathLst>
            </a:custGeom>
            <a:ln w="40428">
              <a:solidFill>
                <a:srgbClr val="053D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1073961" y="3421661"/>
              <a:ext cx="716280" cy="310515"/>
            </a:xfrm>
            <a:custGeom>
              <a:avLst/>
              <a:gdLst/>
              <a:ahLst/>
              <a:cxnLst/>
              <a:rect l="l" t="t" r="r" b="b"/>
              <a:pathLst>
                <a:path w="716280" h="310514">
                  <a:moveTo>
                    <a:pt x="0" y="0"/>
                  </a:moveTo>
                  <a:lnTo>
                    <a:pt x="715918" y="0"/>
                  </a:lnTo>
                  <a:lnTo>
                    <a:pt x="715918" y="309950"/>
                  </a:lnTo>
                  <a:lnTo>
                    <a:pt x="0" y="309950"/>
                  </a:lnTo>
                  <a:lnTo>
                    <a:pt x="0" y="0"/>
                  </a:lnTo>
                  <a:close/>
                </a:path>
              </a:pathLst>
            </a:custGeom>
            <a:ln w="40428">
              <a:solidFill>
                <a:srgbClr val="053D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3" name="object 43"/>
            <p:cNvSpPr/>
            <p:nvPr/>
          </p:nvSpPr>
          <p:spPr>
            <a:xfrm>
              <a:off x="1073961" y="3745089"/>
              <a:ext cx="716280" cy="310515"/>
            </a:xfrm>
            <a:custGeom>
              <a:avLst/>
              <a:gdLst/>
              <a:ahLst/>
              <a:cxnLst/>
              <a:rect l="l" t="t" r="r" b="b"/>
              <a:pathLst>
                <a:path w="716280" h="310514">
                  <a:moveTo>
                    <a:pt x="0" y="0"/>
                  </a:moveTo>
                  <a:lnTo>
                    <a:pt x="715918" y="0"/>
                  </a:lnTo>
                  <a:lnTo>
                    <a:pt x="715918" y="309950"/>
                  </a:lnTo>
                  <a:lnTo>
                    <a:pt x="0" y="309950"/>
                  </a:lnTo>
                  <a:lnTo>
                    <a:pt x="0" y="0"/>
                  </a:lnTo>
                  <a:close/>
                </a:path>
              </a:pathLst>
            </a:custGeom>
            <a:ln w="40428">
              <a:solidFill>
                <a:srgbClr val="053D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4" name="object 44"/>
            <p:cNvSpPr/>
            <p:nvPr/>
          </p:nvSpPr>
          <p:spPr>
            <a:xfrm>
              <a:off x="1073961" y="4068516"/>
              <a:ext cx="716280" cy="310515"/>
            </a:xfrm>
            <a:custGeom>
              <a:avLst/>
              <a:gdLst/>
              <a:ahLst/>
              <a:cxnLst/>
              <a:rect l="l" t="t" r="r" b="b"/>
              <a:pathLst>
                <a:path w="716280" h="310514">
                  <a:moveTo>
                    <a:pt x="0" y="0"/>
                  </a:moveTo>
                  <a:lnTo>
                    <a:pt x="715918" y="0"/>
                  </a:lnTo>
                  <a:lnTo>
                    <a:pt x="715918" y="309950"/>
                  </a:lnTo>
                  <a:lnTo>
                    <a:pt x="0" y="309950"/>
                  </a:lnTo>
                  <a:lnTo>
                    <a:pt x="0" y="0"/>
                  </a:lnTo>
                  <a:close/>
                </a:path>
              </a:pathLst>
            </a:custGeom>
            <a:ln w="40428">
              <a:solidFill>
                <a:srgbClr val="053D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5" name="object 45"/>
            <p:cNvSpPr/>
            <p:nvPr/>
          </p:nvSpPr>
          <p:spPr>
            <a:xfrm>
              <a:off x="1073961" y="4391941"/>
              <a:ext cx="716280" cy="310515"/>
            </a:xfrm>
            <a:custGeom>
              <a:avLst/>
              <a:gdLst/>
              <a:ahLst/>
              <a:cxnLst/>
              <a:rect l="l" t="t" r="r" b="b"/>
              <a:pathLst>
                <a:path w="716280" h="310514">
                  <a:moveTo>
                    <a:pt x="0" y="0"/>
                  </a:moveTo>
                  <a:lnTo>
                    <a:pt x="715918" y="0"/>
                  </a:lnTo>
                  <a:lnTo>
                    <a:pt x="715918" y="309950"/>
                  </a:lnTo>
                  <a:lnTo>
                    <a:pt x="0" y="309950"/>
                  </a:lnTo>
                  <a:lnTo>
                    <a:pt x="0" y="0"/>
                  </a:lnTo>
                  <a:close/>
                </a:path>
              </a:pathLst>
            </a:custGeom>
            <a:ln w="40428">
              <a:solidFill>
                <a:srgbClr val="053D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1073961" y="4715368"/>
              <a:ext cx="716280" cy="310515"/>
            </a:xfrm>
            <a:custGeom>
              <a:avLst/>
              <a:gdLst/>
              <a:ahLst/>
              <a:cxnLst/>
              <a:rect l="l" t="t" r="r" b="b"/>
              <a:pathLst>
                <a:path w="716280" h="310514">
                  <a:moveTo>
                    <a:pt x="0" y="0"/>
                  </a:moveTo>
                  <a:lnTo>
                    <a:pt x="715918" y="0"/>
                  </a:lnTo>
                  <a:lnTo>
                    <a:pt x="715918" y="309950"/>
                  </a:lnTo>
                  <a:lnTo>
                    <a:pt x="0" y="309950"/>
                  </a:lnTo>
                  <a:lnTo>
                    <a:pt x="0" y="0"/>
                  </a:lnTo>
                  <a:close/>
                </a:path>
              </a:pathLst>
            </a:custGeom>
            <a:ln w="40428">
              <a:solidFill>
                <a:srgbClr val="053D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1073961" y="5038796"/>
              <a:ext cx="716280" cy="310515"/>
            </a:xfrm>
            <a:custGeom>
              <a:avLst/>
              <a:gdLst/>
              <a:ahLst/>
              <a:cxnLst/>
              <a:rect l="l" t="t" r="r" b="b"/>
              <a:pathLst>
                <a:path w="716280" h="310514">
                  <a:moveTo>
                    <a:pt x="0" y="0"/>
                  </a:moveTo>
                  <a:lnTo>
                    <a:pt x="715918" y="0"/>
                  </a:lnTo>
                  <a:lnTo>
                    <a:pt x="715918" y="309950"/>
                  </a:lnTo>
                  <a:lnTo>
                    <a:pt x="0" y="309950"/>
                  </a:lnTo>
                  <a:lnTo>
                    <a:pt x="0" y="0"/>
                  </a:lnTo>
                  <a:close/>
                </a:path>
              </a:pathLst>
            </a:custGeom>
            <a:ln w="40428">
              <a:solidFill>
                <a:srgbClr val="053D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9" name="object 3">
            <a:extLst>
              <a:ext uri="{FF2B5EF4-FFF2-40B4-BE49-F238E27FC236}">
                <a16:creationId xmlns:a16="http://schemas.microsoft.com/office/drawing/2014/main" id="{632B4E2D-3B4B-E8FA-26AB-F25E8635A9C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21</a:t>
            </a:fld>
            <a:endParaRPr spc="-22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Use</a:t>
            </a:r>
            <a:r>
              <a:rPr spc="-31" dirty="0"/>
              <a:t> </a:t>
            </a:r>
            <a:r>
              <a:rPr dirty="0"/>
              <a:t>of</a:t>
            </a:r>
            <a:r>
              <a:rPr spc="-22" dirty="0"/>
              <a:t> </a:t>
            </a:r>
            <a:r>
              <a:rPr dirty="0"/>
              <a:t>Page</a:t>
            </a:r>
            <a:r>
              <a:rPr spc="-31" dirty="0"/>
              <a:t> </a:t>
            </a:r>
            <a:r>
              <a:rPr dirty="0"/>
              <a:t>Table</a:t>
            </a:r>
            <a:r>
              <a:rPr spc="-35" dirty="0"/>
              <a:t> </a:t>
            </a:r>
            <a:r>
              <a:rPr dirty="0"/>
              <a:t>–</a:t>
            </a:r>
            <a:r>
              <a:rPr spc="-18" dirty="0"/>
              <a:t> </a:t>
            </a:r>
            <a:r>
              <a:rPr dirty="0"/>
              <a:t>another</a:t>
            </a:r>
            <a:r>
              <a:rPr spc="-35" dirty="0"/>
              <a:t> </a:t>
            </a:r>
            <a:r>
              <a:rPr spc="-18" dirty="0"/>
              <a:t>view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6602" y="1434221"/>
            <a:ext cx="6836133" cy="4883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4667" y="6388174"/>
            <a:ext cx="169432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>
              <a:lnSpc>
                <a:spcPts val="1531"/>
              </a:lnSpc>
            </a:pPr>
            <a:r>
              <a:rPr sz="1324" spc="-9" dirty="0">
                <a:latin typeface="Times New Roman"/>
                <a:cs typeface="Times New Roman"/>
              </a:rPr>
              <a:t>(From</a:t>
            </a:r>
            <a:r>
              <a:rPr sz="1324" spc="-66" dirty="0">
                <a:latin typeface="Times New Roman"/>
                <a:cs typeface="Times New Roman"/>
              </a:rPr>
              <a:t> </a:t>
            </a:r>
            <a:r>
              <a:rPr sz="1324" spc="-9" dirty="0">
                <a:latin typeface="Times New Roman"/>
                <a:cs typeface="Times New Roman"/>
              </a:rPr>
              <a:t>William</a:t>
            </a:r>
            <a:r>
              <a:rPr sz="1324" spc="-40" dirty="0">
                <a:latin typeface="Times New Roman"/>
                <a:cs typeface="Times New Roman"/>
              </a:rPr>
              <a:t> </a:t>
            </a:r>
            <a:r>
              <a:rPr sz="1324" spc="-9" dirty="0">
                <a:latin typeface="Times New Roman"/>
                <a:cs typeface="Times New Roman"/>
              </a:rPr>
              <a:t>Stallings)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81C25C9D-A276-07B6-41D2-DC81FCB9033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22</a:t>
            </a:fld>
            <a:endParaRPr spc="-22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7F38AF-22AB-A0E7-B9E3-19DFCD1F492E}"/>
              </a:ext>
            </a:extLst>
          </p:cNvPr>
          <p:cNvSpPr txBox="1"/>
          <p:nvPr/>
        </p:nvSpPr>
        <p:spPr>
          <a:xfrm>
            <a:off x="1470991" y="5526157"/>
            <a:ext cx="11716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(Process)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22" dirty="0"/>
              <a:t>Two-</a:t>
            </a:r>
            <a:r>
              <a:rPr dirty="0"/>
              <a:t>Level</a:t>
            </a:r>
            <a:r>
              <a:rPr spc="-4" dirty="0"/>
              <a:t> </a:t>
            </a:r>
            <a:r>
              <a:rPr dirty="0"/>
              <a:t>Page</a:t>
            </a:r>
            <a:r>
              <a:rPr spc="-13" dirty="0"/>
              <a:t> </a:t>
            </a:r>
            <a:r>
              <a:rPr spc="-9" dirty="0"/>
              <a:t>Tables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265070"/>
              </p:ext>
            </p:extLst>
          </p:nvPr>
        </p:nvGraphicFramePr>
        <p:xfrm>
          <a:off x="627888" y="3924292"/>
          <a:ext cx="3718293" cy="2765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6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3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0410"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P1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index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24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P2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index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24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Page</a:t>
                      </a:r>
                      <a:r>
                        <a:rPr sz="18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Offset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24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37141" y="3683148"/>
            <a:ext cx="192180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22" dirty="0">
                <a:latin typeface="Calibri"/>
                <a:cs typeface="Calibri"/>
              </a:rPr>
              <a:t>31</a:t>
            </a:r>
            <a:endParaRPr sz="1324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8224" y="3227167"/>
            <a:ext cx="2314616" cy="67675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000" b="1" dirty="0">
                <a:solidFill>
                  <a:srgbClr val="0000FF"/>
                </a:solidFill>
                <a:latin typeface="Calibri"/>
                <a:cs typeface="Calibri"/>
              </a:rPr>
              <a:t>32</a:t>
            </a:r>
            <a:r>
              <a:rPr lang="en-US" sz="2000" b="1" spc="4" dirty="0">
                <a:solidFill>
                  <a:srgbClr val="0000FF"/>
                </a:solidFill>
                <a:latin typeface="Calibri"/>
                <a:cs typeface="Calibri"/>
              </a:rPr>
              <a:t>-</a:t>
            </a:r>
            <a:r>
              <a:rPr sz="2000" b="1" dirty="0">
                <a:solidFill>
                  <a:srgbClr val="0000FF"/>
                </a:solidFill>
                <a:latin typeface="Calibri"/>
                <a:cs typeface="Calibri"/>
              </a:rPr>
              <a:t>bit</a:t>
            </a:r>
            <a:r>
              <a:rPr sz="2000" b="1" spc="4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00FF"/>
                </a:solidFill>
                <a:latin typeface="Calibri"/>
                <a:cs typeface="Calibri"/>
              </a:rPr>
              <a:t>virtual </a:t>
            </a:r>
            <a:r>
              <a:rPr sz="2000" b="1" spc="-9" dirty="0">
                <a:solidFill>
                  <a:srgbClr val="0000FF"/>
                </a:solidFill>
                <a:latin typeface="Calibri"/>
                <a:cs typeface="Calibri"/>
              </a:rPr>
              <a:t>address</a:t>
            </a:r>
            <a:endParaRPr lang="en-US" sz="2000" dirty="0">
              <a:latin typeface="Calibri"/>
              <a:cs typeface="Calibri"/>
            </a:endParaRPr>
          </a:p>
          <a:p>
            <a:pPr marL="237017">
              <a:spcBef>
                <a:spcPts val="1222"/>
              </a:spcBef>
              <a:tabLst>
                <a:tab pos="1104959" algn="l"/>
                <a:tab pos="1414258" algn="l"/>
              </a:tabLst>
            </a:pPr>
            <a:r>
              <a:rPr lang="en-US" sz="1324" b="1" dirty="0">
                <a:latin typeface="Calibri"/>
                <a:cs typeface="Calibri"/>
              </a:rPr>
              <a:t>22</a:t>
            </a:r>
            <a:r>
              <a:rPr lang="en-US" sz="1324" b="1" spc="300" dirty="0">
                <a:latin typeface="Calibri"/>
                <a:cs typeface="Calibri"/>
              </a:rPr>
              <a:t> </a:t>
            </a:r>
            <a:r>
              <a:rPr lang="en-US" sz="1324" b="1" spc="-22" dirty="0">
                <a:latin typeface="Calibri"/>
                <a:cs typeface="Calibri"/>
              </a:rPr>
              <a:t>21</a:t>
            </a:r>
            <a:r>
              <a:rPr lang="en-US" sz="1324" b="1" dirty="0">
                <a:latin typeface="Calibri"/>
                <a:cs typeface="Calibri"/>
              </a:rPr>
              <a:t>	        </a:t>
            </a:r>
            <a:r>
              <a:rPr lang="en-US" sz="1324" b="1" spc="-22" dirty="0">
                <a:latin typeface="Calibri"/>
                <a:cs typeface="Calibri"/>
              </a:rPr>
              <a:t>12  11</a:t>
            </a:r>
            <a:endParaRPr lang="en-US" sz="1324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80922" y="3683148"/>
            <a:ext cx="108137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44" dirty="0">
                <a:latin typeface="Calibri"/>
                <a:cs typeface="Calibri"/>
              </a:rPr>
              <a:t>0</a:t>
            </a:r>
            <a:endParaRPr sz="1324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3915" y="1393563"/>
            <a:ext cx="6391275" cy="126973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728421">
              <a:spcBef>
                <a:spcPts val="88"/>
              </a:spcBef>
            </a:pPr>
            <a:r>
              <a:rPr sz="2559" b="1" dirty="0">
                <a:solidFill>
                  <a:srgbClr val="0000FF"/>
                </a:solidFill>
                <a:latin typeface="Calibri"/>
                <a:cs typeface="Calibri"/>
              </a:rPr>
              <a:t>Each</a:t>
            </a:r>
            <a:r>
              <a:rPr sz="2559" b="1" spc="-106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59" b="1" spc="-18" dirty="0">
                <a:solidFill>
                  <a:srgbClr val="0000FF"/>
                </a:solidFill>
                <a:latin typeface="Calibri"/>
                <a:cs typeface="Calibri"/>
              </a:rPr>
              <a:t>process</a:t>
            </a:r>
            <a:r>
              <a:rPr sz="2559" b="1" spc="-106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59" b="1" dirty="0">
                <a:solidFill>
                  <a:srgbClr val="0000FF"/>
                </a:solidFill>
                <a:latin typeface="Calibri"/>
                <a:cs typeface="Calibri"/>
              </a:rPr>
              <a:t>needs</a:t>
            </a:r>
            <a:r>
              <a:rPr sz="2559" b="1" spc="-101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59" b="1" dirty="0">
                <a:solidFill>
                  <a:srgbClr val="0000FF"/>
                </a:solidFill>
                <a:latin typeface="Calibri"/>
                <a:cs typeface="Calibri"/>
              </a:rPr>
              <a:t>its</a:t>
            </a:r>
            <a:r>
              <a:rPr sz="2559" b="1" spc="-106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59" b="1" dirty="0">
                <a:solidFill>
                  <a:srgbClr val="0000FF"/>
                </a:solidFill>
                <a:latin typeface="Calibri"/>
                <a:cs typeface="Calibri"/>
              </a:rPr>
              <a:t>own</a:t>
            </a:r>
            <a:r>
              <a:rPr sz="2559" b="1" spc="-101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59" b="1" spc="-9" dirty="0">
                <a:solidFill>
                  <a:srgbClr val="0000FF"/>
                </a:solidFill>
                <a:latin typeface="Calibri"/>
                <a:cs typeface="Calibri"/>
              </a:rPr>
              <a:t>address</a:t>
            </a:r>
            <a:r>
              <a:rPr sz="2559" b="1" spc="-106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559" b="1" spc="-9" dirty="0">
                <a:solidFill>
                  <a:srgbClr val="0000FF"/>
                </a:solidFill>
                <a:latin typeface="Calibri"/>
                <a:cs typeface="Calibri"/>
              </a:rPr>
              <a:t>space!</a:t>
            </a:r>
            <a:endParaRPr sz="2559" dirty="0">
              <a:latin typeface="Calibri"/>
              <a:cs typeface="Calibri"/>
            </a:endParaRPr>
          </a:p>
          <a:p>
            <a:pPr>
              <a:spcBef>
                <a:spcPts val="560"/>
              </a:spcBef>
            </a:pPr>
            <a:endParaRPr sz="2559" dirty="0">
              <a:latin typeface="Calibri"/>
              <a:cs typeface="Calibri"/>
            </a:endParaRPr>
          </a:p>
          <a:p>
            <a:pPr marL="11206"/>
            <a:r>
              <a:rPr sz="2559" b="1" spc="-62" dirty="0">
                <a:latin typeface="Calibri"/>
                <a:cs typeface="Calibri"/>
              </a:rPr>
              <a:t>Two-</a:t>
            </a:r>
            <a:r>
              <a:rPr sz="2559" b="1" spc="-9" dirty="0">
                <a:latin typeface="Calibri"/>
                <a:cs typeface="Calibri"/>
              </a:rPr>
              <a:t>level</a:t>
            </a:r>
            <a:r>
              <a:rPr sz="2559" b="1" spc="-101" dirty="0">
                <a:latin typeface="Calibri"/>
                <a:cs typeface="Calibri"/>
              </a:rPr>
              <a:t> </a:t>
            </a:r>
            <a:r>
              <a:rPr sz="2559" b="1" spc="-18" dirty="0">
                <a:latin typeface="Calibri"/>
                <a:cs typeface="Calibri"/>
              </a:rPr>
              <a:t>Page</a:t>
            </a:r>
            <a:r>
              <a:rPr sz="2559" b="1" spc="-101" dirty="0">
                <a:latin typeface="Calibri"/>
                <a:cs typeface="Calibri"/>
              </a:rPr>
              <a:t> </a:t>
            </a:r>
            <a:r>
              <a:rPr sz="2559" b="1" spc="-9" dirty="0">
                <a:latin typeface="Calibri"/>
                <a:cs typeface="Calibri"/>
              </a:rPr>
              <a:t>Tables</a:t>
            </a:r>
            <a:endParaRPr sz="2559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71836" y="1722120"/>
            <a:ext cx="4544332" cy="4750825"/>
            <a:chOff x="4768214" y="2216321"/>
            <a:chExt cx="4646295" cy="477393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8622" y="2216321"/>
              <a:ext cx="4135481" cy="477391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773268" y="3131013"/>
              <a:ext cx="788670" cy="835660"/>
            </a:xfrm>
            <a:custGeom>
              <a:avLst/>
              <a:gdLst/>
              <a:ahLst/>
              <a:cxnLst/>
              <a:rect l="l" t="t" r="r" b="b"/>
              <a:pathLst>
                <a:path w="788670" h="835660">
                  <a:moveTo>
                    <a:pt x="788352" y="0"/>
                  </a:moveTo>
                  <a:lnTo>
                    <a:pt x="0" y="0"/>
                  </a:lnTo>
                  <a:lnTo>
                    <a:pt x="0" y="835518"/>
                  </a:lnTo>
                  <a:lnTo>
                    <a:pt x="788352" y="835518"/>
                  </a:lnTo>
                  <a:lnTo>
                    <a:pt x="7883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4773268" y="3131013"/>
              <a:ext cx="788670" cy="835660"/>
            </a:xfrm>
            <a:custGeom>
              <a:avLst/>
              <a:gdLst/>
              <a:ahLst/>
              <a:cxnLst/>
              <a:rect l="l" t="t" r="r" b="b"/>
              <a:pathLst>
                <a:path w="788670" h="835660">
                  <a:moveTo>
                    <a:pt x="0" y="0"/>
                  </a:moveTo>
                  <a:lnTo>
                    <a:pt x="788352" y="0"/>
                  </a:lnTo>
                  <a:lnTo>
                    <a:pt x="788352" y="835518"/>
                  </a:lnTo>
                  <a:lnTo>
                    <a:pt x="0" y="835518"/>
                  </a:lnTo>
                  <a:lnTo>
                    <a:pt x="0" y="0"/>
                  </a:lnTo>
                  <a:close/>
                </a:path>
              </a:pathLst>
            </a:custGeom>
            <a:ln w="101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5069742" y="6338327"/>
              <a:ext cx="1132205" cy="647065"/>
            </a:xfrm>
            <a:custGeom>
              <a:avLst/>
              <a:gdLst/>
              <a:ahLst/>
              <a:cxnLst/>
              <a:rect l="l" t="t" r="r" b="b"/>
              <a:pathLst>
                <a:path w="1132204" h="647065">
                  <a:moveTo>
                    <a:pt x="1131993" y="0"/>
                  </a:moveTo>
                  <a:lnTo>
                    <a:pt x="0" y="0"/>
                  </a:lnTo>
                  <a:lnTo>
                    <a:pt x="0" y="646853"/>
                  </a:lnTo>
                  <a:lnTo>
                    <a:pt x="1131993" y="646853"/>
                  </a:lnTo>
                  <a:lnTo>
                    <a:pt x="11319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5069742" y="6338327"/>
              <a:ext cx="1132205" cy="647065"/>
            </a:xfrm>
            <a:custGeom>
              <a:avLst/>
              <a:gdLst/>
              <a:ahLst/>
              <a:cxnLst/>
              <a:rect l="l" t="t" r="r" b="b"/>
              <a:pathLst>
                <a:path w="1132204" h="647065">
                  <a:moveTo>
                    <a:pt x="0" y="0"/>
                  </a:moveTo>
                  <a:lnTo>
                    <a:pt x="1131993" y="0"/>
                  </a:lnTo>
                  <a:lnTo>
                    <a:pt x="1131993" y="646853"/>
                  </a:lnTo>
                  <a:lnTo>
                    <a:pt x="0" y="646853"/>
                  </a:lnTo>
                  <a:lnTo>
                    <a:pt x="0" y="0"/>
                  </a:lnTo>
                  <a:close/>
                </a:path>
              </a:pathLst>
            </a:custGeom>
            <a:ln w="101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" name="object 3">
            <a:extLst>
              <a:ext uri="{FF2B5EF4-FFF2-40B4-BE49-F238E27FC236}">
                <a16:creationId xmlns:a16="http://schemas.microsoft.com/office/drawing/2014/main" id="{D1A08901-A465-F147-EB87-5ED5C3442DF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613987" y="649877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23</a:t>
            </a:fld>
            <a:endParaRPr spc="-22" dirty="0"/>
          </a:p>
        </p:txBody>
      </p:sp>
      <p:sp>
        <p:nvSpPr>
          <p:cNvPr id="7" name="object 7"/>
          <p:cNvSpPr txBox="1"/>
          <p:nvPr/>
        </p:nvSpPr>
        <p:spPr>
          <a:xfrm>
            <a:off x="438500" y="4581419"/>
            <a:ext cx="4544332" cy="146043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05341">
              <a:spcBef>
                <a:spcPts val="88"/>
              </a:spcBef>
            </a:pPr>
            <a:r>
              <a:rPr sz="2000" b="1" spc="-40" dirty="0">
                <a:latin typeface="Calibri"/>
                <a:cs typeface="Calibri"/>
              </a:rPr>
              <a:t>Top-</a:t>
            </a:r>
            <a:r>
              <a:rPr sz="2000" b="1" dirty="0">
                <a:latin typeface="Calibri"/>
                <a:cs typeface="Calibri"/>
              </a:rPr>
              <a:t>level</a:t>
            </a:r>
            <a:r>
              <a:rPr sz="2000" b="1" spc="-13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table</a:t>
            </a:r>
            <a:r>
              <a:rPr sz="2000" b="1" spc="4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wired</a:t>
            </a:r>
            <a:r>
              <a:rPr sz="2000" b="1" i="1" spc="-9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 main </a:t>
            </a:r>
            <a:r>
              <a:rPr sz="2000" b="1" spc="-9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>
              <a:spcBef>
                <a:spcPts val="1677"/>
              </a:spcBef>
            </a:pPr>
            <a:endParaRPr sz="2000" dirty="0">
              <a:latin typeface="Calibri"/>
              <a:cs typeface="Calibri"/>
            </a:endParaRPr>
          </a:p>
          <a:p>
            <a:pPr marL="129435" marR="4483" indent="-118789"/>
            <a:r>
              <a:rPr sz="2000" b="1" dirty="0">
                <a:solidFill>
                  <a:srgbClr val="0000FF"/>
                </a:solidFill>
                <a:latin typeface="Calibri"/>
                <a:cs typeface="Calibri"/>
              </a:rPr>
              <a:t>Subset</a:t>
            </a:r>
            <a:r>
              <a:rPr sz="2000" b="1" spc="-9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00FF"/>
                </a:solidFill>
                <a:latin typeface="Calibri"/>
                <a:cs typeface="Calibri"/>
              </a:rPr>
              <a:t>of</a:t>
            </a:r>
            <a:r>
              <a:rPr sz="2000" b="1" spc="-1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00FF"/>
                </a:solidFill>
                <a:latin typeface="Calibri"/>
                <a:cs typeface="Calibri"/>
              </a:rPr>
              <a:t>1024</a:t>
            </a:r>
            <a:r>
              <a:rPr sz="2000" b="1" spc="-4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00FF"/>
                </a:solidFill>
                <a:latin typeface="Calibri"/>
                <a:cs typeface="Calibri"/>
              </a:rPr>
              <a:t>second-level</a:t>
            </a:r>
            <a:r>
              <a:rPr sz="2000" b="1" spc="-18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00FF"/>
                </a:solidFill>
                <a:latin typeface="Calibri"/>
                <a:cs typeface="Calibri"/>
              </a:rPr>
              <a:t>tables</a:t>
            </a:r>
            <a:r>
              <a:rPr sz="2000" b="1" spc="-4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sz="2000" b="1" spc="-4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b="1" spc="-18" dirty="0">
                <a:solidFill>
                  <a:srgbClr val="0000FF"/>
                </a:solidFill>
                <a:latin typeface="Calibri"/>
                <a:cs typeface="Calibri"/>
              </a:rPr>
              <a:t>main </a:t>
            </a:r>
            <a:r>
              <a:rPr sz="2000" b="1" dirty="0">
                <a:solidFill>
                  <a:srgbClr val="0000FF"/>
                </a:solidFill>
                <a:latin typeface="Calibri"/>
                <a:cs typeface="Calibri"/>
              </a:rPr>
              <a:t>memory;</a:t>
            </a:r>
            <a:r>
              <a:rPr sz="2000" b="1" spc="-1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00FF"/>
                </a:solidFill>
                <a:latin typeface="Calibri"/>
                <a:cs typeface="Calibri"/>
              </a:rPr>
              <a:t>rest</a:t>
            </a:r>
            <a:r>
              <a:rPr sz="2000" b="1" spc="-9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00FF"/>
                </a:solidFill>
                <a:latin typeface="Calibri"/>
                <a:cs typeface="Calibri"/>
              </a:rPr>
              <a:t>are</a:t>
            </a:r>
            <a:r>
              <a:rPr sz="2000" b="1" spc="-4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00FF"/>
                </a:solidFill>
                <a:latin typeface="Calibri"/>
                <a:cs typeface="Calibri"/>
              </a:rPr>
              <a:t>on disk</a:t>
            </a:r>
            <a:r>
              <a:rPr sz="2000" b="1" spc="-9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00FF"/>
                </a:solidFill>
                <a:latin typeface="Calibri"/>
                <a:cs typeface="Calibri"/>
              </a:rPr>
              <a:t>or</a:t>
            </a:r>
            <a:r>
              <a:rPr sz="2000" b="1" spc="-13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b="1" spc="-9" dirty="0">
                <a:solidFill>
                  <a:srgbClr val="0000FF"/>
                </a:solidFill>
                <a:latin typeface="Calibri"/>
                <a:cs typeface="Calibri"/>
              </a:rPr>
              <a:t>unallocated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750567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Hierarchical</a:t>
            </a:r>
            <a:r>
              <a:rPr spc="-26" dirty="0"/>
              <a:t> </a:t>
            </a:r>
            <a:r>
              <a:rPr dirty="0"/>
              <a:t>Paging</a:t>
            </a:r>
            <a:r>
              <a:rPr spc="-22" dirty="0"/>
              <a:t> </a:t>
            </a:r>
            <a:r>
              <a:rPr dirty="0"/>
              <a:t>System</a:t>
            </a:r>
            <a:r>
              <a:rPr spc="-31" dirty="0"/>
              <a:t> </a:t>
            </a:r>
            <a:r>
              <a:rPr dirty="0"/>
              <a:t>–</a:t>
            </a:r>
            <a:r>
              <a:rPr spc="-18" dirty="0"/>
              <a:t> </a:t>
            </a:r>
            <a:r>
              <a:rPr dirty="0"/>
              <a:t>Another</a:t>
            </a:r>
            <a:r>
              <a:rPr spc="-31" dirty="0"/>
              <a:t> </a:t>
            </a:r>
            <a:r>
              <a:rPr spc="-18" dirty="0"/>
              <a:t>View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476" y="1401244"/>
            <a:ext cx="7329285" cy="498660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79793" y="6388174"/>
            <a:ext cx="169432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>
              <a:lnSpc>
                <a:spcPts val="1531"/>
              </a:lnSpc>
            </a:pPr>
            <a:r>
              <a:rPr sz="1324" spc="-9" dirty="0">
                <a:latin typeface="Times New Roman"/>
                <a:cs typeface="Times New Roman"/>
              </a:rPr>
              <a:t>(From</a:t>
            </a:r>
            <a:r>
              <a:rPr sz="1324" spc="-66" dirty="0">
                <a:latin typeface="Times New Roman"/>
                <a:cs typeface="Times New Roman"/>
              </a:rPr>
              <a:t> </a:t>
            </a:r>
            <a:r>
              <a:rPr sz="1324" spc="-9" dirty="0">
                <a:latin typeface="Times New Roman"/>
                <a:cs typeface="Times New Roman"/>
              </a:rPr>
              <a:t>William</a:t>
            </a:r>
            <a:r>
              <a:rPr sz="1324" spc="-40" dirty="0">
                <a:latin typeface="Times New Roman"/>
                <a:cs typeface="Times New Roman"/>
              </a:rPr>
              <a:t> </a:t>
            </a:r>
            <a:r>
              <a:rPr sz="1324" spc="-9" dirty="0">
                <a:latin typeface="Times New Roman"/>
                <a:cs typeface="Times New Roman"/>
              </a:rPr>
              <a:t>Stallings)</a:t>
            </a:r>
            <a:endParaRPr sz="1324" dirty="0">
              <a:latin typeface="Times New Roman"/>
              <a:cs typeface="Times New Roman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D4A93AF0-E5F6-8897-6D95-404BD64287A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24</a:t>
            </a:fld>
            <a:endParaRPr spc="-22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AB0746-69A7-4817-226E-5B7DF1C15A2C}"/>
              </a:ext>
            </a:extLst>
          </p:cNvPr>
          <p:cNvSpPr txBox="1"/>
          <p:nvPr/>
        </p:nvSpPr>
        <p:spPr>
          <a:xfrm>
            <a:off x="1470991" y="5592417"/>
            <a:ext cx="11716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(Process)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7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Choosing page</a:t>
            </a:r>
            <a:r>
              <a:rPr spc="-9" dirty="0"/>
              <a:t> </a:t>
            </a:r>
            <a:r>
              <a:rPr spc="-18" dirty="0"/>
              <a:t>size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249278"/>
            <a:ext cx="7351376" cy="3575866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>
              <a:spcBef>
                <a:spcPts val="644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size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24"/>
              </a:spcBef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keeps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page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table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small</a:t>
            </a:r>
            <a:endParaRPr sz="2200" dirty="0">
              <a:latin typeface="Calibri"/>
              <a:cs typeface="Calibri"/>
            </a:endParaRPr>
          </a:p>
          <a:p>
            <a:pPr marL="651657" lvl="1" indent="-212363">
              <a:spcBef>
                <a:spcPts val="379"/>
              </a:spcBef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reduces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 miss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times,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accesses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have </a:t>
            </a:r>
            <a:r>
              <a:rPr sz="2200" spc="-9" dirty="0">
                <a:latin typeface="Calibri"/>
                <a:cs typeface="Calibri"/>
              </a:rPr>
              <a:t>locality</a:t>
            </a:r>
            <a:endParaRPr sz="2200" dirty="0">
              <a:latin typeface="Calibri"/>
              <a:cs typeface="Calibri"/>
            </a:endParaRPr>
          </a:p>
          <a:p>
            <a:pPr marL="651657" lvl="1" indent="-212363">
              <a:spcBef>
                <a:spcPts val="361"/>
              </a:spcBef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reduces</a:t>
            </a:r>
            <a:r>
              <a:rPr sz="2200" spc="-9" dirty="0">
                <a:latin typeface="Calibri"/>
                <a:cs typeface="Calibri"/>
              </a:rPr>
              <a:t> start-</a:t>
            </a:r>
            <a:r>
              <a:rPr sz="2200" dirty="0">
                <a:latin typeface="Calibri"/>
                <a:cs typeface="Calibri"/>
              </a:rPr>
              <a:t>up overhead in moving data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 disk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memory</a:t>
            </a:r>
            <a:endParaRPr sz="2200" dirty="0">
              <a:latin typeface="Calibri"/>
              <a:cs typeface="Calibri"/>
            </a:endParaRPr>
          </a:p>
          <a:p>
            <a:pPr marL="651657" lvl="1" indent="-212363">
              <a:spcBef>
                <a:spcPts val="468"/>
              </a:spcBef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means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fewer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TLB</a:t>
            </a:r>
            <a:r>
              <a:rPr sz="2200" spc="-9" dirty="0">
                <a:latin typeface="Calibri"/>
                <a:cs typeface="Calibri"/>
              </a:rPr>
              <a:t> misses</a:t>
            </a:r>
            <a:endParaRPr sz="2200" dirty="0">
              <a:latin typeface="Calibri"/>
              <a:cs typeface="Calibri"/>
            </a:endParaRPr>
          </a:p>
          <a:p>
            <a:pPr marL="278481" indent="-267275">
              <a:spcBef>
                <a:spcPts val="547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but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also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46"/>
              </a:spcBef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wastes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memory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(internal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fragmentation)</a:t>
            </a:r>
            <a:endParaRPr sz="2200" dirty="0">
              <a:latin typeface="Calibri"/>
              <a:cs typeface="Calibri"/>
            </a:endParaRPr>
          </a:p>
          <a:p>
            <a:pPr marL="651657" lvl="1" indent="-212363">
              <a:spcBef>
                <a:spcPts val="361"/>
              </a:spcBef>
              <a:buChar char="–"/>
              <a:tabLst>
                <a:tab pos="651657" algn="l"/>
              </a:tabLst>
            </a:pPr>
            <a:r>
              <a:rPr sz="2200" dirty="0">
                <a:latin typeface="Calibri"/>
                <a:cs typeface="Calibri"/>
              </a:rPr>
              <a:t>increases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 to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start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up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program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615A20C2-C6A2-88B2-BAEE-487A43B342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25</a:t>
            </a:fld>
            <a:endParaRPr spc="-22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659199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VM</a:t>
            </a:r>
            <a:r>
              <a:rPr spc="-44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Disk:</a:t>
            </a:r>
            <a:r>
              <a:rPr spc="-35" dirty="0"/>
              <a:t> </a:t>
            </a:r>
            <a:r>
              <a:rPr dirty="0"/>
              <a:t>Page</a:t>
            </a:r>
            <a:r>
              <a:rPr spc="-44" dirty="0"/>
              <a:t> </a:t>
            </a:r>
            <a:r>
              <a:rPr dirty="0"/>
              <a:t>replacement</a:t>
            </a:r>
            <a:r>
              <a:rPr spc="-40" dirty="0"/>
              <a:t> </a:t>
            </a:r>
            <a:r>
              <a:rPr spc="-9" dirty="0"/>
              <a:t>policy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40564" y="1584776"/>
            <a:ext cx="2742640" cy="1840566"/>
            <a:chOff x="6466906" y="1796079"/>
            <a:chExt cx="3108325" cy="2085975"/>
          </a:xfrm>
        </p:grpSpPr>
        <p:sp>
          <p:nvSpPr>
            <p:cNvPr id="4" name="object 4"/>
            <p:cNvSpPr/>
            <p:nvPr/>
          </p:nvSpPr>
          <p:spPr>
            <a:xfrm>
              <a:off x="6485462" y="2084157"/>
              <a:ext cx="3079750" cy="6985"/>
            </a:xfrm>
            <a:custGeom>
              <a:avLst/>
              <a:gdLst/>
              <a:ahLst/>
              <a:cxnLst/>
              <a:rect l="l" t="t" r="r" b="b"/>
              <a:pathLst>
                <a:path w="3079750" h="6985">
                  <a:moveTo>
                    <a:pt x="0" y="0"/>
                  </a:moveTo>
                  <a:lnTo>
                    <a:pt x="3079291" y="6738"/>
                  </a:lnTo>
                </a:path>
              </a:pathLst>
            </a:custGeom>
            <a:ln w="101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6485462" y="2380632"/>
              <a:ext cx="3084830" cy="47625"/>
            </a:xfrm>
            <a:custGeom>
              <a:avLst/>
              <a:gdLst/>
              <a:ahLst/>
              <a:cxnLst/>
              <a:rect l="l" t="t" r="r" b="b"/>
              <a:pathLst>
                <a:path w="3084829" h="47625">
                  <a:moveTo>
                    <a:pt x="0" y="0"/>
                  </a:moveTo>
                  <a:lnTo>
                    <a:pt x="3084345" y="47166"/>
                  </a:lnTo>
                </a:path>
              </a:pathLst>
            </a:custGeom>
            <a:ln w="101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" name="object 6"/>
            <p:cNvSpPr/>
            <p:nvPr/>
          </p:nvSpPr>
          <p:spPr>
            <a:xfrm>
              <a:off x="6485462" y="2677106"/>
              <a:ext cx="3032125" cy="13970"/>
            </a:xfrm>
            <a:custGeom>
              <a:avLst/>
              <a:gdLst/>
              <a:ahLst/>
              <a:cxnLst/>
              <a:rect l="l" t="t" r="r" b="b"/>
              <a:pathLst>
                <a:path w="3032125" h="13969">
                  <a:moveTo>
                    <a:pt x="0" y="0"/>
                  </a:moveTo>
                  <a:lnTo>
                    <a:pt x="3032124" y="13476"/>
                  </a:lnTo>
                </a:path>
              </a:pathLst>
            </a:custGeom>
            <a:ln w="101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6485462" y="2933153"/>
              <a:ext cx="3005455" cy="13970"/>
            </a:xfrm>
            <a:custGeom>
              <a:avLst/>
              <a:gdLst/>
              <a:ahLst/>
              <a:cxnLst/>
              <a:rect l="l" t="t" r="r" b="b"/>
              <a:pathLst>
                <a:path w="3005454" h="13969">
                  <a:moveTo>
                    <a:pt x="0" y="0"/>
                  </a:moveTo>
                  <a:lnTo>
                    <a:pt x="3005172" y="13476"/>
                  </a:lnTo>
                </a:path>
              </a:pathLst>
            </a:custGeom>
            <a:ln w="101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6485462" y="3229627"/>
              <a:ext cx="3005455" cy="13970"/>
            </a:xfrm>
            <a:custGeom>
              <a:avLst/>
              <a:gdLst/>
              <a:ahLst/>
              <a:cxnLst/>
              <a:rect l="l" t="t" r="r" b="b"/>
              <a:pathLst>
                <a:path w="3005454" h="13969">
                  <a:moveTo>
                    <a:pt x="0" y="0"/>
                  </a:moveTo>
                  <a:lnTo>
                    <a:pt x="3005172" y="13476"/>
                  </a:lnTo>
                </a:path>
              </a:pathLst>
            </a:custGeom>
            <a:ln w="101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6485462" y="3526101"/>
              <a:ext cx="3005455" cy="13970"/>
            </a:xfrm>
            <a:custGeom>
              <a:avLst/>
              <a:gdLst/>
              <a:ahLst/>
              <a:cxnLst/>
              <a:rect l="l" t="t" r="r" b="b"/>
              <a:pathLst>
                <a:path w="3005454" h="13970">
                  <a:moveTo>
                    <a:pt x="0" y="0"/>
                  </a:moveTo>
                  <a:lnTo>
                    <a:pt x="3005172" y="13476"/>
                  </a:lnTo>
                </a:path>
              </a:pathLst>
            </a:custGeom>
            <a:ln w="101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6916698" y="1801159"/>
              <a:ext cx="13970" cy="2061845"/>
            </a:xfrm>
            <a:custGeom>
              <a:avLst/>
              <a:gdLst/>
              <a:ahLst/>
              <a:cxnLst/>
              <a:rect l="l" t="t" r="r" b="b"/>
              <a:pathLst>
                <a:path w="13970" h="2061845">
                  <a:moveTo>
                    <a:pt x="0" y="0"/>
                  </a:moveTo>
                  <a:lnTo>
                    <a:pt x="13476" y="2061844"/>
                  </a:lnTo>
                </a:path>
              </a:pathLst>
            </a:custGeom>
            <a:ln w="101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7455742" y="1828112"/>
              <a:ext cx="13970" cy="2048510"/>
            </a:xfrm>
            <a:custGeom>
              <a:avLst/>
              <a:gdLst/>
              <a:ahLst/>
              <a:cxnLst/>
              <a:rect l="l" t="t" r="r" b="b"/>
              <a:pathLst>
                <a:path w="13970" h="2048510">
                  <a:moveTo>
                    <a:pt x="0" y="0"/>
                  </a:moveTo>
                  <a:lnTo>
                    <a:pt x="13476" y="2048368"/>
                  </a:lnTo>
                </a:path>
              </a:pathLst>
            </a:custGeom>
            <a:ln w="101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6471986" y="1828112"/>
              <a:ext cx="13970" cy="1927225"/>
            </a:xfrm>
            <a:custGeom>
              <a:avLst/>
              <a:gdLst/>
              <a:ahLst/>
              <a:cxnLst/>
              <a:rect l="l" t="t" r="r" b="b"/>
              <a:pathLst>
                <a:path w="13970" h="1927225">
                  <a:moveTo>
                    <a:pt x="0" y="0"/>
                  </a:moveTo>
                  <a:lnTo>
                    <a:pt x="13476" y="1927083"/>
                  </a:lnTo>
                </a:path>
              </a:pathLst>
            </a:custGeom>
            <a:ln w="101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642408" y="1188272"/>
            <a:ext cx="1135716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77" b="1" dirty="0">
                <a:latin typeface="Arial"/>
                <a:cs typeface="Arial"/>
              </a:rPr>
              <a:t>Page</a:t>
            </a:r>
            <a:r>
              <a:rPr sz="1677" b="1" spc="-31" dirty="0">
                <a:latin typeface="Arial"/>
                <a:cs typeface="Arial"/>
              </a:rPr>
              <a:t> </a:t>
            </a:r>
            <a:r>
              <a:rPr sz="1677" b="1" spc="-18" dirty="0">
                <a:latin typeface="Arial"/>
                <a:cs typeface="Arial"/>
              </a:rPr>
              <a:t>Table</a:t>
            </a:r>
            <a:endParaRPr sz="1677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85863" y="1578236"/>
            <a:ext cx="753596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b="1" dirty="0">
                <a:latin typeface="Arial"/>
                <a:cs typeface="Arial"/>
              </a:rPr>
              <a:t>dirty</a:t>
            </a:r>
            <a:r>
              <a:rPr sz="1147" b="1" spc="282" dirty="0">
                <a:latin typeface="Arial"/>
                <a:cs typeface="Arial"/>
              </a:rPr>
              <a:t> </a:t>
            </a:r>
            <a:r>
              <a:rPr sz="1147" b="1" spc="-18" dirty="0">
                <a:latin typeface="Arial"/>
                <a:cs typeface="Arial"/>
              </a:rPr>
              <a:t>used</a:t>
            </a:r>
            <a:endParaRPr sz="1147">
              <a:latin typeface="Arial"/>
              <a:cs typeface="Arial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5850991" y="1841935"/>
          <a:ext cx="1270747" cy="1294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2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8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657">
                <a:tc>
                  <a:txBody>
                    <a:bodyPr/>
                    <a:lstStyle/>
                    <a:p>
                      <a:pPr marL="80645">
                        <a:lnSpc>
                          <a:spcPts val="2185"/>
                        </a:lnSpc>
                      </a:pPr>
                      <a:r>
                        <a:rPr sz="1700" b="1" spc="-50" dirty="0">
                          <a:latin typeface="Arial"/>
                          <a:cs typeface="Arial"/>
                        </a:rPr>
                        <a:t>1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2185"/>
                        </a:lnSpc>
                      </a:pPr>
                      <a:r>
                        <a:rPr sz="1700" b="1" spc="-50" dirty="0">
                          <a:latin typeface="Arial"/>
                          <a:cs typeface="Arial"/>
                        </a:rPr>
                        <a:t>0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ts val="2235"/>
                        </a:lnSpc>
                      </a:pPr>
                      <a:r>
                        <a:rPr sz="1700" b="1" spc="-25" dirty="0">
                          <a:latin typeface="Arial"/>
                          <a:cs typeface="Arial"/>
                        </a:rPr>
                        <a:t>...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253">
                <a:tc>
                  <a:txBody>
                    <a:bodyPr/>
                    <a:lstStyle/>
                    <a:p>
                      <a:pPr marL="80645">
                        <a:lnSpc>
                          <a:spcPts val="2130"/>
                        </a:lnSpc>
                      </a:pPr>
                      <a:r>
                        <a:rPr sz="1700" b="1" spc="-50" dirty="0">
                          <a:latin typeface="Arial"/>
                          <a:cs typeface="Arial"/>
                        </a:rPr>
                        <a:t>1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2130"/>
                        </a:lnSpc>
                      </a:pPr>
                      <a:r>
                        <a:rPr sz="1700" b="1" spc="-50" dirty="0">
                          <a:latin typeface="Arial"/>
                          <a:cs typeface="Arial"/>
                        </a:rPr>
                        <a:t>0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565">
                <a:tc>
                  <a:txBody>
                    <a:bodyPr/>
                    <a:lstStyle/>
                    <a:p>
                      <a:pPr marL="80645">
                        <a:lnSpc>
                          <a:spcPts val="2025"/>
                        </a:lnSpc>
                      </a:pPr>
                      <a:r>
                        <a:rPr sz="1700" b="1" spc="-50" dirty="0">
                          <a:latin typeface="Arial"/>
                          <a:cs typeface="Arial"/>
                        </a:rPr>
                        <a:t>0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2025"/>
                        </a:lnSpc>
                      </a:pPr>
                      <a:r>
                        <a:rPr sz="1700" b="1" spc="-50" dirty="0">
                          <a:latin typeface="Arial"/>
                          <a:cs typeface="Arial"/>
                        </a:rPr>
                        <a:t>1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976">
                <a:tc>
                  <a:txBody>
                    <a:bodyPr/>
                    <a:lstStyle/>
                    <a:p>
                      <a:pPr marL="80645">
                        <a:lnSpc>
                          <a:spcPts val="2185"/>
                        </a:lnSpc>
                      </a:pPr>
                      <a:r>
                        <a:rPr sz="1700" b="1" spc="-50" dirty="0">
                          <a:latin typeface="Arial"/>
                          <a:cs typeface="Arial"/>
                        </a:rPr>
                        <a:t>1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2185"/>
                        </a:lnSpc>
                      </a:pPr>
                      <a:r>
                        <a:rPr sz="1700" b="1" spc="-50" dirty="0">
                          <a:latin typeface="Arial"/>
                          <a:cs typeface="Arial"/>
                        </a:rPr>
                        <a:t>1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097">
                <a:tc>
                  <a:txBody>
                    <a:bodyPr/>
                    <a:lstStyle/>
                    <a:p>
                      <a:pPr marL="80645">
                        <a:lnSpc>
                          <a:spcPts val="2085"/>
                        </a:lnSpc>
                        <a:spcBef>
                          <a:spcPts val="145"/>
                        </a:spcBef>
                      </a:pPr>
                      <a:r>
                        <a:rPr sz="1700" b="1" spc="-50" dirty="0">
                          <a:latin typeface="Arial"/>
                          <a:cs typeface="Arial"/>
                        </a:rPr>
                        <a:t>0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16249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2085"/>
                        </a:lnSpc>
                        <a:spcBef>
                          <a:spcPts val="145"/>
                        </a:spcBef>
                      </a:pPr>
                      <a:r>
                        <a:rPr sz="1700" b="1" spc="-50" dirty="0">
                          <a:latin typeface="Arial"/>
                          <a:cs typeface="Arial"/>
                        </a:rPr>
                        <a:t>0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1624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1171263" y="1748297"/>
            <a:ext cx="2782421" cy="2711263"/>
          </a:xfrm>
          <a:custGeom>
            <a:avLst/>
            <a:gdLst/>
            <a:ahLst/>
            <a:cxnLst/>
            <a:rect l="l" t="t" r="r" b="b"/>
            <a:pathLst>
              <a:path w="3153410" h="3072765">
                <a:moveTo>
                  <a:pt x="1576704" y="0"/>
                </a:moveTo>
                <a:lnTo>
                  <a:pt x="1527584" y="730"/>
                </a:lnTo>
                <a:lnTo>
                  <a:pt x="1478839" y="2909"/>
                </a:lnTo>
                <a:lnTo>
                  <a:pt x="1430490" y="6514"/>
                </a:lnTo>
                <a:lnTo>
                  <a:pt x="1382559" y="11523"/>
                </a:lnTo>
                <a:lnTo>
                  <a:pt x="1335069" y="17917"/>
                </a:lnTo>
                <a:lnTo>
                  <a:pt x="1288040" y="25674"/>
                </a:lnTo>
                <a:lnTo>
                  <a:pt x="1241495" y="34771"/>
                </a:lnTo>
                <a:lnTo>
                  <a:pt x="1195455" y="45190"/>
                </a:lnTo>
                <a:lnTo>
                  <a:pt x="1149943" y="56907"/>
                </a:lnTo>
                <a:lnTo>
                  <a:pt x="1104979" y="69901"/>
                </a:lnTo>
                <a:lnTo>
                  <a:pt x="1060587" y="84153"/>
                </a:lnTo>
                <a:lnTo>
                  <a:pt x="1016787" y="99640"/>
                </a:lnTo>
                <a:lnTo>
                  <a:pt x="973601" y="116340"/>
                </a:lnTo>
                <a:lnTo>
                  <a:pt x="931051" y="134234"/>
                </a:lnTo>
                <a:lnTo>
                  <a:pt x="889160" y="153299"/>
                </a:lnTo>
                <a:lnTo>
                  <a:pt x="847948" y="173515"/>
                </a:lnTo>
                <a:lnTo>
                  <a:pt x="807437" y="194860"/>
                </a:lnTo>
                <a:lnTo>
                  <a:pt x="767650" y="217313"/>
                </a:lnTo>
                <a:lnTo>
                  <a:pt x="728607" y="240853"/>
                </a:lnTo>
                <a:lnTo>
                  <a:pt x="690332" y="265458"/>
                </a:lnTo>
                <a:lnTo>
                  <a:pt x="652845" y="291107"/>
                </a:lnTo>
                <a:lnTo>
                  <a:pt x="616169" y="317780"/>
                </a:lnTo>
                <a:lnTo>
                  <a:pt x="580325" y="345454"/>
                </a:lnTo>
                <a:lnTo>
                  <a:pt x="545334" y="374109"/>
                </a:lnTo>
                <a:lnTo>
                  <a:pt x="511220" y="403724"/>
                </a:lnTo>
                <a:lnTo>
                  <a:pt x="478003" y="434277"/>
                </a:lnTo>
                <a:lnTo>
                  <a:pt x="445705" y="465746"/>
                </a:lnTo>
                <a:lnTo>
                  <a:pt x="414348" y="498111"/>
                </a:lnTo>
                <a:lnTo>
                  <a:pt x="383954" y="531351"/>
                </a:lnTo>
                <a:lnTo>
                  <a:pt x="354545" y="565444"/>
                </a:lnTo>
                <a:lnTo>
                  <a:pt x="326143" y="600370"/>
                </a:lnTo>
                <a:lnTo>
                  <a:pt x="298768" y="636106"/>
                </a:lnTo>
                <a:lnTo>
                  <a:pt x="272444" y="672631"/>
                </a:lnTo>
                <a:lnTo>
                  <a:pt x="247191" y="709925"/>
                </a:lnTo>
                <a:lnTo>
                  <a:pt x="223032" y="747966"/>
                </a:lnTo>
                <a:lnTo>
                  <a:pt x="199988" y="786733"/>
                </a:lnTo>
                <a:lnTo>
                  <a:pt x="178081" y="826205"/>
                </a:lnTo>
                <a:lnTo>
                  <a:pt x="157334" y="866361"/>
                </a:lnTo>
                <a:lnTo>
                  <a:pt x="137767" y="907178"/>
                </a:lnTo>
                <a:lnTo>
                  <a:pt x="119402" y="948637"/>
                </a:lnTo>
                <a:lnTo>
                  <a:pt x="102262" y="990715"/>
                </a:lnTo>
                <a:lnTo>
                  <a:pt x="86367" y="1033392"/>
                </a:lnTo>
                <a:lnTo>
                  <a:pt x="71741" y="1076647"/>
                </a:lnTo>
                <a:lnTo>
                  <a:pt x="58404" y="1120457"/>
                </a:lnTo>
                <a:lnTo>
                  <a:pt x="46379" y="1164802"/>
                </a:lnTo>
                <a:lnTo>
                  <a:pt x="35687" y="1209662"/>
                </a:lnTo>
                <a:lnTo>
                  <a:pt x="26349" y="1255013"/>
                </a:lnTo>
                <a:lnTo>
                  <a:pt x="18389" y="1300836"/>
                </a:lnTo>
                <a:lnTo>
                  <a:pt x="11827" y="1347109"/>
                </a:lnTo>
                <a:lnTo>
                  <a:pt x="6685" y="1393811"/>
                </a:lnTo>
                <a:lnTo>
                  <a:pt x="2985" y="1440920"/>
                </a:lnTo>
                <a:lnTo>
                  <a:pt x="750" y="1488415"/>
                </a:lnTo>
                <a:lnTo>
                  <a:pt x="0" y="1536276"/>
                </a:lnTo>
                <a:lnTo>
                  <a:pt x="750" y="1584120"/>
                </a:lnTo>
                <a:lnTo>
                  <a:pt x="2985" y="1631600"/>
                </a:lnTo>
                <a:lnTo>
                  <a:pt x="6685" y="1678695"/>
                </a:lnTo>
                <a:lnTo>
                  <a:pt x="11827" y="1725384"/>
                </a:lnTo>
                <a:lnTo>
                  <a:pt x="18389" y="1771645"/>
                </a:lnTo>
                <a:lnTo>
                  <a:pt x="26349" y="1817457"/>
                </a:lnTo>
                <a:lnTo>
                  <a:pt x="35687" y="1862799"/>
                </a:lnTo>
                <a:lnTo>
                  <a:pt x="46379" y="1907649"/>
                </a:lnTo>
                <a:lnTo>
                  <a:pt x="58404" y="1951987"/>
                </a:lnTo>
                <a:lnTo>
                  <a:pt x="71741" y="1995791"/>
                </a:lnTo>
                <a:lnTo>
                  <a:pt x="86367" y="2039040"/>
                </a:lnTo>
                <a:lnTo>
                  <a:pt x="102262" y="2081712"/>
                </a:lnTo>
                <a:lnTo>
                  <a:pt x="119402" y="2123786"/>
                </a:lnTo>
                <a:lnTo>
                  <a:pt x="137767" y="2165242"/>
                </a:lnTo>
                <a:lnTo>
                  <a:pt x="157334" y="2206057"/>
                </a:lnTo>
                <a:lnTo>
                  <a:pt x="178081" y="2246211"/>
                </a:lnTo>
                <a:lnTo>
                  <a:pt x="199988" y="2285682"/>
                </a:lnTo>
                <a:lnTo>
                  <a:pt x="223032" y="2324449"/>
                </a:lnTo>
                <a:lnTo>
                  <a:pt x="247191" y="2362491"/>
                </a:lnTo>
                <a:lnTo>
                  <a:pt x="272444" y="2399786"/>
                </a:lnTo>
                <a:lnTo>
                  <a:pt x="298768" y="2436313"/>
                </a:lnTo>
                <a:lnTo>
                  <a:pt x="326143" y="2472051"/>
                </a:lnTo>
                <a:lnTo>
                  <a:pt x="354545" y="2506979"/>
                </a:lnTo>
                <a:lnTo>
                  <a:pt x="383954" y="2541076"/>
                </a:lnTo>
                <a:lnTo>
                  <a:pt x="414348" y="2574319"/>
                </a:lnTo>
                <a:lnTo>
                  <a:pt x="445705" y="2606688"/>
                </a:lnTo>
                <a:lnTo>
                  <a:pt x="478003" y="2638162"/>
                </a:lnTo>
                <a:lnTo>
                  <a:pt x="511220" y="2668720"/>
                </a:lnTo>
                <a:lnTo>
                  <a:pt x="545334" y="2698339"/>
                </a:lnTo>
                <a:lnTo>
                  <a:pt x="580325" y="2726999"/>
                </a:lnTo>
                <a:lnTo>
                  <a:pt x="616169" y="2754679"/>
                </a:lnTo>
                <a:lnTo>
                  <a:pt x="652845" y="2781357"/>
                </a:lnTo>
                <a:lnTo>
                  <a:pt x="690332" y="2807012"/>
                </a:lnTo>
                <a:lnTo>
                  <a:pt x="728607" y="2831623"/>
                </a:lnTo>
                <a:lnTo>
                  <a:pt x="767650" y="2855169"/>
                </a:lnTo>
                <a:lnTo>
                  <a:pt x="807437" y="2877627"/>
                </a:lnTo>
                <a:lnTo>
                  <a:pt x="847948" y="2898978"/>
                </a:lnTo>
                <a:lnTo>
                  <a:pt x="889160" y="2919200"/>
                </a:lnTo>
                <a:lnTo>
                  <a:pt x="931051" y="2938271"/>
                </a:lnTo>
                <a:lnTo>
                  <a:pt x="973601" y="2956170"/>
                </a:lnTo>
                <a:lnTo>
                  <a:pt x="1016787" y="2972876"/>
                </a:lnTo>
                <a:lnTo>
                  <a:pt x="1060587" y="2988368"/>
                </a:lnTo>
                <a:lnTo>
                  <a:pt x="1104979" y="3002624"/>
                </a:lnTo>
                <a:lnTo>
                  <a:pt x="1149943" y="3015623"/>
                </a:lnTo>
                <a:lnTo>
                  <a:pt x="1195455" y="3027345"/>
                </a:lnTo>
                <a:lnTo>
                  <a:pt x="1241495" y="3037767"/>
                </a:lnTo>
                <a:lnTo>
                  <a:pt x="1288040" y="3046868"/>
                </a:lnTo>
                <a:lnTo>
                  <a:pt x="1335069" y="3054627"/>
                </a:lnTo>
                <a:lnTo>
                  <a:pt x="1382559" y="3061024"/>
                </a:lnTo>
                <a:lnTo>
                  <a:pt x="1430490" y="3066036"/>
                </a:lnTo>
                <a:lnTo>
                  <a:pt x="1478839" y="3069642"/>
                </a:lnTo>
                <a:lnTo>
                  <a:pt x="1527584" y="3071821"/>
                </a:lnTo>
                <a:lnTo>
                  <a:pt x="1576704" y="3072553"/>
                </a:lnTo>
                <a:lnTo>
                  <a:pt x="1625807" y="3071821"/>
                </a:lnTo>
                <a:lnTo>
                  <a:pt x="1674537" y="3069642"/>
                </a:lnTo>
                <a:lnTo>
                  <a:pt x="1722871" y="3066036"/>
                </a:lnTo>
                <a:lnTo>
                  <a:pt x="1770789" y="3061024"/>
                </a:lnTo>
                <a:lnTo>
                  <a:pt x="1818267" y="3054627"/>
                </a:lnTo>
                <a:lnTo>
                  <a:pt x="1865285" y="3046868"/>
                </a:lnTo>
                <a:lnTo>
                  <a:pt x="1911820" y="3037767"/>
                </a:lnTo>
                <a:lnTo>
                  <a:pt x="1957851" y="3027345"/>
                </a:lnTo>
                <a:lnTo>
                  <a:pt x="2003355" y="3015623"/>
                </a:lnTo>
                <a:lnTo>
                  <a:pt x="2048312" y="3002624"/>
                </a:lnTo>
                <a:lnTo>
                  <a:pt x="2092699" y="2988368"/>
                </a:lnTo>
                <a:lnTo>
                  <a:pt x="2136494" y="2972876"/>
                </a:lnTo>
                <a:lnTo>
                  <a:pt x="2179676" y="2956170"/>
                </a:lnTo>
                <a:lnTo>
                  <a:pt x="2222222" y="2938271"/>
                </a:lnTo>
                <a:lnTo>
                  <a:pt x="2264111" y="2919200"/>
                </a:lnTo>
                <a:lnTo>
                  <a:pt x="2305322" y="2898978"/>
                </a:lnTo>
                <a:lnTo>
                  <a:pt x="2345832" y="2877627"/>
                </a:lnTo>
                <a:lnTo>
                  <a:pt x="2385619" y="2855169"/>
                </a:lnTo>
                <a:lnTo>
                  <a:pt x="2424662" y="2831623"/>
                </a:lnTo>
                <a:lnTo>
                  <a:pt x="2462938" y="2807012"/>
                </a:lnTo>
                <a:lnTo>
                  <a:pt x="2500427" y="2781357"/>
                </a:lnTo>
                <a:lnTo>
                  <a:pt x="2537106" y="2754679"/>
                </a:lnTo>
                <a:lnTo>
                  <a:pt x="2572953" y="2726999"/>
                </a:lnTo>
                <a:lnTo>
                  <a:pt x="2607946" y="2698339"/>
                </a:lnTo>
                <a:lnTo>
                  <a:pt x="2642064" y="2668720"/>
                </a:lnTo>
                <a:lnTo>
                  <a:pt x="2675286" y="2638162"/>
                </a:lnTo>
                <a:lnTo>
                  <a:pt x="2707588" y="2606688"/>
                </a:lnTo>
                <a:lnTo>
                  <a:pt x="2738949" y="2574319"/>
                </a:lnTo>
                <a:lnTo>
                  <a:pt x="2769348" y="2541076"/>
                </a:lnTo>
                <a:lnTo>
                  <a:pt x="2798763" y="2506979"/>
                </a:lnTo>
                <a:lnTo>
                  <a:pt x="2827171" y="2472051"/>
                </a:lnTo>
                <a:lnTo>
                  <a:pt x="2854551" y="2436313"/>
                </a:lnTo>
                <a:lnTo>
                  <a:pt x="2880881" y="2399786"/>
                </a:lnTo>
                <a:lnTo>
                  <a:pt x="2906140" y="2362491"/>
                </a:lnTo>
                <a:lnTo>
                  <a:pt x="2930305" y="2324449"/>
                </a:lnTo>
                <a:lnTo>
                  <a:pt x="2953355" y="2285682"/>
                </a:lnTo>
                <a:lnTo>
                  <a:pt x="2975267" y="2246211"/>
                </a:lnTo>
                <a:lnTo>
                  <a:pt x="2996021" y="2206057"/>
                </a:lnTo>
                <a:lnTo>
                  <a:pt x="3015594" y="2165242"/>
                </a:lnTo>
                <a:lnTo>
                  <a:pt x="3033964" y="2123786"/>
                </a:lnTo>
                <a:lnTo>
                  <a:pt x="3051109" y="2081712"/>
                </a:lnTo>
                <a:lnTo>
                  <a:pt x="3067009" y="2039040"/>
                </a:lnTo>
                <a:lnTo>
                  <a:pt x="3081640" y="1995791"/>
                </a:lnTo>
                <a:lnTo>
                  <a:pt x="3094982" y="1951987"/>
                </a:lnTo>
                <a:lnTo>
                  <a:pt x="3107012" y="1907649"/>
                </a:lnTo>
                <a:lnTo>
                  <a:pt x="3117708" y="1862799"/>
                </a:lnTo>
                <a:lnTo>
                  <a:pt x="3127049" y="1817457"/>
                </a:lnTo>
                <a:lnTo>
                  <a:pt x="3135012" y="1771645"/>
                </a:lnTo>
                <a:lnTo>
                  <a:pt x="3141577" y="1725384"/>
                </a:lnTo>
                <a:lnTo>
                  <a:pt x="3146721" y="1678695"/>
                </a:lnTo>
                <a:lnTo>
                  <a:pt x="3150422" y="1631600"/>
                </a:lnTo>
                <a:lnTo>
                  <a:pt x="3152659" y="1584120"/>
                </a:lnTo>
                <a:lnTo>
                  <a:pt x="3153409" y="1536276"/>
                </a:lnTo>
                <a:lnTo>
                  <a:pt x="3152659" y="1488415"/>
                </a:lnTo>
                <a:lnTo>
                  <a:pt x="3150422" y="1440920"/>
                </a:lnTo>
                <a:lnTo>
                  <a:pt x="3146721" y="1393811"/>
                </a:lnTo>
                <a:lnTo>
                  <a:pt x="3141577" y="1347109"/>
                </a:lnTo>
                <a:lnTo>
                  <a:pt x="3135012" y="1300836"/>
                </a:lnTo>
                <a:lnTo>
                  <a:pt x="3127049" y="1255013"/>
                </a:lnTo>
                <a:lnTo>
                  <a:pt x="3117708" y="1209662"/>
                </a:lnTo>
                <a:lnTo>
                  <a:pt x="3107012" y="1164802"/>
                </a:lnTo>
                <a:lnTo>
                  <a:pt x="3094982" y="1120457"/>
                </a:lnTo>
                <a:lnTo>
                  <a:pt x="3081640" y="1076647"/>
                </a:lnTo>
                <a:lnTo>
                  <a:pt x="3067009" y="1033392"/>
                </a:lnTo>
                <a:lnTo>
                  <a:pt x="3051109" y="990715"/>
                </a:lnTo>
                <a:lnTo>
                  <a:pt x="3033964" y="948637"/>
                </a:lnTo>
                <a:lnTo>
                  <a:pt x="3015594" y="907178"/>
                </a:lnTo>
                <a:lnTo>
                  <a:pt x="2996021" y="866361"/>
                </a:lnTo>
                <a:lnTo>
                  <a:pt x="2975267" y="826205"/>
                </a:lnTo>
                <a:lnTo>
                  <a:pt x="2953355" y="786733"/>
                </a:lnTo>
                <a:lnTo>
                  <a:pt x="2930305" y="747966"/>
                </a:lnTo>
                <a:lnTo>
                  <a:pt x="2906140" y="709925"/>
                </a:lnTo>
                <a:lnTo>
                  <a:pt x="2880881" y="672631"/>
                </a:lnTo>
                <a:lnTo>
                  <a:pt x="2854551" y="636106"/>
                </a:lnTo>
                <a:lnTo>
                  <a:pt x="2827171" y="600370"/>
                </a:lnTo>
                <a:lnTo>
                  <a:pt x="2798763" y="565444"/>
                </a:lnTo>
                <a:lnTo>
                  <a:pt x="2769348" y="531351"/>
                </a:lnTo>
                <a:lnTo>
                  <a:pt x="2738949" y="498111"/>
                </a:lnTo>
                <a:lnTo>
                  <a:pt x="2707588" y="465746"/>
                </a:lnTo>
                <a:lnTo>
                  <a:pt x="2675286" y="434277"/>
                </a:lnTo>
                <a:lnTo>
                  <a:pt x="2642064" y="403724"/>
                </a:lnTo>
                <a:lnTo>
                  <a:pt x="2607946" y="374109"/>
                </a:lnTo>
                <a:lnTo>
                  <a:pt x="2572953" y="345454"/>
                </a:lnTo>
                <a:lnTo>
                  <a:pt x="2537106" y="317780"/>
                </a:lnTo>
                <a:lnTo>
                  <a:pt x="2500427" y="291107"/>
                </a:lnTo>
                <a:lnTo>
                  <a:pt x="2462938" y="265458"/>
                </a:lnTo>
                <a:lnTo>
                  <a:pt x="2424662" y="240853"/>
                </a:lnTo>
                <a:lnTo>
                  <a:pt x="2385619" y="217313"/>
                </a:lnTo>
                <a:lnTo>
                  <a:pt x="2345832" y="194860"/>
                </a:lnTo>
                <a:lnTo>
                  <a:pt x="2305322" y="173515"/>
                </a:lnTo>
                <a:lnTo>
                  <a:pt x="2264111" y="153299"/>
                </a:lnTo>
                <a:lnTo>
                  <a:pt x="2222222" y="134234"/>
                </a:lnTo>
                <a:lnTo>
                  <a:pt x="2179676" y="116340"/>
                </a:lnTo>
                <a:lnTo>
                  <a:pt x="2136494" y="99640"/>
                </a:lnTo>
                <a:lnTo>
                  <a:pt x="2092699" y="84153"/>
                </a:lnTo>
                <a:lnTo>
                  <a:pt x="2048312" y="69901"/>
                </a:lnTo>
                <a:lnTo>
                  <a:pt x="2003355" y="56907"/>
                </a:lnTo>
                <a:lnTo>
                  <a:pt x="1957851" y="45190"/>
                </a:lnTo>
                <a:lnTo>
                  <a:pt x="1911820" y="34771"/>
                </a:lnTo>
                <a:lnTo>
                  <a:pt x="1865285" y="25674"/>
                </a:lnTo>
                <a:lnTo>
                  <a:pt x="1818267" y="17917"/>
                </a:lnTo>
                <a:lnTo>
                  <a:pt x="1770789" y="11523"/>
                </a:lnTo>
                <a:lnTo>
                  <a:pt x="1722871" y="6514"/>
                </a:lnTo>
                <a:lnTo>
                  <a:pt x="1674537" y="2909"/>
                </a:lnTo>
                <a:lnTo>
                  <a:pt x="1625807" y="730"/>
                </a:lnTo>
                <a:lnTo>
                  <a:pt x="1576704" y="0"/>
                </a:lnTo>
                <a:close/>
              </a:path>
            </a:pathLst>
          </a:custGeom>
          <a:ln w="808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 txBox="1"/>
          <p:nvPr/>
        </p:nvSpPr>
        <p:spPr>
          <a:xfrm>
            <a:off x="1561368" y="2707789"/>
            <a:ext cx="1992406" cy="701806"/>
          </a:xfrm>
          <a:prstGeom prst="rect">
            <a:avLst/>
          </a:prstGeom>
        </p:spPr>
        <p:txBody>
          <a:bodyPr vert="horz" wrap="square" lIns="0" tIns="8965" rIns="0" bIns="0" rtlCol="0">
            <a:spAutoFit/>
          </a:bodyPr>
          <a:lstStyle/>
          <a:p>
            <a:pPr marL="328350" marR="4483" indent="-317704">
              <a:lnSpc>
                <a:spcPts val="2753"/>
              </a:lnSpc>
              <a:spcBef>
                <a:spcPts val="71"/>
              </a:spcBef>
            </a:pPr>
            <a:r>
              <a:rPr sz="2206" dirty="0">
                <a:latin typeface="Arial MT"/>
                <a:cs typeface="Arial MT"/>
              </a:rPr>
              <a:t>Set</a:t>
            </a:r>
            <a:r>
              <a:rPr sz="2206" spc="40" dirty="0">
                <a:latin typeface="Arial MT"/>
                <a:cs typeface="Arial MT"/>
              </a:rPr>
              <a:t> </a:t>
            </a:r>
            <a:r>
              <a:rPr sz="2206" dirty="0">
                <a:latin typeface="Arial MT"/>
                <a:cs typeface="Arial MT"/>
              </a:rPr>
              <a:t>of</a:t>
            </a:r>
            <a:r>
              <a:rPr sz="2206" spc="44" dirty="0">
                <a:latin typeface="Arial MT"/>
                <a:cs typeface="Arial MT"/>
              </a:rPr>
              <a:t> </a:t>
            </a:r>
            <a:r>
              <a:rPr sz="2206" dirty="0">
                <a:latin typeface="Arial MT"/>
                <a:cs typeface="Arial MT"/>
              </a:rPr>
              <a:t>all</a:t>
            </a:r>
            <a:r>
              <a:rPr sz="2206" spc="49" dirty="0">
                <a:latin typeface="Arial MT"/>
                <a:cs typeface="Arial MT"/>
              </a:rPr>
              <a:t> </a:t>
            </a:r>
            <a:r>
              <a:rPr sz="2206" spc="-9" dirty="0">
                <a:latin typeface="Arial MT"/>
                <a:cs typeface="Arial MT"/>
              </a:rPr>
              <a:t>pages </a:t>
            </a:r>
            <a:r>
              <a:rPr sz="2206" dirty="0">
                <a:latin typeface="Arial MT"/>
                <a:cs typeface="Arial MT"/>
              </a:rPr>
              <a:t>in</a:t>
            </a:r>
            <a:r>
              <a:rPr sz="2206" spc="40" dirty="0">
                <a:latin typeface="Arial MT"/>
                <a:cs typeface="Arial MT"/>
              </a:rPr>
              <a:t> </a:t>
            </a:r>
            <a:r>
              <a:rPr sz="2206" spc="-9" dirty="0">
                <a:latin typeface="Arial MT"/>
                <a:cs typeface="Arial MT"/>
              </a:rPr>
              <a:t>Memory</a:t>
            </a:r>
            <a:endParaRPr sz="2206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89357" y="2865119"/>
            <a:ext cx="922244" cy="270062"/>
          </a:xfrm>
          <a:custGeom>
            <a:avLst/>
            <a:gdLst/>
            <a:ahLst/>
            <a:cxnLst/>
            <a:rect l="l" t="t" r="r" b="b"/>
            <a:pathLst>
              <a:path w="1045210" h="306070">
                <a:moveTo>
                  <a:pt x="216705" y="67054"/>
                </a:moveTo>
                <a:lnTo>
                  <a:pt x="0" y="230116"/>
                </a:lnTo>
                <a:lnTo>
                  <a:pt x="260471" y="305643"/>
                </a:lnTo>
                <a:lnTo>
                  <a:pt x="247221" y="233408"/>
                </a:lnTo>
                <a:lnTo>
                  <a:pt x="206117" y="233408"/>
                </a:lnTo>
                <a:lnTo>
                  <a:pt x="191528" y="153878"/>
                </a:lnTo>
                <a:lnTo>
                  <a:pt x="231293" y="146583"/>
                </a:lnTo>
                <a:lnTo>
                  <a:pt x="216705" y="67054"/>
                </a:lnTo>
                <a:close/>
              </a:path>
              <a:path w="1045210" h="306070">
                <a:moveTo>
                  <a:pt x="231293" y="146583"/>
                </a:moveTo>
                <a:lnTo>
                  <a:pt x="191528" y="153878"/>
                </a:lnTo>
                <a:lnTo>
                  <a:pt x="206117" y="233408"/>
                </a:lnTo>
                <a:lnTo>
                  <a:pt x="245882" y="226113"/>
                </a:lnTo>
                <a:lnTo>
                  <a:pt x="231293" y="146583"/>
                </a:lnTo>
                <a:close/>
              </a:path>
              <a:path w="1045210" h="306070">
                <a:moveTo>
                  <a:pt x="245882" y="226113"/>
                </a:moveTo>
                <a:lnTo>
                  <a:pt x="206117" y="233408"/>
                </a:lnTo>
                <a:lnTo>
                  <a:pt x="247221" y="233408"/>
                </a:lnTo>
                <a:lnTo>
                  <a:pt x="245882" y="226113"/>
                </a:lnTo>
                <a:close/>
              </a:path>
              <a:path w="1045210" h="306070">
                <a:moveTo>
                  <a:pt x="1030364" y="0"/>
                </a:moveTo>
                <a:lnTo>
                  <a:pt x="231293" y="146583"/>
                </a:lnTo>
                <a:lnTo>
                  <a:pt x="245882" y="226113"/>
                </a:lnTo>
                <a:lnTo>
                  <a:pt x="1044954" y="79529"/>
                </a:lnTo>
                <a:lnTo>
                  <a:pt x="1030364" y="0"/>
                </a:lnTo>
                <a:close/>
              </a:path>
            </a:pathLst>
          </a:custGeom>
          <a:solidFill>
            <a:srgbClr val="FB0128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9" name="object 19"/>
          <p:cNvSpPr txBox="1"/>
          <p:nvPr/>
        </p:nvSpPr>
        <p:spPr>
          <a:xfrm>
            <a:off x="4238260" y="3181125"/>
            <a:ext cx="1495424" cy="1072018"/>
          </a:xfrm>
          <a:prstGeom prst="rect">
            <a:avLst/>
          </a:prstGeom>
        </p:spPr>
        <p:txBody>
          <a:bodyPr vert="horz" wrap="square" lIns="0" tIns="16249" rIns="0" bIns="0" rtlCol="0">
            <a:spAutoFit/>
          </a:bodyPr>
          <a:lstStyle/>
          <a:p>
            <a:pPr marL="11206" marR="4483">
              <a:lnSpc>
                <a:spcPct val="103200"/>
              </a:lnSpc>
              <a:spcBef>
                <a:spcPts val="128"/>
              </a:spcBef>
            </a:pPr>
            <a:r>
              <a:rPr sz="1677" b="1" spc="-9" dirty="0">
                <a:solidFill>
                  <a:srgbClr val="FB0128"/>
                </a:solidFill>
                <a:latin typeface="Arial"/>
                <a:cs typeface="Arial"/>
              </a:rPr>
              <a:t>Tail</a:t>
            </a:r>
            <a:r>
              <a:rPr sz="1677" b="1" spc="-106" dirty="0">
                <a:solidFill>
                  <a:srgbClr val="FB0128"/>
                </a:solidFill>
                <a:latin typeface="Arial"/>
                <a:cs typeface="Arial"/>
              </a:rPr>
              <a:t> </a:t>
            </a:r>
            <a:r>
              <a:rPr sz="1677" b="1" spc="-9" dirty="0">
                <a:solidFill>
                  <a:srgbClr val="FB0128"/>
                </a:solidFill>
                <a:latin typeface="Arial"/>
                <a:cs typeface="Arial"/>
              </a:rPr>
              <a:t>pointer: </a:t>
            </a:r>
            <a:r>
              <a:rPr sz="1677" b="1" dirty="0">
                <a:latin typeface="Arial"/>
                <a:cs typeface="Arial"/>
              </a:rPr>
              <a:t>Clear</a:t>
            </a:r>
            <a:r>
              <a:rPr sz="1677" b="1" spc="-13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the</a:t>
            </a:r>
            <a:r>
              <a:rPr sz="1677" b="1" spc="-13" dirty="0">
                <a:latin typeface="Arial"/>
                <a:cs typeface="Arial"/>
              </a:rPr>
              <a:t> </a:t>
            </a:r>
            <a:r>
              <a:rPr sz="1677" b="1" spc="-18" dirty="0">
                <a:latin typeface="Arial"/>
                <a:cs typeface="Arial"/>
              </a:rPr>
              <a:t>used </a:t>
            </a:r>
            <a:r>
              <a:rPr sz="1677" b="1" dirty="0">
                <a:latin typeface="Arial"/>
                <a:cs typeface="Arial"/>
              </a:rPr>
              <a:t>bit</a:t>
            </a:r>
            <a:r>
              <a:rPr sz="1677" b="1" spc="-4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in </a:t>
            </a:r>
            <a:r>
              <a:rPr sz="1677" b="1" spc="-22" dirty="0">
                <a:latin typeface="Arial"/>
                <a:cs typeface="Arial"/>
              </a:rPr>
              <a:t>the</a:t>
            </a:r>
            <a:endParaRPr sz="1677">
              <a:latin typeface="Arial"/>
              <a:cs typeface="Arial"/>
            </a:endParaRPr>
          </a:p>
          <a:p>
            <a:pPr marL="11206">
              <a:spcBef>
                <a:spcPts val="22"/>
              </a:spcBef>
            </a:pPr>
            <a:r>
              <a:rPr sz="1677" b="1" dirty="0">
                <a:latin typeface="Arial"/>
                <a:cs typeface="Arial"/>
              </a:rPr>
              <a:t>page</a:t>
            </a:r>
            <a:r>
              <a:rPr sz="1677" b="1" spc="-26" dirty="0">
                <a:latin typeface="Arial"/>
                <a:cs typeface="Arial"/>
              </a:rPr>
              <a:t> </a:t>
            </a:r>
            <a:r>
              <a:rPr sz="1677" b="1" spc="-18" dirty="0">
                <a:latin typeface="Arial"/>
                <a:cs typeface="Arial"/>
              </a:rPr>
              <a:t>table</a:t>
            </a:r>
            <a:endParaRPr sz="1677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53424" y="3099753"/>
            <a:ext cx="3239621" cy="869016"/>
            <a:chOff x="474814" y="3513053"/>
            <a:chExt cx="3671570" cy="984885"/>
          </a:xfrm>
        </p:grpSpPr>
        <p:sp>
          <p:nvSpPr>
            <p:cNvPr id="21" name="object 21"/>
            <p:cNvSpPr/>
            <p:nvPr/>
          </p:nvSpPr>
          <p:spPr>
            <a:xfrm>
              <a:off x="4016569" y="3513053"/>
              <a:ext cx="130175" cy="461645"/>
            </a:xfrm>
            <a:custGeom>
              <a:avLst/>
              <a:gdLst/>
              <a:ahLst/>
              <a:cxnLst/>
              <a:rect l="l" t="t" r="r" b="b"/>
              <a:pathLst>
                <a:path w="130175" h="461645">
                  <a:moveTo>
                    <a:pt x="0" y="332312"/>
                  </a:moveTo>
                  <a:lnTo>
                    <a:pt x="42350" y="461129"/>
                  </a:lnTo>
                  <a:lnTo>
                    <a:pt x="96167" y="384073"/>
                  </a:lnTo>
                  <a:lnTo>
                    <a:pt x="74113" y="384073"/>
                  </a:lnTo>
                  <a:lnTo>
                    <a:pt x="34116" y="378192"/>
                  </a:lnTo>
                  <a:lnTo>
                    <a:pt x="36076" y="364859"/>
                  </a:lnTo>
                  <a:lnTo>
                    <a:pt x="0" y="332312"/>
                  </a:lnTo>
                  <a:close/>
                </a:path>
                <a:path w="130175" h="461645">
                  <a:moveTo>
                    <a:pt x="76073" y="370741"/>
                  </a:moveTo>
                  <a:lnTo>
                    <a:pt x="54119" y="381133"/>
                  </a:lnTo>
                  <a:lnTo>
                    <a:pt x="74113" y="384073"/>
                  </a:lnTo>
                  <a:lnTo>
                    <a:pt x="76073" y="370741"/>
                  </a:lnTo>
                  <a:close/>
                </a:path>
                <a:path w="130175" h="461645">
                  <a:moveTo>
                    <a:pt x="119994" y="349957"/>
                  </a:moveTo>
                  <a:lnTo>
                    <a:pt x="76073" y="370741"/>
                  </a:lnTo>
                  <a:lnTo>
                    <a:pt x="74113" y="384073"/>
                  </a:lnTo>
                  <a:lnTo>
                    <a:pt x="96167" y="384073"/>
                  </a:lnTo>
                  <a:lnTo>
                    <a:pt x="119994" y="349957"/>
                  </a:lnTo>
                  <a:close/>
                </a:path>
                <a:path w="130175" h="461645">
                  <a:moveTo>
                    <a:pt x="36076" y="364859"/>
                  </a:moveTo>
                  <a:lnTo>
                    <a:pt x="34116" y="378192"/>
                  </a:lnTo>
                  <a:lnTo>
                    <a:pt x="54119" y="381133"/>
                  </a:lnTo>
                  <a:lnTo>
                    <a:pt x="36076" y="364859"/>
                  </a:lnTo>
                  <a:close/>
                </a:path>
                <a:path w="130175" h="461645">
                  <a:moveTo>
                    <a:pt x="89731" y="0"/>
                  </a:moveTo>
                  <a:lnTo>
                    <a:pt x="36076" y="364859"/>
                  </a:lnTo>
                  <a:lnTo>
                    <a:pt x="54114" y="381133"/>
                  </a:lnTo>
                  <a:lnTo>
                    <a:pt x="76073" y="370741"/>
                  </a:lnTo>
                  <a:lnTo>
                    <a:pt x="129730" y="5882"/>
                  </a:lnTo>
                  <a:lnTo>
                    <a:pt x="89731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474814" y="4208106"/>
              <a:ext cx="646430" cy="289560"/>
            </a:xfrm>
            <a:custGeom>
              <a:avLst/>
              <a:gdLst/>
              <a:ahLst/>
              <a:cxnLst/>
              <a:rect l="l" t="t" r="r" b="b"/>
              <a:pathLst>
                <a:path w="646430" h="289560">
                  <a:moveTo>
                    <a:pt x="403562" y="76604"/>
                  </a:moveTo>
                  <a:lnTo>
                    <a:pt x="0" y="212914"/>
                  </a:lnTo>
                  <a:lnTo>
                    <a:pt x="25874" y="289519"/>
                  </a:lnTo>
                  <a:lnTo>
                    <a:pt x="429437" y="153209"/>
                  </a:lnTo>
                  <a:lnTo>
                    <a:pt x="403562" y="76604"/>
                  </a:lnTo>
                  <a:close/>
                </a:path>
                <a:path w="646430" h="289560">
                  <a:moveTo>
                    <a:pt x="620139" y="63667"/>
                  </a:moveTo>
                  <a:lnTo>
                    <a:pt x="441865" y="63667"/>
                  </a:lnTo>
                  <a:lnTo>
                    <a:pt x="467739" y="140272"/>
                  </a:lnTo>
                  <a:lnTo>
                    <a:pt x="429437" y="153209"/>
                  </a:lnTo>
                  <a:lnTo>
                    <a:pt x="455311" y="229814"/>
                  </a:lnTo>
                  <a:lnTo>
                    <a:pt x="620139" y="63667"/>
                  </a:lnTo>
                  <a:close/>
                </a:path>
                <a:path w="646430" h="289560">
                  <a:moveTo>
                    <a:pt x="441865" y="63667"/>
                  </a:moveTo>
                  <a:lnTo>
                    <a:pt x="403562" y="76604"/>
                  </a:lnTo>
                  <a:lnTo>
                    <a:pt x="429437" y="153209"/>
                  </a:lnTo>
                  <a:lnTo>
                    <a:pt x="467739" y="140272"/>
                  </a:lnTo>
                  <a:lnTo>
                    <a:pt x="441865" y="63667"/>
                  </a:lnTo>
                  <a:close/>
                </a:path>
                <a:path w="646430" h="289560">
                  <a:moveTo>
                    <a:pt x="377688" y="0"/>
                  </a:moveTo>
                  <a:lnTo>
                    <a:pt x="403562" y="76604"/>
                  </a:lnTo>
                  <a:lnTo>
                    <a:pt x="441865" y="63667"/>
                  </a:lnTo>
                  <a:lnTo>
                    <a:pt x="620139" y="63667"/>
                  </a:lnTo>
                  <a:lnTo>
                    <a:pt x="646314" y="37283"/>
                  </a:lnTo>
                  <a:lnTo>
                    <a:pt x="377688" y="0"/>
                  </a:lnTo>
                  <a:close/>
                </a:path>
              </a:pathLst>
            </a:custGeom>
            <a:solidFill>
              <a:srgbClr val="FB012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36213" y="4205792"/>
            <a:ext cx="2031066" cy="1848022"/>
          </a:xfrm>
          <a:prstGeom prst="rect">
            <a:avLst/>
          </a:prstGeom>
        </p:spPr>
        <p:txBody>
          <a:bodyPr vert="horz" wrap="square" lIns="0" tIns="24653" rIns="0" bIns="0" rtlCol="0">
            <a:spAutoFit/>
          </a:bodyPr>
          <a:lstStyle/>
          <a:p>
            <a:pPr marL="11206">
              <a:spcBef>
                <a:spcPts val="194"/>
              </a:spcBef>
            </a:pPr>
            <a:r>
              <a:rPr sz="1677" b="1" dirty="0">
                <a:solidFill>
                  <a:srgbClr val="FB0128"/>
                </a:solidFill>
                <a:latin typeface="Arial"/>
                <a:cs typeface="Arial"/>
              </a:rPr>
              <a:t>Head</a:t>
            </a:r>
            <a:r>
              <a:rPr sz="1677" b="1" spc="-35" dirty="0">
                <a:solidFill>
                  <a:srgbClr val="FB0128"/>
                </a:solidFill>
                <a:latin typeface="Arial"/>
                <a:cs typeface="Arial"/>
              </a:rPr>
              <a:t> </a:t>
            </a:r>
            <a:r>
              <a:rPr sz="1677" b="1" spc="-9" dirty="0">
                <a:solidFill>
                  <a:srgbClr val="FB0128"/>
                </a:solidFill>
                <a:latin typeface="Arial"/>
                <a:cs typeface="Arial"/>
              </a:rPr>
              <a:t>pointer</a:t>
            </a:r>
            <a:endParaRPr sz="1677" dirty="0">
              <a:latin typeface="Arial"/>
              <a:cs typeface="Arial"/>
            </a:endParaRPr>
          </a:p>
          <a:p>
            <a:pPr marL="11206" marR="4483">
              <a:lnSpc>
                <a:spcPct val="101099"/>
              </a:lnSpc>
              <a:spcBef>
                <a:spcPts val="84"/>
              </a:spcBef>
            </a:pPr>
            <a:r>
              <a:rPr sz="1677" b="1" dirty="0">
                <a:latin typeface="Arial"/>
                <a:cs typeface="Arial"/>
              </a:rPr>
              <a:t>Place</a:t>
            </a:r>
            <a:r>
              <a:rPr sz="1677" b="1" spc="-26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pages</a:t>
            </a:r>
            <a:r>
              <a:rPr sz="1677" b="1" spc="-22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on</a:t>
            </a:r>
            <a:r>
              <a:rPr sz="1677" b="1" spc="-22" dirty="0">
                <a:latin typeface="Arial"/>
                <a:cs typeface="Arial"/>
              </a:rPr>
              <a:t> </a:t>
            </a:r>
            <a:r>
              <a:rPr sz="1677" b="1" spc="-18" dirty="0">
                <a:latin typeface="Arial"/>
                <a:cs typeface="Arial"/>
              </a:rPr>
              <a:t>free </a:t>
            </a:r>
            <a:r>
              <a:rPr sz="1677" b="1" dirty="0">
                <a:latin typeface="Arial"/>
                <a:cs typeface="Arial"/>
              </a:rPr>
              <a:t>list</a:t>
            </a:r>
            <a:r>
              <a:rPr sz="1677" b="1" spc="-22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if</a:t>
            </a:r>
            <a:r>
              <a:rPr sz="1677" b="1" spc="-18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used</a:t>
            </a:r>
            <a:r>
              <a:rPr sz="1677" b="1" spc="-18" dirty="0">
                <a:latin typeface="Arial"/>
                <a:cs typeface="Arial"/>
              </a:rPr>
              <a:t> </a:t>
            </a:r>
            <a:r>
              <a:rPr sz="1677" b="1" spc="-22" dirty="0">
                <a:latin typeface="Arial"/>
                <a:cs typeface="Arial"/>
              </a:rPr>
              <a:t>bit</a:t>
            </a:r>
            <a:endParaRPr sz="1677" dirty="0">
              <a:latin typeface="Arial"/>
              <a:cs typeface="Arial"/>
            </a:endParaRPr>
          </a:p>
          <a:p>
            <a:pPr marL="11206" marR="384943">
              <a:lnSpc>
                <a:spcPts val="2030"/>
              </a:lnSpc>
              <a:spcBef>
                <a:spcPts val="53"/>
              </a:spcBef>
            </a:pPr>
            <a:r>
              <a:rPr sz="1677" b="1" dirty="0">
                <a:latin typeface="Arial"/>
                <a:cs typeface="Arial"/>
              </a:rPr>
              <a:t>is</a:t>
            </a:r>
            <a:r>
              <a:rPr sz="1677" b="1" spc="-13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still</a:t>
            </a:r>
            <a:r>
              <a:rPr sz="1677" b="1" spc="-9" dirty="0">
                <a:latin typeface="Arial"/>
                <a:cs typeface="Arial"/>
              </a:rPr>
              <a:t> clear. </a:t>
            </a:r>
            <a:r>
              <a:rPr sz="1677" b="1" dirty="0">
                <a:latin typeface="Arial"/>
                <a:cs typeface="Arial"/>
              </a:rPr>
              <a:t>Schedule</a:t>
            </a:r>
            <a:r>
              <a:rPr sz="1677" b="1" spc="-53" dirty="0">
                <a:latin typeface="Arial"/>
                <a:cs typeface="Arial"/>
              </a:rPr>
              <a:t> </a:t>
            </a:r>
            <a:r>
              <a:rPr sz="1677" b="1" spc="-18" dirty="0">
                <a:latin typeface="Arial"/>
                <a:cs typeface="Arial"/>
              </a:rPr>
              <a:t>pages</a:t>
            </a:r>
            <a:endParaRPr sz="1677" dirty="0">
              <a:latin typeface="Arial"/>
              <a:cs typeface="Arial"/>
            </a:endParaRPr>
          </a:p>
          <a:p>
            <a:pPr marL="11206" marR="111504">
              <a:lnSpc>
                <a:spcPct val="101099"/>
              </a:lnSpc>
              <a:spcBef>
                <a:spcPts val="13"/>
              </a:spcBef>
            </a:pPr>
            <a:r>
              <a:rPr sz="1677" b="1" dirty="0">
                <a:latin typeface="Arial"/>
                <a:cs typeface="Arial"/>
              </a:rPr>
              <a:t>with</a:t>
            </a:r>
            <a:r>
              <a:rPr sz="1677" b="1" spc="-13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dirty</a:t>
            </a:r>
            <a:r>
              <a:rPr sz="1677" b="1" spc="-9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bit</a:t>
            </a:r>
            <a:r>
              <a:rPr sz="1677" b="1" spc="-13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set</a:t>
            </a:r>
            <a:r>
              <a:rPr sz="1677" b="1" spc="-9" dirty="0">
                <a:latin typeface="Arial"/>
                <a:cs typeface="Arial"/>
              </a:rPr>
              <a:t> </a:t>
            </a:r>
            <a:r>
              <a:rPr sz="1677" b="1" spc="-22" dirty="0">
                <a:latin typeface="Arial"/>
                <a:cs typeface="Arial"/>
              </a:rPr>
              <a:t>to </a:t>
            </a:r>
            <a:r>
              <a:rPr sz="1677" b="1" dirty="0">
                <a:latin typeface="Arial"/>
                <a:cs typeface="Arial"/>
              </a:rPr>
              <a:t>be</a:t>
            </a:r>
            <a:r>
              <a:rPr sz="1677" b="1" spc="-18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written</a:t>
            </a:r>
            <a:r>
              <a:rPr sz="1677" b="1" spc="-13" dirty="0">
                <a:latin typeface="Arial"/>
                <a:cs typeface="Arial"/>
              </a:rPr>
              <a:t> </a:t>
            </a:r>
            <a:r>
              <a:rPr sz="1677" b="1" dirty="0">
                <a:latin typeface="Arial"/>
                <a:cs typeface="Arial"/>
              </a:rPr>
              <a:t>to</a:t>
            </a:r>
            <a:r>
              <a:rPr sz="1677" b="1" spc="-18" dirty="0">
                <a:latin typeface="Arial"/>
                <a:cs typeface="Arial"/>
              </a:rPr>
              <a:t> disk.</a:t>
            </a:r>
            <a:endParaRPr sz="1677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92827" y="3352052"/>
            <a:ext cx="927847" cy="1147750"/>
          </a:xfrm>
          <a:prstGeom prst="rect">
            <a:avLst/>
          </a:prstGeom>
          <a:ln w="1010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677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77">
              <a:latin typeface="Times New Roman"/>
              <a:cs typeface="Times New Roman"/>
            </a:endParaRPr>
          </a:p>
          <a:p>
            <a:pPr>
              <a:spcBef>
                <a:spcPts val="918"/>
              </a:spcBef>
            </a:pPr>
            <a:endParaRPr sz="1677">
              <a:latin typeface="Times New Roman"/>
              <a:cs typeface="Times New Roman"/>
            </a:endParaRPr>
          </a:p>
          <a:p>
            <a:pPr marL="106462">
              <a:spcBef>
                <a:spcPts val="4"/>
              </a:spcBef>
            </a:pPr>
            <a:r>
              <a:rPr sz="1677" spc="-9" dirty="0">
                <a:latin typeface="Arial MT"/>
                <a:cs typeface="Arial MT"/>
              </a:rPr>
              <a:t>Freelist</a:t>
            </a:r>
            <a:endParaRPr sz="1677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504081" y="5420207"/>
            <a:ext cx="178734" cy="429184"/>
          </a:xfrm>
          <a:custGeom>
            <a:avLst/>
            <a:gdLst/>
            <a:ahLst/>
            <a:cxnLst/>
            <a:rect l="l" t="t" r="r" b="b"/>
            <a:pathLst>
              <a:path w="202565" h="486409">
                <a:moveTo>
                  <a:pt x="67354" y="284947"/>
                </a:moveTo>
                <a:lnTo>
                  <a:pt x="0" y="286818"/>
                </a:lnTo>
                <a:lnTo>
                  <a:pt x="106644" y="486075"/>
                </a:lnTo>
                <a:lnTo>
                  <a:pt x="184635" y="318625"/>
                </a:lnTo>
                <a:lnTo>
                  <a:pt x="68290" y="318625"/>
                </a:lnTo>
                <a:lnTo>
                  <a:pt x="67406" y="286818"/>
                </a:lnTo>
                <a:lnTo>
                  <a:pt x="67354" y="284947"/>
                </a:lnTo>
                <a:close/>
              </a:path>
              <a:path w="202565" h="486409">
                <a:moveTo>
                  <a:pt x="134709" y="283076"/>
                </a:moveTo>
                <a:lnTo>
                  <a:pt x="67354" y="284947"/>
                </a:lnTo>
                <a:lnTo>
                  <a:pt x="68238" y="316753"/>
                </a:lnTo>
                <a:lnTo>
                  <a:pt x="68290" y="318625"/>
                </a:lnTo>
                <a:lnTo>
                  <a:pt x="135644" y="316753"/>
                </a:lnTo>
                <a:lnTo>
                  <a:pt x="134813" y="286818"/>
                </a:lnTo>
                <a:lnTo>
                  <a:pt x="134709" y="283076"/>
                </a:lnTo>
                <a:close/>
              </a:path>
              <a:path w="202565" h="486409">
                <a:moveTo>
                  <a:pt x="202063" y="281205"/>
                </a:moveTo>
                <a:lnTo>
                  <a:pt x="134709" y="283076"/>
                </a:lnTo>
                <a:lnTo>
                  <a:pt x="135644" y="316753"/>
                </a:lnTo>
                <a:lnTo>
                  <a:pt x="68290" y="318625"/>
                </a:lnTo>
                <a:lnTo>
                  <a:pt x="184635" y="318625"/>
                </a:lnTo>
                <a:lnTo>
                  <a:pt x="202063" y="281205"/>
                </a:lnTo>
                <a:close/>
              </a:path>
              <a:path w="202565" h="486409">
                <a:moveTo>
                  <a:pt x="126846" y="0"/>
                </a:moveTo>
                <a:lnTo>
                  <a:pt x="59491" y="1870"/>
                </a:lnTo>
                <a:lnTo>
                  <a:pt x="67251" y="281205"/>
                </a:lnTo>
                <a:lnTo>
                  <a:pt x="67354" y="284947"/>
                </a:lnTo>
                <a:lnTo>
                  <a:pt x="134709" y="283076"/>
                </a:lnTo>
                <a:lnTo>
                  <a:pt x="126898" y="1870"/>
                </a:lnTo>
                <a:lnTo>
                  <a:pt x="126846" y="0"/>
                </a:lnTo>
                <a:close/>
              </a:path>
            </a:pathLst>
          </a:custGeom>
          <a:solidFill>
            <a:srgbClr val="053DE8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26" name="object 26"/>
          <p:cNvGrpSpPr/>
          <p:nvPr/>
        </p:nvGrpSpPr>
        <p:grpSpPr>
          <a:xfrm>
            <a:off x="1369235" y="3265950"/>
            <a:ext cx="5682503" cy="1819275"/>
            <a:chOff x="1399400" y="3701409"/>
            <a:chExt cx="6440170" cy="2061845"/>
          </a:xfrm>
        </p:grpSpPr>
        <p:sp>
          <p:nvSpPr>
            <p:cNvPr id="27" name="object 27"/>
            <p:cNvSpPr/>
            <p:nvPr/>
          </p:nvSpPr>
          <p:spPr>
            <a:xfrm>
              <a:off x="2549596" y="3735099"/>
              <a:ext cx="5255895" cy="1994535"/>
            </a:xfrm>
            <a:custGeom>
              <a:avLst/>
              <a:gdLst/>
              <a:ahLst/>
              <a:cxnLst/>
              <a:rect l="l" t="t" r="r" b="b"/>
              <a:pathLst>
                <a:path w="5255895" h="1994535">
                  <a:moveTo>
                    <a:pt x="0" y="1518829"/>
                  </a:moveTo>
                  <a:lnTo>
                    <a:pt x="52545" y="1535713"/>
                  </a:lnTo>
                  <a:lnTo>
                    <a:pt x="105083" y="1552579"/>
                  </a:lnTo>
                  <a:lnTo>
                    <a:pt x="157605" y="1569407"/>
                  </a:lnTo>
                  <a:lnTo>
                    <a:pt x="210103" y="1586178"/>
                  </a:lnTo>
                  <a:lnTo>
                    <a:pt x="262569" y="1602873"/>
                  </a:lnTo>
                  <a:lnTo>
                    <a:pt x="314995" y="1619473"/>
                  </a:lnTo>
                  <a:lnTo>
                    <a:pt x="367372" y="1635960"/>
                  </a:lnTo>
                  <a:lnTo>
                    <a:pt x="419694" y="1652315"/>
                  </a:lnTo>
                  <a:lnTo>
                    <a:pt x="471951" y="1668518"/>
                  </a:lnTo>
                  <a:lnTo>
                    <a:pt x="524136" y="1684550"/>
                  </a:lnTo>
                  <a:lnTo>
                    <a:pt x="576241" y="1700393"/>
                  </a:lnTo>
                  <a:lnTo>
                    <a:pt x="628258" y="1716028"/>
                  </a:lnTo>
                  <a:lnTo>
                    <a:pt x="680178" y="1731436"/>
                  </a:lnTo>
                  <a:lnTo>
                    <a:pt x="731995" y="1746598"/>
                  </a:lnTo>
                  <a:lnTo>
                    <a:pt x="783699" y="1761494"/>
                  </a:lnTo>
                  <a:lnTo>
                    <a:pt x="835283" y="1776106"/>
                  </a:lnTo>
                  <a:lnTo>
                    <a:pt x="886738" y="1790416"/>
                  </a:lnTo>
                  <a:lnTo>
                    <a:pt x="938058" y="1804403"/>
                  </a:lnTo>
                  <a:lnTo>
                    <a:pt x="989233" y="1818050"/>
                  </a:lnTo>
                  <a:lnTo>
                    <a:pt x="1040255" y="1831337"/>
                  </a:lnTo>
                  <a:lnTo>
                    <a:pt x="1091117" y="1844245"/>
                  </a:lnTo>
                  <a:lnTo>
                    <a:pt x="1141811" y="1856756"/>
                  </a:lnTo>
                  <a:lnTo>
                    <a:pt x="1192329" y="1868850"/>
                  </a:lnTo>
                  <a:lnTo>
                    <a:pt x="1242662" y="1880509"/>
                  </a:lnTo>
                  <a:lnTo>
                    <a:pt x="1292803" y="1891713"/>
                  </a:lnTo>
                  <a:lnTo>
                    <a:pt x="1342743" y="1902443"/>
                  </a:lnTo>
                  <a:lnTo>
                    <a:pt x="1392475" y="1912682"/>
                  </a:lnTo>
                  <a:lnTo>
                    <a:pt x="1441990" y="1922409"/>
                  </a:lnTo>
                  <a:lnTo>
                    <a:pt x="1491281" y="1931606"/>
                  </a:lnTo>
                  <a:lnTo>
                    <a:pt x="1540340" y="1940254"/>
                  </a:lnTo>
                  <a:lnTo>
                    <a:pt x="1589157" y="1948334"/>
                  </a:lnTo>
                  <a:lnTo>
                    <a:pt x="1637727" y="1955827"/>
                  </a:lnTo>
                  <a:lnTo>
                    <a:pt x="1686040" y="1962714"/>
                  </a:lnTo>
                  <a:lnTo>
                    <a:pt x="1734088" y="1968976"/>
                  </a:lnTo>
                  <a:lnTo>
                    <a:pt x="1781863" y="1974594"/>
                  </a:lnTo>
                  <a:lnTo>
                    <a:pt x="1829358" y="1979550"/>
                  </a:lnTo>
                  <a:lnTo>
                    <a:pt x="1876565" y="1983824"/>
                  </a:lnTo>
                  <a:lnTo>
                    <a:pt x="1923474" y="1987397"/>
                  </a:lnTo>
                  <a:lnTo>
                    <a:pt x="1970079" y="1990251"/>
                  </a:lnTo>
                  <a:lnTo>
                    <a:pt x="2016372" y="1992367"/>
                  </a:lnTo>
                  <a:lnTo>
                    <a:pt x="2062343" y="1993725"/>
                  </a:lnTo>
                  <a:lnTo>
                    <a:pt x="2107986" y="1994307"/>
                  </a:lnTo>
                  <a:lnTo>
                    <a:pt x="2153293" y="1994093"/>
                  </a:lnTo>
                  <a:lnTo>
                    <a:pt x="2198254" y="1993065"/>
                  </a:lnTo>
                  <a:lnTo>
                    <a:pt x="2242863" y="1991204"/>
                  </a:lnTo>
                  <a:lnTo>
                    <a:pt x="2287111" y="1988491"/>
                  </a:lnTo>
                  <a:lnTo>
                    <a:pt x="2330990" y="1984908"/>
                  </a:lnTo>
                  <a:lnTo>
                    <a:pt x="2374492" y="1980434"/>
                  </a:lnTo>
                  <a:lnTo>
                    <a:pt x="2417610" y="1975051"/>
                  </a:lnTo>
                  <a:lnTo>
                    <a:pt x="2460334" y="1968740"/>
                  </a:lnTo>
                  <a:lnTo>
                    <a:pt x="2502658" y="1961483"/>
                  </a:lnTo>
                  <a:lnTo>
                    <a:pt x="2544573" y="1953260"/>
                  </a:lnTo>
                  <a:lnTo>
                    <a:pt x="2586071" y="1944053"/>
                  </a:lnTo>
                  <a:lnTo>
                    <a:pt x="2627144" y="1933841"/>
                  </a:lnTo>
                  <a:lnTo>
                    <a:pt x="2667784" y="1922608"/>
                  </a:lnTo>
                  <a:lnTo>
                    <a:pt x="2710417" y="1909131"/>
                  </a:lnTo>
                  <a:lnTo>
                    <a:pt x="2752749" y="1893612"/>
                  </a:lnTo>
                  <a:lnTo>
                    <a:pt x="2794778" y="1876127"/>
                  </a:lnTo>
                  <a:lnTo>
                    <a:pt x="2836501" y="1856754"/>
                  </a:lnTo>
                  <a:lnTo>
                    <a:pt x="2877918" y="1835570"/>
                  </a:lnTo>
                  <a:lnTo>
                    <a:pt x="2919027" y="1812654"/>
                  </a:lnTo>
                  <a:lnTo>
                    <a:pt x="2959825" y="1788082"/>
                  </a:lnTo>
                  <a:lnTo>
                    <a:pt x="3000312" y="1761932"/>
                  </a:lnTo>
                  <a:lnTo>
                    <a:pt x="3040485" y="1734282"/>
                  </a:lnTo>
                  <a:lnTo>
                    <a:pt x="3080343" y="1705209"/>
                  </a:lnTo>
                  <a:lnTo>
                    <a:pt x="3119884" y="1674792"/>
                  </a:lnTo>
                  <a:lnTo>
                    <a:pt x="3159107" y="1643106"/>
                  </a:lnTo>
                  <a:lnTo>
                    <a:pt x="3198009" y="1610230"/>
                  </a:lnTo>
                  <a:lnTo>
                    <a:pt x="3236588" y="1576242"/>
                  </a:lnTo>
                  <a:lnTo>
                    <a:pt x="3274844" y="1541219"/>
                  </a:lnTo>
                  <a:lnTo>
                    <a:pt x="3312774" y="1505238"/>
                  </a:lnTo>
                  <a:lnTo>
                    <a:pt x="3350377" y="1468378"/>
                  </a:lnTo>
                  <a:lnTo>
                    <a:pt x="3387651" y="1430715"/>
                  </a:lnTo>
                  <a:lnTo>
                    <a:pt x="3424594" y="1392327"/>
                  </a:lnTo>
                  <a:lnTo>
                    <a:pt x="3461204" y="1353292"/>
                  </a:lnTo>
                  <a:lnTo>
                    <a:pt x="3497481" y="1313687"/>
                  </a:lnTo>
                  <a:lnTo>
                    <a:pt x="3533421" y="1273590"/>
                  </a:lnTo>
                  <a:lnTo>
                    <a:pt x="3569023" y="1233078"/>
                  </a:lnTo>
                  <a:lnTo>
                    <a:pt x="3604286" y="1192229"/>
                  </a:lnTo>
                  <a:lnTo>
                    <a:pt x="3639208" y="1151121"/>
                  </a:lnTo>
                  <a:lnTo>
                    <a:pt x="3673787" y="1109831"/>
                  </a:lnTo>
                  <a:lnTo>
                    <a:pt x="3708022" y="1068436"/>
                  </a:lnTo>
                  <a:lnTo>
                    <a:pt x="3741910" y="1027014"/>
                  </a:lnTo>
                  <a:lnTo>
                    <a:pt x="3775450" y="985643"/>
                  </a:lnTo>
                  <a:lnTo>
                    <a:pt x="3808640" y="944400"/>
                  </a:lnTo>
                  <a:lnTo>
                    <a:pt x="3841479" y="903362"/>
                  </a:lnTo>
                  <a:lnTo>
                    <a:pt x="3873964" y="862608"/>
                  </a:lnTo>
                  <a:lnTo>
                    <a:pt x="3906095" y="822215"/>
                  </a:lnTo>
                  <a:lnTo>
                    <a:pt x="3937869" y="782260"/>
                  </a:lnTo>
                  <a:lnTo>
                    <a:pt x="3969284" y="742821"/>
                  </a:lnTo>
                  <a:lnTo>
                    <a:pt x="4000339" y="703975"/>
                  </a:lnTo>
                  <a:lnTo>
                    <a:pt x="4031032" y="665800"/>
                  </a:lnTo>
                  <a:lnTo>
                    <a:pt x="4061362" y="628374"/>
                  </a:lnTo>
                  <a:lnTo>
                    <a:pt x="4091327" y="591774"/>
                  </a:lnTo>
                  <a:lnTo>
                    <a:pt x="4120924" y="556077"/>
                  </a:lnTo>
                  <a:lnTo>
                    <a:pt x="4150152" y="521362"/>
                  </a:lnTo>
                  <a:lnTo>
                    <a:pt x="4179010" y="487705"/>
                  </a:lnTo>
                  <a:lnTo>
                    <a:pt x="4207496" y="455184"/>
                  </a:lnTo>
                  <a:lnTo>
                    <a:pt x="4235608" y="423878"/>
                  </a:lnTo>
                  <a:lnTo>
                    <a:pt x="4263344" y="393862"/>
                  </a:lnTo>
                  <a:lnTo>
                    <a:pt x="4290703" y="365216"/>
                  </a:lnTo>
                  <a:lnTo>
                    <a:pt x="4317682" y="338015"/>
                  </a:lnTo>
                  <a:lnTo>
                    <a:pt x="4370497" y="288265"/>
                  </a:lnTo>
                  <a:lnTo>
                    <a:pt x="4421775" y="245230"/>
                  </a:lnTo>
                  <a:lnTo>
                    <a:pt x="4516541" y="178344"/>
                  </a:lnTo>
                  <a:lnTo>
                    <a:pt x="4582003" y="136968"/>
                  </a:lnTo>
                  <a:lnTo>
                    <a:pt x="4643468" y="101903"/>
                  </a:lnTo>
                  <a:lnTo>
                    <a:pt x="4701186" y="72753"/>
                  </a:lnTo>
                  <a:lnTo>
                    <a:pt x="4755406" y="49124"/>
                  </a:lnTo>
                  <a:lnTo>
                    <a:pt x="4806380" y="30623"/>
                  </a:lnTo>
                  <a:lnTo>
                    <a:pt x="4854355" y="16854"/>
                  </a:lnTo>
                  <a:lnTo>
                    <a:pt x="4899583" y="7423"/>
                  </a:lnTo>
                  <a:lnTo>
                    <a:pt x="4942312" y="1937"/>
                  </a:lnTo>
                  <a:lnTo>
                    <a:pt x="4982793" y="0"/>
                  </a:lnTo>
                  <a:lnTo>
                    <a:pt x="5021276" y="1217"/>
                  </a:lnTo>
                  <a:lnTo>
                    <a:pt x="5093246" y="11541"/>
                  </a:lnTo>
                  <a:lnTo>
                    <a:pt x="5160219" y="29753"/>
                  </a:lnTo>
                  <a:lnTo>
                    <a:pt x="5224194" y="52697"/>
                  </a:lnTo>
                  <a:lnTo>
                    <a:pt x="5255682" y="64958"/>
                  </a:lnTo>
                </a:path>
              </a:pathLst>
            </a:custGeom>
            <a:ln w="67380">
              <a:solidFill>
                <a:srgbClr val="053D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1399400" y="3772040"/>
              <a:ext cx="238760" cy="480695"/>
            </a:xfrm>
            <a:custGeom>
              <a:avLst/>
              <a:gdLst/>
              <a:ahLst/>
              <a:cxnLst/>
              <a:rect l="l" t="t" r="r" b="b"/>
              <a:pathLst>
                <a:path w="238760" h="480695">
                  <a:moveTo>
                    <a:pt x="38344" y="73536"/>
                  </a:moveTo>
                  <a:lnTo>
                    <a:pt x="25562" y="94198"/>
                  </a:lnTo>
                  <a:lnTo>
                    <a:pt x="201960" y="480068"/>
                  </a:lnTo>
                  <a:lnTo>
                    <a:pt x="238728" y="463260"/>
                  </a:lnTo>
                  <a:lnTo>
                    <a:pt x="62330" y="77388"/>
                  </a:lnTo>
                  <a:lnTo>
                    <a:pt x="38344" y="73536"/>
                  </a:lnTo>
                  <a:close/>
                </a:path>
                <a:path w="238760" h="480695">
                  <a:moveTo>
                    <a:pt x="4726" y="0"/>
                  </a:moveTo>
                  <a:lnTo>
                    <a:pt x="0" y="135519"/>
                  </a:lnTo>
                  <a:lnTo>
                    <a:pt x="25562" y="94198"/>
                  </a:lnTo>
                  <a:lnTo>
                    <a:pt x="19959" y="81941"/>
                  </a:lnTo>
                  <a:lnTo>
                    <a:pt x="56728" y="65133"/>
                  </a:lnTo>
                  <a:lnTo>
                    <a:pt x="85540" y="65133"/>
                  </a:lnTo>
                  <a:lnTo>
                    <a:pt x="4726" y="0"/>
                  </a:lnTo>
                  <a:close/>
                </a:path>
                <a:path w="238760" h="480695">
                  <a:moveTo>
                    <a:pt x="38343" y="73536"/>
                  </a:moveTo>
                  <a:lnTo>
                    <a:pt x="19959" y="81941"/>
                  </a:lnTo>
                  <a:lnTo>
                    <a:pt x="25562" y="94198"/>
                  </a:lnTo>
                  <a:lnTo>
                    <a:pt x="38343" y="73536"/>
                  </a:lnTo>
                  <a:close/>
                </a:path>
                <a:path w="238760" h="480695">
                  <a:moveTo>
                    <a:pt x="85540" y="65133"/>
                  </a:moveTo>
                  <a:lnTo>
                    <a:pt x="56728" y="65133"/>
                  </a:lnTo>
                  <a:lnTo>
                    <a:pt x="62330" y="77388"/>
                  </a:lnTo>
                  <a:lnTo>
                    <a:pt x="110304" y="85092"/>
                  </a:lnTo>
                  <a:lnTo>
                    <a:pt x="85540" y="65133"/>
                  </a:lnTo>
                  <a:close/>
                </a:path>
                <a:path w="238760" h="480695">
                  <a:moveTo>
                    <a:pt x="56728" y="65133"/>
                  </a:moveTo>
                  <a:lnTo>
                    <a:pt x="38344" y="73536"/>
                  </a:lnTo>
                  <a:lnTo>
                    <a:pt x="62330" y="77388"/>
                  </a:lnTo>
                  <a:lnTo>
                    <a:pt x="56728" y="65133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797729" y="5789854"/>
            <a:ext cx="1495985" cy="35076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06" dirty="0">
                <a:solidFill>
                  <a:srgbClr val="053DE8"/>
                </a:solidFill>
                <a:latin typeface="Arial MT"/>
                <a:cs typeface="Arial MT"/>
              </a:rPr>
              <a:t>Free</a:t>
            </a:r>
            <a:r>
              <a:rPr sz="2206" spc="62" dirty="0">
                <a:solidFill>
                  <a:srgbClr val="053DE8"/>
                </a:solidFill>
                <a:latin typeface="Arial MT"/>
                <a:cs typeface="Arial MT"/>
              </a:rPr>
              <a:t> </a:t>
            </a:r>
            <a:r>
              <a:rPr sz="2206" spc="-18" dirty="0">
                <a:solidFill>
                  <a:srgbClr val="053DE8"/>
                </a:solidFill>
                <a:latin typeface="Arial MT"/>
                <a:cs typeface="Arial MT"/>
              </a:rPr>
              <a:t>Pages</a:t>
            </a:r>
            <a:endParaRPr sz="2206" dirty="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67244" y="1223682"/>
            <a:ext cx="1292038" cy="486759"/>
          </a:xfrm>
          <a:prstGeom prst="rect">
            <a:avLst/>
          </a:prstGeom>
        </p:spPr>
        <p:txBody>
          <a:bodyPr vert="horz" wrap="square" lIns="0" tIns="8404" rIns="0" bIns="0" rtlCol="0">
            <a:spAutoFit/>
          </a:bodyPr>
          <a:lstStyle/>
          <a:p>
            <a:pPr marL="289688" marR="4483" indent="-279041">
              <a:lnSpc>
                <a:spcPct val="101099"/>
              </a:lnSpc>
              <a:spcBef>
                <a:spcPts val="66"/>
              </a:spcBef>
            </a:pPr>
            <a:r>
              <a:rPr sz="1588" b="1" dirty="0">
                <a:solidFill>
                  <a:srgbClr val="053DE8"/>
                </a:solidFill>
                <a:latin typeface="Arial"/>
                <a:cs typeface="Arial"/>
              </a:rPr>
              <a:t>Dirty</a:t>
            </a:r>
            <a:r>
              <a:rPr sz="1588" b="1" spc="-57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1588" b="1" spc="-49" dirty="0">
                <a:solidFill>
                  <a:srgbClr val="053DE8"/>
                </a:solidFill>
                <a:latin typeface="Arial"/>
                <a:cs typeface="Arial"/>
              </a:rPr>
              <a:t>bit:</a:t>
            </a:r>
            <a:r>
              <a:rPr sz="1588" b="1" spc="-44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1588" b="1" spc="-106" dirty="0">
                <a:solidFill>
                  <a:srgbClr val="053DE8"/>
                </a:solidFill>
                <a:latin typeface="Arial"/>
                <a:cs typeface="Arial"/>
              </a:rPr>
              <a:t>page </a:t>
            </a:r>
            <a:r>
              <a:rPr sz="1588" b="1" spc="-9" dirty="0">
                <a:solidFill>
                  <a:srgbClr val="053DE8"/>
                </a:solidFill>
                <a:latin typeface="Arial"/>
                <a:cs typeface="Arial"/>
              </a:rPr>
              <a:t>written.</a:t>
            </a:r>
            <a:endParaRPr sz="1588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54520" y="1952512"/>
            <a:ext cx="1317812" cy="738222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0646" marR="4483" algn="ctr">
              <a:lnSpc>
                <a:spcPct val="99400"/>
              </a:lnSpc>
              <a:spcBef>
                <a:spcPts val="97"/>
              </a:spcBef>
            </a:pPr>
            <a:r>
              <a:rPr sz="1588" b="1" spc="-168" dirty="0">
                <a:solidFill>
                  <a:srgbClr val="053DE8"/>
                </a:solidFill>
                <a:latin typeface="Arial"/>
                <a:cs typeface="Arial"/>
              </a:rPr>
              <a:t>Used</a:t>
            </a:r>
            <a:r>
              <a:rPr sz="1588" b="1" spc="-31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1588" b="1" spc="-49" dirty="0">
                <a:solidFill>
                  <a:srgbClr val="053DE8"/>
                </a:solidFill>
                <a:latin typeface="Arial"/>
                <a:cs typeface="Arial"/>
              </a:rPr>
              <a:t>bit:</a:t>
            </a:r>
            <a:r>
              <a:rPr sz="1588" b="1" spc="-22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1588" b="1" spc="-93" dirty="0">
                <a:solidFill>
                  <a:srgbClr val="053DE8"/>
                </a:solidFill>
                <a:latin typeface="Arial"/>
                <a:cs typeface="Arial"/>
              </a:rPr>
              <a:t>set</a:t>
            </a:r>
            <a:r>
              <a:rPr sz="1588" b="1" spc="-31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1588" b="1" spc="-44" dirty="0">
                <a:solidFill>
                  <a:srgbClr val="053DE8"/>
                </a:solidFill>
                <a:latin typeface="Arial"/>
                <a:cs typeface="Arial"/>
              </a:rPr>
              <a:t>to </a:t>
            </a:r>
            <a:r>
              <a:rPr sz="1588" b="1" spc="150" dirty="0">
                <a:solidFill>
                  <a:srgbClr val="053DE8"/>
                </a:solidFill>
                <a:latin typeface="Arial"/>
                <a:cs typeface="Arial"/>
              </a:rPr>
              <a:t>1</a:t>
            </a:r>
            <a:r>
              <a:rPr sz="1588" b="1" spc="-44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1588" b="1" spc="-172" dirty="0">
                <a:solidFill>
                  <a:srgbClr val="053DE8"/>
                </a:solidFill>
                <a:latin typeface="Arial"/>
                <a:cs typeface="Arial"/>
              </a:rPr>
              <a:t>on</a:t>
            </a:r>
            <a:r>
              <a:rPr sz="1588" b="1" spc="-35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1588" b="1" spc="-22" dirty="0">
                <a:solidFill>
                  <a:srgbClr val="053DE8"/>
                </a:solidFill>
                <a:latin typeface="Arial"/>
                <a:cs typeface="Arial"/>
              </a:rPr>
              <a:t>any </a:t>
            </a:r>
            <a:r>
              <a:rPr sz="1588" b="1" spc="-9" dirty="0">
                <a:solidFill>
                  <a:srgbClr val="053DE8"/>
                </a:solidFill>
                <a:latin typeface="Arial"/>
                <a:cs typeface="Arial"/>
              </a:rPr>
              <a:t>reference</a:t>
            </a:r>
            <a:endParaRPr sz="1588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74113" y="5269902"/>
            <a:ext cx="2772335" cy="1088703"/>
          </a:xfrm>
          <a:prstGeom prst="rect">
            <a:avLst/>
          </a:prstGeom>
        </p:spPr>
        <p:txBody>
          <a:bodyPr vert="horz" wrap="square" lIns="0" tIns="21851" rIns="0" bIns="0" rtlCol="0">
            <a:spAutoFit/>
          </a:bodyPr>
          <a:lstStyle/>
          <a:p>
            <a:pPr marL="72282" marR="4483" indent="-61636" algn="just">
              <a:lnSpc>
                <a:spcPct val="97000"/>
              </a:lnSpc>
              <a:spcBef>
                <a:spcPts val="172"/>
              </a:spcBef>
            </a:pPr>
            <a:r>
              <a:rPr sz="2382" b="1" spc="-137" dirty="0">
                <a:solidFill>
                  <a:srgbClr val="053DE8"/>
                </a:solidFill>
                <a:latin typeface="Arial"/>
                <a:cs typeface="Arial"/>
              </a:rPr>
              <a:t>Hardware</a:t>
            </a:r>
            <a:r>
              <a:rPr sz="2382" b="1" spc="-18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2382" b="1" spc="-106" dirty="0">
                <a:solidFill>
                  <a:srgbClr val="053DE8"/>
                </a:solidFill>
                <a:latin typeface="Arial"/>
                <a:cs typeface="Arial"/>
              </a:rPr>
              <a:t>Architect’s </a:t>
            </a:r>
            <a:r>
              <a:rPr sz="2382" b="1" spc="-202" dirty="0">
                <a:solidFill>
                  <a:srgbClr val="053DE8"/>
                </a:solidFill>
                <a:latin typeface="Arial"/>
                <a:cs typeface="Arial"/>
              </a:rPr>
              <a:t>role:</a:t>
            </a:r>
            <a:r>
              <a:rPr sz="2382" b="1" spc="35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2382" b="1" spc="-137" dirty="0">
                <a:solidFill>
                  <a:srgbClr val="053DE8"/>
                </a:solidFill>
                <a:latin typeface="Arial"/>
                <a:cs typeface="Arial"/>
              </a:rPr>
              <a:t>support</a:t>
            </a:r>
            <a:r>
              <a:rPr sz="2382" b="1" spc="31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2382" b="1" spc="-22" dirty="0">
                <a:solidFill>
                  <a:srgbClr val="053DE8"/>
                </a:solidFill>
                <a:latin typeface="Arial"/>
                <a:cs typeface="Arial"/>
              </a:rPr>
              <a:t>setting </a:t>
            </a:r>
            <a:r>
              <a:rPr sz="2382" b="1" dirty="0">
                <a:solidFill>
                  <a:srgbClr val="053DE8"/>
                </a:solidFill>
                <a:latin typeface="Arial"/>
                <a:cs typeface="Arial"/>
              </a:rPr>
              <a:t>dirty</a:t>
            </a:r>
            <a:r>
              <a:rPr sz="2382" b="1" spc="-44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2382" b="1" spc="-150" dirty="0">
                <a:solidFill>
                  <a:srgbClr val="053DE8"/>
                </a:solidFill>
                <a:latin typeface="Arial"/>
                <a:cs typeface="Arial"/>
              </a:rPr>
              <a:t>and</a:t>
            </a:r>
            <a:r>
              <a:rPr sz="2382" b="1" spc="-40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2382" b="1" spc="-234" dirty="0">
                <a:solidFill>
                  <a:srgbClr val="053DE8"/>
                </a:solidFill>
                <a:latin typeface="Arial"/>
                <a:cs typeface="Arial"/>
              </a:rPr>
              <a:t>used</a:t>
            </a:r>
            <a:r>
              <a:rPr sz="2382" b="1" spc="-40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2382" b="1" spc="-18" dirty="0">
                <a:solidFill>
                  <a:srgbClr val="053DE8"/>
                </a:solidFill>
                <a:latin typeface="Arial"/>
                <a:cs typeface="Arial"/>
              </a:rPr>
              <a:t>bits</a:t>
            </a:r>
            <a:endParaRPr sz="2382" dirty="0">
              <a:latin typeface="Arial"/>
              <a:cs typeface="Arial"/>
            </a:endParaRPr>
          </a:p>
        </p:txBody>
      </p:sp>
      <p:sp>
        <p:nvSpPr>
          <p:cNvPr id="34" name="object 3">
            <a:extLst>
              <a:ext uri="{FF2B5EF4-FFF2-40B4-BE49-F238E27FC236}">
                <a16:creationId xmlns:a16="http://schemas.microsoft.com/office/drawing/2014/main" id="{E63B5034-1DAC-DF21-81C9-8365B758357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26</a:t>
            </a:fld>
            <a:endParaRPr spc="-22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D8F8F-D33C-679A-22DA-1B74D0BB9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AD685C5-30BA-FC87-4B31-A58B50A753A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39588" y="1875865"/>
            <a:ext cx="6858000" cy="85770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4377"/>
              </a:lnSpc>
              <a:spcBef>
                <a:spcPts val="88"/>
              </a:spcBef>
            </a:pPr>
            <a:r>
              <a:rPr lang="en-US" sz="3706" b="1" dirty="0">
                <a:latin typeface="Arial"/>
                <a:cs typeface="Arial"/>
              </a:rPr>
              <a:t>VIRTUAL MEMORY</a:t>
            </a:r>
            <a:endParaRPr sz="3706" dirty="0">
              <a:latin typeface="Arial"/>
              <a:cs typeface="Arial"/>
            </a:endParaRPr>
          </a:p>
          <a:p>
            <a:pPr marL="11206">
              <a:lnSpc>
                <a:spcPts val="2153"/>
              </a:lnSpc>
            </a:pPr>
            <a:r>
              <a:rPr lang="en-US" sz="1853" b="1" dirty="0">
                <a:latin typeface="Arial"/>
                <a:cs typeface="Arial"/>
              </a:rPr>
              <a:t>-</a:t>
            </a:r>
            <a:r>
              <a:rPr lang="en-US" sz="1853" b="1" spc="31" dirty="0">
                <a:latin typeface="Arial"/>
                <a:cs typeface="Arial"/>
              </a:rPr>
              <a:t> </a:t>
            </a:r>
            <a:r>
              <a:rPr lang="en-US" sz="1853" b="1" dirty="0">
                <a:latin typeface="Arial"/>
                <a:cs typeface="Arial"/>
              </a:rPr>
              <a:t>APPENDIX</a:t>
            </a:r>
            <a:r>
              <a:rPr lang="en-US" sz="1853" b="1" spc="44" dirty="0">
                <a:latin typeface="Arial"/>
                <a:cs typeface="Arial"/>
              </a:rPr>
              <a:t> </a:t>
            </a:r>
            <a:r>
              <a:rPr lang="en-US" sz="1853" b="1" dirty="0">
                <a:latin typeface="Arial"/>
                <a:cs typeface="Arial"/>
              </a:rPr>
              <a:t>B</a:t>
            </a:r>
            <a:r>
              <a:rPr lang="en-US" sz="1853" b="1" spc="49" dirty="0">
                <a:latin typeface="Arial"/>
                <a:cs typeface="Arial"/>
              </a:rPr>
              <a:t> </a:t>
            </a:r>
            <a:r>
              <a:rPr lang="en-US" sz="1853" b="1" dirty="0">
                <a:latin typeface="Arial"/>
                <a:cs typeface="Arial"/>
              </a:rPr>
              <a:t>/</a:t>
            </a:r>
            <a:r>
              <a:rPr lang="en-US" sz="1853" b="1" spc="26" dirty="0">
                <a:latin typeface="Arial"/>
                <a:cs typeface="Arial"/>
              </a:rPr>
              <a:t> </a:t>
            </a:r>
            <a:r>
              <a:rPr lang="en-US" sz="1853" b="1" dirty="0">
                <a:latin typeface="Arial"/>
                <a:cs typeface="Arial"/>
              </a:rPr>
              <a:t>CHAPTER</a:t>
            </a:r>
            <a:r>
              <a:rPr lang="en-US" sz="1853" b="1" spc="49" dirty="0">
                <a:latin typeface="Arial"/>
                <a:cs typeface="Arial"/>
              </a:rPr>
              <a:t> </a:t>
            </a:r>
            <a:r>
              <a:rPr lang="en-US" sz="1853" b="1" spc="-44" dirty="0">
                <a:latin typeface="Arial"/>
                <a:cs typeface="Arial"/>
              </a:rPr>
              <a:t>2</a:t>
            </a:r>
            <a:endParaRPr sz="1853" dirty="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3967AD8-6C2C-220E-D8F8-8501228F1B3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27</a:t>
            </a:fld>
            <a:endParaRPr spc="-22" dirty="0"/>
          </a:p>
        </p:txBody>
      </p:sp>
    </p:spTree>
    <p:extLst>
      <p:ext uri="{BB962C8B-B14F-4D97-AF65-F5344CB8AC3E}">
        <p14:creationId xmlns:p14="http://schemas.microsoft.com/office/powerpoint/2010/main" val="8298115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68847"/>
            <a:ext cx="7251249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MIPS</a:t>
            </a:r>
            <a:r>
              <a:rPr spc="-40" dirty="0"/>
              <a:t> </a:t>
            </a:r>
            <a:r>
              <a:rPr dirty="0"/>
              <a:t>Address</a:t>
            </a:r>
            <a:r>
              <a:rPr spc="-44" dirty="0"/>
              <a:t> </a:t>
            </a:r>
            <a:r>
              <a:rPr dirty="0"/>
              <a:t>Translation:</a:t>
            </a:r>
            <a:r>
              <a:rPr spc="-35" dirty="0"/>
              <a:t> </a:t>
            </a:r>
            <a:r>
              <a:rPr dirty="0"/>
              <a:t>How</a:t>
            </a:r>
            <a:r>
              <a:rPr spc="-40" dirty="0"/>
              <a:t> </a:t>
            </a:r>
            <a:r>
              <a:rPr dirty="0"/>
              <a:t>does</a:t>
            </a:r>
            <a:r>
              <a:rPr spc="-44" dirty="0"/>
              <a:t> </a:t>
            </a:r>
            <a:r>
              <a:rPr dirty="0"/>
              <a:t>it</a:t>
            </a:r>
            <a:r>
              <a:rPr spc="-40" dirty="0"/>
              <a:t> </a:t>
            </a:r>
            <a:r>
              <a:rPr spc="-9" dirty="0"/>
              <a:t>work?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30014E5-73D6-2147-00A6-919557D894BD}"/>
              </a:ext>
            </a:extLst>
          </p:cNvPr>
          <p:cNvGrpSpPr/>
          <p:nvPr/>
        </p:nvGrpSpPr>
        <p:grpSpPr>
          <a:xfrm>
            <a:off x="703068" y="1406113"/>
            <a:ext cx="7729382" cy="2287185"/>
            <a:chOff x="703068" y="1207993"/>
            <a:chExt cx="7729382" cy="2287185"/>
          </a:xfrm>
        </p:grpSpPr>
        <p:sp>
          <p:nvSpPr>
            <p:cNvPr id="3" name="object 3"/>
            <p:cNvSpPr txBox="1"/>
            <p:nvPr/>
          </p:nvSpPr>
          <p:spPr>
            <a:xfrm>
              <a:off x="1793325" y="1207993"/>
              <a:ext cx="5363135" cy="24214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  <a:tabLst>
                  <a:tab pos="3610167" algn="l"/>
                </a:tabLst>
              </a:pPr>
              <a:r>
                <a:rPr sz="1500" b="1" spc="-9" dirty="0">
                  <a:solidFill>
                    <a:srgbClr val="053DE8"/>
                  </a:solidFill>
                  <a:latin typeface="Arial"/>
                  <a:cs typeface="Arial"/>
                </a:rPr>
                <a:t>“Virtual</a:t>
              </a:r>
              <a:r>
                <a:rPr sz="1500" b="1" spc="-88" dirty="0">
                  <a:solidFill>
                    <a:srgbClr val="053DE8"/>
                  </a:solidFill>
                  <a:latin typeface="Arial"/>
                  <a:cs typeface="Arial"/>
                </a:rPr>
                <a:t> </a:t>
              </a:r>
              <a:r>
                <a:rPr sz="1500" b="1" spc="-9" dirty="0">
                  <a:solidFill>
                    <a:srgbClr val="053DE8"/>
                  </a:solidFill>
                  <a:latin typeface="Arial"/>
                  <a:cs typeface="Arial"/>
                </a:rPr>
                <a:t>Addresses”</a:t>
              </a:r>
              <a:r>
                <a:rPr sz="1500" b="1" dirty="0">
                  <a:solidFill>
                    <a:srgbClr val="053DE8"/>
                  </a:solidFill>
                  <a:latin typeface="Arial"/>
                  <a:cs typeface="Arial"/>
                </a:rPr>
                <a:t>	</a:t>
              </a:r>
              <a:r>
                <a:rPr sz="2250" b="1" spc="-125" baseline="3267" dirty="0">
                  <a:solidFill>
                    <a:srgbClr val="053DE8"/>
                  </a:solidFill>
                  <a:latin typeface="Arial"/>
                  <a:cs typeface="Arial"/>
                </a:rPr>
                <a:t>“Physical</a:t>
              </a:r>
              <a:r>
                <a:rPr sz="2250" b="1" spc="-46" baseline="3267" dirty="0">
                  <a:solidFill>
                    <a:srgbClr val="053DE8"/>
                  </a:solidFill>
                  <a:latin typeface="Arial"/>
                  <a:cs typeface="Arial"/>
                </a:rPr>
                <a:t> </a:t>
              </a:r>
              <a:r>
                <a:rPr sz="2250" b="1" spc="-184" baseline="3267" dirty="0">
                  <a:solidFill>
                    <a:srgbClr val="053DE8"/>
                  </a:solidFill>
                  <a:latin typeface="Arial"/>
                  <a:cs typeface="Arial"/>
                </a:rPr>
                <a:t>Addresses”</a:t>
              </a:r>
              <a:endParaRPr sz="2250" baseline="3267" dirty="0">
                <a:latin typeface="Arial"/>
                <a:cs typeface="Arial"/>
              </a:endParaRPr>
            </a:p>
          </p:txBody>
        </p:sp>
        <p:grpSp>
          <p:nvGrpSpPr>
            <p:cNvPr id="4" name="object 4"/>
            <p:cNvGrpSpPr/>
            <p:nvPr/>
          </p:nvGrpSpPr>
          <p:grpSpPr>
            <a:xfrm>
              <a:off x="1238150" y="1491006"/>
              <a:ext cx="6269131" cy="2004172"/>
              <a:chOff x="1250836" y="1689806"/>
              <a:chExt cx="7105015" cy="2271395"/>
            </a:xfrm>
          </p:grpSpPr>
          <p:sp>
            <p:nvSpPr>
              <p:cNvPr id="5" name="object 5"/>
              <p:cNvSpPr/>
              <p:nvPr/>
            </p:nvSpPr>
            <p:spPr>
              <a:xfrm>
                <a:off x="1313162" y="3933755"/>
                <a:ext cx="70262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26275">
                    <a:moveTo>
                      <a:pt x="0" y="0"/>
                    </a:moveTo>
                    <a:lnTo>
                      <a:pt x="7026107" y="1"/>
                    </a:lnTo>
                  </a:path>
                </a:pathLst>
              </a:custGeom>
              <a:ln w="269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1277785" y="3495789"/>
                <a:ext cx="7078345" cy="465455"/>
              </a:xfrm>
              <a:custGeom>
                <a:avLst/>
                <a:gdLst/>
                <a:ahLst/>
                <a:cxnLst/>
                <a:rect l="l" t="t" r="r" b="b"/>
                <a:pathLst>
                  <a:path w="7078345" h="465454">
                    <a:moveTo>
                      <a:pt x="80860" y="357111"/>
                    </a:moveTo>
                    <a:lnTo>
                      <a:pt x="53898" y="375081"/>
                    </a:lnTo>
                    <a:lnTo>
                      <a:pt x="53898" y="62890"/>
                    </a:lnTo>
                    <a:lnTo>
                      <a:pt x="80848" y="80848"/>
                    </a:lnTo>
                    <a:lnTo>
                      <a:pt x="67373" y="53898"/>
                    </a:lnTo>
                    <a:lnTo>
                      <a:pt x="40424" y="0"/>
                    </a:lnTo>
                    <a:lnTo>
                      <a:pt x="0" y="80848"/>
                    </a:lnTo>
                    <a:lnTo>
                      <a:pt x="26949" y="62890"/>
                    </a:lnTo>
                    <a:lnTo>
                      <a:pt x="26949" y="375081"/>
                    </a:lnTo>
                    <a:lnTo>
                      <a:pt x="0" y="357111"/>
                    </a:lnTo>
                    <a:lnTo>
                      <a:pt x="40424" y="437972"/>
                    </a:lnTo>
                    <a:lnTo>
                      <a:pt x="67373" y="384060"/>
                    </a:lnTo>
                    <a:lnTo>
                      <a:pt x="80860" y="357111"/>
                    </a:lnTo>
                    <a:close/>
                  </a:path>
                  <a:path w="7078345" h="465454">
                    <a:moveTo>
                      <a:pt x="7077735" y="383781"/>
                    </a:moveTo>
                    <a:lnTo>
                      <a:pt x="7050913" y="401942"/>
                    </a:lnTo>
                    <a:lnTo>
                      <a:pt x="7048462" y="62979"/>
                    </a:lnTo>
                    <a:lnTo>
                      <a:pt x="7048462" y="62788"/>
                    </a:lnTo>
                    <a:lnTo>
                      <a:pt x="7075538" y="80556"/>
                    </a:lnTo>
                    <a:lnTo>
                      <a:pt x="7062013" y="54000"/>
                    </a:lnTo>
                    <a:lnTo>
                      <a:pt x="7034530" y="0"/>
                    </a:lnTo>
                    <a:lnTo>
                      <a:pt x="6994690" y="81140"/>
                    </a:lnTo>
                    <a:lnTo>
                      <a:pt x="7021512" y="62979"/>
                    </a:lnTo>
                    <a:lnTo>
                      <a:pt x="7023963" y="401942"/>
                    </a:lnTo>
                    <a:lnTo>
                      <a:pt x="7023963" y="402132"/>
                    </a:lnTo>
                    <a:lnTo>
                      <a:pt x="6996887" y="384365"/>
                    </a:lnTo>
                    <a:lnTo>
                      <a:pt x="7037895" y="464921"/>
                    </a:lnTo>
                    <a:lnTo>
                      <a:pt x="7064311" y="411111"/>
                    </a:lnTo>
                    <a:lnTo>
                      <a:pt x="7077735" y="38378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1311479" y="1703458"/>
                <a:ext cx="3057525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3057525" h="13969">
                    <a:moveTo>
                      <a:pt x="3057391" y="0"/>
                    </a:moveTo>
                    <a:lnTo>
                      <a:pt x="0" y="13476"/>
                    </a:lnTo>
                  </a:path>
                </a:pathLst>
              </a:custGeom>
              <a:ln w="269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1250835" y="1703463"/>
                <a:ext cx="710247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7102475" h="438150">
                    <a:moveTo>
                      <a:pt x="80848" y="80860"/>
                    </a:moveTo>
                    <a:lnTo>
                      <a:pt x="67373" y="53898"/>
                    </a:lnTo>
                    <a:lnTo>
                      <a:pt x="40424" y="0"/>
                    </a:lnTo>
                    <a:lnTo>
                      <a:pt x="0" y="80860"/>
                    </a:lnTo>
                    <a:lnTo>
                      <a:pt x="26949" y="62890"/>
                    </a:lnTo>
                    <a:lnTo>
                      <a:pt x="26949" y="424497"/>
                    </a:lnTo>
                    <a:lnTo>
                      <a:pt x="53898" y="424497"/>
                    </a:lnTo>
                    <a:lnTo>
                      <a:pt x="53898" y="62890"/>
                    </a:lnTo>
                    <a:lnTo>
                      <a:pt x="80848" y="80860"/>
                    </a:lnTo>
                    <a:close/>
                  </a:path>
                  <a:path w="7102475" h="438150">
                    <a:moveTo>
                      <a:pt x="7101903" y="357111"/>
                    </a:moveTo>
                    <a:lnTo>
                      <a:pt x="7074954" y="375081"/>
                    </a:lnTo>
                    <a:lnTo>
                      <a:pt x="7074954" y="13474"/>
                    </a:lnTo>
                    <a:lnTo>
                      <a:pt x="7048005" y="13474"/>
                    </a:lnTo>
                    <a:lnTo>
                      <a:pt x="7048005" y="375081"/>
                    </a:lnTo>
                    <a:lnTo>
                      <a:pt x="7021055" y="357111"/>
                    </a:lnTo>
                    <a:lnTo>
                      <a:pt x="7061479" y="437972"/>
                    </a:lnTo>
                    <a:lnTo>
                      <a:pt x="7088429" y="384073"/>
                    </a:lnTo>
                    <a:lnTo>
                      <a:pt x="7101903" y="35711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9" name="object 9"/>
            <p:cNvSpPr txBox="1"/>
            <p:nvPr/>
          </p:nvSpPr>
          <p:spPr>
            <a:xfrm>
              <a:off x="703068" y="1889499"/>
              <a:ext cx="1189504" cy="1109908"/>
            </a:xfrm>
            <a:prstGeom prst="rect">
              <a:avLst/>
            </a:prstGeom>
            <a:ln w="26952">
              <a:solidFill>
                <a:srgbClr val="000000"/>
              </a:solidFill>
            </a:ln>
          </p:spPr>
          <p:txBody>
            <a:bodyPr vert="horz" wrap="square" lIns="0" tIns="48185" rIns="0" bIns="0" rtlCol="0">
              <a:spAutoFit/>
            </a:bodyPr>
            <a:lstStyle/>
            <a:p>
              <a:pPr marL="17370" algn="ctr">
                <a:spcBef>
                  <a:spcPts val="379"/>
                </a:spcBef>
              </a:pPr>
              <a:r>
                <a:rPr sz="882" b="1" spc="-31" dirty="0">
                  <a:latin typeface="Arial"/>
                  <a:cs typeface="Arial"/>
                </a:rPr>
                <a:t>A0-</a:t>
              </a:r>
              <a:r>
                <a:rPr sz="882" b="1" spc="-22" dirty="0">
                  <a:latin typeface="Arial"/>
                  <a:cs typeface="Arial"/>
                </a:rPr>
                <a:t>A31</a:t>
              </a:r>
              <a:endParaRPr sz="882">
                <a:latin typeface="Arial"/>
                <a:cs typeface="Arial"/>
              </a:endParaRPr>
            </a:p>
            <a:p>
              <a:pPr>
                <a:spcBef>
                  <a:spcPts val="591"/>
                </a:spcBef>
              </a:pPr>
              <a:endParaRPr sz="882">
                <a:latin typeface="Arial"/>
                <a:cs typeface="Arial"/>
              </a:endParaRPr>
            </a:p>
            <a:p>
              <a:pPr marR="21292" algn="ctr"/>
              <a:r>
                <a:rPr sz="1500" b="1" spc="-22" dirty="0">
                  <a:solidFill>
                    <a:srgbClr val="053DE8"/>
                  </a:solidFill>
                  <a:latin typeface="Arial"/>
                  <a:cs typeface="Arial"/>
                </a:rPr>
                <a:t>CPU</a:t>
              </a:r>
              <a:endParaRPr sz="1500">
                <a:latin typeface="Arial"/>
                <a:cs typeface="Arial"/>
              </a:endParaRPr>
            </a:p>
            <a:p>
              <a:pPr>
                <a:spcBef>
                  <a:spcPts val="860"/>
                </a:spcBef>
              </a:pPr>
              <a:endParaRPr sz="1500">
                <a:latin typeface="Arial"/>
                <a:cs typeface="Arial"/>
              </a:endParaRPr>
            </a:p>
            <a:p>
              <a:pPr marL="20172" algn="ctr"/>
              <a:r>
                <a:rPr sz="882" b="1" spc="-31" dirty="0">
                  <a:latin typeface="Arial"/>
                  <a:cs typeface="Arial"/>
                </a:rPr>
                <a:t>D0-</a:t>
              </a:r>
              <a:r>
                <a:rPr sz="882" b="1" spc="-22" dirty="0">
                  <a:latin typeface="Arial"/>
                  <a:cs typeface="Arial"/>
                </a:rPr>
                <a:t>D31</a:t>
              </a:r>
              <a:endParaRPr sz="882">
                <a:latin typeface="Arial"/>
                <a:cs typeface="Arial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6493832" y="1889499"/>
              <a:ext cx="1938618" cy="1107834"/>
            </a:xfrm>
            <a:prstGeom prst="rect">
              <a:avLst/>
            </a:prstGeom>
            <a:ln w="26952">
              <a:solidFill>
                <a:srgbClr val="000000"/>
              </a:solidFill>
            </a:ln>
          </p:spPr>
          <p:txBody>
            <a:bodyPr vert="horz" wrap="square" lIns="0" tIns="58831" rIns="0" bIns="0" rtlCol="0">
              <a:spAutoFit/>
            </a:bodyPr>
            <a:lstStyle/>
            <a:p>
              <a:pPr marL="8405" algn="ctr">
                <a:spcBef>
                  <a:spcPts val="463"/>
                </a:spcBef>
              </a:pPr>
              <a:r>
                <a:rPr sz="882" b="1" spc="-31" dirty="0">
                  <a:latin typeface="Arial"/>
                  <a:cs typeface="Arial"/>
                </a:rPr>
                <a:t>A0-</a:t>
              </a:r>
              <a:r>
                <a:rPr sz="882" b="1" spc="-22" dirty="0">
                  <a:latin typeface="Arial"/>
                  <a:cs typeface="Arial"/>
                </a:rPr>
                <a:t>A31</a:t>
              </a:r>
              <a:endParaRPr sz="882">
                <a:latin typeface="Arial"/>
                <a:cs typeface="Arial"/>
              </a:endParaRPr>
            </a:p>
            <a:p>
              <a:pPr>
                <a:spcBef>
                  <a:spcPts val="697"/>
                </a:spcBef>
              </a:pPr>
              <a:endParaRPr sz="882">
                <a:latin typeface="Arial"/>
                <a:cs typeface="Arial"/>
              </a:endParaRPr>
            </a:p>
            <a:p>
              <a:pPr marL="31378" algn="ctr"/>
              <a:r>
                <a:rPr sz="1500" b="1" spc="-9" dirty="0">
                  <a:solidFill>
                    <a:srgbClr val="053DE8"/>
                  </a:solidFill>
                  <a:latin typeface="Arial"/>
                  <a:cs typeface="Arial"/>
                </a:rPr>
                <a:t>Memory</a:t>
              </a:r>
              <a:endParaRPr sz="1500">
                <a:latin typeface="Arial"/>
                <a:cs typeface="Arial"/>
              </a:endParaRPr>
            </a:p>
            <a:p>
              <a:pPr>
                <a:spcBef>
                  <a:spcPts val="671"/>
                </a:spcBef>
              </a:pPr>
              <a:endParaRPr sz="1500">
                <a:latin typeface="Arial"/>
                <a:cs typeface="Arial"/>
              </a:endParaRPr>
            </a:p>
            <a:p>
              <a:pPr marL="8405" algn="ctr"/>
              <a:r>
                <a:rPr sz="882" b="1" spc="-31" dirty="0">
                  <a:latin typeface="Arial"/>
                  <a:cs typeface="Arial"/>
                </a:rPr>
                <a:t>D0-</a:t>
              </a:r>
              <a:r>
                <a:rPr sz="882" b="1" spc="-22" dirty="0">
                  <a:latin typeface="Arial"/>
                  <a:cs typeface="Arial"/>
                </a:rPr>
                <a:t>D31</a:t>
              </a:r>
              <a:endParaRPr sz="882">
                <a:latin typeface="Arial"/>
                <a:cs typeface="Arial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2423651" y="3182021"/>
              <a:ext cx="407894" cy="24214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500" b="1" spc="-49" dirty="0">
                  <a:solidFill>
                    <a:srgbClr val="053DE8"/>
                  </a:solidFill>
                  <a:latin typeface="Arial"/>
                  <a:cs typeface="Arial"/>
                </a:rPr>
                <a:t>Data</a:t>
              </a:r>
              <a:endParaRPr sz="1500">
                <a:latin typeface="Arial"/>
                <a:cs typeface="Arial"/>
              </a:endParaRPr>
            </a:p>
          </p:txBody>
        </p:sp>
        <p:grpSp>
          <p:nvGrpSpPr>
            <p:cNvPr id="12" name="object 12"/>
            <p:cNvGrpSpPr/>
            <p:nvPr/>
          </p:nvGrpSpPr>
          <p:grpSpPr>
            <a:xfrm>
              <a:off x="3580614" y="1497105"/>
              <a:ext cx="3917016" cy="1795743"/>
              <a:chOff x="3905629" y="1696719"/>
              <a:chExt cx="4439285" cy="2035175"/>
            </a:xfrm>
          </p:grpSpPr>
          <p:sp>
            <p:nvSpPr>
              <p:cNvPr id="13" name="object 13"/>
              <p:cNvSpPr/>
              <p:nvPr/>
            </p:nvSpPr>
            <p:spPr>
              <a:xfrm>
                <a:off x="3919105" y="2141432"/>
                <a:ext cx="2197100" cy="1576705"/>
              </a:xfrm>
              <a:custGeom>
                <a:avLst/>
                <a:gdLst/>
                <a:ahLst/>
                <a:cxnLst/>
                <a:rect l="l" t="t" r="r" b="b"/>
                <a:pathLst>
                  <a:path w="2197100" h="1576704">
                    <a:moveTo>
                      <a:pt x="0" y="0"/>
                    </a:moveTo>
                    <a:lnTo>
                      <a:pt x="2196605" y="0"/>
                    </a:lnTo>
                    <a:lnTo>
                      <a:pt x="2196605" y="1576704"/>
                    </a:lnTo>
                    <a:lnTo>
                      <a:pt x="0" y="1576704"/>
                    </a:lnTo>
                    <a:lnTo>
                      <a:pt x="0" y="0"/>
                    </a:lnTo>
                    <a:close/>
                  </a:path>
                </a:pathLst>
              </a:custGeom>
              <a:ln w="269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4309913" y="1716934"/>
                <a:ext cx="81280" cy="424815"/>
              </a:xfrm>
              <a:custGeom>
                <a:avLst/>
                <a:gdLst/>
                <a:ahLst/>
                <a:cxnLst/>
                <a:rect l="l" t="t" r="r" b="b"/>
                <a:pathLst>
                  <a:path w="81279" h="424814">
                    <a:moveTo>
                      <a:pt x="0" y="343640"/>
                    </a:moveTo>
                    <a:lnTo>
                      <a:pt x="40429" y="424497"/>
                    </a:lnTo>
                    <a:lnTo>
                      <a:pt x="67381" y="370592"/>
                    </a:lnTo>
                    <a:lnTo>
                      <a:pt x="26951" y="370592"/>
                    </a:lnTo>
                    <a:lnTo>
                      <a:pt x="26951" y="361608"/>
                    </a:lnTo>
                    <a:lnTo>
                      <a:pt x="0" y="343640"/>
                    </a:lnTo>
                    <a:close/>
                  </a:path>
                  <a:path w="81279" h="424814">
                    <a:moveTo>
                      <a:pt x="26951" y="361608"/>
                    </a:moveTo>
                    <a:lnTo>
                      <a:pt x="26951" y="370592"/>
                    </a:lnTo>
                    <a:lnTo>
                      <a:pt x="40427" y="370592"/>
                    </a:lnTo>
                    <a:lnTo>
                      <a:pt x="26951" y="361608"/>
                    </a:lnTo>
                    <a:close/>
                  </a:path>
                  <a:path w="81279" h="424814">
                    <a:moveTo>
                      <a:pt x="53903" y="0"/>
                    </a:moveTo>
                    <a:lnTo>
                      <a:pt x="26951" y="0"/>
                    </a:lnTo>
                    <a:lnTo>
                      <a:pt x="26951" y="361608"/>
                    </a:lnTo>
                    <a:lnTo>
                      <a:pt x="40427" y="370592"/>
                    </a:lnTo>
                    <a:lnTo>
                      <a:pt x="53904" y="361608"/>
                    </a:lnTo>
                    <a:lnTo>
                      <a:pt x="53903" y="0"/>
                    </a:lnTo>
                    <a:close/>
                  </a:path>
                  <a:path w="81279" h="424814">
                    <a:moveTo>
                      <a:pt x="53905" y="361608"/>
                    </a:moveTo>
                    <a:lnTo>
                      <a:pt x="40427" y="370592"/>
                    </a:lnTo>
                    <a:lnTo>
                      <a:pt x="53905" y="370592"/>
                    </a:lnTo>
                    <a:lnTo>
                      <a:pt x="53905" y="361608"/>
                    </a:lnTo>
                    <a:close/>
                  </a:path>
                  <a:path w="81279" h="424814">
                    <a:moveTo>
                      <a:pt x="80857" y="343640"/>
                    </a:moveTo>
                    <a:lnTo>
                      <a:pt x="53905" y="361608"/>
                    </a:lnTo>
                    <a:lnTo>
                      <a:pt x="53905" y="370592"/>
                    </a:lnTo>
                    <a:lnTo>
                      <a:pt x="67381" y="370592"/>
                    </a:lnTo>
                    <a:lnTo>
                      <a:pt x="80857" y="34364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5610357" y="1710195"/>
                <a:ext cx="2720975" cy="20320"/>
              </a:xfrm>
              <a:custGeom>
                <a:avLst/>
                <a:gdLst/>
                <a:ahLst/>
                <a:cxnLst/>
                <a:rect l="l" t="t" r="r" b="b"/>
                <a:pathLst>
                  <a:path w="2720975" h="20319">
                    <a:moveTo>
                      <a:pt x="2720489" y="0"/>
                    </a:moveTo>
                    <a:lnTo>
                      <a:pt x="0" y="20214"/>
                    </a:lnTo>
                  </a:path>
                </a:pathLst>
              </a:custGeom>
              <a:ln w="269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5563191" y="1703458"/>
                <a:ext cx="81280" cy="424815"/>
              </a:xfrm>
              <a:custGeom>
                <a:avLst/>
                <a:gdLst/>
                <a:ahLst/>
                <a:cxnLst/>
                <a:rect l="l" t="t" r="r" b="b"/>
                <a:pathLst>
                  <a:path w="81279" h="424814">
                    <a:moveTo>
                      <a:pt x="40427" y="53903"/>
                    </a:moveTo>
                    <a:lnTo>
                      <a:pt x="26951" y="62887"/>
                    </a:lnTo>
                    <a:lnTo>
                      <a:pt x="26953" y="424497"/>
                    </a:lnTo>
                    <a:lnTo>
                      <a:pt x="53905" y="424497"/>
                    </a:lnTo>
                    <a:lnTo>
                      <a:pt x="53903" y="62887"/>
                    </a:lnTo>
                    <a:lnTo>
                      <a:pt x="40427" y="53903"/>
                    </a:lnTo>
                    <a:close/>
                  </a:path>
                  <a:path w="81279" h="424814">
                    <a:moveTo>
                      <a:pt x="40427" y="0"/>
                    </a:moveTo>
                    <a:lnTo>
                      <a:pt x="0" y="80855"/>
                    </a:lnTo>
                    <a:lnTo>
                      <a:pt x="26951" y="62887"/>
                    </a:lnTo>
                    <a:lnTo>
                      <a:pt x="26951" y="53903"/>
                    </a:lnTo>
                    <a:lnTo>
                      <a:pt x="67380" y="53903"/>
                    </a:lnTo>
                    <a:lnTo>
                      <a:pt x="40427" y="0"/>
                    </a:lnTo>
                    <a:close/>
                  </a:path>
                  <a:path w="81279" h="424814">
                    <a:moveTo>
                      <a:pt x="67380" y="53903"/>
                    </a:moveTo>
                    <a:lnTo>
                      <a:pt x="53903" y="53903"/>
                    </a:lnTo>
                    <a:lnTo>
                      <a:pt x="53904" y="62887"/>
                    </a:lnTo>
                    <a:lnTo>
                      <a:pt x="80857" y="80855"/>
                    </a:lnTo>
                    <a:lnTo>
                      <a:pt x="67380" y="53903"/>
                    </a:lnTo>
                    <a:close/>
                  </a:path>
                  <a:path w="81279" h="424814">
                    <a:moveTo>
                      <a:pt x="40427" y="53903"/>
                    </a:moveTo>
                    <a:lnTo>
                      <a:pt x="26951" y="53903"/>
                    </a:lnTo>
                    <a:lnTo>
                      <a:pt x="26951" y="62887"/>
                    </a:lnTo>
                    <a:lnTo>
                      <a:pt x="40427" y="53903"/>
                    </a:lnTo>
                    <a:close/>
                  </a:path>
                  <a:path w="81279" h="424814">
                    <a:moveTo>
                      <a:pt x="53903" y="53903"/>
                    </a:moveTo>
                    <a:lnTo>
                      <a:pt x="40427" y="53903"/>
                    </a:lnTo>
                    <a:lnTo>
                      <a:pt x="53904" y="62887"/>
                    </a:lnTo>
                    <a:lnTo>
                      <a:pt x="53903" y="5390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17" name="object 17"/>
            <p:cNvSpPr txBox="1"/>
            <p:nvPr/>
          </p:nvSpPr>
          <p:spPr>
            <a:xfrm>
              <a:off x="3805050" y="1827904"/>
              <a:ext cx="1501027" cy="1300620"/>
            </a:xfrm>
            <a:prstGeom prst="rect">
              <a:avLst/>
            </a:prstGeom>
          </p:spPr>
          <p:txBody>
            <a:bodyPr vert="horz" wrap="square" lIns="0" tIns="69476" rIns="0" bIns="0" rtlCol="0">
              <a:spAutoFit/>
            </a:bodyPr>
            <a:lstStyle/>
            <a:p>
              <a:pPr>
                <a:spcBef>
                  <a:spcPts val="547"/>
                </a:spcBef>
                <a:tabLst>
                  <a:tab pos="1053409" algn="l"/>
                </a:tabLst>
              </a:pPr>
              <a:r>
                <a:rPr sz="882" b="1" spc="-9" dirty="0">
                  <a:latin typeface="Arial"/>
                  <a:cs typeface="Arial"/>
                </a:rPr>
                <a:t>Virtual</a:t>
              </a:r>
              <a:r>
                <a:rPr sz="882" b="1" dirty="0">
                  <a:latin typeface="Arial"/>
                  <a:cs typeface="Arial"/>
                </a:rPr>
                <a:t>	</a:t>
              </a:r>
              <a:r>
                <a:rPr sz="882" b="1" spc="-18" dirty="0">
                  <a:latin typeface="Arial"/>
                  <a:cs typeface="Arial"/>
                </a:rPr>
                <a:t>Physical</a:t>
              </a:r>
              <a:endParaRPr sz="882">
                <a:latin typeface="Arial"/>
                <a:cs typeface="Arial"/>
              </a:endParaRPr>
            </a:p>
            <a:p>
              <a:pPr marL="151287" marR="307058" algn="ctr">
                <a:lnSpc>
                  <a:spcPct val="114100"/>
                </a:lnSpc>
                <a:spcBef>
                  <a:spcPts val="525"/>
                </a:spcBef>
              </a:pPr>
              <a:r>
                <a:rPr sz="1500" b="1" spc="-9" dirty="0">
                  <a:solidFill>
                    <a:srgbClr val="053DE8"/>
                  </a:solidFill>
                  <a:latin typeface="Arial"/>
                  <a:cs typeface="Arial"/>
                </a:rPr>
                <a:t>Translation </a:t>
              </a:r>
              <a:r>
                <a:rPr sz="1500" b="1" spc="-18" dirty="0">
                  <a:solidFill>
                    <a:srgbClr val="053DE8"/>
                  </a:solidFill>
                  <a:latin typeface="Arial"/>
                  <a:cs typeface="Arial"/>
                </a:rPr>
                <a:t>Look-Aside </a:t>
              </a:r>
              <a:r>
                <a:rPr sz="1500" b="1" spc="-9" dirty="0">
                  <a:solidFill>
                    <a:srgbClr val="053DE8"/>
                  </a:solidFill>
                  <a:latin typeface="Arial"/>
                  <a:cs typeface="Arial"/>
                </a:rPr>
                <a:t>Buffer (TLB)</a:t>
              </a:r>
              <a:endParaRPr sz="1500">
                <a:latin typeface="Arial"/>
                <a:cs typeface="Arial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494370" y="3988510"/>
            <a:ext cx="3900207" cy="218008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81"/>
              </a:lnSpc>
            </a:pPr>
            <a:r>
              <a:rPr sz="1765" b="1" dirty="0">
                <a:solidFill>
                  <a:srgbClr val="0000FF"/>
                </a:solidFill>
                <a:latin typeface="Arial"/>
                <a:cs typeface="Arial"/>
              </a:rPr>
              <a:t>Translation</a:t>
            </a:r>
            <a:r>
              <a:rPr sz="1765" b="1" spc="-1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765" b="1" dirty="0">
                <a:solidFill>
                  <a:srgbClr val="0000FF"/>
                </a:solidFill>
                <a:latin typeface="Arial"/>
                <a:cs typeface="Arial"/>
              </a:rPr>
              <a:t>Look-Aside</a:t>
            </a:r>
            <a:r>
              <a:rPr sz="1765" b="1" spc="-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765" b="1" dirty="0">
                <a:solidFill>
                  <a:srgbClr val="0000FF"/>
                </a:solidFill>
                <a:latin typeface="Arial"/>
                <a:cs typeface="Arial"/>
              </a:rPr>
              <a:t>Buffer</a:t>
            </a:r>
            <a:r>
              <a:rPr sz="1765" b="1" spc="-1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765" b="1" spc="-9" dirty="0">
                <a:solidFill>
                  <a:srgbClr val="0000FF"/>
                </a:solidFill>
                <a:latin typeface="Arial"/>
                <a:cs typeface="Arial"/>
              </a:rPr>
              <a:t>(TLB)</a:t>
            </a:r>
            <a:endParaRPr sz="1765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24362" y="4191000"/>
            <a:ext cx="4823572" cy="218421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 indent="568729">
              <a:spcBef>
                <a:spcPts val="88"/>
              </a:spcBef>
            </a:pPr>
            <a:r>
              <a:rPr sz="1765" b="1" dirty="0">
                <a:latin typeface="Arial"/>
                <a:cs typeface="Arial"/>
              </a:rPr>
              <a:t>A</a:t>
            </a:r>
            <a:r>
              <a:rPr sz="1765" b="1" spc="-40" dirty="0">
                <a:latin typeface="Arial"/>
                <a:cs typeface="Arial"/>
              </a:rPr>
              <a:t> </a:t>
            </a:r>
            <a:r>
              <a:rPr sz="1765" b="1" dirty="0">
                <a:latin typeface="Arial"/>
                <a:cs typeface="Arial"/>
              </a:rPr>
              <a:t>small,</a:t>
            </a:r>
            <a:r>
              <a:rPr sz="1765" b="1" spc="18" dirty="0">
                <a:latin typeface="Arial"/>
                <a:cs typeface="Arial"/>
              </a:rPr>
              <a:t> </a:t>
            </a:r>
            <a:r>
              <a:rPr sz="1765" b="1" dirty="0">
                <a:latin typeface="Arial"/>
                <a:cs typeface="Arial"/>
              </a:rPr>
              <a:t>fully-associative</a:t>
            </a:r>
            <a:r>
              <a:rPr sz="1765" b="1" spc="31" dirty="0">
                <a:latin typeface="Arial"/>
                <a:cs typeface="Arial"/>
              </a:rPr>
              <a:t> </a:t>
            </a:r>
            <a:r>
              <a:rPr sz="1765" b="1" dirty="0">
                <a:latin typeface="Arial"/>
                <a:cs typeface="Arial"/>
              </a:rPr>
              <a:t>cache</a:t>
            </a:r>
            <a:r>
              <a:rPr sz="1765" b="1" spc="31" dirty="0">
                <a:latin typeface="Arial"/>
                <a:cs typeface="Arial"/>
              </a:rPr>
              <a:t> </a:t>
            </a:r>
            <a:r>
              <a:rPr sz="1765" b="1" spc="-22" dirty="0">
                <a:latin typeface="Arial"/>
                <a:cs typeface="Arial"/>
              </a:rPr>
              <a:t>of </a:t>
            </a:r>
            <a:r>
              <a:rPr sz="1765" b="1" dirty="0">
                <a:latin typeface="Arial"/>
                <a:cs typeface="Arial"/>
              </a:rPr>
              <a:t>mappings</a:t>
            </a:r>
            <a:r>
              <a:rPr sz="1765" b="1" spc="18" dirty="0">
                <a:latin typeface="Arial"/>
                <a:cs typeface="Arial"/>
              </a:rPr>
              <a:t> </a:t>
            </a:r>
            <a:r>
              <a:rPr sz="1765" b="1" dirty="0">
                <a:latin typeface="Arial"/>
                <a:cs typeface="Arial"/>
              </a:rPr>
              <a:t>from</a:t>
            </a:r>
            <a:r>
              <a:rPr sz="1765" b="1" spc="13" dirty="0">
                <a:latin typeface="Arial"/>
                <a:cs typeface="Arial"/>
              </a:rPr>
              <a:t> </a:t>
            </a:r>
            <a:r>
              <a:rPr sz="1765" b="1" dirty="0">
                <a:latin typeface="Arial"/>
                <a:cs typeface="Arial"/>
              </a:rPr>
              <a:t>virtual</a:t>
            </a:r>
            <a:r>
              <a:rPr sz="1765" b="1" spc="4" dirty="0">
                <a:latin typeface="Arial"/>
                <a:cs typeface="Arial"/>
              </a:rPr>
              <a:t> </a:t>
            </a:r>
            <a:r>
              <a:rPr sz="1765" b="1" dirty="0">
                <a:latin typeface="Arial"/>
                <a:cs typeface="Arial"/>
              </a:rPr>
              <a:t>to</a:t>
            </a:r>
            <a:r>
              <a:rPr sz="1765" b="1" spc="13" dirty="0">
                <a:latin typeface="Arial"/>
                <a:cs typeface="Arial"/>
              </a:rPr>
              <a:t> </a:t>
            </a:r>
            <a:r>
              <a:rPr sz="1765" b="1" dirty="0">
                <a:latin typeface="Arial"/>
                <a:cs typeface="Arial"/>
              </a:rPr>
              <a:t>physical</a:t>
            </a:r>
            <a:r>
              <a:rPr sz="1765" b="1" spc="4" dirty="0">
                <a:latin typeface="Arial"/>
                <a:cs typeface="Arial"/>
              </a:rPr>
              <a:t> </a:t>
            </a:r>
            <a:r>
              <a:rPr sz="1765" b="1" spc="-9" dirty="0">
                <a:latin typeface="Arial"/>
                <a:cs typeface="Arial"/>
              </a:rPr>
              <a:t>addresses</a:t>
            </a:r>
            <a:endParaRPr sz="1765" dirty="0">
              <a:latin typeface="Arial"/>
              <a:cs typeface="Arial"/>
            </a:endParaRPr>
          </a:p>
          <a:p>
            <a:pPr>
              <a:spcBef>
                <a:spcPts val="22"/>
              </a:spcBef>
            </a:pPr>
            <a:endParaRPr sz="1765" dirty="0">
              <a:latin typeface="Arial"/>
              <a:cs typeface="Arial"/>
            </a:endParaRPr>
          </a:p>
          <a:p>
            <a:pPr marL="501490" marR="706569" indent="829840"/>
            <a:r>
              <a:rPr sz="1765" b="1" dirty="0">
                <a:latin typeface="Arial"/>
                <a:cs typeface="Arial"/>
              </a:rPr>
              <a:t>TLB</a:t>
            </a:r>
            <a:r>
              <a:rPr sz="1765" b="1" spc="4" dirty="0">
                <a:latin typeface="Arial"/>
                <a:cs typeface="Arial"/>
              </a:rPr>
              <a:t> </a:t>
            </a:r>
            <a:r>
              <a:rPr sz="1765" b="1" dirty="0">
                <a:latin typeface="Arial"/>
                <a:cs typeface="Arial"/>
              </a:rPr>
              <a:t>also </a:t>
            </a:r>
            <a:r>
              <a:rPr sz="1765" b="1" spc="-9" dirty="0">
                <a:latin typeface="Arial"/>
                <a:cs typeface="Arial"/>
              </a:rPr>
              <a:t>contains </a:t>
            </a:r>
            <a:r>
              <a:rPr sz="1765" b="1" dirty="0">
                <a:latin typeface="Arial"/>
                <a:cs typeface="Arial"/>
              </a:rPr>
              <a:t>protection</a:t>
            </a:r>
            <a:r>
              <a:rPr sz="1765" b="1" spc="22" dirty="0">
                <a:latin typeface="Arial"/>
                <a:cs typeface="Arial"/>
              </a:rPr>
              <a:t> </a:t>
            </a:r>
            <a:r>
              <a:rPr sz="1765" b="1" dirty="0">
                <a:latin typeface="Arial"/>
                <a:cs typeface="Arial"/>
              </a:rPr>
              <a:t>bits</a:t>
            </a:r>
            <a:r>
              <a:rPr sz="1765" b="1" spc="26" dirty="0">
                <a:latin typeface="Arial"/>
                <a:cs typeface="Arial"/>
              </a:rPr>
              <a:t> </a:t>
            </a:r>
            <a:r>
              <a:rPr sz="1765" b="1" dirty="0">
                <a:latin typeface="Arial"/>
                <a:cs typeface="Arial"/>
              </a:rPr>
              <a:t>for</a:t>
            </a:r>
            <a:r>
              <a:rPr sz="1765" b="1" spc="22" dirty="0">
                <a:latin typeface="Arial"/>
                <a:cs typeface="Arial"/>
              </a:rPr>
              <a:t> </a:t>
            </a:r>
            <a:r>
              <a:rPr sz="1765" b="1" dirty="0">
                <a:latin typeface="Arial"/>
                <a:cs typeface="Arial"/>
              </a:rPr>
              <a:t>virtual</a:t>
            </a:r>
            <a:r>
              <a:rPr sz="1765" b="1" spc="13" dirty="0">
                <a:latin typeface="Arial"/>
                <a:cs typeface="Arial"/>
              </a:rPr>
              <a:t> </a:t>
            </a:r>
            <a:r>
              <a:rPr sz="1765" b="1" spc="-9" dirty="0">
                <a:latin typeface="Arial"/>
                <a:cs typeface="Arial"/>
              </a:rPr>
              <a:t>address</a:t>
            </a:r>
            <a:endParaRPr sz="1765" dirty="0">
              <a:latin typeface="Arial"/>
              <a:cs typeface="Arial"/>
            </a:endParaRPr>
          </a:p>
          <a:p>
            <a:pPr>
              <a:spcBef>
                <a:spcPts val="26"/>
              </a:spcBef>
            </a:pPr>
            <a:endParaRPr sz="1765" dirty="0">
              <a:latin typeface="Arial"/>
              <a:cs typeface="Arial"/>
            </a:endParaRPr>
          </a:p>
          <a:p>
            <a:pPr marL="355806" marR="341798" indent="-191631"/>
            <a:r>
              <a:rPr sz="1765" b="1" spc="-150" dirty="0">
                <a:solidFill>
                  <a:srgbClr val="053DE8"/>
                </a:solidFill>
                <a:latin typeface="Arial"/>
                <a:cs typeface="Arial"/>
              </a:rPr>
              <a:t>Fast</a:t>
            </a:r>
            <a:r>
              <a:rPr sz="1765" b="1" spc="-18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1765" b="1" spc="-132" dirty="0">
                <a:solidFill>
                  <a:srgbClr val="053DE8"/>
                </a:solidFill>
                <a:latin typeface="Arial"/>
                <a:cs typeface="Arial"/>
              </a:rPr>
              <a:t>common</a:t>
            </a:r>
            <a:r>
              <a:rPr sz="1765" b="1" spc="-13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1765" b="1" spc="-159" dirty="0">
                <a:solidFill>
                  <a:srgbClr val="053DE8"/>
                </a:solidFill>
                <a:latin typeface="Arial"/>
                <a:cs typeface="Arial"/>
              </a:rPr>
              <a:t>case:</a:t>
            </a:r>
            <a:r>
              <a:rPr sz="1765" b="1" spc="-18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1765" b="1" dirty="0">
                <a:solidFill>
                  <a:srgbClr val="053DE8"/>
                </a:solidFill>
                <a:latin typeface="Arial"/>
                <a:cs typeface="Arial"/>
              </a:rPr>
              <a:t>Virtual</a:t>
            </a:r>
            <a:r>
              <a:rPr sz="1765" b="1" spc="-22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1765" b="1" spc="-124" dirty="0">
                <a:solidFill>
                  <a:srgbClr val="053DE8"/>
                </a:solidFill>
                <a:latin typeface="Arial"/>
                <a:cs typeface="Arial"/>
              </a:rPr>
              <a:t>address</a:t>
            </a:r>
            <a:r>
              <a:rPr sz="1765" b="1" spc="-18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1765" b="1" spc="-154" dirty="0">
                <a:solidFill>
                  <a:srgbClr val="053DE8"/>
                </a:solidFill>
                <a:latin typeface="Arial"/>
                <a:cs typeface="Arial"/>
              </a:rPr>
              <a:t>is</a:t>
            </a:r>
            <a:r>
              <a:rPr sz="1765" b="1" spc="-18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1765" b="1" spc="-88" dirty="0">
                <a:solidFill>
                  <a:srgbClr val="053DE8"/>
                </a:solidFill>
                <a:latin typeface="Arial"/>
                <a:cs typeface="Arial"/>
              </a:rPr>
              <a:t>in</a:t>
            </a:r>
            <a:r>
              <a:rPr sz="1765" b="1" spc="-13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1765" b="1" spc="4" dirty="0">
                <a:solidFill>
                  <a:srgbClr val="053DE8"/>
                </a:solidFill>
                <a:latin typeface="Arial"/>
                <a:cs typeface="Arial"/>
              </a:rPr>
              <a:t>T</a:t>
            </a:r>
            <a:r>
              <a:rPr sz="1765" b="1" spc="-62" dirty="0">
                <a:solidFill>
                  <a:srgbClr val="053DE8"/>
                </a:solidFill>
                <a:latin typeface="Arial"/>
                <a:cs typeface="Arial"/>
              </a:rPr>
              <a:t>L</a:t>
            </a:r>
            <a:r>
              <a:rPr sz="1765" b="1" spc="-449" dirty="0">
                <a:solidFill>
                  <a:srgbClr val="053DE8"/>
                </a:solidFill>
                <a:latin typeface="Arial"/>
                <a:cs typeface="Arial"/>
              </a:rPr>
              <a:t>B</a:t>
            </a:r>
            <a:r>
              <a:rPr sz="1765" b="1" spc="-66" dirty="0">
                <a:solidFill>
                  <a:srgbClr val="053DE8"/>
                </a:solidFill>
                <a:latin typeface="Arial"/>
                <a:cs typeface="Arial"/>
              </a:rPr>
              <a:t>,</a:t>
            </a:r>
            <a:r>
              <a:rPr sz="1765" b="1" spc="-146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1765" b="1" spc="-132" dirty="0">
                <a:solidFill>
                  <a:srgbClr val="053DE8"/>
                </a:solidFill>
                <a:latin typeface="Arial"/>
                <a:cs typeface="Arial"/>
              </a:rPr>
              <a:t>process</a:t>
            </a:r>
            <a:r>
              <a:rPr sz="1765" b="1" spc="9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1765" b="1" spc="-141" dirty="0">
                <a:solidFill>
                  <a:srgbClr val="053DE8"/>
                </a:solidFill>
                <a:latin typeface="Arial"/>
                <a:cs typeface="Arial"/>
              </a:rPr>
              <a:t>has</a:t>
            </a:r>
            <a:r>
              <a:rPr sz="1765" b="1" spc="9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1765" b="1" spc="-106" dirty="0">
                <a:solidFill>
                  <a:srgbClr val="053DE8"/>
                </a:solidFill>
                <a:latin typeface="Arial"/>
                <a:cs typeface="Arial"/>
              </a:rPr>
              <a:t>permission</a:t>
            </a:r>
            <a:r>
              <a:rPr sz="1765" b="1" spc="9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1765" b="1" spc="-44" dirty="0">
                <a:solidFill>
                  <a:srgbClr val="053DE8"/>
                </a:solidFill>
                <a:latin typeface="Arial"/>
                <a:cs typeface="Arial"/>
              </a:rPr>
              <a:t>to</a:t>
            </a:r>
            <a:r>
              <a:rPr sz="1765" b="1" spc="9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1765" b="1" dirty="0">
                <a:solidFill>
                  <a:srgbClr val="053DE8"/>
                </a:solidFill>
                <a:latin typeface="Arial"/>
                <a:cs typeface="Arial"/>
              </a:rPr>
              <a:t>read/write</a:t>
            </a:r>
            <a:r>
              <a:rPr sz="1765" b="1" spc="4" dirty="0">
                <a:solidFill>
                  <a:srgbClr val="053DE8"/>
                </a:solidFill>
                <a:latin typeface="Arial"/>
                <a:cs typeface="Arial"/>
              </a:rPr>
              <a:t> </a:t>
            </a:r>
            <a:r>
              <a:rPr sz="1765" b="1" spc="-22" dirty="0">
                <a:solidFill>
                  <a:srgbClr val="053DE8"/>
                </a:solidFill>
                <a:latin typeface="Arial"/>
                <a:cs typeface="Arial"/>
              </a:rPr>
              <a:t>it.</a:t>
            </a:r>
            <a:endParaRPr sz="1765" dirty="0">
              <a:latin typeface="Arial"/>
              <a:cs typeface="Arial"/>
            </a:endParaRP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F95BD3E7-43E0-A26C-4EC6-9503960A194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28</a:t>
            </a:fld>
            <a:endParaRPr spc="-22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0105" y="285974"/>
            <a:ext cx="53334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The</a:t>
            </a:r>
            <a:r>
              <a:rPr spc="-40" dirty="0"/>
              <a:t> </a:t>
            </a:r>
            <a:r>
              <a:rPr dirty="0"/>
              <a:t>TLB</a:t>
            </a:r>
            <a:r>
              <a:rPr spc="-40" dirty="0"/>
              <a:t> </a:t>
            </a:r>
            <a:r>
              <a:rPr dirty="0"/>
              <a:t>Caches</a:t>
            </a:r>
            <a:r>
              <a:rPr spc="-40" dirty="0"/>
              <a:t> </a:t>
            </a:r>
            <a:r>
              <a:rPr dirty="0"/>
              <a:t>Page</a:t>
            </a:r>
            <a:r>
              <a:rPr spc="-40" dirty="0"/>
              <a:t> </a:t>
            </a:r>
            <a:r>
              <a:rPr dirty="0"/>
              <a:t>Table</a:t>
            </a:r>
            <a:r>
              <a:rPr spc="-40" dirty="0"/>
              <a:t> </a:t>
            </a:r>
            <a:r>
              <a:rPr spc="-9" dirty="0"/>
              <a:t>Entries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18123" y="788124"/>
            <a:ext cx="6023162" cy="4196043"/>
            <a:chOff x="3041473" y="893207"/>
            <a:chExt cx="6826250" cy="47555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1473" y="893207"/>
              <a:ext cx="6825650" cy="436120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88127" y="2996691"/>
              <a:ext cx="539496" cy="56692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117911" y="3037101"/>
              <a:ext cx="375285" cy="400685"/>
            </a:xfrm>
            <a:custGeom>
              <a:avLst/>
              <a:gdLst/>
              <a:ahLst/>
              <a:cxnLst/>
              <a:rect l="l" t="t" r="r" b="b"/>
              <a:pathLst>
                <a:path w="375285" h="400685">
                  <a:moveTo>
                    <a:pt x="320966" y="57754"/>
                  </a:moveTo>
                  <a:lnTo>
                    <a:pt x="348031" y="94152"/>
                  </a:lnTo>
                  <a:lnTo>
                    <a:pt x="366074" y="134824"/>
                  </a:lnTo>
                  <a:lnTo>
                    <a:pt x="375096" y="178061"/>
                  </a:lnTo>
                  <a:lnTo>
                    <a:pt x="375096" y="222153"/>
                  </a:lnTo>
                  <a:lnTo>
                    <a:pt x="366074" y="265390"/>
                  </a:lnTo>
                  <a:lnTo>
                    <a:pt x="348031" y="306062"/>
                  </a:lnTo>
                  <a:lnTo>
                    <a:pt x="320966" y="342459"/>
                  </a:lnTo>
                  <a:lnTo>
                    <a:pt x="286853" y="371337"/>
                  </a:lnTo>
                  <a:lnTo>
                    <a:pt x="248733" y="390589"/>
                  </a:lnTo>
                  <a:lnTo>
                    <a:pt x="208210" y="400214"/>
                  </a:lnTo>
                  <a:lnTo>
                    <a:pt x="166885" y="400214"/>
                  </a:lnTo>
                  <a:lnTo>
                    <a:pt x="126362" y="390589"/>
                  </a:lnTo>
                  <a:lnTo>
                    <a:pt x="88243" y="371337"/>
                  </a:lnTo>
                  <a:lnTo>
                    <a:pt x="54130" y="342459"/>
                  </a:lnTo>
                  <a:lnTo>
                    <a:pt x="27065" y="306062"/>
                  </a:lnTo>
                  <a:lnTo>
                    <a:pt x="9021" y="265390"/>
                  </a:lnTo>
                  <a:lnTo>
                    <a:pt x="0" y="222153"/>
                  </a:lnTo>
                  <a:lnTo>
                    <a:pt x="0" y="178061"/>
                  </a:lnTo>
                  <a:lnTo>
                    <a:pt x="9021" y="134824"/>
                  </a:lnTo>
                  <a:lnTo>
                    <a:pt x="27065" y="94152"/>
                  </a:lnTo>
                  <a:lnTo>
                    <a:pt x="54130" y="57754"/>
                  </a:lnTo>
                  <a:lnTo>
                    <a:pt x="88243" y="28877"/>
                  </a:lnTo>
                  <a:lnTo>
                    <a:pt x="126362" y="9625"/>
                  </a:lnTo>
                  <a:lnTo>
                    <a:pt x="166885" y="0"/>
                  </a:lnTo>
                  <a:lnTo>
                    <a:pt x="208210" y="0"/>
                  </a:lnTo>
                  <a:lnTo>
                    <a:pt x="248733" y="9625"/>
                  </a:lnTo>
                  <a:lnTo>
                    <a:pt x="286853" y="28877"/>
                  </a:lnTo>
                  <a:lnTo>
                    <a:pt x="320966" y="57754"/>
                  </a:lnTo>
                  <a:close/>
                </a:path>
              </a:pathLst>
            </a:custGeom>
            <a:ln w="26952">
              <a:solidFill>
                <a:srgbClr val="053D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92344" y="3331972"/>
              <a:ext cx="2103120" cy="231647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399792" y="3413240"/>
              <a:ext cx="1883410" cy="2098040"/>
            </a:xfrm>
            <a:custGeom>
              <a:avLst/>
              <a:gdLst/>
              <a:ahLst/>
              <a:cxnLst/>
              <a:rect l="l" t="t" r="r" b="b"/>
              <a:pathLst>
                <a:path w="1883409" h="2098040">
                  <a:moveTo>
                    <a:pt x="52020" y="37822"/>
                  </a:moveTo>
                  <a:lnTo>
                    <a:pt x="35989" y="40130"/>
                  </a:lnTo>
                  <a:lnTo>
                    <a:pt x="31954" y="55816"/>
                  </a:lnTo>
                  <a:lnTo>
                    <a:pt x="1863147" y="2097793"/>
                  </a:lnTo>
                  <a:lnTo>
                    <a:pt x="1883213" y="2079800"/>
                  </a:lnTo>
                  <a:lnTo>
                    <a:pt x="52020" y="37822"/>
                  </a:lnTo>
                  <a:close/>
                </a:path>
                <a:path w="1883409" h="2098040">
                  <a:moveTo>
                    <a:pt x="0" y="0"/>
                  </a:moveTo>
                  <a:lnTo>
                    <a:pt x="23884" y="87188"/>
                  </a:lnTo>
                  <a:lnTo>
                    <a:pt x="31954" y="55816"/>
                  </a:lnTo>
                  <a:lnTo>
                    <a:pt x="25952" y="49123"/>
                  </a:lnTo>
                  <a:lnTo>
                    <a:pt x="46018" y="31128"/>
                  </a:lnTo>
                  <a:lnTo>
                    <a:pt x="78823" y="31128"/>
                  </a:lnTo>
                  <a:lnTo>
                    <a:pt x="0" y="0"/>
                  </a:lnTo>
                  <a:close/>
                </a:path>
                <a:path w="1883409" h="2098040">
                  <a:moveTo>
                    <a:pt x="35989" y="40130"/>
                  </a:moveTo>
                  <a:lnTo>
                    <a:pt x="25952" y="49123"/>
                  </a:lnTo>
                  <a:lnTo>
                    <a:pt x="31954" y="55816"/>
                  </a:lnTo>
                  <a:lnTo>
                    <a:pt x="35989" y="40130"/>
                  </a:lnTo>
                  <a:close/>
                </a:path>
                <a:path w="1883409" h="2098040">
                  <a:moveTo>
                    <a:pt x="46018" y="31128"/>
                  </a:moveTo>
                  <a:lnTo>
                    <a:pt x="35980" y="40130"/>
                  </a:lnTo>
                  <a:lnTo>
                    <a:pt x="52020" y="37822"/>
                  </a:lnTo>
                  <a:lnTo>
                    <a:pt x="46018" y="31128"/>
                  </a:lnTo>
                  <a:close/>
                </a:path>
                <a:path w="1883409" h="2098040">
                  <a:moveTo>
                    <a:pt x="78823" y="31128"/>
                  </a:moveTo>
                  <a:lnTo>
                    <a:pt x="46018" y="31128"/>
                  </a:lnTo>
                  <a:lnTo>
                    <a:pt x="52020" y="37822"/>
                  </a:lnTo>
                  <a:lnTo>
                    <a:pt x="84081" y="33205"/>
                  </a:lnTo>
                  <a:lnTo>
                    <a:pt x="78823" y="31128"/>
                  </a:lnTo>
                  <a:close/>
                </a:path>
              </a:pathLst>
            </a:custGeom>
            <a:solidFill>
              <a:srgbClr val="053DE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522133" y="4545554"/>
            <a:ext cx="2155451" cy="1879995"/>
          </a:xfrm>
          <a:prstGeom prst="rect">
            <a:avLst/>
          </a:prstGeom>
        </p:spPr>
        <p:txBody>
          <a:bodyPr vert="horz" wrap="square" lIns="0" tIns="6724" rIns="0" bIns="0" rtlCol="0">
            <a:spAutoFit/>
          </a:bodyPr>
          <a:lstStyle/>
          <a:p>
            <a:pPr marL="11206" marR="4483" indent="-2241" algn="ctr">
              <a:lnSpc>
                <a:spcPct val="101400"/>
              </a:lnSpc>
              <a:spcBef>
                <a:spcPts val="53"/>
              </a:spcBef>
              <a:tabLst>
                <a:tab pos="607391" algn="l"/>
              </a:tabLst>
            </a:pPr>
            <a:r>
              <a:rPr sz="2030" b="1" spc="-22" dirty="0">
                <a:solidFill>
                  <a:srgbClr val="053DE8"/>
                </a:solidFill>
                <a:latin typeface="Times New Roman"/>
                <a:cs typeface="Times New Roman"/>
              </a:rPr>
              <a:t>V=0</a:t>
            </a:r>
            <a:r>
              <a:rPr sz="2030" b="1" dirty="0">
                <a:solidFill>
                  <a:srgbClr val="053DE8"/>
                </a:solidFill>
                <a:latin typeface="Times New Roman"/>
                <a:cs typeface="Times New Roman"/>
              </a:rPr>
              <a:t>	pages</a:t>
            </a:r>
            <a:r>
              <a:rPr sz="2030" b="1" spc="49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030" b="1" spc="-9" dirty="0">
                <a:solidFill>
                  <a:srgbClr val="053DE8"/>
                </a:solidFill>
                <a:latin typeface="Times New Roman"/>
                <a:cs typeface="Times New Roman"/>
              </a:rPr>
              <a:t>reside </a:t>
            </a:r>
            <a:r>
              <a:rPr sz="2030" b="1" dirty="0">
                <a:solidFill>
                  <a:srgbClr val="053DE8"/>
                </a:solidFill>
                <a:latin typeface="Times New Roman"/>
                <a:cs typeface="Times New Roman"/>
              </a:rPr>
              <a:t>on</a:t>
            </a:r>
            <a:r>
              <a:rPr sz="2030" b="1" spc="31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030" b="1" dirty="0">
                <a:solidFill>
                  <a:srgbClr val="053DE8"/>
                </a:solidFill>
                <a:latin typeface="Times New Roman"/>
                <a:cs typeface="Times New Roman"/>
              </a:rPr>
              <a:t>disk</a:t>
            </a:r>
            <a:r>
              <a:rPr sz="2030" b="1" spc="35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030" b="1" dirty="0">
                <a:solidFill>
                  <a:srgbClr val="053DE8"/>
                </a:solidFill>
                <a:latin typeface="Times New Roman"/>
                <a:cs typeface="Times New Roman"/>
              </a:rPr>
              <a:t>or</a:t>
            </a:r>
            <a:r>
              <a:rPr sz="2030" b="1" spc="-13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030" b="1" dirty="0">
                <a:solidFill>
                  <a:srgbClr val="053DE8"/>
                </a:solidFill>
                <a:latin typeface="Times New Roman"/>
                <a:cs typeface="Times New Roman"/>
              </a:rPr>
              <a:t>have</a:t>
            </a:r>
            <a:r>
              <a:rPr sz="2030" b="1" spc="31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030" b="1" spc="-22" dirty="0">
                <a:solidFill>
                  <a:srgbClr val="053DE8"/>
                </a:solidFill>
                <a:latin typeface="Times New Roman"/>
                <a:cs typeface="Times New Roman"/>
              </a:rPr>
              <a:t>not </a:t>
            </a:r>
            <a:r>
              <a:rPr sz="2030" b="1" dirty="0">
                <a:solidFill>
                  <a:srgbClr val="053DE8"/>
                </a:solidFill>
                <a:latin typeface="Times New Roman"/>
                <a:cs typeface="Times New Roman"/>
              </a:rPr>
              <a:t>yet</a:t>
            </a:r>
            <a:r>
              <a:rPr sz="2030" b="1" spc="31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030" b="1" dirty="0">
                <a:solidFill>
                  <a:srgbClr val="053DE8"/>
                </a:solidFill>
                <a:latin typeface="Times New Roman"/>
                <a:cs typeface="Times New Roman"/>
              </a:rPr>
              <a:t>been</a:t>
            </a:r>
            <a:r>
              <a:rPr sz="2030" b="1" spc="31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030" b="1" spc="-9" dirty="0">
                <a:solidFill>
                  <a:srgbClr val="053DE8"/>
                </a:solidFill>
                <a:latin typeface="Times New Roman"/>
                <a:cs typeface="Times New Roman"/>
              </a:rPr>
              <a:t>allocated </a:t>
            </a:r>
            <a:r>
              <a:rPr sz="2030" b="1" dirty="0">
                <a:solidFill>
                  <a:srgbClr val="053DE8"/>
                </a:solidFill>
                <a:latin typeface="Times New Roman"/>
                <a:cs typeface="Times New Roman"/>
              </a:rPr>
              <a:t>to</a:t>
            </a:r>
            <a:r>
              <a:rPr sz="2030" b="1" spc="40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030" b="1" dirty="0">
                <a:solidFill>
                  <a:srgbClr val="053DE8"/>
                </a:solidFill>
                <a:latin typeface="Times New Roman"/>
                <a:cs typeface="Times New Roman"/>
              </a:rPr>
              <a:t>this</a:t>
            </a:r>
            <a:r>
              <a:rPr sz="2030" b="1" spc="-79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030" b="1" spc="-18" dirty="0">
                <a:solidFill>
                  <a:srgbClr val="053DE8"/>
                </a:solidFill>
                <a:latin typeface="Times New Roman"/>
                <a:cs typeface="Times New Roman"/>
              </a:rPr>
              <a:t>ASID.</a:t>
            </a:r>
            <a:endParaRPr sz="2030">
              <a:latin typeface="Times New Roman"/>
              <a:cs typeface="Times New Roman"/>
            </a:endParaRPr>
          </a:p>
          <a:p>
            <a:pPr marL="28016" marR="22972" algn="ctr">
              <a:lnSpc>
                <a:spcPct val="100899"/>
              </a:lnSpc>
              <a:spcBef>
                <a:spcPts val="22"/>
              </a:spcBef>
            </a:pPr>
            <a:r>
              <a:rPr sz="2030" b="1" dirty="0">
                <a:solidFill>
                  <a:srgbClr val="053DE8"/>
                </a:solidFill>
                <a:latin typeface="Times New Roman"/>
                <a:cs typeface="Times New Roman"/>
              </a:rPr>
              <a:t>OS</a:t>
            </a:r>
            <a:r>
              <a:rPr sz="2030" b="1" spc="53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030" b="1" dirty="0">
                <a:solidFill>
                  <a:srgbClr val="053DE8"/>
                </a:solidFill>
                <a:latin typeface="Times New Roman"/>
                <a:cs typeface="Times New Roman"/>
              </a:rPr>
              <a:t>handles</a:t>
            </a:r>
            <a:r>
              <a:rPr sz="2030" b="1" spc="4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030" b="1" dirty="0">
                <a:solidFill>
                  <a:srgbClr val="053DE8"/>
                </a:solidFill>
                <a:latin typeface="Times New Roman"/>
                <a:cs typeface="Times New Roman"/>
              </a:rPr>
              <a:t>V=0</a:t>
            </a:r>
            <a:r>
              <a:rPr sz="2030" b="1" spc="53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030" b="1" spc="-22" dirty="0">
                <a:solidFill>
                  <a:srgbClr val="053DE8"/>
                </a:solidFill>
                <a:latin typeface="Times New Roman"/>
                <a:cs typeface="Times New Roman"/>
              </a:rPr>
              <a:t>as </a:t>
            </a:r>
            <a:r>
              <a:rPr sz="2030" b="1" dirty="0">
                <a:solidFill>
                  <a:srgbClr val="053DE8"/>
                </a:solidFill>
                <a:latin typeface="Times New Roman"/>
                <a:cs typeface="Times New Roman"/>
              </a:rPr>
              <a:t>a</a:t>
            </a:r>
            <a:r>
              <a:rPr sz="2030" b="1" spc="75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978" baseline="1234" dirty="0">
                <a:solidFill>
                  <a:srgbClr val="053DE8"/>
                </a:solidFill>
                <a:latin typeface="MS PGothic"/>
                <a:cs typeface="MS PGothic"/>
              </a:rPr>
              <a:t>“</a:t>
            </a:r>
            <a:r>
              <a:rPr sz="2030" b="1" dirty="0">
                <a:solidFill>
                  <a:srgbClr val="053DE8"/>
                </a:solidFill>
                <a:latin typeface="Times New Roman"/>
                <a:cs typeface="Times New Roman"/>
              </a:rPr>
              <a:t>Page</a:t>
            </a:r>
            <a:r>
              <a:rPr sz="2030" b="1" spc="71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030" b="1" spc="-9" dirty="0">
                <a:solidFill>
                  <a:srgbClr val="053DE8"/>
                </a:solidFill>
                <a:latin typeface="Times New Roman"/>
                <a:cs typeface="Times New Roman"/>
              </a:rPr>
              <a:t>fault</a:t>
            </a:r>
            <a:r>
              <a:rPr sz="2978" spc="-13" baseline="1234" dirty="0">
                <a:solidFill>
                  <a:srgbClr val="053DE8"/>
                </a:solidFill>
                <a:latin typeface="MS PGothic"/>
                <a:cs typeface="MS PGothic"/>
              </a:rPr>
              <a:t>”</a:t>
            </a:r>
            <a:endParaRPr sz="2978" baseline="1234">
              <a:latin typeface="MS PGothic"/>
              <a:cs typeface="MS P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28790" y="723141"/>
            <a:ext cx="2283199" cy="55454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 indent="163054">
              <a:spcBef>
                <a:spcPts val="88"/>
              </a:spcBef>
            </a:pPr>
            <a:r>
              <a:rPr sz="1765" b="1" dirty="0">
                <a:solidFill>
                  <a:srgbClr val="053DE8"/>
                </a:solidFill>
                <a:latin typeface="Times New Roman"/>
                <a:cs typeface="Times New Roman"/>
              </a:rPr>
              <a:t>Physical</a:t>
            </a:r>
            <a:r>
              <a:rPr sz="1765" b="1" spc="9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1765" b="1" dirty="0">
                <a:solidFill>
                  <a:srgbClr val="053DE8"/>
                </a:solidFill>
                <a:latin typeface="Times New Roman"/>
                <a:cs typeface="Times New Roman"/>
              </a:rPr>
              <a:t>and</a:t>
            </a:r>
            <a:r>
              <a:rPr sz="1765" b="1" spc="22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1765" b="1" spc="-9" dirty="0">
                <a:solidFill>
                  <a:srgbClr val="053DE8"/>
                </a:solidFill>
                <a:latin typeface="Times New Roman"/>
                <a:cs typeface="Times New Roman"/>
              </a:rPr>
              <a:t>virtual </a:t>
            </a:r>
            <a:r>
              <a:rPr sz="1765" b="1" dirty="0">
                <a:solidFill>
                  <a:srgbClr val="053DE8"/>
                </a:solidFill>
                <a:latin typeface="Times New Roman"/>
                <a:cs typeface="Times New Roman"/>
              </a:rPr>
              <a:t>pages</a:t>
            </a:r>
            <a:r>
              <a:rPr sz="1765" b="1" spc="18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1765" b="1" dirty="0">
                <a:solidFill>
                  <a:srgbClr val="053DE8"/>
                </a:solidFill>
                <a:latin typeface="Times New Roman"/>
                <a:cs typeface="Times New Roman"/>
              </a:rPr>
              <a:t>must</a:t>
            </a:r>
            <a:r>
              <a:rPr sz="1765" b="1" spc="22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1765" b="1" dirty="0">
                <a:solidFill>
                  <a:srgbClr val="053DE8"/>
                </a:solidFill>
                <a:latin typeface="Times New Roman"/>
                <a:cs typeface="Times New Roman"/>
              </a:rPr>
              <a:t>be</a:t>
            </a:r>
            <a:r>
              <a:rPr sz="1765" b="1" spc="18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1765" b="1" dirty="0">
                <a:solidFill>
                  <a:srgbClr val="053DE8"/>
                </a:solidFill>
                <a:latin typeface="Times New Roman"/>
                <a:cs typeface="Times New Roman"/>
              </a:rPr>
              <a:t>the</a:t>
            </a:r>
            <a:r>
              <a:rPr sz="1765" b="1" spc="18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1765" b="1" spc="-18" dirty="0">
                <a:solidFill>
                  <a:srgbClr val="053DE8"/>
                </a:solidFill>
                <a:latin typeface="Times New Roman"/>
                <a:cs typeface="Times New Roman"/>
              </a:rPr>
              <a:t>same</a:t>
            </a:r>
            <a:endParaRPr sz="1765" dirty="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006228" y="3524741"/>
            <a:ext cx="1139078" cy="2989169"/>
            <a:chOff x="2121325" y="3994706"/>
            <a:chExt cx="1290955" cy="3387725"/>
          </a:xfrm>
        </p:grpSpPr>
        <p:sp>
          <p:nvSpPr>
            <p:cNvPr id="12" name="object 12"/>
            <p:cNvSpPr/>
            <p:nvPr/>
          </p:nvSpPr>
          <p:spPr>
            <a:xfrm>
              <a:off x="2126405" y="6501262"/>
              <a:ext cx="1280795" cy="876300"/>
            </a:xfrm>
            <a:custGeom>
              <a:avLst/>
              <a:gdLst/>
              <a:ahLst/>
              <a:cxnLst/>
              <a:rect l="l" t="t" r="r" b="b"/>
              <a:pathLst>
                <a:path w="1280795" h="876300">
                  <a:moveTo>
                    <a:pt x="1280528" y="0"/>
                  </a:moveTo>
                  <a:lnTo>
                    <a:pt x="0" y="0"/>
                  </a:lnTo>
                  <a:lnTo>
                    <a:pt x="0" y="875947"/>
                  </a:lnTo>
                  <a:lnTo>
                    <a:pt x="1280528" y="875947"/>
                  </a:lnTo>
                  <a:lnTo>
                    <a:pt x="1280528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2126405" y="6501262"/>
              <a:ext cx="1280795" cy="876300"/>
            </a:xfrm>
            <a:custGeom>
              <a:avLst/>
              <a:gdLst/>
              <a:ahLst/>
              <a:cxnLst/>
              <a:rect l="l" t="t" r="r" b="b"/>
              <a:pathLst>
                <a:path w="1280795" h="876300">
                  <a:moveTo>
                    <a:pt x="1280528" y="0"/>
                  </a:moveTo>
                  <a:lnTo>
                    <a:pt x="0" y="0"/>
                  </a:lnTo>
                  <a:lnTo>
                    <a:pt x="0" y="875947"/>
                  </a:lnTo>
                  <a:lnTo>
                    <a:pt x="1280528" y="875947"/>
                  </a:lnTo>
                  <a:lnTo>
                    <a:pt x="1280528" y="0"/>
                  </a:lnTo>
                  <a:close/>
                </a:path>
              </a:pathLst>
            </a:custGeom>
            <a:ln w="101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2611658" y="3994706"/>
              <a:ext cx="471805" cy="148590"/>
            </a:xfrm>
            <a:custGeom>
              <a:avLst/>
              <a:gdLst/>
              <a:ahLst/>
              <a:cxnLst/>
              <a:rect l="l" t="t" r="r" b="b"/>
              <a:pathLst>
                <a:path w="471805" h="148589">
                  <a:moveTo>
                    <a:pt x="471774" y="0"/>
                  </a:moveTo>
                  <a:lnTo>
                    <a:pt x="0" y="0"/>
                  </a:lnTo>
                  <a:lnTo>
                    <a:pt x="0" y="148237"/>
                  </a:lnTo>
                  <a:lnTo>
                    <a:pt x="471774" y="148237"/>
                  </a:lnTo>
                  <a:lnTo>
                    <a:pt x="4717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197233" y="3234018"/>
            <a:ext cx="795618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dirty="0">
                <a:latin typeface="Times New Roman"/>
                <a:cs typeface="Times New Roman"/>
              </a:rPr>
              <a:t>Page</a:t>
            </a:r>
            <a:r>
              <a:rPr sz="1324" b="1" spc="-62" dirty="0">
                <a:latin typeface="Times New Roman"/>
                <a:cs typeface="Times New Roman"/>
              </a:rPr>
              <a:t> </a:t>
            </a:r>
            <a:r>
              <a:rPr sz="1324" b="1" spc="-22" dirty="0">
                <a:latin typeface="Times New Roman"/>
                <a:cs typeface="Times New Roman"/>
              </a:rPr>
              <a:t>Table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438871" y="3667438"/>
            <a:ext cx="416299" cy="987238"/>
          </a:xfrm>
          <a:custGeom>
            <a:avLst/>
            <a:gdLst/>
            <a:ahLst/>
            <a:cxnLst/>
            <a:rect l="l" t="t" r="r" b="b"/>
            <a:pathLst>
              <a:path w="471805" h="1118870">
                <a:moveTo>
                  <a:pt x="471766" y="970280"/>
                </a:moveTo>
                <a:lnTo>
                  <a:pt x="0" y="970280"/>
                </a:lnTo>
                <a:lnTo>
                  <a:pt x="0" y="1118514"/>
                </a:lnTo>
                <a:lnTo>
                  <a:pt x="471766" y="1118514"/>
                </a:lnTo>
                <a:lnTo>
                  <a:pt x="471766" y="970280"/>
                </a:lnTo>
                <a:close/>
              </a:path>
              <a:path w="471805" h="1118870">
                <a:moveTo>
                  <a:pt x="471766" y="808558"/>
                </a:moveTo>
                <a:lnTo>
                  <a:pt x="0" y="808558"/>
                </a:lnTo>
                <a:lnTo>
                  <a:pt x="0" y="956792"/>
                </a:lnTo>
                <a:lnTo>
                  <a:pt x="471766" y="956792"/>
                </a:lnTo>
                <a:lnTo>
                  <a:pt x="471766" y="808558"/>
                </a:lnTo>
                <a:close/>
              </a:path>
              <a:path w="471805" h="1118870">
                <a:moveTo>
                  <a:pt x="471766" y="646849"/>
                </a:moveTo>
                <a:lnTo>
                  <a:pt x="0" y="646849"/>
                </a:lnTo>
                <a:lnTo>
                  <a:pt x="0" y="795083"/>
                </a:lnTo>
                <a:lnTo>
                  <a:pt x="471766" y="795083"/>
                </a:lnTo>
                <a:lnTo>
                  <a:pt x="471766" y="646849"/>
                </a:lnTo>
                <a:close/>
              </a:path>
              <a:path w="471805" h="1118870">
                <a:moveTo>
                  <a:pt x="471766" y="485140"/>
                </a:moveTo>
                <a:lnTo>
                  <a:pt x="0" y="485140"/>
                </a:lnTo>
                <a:lnTo>
                  <a:pt x="0" y="633374"/>
                </a:lnTo>
                <a:lnTo>
                  <a:pt x="471766" y="633374"/>
                </a:lnTo>
                <a:lnTo>
                  <a:pt x="471766" y="485140"/>
                </a:lnTo>
                <a:close/>
              </a:path>
              <a:path w="471805" h="1118870">
                <a:moveTo>
                  <a:pt x="471766" y="323418"/>
                </a:moveTo>
                <a:lnTo>
                  <a:pt x="0" y="323418"/>
                </a:lnTo>
                <a:lnTo>
                  <a:pt x="0" y="471652"/>
                </a:lnTo>
                <a:lnTo>
                  <a:pt x="471766" y="471652"/>
                </a:lnTo>
                <a:lnTo>
                  <a:pt x="471766" y="323418"/>
                </a:lnTo>
                <a:close/>
              </a:path>
              <a:path w="471805" h="1118870">
                <a:moveTo>
                  <a:pt x="471766" y="161709"/>
                </a:moveTo>
                <a:lnTo>
                  <a:pt x="0" y="161709"/>
                </a:lnTo>
                <a:lnTo>
                  <a:pt x="0" y="309943"/>
                </a:lnTo>
                <a:lnTo>
                  <a:pt x="471766" y="309943"/>
                </a:lnTo>
                <a:lnTo>
                  <a:pt x="471766" y="161709"/>
                </a:lnTo>
                <a:close/>
              </a:path>
              <a:path w="471805" h="1118870">
                <a:moveTo>
                  <a:pt x="471766" y="0"/>
                </a:moveTo>
                <a:lnTo>
                  <a:pt x="0" y="0"/>
                </a:lnTo>
                <a:lnTo>
                  <a:pt x="0" y="148234"/>
                </a:lnTo>
                <a:lnTo>
                  <a:pt x="471766" y="148234"/>
                </a:lnTo>
                <a:lnTo>
                  <a:pt x="4717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434416" y="3520281"/>
          <a:ext cx="416299" cy="17392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6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67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315">
                <a:tc>
                  <a:txBody>
                    <a:bodyPr/>
                    <a:lstStyle/>
                    <a:p>
                      <a:pPr marL="151130">
                        <a:lnSpc>
                          <a:spcPts val="1175"/>
                        </a:lnSpc>
                      </a:pPr>
                      <a:r>
                        <a:rPr sz="13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315">
                <a:tc>
                  <a:txBody>
                    <a:bodyPr/>
                    <a:lstStyle/>
                    <a:p>
                      <a:pPr marL="151130">
                        <a:lnSpc>
                          <a:spcPts val="1175"/>
                        </a:lnSpc>
                      </a:pPr>
                      <a:r>
                        <a:rPr sz="13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2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2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2315">
                <a:tc>
                  <a:txBody>
                    <a:bodyPr/>
                    <a:lstStyle/>
                    <a:p>
                      <a:pPr marL="151130">
                        <a:lnSpc>
                          <a:spcPts val="1175"/>
                        </a:lnSpc>
                      </a:pPr>
                      <a:r>
                        <a:rPr sz="13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23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2315">
                <a:tc>
                  <a:txBody>
                    <a:bodyPr/>
                    <a:lstStyle/>
                    <a:p>
                      <a:pPr marL="151130">
                        <a:lnSpc>
                          <a:spcPts val="1175"/>
                        </a:lnSpc>
                      </a:pPr>
                      <a:r>
                        <a:rPr sz="13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67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18" name="object 18"/>
          <p:cNvGrpSpPr/>
          <p:nvPr/>
        </p:nvGrpSpPr>
        <p:grpSpPr>
          <a:xfrm>
            <a:off x="885269" y="2950990"/>
            <a:ext cx="1553696" cy="983316"/>
            <a:chOff x="850905" y="3344455"/>
            <a:chExt cx="1760855" cy="1114425"/>
          </a:xfrm>
        </p:grpSpPr>
        <p:sp>
          <p:nvSpPr>
            <p:cNvPr id="19" name="object 19"/>
            <p:cNvSpPr/>
            <p:nvPr/>
          </p:nvSpPr>
          <p:spPr>
            <a:xfrm>
              <a:off x="1230034" y="3578629"/>
              <a:ext cx="0" cy="827405"/>
            </a:xfrm>
            <a:custGeom>
              <a:avLst/>
              <a:gdLst/>
              <a:ahLst/>
              <a:cxnLst/>
              <a:rect l="l" t="t" r="r" b="b"/>
              <a:pathLst>
                <a:path h="827404">
                  <a:moveTo>
                    <a:pt x="0" y="0"/>
                  </a:moveTo>
                  <a:lnTo>
                    <a:pt x="0" y="827097"/>
                  </a:lnTo>
                </a:path>
              </a:pathLst>
            </a:custGeom>
            <a:ln w="53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1223098" y="4337171"/>
              <a:ext cx="1388745" cy="121285"/>
            </a:xfrm>
            <a:custGeom>
              <a:avLst/>
              <a:gdLst/>
              <a:ahLst/>
              <a:cxnLst/>
              <a:rect l="l" t="t" r="r" b="b"/>
              <a:pathLst>
                <a:path w="1388745" h="121285">
                  <a:moveTo>
                    <a:pt x="1267868" y="0"/>
                  </a:moveTo>
                  <a:lnTo>
                    <a:pt x="1267595" y="28127"/>
                  </a:lnTo>
                  <a:lnTo>
                    <a:pt x="1267475" y="40427"/>
                  </a:lnTo>
                  <a:lnTo>
                    <a:pt x="1287690" y="40623"/>
                  </a:lnTo>
                  <a:lnTo>
                    <a:pt x="1287484" y="61817"/>
                  </a:lnTo>
                  <a:lnTo>
                    <a:pt x="1287419" y="68554"/>
                  </a:lnTo>
                  <a:lnTo>
                    <a:pt x="1287297" y="81048"/>
                  </a:lnTo>
                  <a:lnTo>
                    <a:pt x="1267081" y="81048"/>
                  </a:lnTo>
                  <a:lnTo>
                    <a:pt x="1266690" y="121279"/>
                  </a:lnTo>
                  <a:lnTo>
                    <a:pt x="1349143" y="81048"/>
                  </a:lnTo>
                  <a:lnTo>
                    <a:pt x="1287297" y="81048"/>
                  </a:lnTo>
                  <a:lnTo>
                    <a:pt x="1349545" y="80852"/>
                  </a:lnTo>
                  <a:lnTo>
                    <a:pt x="1388558" y="61817"/>
                  </a:lnTo>
                  <a:lnTo>
                    <a:pt x="1267868" y="0"/>
                  </a:lnTo>
                  <a:close/>
                </a:path>
                <a:path w="1388745" h="121285">
                  <a:moveTo>
                    <a:pt x="1267475" y="40427"/>
                  </a:moveTo>
                  <a:lnTo>
                    <a:pt x="1267267" y="61817"/>
                  </a:lnTo>
                  <a:lnTo>
                    <a:pt x="1267202" y="68554"/>
                  </a:lnTo>
                  <a:lnTo>
                    <a:pt x="1267083" y="80852"/>
                  </a:lnTo>
                  <a:lnTo>
                    <a:pt x="1287297" y="81048"/>
                  </a:lnTo>
                  <a:lnTo>
                    <a:pt x="1287690" y="40623"/>
                  </a:lnTo>
                  <a:lnTo>
                    <a:pt x="1267475" y="40427"/>
                  </a:lnTo>
                  <a:close/>
                </a:path>
                <a:path w="1388745" h="121285">
                  <a:moveTo>
                    <a:pt x="392" y="28127"/>
                  </a:moveTo>
                  <a:lnTo>
                    <a:pt x="65" y="61817"/>
                  </a:lnTo>
                  <a:lnTo>
                    <a:pt x="0" y="68554"/>
                  </a:lnTo>
                  <a:lnTo>
                    <a:pt x="1267083" y="80852"/>
                  </a:lnTo>
                  <a:lnTo>
                    <a:pt x="1267473" y="40623"/>
                  </a:lnTo>
                  <a:lnTo>
                    <a:pt x="1267475" y="40427"/>
                  </a:lnTo>
                  <a:lnTo>
                    <a:pt x="392" y="281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855985" y="3349535"/>
              <a:ext cx="1200150" cy="229235"/>
            </a:xfrm>
            <a:custGeom>
              <a:avLst/>
              <a:gdLst/>
              <a:ahLst/>
              <a:cxnLst/>
              <a:rect l="l" t="t" r="r" b="b"/>
              <a:pathLst>
                <a:path w="1200150" h="229235">
                  <a:moveTo>
                    <a:pt x="1199652" y="0"/>
                  </a:moveTo>
                  <a:lnTo>
                    <a:pt x="0" y="0"/>
                  </a:lnTo>
                  <a:lnTo>
                    <a:pt x="0" y="229093"/>
                  </a:lnTo>
                  <a:lnTo>
                    <a:pt x="1199652" y="229093"/>
                  </a:lnTo>
                  <a:lnTo>
                    <a:pt x="1199652" y="0"/>
                  </a:lnTo>
                  <a:close/>
                </a:path>
              </a:pathLst>
            </a:custGeom>
            <a:ln w="101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1489511" y="3349535"/>
              <a:ext cx="13970" cy="229235"/>
            </a:xfrm>
            <a:custGeom>
              <a:avLst/>
              <a:gdLst/>
              <a:ahLst/>
              <a:cxnLst/>
              <a:rect l="l" t="t" r="r" b="b"/>
              <a:pathLst>
                <a:path w="13969" h="229235">
                  <a:moveTo>
                    <a:pt x="13479" y="0"/>
                  </a:moveTo>
                  <a:lnTo>
                    <a:pt x="0" y="229093"/>
                  </a:lnTo>
                </a:path>
              </a:pathLst>
            </a:custGeom>
            <a:ln w="101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70018" y="2547632"/>
            <a:ext cx="1173816" cy="59673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43443" marR="33619" indent="-132797">
              <a:lnSpc>
                <a:spcPct val="153300"/>
              </a:lnSpc>
              <a:spcBef>
                <a:spcPts val="88"/>
              </a:spcBef>
              <a:tabLst>
                <a:tab pos="744110" algn="l"/>
              </a:tabLst>
            </a:pPr>
            <a:r>
              <a:rPr sz="1324" b="1" dirty="0">
                <a:latin typeface="Times New Roman"/>
                <a:cs typeface="Times New Roman"/>
              </a:rPr>
              <a:t>virtual</a:t>
            </a:r>
            <a:r>
              <a:rPr sz="1324" b="1" spc="-75" dirty="0">
                <a:latin typeface="Times New Roman"/>
                <a:cs typeface="Times New Roman"/>
              </a:rPr>
              <a:t> </a:t>
            </a:r>
            <a:r>
              <a:rPr sz="1324" b="1" spc="-9" dirty="0">
                <a:latin typeface="Times New Roman"/>
                <a:cs typeface="Times New Roman"/>
              </a:rPr>
              <a:t>address </a:t>
            </a:r>
            <a:r>
              <a:rPr sz="1324" b="1" spc="-18" dirty="0">
                <a:latin typeface="Times New Roman"/>
                <a:cs typeface="Times New Roman"/>
              </a:rPr>
              <a:t>page</a:t>
            </a:r>
            <a:r>
              <a:rPr sz="1324" b="1" dirty="0">
                <a:latin typeface="Times New Roman"/>
                <a:cs typeface="Times New Roman"/>
              </a:rPr>
              <a:t>	</a:t>
            </a:r>
            <a:r>
              <a:rPr sz="1324" b="1" spc="-18" dirty="0">
                <a:latin typeface="Times New Roman"/>
                <a:cs typeface="Times New Roman"/>
              </a:rPr>
              <a:t>offset</a:t>
            </a:r>
            <a:endParaRPr sz="1324" dirty="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195919" y="3863532"/>
            <a:ext cx="886384" cy="2353235"/>
            <a:chOff x="1202974" y="4378669"/>
            <a:chExt cx="1004569" cy="2667000"/>
          </a:xfrm>
        </p:grpSpPr>
        <p:sp>
          <p:nvSpPr>
            <p:cNvPr id="25" name="object 25"/>
            <p:cNvSpPr/>
            <p:nvPr/>
          </p:nvSpPr>
          <p:spPr>
            <a:xfrm>
              <a:off x="1223294" y="4398989"/>
              <a:ext cx="13970" cy="2574290"/>
            </a:xfrm>
            <a:custGeom>
              <a:avLst/>
              <a:gdLst/>
              <a:ahLst/>
              <a:cxnLst/>
              <a:rect l="l" t="t" r="r" b="b"/>
              <a:pathLst>
                <a:path w="13969" h="2574290">
                  <a:moveTo>
                    <a:pt x="13479" y="0"/>
                  </a:moveTo>
                  <a:lnTo>
                    <a:pt x="0" y="2573936"/>
                  </a:lnTo>
                </a:path>
              </a:pathLst>
            </a:custGeom>
            <a:ln w="40428">
              <a:solidFill>
                <a:srgbClr val="FB012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1223017" y="6924104"/>
              <a:ext cx="984885" cy="121285"/>
            </a:xfrm>
            <a:custGeom>
              <a:avLst/>
              <a:gdLst/>
              <a:ahLst/>
              <a:cxnLst/>
              <a:rect l="l" t="t" r="r" b="b"/>
              <a:pathLst>
                <a:path w="984885" h="121284">
                  <a:moveTo>
                    <a:pt x="863819" y="0"/>
                  </a:moveTo>
                  <a:lnTo>
                    <a:pt x="863265" y="40424"/>
                  </a:lnTo>
                  <a:lnTo>
                    <a:pt x="883476" y="40701"/>
                  </a:lnTo>
                  <a:lnTo>
                    <a:pt x="882926" y="80849"/>
                  </a:lnTo>
                  <a:lnTo>
                    <a:pt x="882922" y="81125"/>
                  </a:lnTo>
                  <a:lnTo>
                    <a:pt x="862708" y="81125"/>
                  </a:lnTo>
                  <a:lnTo>
                    <a:pt x="862158" y="121273"/>
                  </a:lnTo>
                  <a:lnTo>
                    <a:pt x="945280" y="81125"/>
                  </a:lnTo>
                  <a:lnTo>
                    <a:pt x="882922" y="81125"/>
                  </a:lnTo>
                  <a:lnTo>
                    <a:pt x="862712" y="80849"/>
                  </a:lnTo>
                  <a:lnTo>
                    <a:pt x="945853" y="80849"/>
                  </a:lnTo>
                  <a:lnTo>
                    <a:pt x="984262" y="62297"/>
                  </a:lnTo>
                  <a:lnTo>
                    <a:pt x="863819" y="0"/>
                  </a:lnTo>
                  <a:close/>
                </a:path>
                <a:path w="984885" h="121284">
                  <a:moveTo>
                    <a:pt x="863265" y="40424"/>
                  </a:moveTo>
                  <a:lnTo>
                    <a:pt x="862712" y="80849"/>
                  </a:lnTo>
                  <a:lnTo>
                    <a:pt x="882922" y="81125"/>
                  </a:lnTo>
                  <a:lnTo>
                    <a:pt x="883476" y="40701"/>
                  </a:lnTo>
                  <a:lnTo>
                    <a:pt x="863265" y="40424"/>
                  </a:lnTo>
                  <a:close/>
                </a:path>
                <a:path w="984885" h="121284">
                  <a:moveTo>
                    <a:pt x="553" y="28609"/>
                  </a:moveTo>
                  <a:lnTo>
                    <a:pt x="92" y="62297"/>
                  </a:lnTo>
                  <a:lnTo>
                    <a:pt x="0" y="69033"/>
                  </a:lnTo>
                  <a:lnTo>
                    <a:pt x="862712" y="80849"/>
                  </a:lnTo>
                  <a:lnTo>
                    <a:pt x="863261" y="40701"/>
                  </a:lnTo>
                  <a:lnTo>
                    <a:pt x="863265" y="40424"/>
                  </a:lnTo>
                  <a:lnTo>
                    <a:pt x="553" y="28609"/>
                  </a:lnTo>
                  <a:close/>
                </a:path>
              </a:pathLst>
            </a:custGeom>
            <a:solidFill>
              <a:srgbClr val="FB012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033699" y="5667934"/>
            <a:ext cx="417419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b="1" spc="-22" dirty="0">
                <a:latin typeface="Times New Roman"/>
                <a:cs typeface="Times New Roman"/>
              </a:rPr>
              <a:t>PAdd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28061" y="5481470"/>
            <a:ext cx="674594" cy="39603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1593"/>
              </a:lnSpc>
              <a:spcBef>
                <a:spcPts val="88"/>
              </a:spcBef>
            </a:pPr>
            <a:r>
              <a:rPr sz="1500" b="1" spc="-22" dirty="0">
                <a:latin typeface="Times New Roman"/>
                <a:cs typeface="Times New Roman"/>
              </a:rPr>
              <a:t>TLB</a:t>
            </a:r>
            <a:endParaRPr sz="1500">
              <a:latin typeface="Times New Roman"/>
              <a:cs typeface="Times New Roman"/>
            </a:endParaRPr>
          </a:p>
          <a:p>
            <a:pPr marL="289127">
              <a:lnSpc>
                <a:spcPts val="1381"/>
              </a:lnSpc>
            </a:pPr>
            <a:r>
              <a:rPr sz="1324" b="1" spc="-35" dirty="0">
                <a:latin typeface="Times New Roman"/>
                <a:cs typeface="Times New Roman"/>
              </a:rPr>
              <a:t>Vadd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33699" y="5802405"/>
            <a:ext cx="928407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583297" algn="l"/>
              </a:tabLst>
            </a:pPr>
            <a:r>
              <a:rPr sz="1324" b="1" spc="-9" dirty="0">
                <a:latin typeface="Times New Roman"/>
                <a:cs typeface="Times New Roman"/>
              </a:rPr>
              <a:t>frame</a:t>
            </a:r>
            <a:r>
              <a:rPr sz="1324" b="1" dirty="0">
                <a:latin typeface="Times New Roman"/>
                <a:cs typeface="Times New Roman"/>
              </a:rPr>
              <a:t>	</a:t>
            </a:r>
            <a:r>
              <a:rPr sz="1985" b="1" spc="-26" baseline="3703" dirty="0">
                <a:latin typeface="Times New Roman"/>
                <a:cs typeface="Times New Roman"/>
              </a:rPr>
              <a:t>page</a:t>
            </a:r>
            <a:endParaRPr sz="1985" baseline="3703">
              <a:latin typeface="Times New Roman"/>
              <a:cs typeface="Times New Roman"/>
            </a:endParaRPr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2148971" y="6017325"/>
          <a:ext cx="844924" cy="2868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2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6712">
                <a:tc>
                  <a:txBody>
                    <a:bodyPr/>
                    <a:lstStyle/>
                    <a:p>
                      <a:pPr marL="121285">
                        <a:lnSpc>
                          <a:spcPts val="1120"/>
                        </a:lnSpc>
                      </a:pPr>
                      <a:r>
                        <a:rPr sz="13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ts val="1120"/>
                        </a:lnSpc>
                      </a:pPr>
                      <a:r>
                        <a:rPr sz="13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712">
                <a:tc>
                  <a:txBody>
                    <a:bodyPr/>
                    <a:lstStyle/>
                    <a:p>
                      <a:pPr marL="121285">
                        <a:lnSpc>
                          <a:spcPts val="1120"/>
                        </a:lnSpc>
                      </a:pPr>
                      <a:r>
                        <a:rPr sz="1300" b="1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ts val="1120"/>
                        </a:lnSpc>
                      </a:pPr>
                      <a:r>
                        <a:rPr sz="13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1" name="object 31"/>
          <p:cNvGrpSpPr/>
          <p:nvPr/>
        </p:nvGrpSpPr>
        <p:grpSpPr>
          <a:xfrm>
            <a:off x="3525617" y="5376691"/>
            <a:ext cx="1067921" cy="211231"/>
            <a:chOff x="3843300" y="6093583"/>
            <a:chExt cx="1210310" cy="239395"/>
          </a:xfrm>
        </p:grpSpPr>
        <p:sp>
          <p:nvSpPr>
            <p:cNvPr id="32" name="object 32"/>
            <p:cNvSpPr/>
            <p:nvPr/>
          </p:nvSpPr>
          <p:spPr>
            <a:xfrm>
              <a:off x="3848380" y="6098663"/>
              <a:ext cx="1200150" cy="229235"/>
            </a:xfrm>
            <a:custGeom>
              <a:avLst/>
              <a:gdLst/>
              <a:ahLst/>
              <a:cxnLst/>
              <a:rect l="l" t="t" r="r" b="b"/>
              <a:pathLst>
                <a:path w="1200150" h="229235">
                  <a:moveTo>
                    <a:pt x="1199653" y="0"/>
                  </a:moveTo>
                  <a:lnTo>
                    <a:pt x="0" y="0"/>
                  </a:lnTo>
                  <a:lnTo>
                    <a:pt x="0" y="229093"/>
                  </a:lnTo>
                  <a:lnTo>
                    <a:pt x="1199653" y="229093"/>
                  </a:lnTo>
                  <a:lnTo>
                    <a:pt x="1199653" y="0"/>
                  </a:lnTo>
                  <a:close/>
                </a:path>
              </a:pathLst>
            </a:custGeom>
            <a:ln w="101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4481905" y="6098663"/>
              <a:ext cx="13970" cy="229235"/>
            </a:xfrm>
            <a:custGeom>
              <a:avLst/>
              <a:gdLst/>
              <a:ahLst/>
              <a:cxnLst/>
              <a:rect l="l" t="t" r="r" b="b"/>
              <a:pathLst>
                <a:path w="13970" h="229235">
                  <a:moveTo>
                    <a:pt x="13479" y="0"/>
                  </a:moveTo>
                  <a:lnTo>
                    <a:pt x="0" y="229093"/>
                  </a:lnTo>
                </a:path>
              </a:pathLst>
            </a:custGeom>
            <a:ln w="101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410366" y="4933725"/>
            <a:ext cx="1191185" cy="59673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41762" marR="4483" indent="-131116">
              <a:lnSpc>
                <a:spcPct val="153300"/>
              </a:lnSpc>
              <a:spcBef>
                <a:spcPts val="88"/>
              </a:spcBef>
              <a:tabLst>
                <a:tab pos="711051" algn="l"/>
              </a:tabLst>
            </a:pPr>
            <a:r>
              <a:rPr sz="1324" b="1" spc="-9" dirty="0">
                <a:latin typeface="Times New Roman"/>
                <a:cs typeface="Times New Roman"/>
              </a:rPr>
              <a:t>physical</a:t>
            </a:r>
            <a:r>
              <a:rPr sz="1324" b="1" spc="-18" dirty="0">
                <a:latin typeface="Times New Roman"/>
                <a:cs typeface="Times New Roman"/>
              </a:rPr>
              <a:t> </a:t>
            </a:r>
            <a:r>
              <a:rPr sz="1324" b="1" spc="-9" dirty="0">
                <a:latin typeface="Times New Roman"/>
                <a:cs typeface="Times New Roman"/>
              </a:rPr>
              <a:t>address frame</a:t>
            </a:r>
            <a:r>
              <a:rPr sz="1324" b="1" dirty="0">
                <a:latin typeface="Times New Roman"/>
                <a:cs typeface="Times New Roman"/>
              </a:rPr>
              <a:t>	</a:t>
            </a:r>
            <a:r>
              <a:rPr sz="1324" b="1" spc="-9" dirty="0">
                <a:latin typeface="Times New Roman"/>
                <a:cs typeface="Times New Roman"/>
              </a:rPr>
              <a:t>offset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170324" y="5604123"/>
            <a:ext cx="642657" cy="499782"/>
          </a:xfrm>
          <a:custGeom>
            <a:avLst/>
            <a:gdLst/>
            <a:ahLst/>
            <a:cxnLst/>
            <a:rect l="l" t="t" r="r" b="b"/>
            <a:pathLst>
              <a:path w="728345" h="566420">
                <a:moveTo>
                  <a:pt x="0" y="565996"/>
                </a:moveTo>
                <a:lnTo>
                  <a:pt x="727879" y="565996"/>
                </a:lnTo>
                <a:lnTo>
                  <a:pt x="727879" y="0"/>
                </a:lnTo>
              </a:path>
            </a:pathLst>
          </a:custGeom>
          <a:ln w="26952">
            <a:solidFill>
              <a:srgbClr val="FB0128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6" name="object 36"/>
          <p:cNvSpPr txBox="1"/>
          <p:nvPr/>
        </p:nvSpPr>
        <p:spPr>
          <a:xfrm>
            <a:off x="587347" y="4455459"/>
            <a:ext cx="1662953" cy="55454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10682" marR="4483" indent="-200036">
              <a:spcBef>
                <a:spcPts val="88"/>
              </a:spcBef>
            </a:pPr>
            <a:r>
              <a:rPr sz="1765" b="1" dirty="0">
                <a:solidFill>
                  <a:srgbClr val="053DE8"/>
                </a:solidFill>
                <a:latin typeface="Times New Roman"/>
                <a:cs typeface="Times New Roman"/>
              </a:rPr>
              <a:t>TLB</a:t>
            </a:r>
            <a:r>
              <a:rPr sz="1765" b="1" spc="-13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1765" b="1" dirty="0">
                <a:solidFill>
                  <a:srgbClr val="053DE8"/>
                </a:solidFill>
                <a:latin typeface="Times New Roman"/>
                <a:cs typeface="Times New Roman"/>
              </a:rPr>
              <a:t>caches</a:t>
            </a:r>
            <a:r>
              <a:rPr sz="1765" b="1" spc="-13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1765" b="1" spc="-18" dirty="0">
                <a:solidFill>
                  <a:srgbClr val="053DE8"/>
                </a:solidFill>
                <a:latin typeface="Times New Roman"/>
                <a:cs typeface="Times New Roman"/>
              </a:rPr>
              <a:t>page </a:t>
            </a:r>
            <a:r>
              <a:rPr sz="1765" b="1" dirty="0">
                <a:solidFill>
                  <a:srgbClr val="053DE8"/>
                </a:solidFill>
                <a:latin typeface="Times New Roman"/>
                <a:cs typeface="Times New Roman"/>
              </a:rPr>
              <a:t>table</a:t>
            </a:r>
            <a:r>
              <a:rPr sz="1765" b="1" spc="22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1765" b="1" spc="-9" dirty="0">
                <a:solidFill>
                  <a:srgbClr val="053DE8"/>
                </a:solidFill>
                <a:latin typeface="Times New Roman"/>
                <a:cs typeface="Times New Roman"/>
              </a:rPr>
              <a:t>entries.</a:t>
            </a:r>
            <a:endParaRPr sz="1765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783913" y="944166"/>
            <a:ext cx="300318" cy="312644"/>
            <a:chOff x="3002702" y="1070055"/>
            <a:chExt cx="340360" cy="354330"/>
          </a:xfrm>
        </p:grpSpPr>
        <p:sp>
          <p:nvSpPr>
            <p:cNvPr id="38" name="object 38"/>
            <p:cNvSpPr/>
            <p:nvPr/>
          </p:nvSpPr>
          <p:spPr>
            <a:xfrm>
              <a:off x="3007782" y="1075134"/>
              <a:ext cx="330200" cy="344170"/>
            </a:xfrm>
            <a:custGeom>
              <a:avLst/>
              <a:gdLst/>
              <a:ahLst/>
              <a:cxnLst/>
              <a:rect l="l" t="t" r="r" b="b"/>
              <a:pathLst>
                <a:path w="330200" h="344169">
                  <a:moveTo>
                    <a:pt x="330164" y="0"/>
                  </a:moveTo>
                  <a:lnTo>
                    <a:pt x="0" y="0"/>
                  </a:lnTo>
                  <a:lnTo>
                    <a:pt x="0" y="343640"/>
                  </a:lnTo>
                  <a:lnTo>
                    <a:pt x="330164" y="343640"/>
                  </a:lnTo>
                  <a:lnTo>
                    <a:pt x="3301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3007782" y="1075135"/>
              <a:ext cx="330200" cy="344170"/>
            </a:xfrm>
            <a:custGeom>
              <a:avLst/>
              <a:gdLst/>
              <a:ahLst/>
              <a:cxnLst/>
              <a:rect l="l" t="t" r="r" b="b"/>
              <a:pathLst>
                <a:path w="330200" h="344169">
                  <a:moveTo>
                    <a:pt x="0" y="0"/>
                  </a:moveTo>
                  <a:lnTo>
                    <a:pt x="330164" y="0"/>
                  </a:lnTo>
                  <a:lnTo>
                    <a:pt x="330164" y="343640"/>
                  </a:lnTo>
                  <a:lnTo>
                    <a:pt x="0" y="343640"/>
                  </a:lnTo>
                  <a:lnTo>
                    <a:pt x="0" y="0"/>
                  </a:lnTo>
                  <a:close/>
                </a:path>
              </a:pathLst>
            </a:custGeom>
            <a:ln w="101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2880550" y="2564168"/>
            <a:ext cx="1037665" cy="2564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56330" algn="ctr">
              <a:lnSpc>
                <a:spcPts val="675"/>
              </a:lnSpc>
            </a:pPr>
            <a:r>
              <a:rPr sz="1235" dirty="0">
                <a:latin typeface="Times New Roman"/>
                <a:cs typeface="Times New Roman"/>
              </a:rPr>
              <a:t>for</a:t>
            </a:r>
            <a:r>
              <a:rPr sz="1235" spc="-35" dirty="0">
                <a:latin typeface="Times New Roman"/>
                <a:cs typeface="Times New Roman"/>
              </a:rPr>
              <a:t> </a:t>
            </a:r>
            <a:r>
              <a:rPr sz="1235" spc="-9" dirty="0">
                <a:latin typeface="Times New Roman"/>
                <a:cs typeface="Times New Roman"/>
              </a:rPr>
              <a:t>current</a:t>
            </a:r>
            <a:endParaRPr sz="1235" dirty="0">
              <a:latin typeface="Times New Roman"/>
              <a:cs typeface="Times New Roman"/>
            </a:endParaRPr>
          </a:p>
          <a:p>
            <a:pPr marL="155770" algn="ctr">
              <a:lnSpc>
                <a:spcPts val="1271"/>
              </a:lnSpc>
            </a:pPr>
            <a:r>
              <a:rPr sz="1235" b="1" spc="-9" dirty="0">
                <a:latin typeface="Times New Roman"/>
                <a:cs typeface="Times New Roman"/>
              </a:rPr>
              <a:t>A</a:t>
            </a:r>
            <a:r>
              <a:rPr sz="1235" spc="-9" dirty="0">
                <a:latin typeface="Times New Roman"/>
                <a:cs typeface="Times New Roman"/>
              </a:rPr>
              <a:t>ddr</a:t>
            </a:r>
            <a:r>
              <a:rPr sz="1235" b="1" spc="-9" dirty="0">
                <a:latin typeface="Times New Roman"/>
                <a:cs typeface="Times New Roman"/>
              </a:rPr>
              <a:t>S</a:t>
            </a:r>
            <a:r>
              <a:rPr sz="1235" spc="-9" dirty="0">
                <a:latin typeface="Times New Roman"/>
                <a:cs typeface="Times New Roman"/>
              </a:rPr>
              <a:t>pace</a:t>
            </a:r>
            <a:r>
              <a:rPr sz="1235" b="1" spc="-9" dirty="0">
                <a:latin typeface="Times New Roman"/>
                <a:cs typeface="Times New Roman"/>
              </a:rPr>
              <a:t>ID</a:t>
            </a:r>
            <a:endParaRPr sz="1235" dirty="0">
              <a:latin typeface="Times New Roman"/>
              <a:cs typeface="Times New Roman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740101" y="2154667"/>
            <a:ext cx="1269626" cy="1024778"/>
            <a:chOff x="6353047" y="2441955"/>
            <a:chExt cx="1438910" cy="1161415"/>
          </a:xfrm>
        </p:grpSpPr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53047" y="3036315"/>
              <a:ext cx="621792" cy="566927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383222" y="3076326"/>
              <a:ext cx="455930" cy="403225"/>
            </a:xfrm>
            <a:custGeom>
              <a:avLst/>
              <a:gdLst/>
              <a:ahLst/>
              <a:cxnLst/>
              <a:rect l="l" t="t" r="r" b="b"/>
              <a:pathLst>
                <a:path w="455929" h="403225">
                  <a:moveTo>
                    <a:pt x="389744" y="58958"/>
                  </a:moveTo>
                  <a:lnTo>
                    <a:pt x="422609" y="95355"/>
                  </a:lnTo>
                  <a:lnTo>
                    <a:pt x="444519" y="136027"/>
                  </a:lnTo>
                  <a:lnTo>
                    <a:pt x="455474" y="179264"/>
                  </a:lnTo>
                  <a:lnTo>
                    <a:pt x="455474" y="223355"/>
                  </a:lnTo>
                  <a:lnTo>
                    <a:pt x="444519" y="266592"/>
                  </a:lnTo>
                  <a:lnTo>
                    <a:pt x="422609" y="307264"/>
                  </a:lnTo>
                  <a:lnTo>
                    <a:pt x="389744" y="343662"/>
                  </a:lnTo>
                  <a:lnTo>
                    <a:pt x="353805" y="369456"/>
                  </a:lnTo>
                  <a:lnTo>
                    <a:pt x="313955" y="387880"/>
                  </a:lnTo>
                  <a:lnTo>
                    <a:pt x="271497" y="398935"/>
                  </a:lnTo>
                  <a:lnTo>
                    <a:pt x="227737" y="402620"/>
                  </a:lnTo>
                  <a:lnTo>
                    <a:pt x="183976" y="398935"/>
                  </a:lnTo>
                  <a:lnTo>
                    <a:pt x="141518" y="387880"/>
                  </a:lnTo>
                  <a:lnTo>
                    <a:pt x="101668" y="369456"/>
                  </a:lnTo>
                  <a:lnTo>
                    <a:pt x="65729" y="343662"/>
                  </a:lnTo>
                  <a:lnTo>
                    <a:pt x="32864" y="307264"/>
                  </a:lnTo>
                  <a:lnTo>
                    <a:pt x="10954" y="266592"/>
                  </a:lnTo>
                  <a:lnTo>
                    <a:pt x="0" y="223355"/>
                  </a:lnTo>
                  <a:lnTo>
                    <a:pt x="0" y="179264"/>
                  </a:lnTo>
                  <a:lnTo>
                    <a:pt x="10954" y="136027"/>
                  </a:lnTo>
                  <a:lnTo>
                    <a:pt x="32864" y="95355"/>
                  </a:lnTo>
                  <a:lnTo>
                    <a:pt x="65729" y="58958"/>
                  </a:lnTo>
                  <a:lnTo>
                    <a:pt x="101668" y="33163"/>
                  </a:lnTo>
                  <a:lnTo>
                    <a:pt x="141518" y="14739"/>
                  </a:lnTo>
                  <a:lnTo>
                    <a:pt x="183976" y="3684"/>
                  </a:lnTo>
                  <a:lnTo>
                    <a:pt x="227737" y="0"/>
                  </a:lnTo>
                  <a:lnTo>
                    <a:pt x="271497" y="3684"/>
                  </a:lnTo>
                  <a:lnTo>
                    <a:pt x="313955" y="14739"/>
                  </a:lnTo>
                  <a:lnTo>
                    <a:pt x="353805" y="33163"/>
                  </a:lnTo>
                  <a:lnTo>
                    <a:pt x="389744" y="58958"/>
                  </a:lnTo>
                  <a:close/>
                </a:path>
              </a:pathLst>
            </a:custGeom>
            <a:ln w="26952">
              <a:solidFill>
                <a:srgbClr val="053D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94423" y="2441955"/>
              <a:ext cx="1097279" cy="932688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801308" y="2445976"/>
              <a:ext cx="871219" cy="711835"/>
            </a:xfrm>
            <a:custGeom>
              <a:avLst/>
              <a:gdLst/>
              <a:ahLst/>
              <a:cxnLst/>
              <a:rect l="l" t="t" r="r" b="b"/>
              <a:pathLst>
                <a:path w="871220" h="711835">
                  <a:moveTo>
                    <a:pt x="37260" y="628853"/>
                  </a:moveTo>
                  <a:lnTo>
                    <a:pt x="0" y="711217"/>
                  </a:lnTo>
                  <a:lnTo>
                    <a:pt x="88247" y="691606"/>
                  </a:lnTo>
                  <a:lnTo>
                    <a:pt x="75587" y="687683"/>
                  </a:lnTo>
                  <a:lnTo>
                    <a:pt x="50335" y="687683"/>
                  </a:lnTo>
                  <a:lnTo>
                    <a:pt x="33338" y="666766"/>
                  </a:lnTo>
                  <a:lnTo>
                    <a:pt x="40311" y="661101"/>
                  </a:lnTo>
                  <a:lnTo>
                    <a:pt x="37260" y="628853"/>
                  </a:lnTo>
                  <a:close/>
                </a:path>
                <a:path w="871220" h="711835">
                  <a:moveTo>
                    <a:pt x="41837" y="677225"/>
                  </a:moveTo>
                  <a:lnTo>
                    <a:pt x="50335" y="687683"/>
                  </a:lnTo>
                  <a:lnTo>
                    <a:pt x="57306" y="682018"/>
                  </a:lnTo>
                  <a:lnTo>
                    <a:pt x="41837" y="677225"/>
                  </a:lnTo>
                  <a:close/>
                </a:path>
                <a:path w="871220" h="711835">
                  <a:moveTo>
                    <a:pt x="57306" y="682018"/>
                  </a:moveTo>
                  <a:lnTo>
                    <a:pt x="50335" y="687683"/>
                  </a:lnTo>
                  <a:lnTo>
                    <a:pt x="75587" y="687683"/>
                  </a:lnTo>
                  <a:lnTo>
                    <a:pt x="57306" y="682018"/>
                  </a:lnTo>
                  <a:close/>
                </a:path>
                <a:path w="871220" h="711835">
                  <a:moveTo>
                    <a:pt x="853973" y="0"/>
                  </a:moveTo>
                  <a:lnTo>
                    <a:pt x="40311" y="661101"/>
                  </a:lnTo>
                  <a:lnTo>
                    <a:pt x="41837" y="677225"/>
                  </a:lnTo>
                  <a:lnTo>
                    <a:pt x="57306" y="682018"/>
                  </a:lnTo>
                  <a:lnTo>
                    <a:pt x="870968" y="20918"/>
                  </a:lnTo>
                  <a:lnTo>
                    <a:pt x="853973" y="0"/>
                  </a:lnTo>
                  <a:close/>
                </a:path>
                <a:path w="871220" h="711835">
                  <a:moveTo>
                    <a:pt x="40311" y="661101"/>
                  </a:moveTo>
                  <a:lnTo>
                    <a:pt x="33338" y="666766"/>
                  </a:lnTo>
                  <a:lnTo>
                    <a:pt x="41837" y="677225"/>
                  </a:lnTo>
                  <a:lnTo>
                    <a:pt x="40311" y="661101"/>
                  </a:lnTo>
                  <a:close/>
                </a:path>
              </a:pathLst>
            </a:custGeom>
            <a:solidFill>
              <a:srgbClr val="053DE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663215" y="1261022"/>
            <a:ext cx="1613086" cy="16431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646" marR="4483" indent="1121" algn="ctr">
              <a:lnSpc>
                <a:spcPct val="104000"/>
              </a:lnSpc>
              <a:tabLst>
                <a:tab pos="550238" algn="l"/>
              </a:tabLst>
            </a:pPr>
            <a:r>
              <a:rPr sz="1765" b="1" spc="-9" dirty="0">
                <a:solidFill>
                  <a:srgbClr val="053DE8"/>
                </a:solidFill>
                <a:latin typeface="Times New Roman"/>
                <a:cs typeface="Times New Roman"/>
              </a:rPr>
              <a:t>size!</a:t>
            </a:r>
            <a:r>
              <a:rPr sz="1765" b="1" dirty="0">
                <a:solidFill>
                  <a:srgbClr val="053DE8"/>
                </a:solidFill>
                <a:latin typeface="Times New Roman"/>
                <a:cs typeface="Times New Roman"/>
              </a:rPr>
              <a:t>	</a:t>
            </a:r>
            <a:r>
              <a:rPr sz="1765" b="1" spc="-9" dirty="0">
                <a:solidFill>
                  <a:srgbClr val="053DE8"/>
                </a:solidFill>
                <a:latin typeface="Times New Roman"/>
                <a:cs typeface="Times New Roman"/>
              </a:rPr>
              <a:t>Here,</a:t>
            </a:r>
            <a:r>
              <a:rPr sz="1765" b="1" spc="-247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1765" b="1" spc="-18" dirty="0">
                <a:latin typeface="Times New Roman"/>
                <a:cs typeface="Times New Roman"/>
              </a:rPr>
              <a:t>1024 </a:t>
            </a:r>
            <a:r>
              <a:rPr sz="1765" b="1" dirty="0">
                <a:solidFill>
                  <a:srgbClr val="053DE8"/>
                </a:solidFill>
                <a:latin typeface="Times New Roman"/>
                <a:cs typeface="Times New Roman"/>
              </a:rPr>
              <a:t>Bytes/page</a:t>
            </a:r>
            <a:r>
              <a:rPr sz="1765" b="1" spc="4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1765" b="1" spc="-18" dirty="0">
                <a:solidFill>
                  <a:srgbClr val="053DE8"/>
                </a:solidFill>
                <a:latin typeface="Times New Roman"/>
                <a:cs typeface="Times New Roman"/>
              </a:rPr>
              <a:t>each.</a:t>
            </a:r>
            <a:endParaRPr sz="1765" dirty="0">
              <a:latin typeface="Times New Roman"/>
              <a:cs typeface="Times New Roman"/>
            </a:endParaRPr>
          </a:p>
          <a:p>
            <a:pPr marL="314902" marR="361409" algn="ctr">
              <a:lnSpc>
                <a:spcPct val="101699"/>
              </a:lnSpc>
              <a:spcBef>
                <a:spcPts val="1050"/>
              </a:spcBef>
            </a:pPr>
            <a:r>
              <a:rPr sz="2030" b="1" spc="-9" dirty="0">
                <a:solidFill>
                  <a:srgbClr val="053DE8"/>
                </a:solidFill>
                <a:latin typeface="Times New Roman"/>
                <a:cs typeface="Times New Roman"/>
              </a:rPr>
              <a:t>Physical frame address</a:t>
            </a:r>
            <a:endParaRPr sz="2030" dirty="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708683" y="2665656"/>
            <a:ext cx="208989" cy="3237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030" b="1" spc="-44" dirty="0">
                <a:solidFill>
                  <a:srgbClr val="053DE8"/>
                </a:solidFill>
                <a:latin typeface="Times New Roman"/>
                <a:cs typeface="Times New Roman"/>
              </a:rPr>
              <a:t>V</a:t>
            </a:r>
            <a:endParaRPr sz="203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89276" y="1253346"/>
            <a:ext cx="5958728" cy="5154706"/>
          </a:xfrm>
          <a:custGeom>
            <a:avLst/>
            <a:gdLst/>
            <a:ahLst/>
            <a:cxnLst/>
            <a:rect l="l" t="t" r="r" b="b"/>
            <a:pathLst>
              <a:path w="6753225" h="5842000">
                <a:moveTo>
                  <a:pt x="0" y="0"/>
                </a:moveTo>
                <a:lnTo>
                  <a:pt x="6753214" y="5841893"/>
                </a:lnTo>
              </a:path>
            </a:pathLst>
          </a:custGeom>
          <a:ln w="67380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0" name="object 3">
            <a:extLst>
              <a:ext uri="{FF2B5EF4-FFF2-40B4-BE49-F238E27FC236}">
                <a16:creationId xmlns:a16="http://schemas.microsoft.com/office/drawing/2014/main" id="{6AF3A50E-CC67-3A16-7E9B-BD960AAF74F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465951" y="6385432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29</a:t>
            </a:fld>
            <a:endParaRPr spc="-22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35544" y="4835415"/>
            <a:ext cx="0" cy="698687"/>
          </a:xfrm>
          <a:custGeom>
            <a:avLst/>
            <a:gdLst/>
            <a:ahLst/>
            <a:cxnLst/>
            <a:rect l="l" t="t" r="r" b="b"/>
            <a:pathLst>
              <a:path h="791845">
                <a:moveTo>
                  <a:pt x="0" y="0"/>
                </a:moveTo>
                <a:lnTo>
                  <a:pt x="0" y="791721"/>
                </a:lnTo>
              </a:path>
            </a:pathLst>
          </a:custGeom>
          <a:ln w="303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3" name="object 3"/>
          <p:cNvSpPr/>
          <p:nvPr/>
        </p:nvSpPr>
        <p:spPr>
          <a:xfrm>
            <a:off x="2935544" y="4202237"/>
            <a:ext cx="0" cy="306481"/>
          </a:xfrm>
          <a:custGeom>
            <a:avLst/>
            <a:gdLst/>
            <a:ahLst/>
            <a:cxnLst/>
            <a:rect l="l" t="t" r="r" b="b"/>
            <a:pathLst>
              <a:path h="347345">
                <a:moveTo>
                  <a:pt x="0" y="0"/>
                </a:moveTo>
                <a:lnTo>
                  <a:pt x="0" y="347009"/>
                </a:lnTo>
              </a:path>
            </a:pathLst>
          </a:custGeom>
          <a:ln w="303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/>
          <p:nvPr/>
        </p:nvSpPr>
        <p:spPr>
          <a:xfrm>
            <a:off x="2935544" y="3569058"/>
            <a:ext cx="0" cy="306481"/>
          </a:xfrm>
          <a:custGeom>
            <a:avLst/>
            <a:gdLst/>
            <a:ahLst/>
            <a:cxnLst/>
            <a:rect l="l" t="t" r="r" b="b"/>
            <a:pathLst>
              <a:path h="347345">
                <a:moveTo>
                  <a:pt x="0" y="0"/>
                </a:moveTo>
                <a:lnTo>
                  <a:pt x="0" y="347009"/>
                </a:lnTo>
              </a:path>
            </a:pathLst>
          </a:custGeom>
          <a:ln w="303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5" name="object 5"/>
          <p:cNvSpPr/>
          <p:nvPr/>
        </p:nvSpPr>
        <p:spPr>
          <a:xfrm>
            <a:off x="2935544" y="2935878"/>
            <a:ext cx="0" cy="306481"/>
          </a:xfrm>
          <a:custGeom>
            <a:avLst/>
            <a:gdLst/>
            <a:ahLst/>
            <a:cxnLst/>
            <a:rect l="l" t="t" r="r" b="b"/>
            <a:pathLst>
              <a:path h="347345">
                <a:moveTo>
                  <a:pt x="0" y="0"/>
                </a:moveTo>
                <a:lnTo>
                  <a:pt x="0" y="347010"/>
                </a:lnTo>
              </a:path>
            </a:pathLst>
          </a:custGeom>
          <a:ln w="303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6" name="object 6"/>
          <p:cNvGrpSpPr/>
          <p:nvPr/>
        </p:nvGrpSpPr>
        <p:grpSpPr>
          <a:xfrm>
            <a:off x="2653141" y="2302700"/>
            <a:ext cx="565337" cy="639296"/>
            <a:chOff x="2854493" y="2609726"/>
            <a:chExt cx="640715" cy="724535"/>
          </a:xfrm>
        </p:grpSpPr>
        <p:sp>
          <p:nvSpPr>
            <p:cNvPr id="7" name="object 7"/>
            <p:cNvSpPr/>
            <p:nvPr/>
          </p:nvSpPr>
          <p:spPr>
            <a:xfrm>
              <a:off x="3174550" y="2609726"/>
              <a:ext cx="0" cy="347345"/>
            </a:xfrm>
            <a:custGeom>
              <a:avLst/>
              <a:gdLst/>
              <a:ahLst/>
              <a:cxnLst/>
              <a:rect l="l" t="t" r="r" b="b"/>
              <a:pathLst>
                <a:path h="347344">
                  <a:moveTo>
                    <a:pt x="0" y="0"/>
                  </a:moveTo>
                  <a:lnTo>
                    <a:pt x="0" y="347009"/>
                  </a:lnTo>
                </a:path>
              </a:pathLst>
            </a:custGeom>
            <a:ln w="303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2861231" y="2956736"/>
              <a:ext cx="626745" cy="370840"/>
            </a:xfrm>
            <a:custGeom>
              <a:avLst/>
              <a:gdLst/>
              <a:ahLst/>
              <a:cxnLst/>
              <a:rect l="l" t="t" r="r" b="b"/>
              <a:pathLst>
                <a:path w="626745" h="370839">
                  <a:moveTo>
                    <a:pt x="0" y="0"/>
                  </a:moveTo>
                  <a:lnTo>
                    <a:pt x="626639" y="0"/>
                  </a:lnTo>
                  <a:lnTo>
                    <a:pt x="626639" y="370593"/>
                  </a:lnTo>
                  <a:lnTo>
                    <a:pt x="0" y="370593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12091" y="655596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Common</a:t>
            </a:r>
            <a:r>
              <a:rPr spc="-22" dirty="0"/>
              <a:t> </a:t>
            </a:r>
            <a:r>
              <a:rPr spc="-9" dirty="0"/>
              <a:t>Organization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650911" y="1975706"/>
            <a:ext cx="568699" cy="270436"/>
          </a:xfrm>
          <a:prstGeom prst="rect">
            <a:avLst/>
          </a:prstGeom>
          <a:ln w="13476">
            <a:solidFill>
              <a:srgbClr val="000000"/>
            </a:solidFill>
          </a:ln>
        </p:spPr>
        <p:txBody>
          <a:bodyPr vert="horz" wrap="square" lIns="0" tIns="39221" rIns="0" bIns="0" rtlCol="0">
            <a:spAutoFit/>
          </a:bodyPr>
          <a:lstStyle/>
          <a:p>
            <a:pPr marL="83488">
              <a:spcBef>
                <a:spcPts val="309"/>
              </a:spcBef>
            </a:pPr>
            <a:r>
              <a:rPr sz="1500" b="1" spc="-22" dirty="0">
                <a:solidFill>
                  <a:srgbClr val="0332B7"/>
                </a:solidFill>
                <a:latin typeface="Arial"/>
                <a:cs typeface="Arial"/>
              </a:rPr>
              <a:t>CPU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51238" y="2670405"/>
            <a:ext cx="378199" cy="205184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19"/>
              </a:lnSpc>
            </a:pPr>
            <a:r>
              <a:rPr sz="1500" b="1" spc="-22" dirty="0">
                <a:solidFill>
                  <a:srgbClr val="0332B7"/>
                </a:solidFill>
                <a:latin typeface="Arial"/>
                <a:cs typeface="Arial"/>
              </a:rPr>
              <a:t>TLB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21273" y="3242065"/>
            <a:ext cx="1028700" cy="271002"/>
          </a:xfrm>
          <a:prstGeom prst="rect">
            <a:avLst/>
          </a:prstGeom>
          <a:ln w="13476">
            <a:solidFill>
              <a:srgbClr val="000000"/>
            </a:solidFill>
          </a:ln>
        </p:spPr>
        <p:txBody>
          <a:bodyPr vert="horz" wrap="square" lIns="0" tIns="39781" rIns="0" bIns="0" rtlCol="0">
            <a:spAutoFit/>
          </a:bodyPr>
          <a:lstStyle/>
          <a:p>
            <a:pPr marL="91892">
              <a:spcBef>
                <a:spcPts val="313"/>
              </a:spcBef>
            </a:pPr>
            <a:r>
              <a:rPr sz="1500" b="1" dirty="0">
                <a:solidFill>
                  <a:srgbClr val="0332B7"/>
                </a:solidFill>
                <a:latin typeface="Arial"/>
                <a:cs typeface="Arial"/>
              </a:rPr>
              <a:t>L1</a:t>
            </a:r>
            <a:r>
              <a:rPr sz="1500" b="1" spc="-22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500" b="1" spc="-9" dirty="0">
                <a:solidFill>
                  <a:srgbClr val="0332B7"/>
                </a:solidFill>
                <a:latin typeface="Arial"/>
                <a:cs typeface="Arial"/>
              </a:rPr>
              <a:t>Cache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97906" y="3875243"/>
            <a:ext cx="1275790" cy="269870"/>
          </a:xfrm>
          <a:prstGeom prst="rect">
            <a:avLst/>
          </a:prstGeom>
          <a:ln w="13476">
            <a:solidFill>
              <a:srgbClr val="000000"/>
            </a:solidFill>
          </a:ln>
        </p:spPr>
        <p:txBody>
          <a:bodyPr vert="horz" wrap="square" lIns="0" tIns="38660" rIns="0" bIns="0" rtlCol="0">
            <a:spAutoFit/>
          </a:bodyPr>
          <a:lstStyle/>
          <a:p>
            <a:pPr marL="93574">
              <a:spcBef>
                <a:spcPts val="304"/>
              </a:spcBef>
            </a:pPr>
            <a:r>
              <a:rPr sz="1500" b="1" dirty="0">
                <a:solidFill>
                  <a:srgbClr val="0332B7"/>
                </a:solidFill>
                <a:latin typeface="Arial"/>
                <a:cs typeface="Arial"/>
              </a:rPr>
              <a:t>Write</a:t>
            </a:r>
            <a:r>
              <a:rPr sz="1500" b="1" spc="-3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500" b="1" spc="-9" dirty="0">
                <a:solidFill>
                  <a:srgbClr val="0332B7"/>
                </a:solidFill>
                <a:latin typeface="Arial"/>
                <a:cs typeface="Arial"/>
              </a:rPr>
              <a:t>Buffer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21273" y="4508422"/>
            <a:ext cx="1028700" cy="271566"/>
          </a:xfrm>
          <a:prstGeom prst="rect">
            <a:avLst/>
          </a:prstGeom>
          <a:ln w="13476">
            <a:solidFill>
              <a:srgbClr val="000000"/>
            </a:solidFill>
          </a:ln>
        </p:spPr>
        <p:txBody>
          <a:bodyPr vert="horz" wrap="square" lIns="0" tIns="40340" rIns="0" bIns="0" rtlCol="0">
            <a:spAutoFit/>
          </a:bodyPr>
          <a:lstStyle/>
          <a:p>
            <a:pPr marL="91892">
              <a:spcBef>
                <a:spcPts val="317"/>
              </a:spcBef>
            </a:pPr>
            <a:r>
              <a:rPr sz="1500" b="1" dirty="0">
                <a:solidFill>
                  <a:srgbClr val="0332B7"/>
                </a:solidFill>
                <a:latin typeface="Arial"/>
                <a:cs typeface="Arial"/>
              </a:rPr>
              <a:t>L2</a:t>
            </a:r>
            <a:r>
              <a:rPr sz="1500" b="1" spc="-22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500" b="1" spc="-9" dirty="0">
                <a:solidFill>
                  <a:srgbClr val="0332B7"/>
                </a:solidFill>
                <a:latin typeface="Arial"/>
                <a:cs typeface="Arial"/>
              </a:rPr>
              <a:t>Cache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38980" y="5542912"/>
            <a:ext cx="6571129" cy="0"/>
          </a:xfrm>
          <a:custGeom>
            <a:avLst/>
            <a:gdLst/>
            <a:ahLst/>
            <a:cxnLst/>
            <a:rect l="l" t="t" r="r" b="b"/>
            <a:pathLst>
              <a:path w="7447280">
                <a:moveTo>
                  <a:pt x="0" y="0"/>
                </a:moveTo>
                <a:lnTo>
                  <a:pt x="7447234" y="1"/>
                </a:lnTo>
              </a:path>
            </a:pathLst>
          </a:custGeom>
          <a:ln w="303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6" name="object 16"/>
          <p:cNvSpPr txBox="1"/>
          <p:nvPr/>
        </p:nvSpPr>
        <p:spPr>
          <a:xfrm>
            <a:off x="6163956" y="5250179"/>
            <a:ext cx="1143560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latin typeface="Arial"/>
                <a:cs typeface="Arial"/>
              </a:rPr>
              <a:t>Memory</a:t>
            </a:r>
            <a:r>
              <a:rPr sz="1500" b="1" spc="-57" dirty="0">
                <a:latin typeface="Arial"/>
                <a:cs typeface="Arial"/>
              </a:rPr>
              <a:t> </a:t>
            </a:r>
            <a:r>
              <a:rPr sz="1500" b="1" spc="-22" dirty="0">
                <a:latin typeface="Arial"/>
                <a:cs typeface="Arial"/>
              </a:rPr>
              <a:t>bus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058336" y="3059245"/>
            <a:ext cx="1615887" cy="1048871"/>
            <a:chOff x="6713713" y="3467144"/>
            <a:chExt cx="1831339" cy="1188720"/>
          </a:xfrm>
        </p:grpSpPr>
        <p:sp>
          <p:nvSpPr>
            <p:cNvPr id="18" name="object 18"/>
            <p:cNvSpPr/>
            <p:nvPr/>
          </p:nvSpPr>
          <p:spPr>
            <a:xfrm>
              <a:off x="6740665" y="3493769"/>
              <a:ext cx="1804670" cy="1162050"/>
            </a:xfrm>
            <a:custGeom>
              <a:avLst/>
              <a:gdLst/>
              <a:ahLst/>
              <a:cxnLst/>
              <a:rect l="l" t="t" r="r" b="b"/>
              <a:pathLst>
                <a:path w="1804670" h="1162050">
                  <a:moveTo>
                    <a:pt x="1804111" y="0"/>
                  </a:moveTo>
                  <a:lnTo>
                    <a:pt x="1770418" y="0"/>
                  </a:lnTo>
                  <a:lnTo>
                    <a:pt x="1770418" y="7620"/>
                  </a:lnTo>
                  <a:lnTo>
                    <a:pt x="1770418" y="13970"/>
                  </a:lnTo>
                  <a:lnTo>
                    <a:pt x="1770418" y="1129030"/>
                  </a:lnTo>
                  <a:lnTo>
                    <a:pt x="13474" y="1129030"/>
                  </a:lnTo>
                  <a:lnTo>
                    <a:pt x="6731" y="1129030"/>
                  </a:lnTo>
                  <a:lnTo>
                    <a:pt x="0" y="1129030"/>
                  </a:lnTo>
                  <a:lnTo>
                    <a:pt x="0" y="1149350"/>
                  </a:lnTo>
                  <a:lnTo>
                    <a:pt x="0" y="1162050"/>
                  </a:lnTo>
                  <a:lnTo>
                    <a:pt x="1804111" y="1162050"/>
                  </a:lnTo>
                  <a:lnTo>
                    <a:pt x="1804111" y="1149350"/>
                  </a:lnTo>
                  <a:lnTo>
                    <a:pt x="1804111" y="13970"/>
                  </a:lnTo>
                  <a:lnTo>
                    <a:pt x="1804111" y="0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6720451" y="3473883"/>
              <a:ext cx="1790700" cy="1149350"/>
            </a:xfrm>
            <a:custGeom>
              <a:avLst/>
              <a:gdLst/>
              <a:ahLst/>
              <a:cxnLst/>
              <a:rect l="l" t="t" r="r" b="b"/>
              <a:pathLst>
                <a:path w="1790700" h="1149350">
                  <a:moveTo>
                    <a:pt x="0" y="0"/>
                  </a:moveTo>
                  <a:lnTo>
                    <a:pt x="1790638" y="0"/>
                  </a:lnTo>
                  <a:lnTo>
                    <a:pt x="1790638" y="1148838"/>
                  </a:lnTo>
                  <a:lnTo>
                    <a:pt x="0" y="1148838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138687" y="3087892"/>
            <a:ext cx="1227044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Even</a:t>
            </a:r>
            <a:r>
              <a:rPr sz="1500" b="1" spc="-26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a</a:t>
            </a:r>
            <a:r>
              <a:rPr sz="1500" b="1" spc="-26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spc="-9" dirty="0">
                <a:solidFill>
                  <a:srgbClr val="FC0128"/>
                </a:solidFill>
                <a:latin typeface="Arial"/>
                <a:cs typeface="Arial"/>
              </a:rPr>
              <a:t>cache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38688" y="3321872"/>
            <a:ext cx="1418104" cy="484860"/>
          </a:xfrm>
          <a:prstGeom prst="rect">
            <a:avLst/>
          </a:prstGeom>
        </p:spPr>
        <p:txBody>
          <a:bodyPr vert="horz" wrap="square" lIns="0" tIns="22971" rIns="0" bIns="0" rtlCol="0">
            <a:spAutoFit/>
          </a:bodyPr>
          <a:lstStyle/>
          <a:p>
            <a:pPr marL="11206" marR="4483">
              <a:lnSpc>
                <a:spcPts val="1755"/>
              </a:lnSpc>
              <a:spcBef>
                <a:spcPts val="180"/>
              </a:spcBef>
            </a:pP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hit</a:t>
            </a:r>
            <a:r>
              <a:rPr sz="1500" b="1" spc="-18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spc="-9" dirty="0">
                <a:solidFill>
                  <a:srgbClr val="FC0128"/>
                </a:solidFill>
                <a:latin typeface="Arial"/>
                <a:cs typeface="Arial"/>
              </a:rPr>
              <a:t>requires </a:t>
            </a: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TLB</a:t>
            </a:r>
            <a:r>
              <a:rPr sz="1500" b="1" spc="-13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spc="-9" dirty="0">
                <a:solidFill>
                  <a:srgbClr val="FC0128"/>
                </a:solidFill>
                <a:latin typeface="Arial"/>
                <a:cs typeface="Arial"/>
              </a:rPr>
              <a:t>translation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38688" y="3771002"/>
            <a:ext cx="447675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spc="-9" dirty="0">
                <a:solidFill>
                  <a:srgbClr val="FC0128"/>
                </a:solidFill>
                <a:latin typeface="Arial"/>
                <a:cs typeface="Arial"/>
              </a:rPr>
              <a:t>first!</a:t>
            </a:r>
            <a:endParaRPr sz="1500">
              <a:latin typeface="Arial"/>
              <a:cs typeface="Arial"/>
            </a:endParaRPr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5BEE7B9A-4430-C1C9-783C-DE9FF4E5E61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30</a:t>
            </a:fld>
            <a:endParaRPr spc="-22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244778"/>
            <a:ext cx="7410274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Translation</a:t>
            </a:r>
            <a:r>
              <a:rPr spc="-44" dirty="0"/>
              <a:t> </a:t>
            </a:r>
            <a:r>
              <a:rPr dirty="0"/>
              <a:t>Lookaside</a:t>
            </a:r>
            <a:r>
              <a:rPr spc="-49" dirty="0"/>
              <a:t> </a:t>
            </a:r>
            <a:r>
              <a:rPr dirty="0"/>
              <a:t>Buffer</a:t>
            </a:r>
            <a:r>
              <a:rPr spc="-53" dirty="0"/>
              <a:t> </a:t>
            </a:r>
            <a:r>
              <a:rPr dirty="0"/>
              <a:t>–</a:t>
            </a:r>
            <a:r>
              <a:rPr spc="-44" dirty="0"/>
              <a:t> </a:t>
            </a:r>
            <a:r>
              <a:rPr dirty="0"/>
              <a:t>Another</a:t>
            </a:r>
            <a:r>
              <a:rPr spc="-49" dirty="0"/>
              <a:t> </a:t>
            </a:r>
            <a:r>
              <a:rPr spc="-18" dirty="0"/>
              <a:t>view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7495" y="980660"/>
            <a:ext cx="6149010" cy="623514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80789" y="6391951"/>
            <a:ext cx="169432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>
              <a:lnSpc>
                <a:spcPts val="1531"/>
              </a:lnSpc>
            </a:pPr>
            <a:r>
              <a:rPr sz="1324" spc="-9" dirty="0">
                <a:latin typeface="Times New Roman"/>
                <a:cs typeface="Times New Roman"/>
              </a:rPr>
              <a:t>(From</a:t>
            </a:r>
            <a:r>
              <a:rPr sz="1324" spc="-66" dirty="0">
                <a:latin typeface="Times New Roman"/>
                <a:cs typeface="Times New Roman"/>
              </a:rPr>
              <a:t> </a:t>
            </a:r>
            <a:r>
              <a:rPr sz="1324" spc="-9" dirty="0">
                <a:latin typeface="Times New Roman"/>
                <a:cs typeface="Times New Roman"/>
              </a:rPr>
              <a:t>William</a:t>
            </a:r>
            <a:r>
              <a:rPr sz="1324" spc="-40" dirty="0">
                <a:latin typeface="Times New Roman"/>
                <a:cs typeface="Times New Roman"/>
              </a:rPr>
              <a:t> </a:t>
            </a:r>
            <a:r>
              <a:rPr sz="1324" spc="-9" dirty="0">
                <a:latin typeface="Times New Roman"/>
                <a:cs typeface="Times New Roman"/>
              </a:rPr>
              <a:t>Stallings)</a:t>
            </a:r>
            <a:endParaRPr sz="1324" dirty="0">
              <a:latin typeface="Times New Roman"/>
              <a:cs typeface="Times New Roman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80795828-51A1-1B15-1274-4659FE15CA4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31</a:t>
            </a:fld>
            <a:endParaRPr spc="-22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TLB</a:t>
            </a:r>
            <a:r>
              <a:rPr spc="-40" dirty="0"/>
              <a:t> </a:t>
            </a:r>
            <a:r>
              <a:rPr dirty="0"/>
              <a:t>–</a:t>
            </a:r>
            <a:r>
              <a:rPr spc="-22" dirty="0"/>
              <a:t> </a:t>
            </a:r>
            <a:r>
              <a:rPr dirty="0"/>
              <a:t>Another</a:t>
            </a:r>
            <a:r>
              <a:rPr spc="-35" dirty="0"/>
              <a:t> </a:t>
            </a:r>
            <a:r>
              <a:rPr dirty="0"/>
              <a:t>view</a:t>
            </a:r>
            <a:r>
              <a:rPr spc="-31" dirty="0"/>
              <a:t> </a:t>
            </a:r>
            <a:r>
              <a:rPr spc="-9" dirty="0"/>
              <a:t>(cont.)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1663" y="1311926"/>
            <a:ext cx="6900673" cy="508618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79793" y="6388174"/>
            <a:ext cx="1694329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>
              <a:lnSpc>
                <a:spcPts val="1531"/>
              </a:lnSpc>
            </a:pPr>
            <a:r>
              <a:rPr sz="1324" spc="-9" dirty="0">
                <a:latin typeface="Times New Roman"/>
                <a:cs typeface="Times New Roman"/>
              </a:rPr>
              <a:t>(From</a:t>
            </a:r>
            <a:r>
              <a:rPr sz="1324" spc="-66" dirty="0">
                <a:latin typeface="Times New Roman"/>
                <a:cs typeface="Times New Roman"/>
              </a:rPr>
              <a:t> </a:t>
            </a:r>
            <a:r>
              <a:rPr sz="1324" spc="-9" dirty="0">
                <a:latin typeface="Times New Roman"/>
                <a:cs typeface="Times New Roman"/>
              </a:rPr>
              <a:t>William</a:t>
            </a:r>
            <a:r>
              <a:rPr sz="1324" spc="-40" dirty="0">
                <a:latin typeface="Times New Roman"/>
                <a:cs typeface="Times New Roman"/>
              </a:rPr>
              <a:t> </a:t>
            </a:r>
            <a:r>
              <a:rPr sz="1324" spc="-9" dirty="0">
                <a:latin typeface="Times New Roman"/>
                <a:cs typeface="Times New Roman"/>
              </a:rPr>
              <a:t>Stallings)</a:t>
            </a:r>
            <a:endParaRPr sz="1324">
              <a:latin typeface="Times New Roman"/>
              <a:cs typeface="Times New Roman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8E44915D-BCD9-8B70-6CB8-DEA01E46077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32</a:t>
            </a:fld>
            <a:endParaRPr spc="-22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68847"/>
            <a:ext cx="7047071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Can</a:t>
            </a:r>
            <a:r>
              <a:rPr spc="-35" dirty="0"/>
              <a:t> </a:t>
            </a:r>
            <a:r>
              <a:rPr dirty="0"/>
              <a:t>TLB</a:t>
            </a:r>
            <a:r>
              <a:rPr spc="-44" dirty="0"/>
              <a:t> </a:t>
            </a:r>
            <a:r>
              <a:rPr dirty="0"/>
              <a:t>translation</a:t>
            </a:r>
            <a:r>
              <a:rPr spc="-35" dirty="0"/>
              <a:t> </a:t>
            </a:r>
            <a:r>
              <a:rPr dirty="0"/>
              <a:t>overlap</a:t>
            </a:r>
            <a:r>
              <a:rPr spc="-35" dirty="0"/>
              <a:t> </a:t>
            </a:r>
            <a:r>
              <a:rPr dirty="0"/>
              <a:t>cache</a:t>
            </a:r>
            <a:r>
              <a:rPr spc="-44" dirty="0"/>
              <a:t> </a:t>
            </a:r>
            <a:r>
              <a:rPr spc="-9" dirty="0"/>
              <a:t>indexing?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0" y="1249278"/>
            <a:ext cx="7351378" cy="1241894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>
              <a:spcBef>
                <a:spcPts val="644"/>
              </a:spcBef>
              <a:buChar char="•"/>
              <a:tabLst>
                <a:tab pos="278481" algn="l"/>
              </a:tabLst>
            </a:pPr>
            <a:r>
              <a:rPr sz="2400" spc="-9" dirty="0">
                <a:latin typeface="Calibri"/>
                <a:cs typeface="Calibri"/>
              </a:rPr>
              <a:t>Rationale:</a:t>
            </a:r>
            <a:endParaRPr sz="2400" dirty="0">
              <a:latin typeface="Calibri"/>
              <a:cs typeface="Calibri"/>
            </a:endParaRPr>
          </a:p>
          <a:p>
            <a:pPr marL="688975" indent="-250825">
              <a:spcBef>
                <a:spcPts val="424"/>
              </a:spcBef>
            </a:pPr>
            <a:r>
              <a:rPr sz="2400" dirty="0">
                <a:latin typeface="Calibri"/>
                <a:cs typeface="Calibri"/>
              </a:rPr>
              <a:t>–</a:t>
            </a:r>
            <a:r>
              <a:rPr sz="2400" spc="43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Improve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performance by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overlapping cache access</a:t>
            </a:r>
            <a:r>
              <a:rPr sz="2200" spc="-9" dirty="0">
                <a:latin typeface="Calibri"/>
                <a:cs typeface="Calibri"/>
              </a:rPr>
              <a:t> </a:t>
            </a:r>
            <a:br>
              <a:rPr lang="en-US" sz="2200" spc="-9" dirty="0">
                <a:latin typeface="Calibri"/>
                <a:cs typeface="Calibri"/>
              </a:rPr>
            </a:br>
            <a:r>
              <a:rPr sz="2200" dirty="0">
                <a:latin typeface="Calibri"/>
                <a:cs typeface="Calibri"/>
              </a:rPr>
              <a:t>and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TLB</a:t>
            </a:r>
            <a:r>
              <a:rPr sz="2200" spc="-9" dirty="0">
                <a:latin typeface="Calibri"/>
                <a:cs typeface="Calibri"/>
              </a:rPr>
              <a:t> lookup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D358E9A1-7A4F-C293-2ACA-B57C4D103ED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33</a:t>
            </a:fld>
            <a:endParaRPr spc="-22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8451" y="429099"/>
            <a:ext cx="6819339" cy="70381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3521"/>
              </a:lnSpc>
              <a:spcBef>
                <a:spcPts val="88"/>
              </a:spcBef>
            </a:pPr>
            <a:r>
              <a:rPr dirty="0"/>
              <a:t>Can</a:t>
            </a:r>
            <a:r>
              <a:rPr spc="-35" dirty="0"/>
              <a:t> </a:t>
            </a:r>
            <a:r>
              <a:rPr dirty="0"/>
              <a:t>TLB</a:t>
            </a:r>
            <a:r>
              <a:rPr spc="-44" dirty="0"/>
              <a:t> </a:t>
            </a:r>
            <a:r>
              <a:rPr dirty="0"/>
              <a:t>translation</a:t>
            </a:r>
            <a:r>
              <a:rPr spc="-35" dirty="0"/>
              <a:t> </a:t>
            </a:r>
            <a:r>
              <a:rPr dirty="0"/>
              <a:t>overlap</a:t>
            </a:r>
            <a:r>
              <a:rPr spc="-35" dirty="0"/>
              <a:t> </a:t>
            </a:r>
            <a:r>
              <a:rPr dirty="0"/>
              <a:t>cache</a:t>
            </a:r>
            <a:r>
              <a:rPr spc="-44" dirty="0"/>
              <a:t> </a:t>
            </a:r>
            <a:r>
              <a:rPr spc="-9" dirty="0"/>
              <a:t>indexing?</a:t>
            </a:r>
          </a:p>
          <a:p>
            <a:pPr marL="11206">
              <a:lnSpc>
                <a:spcPts val="1932"/>
              </a:lnSpc>
            </a:pPr>
            <a:r>
              <a:rPr sz="1677" dirty="0"/>
              <a:t>{Maybe if</a:t>
            </a:r>
            <a:r>
              <a:rPr sz="1677" spc="-4" dirty="0"/>
              <a:t> </a:t>
            </a:r>
            <a:r>
              <a:rPr sz="1677" dirty="0"/>
              <a:t>cache</a:t>
            </a:r>
            <a:r>
              <a:rPr sz="1677" spc="4" dirty="0"/>
              <a:t> </a:t>
            </a:r>
            <a:r>
              <a:rPr sz="1677" dirty="0"/>
              <a:t>is</a:t>
            </a:r>
            <a:r>
              <a:rPr sz="1677" spc="-9" dirty="0"/>
              <a:t> tiny.}</a:t>
            </a:r>
            <a:endParaRPr sz="1677" dirty="0"/>
          </a:p>
        </p:txBody>
      </p:sp>
      <p:grpSp>
        <p:nvGrpSpPr>
          <p:cNvPr id="4" name="object 4"/>
          <p:cNvGrpSpPr/>
          <p:nvPr/>
        </p:nvGrpSpPr>
        <p:grpSpPr>
          <a:xfrm>
            <a:off x="6122285" y="2084742"/>
            <a:ext cx="2662518" cy="2154331"/>
            <a:chOff x="6786190" y="2362707"/>
            <a:chExt cx="3017520" cy="2441575"/>
          </a:xfrm>
        </p:grpSpPr>
        <p:sp>
          <p:nvSpPr>
            <p:cNvPr id="5" name="object 5"/>
            <p:cNvSpPr/>
            <p:nvPr/>
          </p:nvSpPr>
          <p:spPr>
            <a:xfrm>
              <a:off x="6786181" y="2403944"/>
              <a:ext cx="2904490" cy="351155"/>
            </a:xfrm>
            <a:custGeom>
              <a:avLst/>
              <a:gdLst/>
              <a:ahLst/>
              <a:cxnLst/>
              <a:rect l="l" t="t" r="r" b="b"/>
              <a:pathLst>
                <a:path w="2904490" h="351155">
                  <a:moveTo>
                    <a:pt x="2904058" y="310235"/>
                  </a:moveTo>
                  <a:lnTo>
                    <a:pt x="2877108" y="296748"/>
                  </a:lnTo>
                  <a:lnTo>
                    <a:pt x="2823210" y="269798"/>
                  </a:lnTo>
                  <a:lnTo>
                    <a:pt x="2841167" y="296748"/>
                  </a:lnTo>
                  <a:lnTo>
                    <a:pt x="58064" y="296748"/>
                  </a:lnTo>
                  <a:lnTo>
                    <a:pt x="67525" y="276821"/>
                  </a:lnTo>
                  <a:lnTo>
                    <a:pt x="80848" y="248780"/>
                  </a:lnTo>
                  <a:lnTo>
                    <a:pt x="54444" y="267182"/>
                  </a:lnTo>
                  <a:lnTo>
                    <a:pt x="54444" y="276275"/>
                  </a:lnTo>
                  <a:lnTo>
                    <a:pt x="27495" y="276821"/>
                  </a:lnTo>
                  <a:lnTo>
                    <a:pt x="40944" y="276542"/>
                  </a:lnTo>
                  <a:lnTo>
                    <a:pt x="54444" y="276275"/>
                  </a:lnTo>
                  <a:lnTo>
                    <a:pt x="54444" y="267182"/>
                  </a:lnTo>
                  <a:lnTo>
                    <a:pt x="54267" y="267296"/>
                  </a:lnTo>
                  <a:lnTo>
                    <a:pt x="48818" y="546"/>
                  </a:lnTo>
                  <a:lnTo>
                    <a:pt x="48806" y="0"/>
                  </a:lnTo>
                  <a:lnTo>
                    <a:pt x="21856" y="546"/>
                  </a:lnTo>
                  <a:lnTo>
                    <a:pt x="27305" y="267296"/>
                  </a:lnTo>
                  <a:lnTo>
                    <a:pt x="27317" y="267843"/>
                  </a:lnTo>
                  <a:lnTo>
                    <a:pt x="0" y="250431"/>
                  </a:lnTo>
                  <a:lnTo>
                    <a:pt x="24345" y="296748"/>
                  </a:lnTo>
                  <a:lnTo>
                    <a:pt x="8382" y="296748"/>
                  </a:lnTo>
                  <a:lnTo>
                    <a:pt x="8382" y="323710"/>
                  </a:lnTo>
                  <a:lnTo>
                    <a:pt x="38531" y="323710"/>
                  </a:lnTo>
                  <a:lnTo>
                    <a:pt x="42075" y="330441"/>
                  </a:lnTo>
                  <a:lnTo>
                    <a:pt x="45262" y="323710"/>
                  </a:lnTo>
                  <a:lnTo>
                    <a:pt x="2841167" y="323710"/>
                  </a:lnTo>
                  <a:lnTo>
                    <a:pt x="2823210" y="350659"/>
                  </a:lnTo>
                  <a:lnTo>
                    <a:pt x="2877108" y="323710"/>
                  </a:lnTo>
                  <a:lnTo>
                    <a:pt x="2904058" y="310235"/>
                  </a:lnTo>
                  <a:close/>
                </a:path>
              </a:pathLst>
            </a:custGeom>
            <a:solidFill>
              <a:srgbClr val="053DE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38792" y="2725419"/>
              <a:ext cx="164592" cy="199948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678457" y="2727642"/>
              <a:ext cx="0" cy="1846580"/>
            </a:xfrm>
            <a:custGeom>
              <a:avLst/>
              <a:gdLst/>
              <a:ahLst/>
              <a:cxnLst/>
              <a:rect l="l" t="t" r="r" b="b"/>
              <a:pathLst>
                <a:path h="1846579">
                  <a:moveTo>
                    <a:pt x="0" y="0"/>
                  </a:moveTo>
                  <a:lnTo>
                    <a:pt x="1" y="1846227"/>
                  </a:lnTo>
                </a:path>
              </a:pathLst>
            </a:custGeom>
            <a:ln w="26952">
              <a:solidFill>
                <a:srgbClr val="053DE8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76080" y="4505451"/>
              <a:ext cx="527303" cy="29870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381986" y="4546918"/>
              <a:ext cx="310515" cy="81280"/>
            </a:xfrm>
            <a:custGeom>
              <a:avLst/>
              <a:gdLst/>
              <a:ahLst/>
              <a:cxnLst/>
              <a:rect l="l" t="t" r="r" b="b"/>
              <a:pathLst>
                <a:path w="310515" h="81279">
                  <a:moveTo>
                    <a:pt x="80855" y="0"/>
                  </a:moveTo>
                  <a:lnTo>
                    <a:pt x="0" y="40428"/>
                  </a:lnTo>
                  <a:lnTo>
                    <a:pt x="80855" y="80855"/>
                  </a:lnTo>
                  <a:lnTo>
                    <a:pt x="62886" y="53903"/>
                  </a:lnTo>
                  <a:lnTo>
                    <a:pt x="53903" y="53903"/>
                  </a:lnTo>
                  <a:lnTo>
                    <a:pt x="53901" y="26951"/>
                  </a:lnTo>
                  <a:lnTo>
                    <a:pt x="62886" y="26951"/>
                  </a:lnTo>
                  <a:lnTo>
                    <a:pt x="80855" y="0"/>
                  </a:lnTo>
                  <a:close/>
                </a:path>
                <a:path w="310515" h="81279">
                  <a:moveTo>
                    <a:pt x="53902" y="40428"/>
                  </a:moveTo>
                  <a:lnTo>
                    <a:pt x="53903" y="53903"/>
                  </a:lnTo>
                  <a:lnTo>
                    <a:pt x="62886" y="53903"/>
                  </a:lnTo>
                  <a:lnTo>
                    <a:pt x="53902" y="40428"/>
                  </a:lnTo>
                  <a:close/>
                </a:path>
                <a:path w="310515" h="81279">
                  <a:moveTo>
                    <a:pt x="309949" y="26951"/>
                  </a:moveTo>
                  <a:lnTo>
                    <a:pt x="62886" y="26951"/>
                  </a:lnTo>
                  <a:lnTo>
                    <a:pt x="53902" y="40428"/>
                  </a:lnTo>
                  <a:lnTo>
                    <a:pt x="62886" y="53903"/>
                  </a:lnTo>
                  <a:lnTo>
                    <a:pt x="309949" y="53903"/>
                  </a:lnTo>
                  <a:lnTo>
                    <a:pt x="309949" y="26951"/>
                  </a:lnTo>
                  <a:close/>
                </a:path>
                <a:path w="310515" h="81279">
                  <a:moveTo>
                    <a:pt x="62886" y="26951"/>
                  </a:moveTo>
                  <a:lnTo>
                    <a:pt x="53901" y="26951"/>
                  </a:lnTo>
                  <a:lnTo>
                    <a:pt x="53902" y="40428"/>
                  </a:lnTo>
                  <a:lnTo>
                    <a:pt x="62886" y="26951"/>
                  </a:lnTo>
                  <a:close/>
                </a:path>
              </a:pathLst>
            </a:custGeom>
            <a:solidFill>
              <a:srgbClr val="053DE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69400" y="2362707"/>
              <a:ext cx="298703" cy="116128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233747" y="2363787"/>
              <a:ext cx="81280" cy="943610"/>
            </a:xfrm>
            <a:custGeom>
              <a:avLst/>
              <a:gdLst/>
              <a:ahLst/>
              <a:cxnLst/>
              <a:rect l="l" t="t" r="r" b="b"/>
              <a:pathLst>
                <a:path w="81279" h="943610">
                  <a:moveTo>
                    <a:pt x="0" y="862470"/>
                  </a:moveTo>
                  <a:lnTo>
                    <a:pt x="40429" y="943328"/>
                  </a:lnTo>
                  <a:lnTo>
                    <a:pt x="67380" y="889424"/>
                  </a:lnTo>
                  <a:lnTo>
                    <a:pt x="26953" y="889424"/>
                  </a:lnTo>
                  <a:lnTo>
                    <a:pt x="26953" y="880439"/>
                  </a:lnTo>
                  <a:lnTo>
                    <a:pt x="0" y="862470"/>
                  </a:lnTo>
                  <a:close/>
                </a:path>
                <a:path w="81279" h="943610">
                  <a:moveTo>
                    <a:pt x="26953" y="880439"/>
                  </a:moveTo>
                  <a:lnTo>
                    <a:pt x="26953" y="889424"/>
                  </a:lnTo>
                  <a:lnTo>
                    <a:pt x="40431" y="889424"/>
                  </a:lnTo>
                  <a:lnTo>
                    <a:pt x="26953" y="880439"/>
                  </a:lnTo>
                  <a:close/>
                </a:path>
                <a:path w="81279" h="943610">
                  <a:moveTo>
                    <a:pt x="53903" y="0"/>
                  </a:moveTo>
                  <a:lnTo>
                    <a:pt x="26951" y="0"/>
                  </a:lnTo>
                  <a:lnTo>
                    <a:pt x="26953" y="880439"/>
                  </a:lnTo>
                  <a:lnTo>
                    <a:pt x="40431" y="889424"/>
                  </a:lnTo>
                  <a:lnTo>
                    <a:pt x="53904" y="880439"/>
                  </a:lnTo>
                  <a:lnTo>
                    <a:pt x="53903" y="0"/>
                  </a:lnTo>
                  <a:close/>
                </a:path>
                <a:path w="81279" h="943610">
                  <a:moveTo>
                    <a:pt x="53905" y="880439"/>
                  </a:moveTo>
                  <a:lnTo>
                    <a:pt x="40427" y="889424"/>
                  </a:lnTo>
                  <a:lnTo>
                    <a:pt x="53905" y="889424"/>
                  </a:lnTo>
                  <a:lnTo>
                    <a:pt x="53905" y="880439"/>
                  </a:lnTo>
                  <a:close/>
                </a:path>
                <a:path w="81279" h="943610">
                  <a:moveTo>
                    <a:pt x="80857" y="862470"/>
                  </a:moveTo>
                  <a:lnTo>
                    <a:pt x="53905" y="880439"/>
                  </a:lnTo>
                  <a:lnTo>
                    <a:pt x="53905" y="889424"/>
                  </a:lnTo>
                  <a:lnTo>
                    <a:pt x="67380" y="889424"/>
                  </a:lnTo>
                  <a:lnTo>
                    <a:pt x="80857" y="8624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711439" y="5997731"/>
            <a:ext cx="266700" cy="479051"/>
            <a:chOff x="8587231" y="6797428"/>
            <a:chExt cx="302260" cy="54292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87231" y="6797548"/>
              <a:ext cx="301751" cy="54254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654273" y="6797428"/>
              <a:ext cx="81280" cy="323850"/>
            </a:xfrm>
            <a:custGeom>
              <a:avLst/>
              <a:gdLst/>
              <a:ahLst/>
              <a:cxnLst/>
              <a:rect l="l" t="t" r="r" b="b"/>
              <a:pathLst>
                <a:path w="81279" h="323850">
                  <a:moveTo>
                    <a:pt x="0" y="242570"/>
                  </a:moveTo>
                  <a:lnTo>
                    <a:pt x="40429" y="323426"/>
                  </a:lnTo>
                  <a:lnTo>
                    <a:pt x="67381" y="269522"/>
                  </a:lnTo>
                  <a:lnTo>
                    <a:pt x="26953" y="269522"/>
                  </a:lnTo>
                  <a:lnTo>
                    <a:pt x="26953" y="260538"/>
                  </a:lnTo>
                  <a:lnTo>
                    <a:pt x="0" y="242570"/>
                  </a:lnTo>
                  <a:close/>
                </a:path>
                <a:path w="81279" h="323850">
                  <a:moveTo>
                    <a:pt x="26953" y="260538"/>
                  </a:moveTo>
                  <a:lnTo>
                    <a:pt x="26953" y="269522"/>
                  </a:lnTo>
                  <a:lnTo>
                    <a:pt x="40429" y="269522"/>
                  </a:lnTo>
                  <a:lnTo>
                    <a:pt x="26953" y="260538"/>
                  </a:lnTo>
                  <a:close/>
                </a:path>
                <a:path w="81279" h="323850">
                  <a:moveTo>
                    <a:pt x="53903" y="0"/>
                  </a:moveTo>
                  <a:lnTo>
                    <a:pt x="26951" y="0"/>
                  </a:lnTo>
                  <a:lnTo>
                    <a:pt x="26953" y="260538"/>
                  </a:lnTo>
                  <a:lnTo>
                    <a:pt x="40429" y="269522"/>
                  </a:lnTo>
                  <a:lnTo>
                    <a:pt x="53904" y="260538"/>
                  </a:lnTo>
                  <a:lnTo>
                    <a:pt x="53903" y="0"/>
                  </a:lnTo>
                  <a:close/>
                </a:path>
                <a:path w="81279" h="323850">
                  <a:moveTo>
                    <a:pt x="53905" y="260538"/>
                  </a:moveTo>
                  <a:lnTo>
                    <a:pt x="40428" y="269522"/>
                  </a:lnTo>
                  <a:lnTo>
                    <a:pt x="53905" y="269522"/>
                  </a:lnTo>
                  <a:lnTo>
                    <a:pt x="53905" y="260538"/>
                  </a:lnTo>
                  <a:close/>
                </a:path>
                <a:path w="81279" h="323850">
                  <a:moveTo>
                    <a:pt x="80856" y="242570"/>
                  </a:moveTo>
                  <a:lnTo>
                    <a:pt x="53905" y="260538"/>
                  </a:lnTo>
                  <a:lnTo>
                    <a:pt x="53905" y="269522"/>
                  </a:lnTo>
                  <a:lnTo>
                    <a:pt x="67381" y="269522"/>
                  </a:lnTo>
                  <a:lnTo>
                    <a:pt x="80856" y="2425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897313" y="6258710"/>
            <a:ext cx="988359" cy="3237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030" b="1" dirty="0">
                <a:latin typeface="Times New Roman"/>
                <a:cs typeface="Times New Roman"/>
              </a:rPr>
              <a:t>Data</a:t>
            </a:r>
            <a:r>
              <a:rPr sz="2030" b="1" spc="35" dirty="0">
                <a:latin typeface="Times New Roman"/>
                <a:cs typeface="Times New Roman"/>
              </a:rPr>
              <a:t> </a:t>
            </a:r>
            <a:r>
              <a:rPr sz="2030" b="1" spc="-22" dirty="0">
                <a:latin typeface="Times New Roman"/>
                <a:cs typeface="Times New Roman"/>
              </a:rPr>
              <a:t>out</a:t>
            </a:r>
            <a:endParaRPr sz="203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999458" y="1587772"/>
            <a:ext cx="71718" cy="582706"/>
          </a:xfrm>
          <a:custGeom>
            <a:avLst/>
            <a:gdLst/>
            <a:ahLst/>
            <a:cxnLst/>
            <a:rect l="l" t="t" r="r" b="b"/>
            <a:pathLst>
              <a:path w="81279" h="660400">
                <a:moveTo>
                  <a:pt x="0" y="579473"/>
                </a:moveTo>
                <a:lnTo>
                  <a:pt x="40429" y="660330"/>
                </a:lnTo>
                <a:lnTo>
                  <a:pt x="67381" y="606425"/>
                </a:lnTo>
                <a:lnTo>
                  <a:pt x="26951" y="606425"/>
                </a:lnTo>
                <a:lnTo>
                  <a:pt x="26951" y="597441"/>
                </a:lnTo>
                <a:lnTo>
                  <a:pt x="0" y="579473"/>
                </a:lnTo>
                <a:close/>
              </a:path>
              <a:path w="81279" h="660400">
                <a:moveTo>
                  <a:pt x="26951" y="597441"/>
                </a:moveTo>
                <a:lnTo>
                  <a:pt x="26951" y="606425"/>
                </a:lnTo>
                <a:lnTo>
                  <a:pt x="40427" y="606425"/>
                </a:lnTo>
                <a:lnTo>
                  <a:pt x="26951" y="597441"/>
                </a:lnTo>
                <a:close/>
              </a:path>
              <a:path w="81279" h="660400">
                <a:moveTo>
                  <a:pt x="53903" y="0"/>
                </a:moveTo>
                <a:lnTo>
                  <a:pt x="26951" y="0"/>
                </a:lnTo>
                <a:lnTo>
                  <a:pt x="26951" y="597441"/>
                </a:lnTo>
                <a:lnTo>
                  <a:pt x="40427" y="606425"/>
                </a:lnTo>
                <a:lnTo>
                  <a:pt x="53904" y="597441"/>
                </a:lnTo>
                <a:lnTo>
                  <a:pt x="53903" y="0"/>
                </a:lnTo>
                <a:close/>
              </a:path>
              <a:path w="81279" h="660400">
                <a:moveTo>
                  <a:pt x="53905" y="597441"/>
                </a:moveTo>
                <a:lnTo>
                  <a:pt x="40427" y="606425"/>
                </a:lnTo>
                <a:lnTo>
                  <a:pt x="53905" y="606425"/>
                </a:lnTo>
                <a:lnTo>
                  <a:pt x="53905" y="597441"/>
                </a:lnTo>
                <a:close/>
              </a:path>
              <a:path w="81279" h="660400">
                <a:moveTo>
                  <a:pt x="80857" y="579473"/>
                </a:moveTo>
                <a:lnTo>
                  <a:pt x="53905" y="597441"/>
                </a:lnTo>
                <a:lnTo>
                  <a:pt x="53905" y="606425"/>
                </a:lnTo>
                <a:lnTo>
                  <a:pt x="67381" y="606425"/>
                </a:lnTo>
                <a:lnTo>
                  <a:pt x="80857" y="5794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17" name="object 17"/>
          <p:cNvSpPr txBox="1"/>
          <p:nvPr/>
        </p:nvSpPr>
        <p:spPr>
          <a:xfrm>
            <a:off x="2115087" y="2194197"/>
            <a:ext cx="1938618" cy="1419619"/>
          </a:xfrm>
          <a:prstGeom prst="rect">
            <a:avLst/>
          </a:prstGeom>
          <a:ln w="2695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R="5603" algn="ctr">
              <a:lnSpc>
                <a:spcPts val="1191"/>
              </a:lnSpc>
            </a:pPr>
            <a:r>
              <a:rPr sz="1235" b="1" spc="-9" dirty="0">
                <a:latin typeface="Times New Roman"/>
                <a:cs typeface="Times New Roman"/>
              </a:rPr>
              <a:t>Virtual</a:t>
            </a:r>
            <a:endParaRPr sz="1235">
              <a:latin typeface="Times New Roman"/>
              <a:cs typeface="Times New Roman"/>
            </a:endParaRPr>
          </a:p>
          <a:p>
            <a:pPr marL="340117" marR="299213" indent="-1121" algn="ctr">
              <a:lnSpc>
                <a:spcPct val="83200"/>
              </a:lnSpc>
              <a:spcBef>
                <a:spcPts val="287"/>
              </a:spcBef>
            </a:pPr>
            <a:r>
              <a:rPr sz="2030" b="1" spc="-9" dirty="0">
                <a:solidFill>
                  <a:srgbClr val="053DE8"/>
                </a:solidFill>
                <a:latin typeface="Times New Roman"/>
                <a:cs typeface="Times New Roman"/>
              </a:rPr>
              <a:t>Translation </a:t>
            </a:r>
            <a:r>
              <a:rPr sz="2030" b="1" dirty="0">
                <a:solidFill>
                  <a:srgbClr val="053DE8"/>
                </a:solidFill>
                <a:latin typeface="Times New Roman"/>
                <a:cs typeface="Times New Roman"/>
              </a:rPr>
              <a:t>Look-</a:t>
            </a:r>
            <a:r>
              <a:rPr sz="2030" b="1" spc="-18" dirty="0">
                <a:solidFill>
                  <a:srgbClr val="053DE8"/>
                </a:solidFill>
                <a:latin typeface="Times New Roman"/>
                <a:cs typeface="Times New Roman"/>
              </a:rPr>
              <a:t>Aside </a:t>
            </a:r>
            <a:r>
              <a:rPr sz="2030" b="1" spc="-9" dirty="0">
                <a:solidFill>
                  <a:srgbClr val="053DE8"/>
                </a:solidFill>
                <a:latin typeface="Times New Roman"/>
                <a:cs typeface="Times New Roman"/>
              </a:rPr>
              <a:t>Buffer (TLB)</a:t>
            </a:r>
            <a:endParaRPr sz="2030">
              <a:latin typeface="Times New Roman"/>
              <a:cs typeface="Times New Roman"/>
            </a:endParaRPr>
          </a:p>
          <a:p>
            <a:pPr marR="4483" algn="ctr">
              <a:spcBef>
                <a:spcPts val="9"/>
              </a:spcBef>
            </a:pPr>
            <a:r>
              <a:rPr sz="1235" b="1" spc="-9" dirty="0">
                <a:latin typeface="Times New Roman"/>
                <a:cs typeface="Times New Roman"/>
              </a:rPr>
              <a:t>Physical</a:t>
            </a:r>
            <a:endParaRPr sz="1235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632455" y="3882018"/>
            <a:ext cx="787774" cy="357468"/>
            <a:chOff x="5097716" y="4399621"/>
            <a:chExt cx="892810" cy="40513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63031" y="4505451"/>
              <a:ext cx="527303" cy="29870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568243" y="4546918"/>
              <a:ext cx="310515" cy="81280"/>
            </a:xfrm>
            <a:custGeom>
              <a:avLst/>
              <a:gdLst/>
              <a:ahLst/>
              <a:cxnLst/>
              <a:rect l="l" t="t" r="r" b="b"/>
              <a:pathLst>
                <a:path w="310514" h="81279">
                  <a:moveTo>
                    <a:pt x="80857" y="0"/>
                  </a:moveTo>
                  <a:lnTo>
                    <a:pt x="0" y="40427"/>
                  </a:lnTo>
                  <a:lnTo>
                    <a:pt x="80857" y="80855"/>
                  </a:lnTo>
                  <a:lnTo>
                    <a:pt x="62889" y="53903"/>
                  </a:lnTo>
                  <a:lnTo>
                    <a:pt x="53905" y="53903"/>
                  </a:lnTo>
                  <a:lnTo>
                    <a:pt x="53905" y="26951"/>
                  </a:lnTo>
                  <a:lnTo>
                    <a:pt x="62889" y="26951"/>
                  </a:lnTo>
                  <a:lnTo>
                    <a:pt x="80857" y="0"/>
                  </a:lnTo>
                  <a:close/>
                </a:path>
                <a:path w="310514" h="81279">
                  <a:moveTo>
                    <a:pt x="53905" y="40427"/>
                  </a:moveTo>
                  <a:lnTo>
                    <a:pt x="53905" y="53903"/>
                  </a:lnTo>
                  <a:lnTo>
                    <a:pt x="62889" y="53903"/>
                  </a:lnTo>
                  <a:lnTo>
                    <a:pt x="53905" y="40427"/>
                  </a:lnTo>
                  <a:close/>
                </a:path>
                <a:path w="310514" h="81279">
                  <a:moveTo>
                    <a:pt x="309951" y="26951"/>
                  </a:moveTo>
                  <a:lnTo>
                    <a:pt x="62889" y="26951"/>
                  </a:lnTo>
                  <a:lnTo>
                    <a:pt x="53905" y="40427"/>
                  </a:lnTo>
                  <a:lnTo>
                    <a:pt x="62889" y="53903"/>
                  </a:lnTo>
                  <a:lnTo>
                    <a:pt x="309951" y="53903"/>
                  </a:lnTo>
                  <a:lnTo>
                    <a:pt x="309951" y="26951"/>
                  </a:lnTo>
                  <a:close/>
                </a:path>
                <a:path w="310514" h="81279">
                  <a:moveTo>
                    <a:pt x="62889" y="26951"/>
                  </a:moveTo>
                  <a:lnTo>
                    <a:pt x="53905" y="26951"/>
                  </a:lnTo>
                  <a:lnTo>
                    <a:pt x="53905" y="40427"/>
                  </a:lnTo>
                  <a:lnTo>
                    <a:pt x="62889" y="269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5111368" y="4413273"/>
              <a:ext cx="440690" cy="375285"/>
            </a:xfrm>
            <a:custGeom>
              <a:avLst/>
              <a:gdLst/>
              <a:ahLst/>
              <a:cxnLst/>
              <a:rect l="l" t="t" r="r" b="b"/>
              <a:pathLst>
                <a:path w="440689" h="375285">
                  <a:moveTo>
                    <a:pt x="376849" y="54130"/>
                  </a:moveTo>
                  <a:lnTo>
                    <a:pt x="408626" y="88243"/>
                  </a:lnTo>
                  <a:lnTo>
                    <a:pt x="429811" y="126362"/>
                  </a:lnTo>
                  <a:lnTo>
                    <a:pt x="440403" y="166885"/>
                  </a:lnTo>
                  <a:lnTo>
                    <a:pt x="440403" y="208210"/>
                  </a:lnTo>
                  <a:lnTo>
                    <a:pt x="429811" y="248733"/>
                  </a:lnTo>
                  <a:lnTo>
                    <a:pt x="408626" y="286853"/>
                  </a:lnTo>
                  <a:lnTo>
                    <a:pt x="376849" y="320966"/>
                  </a:lnTo>
                  <a:lnTo>
                    <a:pt x="336796" y="348031"/>
                  </a:lnTo>
                  <a:lnTo>
                    <a:pt x="292040" y="366074"/>
                  </a:lnTo>
                  <a:lnTo>
                    <a:pt x="244461" y="375096"/>
                  </a:lnTo>
                  <a:lnTo>
                    <a:pt x="195942" y="375096"/>
                  </a:lnTo>
                  <a:lnTo>
                    <a:pt x="148363" y="366074"/>
                  </a:lnTo>
                  <a:lnTo>
                    <a:pt x="103607" y="348031"/>
                  </a:lnTo>
                  <a:lnTo>
                    <a:pt x="63554" y="320966"/>
                  </a:lnTo>
                  <a:lnTo>
                    <a:pt x="31777" y="286853"/>
                  </a:lnTo>
                  <a:lnTo>
                    <a:pt x="10592" y="248733"/>
                  </a:lnTo>
                  <a:lnTo>
                    <a:pt x="0" y="208210"/>
                  </a:lnTo>
                  <a:lnTo>
                    <a:pt x="0" y="166885"/>
                  </a:lnTo>
                  <a:lnTo>
                    <a:pt x="10592" y="126362"/>
                  </a:lnTo>
                  <a:lnTo>
                    <a:pt x="31777" y="88243"/>
                  </a:lnTo>
                  <a:lnTo>
                    <a:pt x="63554" y="54130"/>
                  </a:lnTo>
                  <a:lnTo>
                    <a:pt x="103607" y="27065"/>
                  </a:lnTo>
                  <a:lnTo>
                    <a:pt x="148363" y="9021"/>
                  </a:lnTo>
                  <a:lnTo>
                    <a:pt x="195942" y="0"/>
                  </a:lnTo>
                  <a:lnTo>
                    <a:pt x="244461" y="0"/>
                  </a:lnTo>
                  <a:lnTo>
                    <a:pt x="292040" y="9021"/>
                  </a:lnTo>
                  <a:lnTo>
                    <a:pt x="336796" y="27065"/>
                  </a:lnTo>
                  <a:lnTo>
                    <a:pt x="376849" y="54130"/>
                  </a:lnTo>
                  <a:close/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781514" y="3870511"/>
            <a:ext cx="13110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spc="-44" dirty="0">
                <a:latin typeface="Times New Roman"/>
                <a:cs typeface="Times New Roman"/>
              </a:rPr>
              <a:t>=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26192" y="4522694"/>
            <a:ext cx="335056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b="1" spc="-22" dirty="0">
                <a:solidFill>
                  <a:srgbClr val="053DE8"/>
                </a:solidFill>
                <a:latin typeface="Times New Roman"/>
                <a:cs typeface="Times New Roman"/>
              </a:rPr>
              <a:t>Hit</a:t>
            </a:r>
            <a:endParaRPr sz="1765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039931" y="3744294"/>
            <a:ext cx="1976718" cy="970990"/>
            <a:chOff x="3292855" y="4243533"/>
            <a:chExt cx="2240280" cy="1100455"/>
          </a:xfrm>
        </p:grpSpPr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34432" y="4801108"/>
              <a:ext cx="298703" cy="54254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298723" y="4802963"/>
              <a:ext cx="81280" cy="323850"/>
            </a:xfrm>
            <a:custGeom>
              <a:avLst/>
              <a:gdLst/>
              <a:ahLst/>
              <a:cxnLst/>
              <a:rect l="l" t="t" r="r" b="b"/>
              <a:pathLst>
                <a:path w="81279" h="323850">
                  <a:moveTo>
                    <a:pt x="0" y="242569"/>
                  </a:moveTo>
                  <a:lnTo>
                    <a:pt x="40427" y="323427"/>
                  </a:lnTo>
                  <a:lnTo>
                    <a:pt x="67380" y="269521"/>
                  </a:lnTo>
                  <a:lnTo>
                    <a:pt x="26951" y="269521"/>
                  </a:lnTo>
                  <a:lnTo>
                    <a:pt x="26951" y="260537"/>
                  </a:lnTo>
                  <a:lnTo>
                    <a:pt x="0" y="242569"/>
                  </a:lnTo>
                  <a:close/>
                </a:path>
                <a:path w="81279" h="323850">
                  <a:moveTo>
                    <a:pt x="26951" y="260537"/>
                  </a:moveTo>
                  <a:lnTo>
                    <a:pt x="26951" y="269521"/>
                  </a:lnTo>
                  <a:lnTo>
                    <a:pt x="40427" y="269521"/>
                  </a:lnTo>
                  <a:lnTo>
                    <a:pt x="26951" y="260537"/>
                  </a:lnTo>
                  <a:close/>
                </a:path>
                <a:path w="81279" h="323850">
                  <a:moveTo>
                    <a:pt x="53902" y="0"/>
                  </a:moveTo>
                  <a:lnTo>
                    <a:pt x="26950" y="0"/>
                  </a:lnTo>
                  <a:lnTo>
                    <a:pt x="26951" y="260537"/>
                  </a:lnTo>
                  <a:lnTo>
                    <a:pt x="40427" y="269521"/>
                  </a:lnTo>
                  <a:lnTo>
                    <a:pt x="53903" y="260537"/>
                  </a:lnTo>
                  <a:lnTo>
                    <a:pt x="53902" y="0"/>
                  </a:lnTo>
                  <a:close/>
                </a:path>
                <a:path w="81279" h="323850">
                  <a:moveTo>
                    <a:pt x="53903" y="260537"/>
                  </a:moveTo>
                  <a:lnTo>
                    <a:pt x="40427" y="269521"/>
                  </a:lnTo>
                  <a:lnTo>
                    <a:pt x="53903" y="269521"/>
                  </a:lnTo>
                  <a:lnTo>
                    <a:pt x="53903" y="260537"/>
                  </a:lnTo>
                  <a:close/>
                </a:path>
                <a:path w="81279" h="323850">
                  <a:moveTo>
                    <a:pt x="80855" y="242569"/>
                  </a:moveTo>
                  <a:lnTo>
                    <a:pt x="53903" y="260537"/>
                  </a:lnTo>
                  <a:lnTo>
                    <a:pt x="53903" y="269521"/>
                  </a:lnTo>
                  <a:lnTo>
                    <a:pt x="67380" y="269521"/>
                  </a:lnTo>
                  <a:lnTo>
                    <a:pt x="80855" y="242569"/>
                  </a:lnTo>
                  <a:close/>
                </a:path>
              </a:pathLst>
            </a:custGeom>
            <a:solidFill>
              <a:srgbClr val="053DE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3303234" y="4243533"/>
              <a:ext cx="81280" cy="398145"/>
            </a:xfrm>
            <a:custGeom>
              <a:avLst/>
              <a:gdLst/>
              <a:ahLst/>
              <a:cxnLst/>
              <a:rect l="l" t="t" r="r" b="b"/>
              <a:pathLst>
                <a:path w="81279" h="398145">
                  <a:moveTo>
                    <a:pt x="0" y="317380"/>
                  </a:moveTo>
                  <a:lnTo>
                    <a:pt x="41452" y="397717"/>
                  </a:lnTo>
                  <a:lnTo>
                    <a:pt x="67468" y="343988"/>
                  </a:lnTo>
                  <a:lnTo>
                    <a:pt x="27292" y="343988"/>
                  </a:lnTo>
                  <a:lnTo>
                    <a:pt x="27178" y="335004"/>
                  </a:lnTo>
                  <a:lnTo>
                    <a:pt x="0" y="317380"/>
                  </a:lnTo>
                  <a:close/>
                </a:path>
                <a:path w="81279" h="398145">
                  <a:moveTo>
                    <a:pt x="27178" y="335004"/>
                  </a:moveTo>
                  <a:lnTo>
                    <a:pt x="27292" y="343988"/>
                  </a:lnTo>
                  <a:lnTo>
                    <a:pt x="40766" y="343816"/>
                  </a:lnTo>
                  <a:lnTo>
                    <a:pt x="27178" y="335004"/>
                  </a:lnTo>
                  <a:close/>
                </a:path>
                <a:path w="81279" h="398145">
                  <a:moveTo>
                    <a:pt x="80849" y="316353"/>
                  </a:moveTo>
                  <a:lnTo>
                    <a:pt x="54128" y="334661"/>
                  </a:lnTo>
                  <a:lnTo>
                    <a:pt x="54242" y="343645"/>
                  </a:lnTo>
                  <a:lnTo>
                    <a:pt x="27292" y="343988"/>
                  </a:lnTo>
                  <a:lnTo>
                    <a:pt x="67468" y="343988"/>
                  </a:lnTo>
                  <a:lnTo>
                    <a:pt x="80849" y="316353"/>
                  </a:lnTo>
                  <a:close/>
                </a:path>
                <a:path w="81279" h="398145">
                  <a:moveTo>
                    <a:pt x="49874" y="0"/>
                  </a:moveTo>
                  <a:lnTo>
                    <a:pt x="22923" y="342"/>
                  </a:lnTo>
                  <a:lnTo>
                    <a:pt x="27173" y="334661"/>
                  </a:lnTo>
                  <a:lnTo>
                    <a:pt x="27178" y="335004"/>
                  </a:lnTo>
                  <a:lnTo>
                    <a:pt x="40767" y="343816"/>
                  </a:lnTo>
                  <a:lnTo>
                    <a:pt x="54128" y="334661"/>
                  </a:lnTo>
                  <a:lnTo>
                    <a:pt x="49878" y="342"/>
                  </a:lnTo>
                  <a:lnTo>
                    <a:pt x="49874" y="0"/>
                  </a:lnTo>
                  <a:close/>
                </a:path>
                <a:path w="81279" h="398145">
                  <a:moveTo>
                    <a:pt x="54128" y="334661"/>
                  </a:moveTo>
                  <a:lnTo>
                    <a:pt x="40766" y="343816"/>
                  </a:lnTo>
                  <a:lnTo>
                    <a:pt x="54242" y="343645"/>
                  </a:lnTo>
                  <a:lnTo>
                    <a:pt x="54128" y="3346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92855" y="4529836"/>
              <a:ext cx="1996439" cy="29870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331184" y="4570655"/>
              <a:ext cx="1764030" cy="81280"/>
            </a:xfrm>
            <a:custGeom>
              <a:avLst/>
              <a:gdLst/>
              <a:ahLst/>
              <a:cxnLst/>
              <a:rect l="l" t="t" r="r" b="b"/>
              <a:pathLst>
                <a:path w="1764029" h="81279">
                  <a:moveTo>
                    <a:pt x="1709806" y="40377"/>
                  </a:moveTo>
                  <a:lnTo>
                    <a:pt x="1682932" y="80857"/>
                  </a:lnTo>
                  <a:lnTo>
                    <a:pt x="1736649" y="53870"/>
                  </a:lnTo>
                  <a:lnTo>
                    <a:pt x="1709831" y="53870"/>
                  </a:lnTo>
                  <a:lnTo>
                    <a:pt x="1709806" y="40377"/>
                  </a:lnTo>
                  <a:close/>
                </a:path>
                <a:path w="1764029" h="81279">
                  <a:moveTo>
                    <a:pt x="1700797" y="26918"/>
                  </a:moveTo>
                  <a:lnTo>
                    <a:pt x="0" y="30167"/>
                  </a:lnTo>
                  <a:lnTo>
                    <a:pt x="50" y="57119"/>
                  </a:lnTo>
                  <a:lnTo>
                    <a:pt x="1700849" y="53870"/>
                  </a:lnTo>
                  <a:lnTo>
                    <a:pt x="1709807" y="40377"/>
                  </a:lnTo>
                  <a:lnTo>
                    <a:pt x="1700797" y="26918"/>
                  </a:lnTo>
                  <a:close/>
                </a:path>
                <a:path w="1764029" h="81279">
                  <a:moveTo>
                    <a:pt x="1736872" y="26918"/>
                  </a:moveTo>
                  <a:lnTo>
                    <a:pt x="1709780" y="26918"/>
                  </a:lnTo>
                  <a:lnTo>
                    <a:pt x="1709831" y="53870"/>
                  </a:lnTo>
                  <a:lnTo>
                    <a:pt x="1736649" y="53870"/>
                  </a:lnTo>
                  <a:lnTo>
                    <a:pt x="1763507" y="40377"/>
                  </a:lnTo>
                  <a:lnTo>
                    <a:pt x="1763919" y="40377"/>
                  </a:lnTo>
                  <a:lnTo>
                    <a:pt x="1736872" y="26918"/>
                  </a:lnTo>
                  <a:close/>
                </a:path>
                <a:path w="1764029" h="81279">
                  <a:moveTo>
                    <a:pt x="1682777" y="0"/>
                  </a:moveTo>
                  <a:lnTo>
                    <a:pt x="1709807" y="40377"/>
                  </a:lnTo>
                  <a:lnTo>
                    <a:pt x="1709780" y="26918"/>
                  </a:lnTo>
                  <a:lnTo>
                    <a:pt x="1736872" y="26918"/>
                  </a:lnTo>
                  <a:lnTo>
                    <a:pt x="16827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234983" y="3772349"/>
            <a:ext cx="1031501" cy="28292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765" b="1" dirty="0">
                <a:solidFill>
                  <a:srgbClr val="053DE8"/>
                </a:solidFill>
                <a:latin typeface="Times New Roman"/>
                <a:cs typeface="Times New Roman"/>
              </a:rPr>
              <a:t>Cache</a:t>
            </a:r>
            <a:r>
              <a:rPr sz="1765" b="1" spc="-22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1765" b="1" spc="-35" dirty="0">
                <a:solidFill>
                  <a:srgbClr val="053DE8"/>
                </a:solidFill>
                <a:latin typeface="Times New Roman"/>
                <a:cs typeface="Times New Roman"/>
              </a:rPr>
              <a:t>Tag</a:t>
            </a:r>
            <a:endParaRPr sz="1765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4036" y="4411805"/>
            <a:ext cx="3953435" cy="20008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R="1070219">
              <a:lnSpc>
                <a:spcPts val="2647"/>
              </a:lnSpc>
              <a:spcBef>
                <a:spcPts val="88"/>
              </a:spcBef>
              <a:spcAft>
                <a:spcPts val="1200"/>
              </a:spcAft>
            </a:pPr>
            <a:r>
              <a:rPr sz="2200" b="1" dirty="0">
                <a:latin typeface="Times New Roman"/>
                <a:cs typeface="Times New Roman"/>
              </a:rPr>
              <a:t>Having</a:t>
            </a:r>
            <a:r>
              <a:rPr sz="2200" b="1" spc="71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cache</a:t>
            </a:r>
            <a:r>
              <a:rPr sz="2200" b="1" spc="71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index</a:t>
            </a:r>
            <a:r>
              <a:rPr sz="2200" b="1" spc="75" dirty="0">
                <a:latin typeface="Times New Roman"/>
                <a:cs typeface="Times New Roman"/>
              </a:rPr>
              <a:t> </a:t>
            </a:r>
            <a:r>
              <a:rPr sz="2200" b="1" spc="-22" dirty="0">
                <a:latin typeface="Times New Roman"/>
                <a:cs typeface="Times New Roman"/>
              </a:rPr>
              <a:t>in </a:t>
            </a:r>
            <a:r>
              <a:rPr sz="2200" b="1" dirty="0">
                <a:latin typeface="Times New Roman"/>
                <a:cs typeface="Times New Roman"/>
              </a:rPr>
              <a:t>page</a:t>
            </a:r>
            <a:r>
              <a:rPr sz="2200" b="1" spc="62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offset</a:t>
            </a:r>
            <a:r>
              <a:rPr sz="2200" b="1" spc="53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works,</a:t>
            </a:r>
            <a:r>
              <a:rPr sz="2200" b="1" spc="53" dirty="0">
                <a:latin typeface="Times New Roman"/>
                <a:cs typeface="Times New Roman"/>
              </a:rPr>
              <a:t> </a:t>
            </a:r>
            <a:r>
              <a:rPr sz="2200" b="1" spc="-22" dirty="0">
                <a:latin typeface="Times New Roman"/>
                <a:cs typeface="Times New Roman"/>
              </a:rPr>
              <a:t>but</a:t>
            </a:r>
            <a:endParaRPr sz="2200" dirty="0">
              <a:latin typeface="Times New Roman"/>
              <a:cs typeface="Times New Roman"/>
            </a:endParaRPr>
          </a:p>
          <a:p>
            <a:pPr marL="11206">
              <a:spcBef>
                <a:spcPts val="132"/>
              </a:spcBef>
              <a:spcAft>
                <a:spcPts val="600"/>
              </a:spcAft>
            </a:pPr>
            <a:r>
              <a:rPr sz="2200" b="1" dirty="0">
                <a:solidFill>
                  <a:srgbClr val="053DE8"/>
                </a:solidFill>
                <a:latin typeface="Times New Roman"/>
                <a:cs typeface="Times New Roman"/>
              </a:rPr>
              <a:t>Q.</a:t>
            </a:r>
            <a:r>
              <a:rPr sz="2200" b="1" spc="-124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53DE8"/>
                </a:solidFill>
                <a:latin typeface="Times New Roman"/>
                <a:cs typeface="Times New Roman"/>
              </a:rPr>
              <a:t>What</a:t>
            </a:r>
            <a:r>
              <a:rPr sz="2200" b="1" spc="-75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53DE8"/>
                </a:solidFill>
                <a:latin typeface="Times New Roman"/>
                <a:cs typeface="Times New Roman"/>
              </a:rPr>
              <a:t>is</a:t>
            </a:r>
            <a:r>
              <a:rPr sz="2200" b="1" spc="-75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53DE8"/>
                </a:solidFill>
                <a:latin typeface="Times New Roman"/>
                <a:cs typeface="Times New Roman"/>
              </a:rPr>
              <a:t>the</a:t>
            </a:r>
            <a:r>
              <a:rPr sz="2200" b="1" spc="-79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>
                <a:solidFill>
                  <a:srgbClr val="053DE8"/>
                </a:solidFill>
                <a:latin typeface="Times New Roman"/>
                <a:cs typeface="Times New Roman"/>
              </a:rPr>
              <a:t>downside?</a:t>
            </a:r>
            <a:endParaRPr sz="2200" dirty="0">
              <a:latin typeface="Times New Roman"/>
              <a:cs typeface="Times New Roman"/>
            </a:endParaRPr>
          </a:p>
          <a:p>
            <a:pPr marL="344488" marR="4483" indent="-344488">
              <a:lnSpc>
                <a:spcPct val="103200"/>
              </a:lnSpc>
              <a:spcBef>
                <a:spcPts val="538"/>
              </a:spcBef>
            </a:pPr>
            <a:r>
              <a:rPr sz="2200" b="1" dirty="0">
                <a:solidFill>
                  <a:srgbClr val="053DE8"/>
                </a:solidFill>
                <a:latin typeface="Times New Roman"/>
                <a:cs typeface="Times New Roman"/>
              </a:rPr>
              <a:t>A.</a:t>
            </a:r>
            <a:r>
              <a:rPr sz="2200" b="1" spc="22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53DE8"/>
                </a:solidFill>
                <a:latin typeface="Times New Roman"/>
                <a:cs typeface="Times New Roman"/>
              </a:rPr>
              <a:t>Inflexibility.</a:t>
            </a:r>
            <a:r>
              <a:rPr sz="2200" b="1" spc="22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53DE8"/>
                </a:solidFill>
                <a:latin typeface="Times New Roman"/>
                <a:cs typeface="Times New Roman"/>
              </a:rPr>
              <a:t>Size</a:t>
            </a:r>
            <a:r>
              <a:rPr sz="2200" b="1" spc="31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53DE8"/>
                </a:solidFill>
                <a:latin typeface="Times New Roman"/>
                <a:cs typeface="Times New Roman"/>
              </a:rPr>
              <a:t>of</a:t>
            </a:r>
            <a:r>
              <a:rPr sz="2200" b="1" spc="26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200" b="1" spc="-9" dirty="0">
                <a:solidFill>
                  <a:srgbClr val="053DE8"/>
                </a:solidFill>
                <a:latin typeface="Times New Roman"/>
                <a:cs typeface="Times New Roman"/>
              </a:rPr>
              <a:t>cache </a:t>
            </a:r>
            <a:r>
              <a:rPr sz="2200" b="1" dirty="0">
                <a:solidFill>
                  <a:srgbClr val="053DE8"/>
                </a:solidFill>
                <a:latin typeface="Times New Roman"/>
                <a:cs typeface="Times New Roman"/>
              </a:rPr>
              <a:t>limited</a:t>
            </a:r>
            <a:r>
              <a:rPr sz="2200" b="1" spc="66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53DE8"/>
                </a:solidFill>
                <a:latin typeface="Times New Roman"/>
                <a:cs typeface="Times New Roman"/>
              </a:rPr>
              <a:t>by</a:t>
            </a:r>
            <a:r>
              <a:rPr sz="2200" b="1" spc="66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53DE8"/>
                </a:solidFill>
                <a:latin typeface="Times New Roman"/>
                <a:cs typeface="Times New Roman"/>
              </a:rPr>
              <a:t>page</a:t>
            </a:r>
            <a:r>
              <a:rPr sz="2200" b="1" spc="57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2200" b="1" spc="-18" dirty="0">
                <a:solidFill>
                  <a:srgbClr val="053DE8"/>
                </a:solidFill>
                <a:latin typeface="Times New Roman"/>
                <a:cs typeface="Times New Roman"/>
              </a:rPr>
              <a:t>size.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524599" y="2573766"/>
            <a:ext cx="476250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b="1" spc="-18" dirty="0">
                <a:solidFill>
                  <a:srgbClr val="053DE8"/>
                </a:solidFill>
                <a:latin typeface="Times New Roman"/>
                <a:cs typeface="Times New Roman"/>
              </a:rPr>
              <a:t>Valid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77476" y="2573766"/>
            <a:ext cx="1004607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b="1" dirty="0">
                <a:solidFill>
                  <a:srgbClr val="053DE8"/>
                </a:solidFill>
                <a:latin typeface="Times New Roman"/>
                <a:cs typeface="Times New Roman"/>
              </a:rPr>
              <a:t>Cache</a:t>
            </a:r>
            <a:r>
              <a:rPr sz="1588" b="1" spc="-71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1588" b="1" spc="-18" dirty="0">
                <a:solidFill>
                  <a:srgbClr val="053DE8"/>
                </a:solidFill>
                <a:latin typeface="Times New Roman"/>
                <a:cs typeface="Times New Roman"/>
              </a:rPr>
              <a:t>Tags</a:t>
            </a:r>
            <a:endParaRPr sz="1588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233969" y="2573766"/>
            <a:ext cx="1025338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b="1" dirty="0">
                <a:solidFill>
                  <a:srgbClr val="053DE8"/>
                </a:solidFill>
                <a:latin typeface="Times New Roman"/>
                <a:cs typeface="Times New Roman"/>
              </a:rPr>
              <a:t>Cache</a:t>
            </a:r>
            <a:r>
              <a:rPr sz="1588" b="1" spc="-40" dirty="0">
                <a:solidFill>
                  <a:srgbClr val="053DE8"/>
                </a:solidFill>
                <a:latin typeface="Times New Roman"/>
                <a:cs typeface="Times New Roman"/>
              </a:rPr>
              <a:t> </a:t>
            </a:r>
            <a:r>
              <a:rPr sz="1588" b="1" spc="-18" dirty="0">
                <a:solidFill>
                  <a:srgbClr val="053DE8"/>
                </a:solidFill>
                <a:latin typeface="Times New Roman"/>
                <a:cs typeface="Times New Roman"/>
              </a:rPr>
              <a:t>Data</a:t>
            </a:r>
            <a:endParaRPr sz="1588">
              <a:latin typeface="Times New Roman"/>
              <a:cs typeface="Times New Roman"/>
            </a:endParaRPr>
          </a:p>
        </p:txBody>
      </p:sp>
      <p:graphicFrame>
        <p:nvGraphicFramePr>
          <p:cNvPr id="35" name="object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306202"/>
              </p:ext>
            </p:extLst>
          </p:nvPr>
        </p:nvGraphicFramePr>
        <p:xfrm>
          <a:off x="509845" y="1165654"/>
          <a:ext cx="7948331" cy="8538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3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0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41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700" dirty="0">
                          <a:latin typeface="Arial MT"/>
                          <a:cs typeface="Arial MT"/>
                        </a:rPr>
                        <a:t>Virtual</a:t>
                      </a:r>
                      <a:r>
                        <a:rPr sz="1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dirty="0">
                          <a:latin typeface="Arial MT"/>
                          <a:cs typeface="Arial MT"/>
                        </a:rPr>
                        <a:t>Page</a:t>
                      </a:r>
                      <a:r>
                        <a:rPr sz="1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-10" dirty="0">
                          <a:latin typeface="Arial MT"/>
                          <a:cs typeface="Arial MT"/>
                        </a:rPr>
                        <a:t>Number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51546" marB="0">
                    <a:lnL w="28575">
                      <a:solidFill>
                        <a:srgbClr val="618FFD"/>
                      </a:solidFill>
                      <a:prstDash val="solid"/>
                    </a:lnL>
                    <a:lnR w="28575">
                      <a:solidFill>
                        <a:srgbClr val="618FFD"/>
                      </a:solidFill>
                      <a:prstDash val="solid"/>
                    </a:lnR>
                    <a:lnT w="57150">
                      <a:solidFill>
                        <a:srgbClr val="FBBA03"/>
                      </a:solidFill>
                      <a:prstDash val="solid"/>
                    </a:lnT>
                    <a:lnB w="28575">
                      <a:solidFill>
                        <a:srgbClr val="618FFD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0325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700" dirty="0">
                          <a:latin typeface="Arial MT"/>
                          <a:cs typeface="Arial MT"/>
                        </a:rPr>
                        <a:t>Page</a:t>
                      </a:r>
                      <a:r>
                        <a:rPr sz="1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-10" dirty="0">
                          <a:latin typeface="Arial MT"/>
                          <a:cs typeface="Arial MT"/>
                        </a:rPr>
                        <a:t>Offset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51546" marB="0">
                    <a:lnL w="28575">
                      <a:solidFill>
                        <a:srgbClr val="618FFD"/>
                      </a:solidFill>
                      <a:prstDash val="solid"/>
                    </a:lnL>
                    <a:lnR w="28575">
                      <a:solidFill>
                        <a:srgbClr val="618FFD"/>
                      </a:solidFill>
                      <a:prstDash val="solid"/>
                    </a:lnR>
                    <a:lnT w="57150">
                      <a:solidFill>
                        <a:srgbClr val="FBBA03"/>
                      </a:solidFill>
                      <a:prstDash val="solid"/>
                    </a:lnT>
                    <a:lnB w="28575">
                      <a:solidFill>
                        <a:srgbClr val="618FF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46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700" spc="-60" dirty="0">
                          <a:latin typeface="Arial MT"/>
                          <a:cs typeface="Arial MT"/>
                        </a:rPr>
                        <a:t>Tag</a:t>
                      </a:r>
                      <a:r>
                        <a:rPr sz="1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dirty="0">
                          <a:latin typeface="Arial MT"/>
                          <a:cs typeface="Arial MT"/>
                        </a:rPr>
                        <a:t>Part</a:t>
                      </a:r>
                      <a:r>
                        <a:rPr sz="1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dirty="0">
                          <a:latin typeface="Arial MT"/>
                          <a:cs typeface="Arial MT"/>
                        </a:rPr>
                        <a:t>Physical</a:t>
                      </a:r>
                      <a:r>
                        <a:rPr sz="1700" spc="-1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dirty="0">
                          <a:latin typeface="Arial MT"/>
                          <a:cs typeface="Arial MT"/>
                        </a:rPr>
                        <a:t>Addr</a:t>
                      </a:r>
                      <a:r>
                        <a:rPr sz="1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dirty="0">
                          <a:latin typeface="Arial MT"/>
                          <a:cs typeface="Arial MT"/>
                        </a:rPr>
                        <a:t>=</a:t>
                      </a:r>
                      <a:r>
                        <a:rPr sz="1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dirty="0">
                          <a:latin typeface="Arial MT"/>
                          <a:cs typeface="Arial MT"/>
                        </a:rPr>
                        <a:t>Physical</a:t>
                      </a:r>
                      <a:r>
                        <a:rPr sz="1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dirty="0">
                          <a:latin typeface="Arial MT"/>
                          <a:cs typeface="Arial MT"/>
                        </a:rPr>
                        <a:t>Page</a:t>
                      </a:r>
                      <a:r>
                        <a:rPr sz="1700" spc="-10" dirty="0">
                          <a:latin typeface="Arial MT"/>
                          <a:cs typeface="Arial MT"/>
                        </a:rPr>
                        <a:t> Number</a:t>
                      </a:r>
                      <a:endParaRPr sz="1700" dirty="0">
                        <a:latin typeface="Arial MT"/>
                        <a:cs typeface="Arial MT"/>
                      </a:endParaRPr>
                    </a:p>
                  </a:txBody>
                  <a:tcPr marL="0" marR="0" marT="90207" marB="0">
                    <a:lnL w="28575">
                      <a:solidFill>
                        <a:srgbClr val="618FFD"/>
                      </a:solidFill>
                      <a:prstDash val="solid"/>
                    </a:lnL>
                    <a:lnR w="28575">
                      <a:solidFill>
                        <a:srgbClr val="618FFD"/>
                      </a:solidFill>
                      <a:prstDash val="solid"/>
                    </a:lnR>
                    <a:lnT w="28575">
                      <a:solidFill>
                        <a:srgbClr val="618FFD"/>
                      </a:solidFill>
                      <a:prstDash val="solid"/>
                    </a:lnT>
                    <a:lnB w="28575">
                      <a:solidFill>
                        <a:srgbClr val="618F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215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700" spc="-10" dirty="0">
                          <a:latin typeface="Arial MT"/>
                          <a:cs typeface="Arial MT"/>
                        </a:rPr>
                        <a:t>Index</a:t>
                      </a:r>
                      <a:endParaRPr sz="1700" dirty="0">
                        <a:latin typeface="Arial MT"/>
                        <a:cs typeface="Arial MT"/>
                      </a:endParaRPr>
                    </a:p>
                  </a:txBody>
                  <a:tcPr marL="0" marR="0" marT="81803" marB="0">
                    <a:lnL w="28575">
                      <a:solidFill>
                        <a:srgbClr val="618FFD"/>
                      </a:solidFill>
                      <a:prstDash val="solid"/>
                    </a:lnL>
                    <a:lnR w="28575">
                      <a:solidFill>
                        <a:srgbClr val="618FFD"/>
                      </a:solidFill>
                      <a:prstDash val="solid"/>
                    </a:lnR>
                    <a:lnT w="28575">
                      <a:solidFill>
                        <a:srgbClr val="618FFD"/>
                      </a:solidFill>
                      <a:prstDash val="solid"/>
                    </a:lnT>
                    <a:lnB w="28575">
                      <a:solidFill>
                        <a:srgbClr val="618FF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4488" indent="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700" dirty="0">
                          <a:latin typeface="Arial MT"/>
                          <a:cs typeface="Arial MT"/>
                        </a:rPr>
                        <a:t>Byte</a:t>
                      </a:r>
                      <a:r>
                        <a:rPr sz="17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-10" dirty="0">
                          <a:latin typeface="Arial MT"/>
                          <a:cs typeface="Arial MT"/>
                        </a:rPr>
                        <a:t>Select</a:t>
                      </a:r>
                      <a:endParaRPr sz="1700" dirty="0">
                        <a:latin typeface="Arial MT"/>
                        <a:cs typeface="Arial MT"/>
                      </a:endParaRPr>
                    </a:p>
                  </a:txBody>
                  <a:tcPr marL="0" marR="0" marT="82296" marB="0">
                    <a:lnL w="28575">
                      <a:solidFill>
                        <a:srgbClr val="618FFD"/>
                      </a:solidFill>
                      <a:prstDash val="solid"/>
                    </a:lnL>
                    <a:lnR w="28575">
                      <a:solidFill>
                        <a:srgbClr val="618FFD"/>
                      </a:solidFill>
                      <a:prstDash val="solid"/>
                    </a:lnR>
                    <a:lnT w="28575">
                      <a:solidFill>
                        <a:srgbClr val="618FFD"/>
                      </a:solidFill>
                      <a:prstDash val="solid"/>
                    </a:lnT>
                    <a:lnB w="28575">
                      <a:solidFill>
                        <a:srgbClr val="618FF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7080934" y="2906152"/>
          <a:ext cx="1295960" cy="30552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08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053DE8"/>
                          </a:solidFill>
                          <a:latin typeface="Times New Roman"/>
                          <a:cs typeface="Times New Roman"/>
                        </a:rPr>
                        <a:t>Cache</a:t>
                      </a:r>
                      <a:r>
                        <a:rPr sz="1200" spc="-65" dirty="0">
                          <a:solidFill>
                            <a:srgbClr val="053DE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053DE8"/>
                          </a:solidFill>
                          <a:latin typeface="Times New Roman"/>
                          <a:cs typeface="Times New Roman"/>
                        </a:rPr>
                        <a:t>Block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5810" marB="0">
                    <a:lnL w="28575">
                      <a:solidFill>
                        <a:srgbClr val="618FFD"/>
                      </a:solidFill>
                      <a:prstDash val="solid"/>
                    </a:lnL>
                    <a:lnR w="28575">
                      <a:solidFill>
                        <a:srgbClr val="618FFD"/>
                      </a:solidFill>
                      <a:prstDash val="solid"/>
                    </a:lnR>
                    <a:lnT w="28575">
                      <a:solidFill>
                        <a:srgbClr val="618FFD"/>
                      </a:solidFill>
                      <a:prstDash val="solid"/>
                    </a:lnT>
                    <a:lnB w="28575">
                      <a:solidFill>
                        <a:srgbClr val="618FFD"/>
                      </a:solidFill>
                      <a:prstDash val="solid"/>
                    </a:lnB>
                    <a:solidFill>
                      <a:srgbClr val="00FF00">
                        <a:alpha val="4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6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053DE8"/>
                          </a:solidFill>
                          <a:latin typeface="Times New Roman"/>
                          <a:cs typeface="Times New Roman"/>
                        </a:rPr>
                        <a:t>Cache</a:t>
                      </a:r>
                      <a:r>
                        <a:rPr sz="1200" spc="-65" dirty="0">
                          <a:solidFill>
                            <a:srgbClr val="053DE8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053DE8"/>
                          </a:solidFill>
                          <a:latin typeface="Times New Roman"/>
                          <a:cs typeface="Times New Roman"/>
                        </a:rPr>
                        <a:t>Block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1413" marB="0">
                    <a:lnL w="28575">
                      <a:solidFill>
                        <a:srgbClr val="618FFD"/>
                      </a:solidFill>
                      <a:prstDash val="solid"/>
                    </a:lnL>
                    <a:lnR w="28575">
                      <a:solidFill>
                        <a:srgbClr val="618FFD"/>
                      </a:solidFill>
                      <a:prstDash val="solid"/>
                    </a:lnR>
                    <a:lnT w="28575">
                      <a:solidFill>
                        <a:srgbClr val="618FFD"/>
                      </a:solidFill>
                      <a:prstDash val="solid"/>
                    </a:lnT>
                    <a:lnB w="28575">
                      <a:solidFill>
                        <a:srgbClr val="618FFD"/>
                      </a:solidFill>
                      <a:prstDash val="solid"/>
                    </a:lnB>
                    <a:solidFill>
                      <a:srgbClr val="0000FF">
                        <a:alpha val="1607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8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18FFD"/>
                      </a:solidFill>
                      <a:prstDash val="solid"/>
                    </a:lnL>
                    <a:lnR w="28575">
                      <a:solidFill>
                        <a:srgbClr val="618FFD"/>
                      </a:solidFill>
                      <a:prstDash val="solid"/>
                    </a:lnR>
                    <a:lnT w="28575">
                      <a:solidFill>
                        <a:srgbClr val="618FFD"/>
                      </a:solidFill>
                      <a:prstDash val="solid"/>
                    </a:lnT>
                    <a:lnB w="28575">
                      <a:solidFill>
                        <a:srgbClr val="618FFD"/>
                      </a:solidFill>
                      <a:prstDash val="solid"/>
                    </a:lnB>
                    <a:solidFill>
                      <a:srgbClr val="FF0000">
                        <a:alpha val="6705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8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618FFD"/>
                      </a:solidFill>
                      <a:prstDash val="solid"/>
                    </a:lnL>
                    <a:lnR w="28575">
                      <a:solidFill>
                        <a:srgbClr val="618FFD"/>
                      </a:solidFill>
                      <a:prstDash val="solid"/>
                    </a:lnR>
                    <a:lnT w="28575">
                      <a:solidFill>
                        <a:srgbClr val="618FFD"/>
                      </a:solidFill>
                      <a:prstDash val="solid"/>
                    </a:lnT>
                    <a:lnB w="28575">
                      <a:solidFill>
                        <a:srgbClr val="618FFD"/>
                      </a:solidFill>
                      <a:prstDash val="solid"/>
                    </a:lnB>
                    <a:solidFill>
                      <a:srgbClr val="FFFF00">
                        <a:alpha val="7097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7" name="object 37"/>
          <p:cNvGrpSpPr/>
          <p:nvPr/>
        </p:nvGrpSpPr>
        <p:grpSpPr>
          <a:xfrm>
            <a:off x="5309222" y="2918043"/>
            <a:ext cx="1581710" cy="3079937"/>
            <a:chOff x="5864718" y="3307115"/>
            <a:chExt cx="1792605" cy="3490595"/>
          </a:xfrm>
        </p:grpSpPr>
        <p:sp>
          <p:nvSpPr>
            <p:cNvPr id="38" name="object 38"/>
            <p:cNvSpPr/>
            <p:nvPr/>
          </p:nvSpPr>
          <p:spPr>
            <a:xfrm>
              <a:off x="5878194" y="3320591"/>
              <a:ext cx="1253490" cy="862965"/>
            </a:xfrm>
            <a:custGeom>
              <a:avLst/>
              <a:gdLst/>
              <a:ahLst/>
              <a:cxnLst/>
              <a:rect l="l" t="t" r="r" b="b"/>
              <a:pathLst>
                <a:path w="1253490" h="862964">
                  <a:moveTo>
                    <a:pt x="1253278" y="0"/>
                  </a:moveTo>
                  <a:lnTo>
                    <a:pt x="0" y="0"/>
                  </a:lnTo>
                  <a:lnTo>
                    <a:pt x="0" y="862471"/>
                  </a:lnTo>
                  <a:lnTo>
                    <a:pt x="1253278" y="862471"/>
                  </a:lnTo>
                  <a:lnTo>
                    <a:pt x="1253278" y="0"/>
                  </a:lnTo>
                  <a:close/>
                </a:path>
              </a:pathLst>
            </a:custGeom>
            <a:solidFill>
              <a:srgbClr val="8EFF8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5878194" y="4183062"/>
              <a:ext cx="1253490" cy="876300"/>
            </a:xfrm>
            <a:custGeom>
              <a:avLst/>
              <a:gdLst/>
              <a:ahLst/>
              <a:cxnLst/>
              <a:rect l="l" t="t" r="r" b="b"/>
              <a:pathLst>
                <a:path w="1253490" h="876300">
                  <a:moveTo>
                    <a:pt x="1253278" y="0"/>
                  </a:moveTo>
                  <a:lnTo>
                    <a:pt x="0" y="0"/>
                  </a:lnTo>
                  <a:lnTo>
                    <a:pt x="0" y="875947"/>
                  </a:lnTo>
                  <a:lnTo>
                    <a:pt x="1253278" y="875947"/>
                  </a:lnTo>
                  <a:lnTo>
                    <a:pt x="1253278" y="0"/>
                  </a:lnTo>
                  <a:close/>
                </a:path>
              </a:pathLst>
            </a:custGeom>
            <a:solidFill>
              <a:srgbClr val="D6D6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0" name="object 40"/>
            <p:cNvSpPr/>
            <p:nvPr/>
          </p:nvSpPr>
          <p:spPr>
            <a:xfrm>
              <a:off x="5878194" y="5059009"/>
              <a:ext cx="1253490" cy="862965"/>
            </a:xfrm>
            <a:custGeom>
              <a:avLst/>
              <a:gdLst/>
              <a:ahLst/>
              <a:cxnLst/>
              <a:rect l="l" t="t" r="r" b="b"/>
              <a:pathLst>
                <a:path w="1253490" h="862964">
                  <a:moveTo>
                    <a:pt x="1253278" y="0"/>
                  </a:moveTo>
                  <a:lnTo>
                    <a:pt x="0" y="0"/>
                  </a:lnTo>
                  <a:lnTo>
                    <a:pt x="0" y="862471"/>
                  </a:lnTo>
                  <a:lnTo>
                    <a:pt x="1253278" y="862471"/>
                  </a:lnTo>
                  <a:lnTo>
                    <a:pt x="1253278" y="0"/>
                  </a:lnTo>
                  <a:close/>
                </a:path>
              </a:pathLst>
            </a:custGeom>
            <a:solidFill>
              <a:srgbClr val="FF545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5878194" y="5921480"/>
              <a:ext cx="1253490" cy="862965"/>
            </a:xfrm>
            <a:custGeom>
              <a:avLst/>
              <a:gdLst/>
              <a:ahLst/>
              <a:cxnLst/>
              <a:rect l="l" t="t" r="r" b="b"/>
              <a:pathLst>
                <a:path w="1253490" h="862965">
                  <a:moveTo>
                    <a:pt x="1253278" y="0"/>
                  </a:moveTo>
                  <a:lnTo>
                    <a:pt x="0" y="0"/>
                  </a:lnTo>
                  <a:lnTo>
                    <a:pt x="0" y="862471"/>
                  </a:lnTo>
                  <a:lnTo>
                    <a:pt x="1253278" y="862471"/>
                  </a:lnTo>
                  <a:lnTo>
                    <a:pt x="1253278" y="0"/>
                  </a:lnTo>
                  <a:close/>
                </a:path>
              </a:pathLst>
            </a:custGeom>
            <a:solidFill>
              <a:srgbClr val="FFFF4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5864718" y="3307115"/>
              <a:ext cx="1280795" cy="3490595"/>
            </a:xfrm>
            <a:custGeom>
              <a:avLst/>
              <a:gdLst/>
              <a:ahLst/>
              <a:cxnLst/>
              <a:rect l="l" t="t" r="r" b="b"/>
              <a:pathLst>
                <a:path w="1280795" h="3490595">
                  <a:moveTo>
                    <a:pt x="0" y="875947"/>
                  </a:moveTo>
                  <a:lnTo>
                    <a:pt x="1280230" y="875947"/>
                  </a:lnTo>
                </a:path>
                <a:path w="1280795" h="3490595">
                  <a:moveTo>
                    <a:pt x="0" y="1751894"/>
                  </a:moveTo>
                  <a:lnTo>
                    <a:pt x="1280230" y="1751894"/>
                  </a:lnTo>
                </a:path>
                <a:path w="1280795" h="3490595">
                  <a:moveTo>
                    <a:pt x="0" y="2614365"/>
                  </a:moveTo>
                  <a:lnTo>
                    <a:pt x="1280230" y="2614365"/>
                  </a:lnTo>
                </a:path>
                <a:path w="1280795" h="3490595">
                  <a:moveTo>
                    <a:pt x="13476" y="0"/>
                  </a:moveTo>
                  <a:lnTo>
                    <a:pt x="13476" y="3490312"/>
                  </a:lnTo>
                </a:path>
                <a:path w="1280795" h="3490595">
                  <a:moveTo>
                    <a:pt x="1266754" y="0"/>
                  </a:moveTo>
                  <a:lnTo>
                    <a:pt x="1266754" y="3490312"/>
                  </a:lnTo>
                </a:path>
                <a:path w="1280795" h="3490595">
                  <a:moveTo>
                    <a:pt x="0" y="13476"/>
                  </a:moveTo>
                  <a:lnTo>
                    <a:pt x="1280230" y="13476"/>
                  </a:lnTo>
                </a:path>
                <a:path w="1280795" h="3490595">
                  <a:moveTo>
                    <a:pt x="0" y="3476836"/>
                  </a:moveTo>
                  <a:lnTo>
                    <a:pt x="1280230" y="3476836"/>
                  </a:lnTo>
                </a:path>
              </a:pathLst>
            </a:custGeom>
            <a:ln w="26952">
              <a:solidFill>
                <a:srgbClr val="618FFD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3" name="object 43"/>
            <p:cNvSpPr/>
            <p:nvPr/>
          </p:nvSpPr>
          <p:spPr>
            <a:xfrm>
              <a:off x="7414470" y="3320591"/>
              <a:ext cx="229235" cy="862965"/>
            </a:xfrm>
            <a:custGeom>
              <a:avLst/>
              <a:gdLst/>
              <a:ahLst/>
              <a:cxnLst/>
              <a:rect l="l" t="t" r="r" b="b"/>
              <a:pathLst>
                <a:path w="229234" h="862964">
                  <a:moveTo>
                    <a:pt x="229093" y="0"/>
                  </a:moveTo>
                  <a:lnTo>
                    <a:pt x="0" y="0"/>
                  </a:lnTo>
                  <a:lnTo>
                    <a:pt x="0" y="862471"/>
                  </a:lnTo>
                  <a:lnTo>
                    <a:pt x="229093" y="862471"/>
                  </a:lnTo>
                  <a:lnTo>
                    <a:pt x="229093" y="0"/>
                  </a:lnTo>
                  <a:close/>
                </a:path>
              </a:pathLst>
            </a:custGeom>
            <a:solidFill>
              <a:srgbClr val="8EFF8E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4" name="object 44"/>
            <p:cNvSpPr/>
            <p:nvPr/>
          </p:nvSpPr>
          <p:spPr>
            <a:xfrm>
              <a:off x="7414470" y="4183062"/>
              <a:ext cx="229235" cy="876300"/>
            </a:xfrm>
            <a:custGeom>
              <a:avLst/>
              <a:gdLst/>
              <a:ahLst/>
              <a:cxnLst/>
              <a:rect l="l" t="t" r="r" b="b"/>
              <a:pathLst>
                <a:path w="229234" h="876300">
                  <a:moveTo>
                    <a:pt x="229093" y="0"/>
                  </a:moveTo>
                  <a:lnTo>
                    <a:pt x="0" y="0"/>
                  </a:lnTo>
                  <a:lnTo>
                    <a:pt x="0" y="875947"/>
                  </a:lnTo>
                  <a:lnTo>
                    <a:pt x="229093" y="875947"/>
                  </a:lnTo>
                  <a:lnTo>
                    <a:pt x="229093" y="0"/>
                  </a:lnTo>
                  <a:close/>
                </a:path>
              </a:pathLst>
            </a:custGeom>
            <a:solidFill>
              <a:srgbClr val="D6D6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5" name="object 45"/>
            <p:cNvSpPr/>
            <p:nvPr/>
          </p:nvSpPr>
          <p:spPr>
            <a:xfrm>
              <a:off x="7414470" y="5059009"/>
              <a:ext cx="229235" cy="862965"/>
            </a:xfrm>
            <a:custGeom>
              <a:avLst/>
              <a:gdLst/>
              <a:ahLst/>
              <a:cxnLst/>
              <a:rect l="l" t="t" r="r" b="b"/>
              <a:pathLst>
                <a:path w="229234" h="862964">
                  <a:moveTo>
                    <a:pt x="229093" y="0"/>
                  </a:moveTo>
                  <a:lnTo>
                    <a:pt x="0" y="0"/>
                  </a:lnTo>
                  <a:lnTo>
                    <a:pt x="0" y="862471"/>
                  </a:lnTo>
                  <a:lnTo>
                    <a:pt x="229093" y="862471"/>
                  </a:lnTo>
                  <a:lnTo>
                    <a:pt x="229093" y="0"/>
                  </a:lnTo>
                  <a:close/>
                </a:path>
              </a:pathLst>
            </a:custGeom>
            <a:solidFill>
              <a:srgbClr val="FF545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7414470" y="5921480"/>
              <a:ext cx="229235" cy="862965"/>
            </a:xfrm>
            <a:custGeom>
              <a:avLst/>
              <a:gdLst/>
              <a:ahLst/>
              <a:cxnLst/>
              <a:rect l="l" t="t" r="r" b="b"/>
              <a:pathLst>
                <a:path w="229234" h="862965">
                  <a:moveTo>
                    <a:pt x="229093" y="0"/>
                  </a:moveTo>
                  <a:lnTo>
                    <a:pt x="0" y="0"/>
                  </a:lnTo>
                  <a:lnTo>
                    <a:pt x="0" y="862471"/>
                  </a:lnTo>
                  <a:lnTo>
                    <a:pt x="229093" y="862471"/>
                  </a:lnTo>
                  <a:lnTo>
                    <a:pt x="229093" y="0"/>
                  </a:lnTo>
                  <a:close/>
                </a:path>
              </a:pathLst>
            </a:custGeom>
            <a:solidFill>
              <a:srgbClr val="FFFF4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7400994" y="3307115"/>
              <a:ext cx="256540" cy="3490595"/>
            </a:xfrm>
            <a:custGeom>
              <a:avLst/>
              <a:gdLst/>
              <a:ahLst/>
              <a:cxnLst/>
              <a:rect l="l" t="t" r="r" b="b"/>
              <a:pathLst>
                <a:path w="256540" h="3490595">
                  <a:moveTo>
                    <a:pt x="0" y="875947"/>
                  </a:moveTo>
                  <a:lnTo>
                    <a:pt x="256046" y="875947"/>
                  </a:lnTo>
                </a:path>
                <a:path w="256540" h="3490595">
                  <a:moveTo>
                    <a:pt x="0" y="1751894"/>
                  </a:moveTo>
                  <a:lnTo>
                    <a:pt x="256046" y="1751894"/>
                  </a:lnTo>
                </a:path>
                <a:path w="256540" h="3490595">
                  <a:moveTo>
                    <a:pt x="0" y="2614365"/>
                  </a:moveTo>
                  <a:lnTo>
                    <a:pt x="256046" y="2614365"/>
                  </a:lnTo>
                </a:path>
                <a:path w="256540" h="3490595">
                  <a:moveTo>
                    <a:pt x="13476" y="0"/>
                  </a:moveTo>
                  <a:lnTo>
                    <a:pt x="13476" y="3490312"/>
                  </a:lnTo>
                </a:path>
                <a:path w="256540" h="3490595">
                  <a:moveTo>
                    <a:pt x="242569" y="0"/>
                  </a:moveTo>
                  <a:lnTo>
                    <a:pt x="242569" y="3490312"/>
                  </a:lnTo>
                </a:path>
                <a:path w="256540" h="3490595">
                  <a:moveTo>
                    <a:pt x="0" y="13476"/>
                  </a:moveTo>
                  <a:lnTo>
                    <a:pt x="256046" y="13476"/>
                  </a:lnTo>
                </a:path>
                <a:path w="256540" h="3490595">
                  <a:moveTo>
                    <a:pt x="0" y="3476836"/>
                  </a:moveTo>
                  <a:lnTo>
                    <a:pt x="256046" y="3476836"/>
                  </a:lnTo>
                </a:path>
              </a:pathLst>
            </a:custGeom>
            <a:ln w="26952">
              <a:solidFill>
                <a:srgbClr val="618FFD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49" name="object 3">
            <a:extLst>
              <a:ext uri="{FF2B5EF4-FFF2-40B4-BE49-F238E27FC236}">
                <a16:creationId xmlns:a16="http://schemas.microsoft.com/office/drawing/2014/main" id="{96116A90-985D-F864-CA47-17232ED3876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34</a:t>
            </a:fld>
            <a:endParaRPr spc="-22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68847"/>
            <a:ext cx="7211567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Problems</a:t>
            </a:r>
            <a:r>
              <a:rPr spc="-57" dirty="0"/>
              <a:t> </a:t>
            </a:r>
            <a:r>
              <a:rPr dirty="0"/>
              <a:t>With</a:t>
            </a:r>
            <a:r>
              <a:rPr spc="-49" dirty="0"/>
              <a:t> </a:t>
            </a:r>
            <a:r>
              <a:rPr dirty="0"/>
              <a:t>Overlapped</a:t>
            </a:r>
            <a:r>
              <a:rPr spc="-49" dirty="0"/>
              <a:t> </a:t>
            </a:r>
            <a:r>
              <a:rPr dirty="0"/>
              <a:t>TLB</a:t>
            </a:r>
            <a:r>
              <a:rPr spc="-62" dirty="0"/>
              <a:t> </a:t>
            </a:r>
            <a:r>
              <a:rPr spc="-9" dirty="0"/>
              <a:t>Access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0" y="1173385"/>
            <a:ext cx="7497962" cy="2028459"/>
          </a:xfrm>
          <a:prstGeom prst="rect">
            <a:avLst/>
          </a:prstGeom>
        </p:spPr>
        <p:txBody>
          <a:bodyPr vert="horz" wrap="square" lIns="0" tIns="40341" rIns="0" bIns="0" rtlCol="0">
            <a:spAutoFit/>
          </a:bodyPr>
          <a:lstStyle/>
          <a:p>
            <a:pPr marL="278481" marR="191070" indent="-267835" algn="just">
              <a:spcBef>
                <a:spcPts val="318"/>
              </a:spcBef>
              <a:buChar char="•"/>
              <a:tabLst>
                <a:tab pos="278481" algn="l"/>
              </a:tabLst>
            </a:pPr>
            <a:r>
              <a:rPr sz="2000" dirty="0">
                <a:latin typeface="Calibri"/>
                <a:cs typeface="Calibri"/>
              </a:rPr>
              <a:t>Overlapped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(faster)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only</a:t>
            </a:r>
            <a:r>
              <a:rPr sz="2000" b="1" spc="31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if</a:t>
            </a:r>
            <a:r>
              <a:rPr sz="2000" b="1" spc="26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31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address</a:t>
            </a:r>
            <a:r>
              <a:rPr sz="2000" b="1" spc="26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bits</a:t>
            </a:r>
            <a:r>
              <a:rPr sz="2000" b="1" spc="26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used</a:t>
            </a:r>
            <a:r>
              <a:rPr sz="2000" b="1" spc="31" dirty="0">
                <a:latin typeface="Calibri"/>
                <a:cs typeface="Calibri"/>
              </a:rPr>
              <a:t> </a:t>
            </a:r>
            <a:r>
              <a:rPr sz="2000" b="1" spc="-22" dirty="0">
                <a:latin typeface="Calibri"/>
                <a:cs typeface="Calibri"/>
              </a:rPr>
              <a:t>to </a:t>
            </a:r>
            <a:r>
              <a:rPr sz="2000" b="1" dirty="0">
                <a:latin typeface="Calibri"/>
                <a:cs typeface="Calibri"/>
              </a:rPr>
              <a:t>index</a:t>
            </a:r>
            <a:r>
              <a:rPr sz="2000" b="1" spc="22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into</a:t>
            </a:r>
            <a:r>
              <a:rPr sz="2000" b="1" spc="18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26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cache</a:t>
            </a:r>
            <a:r>
              <a:rPr sz="2000" b="1" spc="22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do</a:t>
            </a:r>
            <a:r>
              <a:rPr sz="2000" b="1" spc="18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not</a:t>
            </a:r>
            <a:r>
              <a:rPr sz="2000" b="1" spc="9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change</a:t>
            </a:r>
            <a:r>
              <a:rPr sz="2000" b="1" spc="26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as</a:t>
            </a:r>
            <a:r>
              <a:rPr sz="2000" b="1" spc="18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26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result</a:t>
            </a:r>
            <a:r>
              <a:rPr sz="2000" b="1" spc="9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22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VA</a:t>
            </a:r>
            <a:r>
              <a:rPr sz="2000" b="1" spc="22" dirty="0">
                <a:latin typeface="Calibri"/>
                <a:cs typeface="Calibri"/>
              </a:rPr>
              <a:t> </a:t>
            </a:r>
            <a:r>
              <a:rPr sz="2000" b="1" spc="-9" dirty="0">
                <a:latin typeface="Calibri"/>
                <a:cs typeface="Calibri"/>
              </a:rPr>
              <a:t>translation</a:t>
            </a:r>
            <a:endParaRPr sz="2000" dirty="0">
              <a:latin typeface="Calibri"/>
              <a:cs typeface="Calibri"/>
            </a:endParaRPr>
          </a:p>
          <a:p>
            <a:pPr marL="278481" marR="4483" indent="-267835" algn="just">
              <a:spcBef>
                <a:spcPts val="622"/>
              </a:spcBef>
              <a:buChar char="•"/>
              <a:tabLst>
                <a:tab pos="278481" algn="l"/>
              </a:tabLst>
            </a:pPr>
            <a:r>
              <a:rPr sz="2000" dirty="0">
                <a:latin typeface="Calibri"/>
                <a:cs typeface="Calibri"/>
              </a:rPr>
              <a:t>This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usually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limits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overlapping</a:t>
            </a:r>
            <a:r>
              <a:rPr sz="2000" spc="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small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caches,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large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page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sizes,</a:t>
            </a:r>
            <a:r>
              <a:rPr sz="2000" spc="18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or </a:t>
            </a:r>
            <a:r>
              <a:rPr sz="2000" dirty="0">
                <a:latin typeface="Calibri"/>
                <a:cs typeface="Calibri"/>
              </a:rPr>
              <a:t>high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n-way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associative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caches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want</a:t>
            </a:r>
            <a:r>
              <a:rPr sz="2000" spc="26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large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capacity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cache</a:t>
            </a:r>
            <a:endParaRPr sz="2000" dirty="0">
              <a:latin typeface="Calibri"/>
              <a:cs typeface="Calibri"/>
            </a:endParaRPr>
          </a:p>
          <a:p>
            <a:pPr marL="278481" indent="-267275" algn="just">
              <a:spcBef>
                <a:spcPts val="476"/>
              </a:spcBef>
              <a:buFontTx/>
              <a:buChar char="•"/>
              <a:tabLst>
                <a:tab pos="278481" algn="l"/>
              </a:tabLst>
            </a:pPr>
            <a:r>
              <a:rPr sz="2000" dirty="0">
                <a:latin typeface="Calibri"/>
                <a:cs typeface="Calibri"/>
              </a:rPr>
              <a:t>Example:</a:t>
            </a:r>
            <a:r>
              <a:rPr lang="en-US"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suppose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everything</a:t>
            </a:r>
            <a:r>
              <a:rPr sz="2000" spc="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except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3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cache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is</a:t>
            </a:r>
            <a:r>
              <a:rPr lang="en-US" sz="2000" spc="-22" dirty="0">
                <a:latin typeface="Calibri"/>
                <a:cs typeface="Calibri"/>
              </a:rPr>
              <a:t> </a:t>
            </a:r>
            <a:r>
              <a:rPr lang="en-US" sz="2000" dirty="0">
                <a:cs typeface="Calibri"/>
              </a:rPr>
              <a:t>increased</a:t>
            </a:r>
            <a:r>
              <a:rPr lang="en-US" sz="2000" spc="13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to</a:t>
            </a:r>
            <a:r>
              <a:rPr lang="en-US" sz="2000" spc="18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8</a:t>
            </a:r>
            <a:r>
              <a:rPr lang="en-US" sz="2000" spc="18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KB</a:t>
            </a:r>
            <a:r>
              <a:rPr lang="en-US" sz="2000" spc="22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instead</a:t>
            </a:r>
            <a:r>
              <a:rPr lang="en-US" sz="2000" spc="18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of</a:t>
            </a:r>
            <a:r>
              <a:rPr lang="en-US" sz="2000" spc="18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4</a:t>
            </a:r>
            <a:r>
              <a:rPr lang="en-US" sz="2000" spc="18" dirty="0">
                <a:cs typeface="Calibri"/>
              </a:rPr>
              <a:t> </a:t>
            </a:r>
            <a:r>
              <a:rPr lang="en-US" sz="2000" spc="-22" dirty="0">
                <a:cs typeface="Calibri"/>
              </a:rPr>
              <a:t>KB:</a:t>
            </a:r>
            <a:endParaRPr lang="en-US" sz="2000" dirty="0"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21764" y="3177614"/>
            <a:ext cx="770965" cy="2693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  <a:tabLst>
                <a:tab pos="652777" algn="l"/>
              </a:tabLst>
            </a:pPr>
            <a:r>
              <a:rPr sz="1677" b="1" spc="-22" dirty="0">
                <a:latin typeface="Times New Roman"/>
                <a:cs typeface="Times New Roman"/>
              </a:rPr>
              <a:t>11</a:t>
            </a:r>
            <a:r>
              <a:rPr sz="1677" b="1" dirty="0">
                <a:latin typeface="Times New Roman"/>
                <a:cs typeface="Times New Roman"/>
              </a:rPr>
              <a:t>	</a:t>
            </a:r>
            <a:r>
              <a:rPr sz="1677" b="1" spc="-44" dirty="0">
                <a:latin typeface="Times New Roman"/>
                <a:cs typeface="Times New Roman"/>
              </a:rPr>
              <a:t>2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23813" y="3279944"/>
            <a:ext cx="273984" cy="71718"/>
          </a:xfrm>
          <a:custGeom>
            <a:avLst/>
            <a:gdLst/>
            <a:ahLst/>
            <a:cxnLst/>
            <a:rect l="l" t="t" r="r" b="b"/>
            <a:pathLst>
              <a:path w="310514" h="81279">
                <a:moveTo>
                  <a:pt x="80857" y="0"/>
                </a:moveTo>
                <a:lnTo>
                  <a:pt x="0" y="40429"/>
                </a:lnTo>
                <a:lnTo>
                  <a:pt x="80857" y="80857"/>
                </a:lnTo>
                <a:lnTo>
                  <a:pt x="80857" y="53905"/>
                </a:lnTo>
                <a:lnTo>
                  <a:pt x="67381" y="53905"/>
                </a:lnTo>
                <a:lnTo>
                  <a:pt x="67381" y="26953"/>
                </a:lnTo>
                <a:lnTo>
                  <a:pt x="80857" y="26953"/>
                </a:lnTo>
                <a:lnTo>
                  <a:pt x="80857" y="0"/>
                </a:lnTo>
                <a:close/>
              </a:path>
              <a:path w="310514" h="81279">
                <a:moveTo>
                  <a:pt x="80857" y="26953"/>
                </a:moveTo>
                <a:lnTo>
                  <a:pt x="67381" y="26953"/>
                </a:lnTo>
                <a:lnTo>
                  <a:pt x="67381" y="53905"/>
                </a:lnTo>
                <a:lnTo>
                  <a:pt x="80857" y="53905"/>
                </a:lnTo>
                <a:lnTo>
                  <a:pt x="80857" y="26953"/>
                </a:lnTo>
                <a:close/>
              </a:path>
              <a:path w="310514" h="81279">
                <a:moveTo>
                  <a:pt x="309951" y="26953"/>
                </a:moveTo>
                <a:lnTo>
                  <a:pt x="80857" y="26953"/>
                </a:lnTo>
                <a:lnTo>
                  <a:pt x="80857" y="53905"/>
                </a:lnTo>
                <a:lnTo>
                  <a:pt x="309951" y="53905"/>
                </a:lnTo>
                <a:lnTo>
                  <a:pt x="309951" y="269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7" name="object 7"/>
          <p:cNvSpPr/>
          <p:nvPr/>
        </p:nvSpPr>
        <p:spPr>
          <a:xfrm>
            <a:off x="5347595" y="3779352"/>
            <a:ext cx="71718" cy="321049"/>
          </a:xfrm>
          <a:custGeom>
            <a:avLst/>
            <a:gdLst/>
            <a:ahLst/>
            <a:cxnLst/>
            <a:rect l="l" t="t" r="r" b="b"/>
            <a:pathLst>
              <a:path w="81279" h="363854">
                <a:moveTo>
                  <a:pt x="53905" y="67381"/>
                </a:moveTo>
                <a:lnTo>
                  <a:pt x="26953" y="67381"/>
                </a:lnTo>
                <a:lnTo>
                  <a:pt x="26951" y="363854"/>
                </a:lnTo>
                <a:lnTo>
                  <a:pt x="53903" y="363854"/>
                </a:lnTo>
                <a:lnTo>
                  <a:pt x="53905" y="67381"/>
                </a:lnTo>
                <a:close/>
              </a:path>
              <a:path w="81279" h="363854">
                <a:moveTo>
                  <a:pt x="40429" y="0"/>
                </a:moveTo>
                <a:lnTo>
                  <a:pt x="0" y="80857"/>
                </a:lnTo>
                <a:lnTo>
                  <a:pt x="26953" y="80857"/>
                </a:lnTo>
                <a:lnTo>
                  <a:pt x="26953" y="67381"/>
                </a:lnTo>
                <a:lnTo>
                  <a:pt x="74119" y="67381"/>
                </a:lnTo>
                <a:lnTo>
                  <a:pt x="40429" y="0"/>
                </a:lnTo>
                <a:close/>
              </a:path>
              <a:path w="81279" h="363854">
                <a:moveTo>
                  <a:pt x="74119" y="67381"/>
                </a:moveTo>
                <a:lnTo>
                  <a:pt x="53905" y="67381"/>
                </a:lnTo>
                <a:lnTo>
                  <a:pt x="53905" y="80857"/>
                </a:lnTo>
                <a:lnTo>
                  <a:pt x="80857" y="80857"/>
                </a:lnTo>
                <a:lnTo>
                  <a:pt x="74119" y="673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20118"/>
              </p:ext>
            </p:extLst>
          </p:nvPr>
        </p:nvGraphicFramePr>
        <p:xfrm>
          <a:off x="3968276" y="3791244"/>
          <a:ext cx="3019984" cy="8189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8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19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R="220979" algn="ctr">
                        <a:lnSpc>
                          <a:spcPts val="2200"/>
                        </a:lnSpc>
                      </a:pPr>
                      <a:r>
                        <a:rPr sz="1700" b="1" spc="-25" dirty="0">
                          <a:latin typeface="Times New Roman"/>
                          <a:cs typeface="Times New Roman"/>
                        </a:rPr>
                        <a:t>20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14568" marB="0">
                    <a:lnR w="28575">
                      <a:solidFill>
                        <a:srgbClr val="FC0128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C0128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510" marB="0">
                    <a:lnR w="28575">
                      <a:solidFill>
                        <a:srgbClr val="FC0128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31165">
                        <a:lnSpc>
                          <a:spcPts val="1739"/>
                        </a:lnSpc>
                      </a:pPr>
                      <a:r>
                        <a:rPr sz="1700" b="1" spc="-25" dirty="0">
                          <a:latin typeface="Times New Roman"/>
                          <a:cs typeface="Times New Roman"/>
                        </a:rPr>
                        <a:t>12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C0128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9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00" b="1" dirty="0">
                          <a:latin typeface="Times New Roman"/>
                          <a:cs typeface="Times New Roman"/>
                        </a:rPr>
                        <a:t>virt</a:t>
                      </a:r>
                      <a:r>
                        <a:rPr sz="17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page</a:t>
                      </a:r>
                      <a:r>
                        <a:rPr sz="170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b="1" spc="-50" dirty="0">
                          <a:latin typeface="Times New Roman"/>
                          <a:cs typeface="Times New Roman"/>
                        </a:rPr>
                        <a:t>#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362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700" b="1" spc="-20" dirty="0">
                          <a:latin typeface="Times New Roman"/>
                          <a:cs typeface="Times New Roman"/>
                        </a:rPr>
                        <a:t>disp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3362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5918348" y="3268053"/>
            <a:ext cx="249891" cy="71718"/>
          </a:xfrm>
          <a:custGeom>
            <a:avLst/>
            <a:gdLst/>
            <a:ahLst/>
            <a:cxnLst/>
            <a:rect l="l" t="t" r="r" b="b"/>
            <a:pathLst>
              <a:path w="283210" h="81279">
                <a:moveTo>
                  <a:pt x="202142" y="0"/>
                </a:moveTo>
                <a:lnTo>
                  <a:pt x="202142" y="80857"/>
                </a:lnTo>
                <a:lnTo>
                  <a:pt x="256045" y="53905"/>
                </a:lnTo>
                <a:lnTo>
                  <a:pt x="215618" y="53905"/>
                </a:lnTo>
                <a:lnTo>
                  <a:pt x="215618" y="26951"/>
                </a:lnTo>
                <a:lnTo>
                  <a:pt x="256044" y="26951"/>
                </a:lnTo>
                <a:lnTo>
                  <a:pt x="202142" y="0"/>
                </a:lnTo>
                <a:close/>
              </a:path>
              <a:path w="283210" h="81279">
                <a:moveTo>
                  <a:pt x="202142" y="26951"/>
                </a:moveTo>
                <a:lnTo>
                  <a:pt x="0" y="26951"/>
                </a:lnTo>
                <a:lnTo>
                  <a:pt x="0" y="53905"/>
                </a:lnTo>
                <a:lnTo>
                  <a:pt x="202142" y="53905"/>
                </a:lnTo>
                <a:lnTo>
                  <a:pt x="202142" y="26951"/>
                </a:lnTo>
                <a:close/>
              </a:path>
              <a:path w="283210" h="81279">
                <a:moveTo>
                  <a:pt x="256044" y="26951"/>
                </a:moveTo>
                <a:lnTo>
                  <a:pt x="215618" y="26951"/>
                </a:lnTo>
                <a:lnTo>
                  <a:pt x="215618" y="53905"/>
                </a:lnTo>
                <a:lnTo>
                  <a:pt x="256045" y="53905"/>
                </a:lnTo>
                <a:lnTo>
                  <a:pt x="282997" y="40429"/>
                </a:lnTo>
                <a:lnTo>
                  <a:pt x="256044" y="269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10" name="object 10"/>
          <p:cNvGrpSpPr/>
          <p:nvPr/>
        </p:nvGrpSpPr>
        <p:grpSpPr>
          <a:xfrm>
            <a:off x="4027573" y="3458148"/>
            <a:ext cx="2450166" cy="321609"/>
            <a:chOff x="4021683" y="3648894"/>
            <a:chExt cx="2776855" cy="364490"/>
          </a:xfrm>
        </p:grpSpPr>
        <p:sp>
          <p:nvSpPr>
            <p:cNvPr id="11" name="object 11"/>
            <p:cNvSpPr/>
            <p:nvPr/>
          </p:nvSpPr>
          <p:spPr>
            <a:xfrm>
              <a:off x="4035336" y="3662546"/>
              <a:ext cx="2749550" cy="337185"/>
            </a:xfrm>
            <a:custGeom>
              <a:avLst/>
              <a:gdLst/>
              <a:ahLst/>
              <a:cxnLst/>
              <a:rect l="l" t="t" r="r" b="b"/>
              <a:pathLst>
                <a:path w="2749550" h="337185">
                  <a:moveTo>
                    <a:pt x="0" y="0"/>
                  </a:moveTo>
                  <a:lnTo>
                    <a:pt x="2749126" y="0"/>
                  </a:lnTo>
                  <a:lnTo>
                    <a:pt x="2749126" y="336902"/>
                  </a:lnTo>
                  <a:lnTo>
                    <a:pt x="0" y="336902"/>
                  </a:lnTo>
                  <a:lnTo>
                    <a:pt x="0" y="0"/>
                  </a:lnTo>
                  <a:close/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5598565" y="3662546"/>
              <a:ext cx="0" cy="337185"/>
            </a:xfrm>
            <a:custGeom>
              <a:avLst/>
              <a:gdLst/>
              <a:ahLst/>
              <a:cxnLst/>
              <a:rect l="l" t="t" r="r" b="b"/>
              <a:pathLst>
                <a:path h="337185">
                  <a:moveTo>
                    <a:pt x="0" y="0"/>
                  </a:moveTo>
                  <a:lnTo>
                    <a:pt x="1" y="336902"/>
                  </a:lnTo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168053" y="3470194"/>
            <a:ext cx="297516" cy="296272"/>
          </a:xfrm>
          <a:prstGeom prst="rect">
            <a:avLst/>
          </a:prstGeom>
          <a:ln w="26952">
            <a:solidFill>
              <a:srgbClr val="000000"/>
            </a:solidFill>
          </a:ln>
        </p:spPr>
        <p:txBody>
          <a:bodyPr vert="horz" wrap="square" lIns="0" tIns="52107" rIns="0" bIns="0" rtlCol="0">
            <a:spAutoFit/>
          </a:bodyPr>
          <a:lstStyle/>
          <a:p>
            <a:pPr marL="35300">
              <a:lnSpc>
                <a:spcPts val="1932"/>
              </a:lnSpc>
              <a:spcBef>
                <a:spcPts val="410"/>
              </a:spcBef>
            </a:pPr>
            <a:r>
              <a:rPr sz="1677" b="1" spc="-22" dirty="0">
                <a:latin typeface="Times New Roman"/>
                <a:cs typeface="Times New Roman"/>
              </a:rPr>
              <a:t>00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335705" y="3458304"/>
            <a:ext cx="83484" cy="333375"/>
            <a:chOff x="5504233" y="3649070"/>
            <a:chExt cx="94615" cy="37782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7709" y="3662546"/>
              <a:ext cx="67380" cy="35037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517709" y="3662546"/>
              <a:ext cx="67945" cy="350520"/>
            </a:xfrm>
            <a:custGeom>
              <a:avLst/>
              <a:gdLst/>
              <a:ahLst/>
              <a:cxnLst/>
              <a:rect l="l" t="t" r="r" b="b"/>
              <a:pathLst>
                <a:path w="67945" h="350520">
                  <a:moveTo>
                    <a:pt x="0" y="0"/>
                  </a:moveTo>
                  <a:lnTo>
                    <a:pt x="67380" y="0"/>
                  </a:lnTo>
                  <a:lnTo>
                    <a:pt x="67380" y="350378"/>
                  </a:lnTo>
                  <a:lnTo>
                    <a:pt x="0" y="350378"/>
                  </a:lnTo>
                  <a:lnTo>
                    <a:pt x="0" y="0"/>
                  </a:lnTo>
                  <a:close/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051510" y="3402629"/>
            <a:ext cx="2105025" cy="394150"/>
          </a:xfrm>
          <a:prstGeom prst="rect">
            <a:avLst/>
          </a:prstGeom>
        </p:spPr>
        <p:txBody>
          <a:bodyPr vert="horz" wrap="square" lIns="0" tIns="34738" rIns="0" bIns="0" rtlCol="0">
            <a:spAutoFit/>
          </a:bodyPr>
          <a:lstStyle/>
          <a:p>
            <a:pPr marL="1536969" marR="172019" indent="-26335" algn="r">
              <a:lnSpc>
                <a:spcPts val="1421"/>
              </a:lnSpc>
              <a:spcBef>
                <a:spcPts val="274"/>
              </a:spcBef>
            </a:pPr>
            <a:r>
              <a:rPr sz="1324" b="1" spc="-9" dirty="0">
                <a:latin typeface="Times New Roman"/>
                <a:cs typeface="Times New Roman"/>
              </a:rPr>
              <a:t>cache </a:t>
            </a:r>
            <a:r>
              <a:rPr sz="1324" b="1" spc="-18" dirty="0">
                <a:latin typeface="Times New Roman"/>
                <a:cs typeface="Times New Roman"/>
              </a:rPr>
              <a:t>index</a:t>
            </a:r>
            <a:endParaRPr sz="1324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15338" y="3780433"/>
            <a:ext cx="2036669" cy="113213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b="1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b="1" spc="-9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b="1" spc="-4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b="1" spc="-9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changed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206" marR="4483">
              <a:spcBef>
                <a:spcPts val="115"/>
              </a:spcBef>
            </a:pPr>
            <a:r>
              <a:rPr b="1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b="1" spc="-75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24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b="1" spc="-88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88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translation,</a:t>
            </a:r>
            <a:r>
              <a:rPr b="1" spc="-26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22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b="1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b="1" spc="-4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b="1" spc="-4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needed</a:t>
            </a:r>
            <a:r>
              <a:rPr b="1" spc="-4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b="1" spc="-31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8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 </a:t>
            </a:r>
            <a:r>
              <a:rPr b="1" spc="-9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lookup.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6124" y="4263061"/>
            <a:ext cx="3924860" cy="1197386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b="1" u="sng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  <a:endParaRPr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9728" indent="-156891">
              <a:spcBef>
                <a:spcPts val="600"/>
              </a:spcBef>
              <a:buChar char="-"/>
              <a:tabLst>
                <a:tab pos="359728" algn="l"/>
              </a:tabLst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</a:t>
            </a:r>
            <a:r>
              <a:rPr b="1" spc="-10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b="1" spc="-1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b="1" spc="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KB</a:t>
            </a:r>
            <a:r>
              <a:rPr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b="1" spc="-10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9728" indent="-156891">
              <a:buChar char="-"/>
              <a:tabLst>
                <a:tab pos="359728" algn="l"/>
              </a:tabLst>
            </a:pPr>
            <a:r>
              <a:rPr b="1" spc="49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r>
              <a:rPr b="1" spc="-18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guarantee</a:t>
            </a:r>
            <a:r>
              <a:rPr b="1" spc="-31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9" dirty="0">
                <a:solidFill>
                  <a:srgbClr val="FC01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VA[13]=PA[13]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9728" indent="-156891">
              <a:buChar char="-"/>
              <a:tabLst>
                <a:tab pos="359728" algn="l"/>
              </a:tabLst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</a:t>
            </a:r>
            <a:r>
              <a:rPr b="1" spc="-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b="1" spc="-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</a:t>
            </a:r>
            <a:r>
              <a:rPr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b="1" spc="-2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associative</a:t>
            </a:r>
            <a:r>
              <a:rPr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cache;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672308"/>
              </p:ext>
            </p:extLst>
          </p:nvPr>
        </p:nvGraphicFramePr>
        <p:xfrm>
          <a:off x="2127901" y="5534854"/>
          <a:ext cx="1058396" cy="8410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8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69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0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440">
                <a:tc>
                  <a:txBody>
                    <a:bodyPr/>
                    <a:lstStyle/>
                    <a:p>
                      <a:pPr marL="106680" algn="ctr">
                        <a:lnSpc>
                          <a:spcPts val="1970"/>
                        </a:lnSpc>
                        <a:spcBef>
                          <a:spcPts val="1325"/>
                        </a:spcBef>
                      </a:pPr>
                      <a:r>
                        <a:rPr sz="1600" b="1" spc="-50" dirty="0">
                          <a:latin typeface="Comic Sans MS"/>
                          <a:cs typeface="Comic Sans MS"/>
                        </a:rPr>
                        <a:t>4</a:t>
                      </a:r>
                      <a:endParaRPr sz="1600" dirty="0">
                        <a:latin typeface="Comic Sans MS"/>
                        <a:cs typeface="Comic Sans MS"/>
                      </a:endParaRPr>
                    </a:p>
                  </a:txBody>
                  <a:tcPr marL="0" marR="0" marT="148478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objec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616175"/>
              </p:ext>
            </p:extLst>
          </p:nvPr>
        </p:nvGraphicFramePr>
        <p:xfrm>
          <a:off x="3423987" y="5534854"/>
          <a:ext cx="1093694" cy="8410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3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69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0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440">
                <a:tc>
                  <a:txBody>
                    <a:bodyPr/>
                    <a:lstStyle/>
                    <a:p>
                      <a:pPr marL="66040" algn="ctr">
                        <a:lnSpc>
                          <a:spcPts val="1970"/>
                        </a:lnSpc>
                        <a:spcBef>
                          <a:spcPts val="1325"/>
                        </a:spcBef>
                      </a:pPr>
                      <a:r>
                        <a:rPr sz="1600" b="1" spc="-50" dirty="0">
                          <a:latin typeface="Comic Sans MS"/>
                          <a:cs typeface="Comic Sans MS"/>
                        </a:rPr>
                        <a:t>4</a:t>
                      </a:r>
                      <a:endParaRPr sz="1600" dirty="0">
                        <a:latin typeface="Comic Sans MS"/>
                        <a:cs typeface="Comic Sans MS"/>
                      </a:endParaRPr>
                    </a:p>
                  </a:txBody>
                  <a:tcPr marL="0" marR="0" marT="148478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4685085" y="5766104"/>
            <a:ext cx="259416" cy="26360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632" b="1" spc="-44" dirty="0">
                <a:latin typeface="Comic Sans MS"/>
                <a:cs typeface="Comic Sans MS"/>
              </a:rPr>
              <a:t>1K</a:t>
            </a:r>
            <a:endParaRPr sz="1632">
              <a:latin typeface="Comic Sans MS"/>
              <a:cs typeface="Comic Sans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767635" y="5511073"/>
            <a:ext cx="71718" cy="285750"/>
          </a:xfrm>
          <a:custGeom>
            <a:avLst/>
            <a:gdLst/>
            <a:ahLst/>
            <a:cxnLst/>
            <a:rect l="l" t="t" r="r" b="b"/>
            <a:pathLst>
              <a:path w="81279" h="323850">
                <a:moveTo>
                  <a:pt x="53904" y="67379"/>
                </a:moveTo>
                <a:lnTo>
                  <a:pt x="26952" y="67379"/>
                </a:lnTo>
                <a:lnTo>
                  <a:pt x="26951" y="323427"/>
                </a:lnTo>
                <a:lnTo>
                  <a:pt x="53903" y="323427"/>
                </a:lnTo>
                <a:lnTo>
                  <a:pt x="53904" y="67379"/>
                </a:lnTo>
                <a:close/>
              </a:path>
              <a:path w="81279" h="323850">
                <a:moveTo>
                  <a:pt x="40428" y="0"/>
                </a:moveTo>
                <a:lnTo>
                  <a:pt x="0" y="80857"/>
                </a:lnTo>
                <a:lnTo>
                  <a:pt x="26952" y="80857"/>
                </a:lnTo>
                <a:lnTo>
                  <a:pt x="26952" y="67379"/>
                </a:lnTo>
                <a:lnTo>
                  <a:pt x="74117" y="67379"/>
                </a:lnTo>
                <a:lnTo>
                  <a:pt x="40428" y="0"/>
                </a:lnTo>
                <a:close/>
              </a:path>
              <a:path w="81279" h="323850">
                <a:moveTo>
                  <a:pt x="74117" y="67379"/>
                </a:moveTo>
                <a:lnTo>
                  <a:pt x="53904" y="67379"/>
                </a:lnTo>
                <a:lnTo>
                  <a:pt x="53904" y="80857"/>
                </a:lnTo>
                <a:lnTo>
                  <a:pt x="80856" y="80857"/>
                </a:lnTo>
                <a:lnTo>
                  <a:pt x="74117" y="673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4" name="object 24"/>
          <p:cNvSpPr/>
          <p:nvPr/>
        </p:nvSpPr>
        <p:spPr>
          <a:xfrm>
            <a:off x="4767635" y="6034264"/>
            <a:ext cx="71718" cy="368674"/>
          </a:xfrm>
          <a:custGeom>
            <a:avLst/>
            <a:gdLst/>
            <a:ahLst/>
            <a:cxnLst/>
            <a:rect l="l" t="t" r="r" b="b"/>
            <a:pathLst>
              <a:path w="81279" h="417829">
                <a:moveTo>
                  <a:pt x="26951" y="336902"/>
                </a:moveTo>
                <a:lnTo>
                  <a:pt x="0" y="336902"/>
                </a:lnTo>
                <a:lnTo>
                  <a:pt x="40427" y="417759"/>
                </a:lnTo>
                <a:lnTo>
                  <a:pt x="74117" y="350378"/>
                </a:lnTo>
                <a:lnTo>
                  <a:pt x="26951" y="350378"/>
                </a:lnTo>
                <a:lnTo>
                  <a:pt x="26951" y="336902"/>
                </a:lnTo>
                <a:close/>
              </a:path>
              <a:path w="81279" h="417829">
                <a:moveTo>
                  <a:pt x="53902" y="0"/>
                </a:moveTo>
                <a:lnTo>
                  <a:pt x="26950" y="0"/>
                </a:lnTo>
                <a:lnTo>
                  <a:pt x="26951" y="350378"/>
                </a:lnTo>
                <a:lnTo>
                  <a:pt x="53903" y="350378"/>
                </a:lnTo>
                <a:lnTo>
                  <a:pt x="53902" y="0"/>
                </a:lnTo>
                <a:close/>
              </a:path>
              <a:path w="81279" h="417829">
                <a:moveTo>
                  <a:pt x="80855" y="336902"/>
                </a:moveTo>
                <a:lnTo>
                  <a:pt x="53903" y="336902"/>
                </a:lnTo>
                <a:lnTo>
                  <a:pt x="53903" y="350378"/>
                </a:lnTo>
                <a:lnTo>
                  <a:pt x="74117" y="350378"/>
                </a:lnTo>
                <a:lnTo>
                  <a:pt x="80855" y="3369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25" name="object 25"/>
          <p:cNvGrpSpPr/>
          <p:nvPr/>
        </p:nvGrpSpPr>
        <p:grpSpPr>
          <a:xfrm>
            <a:off x="1533368" y="6022373"/>
            <a:ext cx="309282" cy="606799"/>
            <a:chOff x="2411465" y="6750261"/>
            <a:chExt cx="350520" cy="687705"/>
          </a:xfrm>
        </p:grpSpPr>
        <p:sp>
          <p:nvSpPr>
            <p:cNvPr id="26" name="object 26"/>
            <p:cNvSpPr/>
            <p:nvPr/>
          </p:nvSpPr>
          <p:spPr>
            <a:xfrm>
              <a:off x="2573178" y="6750261"/>
              <a:ext cx="0" cy="687705"/>
            </a:xfrm>
            <a:custGeom>
              <a:avLst/>
              <a:gdLst/>
              <a:ahLst/>
              <a:cxnLst/>
              <a:rect l="l" t="t" r="r" b="b"/>
              <a:pathLst>
                <a:path h="687704">
                  <a:moveTo>
                    <a:pt x="0" y="687281"/>
                  </a:moveTo>
                  <a:lnTo>
                    <a:pt x="1" y="0"/>
                  </a:lnTo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2424941" y="6817642"/>
              <a:ext cx="323850" cy="202565"/>
            </a:xfrm>
            <a:custGeom>
              <a:avLst/>
              <a:gdLst/>
              <a:ahLst/>
              <a:cxnLst/>
              <a:rect l="l" t="t" r="r" b="b"/>
              <a:pathLst>
                <a:path w="323850" h="202565">
                  <a:moveTo>
                    <a:pt x="0" y="0"/>
                  </a:moveTo>
                  <a:lnTo>
                    <a:pt x="323426" y="202141"/>
                  </a:lnTo>
                </a:path>
              </a:pathLst>
            </a:custGeom>
            <a:ln w="269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8" name="object 28"/>
          <p:cNvSpPr/>
          <p:nvPr/>
        </p:nvSpPr>
        <p:spPr>
          <a:xfrm>
            <a:off x="1687946" y="5879685"/>
            <a:ext cx="428065" cy="71718"/>
          </a:xfrm>
          <a:custGeom>
            <a:avLst/>
            <a:gdLst/>
            <a:ahLst/>
            <a:cxnLst/>
            <a:rect l="l" t="t" r="r" b="b"/>
            <a:pathLst>
              <a:path w="485139" h="81279">
                <a:moveTo>
                  <a:pt x="404282" y="0"/>
                </a:moveTo>
                <a:lnTo>
                  <a:pt x="404282" y="80856"/>
                </a:lnTo>
                <a:lnTo>
                  <a:pt x="458187" y="53904"/>
                </a:lnTo>
                <a:lnTo>
                  <a:pt x="417760" y="53904"/>
                </a:lnTo>
                <a:lnTo>
                  <a:pt x="417760" y="26952"/>
                </a:lnTo>
                <a:lnTo>
                  <a:pt x="458187" y="26952"/>
                </a:lnTo>
                <a:lnTo>
                  <a:pt x="404282" y="0"/>
                </a:lnTo>
                <a:close/>
              </a:path>
              <a:path w="485139" h="81279">
                <a:moveTo>
                  <a:pt x="404282" y="26952"/>
                </a:moveTo>
                <a:lnTo>
                  <a:pt x="0" y="26952"/>
                </a:lnTo>
                <a:lnTo>
                  <a:pt x="0" y="53904"/>
                </a:lnTo>
                <a:lnTo>
                  <a:pt x="404282" y="53904"/>
                </a:lnTo>
                <a:lnTo>
                  <a:pt x="404282" y="26952"/>
                </a:lnTo>
                <a:close/>
              </a:path>
              <a:path w="485139" h="81279">
                <a:moveTo>
                  <a:pt x="458187" y="26952"/>
                </a:moveTo>
                <a:lnTo>
                  <a:pt x="417760" y="26952"/>
                </a:lnTo>
                <a:lnTo>
                  <a:pt x="417760" y="53904"/>
                </a:lnTo>
                <a:lnTo>
                  <a:pt x="458187" y="53904"/>
                </a:lnTo>
                <a:lnTo>
                  <a:pt x="485140" y="40428"/>
                </a:lnTo>
                <a:lnTo>
                  <a:pt x="458187" y="269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9" name="object 29"/>
          <p:cNvSpPr txBox="1"/>
          <p:nvPr/>
        </p:nvSpPr>
        <p:spPr>
          <a:xfrm>
            <a:off x="1260566" y="5897886"/>
            <a:ext cx="258856" cy="26360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632" b="1" spc="-40" dirty="0">
                <a:latin typeface="Comic Sans MS"/>
                <a:cs typeface="Comic Sans MS"/>
              </a:rPr>
              <a:t>10</a:t>
            </a:r>
            <a:endParaRPr sz="1632">
              <a:latin typeface="Comic Sans MS"/>
              <a:cs typeface="Comic Sans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220165" y="5741900"/>
            <a:ext cx="2310653" cy="263605"/>
          </a:xfrm>
          <a:prstGeom prst="rect">
            <a:avLst/>
          </a:prstGeom>
        </p:spPr>
        <p:txBody>
          <a:bodyPr vert="horz" wrap="square" lIns="0" tIns="12326" rIns="0" bIns="0" rtlCol="0">
            <a:spAutoFit/>
          </a:bodyPr>
          <a:lstStyle/>
          <a:p>
            <a:pPr marL="11206">
              <a:spcBef>
                <a:spcPts val="97"/>
              </a:spcBef>
            </a:pPr>
            <a:r>
              <a:rPr sz="1632" b="1" spc="-101" dirty="0">
                <a:latin typeface="Comic Sans MS"/>
                <a:cs typeface="Comic Sans MS"/>
              </a:rPr>
              <a:t>2-</a:t>
            </a:r>
            <a:r>
              <a:rPr sz="1632" b="1" dirty="0">
                <a:latin typeface="Comic Sans MS"/>
                <a:cs typeface="Comic Sans MS"/>
              </a:rPr>
              <a:t>way</a:t>
            </a:r>
            <a:r>
              <a:rPr sz="1632" b="1" spc="-71" dirty="0">
                <a:latin typeface="Comic Sans MS"/>
                <a:cs typeface="Comic Sans MS"/>
              </a:rPr>
              <a:t> </a:t>
            </a:r>
            <a:r>
              <a:rPr sz="1632" b="1" dirty="0">
                <a:latin typeface="Comic Sans MS"/>
                <a:cs typeface="Comic Sans MS"/>
              </a:rPr>
              <a:t>set</a:t>
            </a:r>
            <a:r>
              <a:rPr sz="1632" b="1" spc="-66" dirty="0">
                <a:latin typeface="Comic Sans MS"/>
                <a:cs typeface="Comic Sans MS"/>
              </a:rPr>
              <a:t> </a:t>
            </a:r>
            <a:r>
              <a:rPr sz="1632" b="1" dirty="0">
                <a:latin typeface="Comic Sans MS"/>
                <a:cs typeface="Comic Sans MS"/>
              </a:rPr>
              <a:t>assoc</a:t>
            </a:r>
            <a:r>
              <a:rPr sz="1632" b="1" spc="-66" dirty="0">
                <a:latin typeface="Comic Sans MS"/>
                <a:cs typeface="Comic Sans MS"/>
              </a:rPr>
              <a:t> </a:t>
            </a:r>
            <a:r>
              <a:rPr sz="1632" b="1" spc="-18" dirty="0">
                <a:latin typeface="Comic Sans MS"/>
                <a:cs typeface="Comic Sans MS"/>
              </a:rPr>
              <a:t>cache</a:t>
            </a:r>
            <a:endParaRPr sz="1632">
              <a:latin typeface="Comic Sans MS"/>
              <a:cs typeface="Comic Sans MS"/>
            </a:endParaRPr>
          </a:p>
        </p:txBody>
      </p:sp>
      <p:sp>
        <p:nvSpPr>
          <p:cNvPr id="32" name="object 3">
            <a:extLst>
              <a:ext uri="{FF2B5EF4-FFF2-40B4-BE49-F238E27FC236}">
                <a16:creationId xmlns:a16="http://schemas.microsoft.com/office/drawing/2014/main" id="{2CABC4A7-2F94-D146-EF9F-B76B7983E4D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263467" y="620921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35</a:t>
            </a:fld>
            <a:endParaRPr spc="-22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9" grpId="0" animBg="1"/>
      <p:bldP spid="13" grpId="0" animBg="1"/>
      <p:bldP spid="17" grpId="0"/>
      <p:bldP spid="18" grpId="0"/>
      <p:bldP spid="19" grpId="0"/>
      <p:bldP spid="22" grpId="0"/>
      <p:bldP spid="23" grpId="0" animBg="1"/>
      <p:bldP spid="24" grpId="0" animBg="1"/>
      <p:bldP spid="28" grpId="0" animBg="1"/>
      <p:bldP spid="29" grpId="0"/>
      <p:bldP spid="3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68848"/>
            <a:ext cx="7047071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Can</a:t>
            </a:r>
            <a:r>
              <a:rPr spc="-26" dirty="0"/>
              <a:t> </a:t>
            </a:r>
            <a:r>
              <a:rPr dirty="0"/>
              <a:t>CPU</a:t>
            </a:r>
            <a:r>
              <a:rPr spc="-35" dirty="0"/>
              <a:t> </a:t>
            </a:r>
            <a:r>
              <a:rPr dirty="0"/>
              <a:t>use</a:t>
            </a:r>
            <a:r>
              <a:rPr spc="-35" dirty="0"/>
              <a:t> </a:t>
            </a:r>
            <a:r>
              <a:rPr dirty="0"/>
              <a:t>virtual</a:t>
            </a:r>
            <a:r>
              <a:rPr spc="-26" dirty="0"/>
              <a:t> </a:t>
            </a:r>
            <a:r>
              <a:rPr dirty="0"/>
              <a:t>addresses</a:t>
            </a:r>
            <a:r>
              <a:rPr spc="-31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spc="-9" dirty="0"/>
              <a:t>cache?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89" y="3997420"/>
            <a:ext cx="7860849" cy="222474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78481" indent="-267275">
              <a:spcBef>
                <a:spcPts val="88"/>
              </a:spcBef>
              <a:spcAft>
                <a:spcPts val="2400"/>
              </a:spcAft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index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virtual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address,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cache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misses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TLB!</a:t>
            </a:r>
            <a:endParaRPr sz="2400" dirty="0">
              <a:latin typeface="Calibri"/>
              <a:cs typeface="Calibri"/>
            </a:endParaRPr>
          </a:p>
          <a:p>
            <a:pPr marL="278481" marR="699284" indent="-267835"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Downside: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subtle,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fatal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problem:</a:t>
            </a:r>
            <a:r>
              <a:rPr sz="2400" spc="53" dirty="0">
                <a:latin typeface="Calibri"/>
                <a:cs typeface="Calibri"/>
              </a:rPr>
              <a:t> </a:t>
            </a:r>
            <a:br>
              <a:rPr lang="en-US" sz="2400" spc="53" dirty="0">
                <a:latin typeface="Calibri"/>
                <a:cs typeface="Calibri"/>
              </a:rPr>
            </a:br>
            <a:r>
              <a:rPr sz="2400" b="1" dirty="0">
                <a:latin typeface="Calibri"/>
                <a:cs typeface="Calibri"/>
              </a:rPr>
              <a:t>Synonym</a:t>
            </a:r>
            <a:r>
              <a:rPr sz="2400" b="1" spc="88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problem (Aliasing)</a:t>
            </a:r>
            <a:endParaRPr sz="2400" dirty="0">
              <a:latin typeface="Calibri"/>
              <a:cs typeface="Calibri"/>
            </a:endParaRPr>
          </a:p>
          <a:p>
            <a:pPr marL="653338" marR="4483" indent="-214044">
              <a:spcBef>
                <a:spcPts val="679"/>
              </a:spcBef>
            </a:pPr>
            <a:r>
              <a:rPr sz="2400" dirty="0">
                <a:latin typeface="Calibri"/>
                <a:cs typeface="Calibri"/>
              </a:rPr>
              <a:t>–</a:t>
            </a:r>
            <a:r>
              <a:rPr sz="2400" spc="41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two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(virtual) address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spaces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share a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physical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frame,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may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 in </a:t>
            </a:r>
            <a:r>
              <a:rPr sz="2200" spc="-9" dirty="0">
                <a:latin typeface="Calibri"/>
                <a:cs typeface="Calibri"/>
              </a:rPr>
              <a:t>cache </a:t>
            </a:r>
            <a:r>
              <a:rPr sz="2200" dirty="0">
                <a:latin typeface="Calibri"/>
                <a:cs typeface="Calibri"/>
              </a:rPr>
              <a:t>twice.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Maintaining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consistency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nightmare.</a:t>
            </a:r>
            <a:endParaRPr sz="2200" dirty="0">
              <a:latin typeface="Calibri"/>
              <a:cs typeface="Calibri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80EF0FA-8221-F832-5C85-A0F634725566}"/>
              </a:ext>
            </a:extLst>
          </p:cNvPr>
          <p:cNvGrpSpPr/>
          <p:nvPr/>
        </p:nvGrpSpPr>
        <p:grpSpPr>
          <a:xfrm>
            <a:off x="703068" y="1419562"/>
            <a:ext cx="7729382" cy="2273704"/>
            <a:chOff x="703068" y="1221442"/>
            <a:chExt cx="7729382" cy="2273704"/>
          </a:xfrm>
        </p:grpSpPr>
        <p:grpSp>
          <p:nvGrpSpPr>
            <p:cNvPr id="4" name="object 4"/>
            <p:cNvGrpSpPr/>
            <p:nvPr/>
          </p:nvGrpSpPr>
          <p:grpSpPr>
            <a:xfrm>
              <a:off x="1238150" y="1502895"/>
              <a:ext cx="6269131" cy="1991846"/>
              <a:chOff x="1250836" y="1703281"/>
              <a:chExt cx="7105015" cy="2257425"/>
            </a:xfrm>
          </p:grpSpPr>
          <p:sp>
            <p:nvSpPr>
              <p:cNvPr id="5" name="object 5"/>
              <p:cNvSpPr/>
              <p:nvPr/>
            </p:nvSpPr>
            <p:spPr>
              <a:xfrm>
                <a:off x="1313162" y="3933755"/>
                <a:ext cx="70262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7026275">
                    <a:moveTo>
                      <a:pt x="0" y="0"/>
                    </a:moveTo>
                    <a:lnTo>
                      <a:pt x="7026107" y="1"/>
                    </a:lnTo>
                  </a:path>
                </a:pathLst>
              </a:custGeom>
              <a:ln w="269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1277785" y="3495788"/>
                <a:ext cx="7078345" cy="465455"/>
              </a:xfrm>
              <a:custGeom>
                <a:avLst/>
                <a:gdLst/>
                <a:ahLst/>
                <a:cxnLst/>
                <a:rect l="l" t="t" r="r" b="b"/>
                <a:pathLst>
                  <a:path w="7078345" h="465454">
                    <a:moveTo>
                      <a:pt x="80860" y="357111"/>
                    </a:moveTo>
                    <a:lnTo>
                      <a:pt x="53898" y="375081"/>
                    </a:lnTo>
                    <a:lnTo>
                      <a:pt x="53898" y="62890"/>
                    </a:lnTo>
                    <a:lnTo>
                      <a:pt x="80848" y="80848"/>
                    </a:lnTo>
                    <a:lnTo>
                      <a:pt x="67373" y="53898"/>
                    </a:lnTo>
                    <a:lnTo>
                      <a:pt x="40424" y="0"/>
                    </a:lnTo>
                    <a:lnTo>
                      <a:pt x="0" y="80848"/>
                    </a:lnTo>
                    <a:lnTo>
                      <a:pt x="26949" y="62890"/>
                    </a:lnTo>
                    <a:lnTo>
                      <a:pt x="26949" y="375081"/>
                    </a:lnTo>
                    <a:lnTo>
                      <a:pt x="0" y="357111"/>
                    </a:lnTo>
                    <a:lnTo>
                      <a:pt x="40424" y="437972"/>
                    </a:lnTo>
                    <a:lnTo>
                      <a:pt x="67373" y="384060"/>
                    </a:lnTo>
                    <a:lnTo>
                      <a:pt x="80860" y="357111"/>
                    </a:lnTo>
                    <a:close/>
                  </a:path>
                  <a:path w="7078345" h="465454">
                    <a:moveTo>
                      <a:pt x="7077735" y="383781"/>
                    </a:moveTo>
                    <a:lnTo>
                      <a:pt x="7050913" y="401942"/>
                    </a:lnTo>
                    <a:lnTo>
                      <a:pt x="7048462" y="62979"/>
                    </a:lnTo>
                    <a:lnTo>
                      <a:pt x="7048462" y="62788"/>
                    </a:lnTo>
                    <a:lnTo>
                      <a:pt x="7075538" y="80556"/>
                    </a:lnTo>
                    <a:lnTo>
                      <a:pt x="7062013" y="54000"/>
                    </a:lnTo>
                    <a:lnTo>
                      <a:pt x="7034530" y="0"/>
                    </a:lnTo>
                    <a:lnTo>
                      <a:pt x="6994690" y="81140"/>
                    </a:lnTo>
                    <a:lnTo>
                      <a:pt x="7021512" y="62979"/>
                    </a:lnTo>
                    <a:lnTo>
                      <a:pt x="7023963" y="401942"/>
                    </a:lnTo>
                    <a:lnTo>
                      <a:pt x="7023963" y="402132"/>
                    </a:lnTo>
                    <a:lnTo>
                      <a:pt x="6996887" y="384365"/>
                    </a:lnTo>
                    <a:lnTo>
                      <a:pt x="7037895" y="464921"/>
                    </a:lnTo>
                    <a:lnTo>
                      <a:pt x="7064311" y="411111"/>
                    </a:lnTo>
                    <a:lnTo>
                      <a:pt x="7077735" y="38378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1311478" y="1716934"/>
                <a:ext cx="3729990" cy="13970"/>
              </a:xfrm>
              <a:custGeom>
                <a:avLst/>
                <a:gdLst/>
                <a:ahLst/>
                <a:cxnLst/>
                <a:rect l="l" t="t" r="r" b="b"/>
                <a:pathLst>
                  <a:path w="3729990" h="13969">
                    <a:moveTo>
                      <a:pt x="3729513" y="13476"/>
                    </a:moveTo>
                    <a:lnTo>
                      <a:pt x="0" y="0"/>
                    </a:lnTo>
                  </a:path>
                </a:pathLst>
              </a:custGeom>
              <a:ln w="269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1250835" y="1703463"/>
                <a:ext cx="710247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7102475" h="438150">
                    <a:moveTo>
                      <a:pt x="80848" y="80860"/>
                    </a:moveTo>
                    <a:lnTo>
                      <a:pt x="67373" y="53898"/>
                    </a:lnTo>
                    <a:lnTo>
                      <a:pt x="40424" y="0"/>
                    </a:lnTo>
                    <a:lnTo>
                      <a:pt x="0" y="80860"/>
                    </a:lnTo>
                    <a:lnTo>
                      <a:pt x="26949" y="62890"/>
                    </a:lnTo>
                    <a:lnTo>
                      <a:pt x="26949" y="424497"/>
                    </a:lnTo>
                    <a:lnTo>
                      <a:pt x="53898" y="424497"/>
                    </a:lnTo>
                    <a:lnTo>
                      <a:pt x="53898" y="62890"/>
                    </a:lnTo>
                    <a:lnTo>
                      <a:pt x="80848" y="80860"/>
                    </a:lnTo>
                    <a:close/>
                  </a:path>
                  <a:path w="7102475" h="438150">
                    <a:moveTo>
                      <a:pt x="7101903" y="357111"/>
                    </a:moveTo>
                    <a:lnTo>
                      <a:pt x="7074954" y="375081"/>
                    </a:lnTo>
                    <a:lnTo>
                      <a:pt x="7074954" y="13474"/>
                    </a:lnTo>
                    <a:lnTo>
                      <a:pt x="7048005" y="13474"/>
                    </a:lnTo>
                    <a:lnTo>
                      <a:pt x="7048005" y="375081"/>
                    </a:lnTo>
                    <a:lnTo>
                      <a:pt x="7021055" y="357111"/>
                    </a:lnTo>
                    <a:lnTo>
                      <a:pt x="7061479" y="437972"/>
                    </a:lnTo>
                    <a:lnTo>
                      <a:pt x="7088429" y="384073"/>
                    </a:lnTo>
                    <a:lnTo>
                      <a:pt x="7101903" y="35711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9" name="object 9"/>
            <p:cNvSpPr txBox="1"/>
            <p:nvPr/>
          </p:nvSpPr>
          <p:spPr>
            <a:xfrm>
              <a:off x="703068" y="1889499"/>
              <a:ext cx="1189504" cy="1092350"/>
            </a:xfrm>
            <a:prstGeom prst="rect">
              <a:avLst/>
            </a:prstGeom>
            <a:ln w="26952">
              <a:solidFill>
                <a:srgbClr val="000000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340677">
                <a:lnSpc>
                  <a:spcPts val="1275"/>
                </a:lnSpc>
              </a:pPr>
              <a:r>
                <a:rPr sz="1235" b="1" spc="-22" dirty="0">
                  <a:latin typeface="Times New Roman"/>
                  <a:cs typeface="Times New Roman"/>
                </a:rPr>
                <a:t>A0-A31</a:t>
              </a:r>
              <a:endParaRPr sz="1235">
                <a:latin typeface="Times New Roman"/>
                <a:cs typeface="Times New Roman"/>
              </a:endParaRPr>
            </a:p>
            <a:p>
              <a:pPr marL="313221">
                <a:spcBef>
                  <a:spcPts val="1218"/>
                </a:spcBef>
              </a:pPr>
              <a:r>
                <a:rPr sz="2030" b="1" spc="-22" dirty="0">
                  <a:solidFill>
                    <a:srgbClr val="053DE8"/>
                  </a:solidFill>
                  <a:latin typeface="Times New Roman"/>
                  <a:cs typeface="Times New Roman"/>
                </a:rPr>
                <a:t>CPU</a:t>
              </a:r>
              <a:endParaRPr sz="2030">
                <a:latin typeface="Times New Roman"/>
                <a:cs typeface="Times New Roman"/>
              </a:endParaRPr>
            </a:p>
            <a:p>
              <a:pPr marL="353004">
                <a:spcBef>
                  <a:spcPts val="2149"/>
                </a:spcBef>
              </a:pPr>
              <a:r>
                <a:rPr sz="1235" b="1" spc="-22" dirty="0">
                  <a:latin typeface="Times New Roman"/>
                  <a:cs typeface="Times New Roman"/>
                </a:rPr>
                <a:t>D0-D31</a:t>
              </a:r>
              <a:endParaRPr sz="1235">
                <a:latin typeface="Times New Roman"/>
                <a:cs typeface="Times New Roman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6493832" y="1889499"/>
              <a:ext cx="1938618" cy="1102112"/>
            </a:xfrm>
            <a:prstGeom prst="rect">
              <a:avLst/>
            </a:prstGeom>
            <a:ln w="26952">
              <a:solidFill>
                <a:srgbClr val="000000"/>
              </a:solidFill>
            </a:ln>
          </p:spPr>
          <p:txBody>
            <a:bodyPr vert="horz" wrap="square" lIns="0" tIns="24653" rIns="0" bIns="0" rtlCol="0">
              <a:spAutoFit/>
            </a:bodyPr>
            <a:lstStyle/>
            <a:p>
              <a:pPr marL="750834">
                <a:spcBef>
                  <a:spcPts val="194"/>
                </a:spcBef>
              </a:pPr>
              <a:r>
                <a:rPr sz="1235" b="1" spc="-22" dirty="0">
                  <a:latin typeface="Times New Roman"/>
                  <a:cs typeface="Times New Roman"/>
                </a:rPr>
                <a:t>A0-A31</a:t>
              </a:r>
              <a:endParaRPr sz="1235">
                <a:latin typeface="Times New Roman"/>
                <a:cs typeface="Times New Roman"/>
              </a:endParaRPr>
            </a:p>
            <a:p>
              <a:pPr marL="177623">
                <a:spcBef>
                  <a:spcPts val="984"/>
                </a:spcBef>
              </a:pPr>
              <a:r>
                <a:rPr sz="2030" b="1" dirty="0">
                  <a:solidFill>
                    <a:srgbClr val="053DE8"/>
                  </a:solidFill>
                  <a:latin typeface="Times New Roman"/>
                  <a:cs typeface="Times New Roman"/>
                </a:rPr>
                <a:t>Main</a:t>
              </a:r>
              <a:r>
                <a:rPr sz="2030" b="1" spc="40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2030" b="1" spc="-9" dirty="0">
                  <a:solidFill>
                    <a:srgbClr val="053DE8"/>
                  </a:solidFill>
                  <a:latin typeface="Times New Roman"/>
                  <a:cs typeface="Times New Roman"/>
                </a:rPr>
                <a:t>Memory</a:t>
              </a:r>
              <a:endParaRPr sz="2030">
                <a:latin typeface="Times New Roman"/>
                <a:cs typeface="Times New Roman"/>
              </a:endParaRPr>
            </a:p>
            <a:p>
              <a:pPr marL="721136">
                <a:spcBef>
                  <a:spcPts val="1981"/>
                </a:spcBef>
              </a:pPr>
              <a:r>
                <a:rPr sz="1235" b="1" spc="-22" dirty="0">
                  <a:latin typeface="Times New Roman"/>
                  <a:cs typeface="Times New Roman"/>
                </a:rPr>
                <a:t>D0-D31</a:t>
              </a:r>
              <a:endParaRPr sz="1235">
                <a:latin typeface="Times New Roman"/>
                <a:cs typeface="Times New Roman"/>
              </a:endParaRPr>
            </a:p>
          </p:txBody>
        </p:sp>
        <p:grpSp>
          <p:nvGrpSpPr>
            <p:cNvPr id="11" name="object 11"/>
            <p:cNvGrpSpPr/>
            <p:nvPr/>
          </p:nvGrpSpPr>
          <p:grpSpPr>
            <a:xfrm>
              <a:off x="4174994" y="1514942"/>
              <a:ext cx="1962710" cy="1777813"/>
              <a:chOff x="4579259" y="1716934"/>
              <a:chExt cx="2224405" cy="2014855"/>
            </a:xfrm>
          </p:grpSpPr>
          <p:sp>
            <p:nvSpPr>
              <p:cNvPr id="12" name="object 12"/>
              <p:cNvSpPr/>
              <p:nvPr/>
            </p:nvSpPr>
            <p:spPr>
              <a:xfrm>
                <a:off x="4592911" y="2141432"/>
                <a:ext cx="2197100" cy="1576705"/>
              </a:xfrm>
              <a:custGeom>
                <a:avLst/>
                <a:gdLst/>
                <a:ahLst/>
                <a:cxnLst/>
                <a:rect l="l" t="t" r="r" b="b"/>
                <a:pathLst>
                  <a:path w="2197100" h="1576704">
                    <a:moveTo>
                      <a:pt x="0" y="0"/>
                    </a:moveTo>
                    <a:lnTo>
                      <a:pt x="2196605" y="0"/>
                    </a:lnTo>
                    <a:lnTo>
                      <a:pt x="2196605" y="1576704"/>
                    </a:lnTo>
                    <a:lnTo>
                      <a:pt x="0" y="1576704"/>
                    </a:lnTo>
                    <a:lnTo>
                      <a:pt x="0" y="0"/>
                    </a:lnTo>
                    <a:close/>
                  </a:path>
                </a:pathLst>
              </a:custGeom>
              <a:ln w="269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4983719" y="1716934"/>
                <a:ext cx="81280" cy="424815"/>
              </a:xfrm>
              <a:custGeom>
                <a:avLst/>
                <a:gdLst/>
                <a:ahLst/>
                <a:cxnLst/>
                <a:rect l="l" t="t" r="r" b="b"/>
                <a:pathLst>
                  <a:path w="81279" h="424814">
                    <a:moveTo>
                      <a:pt x="0" y="343640"/>
                    </a:moveTo>
                    <a:lnTo>
                      <a:pt x="40427" y="424497"/>
                    </a:lnTo>
                    <a:lnTo>
                      <a:pt x="67380" y="370592"/>
                    </a:lnTo>
                    <a:lnTo>
                      <a:pt x="26951" y="370592"/>
                    </a:lnTo>
                    <a:lnTo>
                      <a:pt x="26951" y="361608"/>
                    </a:lnTo>
                    <a:lnTo>
                      <a:pt x="0" y="343640"/>
                    </a:lnTo>
                    <a:close/>
                  </a:path>
                  <a:path w="81279" h="424814">
                    <a:moveTo>
                      <a:pt x="26951" y="361608"/>
                    </a:moveTo>
                    <a:lnTo>
                      <a:pt x="26951" y="370592"/>
                    </a:lnTo>
                    <a:lnTo>
                      <a:pt x="40427" y="370592"/>
                    </a:lnTo>
                    <a:lnTo>
                      <a:pt x="26951" y="361608"/>
                    </a:lnTo>
                    <a:close/>
                  </a:path>
                  <a:path w="81279" h="424814">
                    <a:moveTo>
                      <a:pt x="53902" y="0"/>
                    </a:moveTo>
                    <a:lnTo>
                      <a:pt x="26950" y="0"/>
                    </a:lnTo>
                    <a:lnTo>
                      <a:pt x="26951" y="361608"/>
                    </a:lnTo>
                    <a:lnTo>
                      <a:pt x="40427" y="370592"/>
                    </a:lnTo>
                    <a:lnTo>
                      <a:pt x="53903" y="361608"/>
                    </a:lnTo>
                    <a:lnTo>
                      <a:pt x="53902" y="0"/>
                    </a:lnTo>
                    <a:close/>
                  </a:path>
                  <a:path w="81279" h="424814">
                    <a:moveTo>
                      <a:pt x="53903" y="361608"/>
                    </a:moveTo>
                    <a:lnTo>
                      <a:pt x="40427" y="370592"/>
                    </a:lnTo>
                    <a:lnTo>
                      <a:pt x="53903" y="370592"/>
                    </a:lnTo>
                    <a:lnTo>
                      <a:pt x="53903" y="361608"/>
                    </a:lnTo>
                    <a:close/>
                  </a:path>
                  <a:path w="81279" h="424814">
                    <a:moveTo>
                      <a:pt x="80855" y="343640"/>
                    </a:moveTo>
                    <a:lnTo>
                      <a:pt x="53903" y="361608"/>
                    </a:lnTo>
                    <a:lnTo>
                      <a:pt x="53903" y="370592"/>
                    </a:lnTo>
                    <a:lnTo>
                      <a:pt x="67380" y="370592"/>
                    </a:lnTo>
                    <a:lnTo>
                      <a:pt x="80855" y="34364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14" name="object 14"/>
            <p:cNvSpPr txBox="1"/>
            <p:nvPr/>
          </p:nvSpPr>
          <p:spPr>
            <a:xfrm>
              <a:off x="4329607" y="1870933"/>
              <a:ext cx="1630456" cy="1278650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>
                <a:spcBef>
                  <a:spcPts val="88"/>
                </a:spcBef>
                <a:tabLst>
                  <a:tab pos="1068538" algn="l"/>
                </a:tabLst>
              </a:pPr>
              <a:r>
                <a:rPr sz="1235" b="1" spc="-9" dirty="0">
                  <a:latin typeface="Times New Roman"/>
                  <a:cs typeface="Times New Roman"/>
                </a:rPr>
                <a:t>Virtual</a:t>
              </a:r>
              <a:r>
                <a:rPr sz="1235" b="1" dirty="0">
                  <a:latin typeface="Times New Roman"/>
                  <a:cs typeface="Times New Roman"/>
                </a:rPr>
                <a:t>	</a:t>
              </a:r>
              <a:r>
                <a:rPr sz="1853" b="1" spc="-13" baseline="1984" dirty="0">
                  <a:latin typeface="Times New Roman"/>
                  <a:cs typeface="Times New Roman"/>
                </a:rPr>
                <a:t>Physical</a:t>
              </a:r>
              <a:endParaRPr sz="1853" baseline="1984">
                <a:latin typeface="Times New Roman"/>
                <a:cs typeface="Times New Roman"/>
              </a:endParaRPr>
            </a:p>
            <a:p>
              <a:pPr marL="197793" marR="133917" indent="-1121" algn="ctr">
                <a:lnSpc>
                  <a:spcPts val="2030"/>
                </a:lnSpc>
                <a:spcBef>
                  <a:spcPts val="415"/>
                </a:spcBef>
              </a:pPr>
              <a:r>
                <a:rPr sz="2030" b="1" spc="-9" dirty="0">
                  <a:solidFill>
                    <a:srgbClr val="053DE8"/>
                  </a:solidFill>
                  <a:latin typeface="Times New Roman"/>
                  <a:cs typeface="Times New Roman"/>
                </a:rPr>
                <a:t>Translation </a:t>
              </a:r>
              <a:r>
                <a:rPr sz="2030" b="1" dirty="0">
                  <a:solidFill>
                    <a:srgbClr val="053DE8"/>
                  </a:solidFill>
                  <a:latin typeface="Times New Roman"/>
                  <a:cs typeface="Times New Roman"/>
                </a:rPr>
                <a:t>Look-</a:t>
              </a:r>
              <a:r>
                <a:rPr sz="2030" b="1" spc="-18" dirty="0">
                  <a:solidFill>
                    <a:srgbClr val="053DE8"/>
                  </a:solidFill>
                  <a:latin typeface="Times New Roman"/>
                  <a:cs typeface="Times New Roman"/>
                </a:rPr>
                <a:t>Aside </a:t>
              </a:r>
              <a:r>
                <a:rPr sz="2030" b="1" spc="-9" dirty="0">
                  <a:solidFill>
                    <a:srgbClr val="053DE8"/>
                  </a:solidFill>
                  <a:latin typeface="Times New Roman"/>
                  <a:cs typeface="Times New Roman"/>
                </a:rPr>
                <a:t>Buffer (TLB)</a:t>
              </a:r>
              <a:endParaRPr sz="2030">
                <a:latin typeface="Times New Roman"/>
                <a:cs typeface="Times New Roman"/>
              </a:endParaRPr>
            </a:p>
          </p:txBody>
        </p:sp>
        <p:grpSp>
          <p:nvGrpSpPr>
            <p:cNvPr id="15" name="object 15"/>
            <p:cNvGrpSpPr/>
            <p:nvPr/>
          </p:nvGrpSpPr>
          <p:grpSpPr>
            <a:xfrm>
              <a:off x="5637703" y="1496950"/>
              <a:ext cx="1859616" cy="381000"/>
              <a:chOff x="6236996" y="1696543"/>
              <a:chExt cx="2107565" cy="431800"/>
            </a:xfrm>
          </p:grpSpPr>
          <p:sp>
            <p:nvSpPr>
              <p:cNvPr id="16" name="object 16"/>
              <p:cNvSpPr/>
              <p:nvPr/>
            </p:nvSpPr>
            <p:spPr>
              <a:xfrm>
                <a:off x="6295954" y="1710196"/>
                <a:ext cx="2035175" cy="0"/>
              </a:xfrm>
              <a:custGeom>
                <a:avLst/>
                <a:gdLst/>
                <a:ahLst/>
                <a:cxnLst/>
                <a:rect l="l" t="t" r="r" b="b"/>
                <a:pathLst>
                  <a:path w="2035175">
                    <a:moveTo>
                      <a:pt x="2034892" y="0"/>
                    </a:moveTo>
                    <a:lnTo>
                      <a:pt x="0" y="1"/>
                    </a:lnTo>
                  </a:path>
                </a:pathLst>
              </a:custGeom>
              <a:ln w="2695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6236996" y="1703458"/>
                <a:ext cx="81280" cy="424815"/>
              </a:xfrm>
              <a:custGeom>
                <a:avLst/>
                <a:gdLst/>
                <a:ahLst/>
                <a:cxnLst/>
                <a:rect l="l" t="t" r="r" b="b"/>
                <a:pathLst>
                  <a:path w="81279" h="424814">
                    <a:moveTo>
                      <a:pt x="40429" y="53903"/>
                    </a:moveTo>
                    <a:lnTo>
                      <a:pt x="26953" y="62887"/>
                    </a:lnTo>
                    <a:lnTo>
                      <a:pt x="26953" y="424497"/>
                    </a:lnTo>
                    <a:lnTo>
                      <a:pt x="53906" y="424497"/>
                    </a:lnTo>
                    <a:lnTo>
                      <a:pt x="53905" y="62887"/>
                    </a:lnTo>
                    <a:lnTo>
                      <a:pt x="40429" y="53903"/>
                    </a:lnTo>
                    <a:close/>
                  </a:path>
                  <a:path w="81279" h="424814">
                    <a:moveTo>
                      <a:pt x="40429" y="0"/>
                    </a:moveTo>
                    <a:lnTo>
                      <a:pt x="0" y="80855"/>
                    </a:lnTo>
                    <a:lnTo>
                      <a:pt x="26952" y="62887"/>
                    </a:lnTo>
                    <a:lnTo>
                      <a:pt x="26953" y="53903"/>
                    </a:lnTo>
                    <a:lnTo>
                      <a:pt x="67381" y="53903"/>
                    </a:lnTo>
                    <a:lnTo>
                      <a:pt x="40429" y="0"/>
                    </a:lnTo>
                    <a:close/>
                  </a:path>
                  <a:path w="81279" h="424814">
                    <a:moveTo>
                      <a:pt x="67381" y="53903"/>
                    </a:moveTo>
                    <a:lnTo>
                      <a:pt x="53905" y="53903"/>
                    </a:lnTo>
                    <a:lnTo>
                      <a:pt x="53905" y="62887"/>
                    </a:lnTo>
                    <a:lnTo>
                      <a:pt x="80857" y="80855"/>
                    </a:lnTo>
                    <a:lnTo>
                      <a:pt x="67381" y="53903"/>
                    </a:lnTo>
                    <a:close/>
                  </a:path>
                  <a:path w="81279" h="424814">
                    <a:moveTo>
                      <a:pt x="40429" y="53903"/>
                    </a:moveTo>
                    <a:lnTo>
                      <a:pt x="26953" y="53903"/>
                    </a:lnTo>
                    <a:lnTo>
                      <a:pt x="26953" y="62887"/>
                    </a:lnTo>
                    <a:lnTo>
                      <a:pt x="40429" y="53903"/>
                    </a:lnTo>
                    <a:close/>
                  </a:path>
                  <a:path w="81279" h="424814">
                    <a:moveTo>
                      <a:pt x="53905" y="53903"/>
                    </a:moveTo>
                    <a:lnTo>
                      <a:pt x="40429" y="53903"/>
                    </a:lnTo>
                    <a:lnTo>
                      <a:pt x="53905" y="62887"/>
                    </a:lnTo>
                    <a:lnTo>
                      <a:pt x="53905" y="5390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18" name="object 18"/>
            <p:cNvSpPr txBox="1"/>
            <p:nvPr/>
          </p:nvSpPr>
          <p:spPr>
            <a:xfrm>
              <a:off x="1485863" y="1221442"/>
              <a:ext cx="6219824" cy="3237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  <a:tabLst>
                  <a:tab pos="3836538" algn="l"/>
                </a:tabLst>
              </a:pPr>
              <a:r>
                <a:rPr sz="2978" baseline="2469" dirty="0">
                  <a:solidFill>
                    <a:srgbClr val="053DE8"/>
                  </a:solidFill>
                  <a:latin typeface="MS PGothic"/>
                  <a:cs typeface="MS PGothic"/>
                </a:rPr>
                <a:t>“</a:t>
              </a:r>
              <a:r>
                <a:rPr sz="3044" b="1" baseline="1207" dirty="0">
                  <a:solidFill>
                    <a:srgbClr val="053DE8"/>
                  </a:solidFill>
                  <a:latin typeface="Times New Roman"/>
                  <a:cs typeface="Times New Roman"/>
                </a:rPr>
                <a:t>Virtual</a:t>
              </a:r>
              <a:r>
                <a:rPr sz="3044" b="1" spc="-59" baseline="1207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3044" b="1" spc="-13" baseline="1207" dirty="0">
                  <a:solidFill>
                    <a:srgbClr val="053DE8"/>
                  </a:solidFill>
                  <a:latin typeface="Times New Roman"/>
                  <a:cs typeface="Times New Roman"/>
                </a:rPr>
                <a:t>Addresses</a:t>
              </a:r>
              <a:r>
                <a:rPr sz="2978" spc="-13" baseline="2469" dirty="0">
                  <a:solidFill>
                    <a:srgbClr val="053DE8"/>
                  </a:solidFill>
                  <a:latin typeface="MS PGothic"/>
                  <a:cs typeface="MS PGothic"/>
                </a:rPr>
                <a:t>”</a:t>
              </a:r>
              <a:r>
                <a:rPr sz="2978" baseline="2469" dirty="0">
                  <a:solidFill>
                    <a:srgbClr val="053DE8"/>
                  </a:solidFill>
                  <a:latin typeface="MS PGothic"/>
                  <a:cs typeface="MS PGothic"/>
                </a:rPr>
                <a:t>	</a:t>
              </a:r>
              <a:r>
                <a:rPr sz="2978" baseline="1234" dirty="0">
                  <a:solidFill>
                    <a:srgbClr val="053DE8"/>
                  </a:solidFill>
                  <a:latin typeface="MS PGothic"/>
                  <a:cs typeface="MS PGothic"/>
                </a:rPr>
                <a:t>“</a:t>
              </a:r>
              <a:r>
                <a:rPr sz="2030" b="1" dirty="0">
                  <a:solidFill>
                    <a:srgbClr val="053DE8"/>
                  </a:solidFill>
                  <a:latin typeface="Times New Roman"/>
                  <a:cs typeface="Times New Roman"/>
                </a:rPr>
                <a:t>Physical</a:t>
              </a:r>
              <a:r>
                <a:rPr sz="2030" b="1" spc="35" dirty="0">
                  <a:solidFill>
                    <a:srgbClr val="053DE8"/>
                  </a:solidFill>
                  <a:latin typeface="Times New Roman"/>
                  <a:cs typeface="Times New Roman"/>
                </a:rPr>
                <a:t> </a:t>
              </a:r>
              <a:r>
                <a:rPr sz="2030" b="1" spc="-9" dirty="0">
                  <a:solidFill>
                    <a:srgbClr val="053DE8"/>
                  </a:solidFill>
                  <a:latin typeface="Times New Roman"/>
                  <a:cs typeface="Times New Roman"/>
                </a:rPr>
                <a:t>Addresses</a:t>
              </a:r>
              <a:r>
                <a:rPr sz="2978" spc="-13" baseline="1234" dirty="0">
                  <a:solidFill>
                    <a:srgbClr val="053DE8"/>
                  </a:solidFill>
                  <a:latin typeface="MS PGothic"/>
                  <a:cs typeface="MS PGothic"/>
                </a:rPr>
                <a:t>”</a:t>
              </a:r>
              <a:endParaRPr sz="2978" baseline="1234">
                <a:latin typeface="MS PGothic"/>
                <a:cs typeface="MS PGothic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2974771" y="1520791"/>
              <a:ext cx="71718" cy="547407"/>
            </a:xfrm>
            <a:custGeom>
              <a:avLst/>
              <a:gdLst/>
              <a:ahLst/>
              <a:cxnLst/>
              <a:rect l="l" t="t" r="r" b="b"/>
              <a:pathLst>
                <a:path w="81279" h="620394">
                  <a:moveTo>
                    <a:pt x="0" y="538826"/>
                  </a:moveTo>
                  <a:lnTo>
                    <a:pt x="39768" y="620010"/>
                  </a:lnTo>
                  <a:lnTo>
                    <a:pt x="67215" y="566218"/>
                  </a:lnTo>
                  <a:lnTo>
                    <a:pt x="26730" y="566218"/>
                  </a:lnTo>
                  <a:lnTo>
                    <a:pt x="26805" y="557013"/>
                  </a:lnTo>
                  <a:lnTo>
                    <a:pt x="0" y="538826"/>
                  </a:lnTo>
                  <a:close/>
                </a:path>
                <a:path w="81279" h="620394">
                  <a:moveTo>
                    <a:pt x="26805" y="557013"/>
                  </a:moveTo>
                  <a:lnTo>
                    <a:pt x="26730" y="566218"/>
                  </a:lnTo>
                  <a:lnTo>
                    <a:pt x="40371" y="566218"/>
                  </a:lnTo>
                  <a:lnTo>
                    <a:pt x="26805" y="557013"/>
                  </a:lnTo>
                  <a:close/>
                </a:path>
                <a:path w="81279" h="620394">
                  <a:moveTo>
                    <a:pt x="31346" y="0"/>
                  </a:moveTo>
                  <a:lnTo>
                    <a:pt x="26805" y="557013"/>
                  </a:lnTo>
                  <a:lnTo>
                    <a:pt x="40371" y="566218"/>
                  </a:lnTo>
                  <a:lnTo>
                    <a:pt x="40039" y="566218"/>
                  </a:lnTo>
                  <a:lnTo>
                    <a:pt x="53756" y="557234"/>
                  </a:lnTo>
                  <a:lnTo>
                    <a:pt x="58296" y="219"/>
                  </a:lnTo>
                  <a:lnTo>
                    <a:pt x="31346" y="0"/>
                  </a:lnTo>
                  <a:close/>
                </a:path>
                <a:path w="81279" h="620394">
                  <a:moveTo>
                    <a:pt x="53756" y="557234"/>
                  </a:moveTo>
                  <a:lnTo>
                    <a:pt x="40039" y="566218"/>
                  </a:lnTo>
                  <a:lnTo>
                    <a:pt x="53682" y="566218"/>
                  </a:lnTo>
                  <a:lnTo>
                    <a:pt x="53756" y="557234"/>
                  </a:lnTo>
                  <a:close/>
                </a:path>
                <a:path w="81279" h="620394">
                  <a:moveTo>
                    <a:pt x="80854" y="539485"/>
                  </a:moveTo>
                  <a:lnTo>
                    <a:pt x="53756" y="557234"/>
                  </a:lnTo>
                  <a:lnTo>
                    <a:pt x="53682" y="566218"/>
                  </a:lnTo>
                  <a:lnTo>
                    <a:pt x="67215" y="566218"/>
                  </a:lnTo>
                  <a:lnTo>
                    <a:pt x="80854" y="5394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2396005" y="2067858"/>
              <a:ext cx="1201271" cy="654025"/>
            </a:xfrm>
            <a:prstGeom prst="rect">
              <a:avLst/>
            </a:prstGeom>
            <a:ln w="26952">
              <a:solidFill>
                <a:srgbClr val="000000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 marL="26896" algn="ctr">
                <a:lnSpc>
                  <a:spcPts val="1350"/>
                </a:lnSpc>
              </a:pPr>
              <a:r>
                <a:rPr sz="1235" b="1" spc="-9" dirty="0">
                  <a:latin typeface="Times New Roman"/>
                  <a:cs typeface="Times New Roman"/>
                </a:rPr>
                <a:t>Virtual</a:t>
              </a:r>
              <a:endParaRPr sz="1235">
                <a:latin typeface="Times New Roman"/>
                <a:cs typeface="Times New Roman"/>
              </a:endParaRPr>
            </a:p>
            <a:p>
              <a:pPr marL="1121" algn="ctr">
                <a:lnSpc>
                  <a:spcPts val="2299"/>
                </a:lnSpc>
              </a:pPr>
              <a:r>
                <a:rPr sz="2030" b="1" spc="-9" dirty="0">
                  <a:solidFill>
                    <a:srgbClr val="053DE8"/>
                  </a:solidFill>
                  <a:latin typeface="Times New Roman"/>
                  <a:cs typeface="Times New Roman"/>
                </a:rPr>
                <a:t>Cache</a:t>
              </a:r>
              <a:endParaRPr sz="2030">
                <a:latin typeface="Times New Roman"/>
                <a:cs typeface="Times New Roman"/>
              </a:endParaRPr>
            </a:p>
            <a:p>
              <a:pPr marL="383822">
                <a:lnSpc>
                  <a:spcPts val="1434"/>
                </a:lnSpc>
              </a:pPr>
              <a:r>
                <a:rPr sz="1235" b="1" spc="-22" dirty="0">
                  <a:latin typeface="Times New Roman"/>
                  <a:cs typeface="Times New Roman"/>
                </a:rPr>
                <a:t>D0-D31</a:t>
              </a:r>
              <a:endParaRPr sz="1235">
                <a:latin typeface="Times New Roman"/>
                <a:cs typeface="Times New Roman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2962765" y="2811027"/>
              <a:ext cx="75079" cy="684119"/>
            </a:xfrm>
            <a:custGeom>
              <a:avLst/>
              <a:gdLst/>
              <a:ahLst/>
              <a:cxnLst/>
              <a:rect l="l" t="t" r="r" b="b"/>
              <a:pathLst>
                <a:path w="85089" h="775335">
                  <a:moveTo>
                    <a:pt x="3999" y="694284"/>
                  </a:moveTo>
                  <a:lnTo>
                    <a:pt x="44952" y="774876"/>
                  </a:lnTo>
                  <a:lnTo>
                    <a:pt x="71424" y="721060"/>
                  </a:lnTo>
                  <a:lnTo>
                    <a:pt x="31126" y="721060"/>
                  </a:lnTo>
                  <a:lnTo>
                    <a:pt x="31067" y="712076"/>
                  </a:lnTo>
                  <a:lnTo>
                    <a:pt x="3999" y="694284"/>
                  </a:lnTo>
                  <a:close/>
                </a:path>
                <a:path w="85089" h="775335">
                  <a:moveTo>
                    <a:pt x="31067" y="712076"/>
                  </a:moveTo>
                  <a:lnTo>
                    <a:pt x="31126" y="721060"/>
                  </a:lnTo>
                  <a:lnTo>
                    <a:pt x="44735" y="721060"/>
                  </a:lnTo>
                  <a:lnTo>
                    <a:pt x="31067" y="712076"/>
                  </a:lnTo>
                  <a:close/>
                </a:path>
                <a:path w="85089" h="775335">
                  <a:moveTo>
                    <a:pt x="40386" y="53991"/>
                  </a:moveTo>
                  <a:lnTo>
                    <a:pt x="40119" y="53991"/>
                  </a:lnTo>
                  <a:lnTo>
                    <a:pt x="26834" y="62974"/>
                  </a:lnTo>
                  <a:lnTo>
                    <a:pt x="30948" y="693757"/>
                  </a:lnTo>
                  <a:lnTo>
                    <a:pt x="31067" y="712076"/>
                  </a:lnTo>
                  <a:lnTo>
                    <a:pt x="44735" y="721060"/>
                  </a:lnTo>
                  <a:lnTo>
                    <a:pt x="44472" y="721060"/>
                  </a:lnTo>
                  <a:lnTo>
                    <a:pt x="58018" y="711901"/>
                  </a:lnTo>
                  <a:lnTo>
                    <a:pt x="53905" y="81118"/>
                  </a:lnTo>
                  <a:lnTo>
                    <a:pt x="53785" y="62799"/>
                  </a:lnTo>
                  <a:lnTo>
                    <a:pt x="40386" y="53991"/>
                  </a:lnTo>
                  <a:close/>
                </a:path>
                <a:path w="85089" h="775335">
                  <a:moveTo>
                    <a:pt x="58018" y="711901"/>
                  </a:moveTo>
                  <a:lnTo>
                    <a:pt x="44472" y="721060"/>
                  </a:lnTo>
                  <a:lnTo>
                    <a:pt x="58078" y="721060"/>
                  </a:lnTo>
                  <a:lnTo>
                    <a:pt x="58018" y="711901"/>
                  </a:lnTo>
                  <a:close/>
                </a:path>
                <a:path w="85089" h="775335">
                  <a:moveTo>
                    <a:pt x="84853" y="693757"/>
                  </a:moveTo>
                  <a:lnTo>
                    <a:pt x="58018" y="711901"/>
                  </a:lnTo>
                  <a:lnTo>
                    <a:pt x="58078" y="721060"/>
                  </a:lnTo>
                  <a:lnTo>
                    <a:pt x="71424" y="721060"/>
                  </a:lnTo>
                  <a:lnTo>
                    <a:pt x="84853" y="693757"/>
                  </a:lnTo>
                  <a:close/>
                </a:path>
                <a:path w="85089" h="775335">
                  <a:moveTo>
                    <a:pt x="39900" y="0"/>
                  </a:moveTo>
                  <a:lnTo>
                    <a:pt x="0" y="81118"/>
                  </a:lnTo>
                  <a:lnTo>
                    <a:pt x="26834" y="62974"/>
                  </a:lnTo>
                  <a:lnTo>
                    <a:pt x="26775" y="53991"/>
                  </a:lnTo>
                  <a:lnTo>
                    <a:pt x="67337" y="53991"/>
                  </a:lnTo>
                  <a:lnTo>
                    <a:pt x="39900" y="0"/>
                  </a:lnTo>
                  <a:close/>
                </a:path>
                <a:path w="85089" h="775335">
                  <a:moveTo>
                    <a:pt x="67337" y="53991"/>
                  </a:moveTo>
                  <a:lnTo>
                    <a:pt x="53728" y="53991"/>
                  </a:lnTo>
                  <a:lnTo>
                    <a:pt x="53785" y="62799"/>
                  </a:lnTo>
                  <a:lnTo>
                    <a:pt x="80854" y="80591"/>
                  </a:lnTo>
                  <a:lnTo>
                    <a:pt x="67337" y="53991"/>
                  </a:lnTo>
                  <a:close/>
                </a:path>
                <a:path w="85089" h="775335">
                  <a:moveTo>
                    <a:pt x="40119" y="53991"/>
                  </a:moveTo>
                  <a:lnTo>
                    <a:pt x="26775" y="53991"/>
                  </a:lnTo>
                  <a:lnTo>
                    <a:pt x="26834" y="62974"/>
                  </a:lnTo>
                  <a:lnTo>
                    <a:pt x="40119" y="53991"/>
                  </a:lnTo>
                  <a:close/>
                </a:path>
                <a:path w="85089" h="775335">
                  <a:moveTo>
                    <a:pt x="53728" y="53991"/>
                  </a:moveTo>
                  <a:lnTo>
                    <a:pt x="40386" y="53991"/>
                  </a:lnTo>
                  <a:lnTo>
                    <a:pt x="53785" y="62799"/>
                  </a:lnTo>
                  <a:lnTo>
                    <a:pt x="53728" y="539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23" name="object 3">
            <a:extLst>
              <a:ext uri="{FF2B5EF4-FFF2-40B4-BE49-F238E27FC236}">
                <a16:creationId xmlns:a16="http://schemas.microsoft.com/office/drawing/2014/main" id="{74131E25-AF79-87CA-A8AB-FA70B12C5C7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507307" y="6407336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36</a:t>
            </a:fld>
            <a:endParaRPr spc="-22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68849"/>
            <a:ext cx="7211567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Advantages</a:t>
            </a:r>
            <a:r>
              <a:rPr spc="-49" dirty="0"/>
              <a:t> </a:t>
            </a:r>
            <a:r>
              <a:rPr dirty="0"/>
              <a:t>of</a:t>
            </a:r>
            <a:r>
              <a:rPr spc="-44" dirty="0"/>
              <a:t> </a:t>
            </a:r>
            <a:r>
              <a:rPr dirty="0"/>
              <a:t>Paged</a:t>
            </a:r>
            <a:r>
              <a:rPr spc="-40" dirty="0"/>
              <a:t> </a:t>
            </a:r>
            <a:r>
              <a:rPr dirty="0"/>
              <a:t>Virtual</a:t>
            </a:r>
            <a:r>
              <a:rPr spc="-40" dirty="0"/>
              <a:t> </a:t>
            </a:r>
            <a:r>
              <a:rPr spc="-9" dirty="0"/>
              <a:t>Memory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088" y="1116758"/>
            <a:ext cx="8057322" cy="6245828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 algn="just">
              <a:spcBef>
                <a:spcPts val="644"/>
              </a:spcBef>
              <a:buFont typeface="Calibri"/>
              <a:buChar char="•"/>
              <a:tabLst>
                <a:tab pos="278481" algn="l"/>
              </a:tabLst>
            </a:pPr>
            <a:r>
              <a:rPr sz="2400" b="1" spc="-9" dirty="0">
                <a:latin typeface="Calibri"/>
                <a:cs typeface="Calibri"/>
              </a:rPr>
              <a:t>Translation:</a:t>
            </a:r>
            <a:endParaRPr sz="2400" dirty="0">
              <a:latin typeface="Calibri"/>
              <a:cs typeface="Calibri"/>
            </a:endParaRPr>
          </a:p>
          <a:p>
            <a:pPr marL="651657" marR="44826" lvl="1" indent="-212363" algn="just">
              <a:spcBef>
                <a:spcPts val="675"/>
              </a:spcBef>
              <a:buChar char="–"/>
              <a:tabLst>
                <a:tab pos="653338" algn="l"/>
              </a:tabLst>
            </a:pPr>
            <a:r>
              <a:rPr sz="2100" dirty="0">
                <a:latin typeface="Calibri"/>
                <a:cs typeface="Calibri"/>
              </a:rPr>
              <a:t>Program</a:t>
            </a:r>
            <a:r>
              <a:rPr sz="2100" spc="-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can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be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given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consistent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view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memory,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even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though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spc="-9" dirty="0">
                <a:latin typeface="Calibri"/>
                <a:cs typeface="Calibri"/>
              </a:rPr>
              <a:t>physical </a:t>
            </a:r>
            <a:r>
              <a:rPr sz="2100" dirty="0">
                <a:latin typeface="Calibri"/>
                <a:cs typeface="Calibri"/>
              </a:rPr>
              <a:t>memory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 </a:t>
            </a:r>
            <a:r>
              <a:rPr sz="2100" spc="-9" dirty="0">
                <a:latin typeface="Calibri"/>
                <a:cs typeface="Calibri"/>
              </a:rPr>
              <a:t>scrambled</a:t>
            </a:r>
            <a:endParaRPr sz="2100" dirty="0">
              <a:latin typeface="Calibri"/>
              <a:cs typeface="Calibri"/>
            </a:endParaRPr>
          </a:p>
          <a:p>
            <a:pPr marL="651657" marR="305937" lvl="1" indent="-212363" algn="just">
              <a:spcBef>
                <a:spcPts val="671"/>
              </a:spcBef>
              <a:buChar char="–"/>
              <a:tabLst>
                <a:tab pos="653338" algn="l"/>
              </a:tabLst>
            </a:pPr>
            <a:r>
              <a:rPr sz="2100" dirty="0">
                <a:latin typeface="Calibri"/>
                <a:cs typeface="Calibri"/>
              </a:rPr>
              <a:t>Only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 most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important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part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program (“Working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Set”) must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be </a:t>
            </a:r>
            <a:r>
              <a:rPr sz="2100" spc="-22" dirty="0">
                <a:latin typeface="Calibri"/>
                <a:cs typeface="Calibri"/>
              </a:rPr>
              <a:t>in </a:t>
            </a:r>
            <a:r>
              <a:rPr sz="2100" dirty="0">
                <a:latin typeface="Calibri"/>
                <a:cs typeface="Calibri"/>
              </a:rPr>
              <a:t>physical</a:t>
            </a:r>
            <a:r>
              <a:rPr sz="2100" spc="-26" dirty="0">
                <a:latin typeface="Calibri"/>
                <a:cs typeface="Calibri"/>
              </a:rPr>
              <a:t> </a:t>
            </a:r>
            <a:r>
              <a:rPr sz="2100" spc="-9" dirty="0">
                <a:latin typeface="Calibri"/>
                <a:cs typeface="Calibri"/>
              </a:rPr>
              <a:t>memory.</a:t>
            </a:r>
            <a:endParaRPr sz="2100" dirty="0">
              <a:latin typeface="Calibri"/>
              <a:cs typeface="Calibri"/>
            </a:endParaRPr>
          </a:p>
          <a:p>
            <a:pPr marL="651657" marR="4483" lvl="1" indent="-212363" algn="just">
              <a:spcBef>
                <a:spcPts val="521"/>
              </a:spcBef>
              <a:buChar char="–"/>
              <a:tabLst>
                <a:tab pos="653338" algn="l"/>
              </a:tabLst>
            </a:pPr>
            <a:r>
              <a:rPr sz="2100" dirty="0">
                <a:latin typeface="Calibri"/>
                <a:cs typeface="Calibri"/>
              </a:rPr>
              <a:t>Contiguous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structures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(like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stacks)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use only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as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much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physical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memory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spc="-22" dirty="0">
                <a:latin typeface="Calibri"/>
                <a:cs typeface="Calibri"/>
              </a:rPr>
              <a:t>as </a:t>
            </a:r>
            <a:r>
              <a:rPr sz="2100" dirty="0">
                <a:latin typeface="Calibri"/>
                <a:cs typeface="Calibri"/>
              </a:rPr>
              <a:t>necessary</a:t>
            </a:r>
            <a:r>
              <a:rPr sz="2100" spc="-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yet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still</a:t>
            </a:r>
            <a:r>
              <a:rPr sz="2100" spc="-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grow</a:t>
            </a:r>
            <a:r>
              <a:rPr sz="2100" spc="-9" dirty="0">
                <a:latin typeface="Calibri"/>
                <a:cs typeface="Calibri"/>
              </a:rPr>
              <a:t> later.</a:t>
            </a:r>
            <a:endParaRPr sz="2100" dirty="0">
              <a:latin typeface="Calibri"/>
              <a:cs typeface="Calibri"/>
            </a:endParaRPr>
          </a:p>
          <a:p>
            <a:pPr marL="278481" indent="-267275" algn="just">
              <a:buFont typeface="Calibri"/>
              <a:buChar char="•"/>
              <a:tabLst>
                <a:tab pos="278481" algn="l"/>
              </a:tabLst>
            </a:pPr>
            <a:r>
              <a:rPr sz="2400" b="1" spc="-9" dirty="0">
                <a:latin typeface="Calibri"/>
                <a:cs typeface="Calibri"/>
              </a:rPr>
              <a:t>Protection:</a:t>
            </a:r>
            <a:endParaRPr sz="2400" dirty="0">
              <a:latin typeface="Calibri"/>
              <a:cs typeface="Calibri"/>
            </a:endParaRPr>
          </a:p>
          <a:p>
            <a:pPr marL="651657" lvl="1" indent="-212363" algn="just">
              <a:spcBef>
                <a:spcPts val="424"/>
              </a:spcBef>
              <a:buChar char="–"/>
              <a:tabLst>
                <a:tab pos="651657" algn="l"/>
              </a:tabLst>
            </a:pPr>
            <a:r>
              <a:rPr sz="2100" dirty="0">
                <a:latin typeface="Calibri"/>
                <a:cs typeface="Calibri"/>
              </a:rPr>
              <a:t>Different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threads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(or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processes) protected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from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each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spc="-9" dirty="0">
                <a:latin typeface="Calibri"/>
                <a:cs typeface="Calibri"/>
              </a:rPr>
              <a:t>other.</a:t>
            </a:r>
            <a:endParaRPr sz="2100" dirty="0">
              <a:latin typeface="Calibri"/>
              <a:cs typeface="Calibri"/>
            </a:endParaRPr>
          </a:p>
          <a:p>
            <a:pPr marL="651657" lvl="1" indent="-212363" algn="just">
              <a:spcBef>
                <a:spcPts val="379"/>
              </a:spcBef>
              <a:buChar char="–"/>
              <a:tabLst>
                <a:tab pos="651657" algn="l"/>
              </a:tabLst>
            </a:pPr>
            <a:r>
              <a:rPr sz="2100" dirty="0">
                <a:latin typeface="Calibri"/>
                <a:cs typeface="Calibri"/>
              </a:rPr>
              <a:t>Different</a:t>
            </a:r>
            <a:r>
              <a:rPr sz="2100" spc="-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pages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can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be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given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special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spc="-9" dirty="0">
                <a:latin typeface="Calibri"/>
                <a:cs typeface="Calibri"/>
              </a:rPr>
              <a:t>behavior</a:t>
            </a:r>
            <a:endParaRPr sz="2100" dirty="0">
              <a:latin typeface="Calibri"/>
              <a:cs typeface="Calibri"/>
            </a:endParaRPr>
          </a:p>
          <a:p>
            <a:pPr marL="867382" algn="just">
              <a:spcBef>
                <a:spcPts val="468"/>
              </a:spcBef>
              <a:tabLst>
                <a:tab pos="1130174" algn="l"/>
              </a:tabLst>
            </a:pPr>
            <a:r>
              <a:rPr sz="2100" spc="-44" dirty="0">
                <a:latin typeface="Calibri"/>
                <a:cs typeface="Calibri"/>
              </a:rPr>
              <a:t>»</a:t>
            </a:r>
            <a:r>
              <a:rPr sz="2100" dirty="0">
                <a:latin typeface="Calibri"/>
                <a:cs typeface="Calibri"/>
              </a:rPr>
              <a:t>	(Read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Only,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Invisible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user</a:t>
            </a:r>
            <a:r>
              <a:rPr sz="2100" spc="-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programs,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spc="-9" dirty="0">
                <a:latin typeface="Calibri"/>
                <a:cs typeface="Calibri"/>
              </a:rPr>
              <a:t>etc).</a:t>
            </a:r>
            <a:endParaRPr sz="2100" dirty="0">
              <a:latin typeface="Calibri"/>
              <a:cs typeface="Calibri"/>
            </a:endParaRPr>
          </a:p>
          <a:p>
            <a:pPr marL="651657" lvl="1" indent="-212363" algn="just">
              <a:spcBef>
                <a:spcPts val="361"/>
              </a:spcBef>
              <a:buChar char="–"/>
              <a:tabLst>
                <a:tab pos="651657" algn="l"/>
              </a:tabLst>
            </a:pPr>
            <a:r>
              <a:rPr lang="en-US" sz="2100" dirty="0">
                <a:cs typeface="Calibri"/>
              </a:rPr>
              <a:t>Kernel</a:t>
            </a:r>
            <a:r>
              <a:rPr lang="en-US" sz="2100" spc="-18" dirty="0">
                <a:cs typeface="Calibri"/>
              </a:rPr>
              <a:t> </a:t>
            </a:r>
            <a:r>
              <a:rPr lang="en-US" sz="2100" dirty="0">
                <a:cs typeface="Calibri"/>
              </a:rPr>
              <a:t>data</a:t>
            </a:r>
            <a:r>
              <a:rPr lang="en-US" sz="2100" spc="-13" dirty="0">
                <a:cs typeface="Calibri"/>
              </a:rPr>
              <a:t> </a:t>
            </a:r>
            <a:r>
              <a:rPr lang="en-US" sz="2100" dirty="0">
                <a:cs typeface="Calibri"/>
              </a:rPr>
              <a:t>protected</a:t>
            </a:r>
            <a:r>
              <a:rPr lang="en-US" sz="2100" spc="-9" dirty="0">
                <a:cs typeface="Calibri"/>
              </a:rPr>
              <a:t> </a:t>
            </a:r>
            <a:r>
              <a:rPr lang="en-US" sz="2100" dirty="0">
                <a:cs typeface="Calibri"/>
              </a:rPr>
              <a:t>from</a:t>
            </a:r>
            <a:r>
              <a:rPr lang="en-US" sz="2100" spc="-9" dirty="0">
                <a:cs typeface="Calibri"/>
              </a:rPr>
              <a:t> </a:t>
            </a:r>
            <a:r>
              <a:rPr lang="en-US" sz="2100" dirty="0">
                <a:cs typeface="Calibri"/>
              </a:rPr>
              <a:t>User</a:t>
            </a:r>
            <a:r>
              <a:rPr lang="en-US" sz="2100" spc="-13" dirty="0">
                <a:cs typeface="Calibri"/>
              </a:rPr>
              <a:t> </a:t>
            </a:r>
            <a:r>
              <a:rPr lang="en-US" sz="2100" spc="-9" dirty="0">
                <a:cs typeface="Calibri"/>
              </a:rPr>
              <a:t>programs</a:t>
            </a:r>
            <a:endParaRPr lang="en-US" sz="2100" dirty="0">
              <a:cs typeface="Calibri"/>
            </a:endParaRPr>
          </a:p>
          <a:p>
            <a:pPr marL="867382" algn="just">
              <a:spcBef>
                <a:spcPts val="379"/>
              </a:spcBef>
            </a:pPr>
            <a:r>
              <a:rPr lang="en-US" sz="2100" dirty="0">
                <a:cs typeface="Calibri"/>
              </a:rPr>
              <a:t>»</a:t>
            </a:r>
            <a:r>
              <a:rPr lang="en-US" sz="2100" spc="419" dirty="0">
                <a:cs typeface="Calibri"/>
              </a:rPr>
              <a:t> </a:t>
            </a:r>
            <a:r>
              <a:rPr lang="en-US" sz="2100" dirty="0">
                <a:cs typeface="Calibri"/>
              </a:rPr>
              <a:t>Very important</a:t>
            </a:r>
            <a:r>
              <a:rPr lang="en-US" sz="2100" spc="-4" dirty="0">
                <a:cs typeface="Calibri"/>
              </a:rPr>
              <a:t> </a:t>
            </a:r>
            <a:r>
              <a:rPr lang="en-US" sz="2100" dirty="0">
                <a:cs typeface="Calibri"/>
              </a:rPr>
              <a:t>for</a:t>
            </a:r>
            <a:r>
              <a:rPr lang="en-US" sz="2100" spc="-9" dirty="0">
                <a:cs typeface="Calibri"/>
              </a:rPr>
              <a:t> </a:t>
            </a:r>
            <a:r>
              <a:rPr lang="en-US" sz="2100" dirty="0">
                <a:cs typeface="Calibri"/>
              </a:rPr>
              <a:t>protection</a:t>
            </a:r>
            <a:r>
              <a:rPr lang="en-US" sz="2100" spc="4" dirty="0">
                <a:cs typeface="Calibri"/>
              </a:rPr>
              <a:t> </a:t>
            </a:r>
            <a:r>
              <a:rPr lang="en-US" sz="2100" dirty="0">
                <a:cs typeface="Calibri"/>
              </a:rPr>
              <a:t>from</a:t>
            </a:r>
            <a:r>
              <a:rPr lang="en-US" sz="2100" spc="4" dirty="0">
                <a:cs typeface="Calibri"/>
              </a:rPr>
              <a:t> </a:t>
            </a:r>
            <a:r>
              <a:rPr lang="en-US" sz="2100" dirty="0">
                <a:cs typeface="Calibri"/>
              </a:rPr>
              <a:t>malicious</a:t>
            </a:r>
            <a:r>
              <a:rPr lang="en-US" sz="2100" spc="-4" dirty="0">
                <a:cs typeface="Calibri"/>
              </a:rPr>
              <a:t> </a:t>
            </a:r>
            <a:r>
              <a:rPr lang="en-US" sz="2100" spc="-9" dirty="0">
                <a:cs typeface="Calibri"/>
              </a:rPr>
              <a:t>programs</a:t>
            </a:r>
            <a:endParaRPr lang="en-US" sz="2100" dirty="0">
              <a:cs typeface="Calibri"/>
            </a:endParaRPr>
          </a:p>
          <a:p>
            <a:pPr marL="278481" indent="-267275" algn="just">
              <a:buFont typeface="Calibri"/>
              <a:buChar char="•"/>
              <a:tabLst>
                <a:tab pos="278481" algn="l"/>
              </a:tabLst>
            </a:pPr>
            <a:r>
              <a:rPr sz="2400" b="1" spc="-9" dirty="0">
                <a:latin typeface="Calibri"/>
                <a:cs typeface="Calibri"/>
              </a:rPr>
              <a:t>Sharing:</a:t>
            </a:r>
            <a:endParaRPr lang="en-US" sz="2400" b="1" spc="-9" dirty="0">
              <a:latin typeface="Calibri"/>
              <a:cs typeface="Calibri"/>
            </a:endParaRPr>
          </a:p>
          <a:p>
            <a:pPr marL="811306" lvl="1" indent="-342900" algn="just">
              <a:buFont typeface="Calibri" panose="020F0502020204030204" pitchFamily="34" charset="0"/>
              <a:buChar char="―"/>
              <a:tabLst>
                <a:tab pos="278481" algn="l"/>
              </a:tabLst>
            </a:pPr>
            <a:r>
              <a:rPr lang="en-US" sz="2100" dirty="0">
                <a:cs typeface="Calibri"/>
              </a:rPr>
              <a:t>Can</a:t>
            </a:r>
            <a:r>
              <a:rPr lang="en-US" sz="2100" spc="-4" dirty="0">
                <a:cs typeface="Calibri"/>
              </a:rPr>
              <a:t> </a:t>
            </a:r>
            <a:r>
              <a:rPr lang="en-US" sz="2100" dirty="0">
                <a:cs typeface="Calibri"/>
              </a:rPr>
              <a:t>map</a:t>
            </a:r>
            <a:r>
              <a:rPr lang="en-US" sz="2100" spc="-4" dirty="0">
                <a:cs typeface="Calibri"/>
              </a:rPr>
              <a:t> </a:t>
            </a:r>
            <a:r>
              <a:rPr lang="en-US" sz="2100" dirty="0">
                <a:cs typeface="Calibri"/>
              </a:rPr>
              <a:t>same physical</a:t>
            </a:r>
            <a:r>
              <a:rPr lang="en-US" sz="2100" spc="-13" dirty="0">
                <a:cs typeface="Calibri"/>
              </a:rPr>
              <a:t> </a:t>
            </a:r>
            <a:r>
              <a:rPr lang="en-US" sz="2100" dirty="0">
                <a:cs typeface="Calibri"/>
              </a:rPr>
              <a:t>page</a:t>
            </a:r>
            <a:r>
              <a:rPr lang="en-US" sz="2100" spc="-4" dirty="0">
                <a:cs typeface="Calibri"/>
              </a:rPr>
              <a:t> </a:t>
            </a:r>
            <a:r>
              <a:rPr lang="en-US" sz="2100" dirty="0">
                <a:cs typeface="Calibri"/>
              </a:rPr>
              <a:t>to</a:t>
            </a:r>
            <a:r>
              <a:rPr lang="en-US" sz="2100" spc="-4" dirty="0">
                <a:cs typeface="Calibri"/>
              </a:rPr>
              <a:t> </a:t>
            </a:r>
            <a:r>
              <a:rPr lang="en-US" sz="2100" dirty="0">
                <a:cs typeface="Calibri"/>
              </a:rPr>
              <a:t>multiple</a:t>
            </a:r>
            <a:r>
              <a:rPr lang="en-US" sz="2100" spc="-4" dirty="0">
                <a:cs typeface="Calibri"/>
              </a:rPr>
              <a:t> </a:t>
            </a:r>
            <a:r>
              <a:rPr lang="en-US" sz="2100" spc="-9" dirty="0">
                <a:cs typeface="Calibri"/>
              </a:rPr>
              <a:t>users </a:t>
            </a:r>
            <a:r>
              <a:rPr lang="en-US" sz="2100" dirty="0">
                <a:cs typeface="Calibri"/>
              </a:rPr>
              <a:t>(“Shared</a:t>
            </a:r>
            <a:r>
              <a:rPr lang="en-US" sz="2100" spc="-26" dirty="0">
                <a:cs typeface="Calibri"/>
              </a:rPr>
              <a:t> </a:t>
            </a:r>
            <a:r>
              <a:rPr lang="en-US" sz="2100" spc="-9" dirty="0">
                <a:cs typeface="Calibri"/>
              </a:rPr>
              <a:t>memory”)</a:t>
            </a:r>
            <a:endParaRPr lang="en-US" sz="2100" dirty="0">
              <a:cs typeface="Calibri"/>
            </a:endParaRPr>
          </a:p>
          <a:p>
            <a:pPr marL="278481" indent="-267275" algn="just">
              <a:spcBef>
                <a:spcPts val="552"/>
              </a:spcBef>
              <a:buFont typeface="Calibri"/>
              <a:buChar char="•"/>
              <a:tabLst>
                <a:tab pos="278481" algn="l"/>
              </a:tabLst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845D0B5D-DC10-BD25-0900-2323F9D0722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689496" y="6461007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37</a:t>
            </a:fld>
            <a:endParaRPr spc="-22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Summary</a:t>
            </a:r>
            <a:r>
              <a:rPr spc="-22" dirty="0"/>
              <a:t> </a:t>
            </a:r>
            <a:r>
              <a:rPr dirty="0"/>
              <a:t>-</a:t>
            </a:r>
            <a:r>
              <a:rPr spc="-31" dirty="0"/>
              <a:t> </a:t>
            </a:r>
            <a:r>
              <a:rPr dirty="0"/>
              <a:t>TLB,</a:t>
            </a:r>
            <a:r>
              <a:rPr spc="-22" dirty="0"/>
              <a:t> </a:t>
            </a:r>
            <a:r>
              <a:rPr dirty="0"/>
              <a:t>Virtual</a:t>
            </a:r>
            <a:r>
              <a:rPr spc="-18" dirty="0"/>
              <a:t> </a:t>
            </a:r>
            <a:r>
              <a:rPr spc="-9" dirty="0"/>
              <a:t>Memory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173305"/>
            <a:ext cx="7497150" cy="5237029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278481" indent="-267275" algn="just">
              <a:spcBef>
                <a:spcPts val="618"/>
              </a:spcBef>
              <a:buChar char="•"/>
              <a:tabLst>
                <a:tab pos="278481" algn="l"/>
              </a:tabLst>
            </a:pPr>
            <a:r>
              <a:rPr sz="2200" dirty="0">
                <a:latin typeface="Calibri"/>
                <a:cs typeface="Calibri"/>
              </a:rPr>
              <a:t>Page</a:t>
            </a:r>
            <a:r>
              <a:rPr sz="2200" spc="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tables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map</a:t>
            </a:r>
            <a:r>
              <a:rPr sz="2200" spc="7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virtual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address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physical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address</a:t>
            </a:r>
            <a:endParaRPr sz="2200" dirty="0">
              <a:latin typeface="Calibri"/>
              <a:cs typeface="Calibri"/>
            </a:endParaRPr>
          </a:p>
          <a:p>
            <a:pPr marL="278481" indent="-267275" algn="just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200" dirty="0">
                <a:latin typeface="Calibri"/>
                <a:cs typeface="Calibri"/>
              </a:rPr>
              <a:t>TLBs</a:t>
            </a:r>
            <a:r>
              <a:rPr sz="2200" spc="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important</a:t>
            </a:r>
            <a:r>
              <a:rPr sz="2200" spc="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fast</a:t>
            </a:r>
            <a:r>
              <a:rPr sz="2200" spc="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translation</a:t>
            </a:r>
            <a:endParaRPr sz="2200" dirty="0">
              <a:latin typeface="Calibri"/>
              <a:cs typeface="Calibri"/>
            </a:endParaRPr>
          </a:p>
          <a:p>
            <a:pPr marL="278481" indent="-267275" algn="just">
              <a:spcBef>
                <a:spcPts val="613"/>
              </a:spcBef>
              <a:buChar char="•"/>
              <a:tabLst>
                <a:tab pos="278481" algn="l"/>
              </a:tabLst>
            </a:pPr>
            <a:r>
              <a:rPr sz="2200" dirty="0">
                <a:latin typeface="Calibri"/>
                <a:cs typeface="Calibri"/>
              </a:rPr>
              <a:t>TLB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misses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7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significant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processor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performance</a:t>
            </a:r>
            <a:endParaRPr sz="2200" dirty="0">
              <a:latin typeface="Calibri"/>
              <a:cs typeface="Calibri"/>
            </a:endParaRPr>
          </a:p>
          <a:p>
            <a:pPr marL="651657" marR="108143" lvl="1" indent="-212363" algn="just">
              <a:spcBef>
                <a:spcPts val="657"/>
              </a:spcBef>
              <a:buChar char="–"/>
              <a:tabLst>
                <a:tab pos="653338" algn="l"/>
              </a:tabLst>
            </a:pPr>
            <a:r>
              <a:rPr lang="en-US" sz="2000" dirty="0">
                <a:latin typeface="Calibri"/>
                <a:cs typeface="Calibri"/>
              </a:rPr>
              <a:t>Most </a:t>
            </a:r>
            <a:r>
              <a:rPr sz="2000" dirty="0">
                <a:latin typeface="Calibri"/>
                <a:cs typeface="Calibri"/>
              </a:rPr>
              <a:t>systems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cannot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 </a:t>
            </a:r>
            <a:r>
              <a:rPr sz="2000" spc="-22" dirty="0">
                <a:latin typeface="Calibri"/>
                <a:cs typeface="Calibri"/>
              </a:rPr>
              <a:t>2</a:t>
            </a:r>
            <a:r>
              <a:rPr sz="2000" spc="-22" baseline="30000" dirty="0">
                <a:latin typeface="Calibri"/>
                <a:cs typeface="Calibri"/>
              </a:rPr>
              <a:t>nd</a:t>
            </a:r>
            <a:r>
              <a:rPr lang="en-US" sz="2000" spc="-22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	</a:t>
            </a:r>
            <a:r>
              <a:rPr sz="2000" dirty="0">
                <a:latin typeface="Calibri"/>
                <a:cs typeface="Calibri"/>
              </a:rPr>
              <a:t>level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cache</a:t>
            </a:r>
            <a:r>
              <a:rPr lang="en-US"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without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TLB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misses!</a:t>
            </a:r>
            <a:r>
              <a:rPr sz="2000" spc="35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answer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 newer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processors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spc="-22" dirty="0">
                <a:latin typeface="Calibri"/>
                <a:cs typeface="Calibri"/>
              </a:rPr>
              <a:t>2-</a:t>
            </a:r>
            <a:r>
              <a:rPr sz="2000" dirty="0">
                <a:latin typeface="Calibri"/>
                <a:cs typeface="Calibri"/>
              </a:rPr>
              <a:t>levels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 </a:t>
            </a:r>
            <a:r>
              <a:rPr sz="2000" spc="-18" dirty="0">
                <a:latin typeface="Calibri"/>
                <a:cs typeface="Calibri"/>
              </a:rPr>
              <a:t>TLB.</a:t>
            </a:r>
            <a:endParaRPr sz="2000" dirty="0">
              <a:latin typeface="Calibri"/>
              <a:cs typeface="Calibri"/>
            </a:endParaRPr>
          </a:p>
          <a:p>
            <a:pPr marL="278481" indent="-267275" algn="just">
              <a:spcBef>
                <a:spcPts val="547"/>
              </a:spcBef>
              <a:buChar char="•"/>
              <a:tabLst>
                <a:tab pos="278481" algn="l"/>
              </a:tabLst>
            </a:pPr>
            <a:r>
              <a:rPr sz="2200" dirty="0">
                <a:latin typeface="Calibri"/>
                <a:cs typeface="Calibri"/>
              </a:rPr>
              <a:t>Questions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8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understand</a:t>
            </a:r>
            <a:r>
              <a:rPr sz="2200" spc="8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Caches,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TLBs,</a:t>
            </a:r>
            <a:r>
              <a:rPr sz="2200" spc="71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VM:</a:t>
            </a:r>
            <a:endParaRPr sz="2200" dirty="0">
              <a:latin typeface="Calibri"/>
              <a:cs typeface="Calibri"/>
            </a:endParaRPr>
          </a:p>
          <a:p>
            <a:pPr marL="651657" lvl="1" indent="-212363" algn="just">
              <a:spcBef>
                <a:spcPts val="446"/>
              </a:spcBef>
              <a:buChar char="–"/>
              <a:tabLst>
                <a:tab pos="651657" algn="l"/>
              </a:tabLst>
            </a:pPr>
            <a:r>
              <a:rPr sz="2000" dirty="0">
                <a:latin typeface="Calibri"/>
                <a:cs typeface="Calibri"/>
              </a:rPr>
              <a:t>Where can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block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placed?</a:t>
            </a:r>
            <a:endParaRPr sz="2000" dirty="0">
              <a:latin typeface="Calibri"/>
              <a:cs typeface="Calibri"/>
            </a:endParaRPr>
          </a:p>
          <a:p>
            <a:pPr marL="651657" lvl="1" indent="-212363" algn="just">
              <a:spcBef>
                <a:spcPts val="383"/>
              </a:spcBef>
              <a:buChar char="–"/>
              <a:tabLst>
                <a:tab pos="651657" algn="l"/>
              </a:tabLst>
            </a:pPr>
            <a:r>
              <a:rPr sz="2000" dirty="0">
                <a:latin typeface="Calibri"/>
                <a:cs typeface="Calibri"/>
              </a:rPr>
              <a:t>How is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block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found?</a:t>
            </a:r>
            <a:endParaRPr sz="2000" dirty="0">
              <a:latin typeface="Calibri"/>
              <a:cs typeface="Calibri"/>
            </a:endParaRPr>
          </a:p>
          <a:p>
            <a:pPr marL="651657" lvl="1" indent="-212363" algn="just">
              <a:spcBef>
                <a:spcPts val="357"/>
              </a:spcBef>
              <a:buChar char="–"/>
              <a:tabLst>
                <a:tab pos="651657" algn="l"/>
              </a:tabLst>
            </a:pPr>
            <a:r>
              <a:rPr sz="2000" dirty="0">
                <a:latin typeface="Calibri"/>
                <a:cs typeface="Calibri"/>
              </a:rPr>
              <a:t>What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block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replaced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9" dirty="0">
                <a:latin typeface="Calibri"/>
                <a:cs typeface="Calibri"/>
              </a:rPr>
              <a:t>miss?</a:t>
            </a:r>
            <a:endParaRPr sz="2000" dirty="0">
              <a:latin typeface="Calibri"/>
              <a:cs typeface="Calibri"/>
            </a:endParaRPr>
          </a:p>
          <a:p>
            <a:pPr marL="651657" lvl="1" indent="-212363" algn="just">
              <a:spcBef>
                <a:spcPts val="468"/>
              </a:spcBef>
              <a:buChar char="–"/>
              <a:tabLst>
                <a:tab pos="651657" algn="l"/>
              </a:tabLst>
            </a:pPr>
            <a:r>
              <a:rPr sz="2000" dirty="0">
                <a:latin typeface="Calibri"/>
                <a:cs typeface="Calibri"/>
              </a:rPr>
              <a:t>How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writes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handled?</a:t>
            </a:r>
            <a:endParaRPr sz="2000" dirty="0">
              <a:latin typeface="Calibri"/>
              <a:cs typeface="Calibri"/>
            </a:endParaRPr>
          </a:p>
          <a:p>
            <a:pPr marL="278481" marR="4483" indent="-267835" algn="just">
              <a:spcBef>
                <a:spcPts val="675"/>
              </a:spcBef>
              <a:buChar char="•"/>
              <a:tabLst>
                <a:tab pos="278481" algn="l"/>
              </a:tabLst>
            </a:pPr>
            <a:r>
              <a:rPr sz="2200" dirty="0">
                <a:latin typeface="Calibri"/>
                <a:cs typeface="Calibri"/>
              </a:rPr>
              <a:t>Today,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virtual memory</a:t>
            </a:r>
            <a:r>
              <a:rPr sz="2200" spc="79" dirty="0">
                <a:latin typeface="Calibri"/>
                <a:cs typeface="Calibri"/>
              </a:rPr>
              <a:t> </a:t>
            </a:r>
            <a:r>
              <a:rPr lang="en-US" sz="2200" spc="79" dirty="0">
                <a:latin typeface="Calibri"/>
                <a:cs typeface="Calibri"/>
              </a:rPr>
              <a:t>(VM) </a:t>
            </a:r>
            <a:r>
              <a:rPr sz="2200" dirty="0">
                <a:latin typeface="Calibri"/>
                <a:cs typeface="Calibri"/>
              </a:rPr>
              <a:t>allows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many</a:t>
            </a:r>
            <a:r>
              <a:rPr sz="2200" spc="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processes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share</a:t>
            </a:r>
            <a:r>
              <a:rPr sz="2200" spc="7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single</a:t>
            </a:r>
            <a:r>
              <a:rPr sz="2200" spc="66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memory </a:t>
            </a:r>
            <a:r>
              <a:rPr sz="2200" dirty="0">
                <a:latin typeface="Calibri"/>
                <a:cs typeface="Calibri"/>
              </a:rPr>
              <a:t>without</a:t>
            </a:r>
            <a:r>
              <a:rPr sz="2200" spc="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having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swap</a:t>
            </a:r>
            <a:r>
              <a:rPr sz="2200" spc="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processes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disk.</a:t>
            </a:r>
            <a:r>
              <a:rPr sz="2200" spc="49" dirty="0">
                <a:latin typeface="Calibri"/>
                <a:cs typeface="Calibri"/>
              </a:rPr>
              <a:t> </a:t>
            </a:r>
            <a:r>
              <a:rPr lang="en-US" sz="2200" spc="-22" dirty="0">
                <a:latin typeface="Calibri"/>
                <a:cs typeface="Calibri"/>
              </a:rPr>
              <a:t>Virtual memory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protection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maybe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even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more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important</a:t>
            </a:r>
            <a:r>
              <a:rPr sz="2200" spc="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than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memory </a:t>
            </a:r>
            <a:r>
              <a:rPr sz="2200" dirty="0">
                <a:latin typeface="Calibri"/>
                <a:cs typeface="Calibri"/>
              </a:rPr>
              <a:t>hierarchy</a:t>
            </a:r>
            <a:r>
              <a:rPr sz="2200" spc="7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benefits,</a:t>
            </a:r>
            <a:r>
              <a:rPr sz="2200" spc="6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6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computers</a:t>
            </a:r>
            <a:r>
              <a:rPr sz="2200" spc="71" dirty="0">
                <a:latin typeface="Calibri"/>
                <a:cs typeface="Calibri"/>
              </a:rPr>
              <a:t> </a:t>
            </a:r>
            <a:r>
              <a:rPr lang="en-US" sz="2200" spc="71" dirty="0">
                <a:latin typeface="Calibri"/>
                <a:cs typeface="Calibri"/>
              </a:rPr>
              <a:t>are </a:t>
            </a:r>
            <a:r>
              <a:rPr sz="2200" dirty="0">
                <a:latin typeface="Calibri"/>
                <a:cs typeface="Calibri"/>
              </a:rPr>
              <a:t>still</a:t>
            </a:r>
            <a:r>
              <a:rPr sz="2200" spc="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insecure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783BD8B8-53A1-D26B-7DBF-DC5F637705B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409241" y="6328485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38</a:t>
            </a:fld>
            <a:endParaRPr spc="-22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Review</a:t>
            </a:r>
            <a:r>
              <a:rPr spc="-44" dirty="0"/>
              <a:t> </a:t>
            </a:r>
            <a:r>
              <a:rPr spc="-9" dirty="0"/>
              <a:t>Question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2091" y="1479093"/>
            <a:ext cx="7392805" cy="2641447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278481" indent="-267275">
              <a:spcBef>
                <a:spcPts val="618"/>
              </a:spcBef>
              <a:buChar char="•"/>
              <a:tabLst>
                <a:tab pos="278481" algn="l"/>
              </a:tabLst>
            </a:pPr>
            <a:r>
              <a:rPr sz="2400" dirty="0"/>
              <a:t>Page</a:t>
            </a:r>
            <a:r>
              <a:rPr sz="2400" spc="57" dirty="0"/>
              <a:t> </a:t>
            </a:r>
            <a:r>
              <a:rPr sz="2400" dirty="0"/>
              <a:t>size:</a:t>
            </a:r>
            <a:r>
              <a:rPr sz="2400" spc="40" dirty="0"/>
              <a:t> </a:t>
            </a:r>
            <a:r>
              <a:rPr sz="2400" spc="-22" dirty="0"/>
              <a:t>8KB</a:t>
            </a: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400" dirty="0"/>
              <a:t>Width</a:t>
            </a:r>
            <a:r>
              <a:rPr sz="2400" spc="66" dirty="0"/>
              <a:t> </a:t>
            </a:r>
            <a:r>
              <a:rPr sz="2400" dirty="0"/>
              <a:t>of</a:t>
            </a:r>
            <a:r>
              <a:rPr sz="2400" spc="62" dirty="0"/>
              <a:t> </a:t>
            </a:r>
            <a:r>
              <a:rPr sz="2400" dirty="0"/>
              <a:t>Virtual</a:t>
            </a:r>
            <a:r>
              <a:rPr sz="2400" spc="49" dirty="0"/>
              <a:t> </a:t>
            </a:r>
            <a:r>
              <a:rPr sz="2400" dirty="0"/>
              <a:t>Page</a:t>
            </a:r>
            <a:r>
              <a:rPr sz="2400" spc="66" dirty="0"/>
              <a:t> </a:t>
            </a:r>
            <a:r>
              <a:rPr sz="2400" dirty="0"/>
              <a:t>Number:</a:t>
            </a:r>
            <a:r>
              <a:rPr sz="2400" spc="49" dirty="0"/>
              <a:t> </a:t>
            </a:r>
            <a:r>
              <a:rPr sz="2400" dirty="0"/>
              <a:t>30</a:t>
            </a:r>
            <a:r>
              <a:rPr sz="2400" spc="57" dirty="0"/>
              <a:t> </a:t>
            </a:r>
            <a:r>
              <a:rPr sz="2400" spc="-18" dirty="0"/>
              <a:t>bits</a:t>
            </a:r>
          </a:p>
          <a:p>
            <a:pPr marL="278481" indent="-267275">
              <a:spcBef>
                <a:spcPts val="613"/>
              </a:spcBef>
              <a:buChar char="•"/>
              <a:tabLst>
                <a:tab pos="278481" algn="l"/>
              </a:tabLst>
            </a:pPr>
            <a:r>
              <a:rPr sz="2400" dirty="0"/>
              <a:t>Width</a:t>
            </a:r>
            <a:r>
              <a:rPr sz="2400" spc="66" dirty="0"/>
              <a:t> </a:t>
            </a:r>
            <a:r>
              <a:rPr sz="2400" dirty="0"/>
              <a:t>of</a:t>
            </a:r>
            <a:r>
              <a:rPr sz="2400" spc="62" dirty="0"/>
              <a:t> </a:t>
            </a:r>
            <a:r>
              <a:rPr sz="2400" dirty="0"/>
              <a:t>Physical</a:t>
            </a:r>
            <a:r>
              <a:rPr sz="2400" spc="49" dirty="0"/>
              <a:t> </a:t>
            </a:r>
            <a:r>
              <a:rPr sz="2400" dirty="0"/>
              <a:t>Frame</a:t>
            </a:r>
            <a:r>
              <a:rPr sz="2400" spc="66" dirty="0"/>
              <a:t> </a:t>
            </a:r>
            <a:r>
              <a:rPr sz="2400" dirty="0"/>
              <a:t>Number:</a:t>
            </a:r>
            <a:r>
              <a:rPr sz="2400" spc="49" dirty="0"/>
              <a:t> </a:t>
            </a:r>
            <a:r>
              <a:rPr sz="2400" dirty="0"/>
              <a:t>20</a:t>
            </a:r>
            <a:r>
              <a:rPr sz="2400" spc="57" dirty="0"/>
              <a:t> </a:t>
            </a:r>
            <a:r>
              <a:rPr sz="2400" spc="-18" dirty="0"/>
              <a:t>bits</a:t>
            </a: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400" dirty="0"/>
              <a:t>3</a:t>
            </a:r>
            <a:r>
              <a:rPr sz="2400" spc="49" dirty="0"/>
              <a:t> </a:t>
            </a:r>
            <a:r>
              <a:rPr sz="2400" dirty="0"/>
              <a:t>admin</a:t>
            </a:r>
            <a:r>
              <a:rPr sz="2400" spc="57" dirty="0"/>
              <a:t> </a:t>
            </a:r>
            <a:r>
              <a:rPr sz="2400" dirty="0"/>
              <a:t>bits</a:t>
            </a:r>
            <a:r>
              <a:rPr sz="2400" spc="53" dirty="0"/>
              <a:t> </a:t>
            </a:r>
            <a:r>
              <a:rPr sz="2400" dirty="0"/>
              <a:t>in</a:t>
            </a:r>
            <a:r>
              <a:rPr sz="2400" spc="57" dirty="0"/>
              <a:t> </a:t>
            </a:r>
            <a:r>
              <a:rPr sz="2400" dirty="0"/>
              <a:t>the</a:t>
            </a:r>
            <a:r>
              <a:rPr sz="2400" spc="62" dirty="0"/>
              <a:t> </a:t>
            </a:r>
            <a:r>
              <a:rPr sz="2400" dirty="0"/>
              <a:t>single-level</a:t>
            </a:r>
            <a:r>
              <a:rPr sz="2400" spc="49" dirty="0"/>
              <a:t> </a:t>
            </a:r>
            <a:r>
              <a:rPr sz="2400" dirty="0"/>
              <a:t>page</a:t>
            </a:r>
            <a:r>
              <a:rPr sz="2400" spc="66" dirty="0"/>
              <a:t> </a:t>
            </a:r>
            <a:r>
              <a:rPr sz="2400" spc="-9" dirty="0"/>
              <a:t>table</a:t>
            </a:r>
          </a:p>
          <a:p>
            <a:pPr>
              <a:spcBef>
                <a:spcPts val="1099"/>
              </a:spcBef>
              <a:buFont typeface="Calibri"/>
              <a:buChar char="•"/>
            </a:pPr>
            <a:endParaRPr sz="2400" spc="-9" dirty="0"/>
          </a:p>
          <a:p>
            <a:pPr marL="278481" indent="-267275">
              <a:buChar char="•"/>
              <a:tabLst>
                <a:tab pos="278481" algn="l"/>
              </a:tabLst>
            </a:pPr>
            <a:r>
              <a:rPr sz="2400" b="1" dirty="0"/>
              <a:t>What</a:t>
            </a:r>
            <a:r>
              <a:rPr sz="2400" b="1" spc="35" dirty="0"/>
              <a:t> </a:t>
            </a:r>
            <a:r>
              <a:rPr sz="2400" b="1" dirty="0"/>
              <a:t>is</a:t>
            </a:r>
            <a:r>
              <a:rPr sz="2400" b="1" spc="40" dirty="0"/>
              <a:t> </a:t>
            </a:r>
            <a:r>
              <a:rPr sz="2400" b="1" dirty="0"/>
              <a:t>the</a:t>
            </a:r>
            <a:r>
              <a:rPr sz="2400" b="1" spc="53" dirty="0"/>
              <a:t> </a:t>
            </a:r>
            <a:r>
              <a:rPr sz="2400" b="1" dirty="0"/>
              <a:t>length</a:t>
            </a:r>
            <a:r>
              <a:rPr sz="2400" b="1" spc="53" dirty="0"/>
              <a:t> </a:t>
            </a:r>
            <a:r>
              <a:rPr sz="2400" b="1" dirty="0"/>
              <a:t>of</a:t>
            </a:r>
            <a:r>
              <a:rPr sz="2400" b="1" spc="44" dirty="0"/>
              <a:t> </a:t>
            </a:r>
            <a:r>
              <a:rPr sz="2400" b="1" dirty="0"/>
              <a:t>a</a:t>
            </a:r>
            <a:r>
              <a:rPr sz="2400" b="1" spc="49" dirty="0"/>
              <a:t> </a:t>
            </a:r>
            <a:r>
              <a:rPr sz="2400" b="1" dirty="0"/>
              <a:t>virtual</a:t>
            </a:r>
            <a:r>
              <a:rPr sz="2400" b="1" spc="31" dirty="0"/>
              <a:t> </a:t>
            </a:r>
            <a:r>
              <a:rPr sz="2400" b="1" spc="-9" dirty="0"/>
              <a:t>address?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91353" y="6208578"/>
            <a:ext cx="8561294" cy="425824"/>
            <a:chOff x="177800" y="7036389"/>
            <a:chExt cx="9702800" cy="4826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9815" y="7036389"/>
              <a:ext cx="620785" cy="48201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7800" y="7059847"/>
              <a:ext cx="9702800" cy="459105"/>
            </a:xfrm>
            <a:custGeom>
              <a:avLst/>
              <a:gdLst/>
              <a:ahLst/>
              <a:cxnLst/>
              <a:rect l="l" t="t" r="r" b="b"/>
              <a:pathLst>
                <a:path w="9702800" h="459104">
                  <a:moveTo>
                    <a:pt x="9702800" y="0"/>
                  </a:moveTo>
                  <a:lnTo>
                    <a:pt x="0" y="0"/>
                  </a:lnTo>
                  <a:lnTo>
                    <a:pt x="0" y="458556"/>
                  </a:lnTo>
                  <a:lnTo>
                    <a:pt x="9702800" y="458556"/>
                  </a:lnTo>
                  <a:lnTo>
                    <a:pt x="9702800" y="0"/>
                  </a:lnTo>
                  <a:close/>
                </a:path>
              </a:pathLst>
            </a:custGeom>
            <a:solidFill>
              <a:srgbClr val="E9517E">
                <a:alpha val="3607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3">
            <a:extLst>
              <a:ext uri="{FF2B5EF4-FFF2-40B4-BE49-F238E27FC236}">
                <a16:creationId xmlns:a16="http://schemas.microsoft.com/office/drawing/2014/main" id="{8BA542B9-FBC4-4752-2B06-A365DBDEE24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304896" y="5891915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39</a:t>
            </a:fld>
            <a:endParaRPr spc="-22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Review</a:t>
            </a:r>
            <a:r>
              <a:rPr spc="-44" dirty="0"/>
              <a:t> </a:t>
            </a:r>
            <a:r>
              <a:rPr spc="-9" dirty="0"/>
              <a:t>Question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2091" y="1479095"/>
            <a:ext cx="7392805" cy="2641447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278481" indent="-267275">
              <a:spcBef>
                <a:spcPts val="618"/>
              </a:spcBef>
              <a:buChar char="•"/>
              <a:tabLst>
                <a:tab pos="278481" algn="l"/>
              </a:tabLst>
            </a:pPr>
            <a:r>
              <a:rPr sz="2400" dirty="0"/>
              <a:t>Page</a:t>
            </a:r>
            <a:r>
              <a:rPr sz="2400" spc="57" dirty="0"/>
              <a:t> </a:t>
            </a:r>
            <a:r>
              <a:rPr sz="2400" dirty="0"/>
              <a:t>size:</a:t>
            </a:r>
            <a:r>
              <a:rPr sz="2400" spc="40" dirty="0"/>
              <a:t> </a:t>
            </a:r>
            <a:r>
              <a:rPr sz="2400" spc="-22" dirty="0"/>
              <a:t>8KB</a:t>
            </a: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400" dirty="0"/>
              <a:t>Width</a:t>
            </a:r>
            <a:r>
              <a:rPr sz="2400" spc="66" dirty="0"/>
              <a:t> </a:t>
            </a:r>
            <a:r>
              <a:rPr sz="2400" dirty="0"/>
              <a:t>of</a:t>
            </a:r>
            <a:r>
              <a:rPr sz="2400" spc="62" dirty="0"/>
              <a:t> </a:t>
            </a:r>
            <a:r>
              <a:rPr sz="2400" dirty="0"/>
              <a:t>Virtual</a:t>
            </a:r>
            <a:r>
              <a:rPr sz="2400" spc="49" dirty="0"/>
              <a:t> </a:t>
            </a:r>
            <a:r>
              <a:rPr sz="2400" dirty="0"/>
              <a:t>Page</a:t>
            </a:r>
            <a:r>
              <a:rPr sz="2400" spc="66" dirty="0"/>
              <a:t> </a:t>
            </a:r>
            <a:r>
              <a:rPr sz="2400" dirty="0"/>
              <a:t>Number:</a:t>
            </a:r>
            <a:r>
              <a:rPr sz="2400" spc="49" dirty="0"/>
              <a:t> </a:t>
            </a:r>
            <a:r>
              <a:rPr sz="2400" dirty="0"/>
              <a:t>30</a:t>
            </a:r>
            <a:r>
              <a:rPr sz="2400" spc="57" dirty="0"/>
              <a:t> </a:t>
            </a:r>
            <a:r>
              <a:rPr sz="2400" spc="-18" dirty="0"/>
              <a:t>bits</a:t>
            </a:r>
          </a:p>
          <a:p>
            <a:pPr marL="278481" indent="-267275">
              <a:spcBef>
                <a:spcPts val="613"/>
              </a:spcBef>
              <a:buChar char="•"/>
              <a:tabLst>
                <a:tab pos="278481" algn="l"/>
              </a:tabLst>
            </a:pPr>
            <a:r>
              <a:rPr sz="2400" dirty="0"/>
              <a:t>Width</a:t>
            </a:r>
            <a:r>
              <a:rPr sz="2400" spc="66" dirty="0"/>
              <a:t> </a:t>
            </a:r>
            <a:r>
              <a:rPr sz="2400" dirty="0"/>
              <a:t>of</a:t>
            </a:r>
            <a:r>
              <a:rPr sz="2400" spc="62" dirty="0"/>
              <a:t> </a:t>
            </a:r>
            <a:r>
              <a:rPr sz="2400" dirty="0"/>
              <a:t>Physical</a:t>
            </a:r>
            <a:r>
              <a:rPr sz="2400" spc="49" dirty="0"/>
              <a:t> </a:t>
            </a:r>
            <a:r>
              <a:rPr sz="2400" dirty="0"/>
              <a:t>Frame</a:t>
            </a:r>
            <a:r>
              <a:rPr sz="2400" spc="66" dirty="0"/>
              <a:t> </a:t>
            </a:r>
            <a:r>
              <a:rPr sz="2400" dirty="0"/>
              <a:t>Number:</a:t>
            </a:r>
            <a:r>
              <a:rPr sz="2400" spc="49" dirty="0"/>
              <a:t> </a:t>
            </a:r>
            <a:r>
              <a:rPr sz="2400" dirty="0"/>
              <a:t>20</a:t>
            </a:r>
            <a:r>
              <a:rPr sz="2400" spc="57" dirty="0"/>
              <a:t> </a:t>
            </a:r>
            <a:r>
              <a:rPr sz="2400" spc="-18" dirty="0"/>
              <a:t>bits</a:t>
            </a: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400" dirty="0"/>
              <a:t>3</a:t>
            </a:r>
            <a:r>
              <a:rPr sz="2400" spc="49" dirty="0"/>
              <a:t> </a:t>
            </a:r>
            <a:r>
              <a:rPr sz="2400" dirty="0"/>
              <a:t>admin</a:t>
            </a:r>
            <a:r>
              <a:rPr sz="2400" spc="57" dirty="0"/>
              <a:t> </a:t>
            </a:r>
            <a:r>
              <a:rPr sz="2400" dirty="0"/>
              <a:t>bits</a:t>
            </a:r>
            <a:r>
              <a:rPr sz="2400" spc="53" dirty="0"/>
              <a:t> </a:t>
            </a:r>
            <a:r>
              <a:rPr sz="2400" dirty="0"/>
              <a:t>in</a:t>
            </a:r>
            <a:r>
              <a:rPr sz="2400" spc="57" dirty="0"/>
              <a:t> </a:t>
            </a:r>
            <a:r>
              <a:rPr sz="2400" dirty="0"/>
              <a:t>the</a:t>
            </a:r>
            <a:r>
              <a:rPr sz="2400" spc="62" dirty="0"/>
              <a:t> </a:t>
            </a:r>
            <a:r>
              <a:rPr sz="2400" dirty="0"/>
              <a:t>single-level</a:t>
            </a:r>
            <a:r>
              <a:rPr sz="2400" spc="49" dirty="0"/>
              <a:t> </a:t>
            </a:r>
            <a:r>
              <a:rPr sz="2400" dirty="0"/>
              <a:t>page</a:t>
            </a:r>
            <a:r>
              <a:rPr sz="2400" spc="66" dirty="0"/>
              <a:t> </a:t>
            </a:r>
            <a:r>
              <a:rPr sz="2400" spc="-9" dirty="0"/>
              <a:t>table</a:t>
            </a:r>
          </a:p>
          <a:p>
            <a:pPr>
              <a:spcBef>
                <a:spcPts val="1099"/>
              </a:spcBef>
              <a:buFont typeface="Calibri"/>
              <a:buChar char="•"/>
            </a:pPr>
            <a:endParaRPr sz="2400" spc="-9" dirty="0"/>
          </a:p>
          <a:p>
            <a:pPr marL="278481" indent="-267275">
              <a:buChar char="•"/>
              <a:tabLst>
                <a:tab pos="278481" algn="l"/>
              </a:tabLst>
            </a:pPr>
            <a:r>
              <a:rPr sz="2400" b="1" dirty="0"/>
              <a:t>What</a:t>
            </a:r>
            <a:r>
              <a:rPr sz="2400" b="1" spc="40" dirty="0"/>
              <a:t> </a:t>
            </a:r>
            <a:r>
              <a:rPr sz="2400" b="1" dirty="0"/>
              <a:t>is</a:t>
            </a:r>
            <a:r>
              <a:rPr sz="2400" b="1" spc="44" dirty="0"/>
              <a:t> </a:t>
            </a:r>
            <a:r>
              <a:rPr sz="2400" b="1" dirty="0"/>
              <a:t>the</a:t>
            </a:r>
            <a:r>
              <a:rPr sz="2400" b="1" spc="53" dirty="0"/>
              <a:t> </a:t>
            </a:r>
            <a:r>
              <a:rPr sz="2400" b="1" dirty="0"/>
              <a:t>length</a:t>
            </a:r>
            <a:r>
              <a:rPr sz="2400" b="1" spc="57" dirty="0"/>
              <a:t> </a:t>
            </a:r>
            <a:r>
              <a:rPr sz="2400" b="1" dirty="0"/>
              <a:t>of</a:t>
            </a:r>
            <a:r>
              <a:rPr sz="2400" b="1" spc="49" dirty="0"/>
              <a:t> </a:t>
            </a:r>
            <a:r>
              <a:rPr sz="2400" b="1" dirty="0"/>
              <a:t>a</a:t>
            </a:r>
            <a:r>
              <a:rPr sz="2400" b="1" spc="49" dirty="0"/>
              <a:t> </a:t>
            </a:r>
            <a:r>
              <a:rPr sz="2400" b="1" dirty="0"/>
              <a:t>physical</a:t>
            </a:r>
            <a:r>
              <a:rPr sz="2400" b="1" spc="35" dirty="0"/>
              <a:t> </a:t>
            </a:r>
            <a:r>
              <a:rPr sz="2400" b="1" spc="-9" dirty="0"/>
              <a:t>address?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91353" y="6208578"/>
            <a:ext cx="8561294" cy="425824"/>
            <a:chOff x="177800" y="7036389"/>
            <a:chExt cx="9702800" cy="4826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9815" y="7036389"/>
              <a:ext cx="620785" cy="48201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7800" y="7059847"/>
              <a:ext cx="9702800" cy="459105"/>
            </a:xfrm>
            <a:custGeom>
              <a:avLst/>
              <a:gdLst/>
              <a:ahLst/>
              <a:cxnLst/>
              <a:rect l="l" t="t" r="r" b="b"/>
              <a:pathLst>
                <a:path w="9702800" h="459104">
                  <a:moveTo>
                    <a:pt x="9702800" y="0"/>
                  </a:moveTo>
                  <a:lnTo>
                    <a:pt x="0" y="0"/>
                  </a:lnTo>
                  <a:lnTo>
                    <a:pt x="0" y="458556"/>
                  </a:lnTo>
                  <a:lnTo>
                    <a:pt x="9702800" y="458556"/>
                  </a:lnTo>
                  <a:lnTo>
                    <a:pt x="9702800" y="0"/>
                  </a:lnTo>
                  <a:close/>
                </a:path>
              </a:pathLst>
            </a:custGeom>
            <a:solidFill>
              <a:srgbClr val="E9517E">
                <a:alpha val="3607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3">
            <a:extLst>
              <a:ext uri="{FF2B5EF4-FFF2-40B4-BE49-F238E27FC236}">
                <a16:creationId xmlns:a16="http://schemas.microsoft.com/office/drawing/2014/main" id="{8D720452-6DE4-5BD7-427F-B0DD9E28860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304896" y="5891915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40</a:t>
            </a:fld>
            <a:endParaRPr spc="-22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7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Review</a:t>
            </a:r>
            <a:r>
              <a:rPr spc="-44" dirty="0"/>
              <a:t> </a:t>
            </a:r>
            <a:r>
              <a:rPr spc="-9" dirty="0"/>
              <a:t>Question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2091" y="1479095"/>
            <a:ext cx="7392805" cy="2641447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278481" indent="-267275">
              <a:spcBef>
                <a:spcPts val="618"/>
              </a:spcBef>
              <a:buChar char="•"/>
              <a:tabLst>
                <a:tab pos="278481" algn="l"/>
              </a:tabLst>
            </a:pPr>
            <a:r>
              <a:rPr sz="2400" dirty="0"/>
              <a:t>Page</a:t>
            </a:r>
            <a:r>
              <a:rPr sz="2400" spc="57" dirty="0"/>
              <a:t> </a:t>
            </a:r>
            <a:r>
              <a:rPr sz="2400" dirty="0"/>
              <a:t>size:</a:t>
            </a:r>
            <a:r>
              <a:rPr sz="2400" spc="40" dirty="0"/>
              <a:t> </a:t>
            </a:r>
            <a:r>
              <a:rPr sz="2400" spc="-22" dirty="0"/>
              <a:t>8KB</a:t>
            </a: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400" dirty="0"/>
              <a:t>Width</a:t>
            </a:r>
            <a:r>
              <a:rPr sz="2400" spc="66" dirty="0"/>
              <a:t> </a:t>
            </a:r>
            <a:r>
              <a:rPr sz="2400" dirty="0"/>
              <a:t>of</a:t>
            </a:r>
            <a:r>
              <a:rPr sz="2400" spc="62" dirty="0"/>
              <a:t> </a:t>
            </a:r>
            <a:r>
              <a:rPr sz="2400" dirty="0"/>
              <a:t>Virtual</a:t>
            </a:r>
            <a:r>
              <a:rPr sz="2400" spc="49" dirty="0"/>
              <a:t> </a:t>
            </a:r>
            <a:r>
              <a:rPr sz="2400" dirty="0"/>
              <a:t>Page</a:t>
            </a:r>
            <a:r>
              <a:rPr sz="2400" spc="66" dirty="0"/>
              <a:t> </a:t>
            </a:r>
            <a:r>
              <a:rPr sz="2400" dirty="0"/>
              <a:t>Number:</a:t>
            </a:r>
            <a:r>
              <a:rPr sz="2400" spc="49" dirty="0"/>
              <a:t> </a:t>
            </a:r>
            <a:r>
              <a:rPr sz="2400" dirty="0"/>
              <a:t>30</a:t>
            </a:r>
            <a:r>
              <a:rPr sz="2400" spc="57" dirty="0"/>
              <a:t> </a:t>
            </a:r>
            <a:r>
              <a:rPr sz="2400" spc="-18" dirty="0"/>
              <a:t>bits</a:t>
            </a:r>
          </a:p>
          <a:p>
            <a:pPr marL="278481" indent="-267275">
              <a:spcBef>
                <a:spcPts val="613"/>
              </a:spcBef>
              <a:buChar char="•"/>
              <a:tabLst>
                <a:tab pos="278481" algn="l"/>
              </a:tabLst>
            </a:pPr>
            <a:r>
              <a:rPr sz="2400" dirty="0"/>
              <a:t>Width</a:t>
            </a:r>
            <a:r>
              <a:rPr sz="2400" spc="66" dirty="0"/>
              <a:t> </a:t>
            </a:r>
            <a:r>
              <a:rPr sz="2400" dirty="0"/>
              <a:t>of</a:t>
            </a:r>
            <a:r>
              <a:rPr sz="2400" spc="62" dirty="0"/>
              <a:t> </a:t>
            </a:r>
            <a:r>
              <a:rPr sz="2400" dirty="0"/>
              <a:t>Physical</a:t>
            </a:r>
            <a:r>
              <a:rPr sz="2400" spc="49" dirty="0"/>
              <a:t> </a:t>
            </a:r>
            <a:r>
              <a:rPr sz="2400" dirty="0"/>
              <a:t>Frame</a:t>
            </a:r>
            <a:r>
              <a:rPr sz="2400" spc="66" dirty="0"/>
              <a:t> </a:t>
            </a:r>
            <a:r>
              <a:rPr sz="2400" dirty="0"/>
              <a:t>Number:</a:t>
            </a:r>
            <a:r>
              <a:rPr sz="2400" spc="49" dirty="0"/>
              <a:t> </a:t>
            </a:r>
            <a:r>
              <a:rPr sz="2400" dirty="0"/>
              <a:t>20</a:t>
            </a:r>
            <a:r>
              <a:rPr sz="2400" spc="57" dirty="0"/>
              <a:t> </a:t>
            </a:r>
            <a:r>
              <a:rPr sz="2400" spc="-18" dirty="0"/>
              <a:t>bits</a:t>
            </a: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400" dirty="0"/>
              <a:t>3</a:t>
            </a:r>
            <a:r>
              <a:rPr sz="2400" spc="49" dirty="0"/>
              <a:t> </a:t>
            </a:r>
            <a:r>
              <a:rPr sz="2400" dirty="0"/>
              <a:t>admin</a:t>
            </a:r>
            <a:r>
              <a:rPr sz="2400" spc="57" dirty="0"/>
              <a:t> </a:t>
            </a:r>
            <a:r>
              <a:rPr sz="2400" dirty="0"/>
              <a:t>bits</a:t>
            </a:r>
            <a:r>
              <a:rPr sz="2400" spc="53" dirty="0"/>
              <a:t> </a:t>
            </a:r>
            <a:r>
              <a:rPr sz="2400" dirty="0"/>
              <a:t>in</a:t>
            </a:r>
            <a:r>
              <a:rPr sz="2400" spc="57" dirty="0"/>
              <a:t> </a:t>
            </a:r>
            <a:r>
              <a:rPr sz="2400" dirty="0"/>
              <a:t>the</a:t>
            </a:r>
            <a:r>
              <a:rPr sz="2400" spc="62" dirty="0"/>
              <a:t> </a:t>
            </a:r>
            <a:r>
              <a:rPr sz="2400" dirty="0"/>
              <a:t>single-level</a:t>
            </a:r>
            <a:r>
              <a:rPr sz="2400" spc="49" dirty="0"/>
              <a:t> </a:t>
            </a:r>
            <a:r>
              <a:rPr sz="2400" dirty="0"/>
              <a:t>page</a:t>
            </a:r>
            <a:r>
              <a:rPr sz="2400" spc="66" dirty="0"/>
              <a:t> </a:t>
            </a:r>
            <a:r>
              <a:rPr sz="2400" spc="-9" dirty="0"/>
              <a:t>table</a:t>
            </a:r>
          </a:p>
          <a:p>
            <a:pPr>
              <a:spcBef>
                <a:spcPts val="1099"/>
              </a:spcBef>
              <a:buFont typeface="Calibri"/>
              <a:buChar char="•"/>
            </a:pPr>
            <a:endParaRPr sz="2400" spc="-9" dirty="0"/>
          </a:p>
          <a:p>
            <a:pPr marL="278481" indent="-267275">
              <a:buChar char="•"/>
              <a:tabLst>
                <a:tab pos="278481" algn="l"/>
              </a:tabLst>
            </a:pPr>
            <a:r>
              <a:rPr sz="2400" b="1" dirty="0"/>
              <a:t>How</a:t>
            </a:r>
            <a:r>
              <a:rPr sz="2400" b="1" spc="53" dirty="0"/>
              <a:t> </a:t>
            </a:r>
            <a:r>
              <a:rPr sz="2400" b="1" dirty="0"/>
              <a:t>many</a:t>
            </a:r>
            <a:r>
              <a:rPr sz="2400" b="1" spc="49" dirty="0"/>
              <a:t> </a:t>
            </a:r>
            <a:r>
              <a:rPr sz="2400" b="1" dirty="0"/>
              <a:t>entries</a:t>
            </a:r>
            <a:r>
              <a:rPr sz="2400" b="1" spc="44" dirty="0"/>
              <a:t> </a:t>
            </a:r>
            <a:r>
              <a:rPr sz="2400" b="1" dirty="0"/>
              <a:t>in</a:t>
            </a:r>
            <a:r>
              <a:rPr sz="2400" b="1" spc="53" dirty="0"/>
              <a:t> </a:t>
            </a:r>
            <a:r>
              <a:rPr sz="2400" b="1" dirty="0"/>
              <a:t>the</a:t>
            </a:r>
            <a:r>
              <a:rPr sz="2400" b="1" spc="53" dirty="0"/>
              <a:t> </a:t>
            </a:r>
            <a:r>
              <a:rPr sz="2400" b="1" dirty="0"/>
              <a:t>page</a:t>
            </a:r>
            <a:r>
              <a:rPr sz="2400" b="1" spc="53" dirty="0"/>
              <a:t> </a:t>
            </a:r>
            <a:r>
              <a:rPr sz="2400" b="1" spc="-9" dirty="0"/>
              <a:t>table?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91353" y="6208578"/>
            <a:ext cx="8561294" cy="425824"/>
            <a:chOff x="177800" y="7036389"/>
            <a:chExt cx="9702800" cy="4826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9815" y="7036389"/>
              <a:ext cx="620785" cy="48201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7800" y="7059847"/>
              <a:ext cx="9702800" cy="459105"/>
            </a:xfrm>
            <a:custGeom>
              <a:avLst/>
              <a:gdLst/>
              <a:ahLst/>
              <a:cxnLst/>
              <a:rect l="l" t="t" r="r" b="b"/>
              <a:pathLst>
                <a:path w="9702800" h="459104">
                  <a:moveTo>
                    <a:pt x="9702800" y="0"/>
                  </a:moveTo>
                  <a:lnTo>
                    <a:pt x="0" y="0"/>
                  </a:lnTo>
                  <a:lnTo>
                    <a:pt x="0" y="458556"/>
                  </a:lnTo>
                  <a:lnTo>
                    <a:pt x="9702800" y="458556"/>
                  </a:lnTo>
                  <a:lnTo>
                    <a:pt x="9702800" y="0"/>
                  </a:lnTo>
                  <a:close/>
                </a:path>
              </a:pathLst>
            </a:custGeom>
            <a:solidFill>
              <a:srgbClr val="E9517E">
                <a:alpha val="3607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3">
            <a:extLst>
              <a:ext uri="{FF2B5EF4-FFF2-40B4-BE49-F238E27FC236}">
                <a16:creationId xmlns:a16="http://schemas.microsoft.com/office/drawing/2014/main" id="{78DB0560-54AB-BA85-12C3-A6EB6FEFBCB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304896" y="5891915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41</a:t>
            </a:fld>
            <a:endParaRPr spc="-22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Review</a:t>
            </a:r>
            <a:r>
              <a:rPr spc="-44" dirty="0"/>
              <a:t> </a:t>
            </a:r>
            <a:r>
              <a:rPr spc="-9" dirty="0"/>
              <a:t>Question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0" y="1491355"/>
            <a:ext cx="7392805" cy="3049251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278481" indent="-267275">
              <a:spcBef>
                <a:spcPts val="618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Page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size: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8KB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Width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Virtual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Number: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30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bits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61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Width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Physical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Frame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Number: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20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bits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3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admin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table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1099"/>
              </a:spcBef>
              <a:buFont typeface="Calibri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278481" marR="4483" indent="-267835">
              <a:buChar char="•"/>
              <a:tabLst>
                <a:tab pos="278481" algn="l"/>
              </a:tabLst>
            </a:pPr>
            <a:r>
              <a:rPr sz="2400" b="1" dirty="0">
                <a:latin typeface="Calibri"/>
                <a:cs typeface="Calibri"/>
              </a:rPr>
              <a:t>How</a:t>
            </a:r>
            <a:r>
              <a:rPr sz="2400" b="1" spc="5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wide</a:t>
            </a:r>
            <a:r>
              <a:rPr sz="2400" b="1" spc="57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each</a:t>
            </a:r>
            <a:r>
              <a:rPr sz="2400" b="1" spc="4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page</a:t>
            </a:r>
            <a:r>
              <a:rPr sz="2400" b="1" spc="57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table</a:t>
            </a:r>
            <a:r>
              <a:rPr sz="2400" b="1" spc="5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entry</a:t>
            </a:r>
            <a:r>
              <a:rPr sz="2400" b="1" spc="53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(in</a:t>
            </a:r>
            <a:r>
              <a:rPr sz="2400" b="1" spc="4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bits)?</a:t>
            </a:r>
            <a:r>
              <a:rPr sz="2400" spc="49" dirty="0">
                <a:latin typeface="Calibri"/>
                <a:cs typeface="Calibri"/>
              </a:rPr>
              <a:t> </a:t>
            </a:r>
            <a:br>
              <a:rPr lang="en-US" sz="2400" spc="49" dirty="0">
                <a:latin typeface="Calibri"/>
                <a:cs typeface="Calibri"/>
              </a:rPr>
            </a:br>
            <a:r>
              <a:rPr sz="2400" dirty="0">
                <a:latin typeface="Calibri"/>
                <a:cs typeface="Calibri"/>
              </a:rPr>
              <a:t>(assume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single- 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page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table)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1353" y="6208578"/>
            <a:ext cx="8561294" cy="425824"/>
            <a:chOff x="177800" y="7036389"/>
            <a:chExt cx="9702800" cy="4826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9815" y="7036389"/>
              <a:ext cx="620785" cy="48201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7800" y="7059847"/>
              <a:ext cx="9702800" cy="459105"/>
            </a:xfrm>
            <a:custGeom>
              <a:avLst/>
              <a:gdLst/>
              <a:ahLst/>
              <a:cxnLst/>
              <a:rect l="l" t="t" r="r" b="b"/>
              <a:pathLst>
                <a:path w="9702800" h="459104">
                  <a:moveTo>
                    <a:pt x="9702800" y="0"/>
                  </a:moveTo>
                  <a:lnTo>
                    <a:pt x="0" y="0"/>
                  </a:lnTo>
                  <a:lnTo>
                    <a:pt x="0" y="458556"/>
                  </a:lnTo>
                  <a:lnTo>
                    <a:pt x="9702800" y="458556"/>
                  </a:lnTo>
                  <a:lnTo>
                    <a:pt x="9702800" y="0"/>
                  </a:lnTo>
                  <a:close/>
                </a:path>
              </a:pathLst>
            </a:custGeom>
            <a:solidFill>
              <a:srgbClr val="E9517E">
                <a:alpha val="3607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3">
            <a:extLst>
              <a:ext uri="{FF2B5EF4-FFF2-40B4-BE49-F238E27FC236}">
                <a16:creationId xmlns:a16="http://schemas.microsoft.com/office/drawing/2014/main" id="{0C9C6373-A9E9-3E5F-1DA1-1B6BFC1B6BD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304896" y="5891915"/>
            <a:ext cx="361739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19">
              <a:lnSpc>
                <a:spcPts val="1747"/>
              </a:lnSpc>
            </a:pPr>
            <a:fld id="{81D60167-4931-47E6-BA6A-407CBD079E47}" type="slidenum">
              <a:rPr spc="-22" dirty="0"/>
              <a:pPr marL="33619">
                <a:lnSpc>
                  <a:spcPts val="1747"/>
                </a:lnSpc>
              </a:pPr>
              <a:t>42</a:t>
            </a:fld>
            <a:endParaRPr spc="-2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1466</TotalTime>
  <Words>5785</Words>
  <Application>Microsoft Office PowerPoint</Application>
  <PresentationFormat>On-screen Show (4:3)</PresentationFormat>
  <Paragraphs>963</Paragraphs>
  <Slides>42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MS PGothic</vt:lpstr>
      <vt:lpstr>Aptos</vt:lpstr>
      <vt:lpstr>Arial</vt:lpstr>
      <vt:lpstr>Arial MT</vt:lpstr>
      <vt:lpstr>Calibri</vt:lpstr>
      <vt:lpstr>Comic Sans MS</vt:lpstr>
      <vt:lpstr>Symbol</vt:lpstr>
      <vt:lpstr>Times New Roman</vt:lpstr>
      <vt:lpstr>1_Office Theme</vt:lpstr>
      <vt:lpstr>PowerPoint Presentation</vt:lpstr>
      <vt:lpstr>VIRTUAL MEMORY - APPENDIX B / CHAPTER 2</vt:lpstr>
      <vt:lpstr>Virtual addressing</vt:lpstr>
      <vt:lpstr>In the olden days …</vt:lpstr>
      <vt:lpstr>In the less-olden days ...</vt:lpstr>
      <vt:lpstr>Memory protection</vt:lpstr>
      <vt:lpstr>But we know all about this!</vt:lpstr>
      <vt:lpstr>Virtual Memory (Figure B.19)</vt:lpstr>
      <vt:lpstr>Parameters (Figure B.20)</vt:lpstr>
      <vt:lpstr>Cache vs. virtual memory</vt:lpstr>
      <vt:lpstr>Old Protection Mode: Base &amp; Bound</vt:lpstr>
      <vt:lpstr>Who can change them?</vt:lpstr>
      <vt:lpstr>Segmentation</vt:lpstr>
      <vt:lpstr>PAGING</vt:lpstr>
      <vt:lpstr>The Limits of Physical Addressing</vt:lpstr>
      <vt:lpstr>Solution: Add a Layer of Indirection</vt:lpstr>
      <vt:lpstr>Paging Overview</vt:lpstr>
      <vt:lpstr>Paging Overview (cont.)</vt:lpstr>
      <vt:lpstr>Page tables encode virtual address spaces</vt:lpstr>
      <vt:lpstr>Page Tables (Figure B.23)</vt:lpstr>
      <vt:lpstr>Details of Page Table</vt:lpstr>
      <vt:lpstr>Use of Page Table – another view</vt:lpstr>
      <vt:lpstr>Two-Level Page Tables</vt:lpstr>
      <vt:lpstr>Hierarchical Paging System – Another View</vt:lpstr>
      <vt:lpstr>Choosing page size</vt:lpstr>
      <vt:lpstr>VM and Disk: Page replacement policy</vt:lpstr>
      <vt:lpstr>VIRTUAL MEMORY - APPENDIX B / CHAPTER 2</vt:lpstr>
      <vt:lpstr>MIPS Address Translation: How does it work?</vt:lpstr>
      <vt:lpstr>The TLB Caches Page Table Entries</vt:lpstr>
      <vt:lpstr>Common Organization</vt:lpstr>
      <vt:lpstr>Translation Lookaside Buffer – Another view</vt:lpstr>
      <vt:lpstr>TLB – Another view (cont.)</vt:lpstr>
      <vt:lpstr>Can TLB translation overlap cache indexing?</vt:lpstr>
      <vt:lpstr>Can TLB translation overlap cache indexing? {Maybe if cache is tiny.}</vt:lpstr>
      <vt:lpstr>Problems With Overlapped TLB Access</vt:lpstr>
      <vt:lpstr>Can CPU use virtual addresses for cache?</vt:lpstr>
      <vt:lpstr>Advantages of Paged Virtual Memory</vt:lpstr>
      <vt:lpstr>Summary - TLB, Virtual Memory</vt:lpstr>
      <vt:lpstr>Review Question</vt:lpstr>
      <vt:lpstr>Review Question</vt:lpstr>
      <vt:lpstr>Review Question</vt:lpstr>
      <vt:lpstr>Review Question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Johnson</dc:creator>
  <cp:lastModifiedBy>Richard Johnson</cp:lastModifiedBy>
  <cp:revision>864</cp:revision>
  <dcterms:created xsi:type="dcterms:W3CDTF">2025-09-07T23:26:05Z</dcterms:created>
  <dcterms:modified xsi:type="dcterms:W3CDTF">2025-10-27T15:52:51Z</dcterms:modified>
</cp:coreProperties>
</file>