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7"/>
  </p:notesMasterIdLst>
  <p:sldIdLst>
    <p:sldId id="348" r:id="rId2"/>
    <p:sldId id="258" r:id="rId3"/>
    <p:sldId id="315" r:id="rId4"/>
    <p:sldId id="316" r:id="rId5"/>
    <p:sldId id="317" r:id="rId6"/>
    <p:sldId id="318" r:id="rId7"/>
    <p:sldId id="319" r:id="rId8"/>
    <p:sldId id="320" r:id="rId9"/>
    <p:sldId id="321" r:id="rId10"/>
    <p:sldId id="322" r:id="rId11"/>
    <p:sldId id="323" r:id="rId12"/>
    <p:sldId id="324" r:id="rId13"/>
    <p:sldId id="349" r:id="rId14"/>
    <p:sldId id="325" r:id="rId15"/>
    <p:sldId id="326" r:id="rId16"/>
    <p:sldId id="327" r:id="rId17"/>
    <p:sldId id="328" r:id="rId18"/>
    <p:sldId id="329" r:id="rId19"/>
    <p:sldId id="335" r:id="rId20"/>
    <p:sldId id="331" r:id="rId21"/>
    <p:sldId id="332" r:id="rId22"/>
    <p:sldId id="333" r:id="rId23"/>
    <p:sldId id="334" r:id="rId24"/>
    <p:sldId id="336" r:id="rId25"/>
    <p:sldId id="337" r:id="rId26"/>
    <p:sldId id="338" r:id="rId27"/>
    <p:sldId id="339" r:id="rId28"/>
    <p:sldId id="340" r:id="rId29"/>
    <p:sldId id="341" r:id="rId30"/>
    <p:sldId id="342" r:id="rId31"/>
    <p:sldId id="343" r:id="rId32"/>
    <p:sldId id="344" r:id="rId33"/>
    <p:sldId id="345" r:id="rId34"/>
    <p:sldId id="346" r:id="rId35"/>
    <p:sldId id="347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32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065" autoAdjust="0"/>
  </p:normalViewPr>
  <p:slideViewPr>
    <p:cSldViewPr snapToGrid="0">
      <p:cViewPr varScale="1">
        <p:scale>
          <a:sx n="68" d="100"/>
          <a:sy n="68" d="100"/>
        </p:scale>
        <p:origin x="181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47FD1-F16B-4674-8E3F-229D935503A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FFC65-791B-4559-8ED4-77406F770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11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80CBAE93-06AC-4832-A6F6-170F7BEDB2E9}" type="datetime3">
              <a:rPr lang="en-US" smtClean="0"/>
              <a:t>5 October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CEACC0-B677-4A29-B1E6-BCE98563D55B}" type="slidenum">
              <a:rPr lang="en-US"/>
              <a:pPr/>
              <a:t>1</a:t>
            </a:fld>
            <a:endParaRPr lang="en-US"/>
          </a:p>
        </p:txBody>
      </p:sp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0739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649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Exceptional situations (surprises) are difficult to handle in a pipelined architecture.</a:t>
            </a:r>
          </a:p>
          <a:p>
            <a:endParaRPr lang="en-US" dirty="0"/>
          </a:p>
          <a:p>
            <a:r>
              <a:rPr lang="en-US" dirty="0"/>
              <a:t>In a pipelined CPU, </a:t>
            </a:r>
          </a:p>
          <a:p>
            <a:r>
              <a:rPr lang="en-US" dirty="0"/>
              <a:t>an instruction is executed through the various stages of the pipeline over many clock cycles. </a:t>
            </a:r>
          </a:p>
          <a:p>
            <a:endParaRPr lang="en-US" dirty="0"/>
          </a:p>
          <a:p>
            <a:r>
              <a:rPr lang="en-US" dirty="0"/>
              <a:t>If another instruction in the pipeline raises an exception,</a:t>
            </a:r>
          </a:p>
          <a:p>
            <a:r>
              <a:rPr lang="en-US" dirty="0"/>
              <a:t>it may force the CPU to abort the instructions in the pipeline before they complete. </a:t>
            </a:r>
          </a:p>
          <a:p>
            <a:endParaRPr lang="en-US" dirty="0"/>
          </a:p>
          <a:p>
            <a:r>
              <a:rPr lang="en-US" b="1" dirty="0"/>
              <a:t>Exception:</a:t>
            </a:r>
            <a:r>
              <a:rPr lang="en-US" dirty="0"/>
              <a:t> …</a:t>
            </a:r>
          </a:p>
          <a:p>
            <a:r>
              <a:rPr lang="en-US" dirty="0"/>
              <a:t>Some types of exceptions are …</a:t>
            </a:r>
          </a:p>
          <a:p>
            <a:endParaRPr lang="en-US" dirty="0"/>
          </a:p>
          <a:p>
            <a:r>
              <a:rPr lang="en-US" b="1" dirty="0"/>
              <a:t>Interrupt:</a:t>
            </a:r>
            <a:r>
              <a:rPr lang="en-US" dirty="0"/>
              <a:t> 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87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&gt;&gt;</a:t>
            </a:r>
          </a:p>
          <a:p>
            <a:r>
              <a:rPr lang="en-US" b="0" dirty="0"/>
              <a:t>Events have important characteristics that determine what action is needed in the hardware </a:t>
            </a:r>
          </a:p>
          <a:p>
            <a:r>
              <a:rPr lang="en-US" b="0" dirty="0"/>
              <a:t>which place requirements on exceptions that can be classified in five ways.</a:t>
            </a:r>
          </a:p>
          <a:p>
            <a:endParaRPr lang="en-US" b="0" dirty="0"/>
          </a:p>
          <a:p>
            <a:r>
              <a:rPr lang="en-US" b="0" u="sng" dirty="0"/>
              <a:t>Synchronous versus asynchronous</a:t>
            </a:r>
          </a:p>
          <a:p>
            <a:r>
              <a:rPr lang="en-US" b="1" dirty="0"/>
              <a:t>Synchronous:</a:t>
            </a:r>
          </a:p>
          <a:p>
            <a:r>
              <a:rPr lang="en-US" dirty="0"/>
              <a:t>Events that occur at the same location with the same data and memory allocation every time the program is executed.</a:t>
            </a:r>
          </a:p>
          <a:p>
            <a:endParaRPr lang="en-US" dirty="0"/>
          </a:p>
          <a:p>
            <a:r>
              <a:rPr lang="en-US" b="1" dirty="0"/>
              <a:t>Asynchronous:</a:t>
            </a:r>
          </a:p>
          <a:p>
            <a:r>
              <a:rPr lang="en-US" dirty="0"/>
              <a:t>Typically, events that are caused by devices external to the CPU and memory.</a:t>
            </a:r>
          </a:p>
          <a:p>
            <a:endParaRPr lang="en-US" dirty="0"/>
          </a:p>
          <a:p>
            <a:r>
              <a:rPr lang="en-US" u="sng" dirty="0"/>
              <a:t>User requested versus coerced</a:t>
            </a:r>
          </a:p>
          <a:p>
            <a:r>
              <a:rPr lang="en-US" b="1" dirty="0"/>
              <a:t>User requested Exceptions:</a:t>
            </a:r>
          </a:p>
          <a:p>
            <a:r>
              <a:rPr lang="en-US" dirty="0"/>
              <a:t>The user task / application directly issues an exception that triggers an event.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User-requested exceptions can always be handled after the instruction has completed. </a:t>
            </a:r>
          </a:p>
          <a:p>
            <a:endParaRPr lang="en-US" dirty="0"/>
          </a:p>
          <a:p>
            <a:r>
              <a:rPr lang="en-US" b="1" dirty="0"/>
              <a:t>Coerced Exceptions:</a:t>
            </a:r>
          </a:p>
          <a:p>
            <a:r>
              <a:rPr lang="en-US" dirty="0"/>
              <a:t>Are caused by a hardware event that is beyond the control of the user program </a:t>
            </a:r>
          </a:p>
          <a:p>
            <a:r>
              <a:rPr lang="en-US" dirty="0"/>
              <a:t>and because of their unpredictability are more difficult to handle.</a:t>
            </a:r>
          </a:p>
          <a:p>
            <a:endParaRPr lang="en-US" dirty="0"/>
          </a:p>
          <a:p>
            <a:r>
              <a:rPr lang="en-US" u="sng" dirty="0"/>
              <a:t>User maskable versus user non-maskable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User maskable: </a:t>
            </a:r>
          </a:p>
          <a:p>
            <a:r>
              <a:rPr lang="en-US" dirty="0"/>
              <a:t>An event that can be disabled by a user task.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mask controls whether the hardware responds to the exception or not.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User non-maskable:</a:t>
            </a:r>
          </a:p>
          <a:p>
            <a:r>
              <a:rPr lang="en-US" dirty="0"/>
              <a:t>An event that cannot be disabled.</a:t>
            </a:r>
          </a:p>
          <a:p>
            <a:r>
              <a:rPr lang="en-US" dirty="0"/>
              <a:t>(e.g. such as a hardware failure)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438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none" dirty="0"/>
              <a:t>&gt;&gt;</a:t>
            </a:r>
          </a:p>
          <a:p>
            <a:r>
              <a:rPr lang="en-US" u="sng" dirty="0"/>
              <a:t>Within versus between instructions</a:t>
            </a:r>
          </a:p>
          <a:p>
            <a:r>
              <a:rPr lang="en-US" b="1" dirty="0"/>
              <a:t>Within Instructions:</a:t>
            </a:r>
          </a:p>
          <a:p>
            <a:r>
              <a:rPr lang="en-US" dirty="0"/>
              <a:t>An event prevents instruction completion by occurring in the middle of execution.</a:t>
            </a:r>
          </a:p>
          <a:p>
            <a:endParaRPr lang="en-US" dirty="0"/>
          </a:p>
          <a:p>
            <a:r>
              <a:rPr lang="en-US" b="1" dirty="0"/>
              <a:t>Between instructions: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 event that is recognized between instructions. </a:t>
            </a:r>
          </a:p>
          <a:p>
            <a:endParaRPr lang="en-US" dirty="0"/>
          </a:p>
          <a:p>
            <a:r>
              <a:rPr lang="en-US" dirty="0"/>
              <a:t>It’s more difficult to handle exceptions that occur within instructions, </a:t>
            </a:r>
          </a:p>
          <a:p>
            <a:r>
              <a:rPr lang="en-US" dirty="0"/>
              <a:t>since the instruction must be stopped and restarted. </a:t>
            </a:r>
          </a:p>
          <a:p>
            <a:endParaRPr lang="en-US" dirty="0"/>
          </a:p>
          <a:p>
            <a:r>
              <a:rPr lang="en-US" u="sng" dirty="0"/>
              <a:t>Resume versus terminate</a:t>
            </a:r>
          </a:p>
          <a:p>
            <a:r>
              <a:rPr lang="en-US" b="1" dirty="0"/>
              <a:t>Terminating event:</a:t>
            </a:r>
          </a:p>
          <a:p>
            <a:r>
              <a:rPr lang="en-US" dirty="0"/>
              <a:t>An event where the program’s execution always stops after an interrupt.</a:t>
            </a:r>
          </a:p>
          <a:p>
            <a:endParaRPr lang="en-US" dirty="0"/>
          </a:p>
          <a:p>
            <a:r>
              <a:rPr lang="en-US" b="1" dirty="0"/>
              <a:t>Resuming event:</a:t>
            </a:r>
          </a:p>
          <a:p>
            <a:r>
              <a:rPr lang="en-US" dirty="0"/>
              <a:t>An event where the program’s execution continues after an interrupt.</a:t>
            </a:r>
          </a:p>
          <a:p>
            <a:endParaRPr lang="en-US" dirty="0"/>
          </a:p>
          <a:p>
            <a:r>
              <a:rPr lang="en-US" u="sng" dirty="0"/>
              <a:t>A pipeline that can: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handle exceptions,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save the state,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restart correctly </a:t>
            </a:r>
            <a:r>
              <a:rPr lang="en-US" i="1" dirty="0"/>
              <a:t>(without affecting the execution of the program)</a:t>
            </a:r>
          </a:p>
          <a:p>
            <a:r>
              <a:rPr lang="en-US" dirty="0"/>
              <a:t>is said to be </a:t>
            </a:r>
            <a:r>
              <a:rPr lang="en-US" b="1" dirty="0" err="1"/>
              <a:t>restartable</a:t>
            </a:r>
            <a:r>
              <a:rPr lang="en-US" b="1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039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75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The most</a:t>
            </a:r>
            <a:r>
              <a:rPr lang="en-US" spc="9" dirty="0"/>
              <a:t> </a:t>
            </a:r>
            <a:r>
              <a:rPr lang="en-US" dirty="0"/>
              <a:t>difficult</a:t>
            </a:r>
            <a:r>
              <a:rPr lang="en-US" spc="9" dirty="0"/>
              <a:t> </a:t>
            </a:r>
            <a:r>
              <a:rPr lang="en-US" spc="-9" dirty="0"/>
              <a:t>exceptions</a:t>
            </a:r>
          </a:p>
          <a:p>
            <a:r>
              <a:rPr lang="en-US" spc="-9" dirty="0"/>
              <a:t>are those that occur within EX or MEM stages </a:t>
            </a:r>
          </a:p>
          <a:p>
            <a:r>
              <a:rPr lang="en-US" spc="-9" dirty="0"/>
              <a:t>and also, must be handled in a </a:t>
            </a:r>
            <a:r>
              <a:rPr lang="en-US" spc="-9" dirty="0" err="1"/>
              <a:t>restartable</a:t>
            </a:r>
            <a:r>
              <a:rPr lang="en-US" spc="-9" dirty="0"/>
              <a:t> way.</a:t>
            </a:r>
          </a:p>
          <a:p>
            <a:endParaRPr lang="en-US" dirty="0"/>
          </a:p>
          <a:p>
            <a:r>
              <a:rPr lang="en-US" u="sng" dirty="0"/>
              <a:t>Steps </a:t>
            </a:r>
            <a:r>
              <a:rPr lang="en-US" sz="1200" u="sng" dirty="0">
                <a:latin typeface="Calibri"/>
                <a:cs typeface="Calibri"/>
              </a:rPr>
              <a:t>to</a:t>
            </a:r>
            <a:r>
              <a:rPr lang="en-US" sz="1200" u="sng" spc="-97" dirty="0">
                <a:latin typeface="Calibri"/>
                <a:cs typeface="Calibri"/>
              </a:rPr>
              <a:t> </a:t>
            </a:r>
            <a:r>
              <a:rPr lang="en-US" sz="1200" u="sng" dirty="0">
                <a:latin typeface="Calibri"/>
                <a:cs typeface="Calibri"/>
              </a:rPr>
              <a:t>save</a:t>
            </a:r>
            <a:r>
              <a:rPr lang="en-US" sz="1200" u="sng" spc="-93" dirty="0">
                <a:latin typeface="Calibri"/>
                <a:cs typeface="Calibri"/>
              </a:rPr>
              <a:t> </a:t>
            </a:r>
            <a:r>
              <a:rPr lang="en-US" sz="1200" u="sng" dirty="0">
                <a:latin typeface="Calibri"/>
                <a:cs typeface="Calibri"/>
              </a:rPr>
              <a:t>the</a:t>
            </a:r>
            <a:r>
              <a:rPr lang="en-US" sz="1200" u="sng" spc="-88" dirty="0">
                <a:latin typeface="Calibri"/>
                <a:cs typeface="Calibri"/>
              </a:rPr>
              <a:t> </a:t>
            </a:r>
            <a:r>
              <a:rPr lang="en-US" sz="1200" u="sng" spc="-9" dirty="0">
                <a:latin typeface="Calibri"/>
                <a:cs typeface="Calibri"/>
              </a:rPr>
              <a:t>pipeline</a:t>
            </a:r>
            <a:r>
              <a:rPr lang="en-US" sz="1200" u="sng" spc="-93" dirty="0">
                <a:latin typeface="Calibri"/>
                <a:cs typeface="Calibri"/>
              </a:rPr>
              <a:t> </a:t>
            </a:r>
            <a:r>
              <a:rPr lang="en-US" sz="1200" u="sng" dirty="0">
                <a:latin typeface="Calibri"/>
                <a:cs typeface="Calibri"/>
              </a:rPr>
              <a:t>state</a:t>
            </a:r>
            <a:r>
              <a:rPr lang="en-US" sz="1200" u="sng" spc="-88" dirty="0">
                <a:latin typeface="Calibri"/>
                <a:cs typeface="Calibri"/>
              </a:rPr>
              <a:t> </a:t>
            </a:r>
            <a:r>
              <a:rPr lang="en-US" sz="1200" u="sng" spc="-9" dirty="0">
                <a:latin typeface="Calibri"/>
                <a:cs typeface="Calibri"/>
              </a:rPr>
              <a:t>safely:</a:t>
            </a:r>
            <a:endParaRPr lang="en-US" dirty="0"/>
          </a:p>
          <a:p>
            <a:r>
              <a:rPr lang="en-US" dirty="0"/>
              <a:t>1. …</a:t>
            </a:r>
          </a:p>
          <a:p>
            <a:r>
              <a:rPr lang="en-US" sz="1200" b="1" dirty="0">
                <a:latin typeface="Calibri"/>
                <a:cs typeface="Calibri"/>
              </a:rPr>
              <a:t>  Trap</a:t>
            </a:r>
            <a:r>
              <a:rPr lang="en-US" sz="1200" b="1" spc="13" dirty="0">
                <a:latin typeface="Calibri"/>
                <a:cs typeface="Calibri"/>
              </a:rPr>
              <a:t> </a:t>
            </a:r>
            <a:r>
              <a:rPr lang="en-US" sz="1200" b="1" spc="-9" dirty="0">
                <a:latin typeface="Calibri"/>
                <a:cs typeface="Calibri"/>
              </a:rPr>
              <a:t>Instruction: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A trap instruction is a mechanism used in pipelined processors to handle exceptional conditions.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…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Turn off all “writes”: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Done by placing zeros into the pipeline latches of all instructions in the pipeline,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starting with the instruction that generates the exception.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…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The MIPS instruction RFE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(Return From Exception):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is used to return the processor from an exception handler to its previous state.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b="0" dirty="0"/>
              <a:t>…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0840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&gt;&gt;</a:t>
            </a:r>
          </a:p>
          <a:p>
            <a:r>
              <a:rPr lang="en-US" b="1" dirty="0"/>
              <a:t>Precise exceptions: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pipeline is said to have precise exceptions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it can be stopped such that all instructions preceding the faulting instruction are completed,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all instructions following it can be restarted from scratch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998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dirty="0"/>
              <a:t>This pair of instructions can cause a </a:t>
            </a:r>
            <a:r>
              <a:rPr lang="en-US" b="1" dirty="0"/>
              <a:t>data page fault</a:t>
            </a:r>
            <a:r>
              <a:rPr lang="en-US" dirty="0"/>
              <a:t> and an </a:t>
            </a:r>
            <a:r>
              <a:rPr lang="en-US" b="1" dirty="0"/>
              <a:t>arithmetic exception</a:t>
            </a:r>
            <a:r>
              <a:rPr lang="en-US" dirty="0"/>
              <a:t> at the same time.</a:t>
            </a:r>
          </a:p>
          <a:p>
            <a:endParaRPr lang="en-US" dirty="0"/>
          </a:p>
          <a:p>
            <a:r>
              <a:rPr lang="en-US" dirty="0"/>
              <a:t>This case can be handled by dealing with only the data page fault and then restarting the execution.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170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A9959-955D-2D15-759C-75C47D7ED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54707A-3886-96B4-9014-7207495A4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0920F7-C268-EF8B-6555-1A8C49A95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dirty="0"/>
              <a:t>This case can be handled by dealing with only the data page fault and then restarting the execution.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C9EA2-CEF7-CBD8-928A-C4810D0B6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5077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dirty="0"/>
              <a:t>(Exceptions may occur out of order.)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9190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MIPS pipeline writes that result only at the end of an instruction’s execution. </a:t>
            </a:r>
          </a:p>
          <a:p>
            <a:r>
              <a:rPr lang="en-US" dirty="0"/>
              <a:t>When an instruction is guaranteed to complete, it is called </a:t>
            </a:r>
            <a:r>
              <a:rPr lang="en-US" b="1" dirty="0"/>
              <a:t>committed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In the MIPS integer pipeline, </a:t>
            </a:r>
          </a:p>
          <a:p>
            <a:r>
              <a:rPr lang="en-US" dirty="0"/>
              <a:t>all instructions are committed when they reach </a:t>
            </a:r>
          </a:p>
          <a:p>
            <a:r>
              <a:rPr lang="en-US" dirty="0"/>
              <a:t>the end of the MEM stage (or beginning of WB). </a:t>
            </a:r>
          </a:p>
          <a:p>
            <a:r>
              <a:rPr lang="en-US" dirty="0"/>
              <a:t>Thus, precise exceptions are straightforward.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9957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This diagram illustrates the MIPS pipeline with three additional unpipelined, floating-point, functional units. 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 unit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specialized hardware component within the processor responsible for performing a specific type of operation.</a:t>
            </a:r>
          </a:p>
          <a:p>
            <a:endParaRPr lang="en-US" dirty="0"/>
          </a:p>
          <a:p>
            <a:r>
              <a:rPr lang="en-US" dirty="0"/>
              <a:t>Because only one instruction issues on every clock cycle, </a:t>
            </a:r>
          </a:p>
          <a:p>
            <a:r>
              <a:rPr lang="en-US" dirty="0"/>
              <a:t>all instructions go through the standard pipeline for integer operations. </a:t>
            </a:r>
          </a:p>
          <a:p>
            <a:endParaRPr lang="en-US" dirty="0"/>
          </a:p>
          <a:p>
            <a:r>
              <a:rPr lang="en-US" dirty="0"/>
              <a:t>The FP operations simply loop when they reach the EX stage. </a:t>
            </a:r>
          </a:p>
          <a:p>
            <a:endParaRPr lang="en-US" dirty="0"/>
          </a:p>
          <a:p>
            <a:r>
              <a:rPr lang="en-US" dirty="0"/>
              <a:t>After they have finished the EX stage, </a:t>
            </a:r>
          </a:p>
          <a:p>
            <a:r>
              <a:rPr lang="en-US" dirty="0"/>
              <a:t>they proceed to MEM and WB to complete execution.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102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A pipeline that supports multiple FP operations. </a:t>
            </a:r>
          </a:p>
          <a:p>
            <a:endParaRPr lang="en-US" dirty="0"/>
          </a:p>
          <a:p>
            <a:r>
              <a:rPr lang="en-US" dirty="0"/>
              <a:t>The FP multiplier and adder are fully pipelined and have a depth of seven and four stages, respectively. </a:t>
            </a:r>
          </a:p>
          <a:p>
            <a:endParaRPr lang="en-US" dirty="0"/>
          </a:p>
          <a:p>
            <a:r>
              <a:rPr lang="en-US" dirty="0"/>
              <a:t>The FP divider is not pipelined but requires 24 clock cycles to complete. </a:t>
            </a:r>
          </a:p>
          <a:p>
            <a:endParaRPr lang="en-US" dirty="0"/>
          </a:p>
          <a:p>
            <a:r>
              <a:rPr lang="en-US" dirty="0"/>
              <a:t>The latency in instructions between the issue of an FP operation </a:t>
            </a:r>
          </a:p>
          <a:p>
            <a:r>
              <a:rPr lang="en-US" dirty="0"/>
              <a:t>and the use of the result of that operation without incurring a RAW stall </a:t>
            </a:r>
          </a:p>
          <a:p>
            <a:r>
              <a:rPr lang="en-US" dirty="0"/>
              <a:t>is determined by the number of cycles spent in the execution stages.</a:t>
            </a:r>
          </a:p>
          <a:p>
            <a:endParaRPr lang="en-US" dirty="0"/>
          </a:p>
          <a:p>
            <a:r>
              <a:rPr lang="en-US" u="sng" dirty="0"/>
              <a:t>For example, </a:t>
            </a:r>
          </a:p>
          <a:p>
            <a:r>
              <a:rPr lang="en-US" dirty="0"/>
              <a:t>the fourth instruction after an FP add can use the result of the FP add. </a:t>
            </a:r>
          </a:p>
          <a:p>
            <a:endParaRPr lang="en-US" dirty="0"/>
          </a:p>
          <a:p>
            <a:r>
              <a:rPr lang="en-US" dirty="0"/>
              <a:t>For integer ALU operations, </a:t>
            </a:r>
          </a:p>
          <a:p>
            <a:r>
              <a:rPr lang="en-US" dirty="0"/>
              <a:t>the depth of the execution pipeline is always one and the next instruction can use the results.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2963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 </a:t>
            </a:r>
            <a:r>
              <a:rPr lang="en-US" b="1" dirty="0"/>
              <a:t>forwarding</a:t>
            </a:r>
            <a:r>
              <a:rPr lang="en-US" dirty="0"/>
              <a:t> is enabled.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8521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latency between the MUL.D and ADD.D instructions is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 cycles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because the ADD.D instruction depends on the result of the MUL.D instruction.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2261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The pipeline timing of a set of independent FP operations. </a:t>
            </a:r>
          </a:p>
          <a:p>
            <a:endParaRPr lang="en-US" dirty="0"/>
          </a:p>
          <a:p>
            <a:r>
              <a:rPr lang="en-US" dirty="0"/>
              <a:t>The stages in </a:t>
            </a:r>
            <a:r>
              <a:rPr lang="en-US" b="1" i="1" dirty="0">
                <a:solidFill>
                  <a:srgbClr val="FF0000"/>
                </a:solidFill>
              </a:rPr>
              <a:t>italics</a:t>
            </a:r>
            <a:r>
              <a:rPr lang="en-US" dirty="0"/>
              <a:t> show where data are needed, </a:t>
            </a:r>
          </a:p>
          <a:p>
            <a:r>
              <a:rPr lang="en-US" dirty="0"/>
              <a:t>while the stages in </a:t>
            </a:r>
            <a:r>
              <a:rPr lang="en-US" b="1" i="0" dirty="0"/>
              <a:t>blue</a:t>
            </a:r>
            <a:r>
              <a:rPr lang="en-US" dirty="0"/>
              <a:t> show where a result is available. </a:t>
            </a:r>
          </a:p>
          <a:p>
            <a:endParaRPr lang="en-US" dirty="0"/>
          </a:p>
          <a:p>
            <a:r>
              <a:rPr lang="en-US" dirty="0"/>
              <a:t>The ”.D” extension on the instruction mnemonic indicates </a:t>
            </a:r>
          </a:p>
          <a:p>
            <a:r>
              <a:rPr lang="en-US" dirty="0"/>
              <a:t>double-precision (64-bit) floating-point operations. </a:t>
            </a:r>
          </a:p>
          <a:p>
            <a:endParaRPr lang="en-US" dirty="0"/>
          </a:p>
          <a:p>
            <a:r>
              <a:rPr lang="en-US" dirty="0"/>
              <a:t>FP loads and stores use a 64-bit path to memory so</a:t>
            </a:r>
          </a:p>
          <a:p>
            <a:r>
              <a:rPr lang="en-US" dirty="0"/>
              <a:t>that the pipelining timing is just like an integer load or store.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1349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Here is an example of a typical FP code sequence showing the stalls arising from RAW hazards. </a:t>
            </a:r>
          </a:p>
          <a:p>
            <a:endParaRPr lang="en-US" dirty="0"/>
          </a:p>
          <a:p>
            <a:r>
              <a:rPr lang="en-US" dirty="0"/>
              <a:t>The longer pipeline substantially raises the frequency of stalls versus the shallower integer pipeline. </a:t>
            </a:r>
          </a:p>
          <a:p>
            <a:endParaRPr lang="en-US" dirty="0"/>
          </a:p>
          <a:p>
            <a:r>
              <a:rPr lang="en-US" dirty="0"/>
              <a:t>Each instruction in this sequence is dependent on the previous </a:t>
            </a:r>
          </a:p>
          <a:p>
            <a:r>
              <a:rPr lang="en-US" dirty="0"/>
              <a:t>and proceeds as soon as data are available, </a:t>
            </a:r>
          </a:p>
          <a:p>
            <a:r>
              <a:rPr lang="en-US" dirty="0"/>
              <a:t>which assumes the pipeline has full bypassing and forwarding. </a:t>
            </a:r>
          </a:p>
          <a:p>
            <a:endParaRPr lang="en-US" dirty="0"/>
          </a:p>
          <a:p>
            <a:r>
              <a:rPr lang="en-US" dirty="0"/>
              <a:t>The S.D must be stalled an extra cycle so that </a:t>
            </a:r>
          </a:p>
          <a:p>
            <a:r>
              <a:rPr lang="en-US" dirty="0"/>
              <a:t>its MEM does not conflict with the ADD.D. </a:t>
            </a:r>
          </a:p>
          <a:p>
            <a:endParaRPr lang="en-US" dirty="0"/>
          </a:p>
          <a:p>
            <a:r>
              <a:rPr lang="en-US" dirty="0"/>
              <a:t>Extra hardware could easily handle this case.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2090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Does anybody see a problem with this timing chart?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416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Two instructions want to perform a write-back to the FP register file at the same time.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3296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 </a:t>
            </a:r>
          </a:p>
          <a:p>
            <a:r>
              <a:rPr lang="en-US" dirty="0"/>
              <a:t>(Figure C.38)</a:t>
            </a:r>
          </a:p>
          <a:p>
            <a:r>
              <a:rPr lang="en-US" dirty="0"/>
              <a:t>Here is an example when three instructions want to perform a write-back to the FP register file simultaneously </a:t>
            </a:r>
          </a:p>
          <a:p>
            <a:r>
              <a:rPr lang="en-US" dirty="0"/>
              <a:t>(shown in clock cycle 11) </a:t>
            </a:r>
          </a:p>
          <a:p>
            <a:endParaRPr lang="en-US" dirty="0"/>
          </a:p>
          <a:p>
            <a:r>
              <a:rPr lang="en-US" dirty="0"/>
              <a:t>This is not the worst case, </a:t>
            </a:r>
          </a:p>
          <a:p>
            <a:r>
              <a:rPr lang="en-US" dirty="0"/>
              <a:t>since an earlier divide in the FP unit could also finish on the same clock.</a:t>
            </a:r>
          </a:p>
          <a:p>
            <a:endParaRPr lang="en-US" dirty="0"/>
          </a:p>
          <a:p>
            <a:r>
              <a:rPr lang="en-US" dirty="0"/>
              <a:t>Note that although the MUL.D, ADD.D, and L.D </a:t>
            </a:r>
          </a:p>
          <a:p>
            <a:r>
              <a:rPr lang="en-US" dirty="0"/>
              <a:t>all are in the MEM stage in clock cycle 10, </a:t>
            </a:r>
          </a:p>
          <a:p>
            <a:r>
              <a:rPr lang="en-US" dirty="0"/>
              <a:t>only the L.D actually uses the memory. </a:t>
            </a:r>
          </a:p>
          <a:p>
            <a:endParaRPr lang="en-US" dirty="0"/>
          </a:p>
          <a:p>
            <a:r>
              <a:rPr lang="en-US" dirty="0"/>
              <a:t>So, no structural hazard exists for MEM.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0214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(Figure C.38)</a:t>
            </a:r>
          </a:p>
          <a:p>
            <a:r>
              <a:rPr lang="en-US" dirty="0"/>
              <a:t>Here is an example when three instructions want to perform a write-back to the FP register file simultaneously </a:t>
            </a:r>
          </a:p>
          <a:p>
            <a:r>
              <a:rPr lang="en-US" dirty="0"/>
              <a:t>(shown in clock cycle 11)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593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b="0" u="sng" dirty="0"/>
              <a:t>Example from (C-58):</a:t>
            </a:r>
          </a:p>
          <a:p>
            <a:r>
              <a:rPr lang="en-US" dirty="0"/>
              <a:t>There are no dependences, so the code sequence looks straight forward.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However, a problem arises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because an instruction issued early may complete after an instruction issued later.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ADD.D and SUB.D will complete before the DIV.D is finished. </a:t>
            </a:r>
          </a:p>
          <a:p>
            <a:r>
              <a:rPr lang="en-US" dirty="0"/>
              <a:t>(Note that F10 is updated after ADD.D completes.)</a:t>
            </a:r>
          </a:p>
          <a:p>
            <a:endParaRPr lang="en-US" dirty="0"/>
          </a:p>
          <a:p>
            <a:r>
              <a:rPr lang="en-US" b="1" dirty="0"/>
              <a:t>This is called out-of-order completion. </a:t>
            </a:r>
          </a:p>
          <a:p>
            <a:r>
              <a:rPr lang="en-US" b="0" dirty="0"/>
              <a:t>(C</a:t>
            </a:r>
            <a:r>
              <a:rPr lang="en-US" dirty="0"/>
              <a:t>ommon in pipelines with long-running operations)</a:t>
            </a:r>
          </a:p>
          <a:p>
            <a:endParaRPr lang="en-US" dirty="0"/>
          </a:p>
          <a:p>
            <a:r>
              <a:rPr lang="en-US" i="1" dirty="0"/>
              <a:t>(Hazard detection will handle dependence. </a:t>
            </a:r>
            <a:r>
              <a:rPr lang="en-US" i="1" u="sng" dirty="0"/>
              <a:t>So, what is the problem?</a:t>
            </a:r>
            <a:r>
              <a:rPr lang="en-US" i="1" u="none" dirty="0"/>
              <a:t>)</a:t>
            </a:r>
          </a:p>
          <a:p>
            <a:endParaRPr lang="en-US" dirty="0"/>
          </a:p>
          <a:p>
            <a:r>
              <a:rPr lang="en-US" dirty="0"/>
              <a:t>Suppose that the SUB.D causes a floating-point arithmetic exception </a:t>
            </a:r>
          </a:p>
          <a:p>
            <a:r>
              <a:rPr lang="en-US" dirty="0"/>
              <a:t>at a point where the ADD.D has completed but the DIV.D has not. </a:t>
            </a:r>
          </a:p>
          <a:p>
            <a:r>
              <a:rPr lang="en-US" dirty="0"/>
              <a:t>The result will be an imprecise exception. </a:t>
            </a:r>
          </a:p>
          <a:p>
            <a:endParaRPr lang="en-US" dirty="0"/>
          </a:p>
          <a:p>
            <a:r>
              <a:rPr lang="en-US" dirty="0"/>
              <a:t>It may appear that this could be handled by letting the floating-point pipeline drain, </a:t>
            </a:r>
          </a:p>
          <a:p>
            <a:r>
              <a:rPr lang="en-US" dirty="0"/>
              <a:t>as we do for the integer pipeline. </a:t>
            </a:r>
          </a:p>
          <a:p>
            <a:r>
              <a:rPr lang="en-US" dirty="0"/>
              <a:t>But the exception may be in a position where this is not possible. </a:t>
            </a:r>
          </a:p>
          <a:p>
            <a:endParaRPr lang="en-US" dirty="0"/>
          </a:p>
          <a:p>
            <a:r>
              <a:rPr lang="en-US" dirty="0"/>
              <a:t>For example, </a:t>
            </a:r>
          </a:p>
          <a:p>
            <a:r>
              <a:rPr lang="en-US" dirty="0"/>
              <a:t>if the DIV.D decided to take a floating-point-arithmetic exception after the add completed, </a:t>
            </a:r>
          </a:p>
          <a:p>
            <a:r>
              <a:rPr lang="en-US" dirty="0"/>
              <a:t>a precise exception at the hardware level is not possible. </a:t>
            </a:r>
          </a:p>
          <a:p>
            <a:endParaRPr lang="en-US" dirty="0"/>
          </a:p>
          <a:p>
            <a:r>
              <a:rPr lang="en-US" dirty="0"/>
              <a:t>In fact, because the ADD.D destroys one of its operands, </a:t>
            </a:r>
          </a:p>
          <a:p>
            <a:r>
              <a:rPr lang="en-US" dirty="0"/>
              <a:t>we will be unable to restore the state to what it was before the DIV.D.</a:t>
            </a:r>
          </a:p>
          <a:p>
            <a:endParaRPr lang="en-US" dirty="0"/>
          </a:p>
          <a:p>
            <a:r>
              <a:rPr lang="en-US" b="1" dirty="0"/>
              <a:t>This problem arises because instructions are completing in a different order than they were issued.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97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33BCA5-7B68-4A17-B4CA-FA5A880E1A91}" type="datetime1">
              <a:rPr lang="en-US" smtClean="0"/>
              <a:t>10/5/2025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3680302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C0C40-36B9-4003-BB81-7EF048C41E5F}" type="datetime1">
              <a:rPr lang="en-US" smtClean="0"/>
              <a:t>10/5/2025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1735314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E1C25-691F-42F7-AE73-004896FB1E65}" type="datetime1">
              <a:rPr lang="en-US" smtClean="0"/>
              <a:t>10/5/2025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404384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AE5BB-E39A-4F84-9C20-2BF5CFB3F8D2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3125613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1253" y="1159438"/>
            <a:ext cx="7543223" cy="44824"/>
          </a:xfrm>
          <a:custGeom>
            <a:avLst/>
            <a:gdLst/>
            <a:ahLst/>
            <a:cxnLst/>
            <a:rect l="l" t="t" r="r" b="b"/>
            <a:pathLst>
              <a:path w="8297545" h="50800">
                <a:moveTo>
                  <a:pt x="8297342" y="20320"/>
                </a:moveTo>
                <a:lnTo>
                  <a:pt x="0" y="20320"/>
                </a:lnTo>
                <a:lnTo>
                  <a:pt x="0" y="50800"/>
                </a:lnTo>
                <a:lnTo>
                  <a:pt x="8297342" y="50800"/>
                </a:lnTo>
                <a:lnTo>
                  <a:pt x="8297342" y="20320"/>
                </a:lnTo>
                <a:close/>
              </a:path>
              <a:path w="8297545" h="50800">
                <a:moveTo>
                  <a:pt x="8297342" y="0"/>
                </a:moveTo>
                <a:lnTo>
                  <a:pt x="0" y="0"/>
                </a:lnTo>
                <a:lnTo>
                  <a:pt x="0" y="10160"/>
                </a:lnTo>
                <a:lnTo>
                  <a:pt x="8297342" y="10160"/>
                </a:lnTo>
                <a:lnTo>
                  <a:pt x="8297342" y="0"/>
                </a:lnTo>
                <a:close/>
              </a:path>
            </a:pathLst>
          </a:custGeom>
          <a:solidFill>
            <a:srgbClr val="FBBA03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0362" y="1671388"/>
            <a:ext cx="5164606" cy="438118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F2088-A20F-4BD4-8A47-825C8DAA6038}" type="datetime1">
              <a:rPr lang="en-US" smtClean="0"/>
              <a:t>10/5/2025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4212037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Hennessy_cover-v2 (Final)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79512" y="1412776"/>
            <a:ext cx="1872208" cy="23090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0647" name="Rectangle 7"/>
          <p:cNvSpPr>
            <a:spLocks noChangeArrowheads="1"/>
          </p:cNvSpPr>
          <p:nvPr userDrawn="1"/>
        </p:nvSpPr>
        <p:spPr bwMode="auto">
          <a:xfrm>
            <a:off x="0" y="0"/>
            <a:ext cx="9144000" cy="765175"/>
          </a:xfrm>
          <a:prstGeom prst="rect">
            <a:avLst/>
          </a:prstGeom>
          <a:solidFill>
            <a:srgbClr val="767D7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endParaRPr lang="en-GB" sz="240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40649" name="Rectangle 9"/>
          <p:cNvSpPr>
            <a:spLocks noChangeArrowheads="1"/>
          </p:cNvSpPr>
          <p:nvPr userDrawn="1"/>
        </p:nvSpPr>
        <p:spPr bwMode="auto">
          <a:xfrm>
            <a:off x="0" y="765175"/>
            <a:ext cx="9144000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240657" name="Picture 17" descr="MK_logo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950" y="50800"/>
            <a:ext cx="1228725" cy="714375"/>
          </a:xfrm>
          <a:prstGeom prst="rect">
            <a:avLst/>
          </a:prstGeom>
          <a:noFill/>
        </p:spPr>
      </p:pic>
      <p:sp>
        <p:nvSpPr>
          <p:cNvPr id="240659" name="Rectangle 19"/>
          <p:cNvSpPr>
            <a:spLocks noChangeArrowheads="1"/>
          </p:cNvSpPr>
          <p:nvPr userDrawn="1"/>
        </p:nvSpPr>
        <p:spPr bwMode="auto">
          <a:xfrm>
            <a:off x="2197100" y="765175"/>
            <a:ext cx="46038" cy="5732463"/>
          </a:xfrm>
          <a:prstGeom prst="rect">
            <a:avLst/>
          </a:prstGeom>
          <a:gradFill rotWithShape="1">
            <a:gsLst>
              <a:gs pos="0">
                <a:srgbClr val="808080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60" name="Rectangle 20"/>
          <p:cNvSpPr>
            <a:spLocks noChangeArrowheads="1"/>
          </p:cNvSpPr>
          <p:nvPr userDrawn="1"/>
        </p:nvSpPr>
        <p:spPr bwMode="auto">
          <a:xfrm>
            <a:off x="2559050" y="1195388"/>
            <a:ext cx="46038" cy="3816350"/>
          </a:xfrm>
          <a:prstGeom prst="rect">
            <a:avLst/>
          </a:prstGeom>
          <a:gradFill rotWithShape="1">
            <a:gsLst>
              <a:gs pos="0">
                <a:srgbClr val="767D79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61" name="Rectangle 21"/>
          <p:cNvSpPr>
            <a:spLocks noChangeArrowheads="1"/>
          </p:cNvSpPr>
          <p:nvPr userDrawn="1"/>
        </p:nvSpPr>
        <p:spPr bwMode="auto">
          <a:xfrm>
            <a:off x="2341563" y="1916113"/>
            <a:ext cx="6623050" cy="46037"/>
          </a:xfrm>
          <a:prstGeom prst="rect">
            <a:avLst/>
          </a:prstGeom>
          <a:gradFill rotWithShape="1">
            <a:gsLst>
              <a:gs pos="0">
                <a:srgbClr val="5F5F5F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78" name="Rectangle 38"/>
          <p:cNvSpPr>
            <a:spLocks noChangeArrowheads="1"/>
          </p:cNvSpPr>
          <p:nvPr userDrawn="1"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767D7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79" name="Rectangle 39"/>
          <p:cNvSpPr>
            <a:spLocks noChangeArrowheads="1"/>
          </p:cNvSpPr>
          <p:nvPr userDrawn="1"/>
        </p:nvSpPr>
        <p:spPr bwMode="auto">
          <a:xfrm>
            <a:off x="0" y="6308725"/>
            <a:ext cx="9144000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80" name="Rectangle 40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dirty="0"/>
          </a:p>
        </p:txBody>
      </p:sp>
      <p:pic>
        <p:nvPicPr>
          <p:cNvPr id="240681" name="Picture 41" descr="MK_logo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6381750"/>
            <a:ext cx="792162" cy="460375"/>
          </a:xfrm>
          <a:prstGeom prst="rect">
            <a:avLst/>
          </a:prstGeom>
          <a:noFill/>
        </p:spPr>
      </p:pic>
      <p:sp>
        <p:nvSpPr>
          <p:cNvPr id="240682" name="Text Box 42"/>
          <p:cNvSpPr txBox="1">
            <a:spLocks noChangeArrowheads="1"/>
          </p:cNvSpPr>
          <p:nvPr userDrawn="1"/>
        </p:nvSpPr>
        <p:spPr bwMode="auto">
          <a:xfrm>
            <a:off x="8388350" y="6497638"/>
            <a:ext cx="5762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  <a:buClrTx/>
              <a:buSzTx/>
              <a:buFontTx/>
              <a:buNone/>
            </a:pPr>
            <a:fld id="{63BBFCE6-A6C8-4251-973B-1D0917AA6A4E}" type="slidenum">
              <a:rPr lang="en-AU" sz="1200" b="1">
                <a:latin typeface="Arial" charset="0"/>
              </a:rPr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t>‹#›</a:t>
            </a:fld>
            <a:endParaRPr lang="en-GB" sz="12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59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1253" y="1159438"/>
            <a:ext cx="7543223" cy="44824"/>
          </a:xfrm>
          <a:custGeom>
            <a:avLst/>
            <a:gdLst/>
            <a:ahLst/>
            <a:cxnLst/>
            <a:rect l="l" t="t" r="r" b="b"/>
            <a:pathLst>
              <a:path w="8297545" h="50800">
                <a:moveTo>
                  <a:pt x="8297342" y="20320"/>
                </a:moveTo>
                <a:lnTo>
                  <a:pt x="0" y="20320"/>
                </a:lnTo>
                <a:lnTo>
                  <a:pt x="0" y="50800"/>
                </a:lnTo>
                <a:lnTo>
                  <a:pt x="8297342" y="50800"/>
                </a:lnTo>
                <a:lnTo>
                  <a:pt x="8297342" y="20320"/>
                </a:lnTo>
                <a:close/>
              </a:path>
              <a:path w="8297545" h="50800">
                <a:moveTo>
                  <a:pt x="8297342" y="0"/>
                </a:moveTo>
                <a:lnTo>
                  <a:pt x="0" y="0"/>
                </a:lnTo>
                <a:lnTo>
                  <a:pt x="0" y="10160"/>
                </a:lnTo>
                <a:lnTo>
                  <a:pt x="8297342" y="10160"/>
                </a:lnTo>
                <a:lnTo>
                  <a:pt x="8297342" y="0"/>
                </a:lnTo>
                <a:close/>
              </a:path>
            </a:pathLst>
          </a:custGeom>
          <a:solidFill>
            <a:srgbClr val="FBBA03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72308" y="3058065"/>
            <a:ext cx="64515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F7D5B-6E80-4D33-AFB9-F6BF177DB6D8}" type="datetime1">
              <a:rPr lang="en-US" smtClean="0"/>
              <a:t>10/5/2025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68187" y="6346231"/>
            <a:ext cx="299796" cy="436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22045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80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03433">
        <a:defRPr>
          <a:latin typeface="+mn-lt"/>
          <a:ea typeface="+mn-ea"/>
          <a:cs typeface="+mn-cs"/>
        </a:defRPr>
      </a:lvl2pPr>
      <a:lvl3pPr marL="806867">
        <a:defRPr>
          <a:latin typeface="+mn-lt"/>
          <a:ea typeface="+mn-ea"/>
          <a:cs typeface="+mn-cs"/>
        </a:defRPr>
      </a:lvl3pPr>
      <a:lvl4pPr marL="1210300">
        <a:defRPr>
          <a:latin typeface="+mn-lt"/>
          <a:ea typeface="+mn-ea"/>
          <a:cs typeface="+mn-cs"/>
        </a:defRPr>
      </a:lvl4pPr>
      <a:lvl5pPr marL="1613733">
        <a:defRPr>
          <a:latin typeface="+mn-lt"/>
          <a:ea typeface="+mn-ea"/>
          <a:cs typeface="+mn-cs"/>
        </a:defRPr>
      </a:lvl5pPr>
      <a:lvl6pPr marL="2017166">
        <a:defRPr>
          <a:latin typeface="+mn-lt"/>
          <a:ea typeface="+mn-ea"/>
          <a:cs typeface="+mn-cs"/>
        </a:defRPr>
      </a:lvl6pPr>
      <a:lvl7pPr marL="2420600">
        <a:defRPr>
          <a:latin typeface="+mn-lt"/>
          <a:ea typeface="+mn-ea"/>
          <a:cs typeface="+mn-cs"/>
        </a:defRPr>
      </a:lvl7pPr>
      <a:lvl8pPr marL="2824033">
        <a:defRPr>
          <a:latin typeface="+mn-lt"/>
          <a:ea typeface="+mn-ea"/>
          <a:cs typeface="+mn-cs"/>
        </a:defRPr>
      </a:lvl8pPr>
      <a:lvl9pPr marL="322746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03433">
        <a:defRPr>
          <a:latin typeface="+mn-lt"/>
          <a:ea typeface="+mn-ea"/>
          <a:cs typeface="+mn-cs"/>
        </a:defRPr>
      </a:lvl2pPr>
      <a:lvl3pPr marL="806867">
        <a:defRPr>
          <a:latin typeface="+mn-lt"/>
          <a:ea typeface="+mn-ea"/>
          <a:cs typeface="+mn-cs"/>
        </a:defRPr>
      </a:lvl3pPr>
      <a:lvl4pPr marL="1210300">
        <a:defRPr>
          <a:latin typeface="+mn-lt"/>
          <a:ea typeface="+mn-ea"/>
          <a:cs typeface="+mn-cs"/>
        </a:defRPr>
      </a:lvl4pPr>
      <a:lvl5pPr marL="1613733">
        <a:defRPr>
          <a:latin typeface="+mn-lt"/>
          <a:ea typeface="+mn-ea"/>
          <a:cs typeface="+mn-cs"/>
        </a:defRPr>
      </a:lvl5pPr>
      <a:lvl6pPr marL="2017166">
        <a:defRPr>
          <a:latin typeface="+mn-lt"/>
          <a:ea typeface="+mn-ea"/>
          <a:cs typeface="+mn-cs"/>
        </a:defRPr>
      </a:lvl6pPr>
      <a:lvl7pPr marL="2420600">
        <a:defRPr>
          <a:latin typeface="+mn-lt"/>
          <a:ea typeface="+mn-ea"/>
          <a:cs typeface="+mn-cs"/>
        </a:defRPr>
      </a:lvl7pPr>
      <a:lvl8pPr marL="2824033">
        <a:defRPr>
          <a:latin typeface="+mn-lt"/>
          <a:ea typeface="+mn-ea"/>
          <a:cs typeface="+mn-cs"/>
        </a:defRPr>
      </a:lvl8pPr>
      <a:lvl9pPr marL="3227466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83" name="Rectangle 11"/>
          <p:cNvSpPr>
            <a:spLocks noChangeArrowheads="1"/>
          </p:cNvSpPr>
          <p:nvPr/>
        </p:nvSpPr>
        <p:spPr bwMode="auto">
          <a:xfrm>
            <a:off x="2843213" y="1254125"/>
            <a:ext cx="2324354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AU" sz="2400" dirty="0">
                <a:solidFill>
                  <a:srgbClr val="000099"/>
                </a:solidFill>
                <a:latin typeface="Arial" charset="0"/>
              </a:rPr>
              <a:t>Appendix A &amp; C</a:t>
            </a:r>
            <a:endParaRPr lang="en-GB" sz="2400" dirty="0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233484" name="Rectangle 12"/>
          <p:cNvSpPr>
            <a:spLocks noChangeArrowheads="1"/>
          </p:cNvSpPr>
          <p:nvPr/>
        </p:nvSpPr>
        <p:spPr bwMode="auto">
          <a:xfrm>
            <a:off x="2843213" y="2060575"/>
            <a:ext cx="5832475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solidFill>
                  <a:srgbClr val="0332B7"/>
                </a:solidFill>
                <a:latin typeface="Arial MT"/>
                <a:cs typeface="Arial MT"/>
              </a:rPr>
              <a:t>Exceptions &amp; Long Instructions</a:t>
            </a:r>
            <a:endParaRPr lang="en-US" sz="2800" dirty="0">
              <a:latin typeface="Arial MT"/>
              <a:cs typeface="Arial MT"/>
            </a:endParaRPr>
          </a:p>
        </p:txBody>
      </p:sp>
      <p:sp>
        <p:nvSpPr>
          <p:cNvPr id="233485" name="Text Box 13"/>
          <p:cNvSpPr txBox="1">
            <a:spLocks noChangeArrowheads="1"/>
          </p:cNvSpPr>
          <p:nvPr/>
        </p:nvSpPr>
        <p:spPr bwMode="auto">
          <a:xfrm>
            <a:off x="3299585" y="-100013"/>
            <a:ext cx="3481466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</a:rPr>
              <a:t>Computer Architecture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Arial" charset="0"/>
              </a:rPr>
              <a:t>A Quantitative Approach</a:t>
            </a:r>
            <a:endParaRPr lang="en-GB" sz="2000" dirty="0">
              <a:solidFill>
                <a:schemeClr val="bg1"/>
              </a:solidFill>
              <a:latin typeface="Arial" charset="0"/>
            </a:endParaRPr>
          </a:p>
        </p:txBody>
      </p:sp>
      <p:pic>
        <p:nvPicPr>
          <p:cNvPr id="3" name="Picture 2" descr="A book cover of a computer architecture&#10;&#10;AI-generated content may be incorrect.">
            <a:extLst>
              <a:ext uri="{FF2B5EF4-FFF2-40B4-BE49-F238E27FC236}">
                <a16:creationId xmlns:a16="http://schemas.microsoft.com/office/drawing/2014/main" id="{C8AD8ECF-BB96-6B99-D501-645D3AF2C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806512"/>
            <a:ext cx="1894513" cy="23155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5414" y="3087660"/>
            <a:ext cx="6181725" cy="1380469"/>
          </a:xfrm>
          <a:prstGeom prst="rect">
            <a:avLst/>
          </a:prstGeom>
        </p:spPr>
        <p:txBody>
          <a:bodyPr vert="horz" wrap="square" lIns="0" tIns="71718" rIns="0" bIns="0" rtlCol="0" anchor="ctr">
            <a:spAutoFit/>
          </a:bodyPr>
          <a:lstStyle/>
          <a:p>
            <a:pPr marL="11206" marR="4483">
              <a:lnSpc>
                <a:spcPts val="4147"/>
              </a:lnSpc>
              <a:spcBef>
                <a:spcPts val="565"/>
              </a:spcBef>
            </a:pPr>
            <a:r>
              <a:rPr sz="3794" b="1" dirty="0">
                <a:latin typeface="Arial"/>
                <a:cs typeface="Arial"/>
              </a:rPr>
              <a:t>DEALING</a:t>
            </a:r>
            <a:r>
              <a:rPr sz="3794" b="1" spc="-172" dirty="0">
                <a:latin typeface="Arial"/>
                <a:cs typeface="Arial"/>
              </a:rPr>
              <a:t> </a:t>
            </a:r>
            <a:r>
              <a:rPr sz="3794" b="1" spc="-18" dirty="0">
                <a:latin typeface="Arial"/>
                <a:cs typeface="Arial"/>
              </a:rPr>
              <a:t>WITH </a:t>
            </a:r>
            <a:r>
              <a:rPr sz="3794" b="1" dirty="0">
                <a:latin typeface="Arial"/>
                <a:cs typeface="Arial"/>
              </a:rPr>
              <a:t>UNEXPECTED</a:t>
            </a:r>
            <a:r>
              <a:rPr sz="3794" b="1" spc="-256" dirty="0">
                <a:latin typeface="Arial"/>
                <a:cs typeface="Arial"/>
              </a:rPr>
              <a:t> </a:t>
            </a:r>
            <a:r>
              <a:rPr sz="3794" b="1" spc="-13" dirty="0">
                <a:latin typeface="Arial"/>
                <a:cs typeface="Arial"/>
              </a:rPr>
              <a:t>SURPRISES</a:t>
            </a:r>
            <a:endParaRPr sz="3794">
              <a:latin typeface="Arial"/>
              <a:cs typeface="Arial"/>
            </a:endParaRPr>
          </a:p>
          <a:p>
            <a:pPr marL="11206">
              <a:lnSpc>
                <a:spcPts val="2021"/>
              </a:lnSpc>
            </a:pPr>
            <a:r>
              <a:rPr sz="1853" b="1" dirty="0">
                <a:latin typeface="Arial"/>
                <a:cs typeface="Arial"/>
              </a:rPr>
              <a:t>-</a:t>
            </a:r>
            <a:r>
              <a:rPr sz="1853" b="1" spc="75" dirty="0">
                <a:latin typeface="Arial"/>
                <a:cs typeface="Arial"/>
              </a:rPr>
              <a:t> </a:t>
            </a:r>
            <a:r>
              <a:rPr sz="1853" b="1" dirty="0">
                <a:latin typeface="Arial"/>
                <a:cs typeface="Arial"/>
              </a:rPr>
              <a:t>APPENDIX</a:t>
            </a:r>
            <a:r>
              <a:rPr sz="1853" b="1" spc="93" dirty="0">
                <a:latin typeface="Arial"/>
                <a:cs typeface="Arial"/>
              </a:rPr>
              <a:t> </a:t>
            </a:r>
            <a:r>
              <a:rPr sz="1853" b="1" spc="-44" dirty="0">
                <a:latin typeface="Arial"/>
                <a:cs typeface="Arial"/>
              </a:rPr>
              <a:t>C</a:t>
            </a:r>
            <a:endParaRPr sz="1853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732C5-925F-DCE0-2B1B-EC4DE1D9CBA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7169" y="588654"/>
            <a:ext cx="6850846" cy="589755"/>
          </a:xfrm>
          <a:prstGeom prst="rect">
            <a:avLst/>
          </a:prstGeom>
        </p:spPr>
        <p:txBody>
          <a:bodyPr vert="horz" wrap="square" lIns="0" tIns="126851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dirty="0"/>
              <a:t>Another</a:t>
            </a:r>
            <a:r>
              <a:rPr spc="-4" dirty="0"/>
              <a:t> </a:t>
            </a:r>
            <a:r>
              <a:rPr dirty="0"/>
              <a:t>Problem</a:t>
            </a:r>
            <a:r>
              <a:rPr spc="9" dirty="0"/>
              <a:t> </a:t>
            </a:r>
            <a:r>
              <a:rPr dirty="0"/>
              <a:t>with</a:t>
            </a:r>
            <a:r>
              <a:rPr spc="9" dirty="0"/>
              <a:t> </a:t>
            </a:r>
            <a:r>
              <a:rPr spc="-9" dirty="0"/>
              <a:t>Pipelining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94DB6-5595-4AAD-6267-8F2A9FA307A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3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1001806" y="1235785"/>
            <a:ext cx="7028502" cy="3033598"/>
          </a:xfrm>
          <a:prstGeom prst="rect">
            <a:avLst/>
          </a:prstGeom>
        </p:spPr>
        <p:txBody>
          <a:bodyPr vert="horz" wrap="square" lIns="0" tIns="75640" rIns="0" bIns="0" rtlCol="0">
            <a:spAutoFit/>
          </a:bodyPr>
          <a:lstStyle/>
          <a:p>
            <a:pPr marL="279602" indent="-268395">
              <a:spcBef>
                <a:spcPts val="596"/>
              </a:spcBef>
              <a:buChar char="•"/>
              <a:tabLst>
                <a:tab pos="279602" algn="l"/>
              </a:tabLst>
            </a:pPr>
            <a:r>
              <a:rPr sz="2400" spc="-18" dirty="0">
                <a:latin typeface="Calibri"/>
                <a:cs typeface="Calibri"/>
              </a:rPr>
              <a:t>Question: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makes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pipelining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hard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implement?</a:t>
            </a:r>
            <a:endParaRPr sz="2400" dirty="0">
              <a:latin typeface="Calibri"/>
              <a:cs typeface="Calibri"/>
            </a:endParaRPr>
          </a:p>
          <a:p>
            <a:pPr marL="279602" indent="-268395">
              <a:spcBef>
                <a:spcPts val="507"/>
              </a:spcBef>
              <a:buChar char="•"/>
              <a:tabLst>
                <a:tab pos="279602" algn="l"/>
              </a:tabLst>
            </a:pPr>
            <a:r>
              <a:rPr sz="2400" spc="-9" dirty="0">
                <a:latin typeface="Calibri"/>
                <a:cs typeface="Calibri"/>
              </a:rPr>
              <a:t>Answer:</a:t>
            </a:r>
            <a:r>
              <a:rPr sz="2400" spc="-11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Surprises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988"/>
              </a:spcBef>
              <a:buFont typeface="Calibri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279602" indent="-268395">
              <a:spcBef>
                <a:spcPts val="4"/>
              </a:spcBef>
              <a:buChar char="•"/>
              <a:tabLst>
                <a:tab pos="279602" algn="l"/>
              </a:tabLst>
            </a:pPr>
            <a:r>
              <a:rPr sz="2400" spc="-9" dirty="0">
                <a:latin typeface="Calibri"/>
                <a:cs typeface="Calibri"/>
              </a:rPr>
              <a:t>Technical</a:t>
            </a:r>
            <a:r>
              <a:rPr sz="2400" spc="-10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names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0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surprises:</a:t>
            </a:r>
            <a:endParaRPr sz="2400" dirty="0">
              <a:latin typeface="Calibri"/>
              <a:cs typeface="Calibri"/>
            </a:endParaRPr>
          </a:p>
          <a:p>
            <a:pPr marL="654458" lvl="1" indent="-213483">
              <a:spcBef>
                <a:spcPts val="405"/>
              </a:spcBef>
              <a:buChar char="–"/>
              <a:tabLst>
                <a:tab pos="654458" algn="l"/>
              </a:tabLst>
            </a:pPr>
            <a:r>
              <a:rPr lang="en-US" sz="2400" spc="-9" dirty="0">
                <a:latin typeface="Calibri"/>
                <a:cs typeface="Calibri"/>
              </a:rPr>
              <a:t>E</a:t>
            </a:r>
            <a:r>
              <a:rPr sz="2400" spc="-9" dirty="0">
                <a:latin typeface="Calibri"/>
                <a:cs typeface="Calibri"/>
              </a:rPr>
              <a:t>xceptions</a:t>
            </a:r>
            <a:endParaRPr sz="2400" dirty="0">
              <a:latin typeface="Calibri"/>
              <a:cs typeface="Calibri"/>
            </a:endParaRPr>
          </a:p>
          <a:p>
            <a:pPr marL="654458" lvl="1" indent="-213483">
              <a:spcBef>
                <a:spcPts val="463"/>
              </a:spcBef>
              <a:buChar char="–"/>
              <a:tabLst>
                <a:tab pos="654458" algn="l"/>
              </a:tabLst>
            </a:pPr>
            <a:r>
              <a:rPr lang="en-US" sz="2400" spc="-9" dirty="0">
                <a:latin typeface="Calibri"/>
                <a:cs typeface="Calibri"/>
              </a:rPr>
              <a:t>F</a:t>
            </a:r>
            <a:r>
              <a:rPr sz="2400" spc="-9" dirty="0">
                <a:latin typeface="Calibri"/>
                <a:cs typeface="Calibri"/>
              </a:rPr>
              <a:t>aults</a:t>
            </a:r>
            <a:endParaRPr sz="2400" dirty="0">
              <a:latin typeface="Calibri"/>
              <a:cs typeface="Calibri"/>
            </a:endParaRPr>
          </a:p>
          <a:p>
            <a:pPr marL="654458" lvl="1" indent="-213483">
              <a:spcBef>
                <a:spcPts val="468"/>
              </a:spcBef>
              <a:buChar char="–"/>
              <a:tabLst>
                <a:tab pos="654458" algn="l"/>
              </a:tabLst>
            </a:pPr>
            <a:r>
              <a:rPr lang="en-US" sz="2400" spc="-9" dirty="0">
                <a:latin typeface="Calibri"/>
                <a:cs typeface="Calibri"/>
              </a:rPr>
              <a:t>I</a:t>
            </a:r>
            <a:r>
              <a:rPr sz="2400" spc="-9" dirty="0">
                <a:latin typeface="Calibri"/>
                <a:cs typeface="Calibri"/>
              </a:rPr>
              <a:t>nterrupts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5446" y="588653"/>
            <a:ext cx="6862569" cy="589755"/>
          </a:xfrm>
          <a:prstGeom prst="rect">
            <a:avLst/>
          </a:prstGeom>
        </p:spPr>
        <p:txBody>
          <a:bodyPr vert="horz" wrap="square" lIns="0" tIns="126851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dirty="0"/>
              <a:t>Exception</a:t>
            </a:r>
            <a:r>
              <a:rPr spc="-9" dirty="0"/>
              <a:t> </a:t>
            </a:r>
            <a:r>
              <a:rPr dirty="0"/>
              <a:t>(and </a:t>
            </a:r>
            <a:r>
              <a:rPr spc="-9" dirty="0"/>
              <a:t>Interrupt)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60EC50-6E20-CDC3-6E6E-A723E6EBA62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4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899099" y="1300331"/>
            <a:ext cx="7412562" cy="3915118"/>
          </a:xfrm>
          <a:prstGeom prst="rect">
            <a:avLst/>
          </a:prstGeom>
        </p:spPr>
        <p:txBody>
          <a:bodyPr vert="horz" wrap="square" lIns="0" tIns="50426" rIns="0" bIns="0" rtlCol="0">
            <a:spAutoFit/>
          </a:bodyPr>
          <a:lstStyle/>
          <a:p>
            <a:pPr marL="280162" marR="25215" indent="-268956">
              <a:spcBef>
                <a:spcPts val="397"/>
              </a:spcBef>
              <a:buChar char="•"/>
              <a:tabLst>
                <a:tab pos="280162" algn="l"/>
                <a:tab pos="1627180" algn="l"/>
                <a:tab pos="2710287" algn="l"/>
              </a:tabLst>
            </a:pPr>
            <a:r>
              <a:rPr sz="2400" b="1" spc="-9" dirty="0">
                <a:solidFill>
                  <a:srgbClr val="0070C0"/>
                </a:solidFill>
                <a:latin typeface="Calibri"/>
                <a:cs typeface="Calibri"/>
              </a:rPr>
              <a:t>Exception</a:t>
            </a:r>
            <a:r>
              <a:rPr sz="2400" spc="-9" dirty="0">
                <a:latin typeface="Calibri"/>
                <a:cs typeface="Calibri"/>
              </a:rPr>
              <a:t>:</a:t>
            </a:r>
            <a:r>
              <a:rPr sz="2400" dirty="0">
                <a:latin typeface="Calibri"/>
                <a:cs typeface="Calibri"/>
              </a:rPr>
              <a:t>	An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unusual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happens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instruction </a:t>
            </a:r>
            <a:r>
              <a:rPr sz="2400" dirty="0">
                <a:latin typeface="Calibri"/>
                <a:cs typeface="Calibri"/>
              </a:rPr>
              <a:t>during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execution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lang="en-US" sz="2400" dirty="0">
                <a:latin typeface="Calibri"/>
                <a:cs typeface="Calibri"/>
              </a:rPr>
              <a:t>  </a:t>
            </a:r>
            <a:r>
              <a:rPr lang="en-US" sz="2400" i="1" spc="-9" dirty="0">
                <a:latin typeface="Calibri"/>
                <a:cs typeface="Calibri"/>
              </a:rPr>
              <a:t>(</a:t>
            </a:r>
            <a:r>
              <a:rPr sz="2400" i="1" spc="-9" dirty="0">
                <a:latin typeface="Calibri"/>
                <a:cs typeface="Calibri"/>
              </a:rPr>
              <a:t>caused</a:t>
            </a:r>
            <a:r>
              <a:rPr sz="2400" i="1" spc="-62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by</a:t>
            </a:r>
            <a:r>
              <a:rPr sz="2400" i="1" spc="-62" dirty="0">
                <a:latin typeface="Calibri"/>
                <a:cs typeface="Calibri"/>
              </a:rPr>
              <a:t> </a:t>
            </a:r>
            <a:r>
              <a:rPr sz="2400" i="1" spc="-18" dirty="0">
                <a:latin typeface="Calibri"/>
                <a:cs typeface="Calibri"/>
              </a:rPr>
              <a:t>instruction</a:t>
            </a:r>
            <a:r>
              <a:rPr sz="2400" i="1" spc="-57" dirty="0">
                <a:latin typeface="Calibri"/>
                <a:cs typeface="Calibri"/>
              </a:rPr>
              <a:t> </a:t>
            </a:r>
            <a:r>
              <a:rPr sz="2400" i="1" spc="-9" dirty="0">
                <a:latin typeface="Calibri"/>
                <a:cs typeface="Calibri"/>
              </a:rPr>
              <a:t>execution</a:t>
            </a:r>
            <a:r>
              <a:rPr lang="en-US" sz="2400" i="1" spc="-9" dirty="0">
                <a:latin typeface="Calibri"/>
                <a:cs typeface="Calibri"/>
              </a:rPr>
              <a:t>)</a:t>
            </a:r>
            <a:endParaRPr sz="2400" i="1" dirty="0">
              <a:latin typeface="Calibri"/>
              <a:cs typeface="Calibri"/>
            </a:endParaRPr>
          </a:p>
          <a:p>
            <a:pPr marL="654458" lvl="1" indent="-213483">
              <a:spcBef>
                <a:spcPts val="388"/>
              </a:spcBef>
              <a:buChar char="–"/>
              <a:tabLst>
                <a:tab pos="654458" algn="l"/>
              </a:tabLst>
            </a:pPr>
            <a:r>
              <a:rPr sz="2200" dirty="0">
                <a:latin typeface="Calibri"/>
                <a:cs typeface="Calibri"/>
              </a:rPr>
              <a:t>Request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I/O</a:t>
            </a:r>
            <a:endParaRPr sz="2200" dirty="0">
              <a:latin typeface="Calibri"/>
              <a:cs typeface="Calibri"/>
            </a:endParaRPr>
          </a:p>
          <a:p>
            <a:pPr marL="654458" lvl="1" indent="-213483">
              <a:spcBef>
                <a:spcPts val="446"/>
              </a:spcBef>
              <a:buChar char="–"/>
              <a:tabLst>
                <a:tab pos="654458" algn="l"/>
              </a:tabLst>
            </a:pPr>
            <a:r>
              <a:rPr sz="2200" dirty="0">
                <a:latin typeface="Calibri"/>
                <a:cs typeface="Calibri"/>
              </a:rPr>
              <a:t>Arithmetic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troubles: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overflow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underflow</a:t>
            </a:r>
            <a:endParaRPr sz="2200" dirty="0">
              <a:latin typeface="Calibri"/>
              <a:cs typeface="Calibri"/>
            </a:endParaRPr>
          </a:p>
          <a:p>
            <a:pPr marL="654458" lvl="1" indent="-213483">
              <a:spcBef>
                <a:spcPts val="463"/>
              </a:spcBef>
              <a:buChar char="–"/>
              <a:tabLst>
                <a:tab pos="654458" algn="l"/>
              </a:tabLst>
            </a:pPr>
            <a:r>
              <a:rPr sz="2200" dirty="0">
                <a:latin typeface="Calibri"/>
                <a:cs typeface="Calibri"/>
              </a:rPr>
              <a:t>Page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fault: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(physical)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memory</a:t>
            </a:r>
            <a:endParaRPr sz="2200" dirty="0">
              <a:latin typeface="Calibri"/>
              <a:cs typeface="Calibri"/>
            </a:endParaRPr>
          </a:p>
          <a:p>
            <a:pPr marL="654458" lvl="1" indent="-213483">
              <a:spcBef>
                <a:spcPts val="361"/>
              </a:spcBef>
              <a:buChar char="–"/>
              <a:tabLst>
                <a:tab pos="654458" algn="l"/>
              </a:tabLst>
            </a:pPr>
            <a:r>
              <a:rPr sz="2200" dirty="0">
                <a:latin typeface="Calibri"/>
                <a:cs typeface="Calibri"/>
              </a:rPr>
              <a:t>Illegal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address,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giving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memory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protection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violation</a:t>
            </a:r>
            <a:endParaRPr sz="2200" dirty="0">
              <a:latin typeface="Calibri"/>
              <a:cs typeface="Calibri"/>
            </a:endParaRPr>
          </a:p>
          <a:p>
            <a:pPr marL="654458" lvl="1" indent="-213483">
              <a:spcBef>
                <a:spcPts val="468"/>
              </a:spcBef>
              <a:buChar char="–"/>
              <a:tabLst>
                <a:tab pos="654458" algn="l"/>
              </a:tabLst>
            </a:pPr>
            <a:r>
              <a:rPr sz="2200" dirty="0">
                <a:latin typeface="Calibri"/>
                <a:cs typeface="Calibri"/>
              </a:rPr>
              <a:t>Hardware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failure</a:t>
            </a:r>
            <a:endParaRPr sz="2200" dirty="0">
              <a:latin typeface="Calibri"/>
              <a:cs typeface="Calibri"/>
            </a:endParaRPr>
          </a:p>
          <a:p>
            <a:pPr lvl="1">
              <a:spcBef>
                <a:spcPts val="1222"/>
              </a:spcBef>
              <a:buFont typeface="Calibri"/>
              <a:buChar char="–"/>
            </a:pPr>
            <a:endParaRPr sz="1677" dirty="0">
              <a:latin typeface="Calibri"/>
              <a:cs typeface="Calibri"/>
            </a:endParaRPr>
          </a:p>
          <a:p>
            <a:pPr marL="280162" marR="4483" indent="-268956">
              <a:buChar char="•"/>
              <a:tabLst>
                <a:tab pos="280162" algn="l"/>
                <a:tab pos="1542572" algn="l"/>
                <a:tab pos="3178158" algn="l"/>
              </a:tabLst>
            </a:pPr>
            <a:r>
              <a:rPr sz="2400" b="1" spc="-9" dirty="0">
                <a:solidFill>
                  <a:srgbClr val="0070C0"/>
                </a:solidFill>
                <a:latin typeface="Calibri"/>
                <a:cs typeface="Calibri"/>
              </a:rPr>
              <a:t>Interrupt</a:t>
            </a:r>
            <a:r>
              <a:rPr sz="2400" spc="-9" dirty="0">
                <a:latin typeface="Calibri"/>
                <a:cs typeface="Calibri"/>
              </a:rPr>
              <a:t>: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2" dirty="0">
                <a:latin typeface="Calibri"/>
                <a:cs typeface="Calibri"/>
              </a:rPr>
              <a:t>Hardware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signal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switch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processor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44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instruction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stream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lang="en-US" sz="2400" dirty="0">
                <a:latin typeface="Calibri"/>
                <a:cs typeface="Calibri"/>
              </a:rPr>
              <a:t>  </a:t>
            </a:r>
            <a:r>
              <a:rPr lang="en-US" sz="2400" i="1" dirty="0">
                <a:latin typeface="Calibri"/>
                <a:cs typeface="Calibri"/>
              </a:rPr>
              <a:t>(</a:t>
            </a:r>
            <a:r>
              <a:rPr sz="2400" i="1" dirty="0">
                <a:latin typeface="Calibri"/>
                <a:cs typeface="Calibri"/>
              </a:rPr>
              <a:t>not</a:t>
            </a:r>
            <a:r>
              <a:rPr sz="2400" i="1" spc="-101" dirty="0">
                <a:latin typeface="Calibri"/>
                <a:cs typeface="Calibri"/>
              </a:rPr>
              <a:t> </a:t>
            </a:r>
            <a:r>
              <a:rPr sz="2400" i="1" spc="-9" dirty="0">
                <a:latin typeface="Calibri"/>
                <a:cs typeface="Calibri"/>
              </a:rPr>
              <a:t>directly</a:t>
            </a:r>
            <a:r>
              <a:rPr sz="2400" i="1" spc="-97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caused</a:t>
            </a:r>
            <a:r>
              <a:rPr sz="2400" i="1" spc="-97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by</a:t>
            </a:r>
            <a:r>
              <a:rPr sz="2400" i="1" spc="-97" dirty="0">
                <a:latin typeface="Calibri"/>
                <a:cs typeface="Calibri"/>
              </a:rPr>
              <a:t> </a:t>
            </a:r>
            <a:r>
              <a:rPr sz="2400" i="1" spc="-9" dirty="0">
                <a:latin typeface="Calibri"/>
                <a:cs typeface="Calibri"/>
              </a:rPr>
              <a:t>code</a:t>
            </a:r>
            <a:r>
              <a:rPr lang="en-US" sz="2400" i="1" spc="-9" dirty="0">
                <a:latin typeface="Calibri"/>
                <a:cs typeface="Calibri"/>
              </a:rPr>
              <a:t>)</a:t>
            </a:r>
            <a:endParaRPr sz="2400" i="1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7169" y="588653"/>
            <a:ext cx="6850846" cy="589755"/>
          </a:xfrm>
          <a:prstGeom prst="rect">
            <a:avLst/>
          </a:prstGeom>
        </p:spPr>
        <p:txBody>
          <a:bodyPr vert="horz" wrap="square" lIns="0" tIns="126851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dirty="0"/>
              <a:t>Classifying</a:t>
            </a:r>
            <a:r>
              <a:rPr spc="40" dirty="0"/>
              <a:t> </a:t>
            </a:r>
            <a:r>
              <a:rPr lang="en-US" spc="-9" dirty="0"/>
              <a:t>E</a:t>
            </a:r>
            <a:r>
              <a:rPr spc="-9" dirty="0"/>
              <a:t>xceptions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30359-10F0-6776-6D01-EE2169EB4C6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5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902678" y="1226113"/>
            <a:ext cx="7432430" cy="5136867"/>
          </a:xfrm>
          <a:prstGeom prst="rect">
            <a:avLst/>
          </a:prstGeom>
        </p:spPr>
        <p:txBody>
          <a:bodyPr vert="horz" wrap="square" lIns="0" tIns="85165" rIns="0" bIns="0" rtlCol="0">
            <a:spAutoFit/>
          </a:bodyPr>
          <a:lstStyle/>
          <a:p>
            <a:pPr marL="279602" indent="-268395">
              <a:spcBef>
                <a:spcPts val="671"/>
              </a:spcBef>
              <a:buChar char="•"/>
              <a:tabLst>
                <a:tab pos="279602" algn="l"/>
              </a:tabLst>
            </a:pPr>
            <a:r>
              <a:rPr sz="2400" b="1" spc="-22" dirty="0">
                <a:solidFill>
                  <a:srgbClr val="0070C0"/>
                </a:solidFill>
                <a:latin typeface="Calibri"/>
                <a:cs typeface="Calibri"/>
              </a:rPr>
              <a:t>Synchronous: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repeatable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every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time</a:t>
            </a:r>
            <a:endParaRPr sz="2400" dirty="0">
              <a:latin typeface="Calibri"/>
              <a:cs typeface="Calibri"/>
            </a:endParaRPr>
          </a:p>
          <a:p>
            <a:pPr marL="654458" lvl="1" indent="-213483">
              <a:spcBef>
                <a:spcPts val="427"/>
              </a:spcBef>
              <a:buChar char="–"/>
              <a:tabLst>
                <a:tab pos="654458" algn="l"/>
              </a:tabLst>
            </a:pPr>
            <a:r>
              <a:rPr sz="2200" dirty="0">
                <a:latin typeface="Calibri"/>
                <a:cs typeface="Calibri"/>
              </a:rPr>
              <a:t>Example:</a:t>
            </a:r>
            <a:r>
              <a:rPr sz="2200" spc="40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DIV</a:t>
            </a:r>
            <a:r>
              <a:rPr sz="2200" spc="40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R2,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R2,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b="1" spc="-22" dirty="0">
                <a:latin typeface="Calibri"/>
                <a:cs typeface="Calibri"/>
              </a:rPr>
              <a:t>R0</a:t>
            </a:r>
            <a:endParaRPr sz="2200" dirty="0">
              <a:latin typeface="Calibri"/>
              <a:cs typeface="Calibri"/>
            </a:endParaRPr>
          </a:p>
          <a:p>
            <a:pPr marL="280162" marR="4483" indent="-268956">
              <a:spcBef>
                <a:spcPts val="944"/>
              </a:spcBef>
              <a:buChar char="•"/>
              <a:tabLst>
                <a:tab pos="280162" algn="l"/>
              </a:tabLst>
            </a:pPr>
            <a:r>
              <a:rPr sz="2400" b="1" spc="-22" dirty="0">
                <a:solidFill>
                  <a:srgbClr val="0070C0"/>
                </a:solidFill>
                <a:latin typeface="Calibri"/>
                <a:cs typeface="Calibri"/>
              </a:rPr>
              <a:t>Asynchronous: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caused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external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events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hardware failure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devices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external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processor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memory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971"/>
              </a:spcBef>
              <a:buFont typeface="Calibri"/>
              <a:buChar char="•"/>
            </a:pPr>
            <a:endParaRPr sz="2294" dirty="0">
              <a:latin typeface="Calibri"/>
              <a:cs typeface="Calibri"/>
            </a:endParaRPr>
          </a:p>
          <a:p>
            <a:pPr marL="279602" indent="-268395">
              <a:spcAft>
                <a:spcPts val="600"/>
              </a:spcAft>
              <a:buChar char="•"/>
              <a:tabLst>
                <a:tab pos="279602" algn="l"/>
              </a:tabLst>
            </a:pP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User</a:t>
            </a:r>
            <a:r>
              <a:rPr sz="2400" b="1" spc="-88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b="1" spc="-9" dirty="0">
                <a:solidFill>
                  <a:srgbClr val="0070C0"/>
                </a:solidFill>
                <a:latin typeface="Calibri"/>
                <a:cs typeface="Calibri"/>
              </a:rPr>
              <a:t>requested:</a:t>
            </a:r>
            <a:r>
              <a:rPr sz="2400" b="1" spc="-88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asks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(e.g.,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breakpoint)</a:t>
            </a:r>
            <a:endParaRPr sz="2400" dirty="0">
              <a:latin typeface="Calibri"/>
              <a:cs typeface="Calibri"/>
            </a:endParaRPr>
          </a:p>
          <a:p>
            <a:pPr marL="279602" indent="-268395">
              <a:spcBef>
                <a:spcPts val="507"/>
              </a:spcBef>
              <a:buChar char="•"/>
              <a:tabLst>
                <a:tab pos="279602" algn="l"/>
              </a:tabLst>
            </a:pPr>
            <a:r>
              <a:rPr sz="2400" b="1" spc="-18" dirty="0">
                <a:solidFill>
                  <a:srgbClr val="0070C0"/>
                </a:solidFill>
                <a:latin typeface="Calibri"/>
                <a:cs typeface="Calibri"/>
              </a:rPr>
              <a:t>Coerced: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cannot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predicted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user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971"/>
              </a:spcBef>
              <a:buFont typeface="Calibri"/>
              <a:buChar char="•"/>
            </a:pPr>
            <a:endParaRPr sz="2294" dirty="0">
              <a:latin typeface="Calibri"/>
              <a:cs typeface="Calibri"/>
            </a:endParaRPr>
          </a:p>
          <a:p>
            <a:pPr marL="279602" indent="-268395">
              <a:buChar char="•"/>
              <a:tabLst>
                <a:tab pos="279602" algn="l"/>
              </a:tabLst>
            </a:pP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User</a:t>
            </a:r>
            <a:r>
              <a:rPr sz="2400" b="1" spc="-7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b="1" spc="-22" dirty="0">
                <a:solidFill>
                  <a:srgbClr val="0070C0"/>
                </a:solidFill>
                <a:latin typeface="Calibri"/>
                <a:cs typeface="Calibri"/>
              </a:rPr>
              <a:t>maskable:</a:t>
            </a:r>
            <a:r>
              <a:rPr sz="2400" b="1" spc="-79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disabled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task</a:t>
            </a:r>
            <a:endParaRPr sz="2400" dirty="0">
              <a:latin typeface="Calibri"/>
              <a:cs typeface="Calibri"/>
            </a:endParaRPr>
          </a:p>
          <a:p>
            <a:pPr marL="654458" lvl="1" indent="-213483">
              <a:spcBef>
                <a:spcPts val="512"/>
              </a:spcBef>
              <a:buChar char="–"/>
              <a:tabLst>
                <a:tab pos="654458" algn="l"/>
              </a:tabLst>
            </a:pPr>
            <a:r>
              <a:rPr sz="2200" dirty="0">
                <a:latin typeface="Calibri"/>
                <a:cs typeface="Calibri"/>
              </a:rPr>
              <a:t>Example: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arithmetic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exception</a:t>
            </a:r>
            <a:endParaRPr sz="2200" dirty="0">
              <a:latin typeface="Calibri"/>
              <a:cs typeface="Calibri"/>
            </a:endParaRPr>
          </a:p>
          <a:p>
            <a:pPr marL="279602" indent="-268395">
              <a:spcBef>
                <a:spcPts val="463"/>
              </a:spcBef>
              <a:buChar char="•"/>
              <a:tabLst>
                <a:tab pos="279602" algn="l"/>
              </a:tabLst>
            </a:pPr>
            <a:r>
              <a:rPr sz="2400" b="1" spc="-35" dirty="0">
                <a:solidFill>
                  <a:srgbClr val="0070C0"/>
                </a:solidFill>
                <a:latin typeface="Calibri"/>
                <a:cs typeface="Calibri"/>
              </a:rPr>
              <a:t>Non-</a:t>
            </a:r>
            <a:r>
              <a:rPr sz="2400" b="1" spc="-22" dirty="0">
                <a:solidFill>
                  <a:srgbClr val="0070C0"/>
                </a:solidFill>
                <a:latin typeface="Calibri"/>
                <a:cs typeface="Calibri"/>
              </a:rPr>
              <a:t>maskable: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cannot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turned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off</a:t>
            </a:r>
            <a:endParaRPr sz="2400" dirty="0">
              <a:latin typeface="Calibri"/>
              <a:cs typeface="Calibri"/>
            </a:endParaRPr>
          </a:p>
          <a:p>
            <a:pPr marL="654458" lvl="1" indent="-213483">
              <a:spcBef>
                <a:spcPts val="424"/>
              </a:spcBef>
              <a:buChar char="–"/>
              <a:tabLst>
                <a:tab pos="654458" algn="l"/>
              </a:tabLst>
            </a:pPr>
            <a:r>
              <a:rPr sz="2200" dirty="0">
                <a:latin typeface="Calibri"/>
                <a:cs typeface="Calibri"/>
              </a:rPr>
              <a:t>Example: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hardware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failure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7169" y="588653"/>
            <a:ext cx="6815677" cy="589755"/>
          </a:xfrm>
          <a:prstGeom prst="rect">
            <a:avLst/>
          </a:prstGeom>
        </p:spPr>
        <p:txBody>
          <a:bodyPr vert="horz" wrap="square" lIns="0" tIns="126851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dirty="0"/>
              <a:t>Classifying</a:t>
            </a:r>
            <a:r>
              <a:rPr spc="31" dirty="0"/>
              <a:t> </a:t>
            </a:r>
            <a:r>
              <a:rPr lang="en-US" spc="31" dirty="0"/>
              <a:t>E</a:t>
            </a:r>
            <a:r>
              <a:rPr dirty="0"/>
              <a:t>xceptions</a:t>
            </a:r>
            <a:r>
              <a:rPr spc="22" dirty="0"/>
              <a:t> </a:t>
            </a:r>
            <a:r>
              <a:rPr spc="-9" dirty="0"/>
              <a:t>(cont.)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2592E3-C1AC-F1E0-1A09-D7C6F0B79A7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6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902676" y="1235785"/>
            <a:ext cx="7455877" cy="3620939"/>
          </a:xfrm>
          <a:prstGeom prst="rect">
            <a:avLst/>
          </a:prstGeom>
        </p:spPr>
        <p:txBody>
          <a:bodyPr vert="horz" wrap="square" lIns="0" tIns="75640" rIns="0" bIns="0" rtlCol="0">
            <a:spAutoFit/>
          </a:bodyPr>
          <a:lstStyle/>
          <a:p>
            <a:pPr marL="279602" indent="-268395">
              <a:spcBef>
                <a:spcPts val="596"/>
              </a:spcBef>
              <a:spcAft>
                <a:spcPts val="600"/>
              </a:spcAft>
              <a:buChar char="•"/>
              <a:tabLst>
                <a:tab pos="279602" algn="l"/>
              </a:tabLst>
            </a:pPr>
            <a:r>
              <a:rPr sz="2400" b="1" spc="-9" dirty="0">
                <a:solidFill>
                  <a:srgbClr val="0070C0"/>
                </a:solidFill>
                <a:latin typeface="Calibri"/>
                <a:cs typeface="Calibri"/>
              </a:rPr>
              <a:t>Within</a:t>
            </a:r>
            <a:r>
              <a:rPr sz="2400" b="1" spc="-8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lang="en-US" sz="2400" b="1" spc="-18" dirty="0">
                <a:solidFill>
                  <a:srgbClr val="0070C0"/>
                </a:solidFill>
                <a:latin typeface="Calibri"/>
                <a:cs typeface="Calibri"/>
              </a:rPr>
              <a:t>Instructions: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prevents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instruction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completing</a:t>
            </a:r>
            <a:endParaRPr sz="2400" dirty="0">
              <a:latin typeface="Calibri"/>
              <a:cs typeface="Calibri"/>
            </a:endParaRPr>
          </a:p>
          <a:p>
            <a:pPr marL="279602" indent="-268395">
              <a:spcBef>
                <a:spcPts val="507"/>
              </a:spcBef>
              <a:buChar char="•"/>
              <a:tabLst>
                <a:tab pos="279602" algn="l"/>
              </a:tabLst>
            </a:pPr>
            <a:r>
              <a:rPr sz="2400" b="1" spc="-9" dirty="0">
                <a:solidFill>
                  <a:srgbClr val="0070C0"/>
                </a:solidFill>
                <a:latin typeface="Calibri"/>
                <a:cs typeface="Calibri"/>
              </a:rPr>
              <a:t>Between</a:t>
            </a:r>
            <a:r>
              <a:rPr sz="2400" b="1" spc="-7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lang="en-US" sz="2400" b="1" spc="-18" dirty="0">
                <a:solidFill>
                  <a:srgbClr val="0070C0"/>
                </a:solidFill>
                <a:latin typeface="Calibri"/>
                <a:cs typeface="Calibri"/>
              </a:rPr>
              <a:t>I</a:t>
            </a:r>
            <a:r>
              <a:rPr sz="2400" b="1" spc="-18" dirty="0">
                <a:solidFill>
                  <a:srgbClr val="0070C0"/>
                </a:solidFill>
                <a:latin typeface="Calibri"/>
                <a:cs typeface="Calibri"/>
              </a:rPr>
              <a:t>nstructions: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instruction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prevented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988"/>
              </a:spcBef>
              <a:buFont typeface="Calibri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279602" indent="-268395">
              <a:spcBef>
                <a:spcPts val="4"/>
              </a:spcBef>
              <a:spcAft>
                <a:spcPts val="600"/>
              </a:spcAft>
              <a:buChar char="•"/>
              <a:tabLst>
                <a:tab pos="279602" algn="l"/>
              </a:tabLst>
            </a:pPr>
            <a:r>
              <a:rPr sz="2400" b="1" spc="-18" dirty="0">
                <a:solidFill>
                  <a:srgbClr val="0070C0"/>
                </a:solidFill>
                <a:latin typeface="Calibri"/>
                <a:cs typeface="Calibri"/>
              </a:rPr>
              <a:t>Terminating</a:t>
            </a:r>
            <a:r>
              <a:rPr lang="en-US" sz="2400" b="1" spc="-18" dirty="0">
                <a:solidFill>
                  <a:srgbClr val="0070C0"/>
                </a:solidFill>
                <a:latin typeface="Calibri"/>
                <a:cs typeface="Calibri"/>
              </a:rPr>
              <a:t> Event</a:t>
            </a:r>
            <a:r>
              <a:rPr sz="2400" b="1" spc="-18" dirty="0">
                <a:solidFill>
                  <a:srgbClr val="0070C0"/>
                </a:solidFill>
                <a:latin typeface="Calibri"/>
                <a:cs typeface="Calibri"/>
              </a:rPr>
              <a:t>: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stops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task</a:t>
            </a:r>
            <a:endParaRPr sz="2400" dirty="0">
              <a:latin typeface="Calibri"/>
              <a:cs typeface="Calibri"/>
            </a:endParaRPr>
          </a:p>
          <a:p>
            <a:pPr marL="279602" indent="-268395">
              <a:spcBef>
                <a:spcPts val="507"/>
              </a:spcBef>
              <a:buChar char="•"/>
              <a:tabLst>
                <a:tab pos="279602" algn="l"/>
              </a:tabLst>
            </a:pPr>
            <a:r>
              <a:rPr sz="2400" b="1" spc="-18" dirty="0">
                <a:solidFill>
                  <a:srgbClr val="0070C0"/>
                </a:solidFill>
                <a:latin typeface="Calibri"/>
                <a:cs typeface="Calibri"/>
              </a:rPr>
              <a:t>Resuming</a:t>
            </a:r>
            <a:r>
              <a:rPr lang="en-US" sz="2400" b="1" spc="-18" dirty="0">
                <a:solidFill>
                  <a:srgbClr val="0070C0"/>
                </a:solidFill>
                <a:latin typeface="Calibri"/>
                <a:cs typeface="Calibri"/>
              </a:rPr>
              <a:t> Event</a:t>
            </a:r>
            <a:r>
              <a:rPr sz="2400" b="1" spc="-18" dirty="0">
                <a:solidFill>
                  <a:srgbClr val="0070C0"/>
                </a:solidFill>
                <a:latin typeface="Calibri"/>
                <a:cs typeface="Calibri"/>
              </a:rPr>
              <a:t>: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continue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1350"/>
              </a:spcBef>
              <a:buFont typeface="Calibri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280162" marR="414079" indent="-268956">
              <a:buChar char="•"/>
              <a:tabLst>
                <a:tab pos="280162" algn="l"/>
              </a:tabLst>
            </a:pPr>
            <a:r>
              <a:rPr sz="2400" spc="-18" dirty="0">
                <a:solidFill>
                  <a:srgbClr val="114FFB"/>
                </a:solidFill>
                <a:latin typeface="Calibri"/>
                <a:cs typeface="Calibri"/>
              </a:rPr>
              <a:t>Machines</a:t>
            </a:r>
            <a:r>
              <a:rPr sz="2400" spc="-84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14FFB"/>
                </a:solidFill>
                <a:latin typeface="Calibri"/>
                <a:cs typeface="Calibri"/>
              </a:rPr>
              <a:t>that</a:t>
            </a:r>
            <a:r>
              <a:rPr sz="2400" spc="-88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14FFB"/>
                </a:solidFill>
                <a:latin typeface="Calibri"/>
                <a:cs typeface="Calibri"/>
              </a:rPr>
              <a:t>handle</a:t>
            </a:r>
            <a:r>
              <a:rPr sz="2400" spc="-84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114FFB"/>
                </a:solidFill>
                <a:latin typeface="Calibri"/>
                <a:cs typeface="Calibri"/>
              </a:rPr>
              <a:t>exceptions,</a:t>
            </a:r>
            <a:r>
              <a:rPr sz="2400" spc="-84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14FFB"/>
                </a:solidFill>
                <a:latin typeface="Calibri"/>
                <a:cs typeface="Calibri"/>
              </a:rPr>
              <a:t>save</a:t>
            </a:r>
            <a:r>
              <a:rPr sz="2400" spc="-84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14FFB"/>
                </a:solidFill>
                <a:latin typeface="Calibri"/>
                <a:cs typeface="Calibri"/>
              </a:rPr>
              <a:t>the</a:t>
            </a:r>
            <a:r>
              <a:rPr sz="2400" spc="-84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114FFB"/>
                </a:solidFill>
                <a:latin typeface="Calibri"/>
                <a:cs typeface="Calibri"/>
              </a:rPr>
              <a:t>state,</a:t>
            </a:r>
            <a:r>
              <a:rPr sz="2400" spc="-79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spc="-22" dirty="0">
                <a:solidFill>
                  <a:srgbClr val="114FFB"/>
                </a:solidFill>
                <a:latin typeface="Calibri"/>
                <a:cs typeface="Calibri"/>
              </a:rPr>
              <a:t>and </a:t>
            </a:r>
            <a:r>
              <a:rPr sz="2400" dirty="0">
                <a:solidFill>
                  <a:srgbClr val="114FFB"/>
                </a:solidFill>
                <a:latin typeface="Calibri"/>
                <a:cs typeface="Calibri"/>
              </a:rPr>
              <a:t>then</a:t>
            </a:r>
            <a:r>
              <a:rPr sz="2400" spc="-79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114FFB"/>
                </a:solidFill>
                <a:latin typeface="Calibri"/>
                <a:cs typeface="Calibri"/>
              </a:rPr>
              <a:t>restart</a:t>
            </a:r>
            <a:r>
              <a:rPr sz="2400" spc="-79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114FFB"/>
                </a:solidFill>
                <a:latin typeface="Calibri"/>
                <a:cs typeface="Calibri"/>
              </a:rPr>
              <a:t>correctly</a:t>
            </a:r>
            <a:r>
              <a:rPr sz="2400" spc="-79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14FFB"/>
                </a:solidFill>
                <a:latin typeface="Calibri"/>
                <a:cs typeface="Calibri"/>
              </a:rPr>
              <a:t>are</a:t>
            </a:r>
            <a:r>
              <a:rPr sz="2400" spc="-75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14FFB"/>
                </a:solidFill>
                <a:latin typeface="Calibri"/>
                <a:cs typeface="Calibri"/>
              </a:rPr>
              <a:t>said</a:t>
            </a:r>
            <a:r>
              <a:rPr sz="2400" spc="-79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14FFB"/>
                </a:solidFill>
                <a:latin typeface="Calibri"/>
                <a:cs typeface="Calibri"/>
              </a:rPr>
              <a:t>to</a:t>
            </a:r>
            <a:r>
              <a:rPr sz="2400" spc="-84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14FFB"/>
                </a:solidFill>
                <a:latin typeface="Calibri"/>
                <a:cs typeface="Calibri"/>
              </a:rPr>
              <a:t>be</a:t>
            </a:r>
            <a:r>
              <a:rPr sz="2400" spc="-71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b="1" i="1" spc="-9" dirty="0" err="1">
                <a:solidFill>
                  <a:srgbClr val="114FFB"/>
                </a:solidFill>
                <a:latin typeface="Calibri"/>
                <a:cs typeface="Calibri"/>
              </a:rPr>
              <a:t>restartable</a:t>
            </a:r>
            <a:r>
              <a:rPr lang="en-US" sz="2400" b="1" i="1" spc="-9" dirty="0">
                <a:solidFill>
                  <a:srgbClr val="114FFB"/>
                </a:solidFill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4669" y="718092"/>
            <a:ext cx="6958853" cy="729461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ts val="3565"/>
              </a:lnSpc>
              <a:spcBef>
                <a:spcPts val="88"/>
              </a:spcBef>
            </a:pPr>
            <a:r>
              <a:rPr dirty="0"/>
              <a:t>Categorizing</a:t>
            </a:r>
            <a:r>
              <a:rPr spc="44" dirty="0"/>
              <a:t> </a:t>
            </a:r>
            <a:r>
              <a:rPr lang="en-US" spc="-9" dirty="0"/>
              <a:t>E</a:t>
            </a:r>
            <a:r>
              <a:rPr spc="-9" dirty="0"/>
              <a:t>xceptions</a:t>
            </a:r>
          </a:p>
          <a:p>
            <a:pPr marL="11206">
              <a:lnSpc>
                <a:spcPts val="1977"/>
              </a:lnSpc>
            </a:pPr>
            <a:r>
              <a:rPr sz="1677" dirty="0"/>
              <a:t>Figure</a:t>
            </a:r>
            <a:r>
              <a:rPr sz="1677" spc="-4" dirty="0"/>
              <a:t> </a:t>
            </a:r>
            <a:r>
              <a:rPr sz="1677" spc="-18" dirty="0"/>
              <a:t>C.31</a:t>
            </a:r>
            <a:endParaRPr sz="1677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34DB76-5AF9-EDF0-D294-1DAEF252DD1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102132"/>
              </p:ext>
            </p:extLst>
          </p:nvPr>
        </p:nvGraphicFramePr>
        <p:xfrm>
          <a:off x="794669" y="1584302"/>
          <a:ext cx="7773518" cy="45556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59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13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79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0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5857">
                <a:tc>
                  <a:txBody>
                    <a:bodyPr/>
                    <a:lstStyle/>
                    <a:p>
                      <a:pPr marL="532130" marR="259715" indent="-265430">
                        <a:lnSpc>
                          <a:spcPts val="1900"/>
                        </a:lnSpc>
                        <a:spcBef>
                          <a:spcPts val="250"/>
                        </a:spcBef>
                      </a:pP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Exception </a:t>
                      </a:r>
                      <a:r>
                        <a:rPr sz="1500" b="1" spc="-20" dirty="0">
                          <a:latin typeface="Times New Roman"/>
                          <a:cs typeface="Times New Roman"/>
                        </a:rPr>
                        <a:t>type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80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0195" marR="168275" indent="-114300">
                        <a:lnSpc>
                          <a:spcPts val="1900"/>
                        </a:lnSpc>
                        <a:spcBef>
                          <a:spcPts val="250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Synch.</a:t>
                      </a:r>
                      <a:r>
                        <a:rPr sz="15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25" dirty="0">
                          <a:latin typeface="Times New Roman"/>
                          <a:cs typeface="Times New Roman"/>
                        </a:rPr>
                        <a:t>vs. </a:t>
                      </a: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asynch.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80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815" marR="163830" indent="3810" algn="ctr">
                        <a:lnSpc>
                          <a:spcPct val="90600"/>
                        </a:lnSpc>
                        <a:spcBef>
                          <a:spcPts val="265"/>
                        </a:spcBef>
                      </a:pPr>
                      <a:r>
                        <a:rPr sz="1500" b="1" spc="-20" dirty="0">
                          <a:latin typeface="Times New Roman"/>
                          <a:cs typeface="Times New Roman"/>
                        </a:rPr>
                        <a:t>User </a:t>
                      </a:r>
                      <a:r>
                        <a:rPr sz="1500" b="1" dirty="0">
                          <a:latin typeface="Times New Roman"/>
                          <a:cs typeface="Times New Roman"/>
                        </a:rPr>
                        <a:t>request</a:t>
                      </a:r>
                      <a:r>
                        <a:rPr sz="15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25" dirty="0">
                          <a:latin typeface="Times New Roman"/>
                          <a:cs typeface="Times New Roman"/>
                        </a:rPr>
                        <a:t>vs. </a:t>
                      </a: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coerce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2969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0" marR="202565" indent="3810" algn="ctr">
                        <a:lnSpc>
                          <a:spcPct val="90600"/>
                        </a:lnSpc>
                        <a:spcBef>
                          <a:spcPts val="265"/>
                        </a:spcBef>
                      </a:pPr>
                      <a:r>
                        <a:rPr sz="1500" b="1" spc="-20" dirty="0">
                          <a:latin typeface="Times New Roman"/>
                          <a:cs typeface="Times New Roman"/>
                        </a:rPr>
                        <a:t>User </a:t>
                      </a: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maskable </a:t>
                      </a:r>
                      <a:r>
                        <a:rPr sz="1500" b="1" dirty="0">
                          <a:latin typeface="Times New Roman"/>
                          <a:cs typeface="Times New Roman"/>
                        </a:rPr>
                        <a:t>vs.</a:t>
                      </a:r>
                      <a:r>
                        <a:rPr sz="15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25" dirty="0">
                          <a:latin typeface="Times New Roman"/>
                          <a:cs typeface="Times New Roman"/>
                        </a:rPr>
                        <a:t>not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2969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 marR="181610" indent="635" algn="ctr">
                        <a:lnSpc>
                          <a:spcPct val="90600"/>
                        </a:lnSpc>
                        <a:spcBef>
                          <a:spcPts val="265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Within</a:t>
                      </a:r>
                      <a:r>
                        <a:rPr sz="15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25" dirty="0">
                          <a:latin typeface="Times New Roman"/>
                          <a:cs typeface="Times New Roman"/>
                        </a:rPr>
                        <a:t>vs. </a:t>
                      </a: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between instructions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2969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0504" marR="158115" indent="-65405">
                        <a:lnSpc>
                          <a:spcPts val="1900"/>
                        </a:lnSpc>
                        <a:spcBef>
                          <a:spcPts val="250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Resume </a:t>
                      </a:r>
                      <a:r>
                        <a:rPr sz="1500" b="1" spc="-25" dirty="0">
                          <a:latin typeface="Times New Roman"/>
                          <a:cs typeface="Times New Roman"/>
                        </a:rPr>
                        <a:t>vs. </a:t>
                      </a: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terminate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280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345">
                <a:tc>
                  <a:txBody>
                    <a:bodyPr/>
                    <a:lstStyle/>
                    <a:p>
                      <a:pPr marL="389255" marR="248920" indent="-132715">
                        <a:lnSpc>
                          <a:spcPts val="1900"/>
                        </a:lnSpc>
                        <a:spcBef>
                          <a:spcPts val="265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I/O</a:t>
                      </a:r>
                      <a:r>
                        <a:rPr sz="15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device request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29696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Asynch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Coerced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Not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Between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Resume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2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Invoke</a:t>
                      </a:r>
                      <a:r>
                        <a:rPr sz="15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25" dirty="0">
                          <a:latin typeface="Times New Roman"/>
                          <a:cs typeface="Times New Roman"/>
                        </a:rPr>
                        <a:t>OS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40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Synch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4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User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req.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4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Not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4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Between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4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Resume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4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386">
                <a:tc>
                  <a:txBody>
                    <a:bodyPr/>
                    <a:lstStyle/>
                    <a:p>
                      <a:pPr marL="181610" marR="174625" indent="189865">
                        <a:lnSpc>
                          <a:spcPts val="1900"/>
                        </a:lnSpc>
                        <a:spcBef>
                          <a:spcPts val="265"/>
                        </a:spcBef>
                      </a:pP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Tracing instructions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29696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Synch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User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req.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Maskable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Between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Resume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5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Breakpoint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Synch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User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req.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Maskable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Between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Resume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4345">
                <a:tc>
                  <a:txBody>
                    <a:bodyPr/>
                    <a:lstStyle/>
                    <a:p>
                      <a:pPr marL="327025" marR="319405" indent="67945">
                        <a:lnSpc>
                          <a:spcPts val="1900"/>
                        </a:lnSpc>
                        <a:spcBef>
                          <a:spcPts val="250"/>
                        </a:spcBef>
                      </a:pP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Integer overflow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80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Synch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Coerced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Maskable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Within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Resume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5857">
                <a:tc>
                  <a:txBody>
                    <a:bodyPr/>
                    <a:lstStyle/>
                    <a:p>
                      <a:pPr marL="194310" marR="186690" algn="ctr">
                        <a:lnSpc>
                          <a:spcPct val="90600"/>
                        </a:lnSpc>
                        <a:spcBef>
                          <a:spcPts val="275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Floating</a:t>
                      </a:r>
                      <a:r>
                        <a:rPr sz="1500" b="1" spc="-25" dirty="0">
                          <a:latin typeface="Times New Roman"/>
                          <a:cs typeface="Times New Roman"/>
                        </a:rPr>
                        <a:t> pt. </a:t>
                      </a: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overflow/ underflow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0816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Synch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Coerced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Maskable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Within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Resume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4669" y="721291"/>
            <a:ext cx="6958853" cy="729461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ts val="3565"/>
              </a:lnSpc>
              <a:spcBef>
                <a:spcPts val="88"/>
              </a:spcBef>
            </a:pPr>
            <a:r>
              <a:rPr dirty="0"/>
              <a:t>Categorizing</a:t>
            </a:r>
            <a:r>
              <a:rPr spc="31" dirty="0"/>
              <a:t> </a:t>
            </a:r>
            <a:r>
              <a:rPr lang="en-US" spc="31" dirty="0"/>
              <a:t>E</a:t>
            </a:r>
            <a:r>
              <a:rPr dirty="0"/>
              <a:t>xceptions</a:t>
            </a:r>
            <a:r>
              <a:rPr spc="26" dirty="0"/>
              <a:t> </a:t>
            </a:r>
            <a:r>
              <a:rPr spc="-9" dirty="0"/>
              <a:t>(cont.)</a:t>
            </a:r>
          </a:p>
          <a:p>
            <a:pPr marL="11206">
              <a:lnSpc>
                <a:spcPts val="1977"/>
              </a:lnSpc>
            </a:pPr>
            <a:r>
              <a:rPr sz="1677" dirty="0"/>
              <a:t>Figure</a:t>
            </a:r>
            <a:r>
              <a:rPr sz="1677" spc="-4" dirty="0"/>
              <a:t> </a:t>
            </a:r>
            <a:r>
              <a:rPr sz="1677" spc="-18" dirty="0"/>
              <a:t>C.31</a:t>
            </a:r>
            <a:endParaRPr sz="1677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AEA370-BE97-E94D-5CDE-F34B13E0C8F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268839"/>
              </p:ext>
            </p:extLst>
          </p:nvPr>
        </p:nvGraphicFramePr>
        <p:xfrm>
          <a:off x="794669" y="1591427"/>
          <a:ext cx="7773518" cy="45452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2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13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79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0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6203">
                <a:tc>
                  <a:txBody>
                    <a:bodyPr/>
                    <a:lstStyle/>
                    <a:p>
                      <a:pPr marL="572770" marR="300355" indent="-26543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Exception </a:t>
                      </a:r>
                      <a:r>
                        <a:rPr sz="1500" b="1" spc="-20" dirty="0">
                          <a:latin typeface="Times New Roman"/>
                          <a:cs typeface="Times New Roman"/>
                        </a:rPr>
                        <a:t>type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2913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9554" marR="127635" indent="-11430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Synch.</a:t>
                      </a:r>
                      <a:r>
                        <a:rPr sz="15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25" dirty="0">
                          <a:latin typeface="Times New Roman"/>
                          <a:cs typeface="Times New Roman"/>
                        </a:rPr>
                        <a:t>vs. </a:t>
                      </a: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asynch.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2913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815" marR="163830" indent="3810" algn="ctr">
                        <a:lnSpc>
                          <a:spcPct val="90600"/>
                        </a:lnSpc>
                        <a:spcBef>
                          <a:spcPts val="270"/>
                        </a:spcBef>
                      </a:pPr>
                      <a:r>
                        <a:rPr sz="1500" b="1" spc="-20" dirty="0">
                          <a:latin typeface="Times New Roman"/>
                          <a:cs typeface="Times New Roman"/>
                        </a:rPr>
                        <a:t>User </a:t>
                      </a:r>
                      <a:r>
                        <a:rPr sz="1500" b="1" dirty="0">
                          <a:latin typeface="Times New Roman"/>
                          <a:cs typeface="Times New Roman"/>
                        </a:rPr>
                        <a:t>request</a:t>
                      </a:r>
                      <a:r>
                        <a:rPr sz="15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25" dirty="0">
                          <a:latin typeface="Times New Roman"/>
                          <a:cs typeface="Times New Roman"/>
                        </a:rPr>
                        <a:t>vs. </a:t>
                      </a: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coerce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0" marR="202565" indent="3810" algn="ctr">
                        <a:lnSpc>
                          <a:spcPct val="90600"/>
                        </a:lnSpc>
                        <a:spcBef>
                          <a:spcPts val="270"/>
                        </a:spcBef>
                      </a:pPr>
                      <a:r>
                        <a:rPr sz="1500" b="1" spc="-20" dirty="0">
                          <a:latin typeface="Times New Roman"/>
                          <a:cs typeface="Times New Roman"/>
                        </a:rPr>
                        <a:t>User </a:t>
                      </a: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maskable </a:t>
                      </a:r>
                      <a:r>
                        <a:rPr sz="1500" b="1" dirty="0">
                          <a:latin typeface="Times New Roman"/>
                          <a:cs typeface="Times New Roman"/>
                        </a:rPr>
                        <a:t>vs.</a:t>
                      </a:r>
                      <a:r>
                        <a:rPr sz="15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25" dirty="0">
                          <a:latin typeface="Times New Roman"/>
                          <a:cs typeface="Times New Roman"/>
                        </a:rPr>
                        <a:t>not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 marR="181610" indent="635" algn="ctr">
                        <a:lnSpc>
                          <a:spcPct val="90600"/>
                        </a:lnSpc>
                        <a:spcBef>
                          <a:spcPts val="270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Within</a:t>
                      </a:r>
                      <a:r>
                        <a:rPr sz="15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25" dirty="0">
                          <a:latin typeface="Times New Roman"/>
                          <a:cs typeface="Times New Roman"/>
                        </a:rPr>
                        <a:t>vs. </a:t>
                      </a: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between instructions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0504" marR="158115" indent="-65405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Resume </a:t>
                      </a:r>
                      <a:r>
                        <a:rPr sz="1500" b="1" spc="-25" dirty="0">
                          <a:latin typeface="Times New Roman"/>
                          <a:cs typeface="Times New Roman"/>
                        </a:rPr>
                        <a:t>vs. </a:t>
                      </a: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terminate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2913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0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Page</a:t>
                      </a:r>
                      <a:r>
                        <a:rPr sz="15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20" dirty="0">
                          <a:latin typeface="Times New Roman"/>
                          <a:cs typeface="Times New Roman"/>
                        </a:rPr>
                        <a:t>fault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Synch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Coerced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Not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Within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Resume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203">
                <a:tc>
                  <a:txBody>
                    <a:bodyPr/>
                    <a:lstStyle/>
                    <a:p>
                      <a:pPr marL="258445" marR="251460" algn="ctr">
                        <a:lnSpc>
                          <a:spcPct val="91200"/>
                        </a:lnSpc>
                        <a:spcBef>
                          <a:spcPts val="250"/>
                        </a:spcBef>
                      </a:pP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Misaligned memory access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80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Synch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Coerced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Maskable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Within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Resume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770">
                <a:tc>
                  <a:txBody>
                    <a:bodyPr/>
                    <a:lstStyle/>
                    <a:p>
                      <a:pPr marL="367030" marR="245110" indent="-114935">
                        <a:lnSpc>
                          <a:spcPts val="1900"/>
                        </a:lnSpc>
                        <a:spcBef>
                          <a:spcPts val="260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Mem.</a:t>
                      </a:r>
                      <a:r>
                        <a:rPr sz="15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20" dirty="0">
                          <a:latin typeface="Times New Roman"/>
                          <a:cs typeface="Times New Roman"/>
                        </a:rPr>
                        <a:t>prot. </a:t>
                      </a: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violation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291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Synch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Coerced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Not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Within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Resume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9601">
                <a:tc>
                  <a:txBody>
                    <a:bodyPr/>
                    <a:lstStyle/>
                    <a:p>
                      <a:pPr marL="264795" marR="257175" indent="25400">
                        <a:lnSpc>
                          <a:spcPts val="1920"/>
                        </a:lnSpc>
                        <a:spcBef>
                          <a:spcPts val="234"/>
                        </a:spcBef>
                      </a:pP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Undefined instruction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26333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Synch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Coerced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Not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Within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Terminate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847">
                <a:tc>
                  <a:txBody>
                    <a:bodyPr/>
                    <a:lstStyle/>
                    <a:p>
                      <a:pPr marL="210185" marR="202565" indent="86995">
                        <a:lnSpc>
                          <a:spcPts val="1920"/>
                        </a:lnSpc>
                        <a:spcBef>
                          <a:spcPts val="234"/>
                        </a:spcBef>
                      </a:pP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Hardware malfunction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26333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Asynch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Coerced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Not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Within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Terminate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4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96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Power</a:t>
                      </a:r>
                      <a:r>
                        <a:rPr sz="15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failure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9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Asynch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Coerced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Not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Within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Terminate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615" y="588653"/>
            <a:ext cx="6827400" cy="589755"/>
          </a:xfrm>
          <a:prstGeom prst="rect">
            <a:avLst/>
          </a:prstGeom>
        </p:spPr>
        <p:txBody>
          <a:bodyPr vert="horz" wrap="square" lIns="0" tIns="126851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dirty="0"/>
              <a:t>The most</a:t>
            </a:r>
            <a:r>
              <a:rPr spc="9" dirty="0"/>
              <a:t> </a:t>
            </a:r>
            <a:r>
              <a:rPr dirty="0"/>
              <a:t>difficult</a:t>
            </a:r>
            <a:r>
              <a:rPr spc="9" dirty="0"/>
              <a:t> </a:t>
            </a:r>
            <a:r>
              <a:rPr spc="-9" dirty="0"/>
              <a:t>exceptions...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F8CD9-3061-DBC1-53A3-C789EE300EA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9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820615" y="1244910"/>
            <a:ext cx="7747572" cy="5404756"/>
          </a:xfrm>
          <a:prstGeom prst="rect">
            <a:avLst/>
          </a:prstGeom>
        </p:spPr>
        <p:txBody>
          <a:bodyPr vert="horz" wrap="square" lIns="0" tIns="50426" rIns="0" bIns="0" rtlCol="0">
            <a:spAutoFit/>
          </a:bodyPr>
          <a:lstStyle/>
          <a:p>
            <a:pPr marL="280162" marR="4483" indent="-268956">
              <a:lnSpc>
                <a:spcPts val="2480"/>
              </a:lnSpc>
              <a:spcBef>
                <a:spcPts val="397"/>
              </a:spcBef>
              <a:spcAft>
                <a:spcPts val="1800"/>
              </a:spcAft>
              <a:buFont typeface="Calibri"/>
              <a:buChar char="•"/>
              <a:tabLst>
                <a:tab pos="280162" algn="l"/>
              </a:tabLst>
            </a:pP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...</a:t>
            </a:r>
            <a:r>
              <a:rPr sz="2400" b="1" i="1" spc="-9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are</a:t>
            </a:r>
            <a:r>
              <a:rPr sz="2400" b="1" i="1" spc="-9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spc="-9" dirty="0">
                <a:solidFill>
                  <a:srgbClr val="FF0000"/>
                </a:solidFill>
                <a:latin typeface="Calibri"/>
                <a:cs typeface="Calibri"/>
              </a:rPr>
              <a:t>those</a:t>
            </a:r>
            <a:r>
              <a:rPr sz="2400" b="1" i="1" spc="-10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sz="2400" b="1" i="1" spc="-8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spc="-9" dirty="0">
                <a:solidFill>
                  <a:srgbClr val="FF0000"/>
                </a:solidFill>
                <a:latin typeface="Calibri"/>
                <a:cs typeface="Calibri"/>
              </a:rPr>
              <a:t>occur</a:t>
            </a:r>
            <a:r>
              <a:rPr sz="2400" b="1" i="1" spc="-8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spc="-9" dirty="0">
                <a:solidFill>
                  <a:srgbClr val="FF0000"/>
                </a:solidFill>
                <a:latin typeface="Calibri"/>
                <a:cs typeface="Calibri"/>
              </a:rPr>
              <a:t>within</a:t>
            </a:r>
            <a:r>
              <a:rPr sz="2400" b="1" i="1" spc="-10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EX</a:t>
            </a:r>
            <a:r>
              <a:rPr sz="2400" b="1" i="1" spc="-9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2400" b="1" i="1" spc="-8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MEM</a:t>
            </a:r>
            <a:r>
              <a:rPr sz="2400" b="1" i="1" spc="-10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spc="-9" dirty="0">
                <a:solidFill>
                  <a:srgbClr val="FF0000"/>
                </a:solidFill>
                <a:latin typeface="Calibri"/>
                <a:cs typeface="Calibri"/>
              </a:rPr>
              <a:t>stages</a:t>
            </a:r>
            <a:r>
              <a:rPr sz="2400" b="1" i="1" spc="-9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400" b="1" i="1" spc="-10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spc="-18" dirty="0">
                <a:solidFill>
                  <a:srgbClr val="FF0000"/>
                </a:solidFill>
                <a:latin typeface="Calibri"/>
                <a:cs typeface="Calibri"/>
              </a:rPr>
              <a:t>also </a:t>
            </a:r>
            <a:r>
              <a:rPr sz="2400" b="1" i="1" spc="-9" dirty="0">
                <a:solidFill>
                  <a:srgbClr val="FF0000"/>
                </a:solidFill>
                <a:latin typeface="Calibri"/>
                <a:cs typeface="Calibri"/>
              </a:rPr>
              <a:t>must</a:t>
            </a:r>
            <a:r>
              <a:rPr sz="2400" b="1" i="1" spc="-6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be</a:t>
            </a:r>
            <a:r>
              <a:rPr sz="2400" b="1" i="1" spc="-7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spc="-22" dirty="0">
                <a:solidFill>
                  <a:srgbClr val="FF0000"/>
                </a:solidFill>
                <a:latin typeface="Calibri"/>
                <a:cs typeface="Calibri"/>
              </a:rPr>
              <a:t>handled</a:t>
            </a:r>
            <a:r>
              <a:rPr sz="2400" b="1" i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400" b="1" i="1" spc="-7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b="1" i="1" spc="-6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spc="-18" dirty="0" err="1">
                <a:solidFill>
                  <a:srgbClr val="FF0000"/>
                </a:solidFill>
                <a:latin typeface="Calibri"/>
                <a:cs typeface="Calibri"/>
              </a:rPr>
              <a:t>restartable</a:t>
            </a:r>
            <a:r>
              <a:rPr sz="2400" b="1" i="1" spc="-6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spc="-22" dirty="0">
                <a:solidFill>
                  <a:srgbClr val="FF0000"/>
                </a:solidFill>
                <a:latin typeface="Calibri"/>
                <a:cs typeface="Calibri"/>
              </a:rPr>
              <a:t>way</a:t>
            </a:r>
            <a:endParaRPr sz="2294" dirty="0">
              <a:latin typeface="Calibri"/>
              <a:cs typeface="Calibri"/>
            </a:endParaRPr>
          </a:p>
          <a:p>
            <a:pPr marL="279602" indent="-268395">
              <a:buChar char="•"/>
              <a:tabLst>
                <a:tab pos="279602" algn="l"/>
              </a:tabLst>
            </a:pPr>
            <a:r>
              <a:rPr sz="2400" u="sng" dirty="0">
                <a:latin typeface="Calibri"/>
                <a:cs typeface="Calibri"/>
              </a:rPr>
              <a:t>Steps</a:t>
            </a:r>
            <a:r>
              <a:rPr sz="2400" u="sng" spc="-97" dirty="0">
                <a:latin typeface="Calibri"/>
                <a:cs typeface="Calibri"/>
              </a:rPr>
              <a:t> </a:t>
            </a:r>
            <a:r>
              <a:rPr sz="2400" u="sng" dirty="0">
                <a:latin typeface="Calibri"/>
                <a:cs typeface="Calibri"/>
              </a:rPr>
              <a:t>to</a:t>
            </a:r>
            <a:r>
              <a:rPr sz="2400" u="sng" spc="-97" dirty="0">
                <a:latin typeface="Calibri"/>
                <a:cs typeface="Calibri"/>
              </a:rPr>
              <a:t> </a:t>
            </a:r>
            <a:r>
              <a:rPr sz="2400" u="sng" dirty="0">
                <a:latin typeface="Calibri"/>
                <a:cs typeface="Calibri"/>
              </a:rPr>
              <a:t>save</a:t>
            </a:r>
            <a:r>
              <a:rPr sz="2400" u="sng" spc="-93" dirty="0">
                <a:latin typeface="Calibri"/>
                <a:cs typeface="Calibri"/>
              </a:rPr>
              <a:t> </a:t>
            </a:r>
            <a:r>
              <a:rPr sz="2400" u="sng" dirty="0">
                <a:latin typeface="Calibri"/>
                <a:cs typeface="Calibri"/>
              </a:rPr>
              <a:t>the</a:t>
            </a:r>
            <a:r>
              <a:rPr sz="2400" u="sng" spc="-88" dirty="0">
                <a:latin typeface="Calibri"/>
                <a:cs typeface="Calibri"/>
              </a:rPr>
              <a:t> </a:t>
            </a:r>
            <a:r>
              <a:rPr sz="2400" u="sng" spc="-9" dirty="0">
                <a:latin typeface="Calibri"/>
                <a:cs typeface="Calibri"/>
              </a:rPr>
              <a:t>pipeline</a:t>
            </a:r>
            <a:r>
              <a:rPr sz="2400" u="sng" spc="-93" dirty="0">
                <a:latin typeface="Calibri"/>
                <a:cs typeface="Calibri"/>
              </a:rPr>
              <a:t> </a:t>
            </a:r>
            <a:r>
              <a:rPr sz="2400" u="sng" dirty="0">
                <a:latin typeface="Calibri"/>
                <a:cs typeface="Calibri"/>
              </a:rPr>
              <a:t>state</a:t>
            </a:r>
            <a:r>
              <a:rPr sz="2400" u="sng" spc="-88" dirty="0">
                <a:latin typeface="Calibri"/>
                <a:cs typeface="Calibri"/>
              </a:rPr>
              <a:t> </a:t>
            </a:r>
            <a:r>
              <a:rPr sz="2400" u="sng" spc="-9" dirty="0">
                <a:latin typeface="Calibri"/>
                <a:cs typeface="Calibri"/>
              </a:rPr>
              <a:t>safely:</a:t>
            </a:r>
            <a:endParaRPr sz="2400" u="sng" dirty="0">
              <a:latin typeface="Calibri"/>
              <a:cs typeface="Calibri"/>
            </a:endParaRPr>
          </a:p>
          <a:p>
            <a:pPr marL="747713" lvl="1" indent="-307975">
              <a:spcBef>
                <a:spcPts val="427"/>
              </a:spcBef>
              <a:buFont typeface="+mj-lt"/>
              <a:buAutoNum type="arabicPeriod"/>
              <a:tabLst>
                <a:tab pos="654458" algn="l"/>
              </a:tabLst>
            </a:pPr>
            <a:r>
              <a:rPr sz="2200" dirty="0">
                <a:latin typeface="Calibri"/>
                <a:cs typeface="Calibri"/>
              </a:rPr>
              <a:t>Force the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next IF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get a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"</a:t>
            </a:r>
            <a:r>
              <a:rPr sz="2200" b="1" dirty="0">
                <a:latin typeface="Calibri"/>
                <a:cs typeface="Calibri"/>
              </a:rPr>
              <a:t>trap</a:t>
            </a:r>
            <a:r>
              <a:rPr sz="2200" b="1" spc="13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instruction</a:t>
            </a:r>
            <a:r>
              <a:rPr sz="2200" spc="-9" dirty="0">
                <a:latin typeface="Calibri"/>
                <a:cs typeface="Calibri"/>
              </a:rPr>
              <a:t>"</a:t>
            </a:r>
            <a:endParaRPr sz="2200" dirty="0">
              <a:latin typeface="Calibri"/>
              <a:cs typeface="Calibri"/>
            </a:endParaRPr>
          </a:p>
          <a:p>
            <a:pPr marL="747713" marR="14008" lvl="1" indent="-307975">
              <a:spcBef>
                <a:spcPts val="666"/>
              </a:spcBef>
              <a:buFont typeface="+mj-lt"/>
              <a:buAutoNum type="arabicPeriod"/>
              <a:tabLst>
                <a:tab pos="656139" algn="l"/>
              </a:tabLst>
            </a:pPr>
            <a:r>
              <a:rPr lang="en-US" sz="2200" dirty="0">
                <a:latin typeface="Calibri"/>
                <a:cs typeface="Calibri"/>
              </a:rPr>
              <a:t>U</a:t>
            </a:r>
            <a:r>
              <a:rPr sz="2200" dirty="0">
                <a:latin typeface="Calibri"/>
                <a:cs typeface="Calibri"/>
              </a:rPr>
              <a:t>ntil the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trap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taken,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turn</a:t>
            </a:r>
            <a:r>
              <a:rPr sz="2200" b="1" spc="18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off</a:t>
            </a:r>
            <a:r>
              <a:rPr sz="2200" b="1" spc="9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all</a:t>
            </a:r>
            <a:r>
              <a:rPr sz="2200" b="1" spc="4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"writes"</a:t>
            </a:r>
            <a:r>
              <a:rPr sz="2200" b="1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faulting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instruction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and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instructions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follow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it</a:t>
            </a:r>
            <a:r>
              <a:rPr lang="en-US" sz="2200" spc="-22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747713" lvl="1" indent="-306388">
              <a:spcBef>
                <a:spcPts val="344"/>
              </a:spcBef>
              <a:buChar char="–"/>
              <a:tabLst>
                <a:tab pos="654458" algn="l"/>
              </a:tabLst>
            </a:pPr>
            <a:r>
              <a:rPr lang="en-US" sz="2200" dirty="0">
                <a:latin typeface="Calibri"/>
                <a:cs typeface="Calibri"/>
              </a:rPr>
              <a:t>W</a:t>
            </a:r>
            <a:r>
              <a:rPr sz="2200" dirty="0">
                <a:latin typeface="Calibri"/>
                <a:cs typeface="Calibri"/>
              </a:rPr>
              <a:t>hat does the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trap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do?</a:t>
            </a:r>
            <a:endParaRPr sz="2200" dirty="0">
              <a:latin typeface="Calibri"/>
              <a:cs typeface="Calibri"/>
            </a:endParaRPr>
          </a:p>
          <a:p>
            <a:pPr marL="1087029" marR="42585" indent="-215164">
              <a:spcBef>
                <a:spcPts val="604"/>
              </a:spcBef>
            </a:pPr>
            <a:r>
              <a:rPr sz="2200" dirty="0">
                <a:latin typeface="Calibri"/>
                <a:cs typeface="Calibri"/>
              </a:rPr>
              <a:t>»</a:t>
            </a:r>
            <a:r>
              <a:rPr sz="2200" spc="42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trap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transfers control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exception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handling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routine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operating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system,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saves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PC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faulting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instruction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and </a:t>
            </a:r>
            <a:r>
              <a:rPr sz="2200" dirty="0">
                <a:latin typeface="Calibri"/>
                <a:cs typeface="Calibri"/>
              </a:rPr>
              <a:t>handles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fault</a:t>
            </a:r>
            <a:endParaRPr sz="2200" dirty="0">
              <a:latin typeface="Calibri"/>
              <a:cs typeface="Calibri"/>
            </a:endParaRPr>
          </a:p>
          <a:p>
            <a:pPr marL="747713" marR="306497" lvl="1" indent="-307975">
              <a:spcBef>
                <a:spcPts val="582"/>
              </a:spcBef>
              <a:buFont typeface="+mj-lt"/>
              <a:buAutoNum type="arabicPeriod" startAt="3"/>
              <a:tabLst>
                <a:tab pos="747713" algn="l"/>
              </a:tabLst>
            </a:pPr>
            <a:r>
              <a:rPr lang="en-US" sz="2200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he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task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then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resumed,</a:t>
            </a:r>
            <a:r>
              <a:rPr sz="2200" spc="4" dirty="0">
                <a:latin typeface="Calibri"/>
                <a:cs typeface="Calibri"/>
              </a:rPr>
              <a:t> </a:t>
            </a:r>
            <a:br>
              <a:rPr lang="en-US" sz="2200" spc="4" dirty="0">
                <a:latin typeface="Calibri"/>
                <a:cs typeface="Calibri"/>
              </a:rPr>
            </a:br>
            <a:r>
              <a:rPr sz="2200" dirty="0">
                <a:latin typeface="Calibri"/>
                <a:cs typeface="Calibri"/>
              </a:rPr>
              <a:t>using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saved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PC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MIPS</a:t>
            </a:r>
            <a:r>
              <a:rPr sz="2200" b="1" spc="9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instruction</a:t>
            </a:r>
            <a:r>
              <a:rPr lang="en-US" sz="2200" b="1" spc="-9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RFE</a:t>
            </a:r>
          </a:p>
          <a:p>
            <a:pPr marL="280162" marR="299213" indent="-268956">
              <a:lnSpc>
                <a:spcPts val="2480"/>
              </a:lnSpc>
              <a:spcBef>
                <a:spcPts val="737"/>
              </a:spcBef>
              <a:buChar char="•"/>
              <a:tabLst>
                <a:tab pos="280162" algn="l"/>
              </a:tabLst>
            </a:pPr>
            <a:r>
              <a:rPr sz="2400" spc="-9" dirty="0">
                <a:latin typeface="Calibri"/>
                <a:cs typeface="Calibri"/>
              </a:rPr>
              <a:t>Note: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save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several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PCs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delayed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branches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lang="en-US"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involved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7169" y="588653"/>
            <a:ext cx="6850846" cy="589755"/>
          </a:xfrm>
          <a:prstGeom prst="rect">
            <a:avLst/>
          </a:prstGeom>
        </p:spPr>
        <p:txBody>
          <a:bodyPr vert="horz" wrap="square" lIns="0" tIns="126851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b="1" dirty="0">
                <a:latin typeface="Calibri"/>
                <a:cs typeface="Calibri"/>
              </a:rPr>
              <a:t>Precise</a:t>
            </a:r>
            <a:r>
              <a:rPr b="1" spc="-62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Exception</a:t>
            </a:r>
            <a:r>
              <a:rPr b="1" spc="-66" dirty="0">
                <a:latin typeface="Calibri"/>
                <a:cs typeface="Calibri"/>
              </a:rPr>
              <a:t> </a:t>
            </a:r>
            <a:r>
              <a:rPr b="1" spc="-9" dirty="0">
                <a:latin typeface="Calibri"/>
                <a:cs typeface="Calibri"/>
              </a:rPr>
              <a:t>Handling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85B1A9-264D-B909-745F-6E1CF34A62D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10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797168" y="1300331"/>
            <a:ext cx="7491047" cy="3589087"/>
          </a:xfrm>
          <a:prstGeom prst="rect">
            <a:avLst/>
          </a:prstGeom>
        </p:spPr>
        <p:txBody>
          <a:bodyPr vert="horz" wrap="square" lIns="0" tIns="52668" rIns="0" bIns="0" rtlCol="0">
            <a:spAutoFit/>
          </a:bodyPr>
          <a:lstStyle/>
          <a:p>
            <a:pPr marL="313781" marR="582737" indent="-268956">
              <a:spcBef>
                <a:spcPts val="415"/>
              </a:spcBef>
              <a:buChar char="•"/>
              <a:tabLst>
                <a:tab pos="313781" algn="l"/>
              </a:tabLst>
            </a:pPr>
            <a:r>
              <a:rPr sz="2400" dirty="0">
                <a:latin typeface="Calibri"/>
                <a:cs typeface="Calibri"/>
              </a:rPr>
              <a:t>Must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seem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exception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interrupt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appeared between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instructions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</a:t>
            </a:r>
            <a:r>
              <a:rPr sz="2400" baseline="-16339" dirty="0">
                <a:latin typeface="Calibri"/>
                <a:cs typeface="Calibri"/>
              </a:rPr>
              <a:t>i</a:t>
            </a:r>
            <a:r>
              <a:rPr sz="2400" spc="199" baseline="-1633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baseline="-16339" dirty="0">
                <a:latin typeface="Calibri"/>
                <a:cs typeface="Calibri"/>
              </a:rPr>
              <a:t>i+1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although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several </a:t>
            </a:r>
            <a:r>
              <a:rPr sz="2400" spc="-18" dirty="0">
                <a:latin typeface="Calibri"/>
                <a:cs typeface="Calibri"/>
              </a:rPr>
              <a:t>instructions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were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executing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time</a:t>
            </a:r>
            <a:endParaRPr sz="2400" dirty="0">
              <a:latin typeface="Calibri"/>
              <a:cs typeface="Calibri"/>
            </a:endParaRPr>
          </a:p>
          <a:p>
            <a:pPr marL="688078" lvl="1" indent="-213483">
              <a:spcBef>
                <a:spcPts val="512"/>
              </a:spcBef>
              <a:buChar char="–"/>
              <a:tabLst>
                <a:tab pos="688078" algn="l"/>
              </a:tabLst>
            </a:pPr>
            <a:r>
              <a:rPr sz="2200" dirty="0">
                <a:latin typeface="Calibri"/>
                <a:cs typeface="Calibri"/>
              </a:rPr>
              <a:t>All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instructions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before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</a:t>
            </a:r>
            <a:r>
              <a:rPr sz="2200" spc="-13" baseline="-17094" dirty="0">
                <a:latin typeface="Calibri"/>
                <a:cs typeface="Calibri"/>
              </a:rPr>
              <a:t>i-</a:t>
            </a:r>
            <a:r>
              <a:rPr sz="2200" baseline="-17094" dirty="0">
                <a:latin typeface="Calibri"/>
                <a:cs typeface="Calibri"/>
              </a:rPr>
              <a:t>1</a:t>
            </a:r>
            <a:r>
              <a:rPr sz="2200" spc="178" baseline="-1709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(inclusive)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totally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completed</a:t>
            </a:r>
            <a:endParaRPr sz="2200" dirty="0">
              <a:latin typeface="Calibri"/>
              <a:cs typeface="Calibri"/>
            </a:endParaRPr>
          </a:p>
          <a:p>
            <a:pPr marL="688078" lvl="1" indent="-213483">
              <a:spcBef>
                <a:spcPts val="468"/>
              </a:spcBef>
              <a:buChar char="–"/>
              <a:tabLst>
                <a:tab pos="688078" algn="l"/>
              </a:tabLst>
            </a:pPr>
            <a:r>
              <a:rPr sz="2200" dirty="0">
                <a:latin typeface="Calibri"/>
                <a:cs typeface="Calibri"/>
              </a:rPr>
              <a:t>No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effect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any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instruction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after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</a:t>
            </a:r>
            <a:r>
              <a:rPr sz="2200" baseline="-17094" dirty="0">
                <a:latin typeface="Calibri"/>
                <a:cs typeface="Calibri"/>
              </a:rPr>
              <a:t>i</a:t>
            </a:r>
            <a:r>
              <a:rPr sz="2200" spc="184" baseline="-1709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allowed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saved</a:t>
            </a:r>
            <a:endParaRPr sz="2200" dirty="0">
              <a:latin typeface="Calibri"/>
              <a:cs typeface="Calibri"/>
            </a:endParaRPr>
          </a:p>
          <a:p>
            <a:pPr lvl="1">
              <a:spcBef>
                <a:spcPts val="2003"/>
              </a:spcBef>
              <a:buFont typeface="Calibri"/>
              <a:buChar char="–"/>
            </a:pPr>
            <a:endParaRPr sz="1677" dirty="0">
              <a:latin typeface="Calibri"/>
              <a:cs typeface="Calibri"/>
            </a:endParaRPr>
          </a:p>
          <a:p>
            <a:pPr marL="313781" marR="38102" indent="-268956">
              <a:buChar char="•"/>
              <a:tabLst>
                <a:tab pos="313781" algn="l"/>
              </a:tabLst>
            </a:pP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precise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interrupt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handling,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interrupt </a:t>
            </a:r>
            <a:r>
              <a:rPr sz="2400" spc="-18" dirty="0">
                <a:latin typeface="Calibri"/>
                <a:cs typeface="Calibri"/>
              </a:rPr>
              <a:t>(exception)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handler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either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aborts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program</a:t>
            </a:r>
            <a:r>
              <a:rPr sz="2400" spc="-10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restarts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instruction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I</a:t>
            </a:r>
            <a:r>
              <a:rPr sz="2400" spc="-26" baseline="-16339" dirty="0">
                <a:latin typeface="Calibri"/>
                <a:cs typeface="Calibri"/>
              </a:rPr>
              <a:t>i+1</a:t>
            </a:r>
            <a:endParaRPr sz="2400" baseline="-16339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4102" y="588654"/>
            <a:ext cx="6873913" cy="589755"/>
          </a:xfrm>
          <a:prstGeom prst="rect">
            <a:avLst/>
          </a:prstGeom>
        </p:spPr>
        <p:txBody>
          <a:bodyPr vert="horz" wrap="square" lIns="0" tIns="126851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dirty="0"/>
              <a:t>When</a:t>
            </a:r>
            <a:r>
              <a:rPr spc="-4" dirty="0"/>
              <a:t> </a:t>
            </a:r>
            <a:r>
              <a:rPr dirty="0"/>
              <a:t>do</a:t>
            </a:r>
            <a:r>
              <a:rPr spc="-9" dirty="0"/>
              <a:t> </a:t>
            </a:r>
            <a:r>
              <a:rPr dirty="0"/>
              <a:t>MIPS</a:t>
            </a:r>
            <a:r>
              <a:rPr spc="-4" dirty="0"/>
              <a:t> </a:t>
            </a:r>
            <a:r>
              <a:rPr dirty="0"/>
              <a:t>exceptions</a:t>
            </a:r>
            <a:r>
              <a:rPr spc="-9" dirty="0"/>
              <a:t> occur?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BFE9DD77-6CA9-01F3-BF3A-73C9069DDE7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11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774102" y="1717190"/>
            <a:ext cx="1702174" cy="3643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94" b="1" spc="-18" dirty="0">
                <a:solidFill>
                  <a:srgbClr val="000080"/>
                </a:solidFill>
                <a:latin typeface="Calibri"/>
                <a:cs typeface="Calibri"/>
              </a:rPr>
              <a:t>Pipeline</a:t>
            </a:r>
            <a:r>
              <a:rPr sz="2294" b="1" spc="-79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294" b="1" spc="-9" dirty="0">
                <a:solidFill>
                  <a:srgbClr val="000080"/>
                </a:solidFill>
                <a:latin typeface="Calibri"/>
                <a:cs typeface="Calibri"/>
              </a:rPr>
              <a:t>Stage</a:t>
            </a:r>
            <a:endParaRPr sz="2294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55938" y="1717190"/>
            <a:ext cx="1299882" cy="3643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94" b="1" spc="-22" dirty="0">
                <a:solidFill>
                  <a:srgbClr val="000080"/>
                </a:solidFill>
                <a:latin typeface="Calibri"/>
                <a:cs typeface="Calibri"/>
              </a:rPr>
              <a:t>Exceptions</a:t>
            </a:r>
            <a:endParaRPr sz="2294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4102" y="2230867"/>
            <a:ext cx="226359" cy="3643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94" spc="-22" dirty="0">
                <a:solidFill>
                  <a:srgbClr val="000080"/>
                </a:solidFill>
                <a:latin typeface="Calibri"/>
                <a:cs typeface="Calibri"/>
              </a:rPr>
              <a:t>IF</a:t>
            </a:r>
            <a:endParaRPr sz="2294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55938" y="2230867"/>
            <a:ext cx="4496360" cy="71740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spcBef>
                <a:spcPts val="88"/>
              </a:spcBef>
            </a:pPr>
            <a:r>
              <a:rPr sz="2294" spc="-18" dirty="0">
                <a:solidFill>
                  <a:srgbClr val="000080"/>
                </a:solidFill>
                <a:latin typeface="Calibri"/>
                <a:cs typeface="Calibri"/>
              </a:rPr>
              <a:t>Page</a:t>
            </a:r>
            <a:r>
              <a:rPr sz="2294" spc="-84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294" spc="-18" dirty="0">
                <a:solidFill>
                  <a:srgbClr val="000080"/>
                </a:solidFill>
                <a:latin typeface="Calibri"/>
                <a:cs typeface="Calibri"/>
              </a:rPr>
              <a:t>fault,</a:t>
            </a:r>
            <a:r>
              <a:rPr sz="2294" spc="-79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294" spc="-18" dirty="0">
                <a:solidFill>
                  <a:srgbClr val="000080"/>
                </a:solidFill>
                <a:latin typeface="Calibri"/>
                <a:cs typeface="Calibri"/>
              </a:rPr>
              <a:t>misaligned</a:t>
            </a:r>
            <a:r>
              <a:rPr sz="2294" spc="-88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294" spc="-9" dirty="0">
                <a:solidFill>
                  <a:srgbClr val="000080"/>
                </a:solidFill>
                <a:latin typeface="Calibri"/>
                <a:cs typeface="Calibri"/>
              </a:rPr>
              <a:t>memory</a:t>
            </a:r>
            <a:r>
              <a:rPr sz="2294" spc="-84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294" spc="-9" dirty="0">
                <a:solidFill>
                  <a:srgbClr val="000080"/>
                </a:solidFill>
                <a:latin typeface="Calibri"/>
                <a:cs typeface="Calibri"/>
              </a:rPr>
              <a:t>access, </a:t>
            </a:r>
            <a:r>
              <a:rPr sz="2294" spc="-40" dirty="0">
                <a:solidFill>
                  <a:srgbClr val="000080"/>
                </a:solidFill>
                <a:latin typeface="Calibri"/>
                <a:cs typeface="Calibri"/>
              </a:rPr>
              <a:t>memory-</a:t>
            </a:r>
            <a:r>
              <a:rPr sz="2294" spc="-26" dirty="0">
                <a:solidFill>
                  <a:srgbClr val="000080"/>
                </a:solidFill>
                <a:latin typeface="Calibri"/>
                <a:cs typeface="Calibri"/>
              </a:rPr>
              <a:t>protection</a:t>
            </a:r>
            <a:r>
              <a:rPr sz="2294" spc="-13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294" spc="-9" dirty="0">
                <a:solidFill>
                  <a:srgbClr val="000080"/>
                </a:solidFill>
                <a:latin typeface="Calibri"/>
                <a:cs typeface="Calibri"/>
              </a:rPr>
              <a:t>violation</a:t>
            </a:r>
            <a:endParaRPr sz="2294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4103" y="3094168"/>
            <a:ext cx="271743" cy="3643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94" spc="-22" dirty="0">
                <a:solidFill>
                  <a:srgbClr val="000080"/>
                </a:solidFill>
                <a:latin typeface="Calibri"/>
                <a:cs typeface="Calibri"/>
              </a:rPr>
              <a:t>ID</a:t>
            </a:r>
            <a:endParaRPr sz="2294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55938" y="3094168"/>
            <a:ext cx="3231776" cy="3643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94" spc="-9" dirty="0">
                <a:solidFill>
                  <a:srgbClr val="000080"/>
                </a:solidFill>
                <a:latin typeface="Calibri"/>
                <a:cs typeface="Calibri"/>
              </a:rPr>
              <a:t>Undefined</a:t>
            </a:r>
            <a:r>
              <a:rPr sz="2294" spc="-88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294" dirty="0">
                <a:solidFill>
                  <a:srgbClr val="000080"/>
                </a:solidFill>
                <a:latin typeface="Calibri"/>
                <a:cs typeface="Calibri"/>
              </a:rPr>
              <a:t>or</a:t>
            </a:r>
            <a:r>
              <a:rPr sz="2294" spc="-79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294" spc="-18" dirty="0">
                <a:solidFill>
                  <a:srgbClr val="000080"/>
                </a:solidFill>
                <a:latin typeface="Calibri"/>
                <a:cs typeface="Calibri"/>
              </a:rPr>
              <a:t>illegal</a:t>
            </a:r>
            <a:r>
              <a:rPr sz="2294" spc="-7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294" spc="-9" dirty="0">
                <a:solidFill>
                  <a:srgbClr val="000080"/>
                </a:solidFill>
                <a:latin typeface="Calibri"/>
                <a:cs typeface="Calibri"/>
              </a:rPr>
              <a:t>opcode</a:t>
            </a:r>
            <a:endParaRPr sz="2294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4102" y="3610536"/>
            <a:ext cx="312644" cy="3643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94" spc="-22" dirty="0">
                <a:solidFill>
                  <a:srgbClr val="000080"/>
                </a:solidFill>
                <a:latin typeface="Calibri"/>
                <a:cs typeface="Calibri"/>
              </a:rPr>
              <a:t>EX</a:t>
            </a:r>
            <a:endParaRPr sz="2294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55937" y="3610536"/>
            <a:ext cx="2452968" cy="3643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94" spc="-22" dirty="0">
                <a:solidFill>
                  <a:srgbClr val="000080"/>
                </a:solidFill>
                <a:latin typeface="Calibri"/>
                <a:cs typeface="Calibri"/>
              </a:rPr>
              <a:t>Arithmetic</a:t>
            </a:r>
            <a:r>
              <a:rPr sz="2294" spc="-49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294" spc="-18" dirty="0">
                <a:solidFill>
                  <a:srgbClr val="000080"/>
                </a:solidFill>
                <a:latin typeface="Calibri"/>
                <a:cs typeface="Calibri"/>
              </a:rPr>
              <a:t>exception</a:t>
            </a:r>
            <a:endParaRPr sz="2294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4103" y="4137660"/>
            <a:ext cx="657225" cy="3643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94" spc="-22" dirty="0">
                <a:solidFill>
                  <a:srgbClr val="000080"/>
                </a:solidFill>
                <a:latin typeface="Calibri"/>
                <a:cs typeface="Calibri"/>
              </a:rPr>
              <a:t>MEM</a:t>
            </a:r>
            <a:endParaRPr sz="2294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55938" y="4137660"/>
            <a:ext cx="4496360" cy="700796"/>
          </a:xfrm>
          <a:prstGeom prst="rect">
            <a:avLst/>
          </a:prstGeom>
        </p:spPr>
        <p:txBody>
          <a:bodyPr vert="horz" wrap="square" lIns="0" tIns="33618" rIns="0" bIns="0" rtlCol="0">
            <a:spAutoFit/>
          </a:bodyPr>
          <a:lstStyle/>
          <a:p>
            <a:pPr marL="11206" marR="4483">
              <a:lnSpc>
                <a:spcPts val="2647"/>
              </a:lnSpc>
              <a:spcBef>
                <a:spcPts val="265"/>
              </a:spcBef>
            </a:pPr>
            <a:r>
              <a:rPr sz="2294" spc="-18" dirty="0">
                <a:solidFill>
                  <a:srgbClr val="000080"/>
                </a:solidFill>
                <a:latin typeface="Calibri"/>
                <a:cs typeface="Calibri"/>
              </a:rPr>
              <a:t>Page</a:t>
            </a:r>
            <a:r>
              <a:rPr sz="2294" spc="-84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294" spc="-18" dirty="0">
                <a:solidFill>
                  <a:srgbClr val="000080"/>
                </a:solidFill>
                <a:latin typeface="Calibri"/>
                <a:cs typeface="Calibri"/>
              </a:rPr>
              <a:t>fault,</a:t>
            </a:r>
            <a:r>
              <a:rPr sz="2294" spc="-79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294" spc="-18" dirty="0">
                <a:solidFill>
                  <a:srgbClr val="000080"/>
                </a:solidFill>
                <a:latin typeface="Calibri"/>
                <a:cs typeface="Calibri"/>
              </a:rPr>
              <a:t>misaligned</a:t>
            </a:r>
            <a:r>
              <a:rPr sz="2294" spc="-88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294" spc="-9" dirty="0">
                <a:solidFill>
                  <a:srgbClr val="000080"/>
                </a:solidFill>
                <a:latin typeface="Calibri"/>
                <a:cs typeface="Calibri"/>
              </a:rPr>
              <a:t>memory</a:t>
            </a:r>
            <a:r>
              <a:rPr sz="2294" spc="-84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294" spc="-9" dirty="0">
                <a:solidFill>
                  <a:srgbClr val="000080"/>
                </a:solidFill>
                <a:latin typeface="Calibri"/>
                <a:cs typeface="Calibri"/>
              </a:rPr>
              <a:t>access, </a:t>
            </a:r>
            <a:r>
              <a:rPr sz="2294" spc="-40" dirty="0">
                <a:solidFill>
                  <a:srgbClr val="000080"/>
                </a:solidFill>
                <a:latin typeface="Calibri"/>
                <a:cs typeface="Calibri"/>
              </a:rPr>
              <a:t>memory-</a:t>
            </a:r>
            <a:r>
              <a:rPr sz="2294" spc="-26" dirty="0">
                <a:solidFill>
                  <a:srgbClr val="000080"/>
                </a:solidFill>
                <a:latin typeface="Calibri"/>
                <a:cs typeface="Calibri"/>
              </a:rPr>
              <a:t>protection</a:t>
            </a:r>
            <a:r>
              <a:rPr sz="2294" spc="-13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2294" spc="-9" dirty="0">
                <a:solidFill>
                  <a:srgbClr val="000080"/>
                </a:solidFill>
                <a:latin typeface="Calibri"/>
                <a:cs typeface="Calibri"/>
              </a:rPr>
              <a:t>violation</a:t>
            </a:r>
            <a:endParaRPr sz="2294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4102" y="4998272"/>
            <a:ext cx="432547" cy="3643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94" spc="-22" dirty="0">
                <a:solidFill>
                  <a:srgbClr val="000080"/>
                </a:solidFill>
                <a:latin typeface="Calibri"/>
                <a:cs typeface="Calibri"/>
              </a:rPr>
              <a:t>WB</a:t>
            </a:r>
            <a:endParaRPr sz="2294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55938" y="4998272"/>
            <a:ext cx="935691" cy="3643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94" spc="-9" dirty="0">
                <a:solidFill>
                  <a:srgbClr val="000080"/>
                </a:solidFill>
                <a:latin typeface="Calibri"/>
                <a:cs typeface="Calibri"/>
              </a:rPr>
              <a:t>None!!!</a:t>
            </a:r>
            <a:endParaRPr sz="2294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1555" y="2138082"/>
            <a:ext cx="7386918" cy="0"/>
          </a:xfrm>
          <a:custGeom>
            <a:avLst/>
            <a:gdLst/>
            <a:ahLst/>
            <a:cxnLst/>
            <a:rect l="l" t="t" r="r" b="b"/>
            <a:pathLst>
              <a:path w="8371840">
                <a:moveTo>
                  <a:pt x="0" y="0"/>
                </a:moveTo>
                <a:lnTo>
                  <a:pt x="8371839" y="1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6" name="object 16"/>
          <p:cNvSpPr/>
          <p:nvPr/>
        </p:nvSpPr>
        <p:spPr>
          <a:xfrm>
            <a:off x="731555" y="2998694"/>
            <a:ext cx="7386918" cy="0"/>
          </a:xfrm>
          <a:custGeom>
            <a:avLst/>
            <a:gdLst/>
            <a:ahLst/>
            <a:cxnLst/>
            <a:rect l="l" t="t" r="r" b="b"/>
            <a:pathLst>
              <a:path w="8371840">
                <a:moveTo>
                  <a:pt x="0" y="0"/>
                </a:moveTo>
                <a:lnTo>
                  <a:pt x="8371839" y="1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object 17"/>
          <p:cNvSpPr/>
          <p:nvPr/>
        </p:nvSpPr>
        <p:spPr>
          <a:xfrm>
            <a:off x="731555" y="4074459"/>
            <a:ext cx="7386918" cy="0"/>
          </a:xfrm>
          <a:custGeom>
            <a:avLst/>
            <a:gdLst/>
            <a:ahLst/>
            <a:cxnLst/>
            <a:rect l="l" t="t" r="r" b="b"/>
            <a:pathLst>
              <a:path w="8371840">
                <a:moveTo>
                  <a:pt x="0" y="0"/>
                </a:moveTo>
                <a:lnTo>
                  <a:pt x="8371839" y="1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8" name="object 18"/>
          <p:cNvSpPr/>
          <p:nvPr/>
        </p:nvSpPr>
        <p:spPr>
          <a:xfrm>
            <a:off x="731555" y="3500717"/>
            <a:ext cx="7386918" cy="0"/>
          </a:xfrm>
          <a:custGeom>
            <a:avLst/>
            <a:gdLst/>
            <a:ahLst/>
            <a:cxnLst/>
            <a:rect l="l" t="t" r="r" b="b"/>
            <a:pathLst>
              <a:path w="8371840">
                <a:moveTo>
                  <a:pt x="0" y="0"/>
                </a:moveTo>
                <a:lnTo>
                  <a:pt x="8371839" y="1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9" name="object 19"/>
          <p:cNvSpPr/>
          <p:nvPr/>
        </p:nvSpPr>
        <p:spPr>
          <a:xfrm>
            <a:off x="731555" y="4935070"/>
            <a:ext cx="7386918" cy="0"/>
          </a:xfrm>
          <a:custGeom>
            <a:avLst/>
            <a:gdLst/>
            <a:ahLst/>
            <a:cxnLst/>
            <a:rect l="l" t="t" r="r" b="b"/>
            <a:pathLst>
              <a:path w="8371840">
                <a:moveTo>
                  <a:pt x="0" y="0"/>
                </a:moveTo>
                <a:lnTo>
                  <a:pt x="8371839" y="1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0" name="object 20"/>
          <p:cNvSpPr/>
          <p:nvPr/>
        </p:nvSpPr>
        <p:spPr>
          <a:xfrm>
            <a:off x="731555" y="5508812"/>
            <a:ext cx="7386918" cy="0"/>
          </a:xfrm>
          <a:custGeom>
            <a:avLst/>
            <a:gdLst/>
            <a:ahLst/>
            <a:cxnLst/>
            <a:rect l="l" t="t" r="r" b="b"/>
            <a:pathLst>
              <a:path w="8371840">
                <a:moveTo>
                  <a:pt x="0" y="0"/>
                </a:moveTo>
                <a:lnTo>
                  <a:pt x="8371839" y="1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8892" y="588654"/>
            <a:ext cx="6839123" cy="589755"/>
          </a:xfrm>
          <a:prstGeom prst="rect">
            <a:avLst/>
          </a:prstGeom>
        </p:spPr>
        <p:txBody>
          <a:bodyPr vert="horz" wrap="square" lIns="0" tIns="126851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dirty="0"/>
              <a:t>Example</a:t>
            </a:r>
            <a:r>
              <a:rPr lang="en-US" dirty="0"/>
              <a:t> 1</a:t>
            </a:r>
            <a:r>
              <a:rPr spc="4" dirty="0"/>
              <a:t> </a:t>
            </a:r>
            <a:r>
              <a:rPr dirty="0"/>
              <a:t>of</a:t>
            </a:r>
            <a:r>
              <a:rPr spc="4" dirty="0"/>
              <a:t> </a:t>
            </a:r>
            <a:r>
              <a:rPr lang="en-US" spc="4" dirty="0"/>
              <a:t>E</a:t>
            </a:r>
            <a:r>
              <a:rPr dirty="0"/>
              <a:t>xception</a:t>
            </a:r>
            <a:r>
              <a:rPr spc="13" dirty="0"/>
              <a:t> </a:t>
            </a:r>
            <a:r>
              <a:rPr lang="en-US" spc="-9" dirty="0"/>
              <a:t>H</a:t>
            </a:r>
            <a:r>
              <a:rPr spc="-9" dirty="0"/>
              <a:t>andling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F411C66-3BE3-C4BF-2B20-A4160E80F57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05732"/>
              </p:ext>
            </p:extLst>
          </p:nvPr>
        </p:nvGraphicFramePr>
        <p:xfrm>
          <a:off x="1044387" y="3038267"/>
          <a:ext cx="6598582" cy="11463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2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54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40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88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318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900" b="1" spc="-25" dirty="0">
                          <a:latin typeface="Arial"/>
                          <a:cs typeface="Arial"/>
                        </a:rPr>
                        <a:t>LD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728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900" b="1" spc="-25" dirty="0">
                          <a:latin typeface="Arial"/>
                          <a:cs typeface="Arial"/>
                        </a:rPr>
                        <a:t>IF</a:t>
                      </a:r>
                      <a:endParaRPr sz="1900" dirty="0">
                        <a:latin typeface="Arial"/>
                        <a:cs typeface="Arial"/>
                      </a:endParaRPr>
                    </a:p>
                  </a:txBody>
                  <a:tcPr marL="0" marR="0" marT="72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900" b="1" spc="-25" dirty="0">
                          <a:latin typeface="Arial"/>
                          <a:cs typeface="Arial"/>
                        </a:rPr>
                        <a:t>ID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72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900" b="1" spc="-25" dirty="0">
                          <a:latin typeface="Arial"/>
                          <a:cs typeface="Arial"/>
                        </a:rPr>
                        <a:t>EX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72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9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MEM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72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900" b="1" spc="-25" dirty="0">
                          <a:latin typeface="Arial"/>
                          <a:cs typeface="Arial"/>
                        </a:rPr>
                        <a:t>WB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72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18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900" b="1" spc="-25" dirty="0">
                          <a:latin typeface="Arial"/>
                          <a:cs typeface="Arial"/>
                        </a:rPr>
                        <a:t>ADD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89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900" b="1" spc="-25" dirty="0">
                          <a:latin typeface="Arial"/>
                          <a:cs typeface="Arial"/>
                        </a:rPr>
                        <a:t>IF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900" b="1" spc="-25" dirty="0">
                          <a:latin typeface="Arial"/>
                          <a:cs typeface="Arial"/>
                        </a:rPr>
                        <a:t>ID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9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EX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900" b="1" spc="-25" dirty="0">
                          <a:latin typeface="Arial"/>
                          <a:cs typeface="Arial"/>
                        </a:rPr>
                        <a:t>MEM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900" b="1" spc="-25" dirty="0">
                          <a:latin typeface="Arial"/>
                          <a:cs typeface="Arial"/>
                        </a:rPr>
                        <a:t>WB</a:t>
                      </a:r>
                      <a:endParaRPr sz="1900" dirty="0">
                        <a:latin typeface="Arial"/>
                        <a:cs typeface="Arial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092934" y="4443211"/>
            <a:ext cx="4754096" cy="3643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82666" indent="-171459">
              <a:spcBef>
                <a:spcPts val="88"/>
              </a:spcBef>
              <a:buChar char="•"/>
              <a:tabLst>
                <a:tab pos="182666" algn="l"/>
              </a:tabLst>
            </a:pPr>
            <a:r>
              <a:rPr sz="2294" dirty="0">
                <a:solidFill>
                  <a:srgbClr val="000080"/>
                </a:solidFill>
                <a:latin typeface="Times New Roman"/>
                <a:cs typeface="Times New Roman"/>
              </a:rPr>
              <a:t>Handle</a:t>
            </a:r>
            <a:r>
              <a:rPr sz="2294" spc="-119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294" dirty="0">
                <a:solidFill>
                  <a:srgbClr val="000080"/>
                </a:solidFill>
                <a:latin typeface="Times New Roman"/>
                <a:cs typeface="Times New Roman"/>
              </a:rPr>
              <a:t>the</a:t>
            </a:r>
            <a:r>
              <a:rPr sz="2294" spc="-115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294" dirty="0">
                <a:solidFill>
                  <a:srgbClr val="000080"/>
                </a:solidFill>
                <a:latin typeface="Times New Roman"/>
                <a:cs typeface="Times New Roman"/>
              </a:rPr>
              <a:t>MEM</a:t>
            </a:r>
            <a:r>
              <a:rPr sz="2294" spc="-124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294" dirty="0">
                <a:solidFill>
                  <a:srgbClr val="000080"/>
                </a:solidFill>
                <a:latin typeface="Times New Roman"/>
                <a:cs typeface="Times New Roman"/>
              </a:rPr>
              <a:t>fault</a:t>
            </a:r>
            <a:r>
              <a:rPr sz="2294" spc="-11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294" dirty="0">
                <a:solidFill>
                  <a:srgbClr val="000080"/>
                </a:solidFill>
                <a:latin typeface="Times New Roman"/>
                <a:cs typeface="Times New Roman"/>
              </a:rPr>
              <a:t>first,</a:t>
            </a:r>
            <a:r>
              <a:rPr sz="2294" spc="-11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294" dirty="0">
                <a:solidFill>
                  <a:srgbClr val="000080"/>
                </a:solidFill>
                <a:latin typeface="Times New Roman"/>
                <a:cs typeface="Times New Roman"/>
              </a:rPr>
              <a:t>then</a:t>
            </a:r>
            <a:r>
              <a:rPr sz="2294" spc="-115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294" spc="-9" dirty="0">
                <a:solidFill>
                  <a:srgbClr val="000080"/>
                </a:solidFill>
                <a:latin typeface="Times New Roman"/>
                <a:cs typeface="Times New Roman"/>
              </a:rPr>
              <a:t>restart</a:t>
            </a:r>
            <a:endParaRPr sz="2294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99A6CE-75B7-4526-65F1-8660C13367D0}"/>
              </a:ext>
            </a:extLst>
          </p:cNvPr>
          <p:cNvSpPr txBox="1"/>
          <p:nvPr/>
        </p:nvSpPr>
        <p:spPr>
          <a:xfrm>
            <a:off x="1044387" y="1645431"/>
            <a:ext cx="71454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3038" indent="-173038">
              <a:buFont typeface="Arial" panose="020B0604020202020204" pitchFamily="34" charset="0"/>
              <a:buChar char="•"/>
            </a:pPr>
            <a:r>
              <a:rPr lang="en-US" sz="2400" dirty="0"/>
              <a:t>This pair of instructions can cause a </a:t>
            </a:r>
            <a:r>
              <a:rPr lang="en-US" sz="2400" b="1" dirty="0"/>
              <a:t>data page fault</a:t>
            </a:r>
            <a:r>
              <a:rPr lang="en-US" sz="2400" dirty="0"/>
              <a:t> and an </a:t>
            </a:r>
            <a:r>
              <a:rPr lang="en-US" sz="2400" b="1" dirty="0"/>
              <a:t>arithmetic exception</a:t>
            </a:r>
            <a:r>
              <a:rPr lang="en-US" sz="2400" dirty="0"/>
              <a:t> at the same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BDC26-CE47-E729-760A-98F1832B9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205037D-8B97-969B-0584-88A90310F1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8892" y="588654"/>
            <a:ext cx="6839123" cy="589755"/>
          </a:xfrm>
          <a:prstGeom prst="rect">
            <a:avLst/>
          </a:prstGeom>
        </p:spPr>
        <p:txBody>
          <a:bodyPr vert="horz" wrap="square" lIns="0" tIns="126851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dirty="0"/>
              <a:t>Example</a:t>
            </a:r>
            <a:r>
              <a:rPr lang="en-US" dirty="0"/>
              <a:t> 2</a:t>
            </a:r>
            <a:r>
              <a:rPr spc="4" dirty="0"/>
              <a:t> </a:t>
            </a:r>
            <a:r>
              <a:rPr dirty="0"/>
              <a:t>of</a:t>
            </a:r>
            <a:r>
              <a:rPr spc="4" dirty="0"/>
              <a:t> </a:t>
            </a:r>
            <a:r>
              <a:rPr lang="en-US" spc="4" dirty="0"/>
              <a:t>E</a:t>
            </a:r>
            <a:r>
              <a:rPr dirty="0"/>
              <a:t>xception</a:t>
            </a:r>
            <a:r>
              <a:rPr spc="13" dirty="0"/>
              <a:t> </a:t>
            </a:r>
            <a:r>
              <a:rPr lang="en-US" spc="-9" dirty="0"/>
              <a:t>H</a:t>
            </a:r>
            <a:r>
              <a:rPr spc="-9" dirty="0"/>
              <a:t>andling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1F59F7C-157B-A579-780C-8DAD6A1F436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CE87EFD7-D29C-0922-E3F4-9002F87DC9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456892"/>
              </p:ext>
            </p:extLst>
          </p:nvPr>
        </p:nvGraphicFramePr>
        <p:xfrm>
          <a:off x="1044388" y="3039823"/>
          <a:ext cx="6598582" cy="11463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2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54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40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88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318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900" b="1" spc="-25" dirty="0">
                          <a:latin typeface="Arial"/>
                          <a:cs typeface="Arial"/>
                        </a:rPr>
                        <a:t>LD</a:t>
                      </a:r>
                      <a:endParaRPr sz="1900" dirty="0">
                        <a:latin typeface="Arial"/>
                        <a:cs typeface="Arial"/>
                      </a:endParaRPr>
                    </a:p>
                  </a:txBody>
                  <a:tcPr marL="0" marR="0" marT="728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900" b="1" spc="-25" dirty="0">
                          <a:latin typeface="Arial"/>
                          <a:cs typeface="Arial"/>
                        </a:rPr>
                        <a:t>IF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72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900" b="1" spc="-25" dirty="0">
                          <a:latin typeface="Arial"/>
                          <a:cs typeface="Arial"/>
                        </a:rPr>
                        <a:t>ID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72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900" b="1" spc="-25" dirty="0">
                          <a:latin typeface="Arial"/>
                          <a:cs typeface="Arial"/>
                        </a:rPr>
                        <a:t>EX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72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9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MEM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72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900" b="1" spc="-25" dirty="0">
                          <a:latin typeface="Arial"/>
                          <a:cs typeface="Arial"/>
                        </a:rPr>
                        <a:t>WB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72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18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900" b="1" spc="-25" dirty="0">
                          <a:latin typeface="Arial"/>
                          <a:cs typeface="Arial"/>
                        </a:rPr>
                        <a:t>ADD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9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IF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900" b="1" spc="-25" dirty="0">
                          <a:latin typeface="Arial"/>
                          <a:cs typeface="Arial"/>
                        </a:rPr>
                        <a:t>ID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900" b="1" spc="-25" dirty="0">
                          <a:latin typeface="Arial"/>
                          <a:cs typeface="Arial"/>
                        </a:rPr>
                        <a:t>EX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900" b="1" spc="-25" dirty="0">
                          <a:latin typeface="Arial"/>
                          <a:cs typeface="Arial"/>
                        </a:rPr>
                        <a:t>MEM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900" b="1" spc="-25" dirty="0">
                          <a:latin typeface="Arial"/>
                          <a:cs typeface="Arial"/>
                        </a:rPr>
                        <a:t>WB</a:t>
                      </a:r>
                      <a:endParaRPr sz="1900" dirty="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>
            <a:extLst>
              <a:ext uri="{FF2B5EF4-FFF2-40B4-BE49-F238E27FC236}">
                <a16:creationId xmlns:a16="http://schemas.microsoft.com/office/drawing/2014/main" id="{9C056385-80D8-6A8C-CCFA-F557A8C53782}"/>
              </a:ext>
            </a:extLst>
          </p:cNvPr>
          <p:cNvSpPr txBox="1"/>
          <p:nvPr/>
        </p:nvSpPr>
        <p:spPr>
          <a:xfrm>
            <a:off x="1132691" y="4343740"/>
            <a:ext cx="6317316" cy="1049322"/>
          </a:xfrm>
          <a:prstGeom prst="rect">
            <a:avLst/>
          </a:prstGeom>
        </p:spPr>
        <p:txBody>
          <a:bodyPr vert="horz" wrap="square" lIns="0" tIns="174812" rIns="0" bIns="0" rtlCol="0">
            <a:spAutoFit/>
          </a:bodyPr>
          <a:lstStyle/>
          <a:p>
            <a:pPr marL="182666" indent="-171459">
              <a:spcBef>
                <a:spcPts val="1377"/>
              </a:spcBef>
              <a:buChar char="•"/>
              <a:tabLst>
                <a:tab pos="182666" algn="l"/>
              </a:tabLst>
            </a:pPr>
            <a:r>
              <a:rPr sz="2294" dirty="0">
                <a:solidFill>
                  <a:srgbClr val="000080"/>
                </a:solidFill>
                <a:latin typeface="Times New Roman"/>
                <a:cs typeface="Times New Roman"/>
              </a:rPr>
              <a:t>IF</a:t>
            </a:r>
            <a:r>
              <a:rPr sz="2294" spc="-101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294" dirty="0">
                <a:solidFill>
                  <a:srgbClr val="000080"/>
                </a:solidFill>
                <a:latin typeface="Times New Roman"/>
                <a:cs typeface="Times New Roman"/>
              </a:rPr>
              <a:t>fault</a:t>
            </a:r>
            <a:r>
              <a:rPr sz="2294" spc="-88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294" dirty="0">
                <a:solidFill>
                  <a:srgbClr val="000080"/>
                </a:solidFill>
                <a:latin typeface="Times New Roman"/>
                <a:cs typeface="Times New Roman"/>
              </a:rPr>
              <a:t>occurs</a:t>
            </a:r>
            <a:r>
              <a:rPr sz="2294" spc="-93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294" dirty="0">
                <a:solidFill>
                  <a:srgbClr val="000080"/>
                </a:solidFill>
                <a:latin typeface="Times New Roman"/>
                <a:cs typeface="Times New Roman"/>
              </a:rPr>
              <a:t>first,</a:t>
            </a:r>
            <a:r>
              <a:rPr sz="2294" spc="-84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294" dirty="0">
                <a:solidFill>
                  <a:srgbClr val="000080"/>
                </a:solidFill>
                <a:latin typeface="Times New Roman"/>
                <a:cs typeface="Times New Roman"/>
              </a:rPr>
              <a:t>even</a:t>
            </a:r>
            <a:r>
              <a:rPr sz="2294" spc="-97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294" dirty="0">
                <a:solidFill>
                  <a:srgbClr val="000080"/>
                </a:solidFill>
                <a:latin typeface="Times New Roman"/>
                <a:cs typeface="Times New Roman"/>
              </a:rPr>
              <a:t>though</a:t>
            </a:r>
            <a:r>
              <a:rPr sz="2294" spc="-101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294" dirty="0">
                <a:solidFill>
                  <a:srgbClr val="000080"/>
                </a:solidFill>
                <a:latin typeface="Times New Roman"/>
                <a:cs typeface="Times New Roman"/>
              </a:rPr>
              <a:t>LD</a:t>
            </a:r>
            <a:r>
              <a:rPr sz="2294" spc="-97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294" dirty="0">
                <a:solidFill>
                  <a:srgbClr val="000080"/>
                </a:solidFill>
                <a:latin typeface="Times New Roman"/>
                <a:cs typeface="Times New Roman"/>
              </a:rPr>
              <a:t>will</a:t>
            </a:r>
            <a:r>
              <a:rPr sz="2294" spc="-88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294" dirty="0">
                <a:solidFill>
                  <a:srgbClr val="000080"/>
                </a:solidFill>
                <a:latin typeface="Times New Roman"/>
                <a:cs typeface="Times New Roman"/>
              </a:rPr>
              <a:t>fault</a:t>
            </a:r>
            <a:r>
              <a:rPr sz="2294" spc="-93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294" spc="-9" dirty="0">
                <a:solidFill>
                  <a:srgbClr val="000080"/>
                </a:solidFill>
                <a:latin typeface="Times New Roman"/>
                <a:cs typeface="Times New Roman"/>
              </a:rPr>
              <a:t>later</a:t>
            </a:r>
            <a:endParaRPr sz="2294">
              <a:latin typeface="Times New Roman"/>
              <a:cs typeface="Times New Roman"/>
            </a:endParaRPr>
          </a:p>
          <a:p>
            <a:pPr marL="182666" indent="-171459">
              <a:spcBef>
                <a:spcPts val="1293"/>
              </a:spcBef>
              <a:buChar char="•"/>
              <a:tabLst>
                <a:tab pos="182666" algn="l"/>
              </a:tabLst>
            </a:pPr>
            <a:r>
              <a:rPr sz="2294" dirty="0">
                <a:solidFill>
                  <a:srgbClr val="FF0000"/>
                </a:solidFill>
                <a:latin typeface="Times New Roman"/>
                <a:cs typeface="Times New Roman"/>
              </a:rPr>
              <a:t>But</a:t>
            </a:r>
            <a:r>
              <a:rPr sz="2294" spc="-106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94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2294" spc="-9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94" dirty="0">
                <a:solidFill>
                  <a:srgbClr val="FF0000"/>
                </a:solidFill>
                <a:latin typeface="Times New Roman"/>
                <a:cs typeface="Times New Roman"/>
              </a:rPr>
              <a:t>precise</a:t>
            </a:r>
            <a:r>
              <a:rPr sz="2294" spc="-106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94" spc="-9" dirty="0">
                <a:solidFill>
                  <a:srgbClr val="FF0000"/>
                </a:solidFill>
                <a:latin typeface="Times New Roman"/>
                <a:cs typeface="Times New Roman"/>
              </a:rPr>
              <a:t>exceptions,</a:t>
            </a:r>
            <a:r>
              <a:rPr sz="2294" spc="-9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94" dirty="0">
                <a:solidFill>
                  <a:srgbClr val="FF0000"/>
                </a:solidFill>
                <a:latin typeface="Times New Roman"/>
                <a:cs typeface="Times New Roman"/>
              </a:rPr>
              <a:t>must</a:t>
            </a:r>
            <a:r>
              <a:rPr sz="2294" spc="-10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94" dirty="0">
                <a:solidFill>
                  <a:srgbClr val="FF0000"/>
                </a:solidFill>
                <a:latin typeface="Times New Roman"/>
                <a:cs typeface="Times New Roman"/>
              </a:rPr>
              <a:t>handle</a:t>
            </a:r>
            <a:r>
              <a:rPr sz="2294" spc="-106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94" dirty="0">
                <a:solidFill>
                  <a:srgbClr val="FF0000"/>
                </a:solidFill>
                <a:latin typeface="Times New Roman"/>
                <a:cs typeface="Times New Roman"/>
              </a:rPr>
              <a:t>LD</a:t>
            </a:r>
            <a:r>
              <a:rPr sz="2294" spc="-106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94" dirty="0">
                <a:solidFill>
                  <a:srgbClr val="FF0000"/>
                </a:solidFill>
                <a:latin typeface="Times New Roman"/>
                <a:cs typeface="Times New Roman"/>
              </a:rPr>
              <a:t>fault</a:t>
            </a:r>
            <a:r>
              <a:rPr sz="2294" spc="-10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94" spc="-9" dirty="0">
                <a:solidFill>
                  <a:srgbClr val="FF0000"/>
                </a:solidFill>
                <a:latin typeface="Times New Roman"/>
                <a:cs typeface="Times New Roman"/>
              </a:rPr>
              <a:t>first</a:t>
            </a:r>
            <a:endParaRPr sz="2294">
              <a:latin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3A50AB-82C6-8F05-3A04-6C1F3FE87CE0}"/>
              </a:ext>
            </a:extLst>
          </p:cNvPr>
          <p:cNvSpPr txBox="1"/>
          <p:nvPr/>
        </p:nvSpPr>
        <p:spPr>
          <a:xfrm>
            <a:off x="1044387" y="1645431"/>
            <a:ext cx="71454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3038" indent="-173038">
              <a:buFont typeface="Arial" panose="020B0604020202020204" pitchFamily="34" charset="0"/>
              <a:buChar char="•"/>
            </a:pPr>
            <a:r>
              <a:rPr lang="en-US" sz="2400" dirty="0"/>
              <a:t>ADD causes a memory exception in IF 2 cycles before the LD data page fault in MEM</a:t>
            </a:r>
          </a:p>
        </p:txBody>
      </p:sp>
    </p:spTree>
    <p:extLst>
      <p:ext uri="{BB962C8B-B14F-4D97-AF65-F5344CB8AC3E}">
        <p14:creationId xmlns:p14="http://schemas.microsoft.com/office/powerpoint/2010/main" val="1865250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615" y="588653"/>
            <a:ext cx="6827400" cy="589755"/>
          </a:xfrm>
          <a:prstGeom prst="rect">
            <a:avLst/>
          </a:prstGeom>
        </p:spPr>
        <p:txBody>
          <a:bodyPr vert="horz" wrap="square" lIns="0" tIns="126851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dirty="0"/>
              <a:t>How</a:t>
            </a:r>
            <a:r>
              <a:rPr spc="13" dirty="0"/>
              <a:t> </a:t>
            </a:r>
            <a:r>
              <a:rPr dirty="0"/>
              <a:t>is</a:t>
            </a:r>
            <a:r>
              <a:rPr spc="13" dirty="0"/>
              <a:t> </a:t>
            </a:r>
            <a:r>
              <a:rPr dirty="0"/>
              <a:t>this</a:t>
            </a:r>
            <a:r>
              <a:rPr spc="13" dirty="0"/>
              <a:t> </a:t>
            </a:r>
            <a:r>
              <a:rPr spc="-18" dirty="0"/>
              <a:t>done?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90D3E8-33F1-FACF-B091-CC872C77123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14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820615" y="1226113"/>
            <a:ext cx="7514493" cy="4851404"/>
          </a:xfrm>
          <a:prstGeom prst="rect">
            <a:avLst/>
          </a:prstGeom>
        </p:spPr>
        <p:txBody>
          <a:bodyPr vert="horz" wrap="square" lIns="0" tIns="85165" rIns="0" bIns="0" rtlCol="0">
            <a:spAutoFit/>
          </a:bodyPr>
          <a:lstStyle/>
          <a:p>
            <a:pPr marL="279602" indent="-268395">
              <a:spcBef>
                <a:spcPts val="671"/>
              </a:spcBef>
              <a:buFont typeface="Calibri"/>
              <a:buChar char="•"/>
              <a:tabLst>
                <a:tab pos="279602" algn="l"/>
              </a:tabLst>
            </a:pPr>
            <a:r>
              <a:rPr sz="2400" b="1" spc="-18" dirty="0">
                <a:latin typeface="Calibri"/>
                <a:cs typeface="Calibri"/>
              </a:rPr>
              <a:t>Answer:</a:t>
            </a:r>
            <a:r>
              <a:rPr sz="2400" b="1" spc="-84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Don't</a:t>
            </a:r>
            <a:r>
              <a:rPr sz="2400" b="1" spc="-84" dirty="0">
                <a:latin typeface="Calibri"/>
                <a:cs typeface="Calibri"/>
              </a:rPr>
              <a:t> </a:t>
            </a:r>
            <a:r>
              <a:rPr sz="2400" b="1" spc="-18" dirty="0">
                <a:latin typeface="Calibri"/>
                <a:cs typeface="Calibri"/>
              </a:rPr>
              <a:t>handle</a:t>
            </a:r>
            <a:r>
              <a:rPr sz="2400" b="1" spc="-88" dirty="0">
                <a:latin typeface="Calibri"/>
                <a:cs typeface="Calibri"/>
              </a:rPr>
              <a:t> </a:t>
            </a:r>
            <a:r>
              <a:rPr sz="2400" b="1" spc="-22" dirty="0">
                <a:latin typeface="Calibri"/>
                <a:cs typeface="Calibri"/>
              </a:rPr>
              <a:t>exceptions</a:t>
            </a:r>
            <a:r>
              <a:rPr sz="2400" b="1" spc="-8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until</a:t>
            </a:r>
            <a:r>
              <a:rPr sz="2400" b="1" spc="-88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8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WB</a:t>
            </a:r>
            <a:r>
              <a:rPr sz="2400" b="1" spc="-93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stage</a:t>
            </a:r>
            <a:endParaRPr sz="2400" dirty="0">
              <a:latin typeface="Calibri"/>
              <a:cs typeface="Calibri"/>
            </a:endParaRPr>
          </a:p>
          <a:p>
            <a:pPr marL="654458" lvl="1" indent="-213483">
              <a:spcBef>
                <a:spcPts val="427"/>
              </a:spcBef>
              <a:buChar char="–"/>
              <a:tabLst>
                <a:tab pos="654458" algn="l"/>
              </a:tabLst>
            </a:pPr>
            <a:r>
              <a:rPr lang="en-US" sz="2200" dirty="0">
                <a:latin typeface="Calibri"/>
                <a:cs typeface="Calibri"/>
              </a:rPr>
              <a:t>E</a:t>
            </a:r>
            <a:r>
              <a:rPr sz="2200" dirty="0">
                <a:latin typeface="Calibri"/>
                <a:cs typeface="Calibri"/>
              </a:rPr>
              <a:t>ach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instruction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has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associated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status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vector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keeps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track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faults</a:t>
            </a:r>
            <a:endParaRPr sz="2200" dirty="0">
              <a:latin typeface="Calibri"/>
              <a:cs typeface="Calibri"/>
            </a:endParaRPr>
          </a:p>
          <a:p>
            <a:pPr marL="654458" marR="364770" lvl="1" indent="-213483">
              <a:spcBef>
                <a:spcPts val="666"/>
              </a:spcBef>
              <a:buFont typeface="Calibri"/>
              <a:buChar char="–"/>
              <a:tabLst>
                <a:tab pos="656139" algn="l"/>
              </a:tabLst>
            </a:pPr>
            <a:r>
              <a:rPr lang="en-US" sz="2200" b="1" dirty="0">
                <a:latin typeface="Calibri"/>
                <a:cs typeface="Calibri"/>
              </a:rPr>
              <a:t>A</a:t>
            </a:r>
            <a:r>
              <a:rPr sz="2200" b="1" dirty="0">
                <a:latin typeface="Calibri"/>
                <a:cs typeface="Calibri"/>
              </a:rPr>
              <a:t>ny</a:t>
            </a:r>
            <a:r>
              <a:rPr sz="2200" b="1" spc="-4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bit</a:t>
            </a:r>
            <a:r>
              <a:rPr sz="2200" b="1" spc="-4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set in</a:t>
            </a:r>
            <a:r>
              <a:rPr sz="2200" b="1" spc="-4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the</a:t>
            </a:r>
            <a:r>
              <a:rPr sz="2200" b="1" spc="-4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status</a:t>
            </a:r>
            <a:r>
              <a:rPr sz="2200" b="1" spc="-9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vector</a:t>
            </a:r>
            <a:r>
              <a:rPr sz="2200" b="1" spc="-9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turns</a:t>
            </a:r>
            <a:r>
              <a:rPr sz="2200" b="1" spc="-4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off register</a:t>
            </a:r>
            <a:r>
              <a:rPr sz="2200" b="1" spc="-4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writes</a:t>
            </a:r>
            <a:r>
              <a:rPr sz="2200" b="1" spc="-9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and </a:t>
            </a:r>
            <a:r>
              <a:rPr sz="2200" b="1" spc="-9" dirty="0">
                <a:latin typeface="Calibri"/>
                <a:cs typeface="Calibri"/>
              </a:rPr>
              <a:t>memory writes</a:t>
            </a:r>
            <a:endParaRPr sz="2200" dirty="0">
              <a:latin typeface="Calibri"/>
              <a:cs typeface="Calibri"/>
            </a:endParaRPr>
          </a:p>
          <a:p>
            <a:pPr marL="654458" lvl="1" indent="-213483">
              <a:spcBef>
                <a:spcPts val="432"/>
              </a:spcBef>
              <a:buChar char="–"/>
              <a:tabLst>
                <a:tab pos="654458" algn="l"/>
              </a:tabLst>
            </a:pPr>
            <a:r>
              <a:rPr lang="en-US" sz="2200" dirty="0">
                <a:latin typeface="Calibri"/>
                <a:cs typeface="Calibri"/>
              </a:rPr>
              <a:t>I</a:t>
            </a:r>
            <a:r>
              <a:rPr sz="2200" dirty="0">
                <a:latin typeface="Calibri"/>
                <a:cs typeface="Calibri"/>
              </a:rPr>
              <a:t>n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WB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stage</a:t>
            </a:r>
            <a:r>
              <a:rPr lang="en-US" sz="2200" dirty="0">
                <a:latin typeface="Calibri"/>
                <a:cs typeface="Calibri"/>
              </a:rPr>
              <a:t>:</a:t>
            </a:r>
            <a:r>
              <a:rPr sz="2200" spc="13" dirty="0">
                <a:latin typeface="Calibri"/>
                <a:cs typeface="Calibri"/>
              </a:rPr>
              <a:t> </a:t>
            </a:r>
            <a:br>
              <a:rPr lang="en-US" sz="2200" spc="13" dirty="0">
                <a:latin typeface="Calibri"/>
                <a:cs typeface="Calibri"/>
              </a:rPr>
            </a:br>
            <a:r>
              <a:rPr lang="en-US" sz="2200" spc="13" dirty="0">
                <a:latin typeface="Calibri"/>
                <a:cs typeface="Calibri"/>
              </a:rPr>
              <a:t>		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status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vector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checked</a:t>
            </a:r>
            <a:r>
              <a:rPr sz="2200" spc="22" dirty="0">
                <a:latin typeface="Calibri"/>
                <a:cs typeface="Calibri"/>
              </a:rPr>
              <a:t> </a:t>
            </a:r>
            <a:br>
              <a:rPr lang="en-US" sz="2200" spc="22" dirty="0">
                <a:latin typeface="Calibri"/>
                <a:cs typeface="Calibri"/>
              </a:rPr>
            </a:br>
            <a:r>
              <a:rPr lang="en-US" sz="2200" spc="22" dirty="0">
                <a:latin typeface="Calibri"/>
                <a:cs typeface="Calibri"/>
              </a:rPr>
              <a:t>		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any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fault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handled</a:t>
            </a:r>
            <a:endParaRPr sz="2200" dirty="0">
              <a:latin typeface="Calibri"/>
              <a:cs typeface="Calibri"/>
            </a:endParaRPr>
          </a:p>
          <a:p>
            <a:pPr marL="654458" marR="762601" lvl="1" indent="-213483">
              <a:spcBef>
                <a:spcPts val="547"/>
              </a:spcBef>
              <a:buChar char="–"/>
              <a:tabLst>
                <a:tab pos="656139" algn="l"/>
              </a:tabLst>
            </a:pP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So,</a:t>
            </a:r>
            <a:r>
              <a:rPr sz="2200" spc="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since</a:t>
            </a:r>
            <a:r>
              <a:rPr sz="2200" u="sng" spc="22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instructions</a:t>
            </a:r>
            <a:r>
              <a:rPr sz="2200" u="sng" spc="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reach</a:t>
            </a:r>
            <a:r>
              <a:rPr sz="2200" u="sng" spc="22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WB</a:t>
            </a:r>
            <a:r>
              <a:rPr sz="2200" u="sng" spc="18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in</a:t>
            </a:r>
            <a:r>
              <a:rPr sz="2200" u="sng" spc="22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proper</a:t>
            </a:r>
            <a:r>
              <a:rPr sz="2200" u="sng" spc="13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order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,</a:t>
            </a:r>
            <a:r>
              <a:rPr sz="2200" spc="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faults</a:t>
            </a:r>
            <a:r>
              <a:rPr sz="2200" spc="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200" spc="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9" dirty="0">
                <a:solidFill>
                  <a:srgbClr val="FF0000"/>
                </a:solidFill>
                <a:latin typeface="Calibri"/>
                <a:cs typeface="Calibri"/>
              </a:rPr>
              <a:t>earlier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instructions</a:t>
            </a:r>
            <a:r>
              <a:rPr sz="2200" spc="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are</a:t>
            </a:r>
            <a:r>
              <a:rPr sz="2200" spc="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handled</a:t>
            </a:r>
            <a:r>
              <a:rPr sz="2200" spc="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before</a:t>
            </a:r>
            <a:r>
              <a:rPr sz="2200" spc="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faults</a:t>
            </a:r>
            <a:r>
              <a:rPr sz="2200" spc="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200" spc="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later</a:t>
            </a:r>
            <a:r>
              <a:rPr sz="2200" spc="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9" dirty="0">
                <a:solidFill>
                  <a:srgbClr val="FF0000"/>
                </a:solidFill>
                <a:latin typeface="Calibri"/>
                <a:cs typeface="Calibri"/>
              </a:rPr>
              <a:t>instructions</a:t>
            </a:r>
            <a:endParaRPr sz="2200" dirty="0">
              <a:latin typeface="Calibri"/>
              <a:cs typeface="Calibri"/>
            </a:endParaRPr>
          </a:p>
          <a:p>
            <a:pPr marL="1087029" marR="285205" indent="-215164">
              <a:spcBef>
                <a:spcPts val="596"/>
              </a:spcBef>
            </a:pPr>
            <a:r>
              <a:rPr sz="2200" dirty="0">
                <a:latin typeface="Calibri"/>
                <a:cs typeface="Calibri"/>
              </a:rPr>
              <a:t>»</a:t>
            </a:r>
            <a:r>
              <a:rPr sz="2200" spc="31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Unfortunately,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will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need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violate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later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(for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instructions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that </a:t>
            </a:r>
            <a:r>
              <a:rPr sz="2200" dirty="0">
                <a:latin typeface="Calibri"/>
                <a:cs typeface="Calibri"/>
              </a:rPr>
              <a:t>don’t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reach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WB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proper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order)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3636" y="1159436"/>
            <a:ext cx="8234082" cy="4087906"/>
            <a:chOff x="384387" y="1314028"/>
            <a:chExt cx="9331960" cy="46329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4387" y="1354667"/>
              <a:ext cx="9331958" cy="459232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932094" y="1359746"/>
              <a:ext cx="5640705" cy="611505"/>
            </a:xfrm>
            <a:custGeom>
              <a:avLst/>
              <a:gdLst/>
              <a:ahLst/>
              <a:cxnLst/>
              <a:rect l="l" t="t" r="r" b="b"/>
              <a:pathLst>
                <a:path w="5640705" h="611505">
                  <a:moveTo>
                    <a:pt x="5640492" y="0"/>
                  </a:moveTo>
                  <a:lnTo>
                    <a:pt x="0" y="0"/>
                  </a:lnTo>
                  <a:lnTo>
                    <a:pt x="0" y="611293"/>
                  </a:lnTo>
                  <a:lnTo>
                    <a:pt x="5640492" y="611293"/>
                  </a:lnTo>
                  <a:lnTo>
                    <a:pt x="56404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1932094" y="1359747"/>
              <a:ext cx="5640705" cy="611505"/>
            </a:xfrm>
            <a:custGeom>
              <a:avLst/>
              <a:gdLst/>
              <a:ahLst/>
              <a:cxnLst/>
              <a:rect l="l" t="t" r="r" b="b"/>
              <a:pathLst>
                <a:path w="5640705" h="611505">
                  <a:moveTo>
                    <a:pt x="0" y="0"/>
                  </a:moveTo>
                  <a:lnTo>
                    <a:pt x="5640492" y="0"/>
                  </a:lnTo>
                  <a:lnTo>
                    <a:pt x="5640492" y="611293"/>
                  </a:lnTo>
                  <a:lnTo>
                    <a:pt x="0" y="611293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17418" y="584390"/>
            <a:ext cx="6830597" cy="589755"/>
          </a:xfrm>
          <a:prstGeom prst="rect">
            <a:avLst/>
          </a:prstGeom>
        </p:spPr>
        <p:txBody>
          <a:bodyPr vert="horz" wrap="square" lIns="0" tIns="126851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dirty="0"/>
              <a:t>Precise Exceptions in</a:t>
            </a:r>
            <a:r>
              <a:rPr spc="9" dirty="0"/>
              <a:t> </a:t>
            </a:r>
            <a:r>
              <a:rPr dirty="0"/>
              <a:t>Static </a:t>
            </a:r>
            <a:r>
              <a:rPr spc="-9" dirty="0"/>
              <a:t>Pipelines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090D9EB-D24A-6CAC-7893-A93838B0F01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15</a:t>
            </a:fld>
            <a:endParaRPr lang="en-US"/>
          </a:p>
        </p:txBody>
      </p:sp>
      <p:sp>
        <p:nvSpPr>
          <p:cNvPr id="7" name="object 7"/>
          <p:cNvSpPr txBox="1"/>
          <p:nvPr/>
        </p:nvSpPr>
        <p:spPr>
          <a:xfrm>
            <a:off x="702385" y="5196409"/>
            <a:ext cx="7859806" cy="1094568"/>
          </a:xfrm>
          <a:prstGeom prst="rect">
            <a:avLst/>
          </a:prstGeom>
        </p:spPr>
        <p:txBody>
          <a:bodyPr vert="horz" wrap="square" lIns="0" tIns="80682" rIns="0" bIns="0" rtlCol="0">
            <a:spAutoFit/>
          </a:bodyPr>
          <a:lstStyle/>
          <a:p>
            <a:pPr marL="1352622">
              <a:spcBef>
                <a:spcPts val="635"/>
              </a:spcBef>
              <a:tabLst>
                <a:tab pos="2831877" algn="l"/>
                <a:tab pos="4167130" algn="l"/>
              </a:tabLst>
            </a:pPr>
            <a:r>
              <a:rPr sz="1500" b="1" spc="-9" dirty="0">
                <a:solidFill>
                  <a:srgbClr val="114FFB"/>
                </a:solidFill>
                <a:latin typeface="Arial"/>
                <a:cs typeface="Arial"/>
              </a:rPr>
              <a:t>Fetch</a:t>
            </a:r>
            <a:r>
              <a:rPr sz="1500" b="1" dirty="0">
                <a:solidFill>
                  <a:srgbClr val="114FFB"/>
                </a:solidFill>
                <a:latin typeface="Arial"/>
                <a:cs typeface="Arial"/>
              </a:rPr>
              <a:t>	</a:t>
            </a:r>
            <a:r>
              <a:rPr sz="1500" b="1" spc="-9" dirty="0">
                <a:solidFill>
                  <a:srgbClr val="114FFB"/>
                </a:solidFill>
                <a:latin typeface="Arial"/>
                <a:cs typeface="Arial"/>
              </a:rPr>
              <a:t>Decode</a:t>
            </a:r>
            <a:r>
              <a:rPr sz="1500" b="1" dirty="0">
                <a:solidFill>
                  <a:srgbClr val="114FFB"/>
                </a:solidFill>
                <a:latin typeface="Arial"/>
                <a:cs typeface="Arial"/>
              </a:rPr>
              <a:t>	</a:t>
            </a:r>
            <a:r>
              <a:rPr sz="1500" b="1" spc="-9" dirty="0">
                <a:solidFill>
                  <a:srgbClr val="114FFB"/>
                </a:solidFill>
                <a:latin typeface="Arial"/>
                <a:cs typeface="Arial"/>
              </a:rPr>
              <a:t>Execute</a:t>
            </a:r>
            <a:endParaRPr sz="1500">
              <a:latin typeface="Arial"/>
              <a:cs typeface="Arial"/>
            </a:endParaRPr>
          </a:p>
          <a:p>
            <a:pPr marL="11206" marR="4483">
              <a:lnSpc>
                <a:spcPts val="2480"/>
              </a:lnSpc>
              <a:spcBef>
                <a:spcPts val="1147"/>
              </a:spcBef>
            </a:pPr>
            <a:r>
              <a:rPr sz="2294" b="1" spc="-18" dirty="0">
                <a:solidFill>
                  <a:srgbClr val="000090"/>
                </a:solidFill>
                <a:latin typeface="Calibri"/>
                <a:cs typeface="Calibri"/>
              </a:rPr>
              <a:t>Key</a:t>
            </a:r>
            <a:r>
              <a:rPr sz="2294" b="1" spc="-115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b="1" spc="-26" dirty="0">
                <a:solidFill>
                  <a:srgbClr val="000090"/>
                </a:solidFill>
                <a:latin typeface="Calibri"/>
                <a:cs typeface="Calibri"/>
              </a:rPr>
              <a:t>observation:</a:t>
            </a:r>
            <a:r>
              <a:rPr sz="2294" b="1" spc="-66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3375" spc="-39" baseline="1089" dirty="0">
                <a:solidFill>
                  <a:srgbClr val="000090"/>
                </a:solidFill>
                <a:latin typeface="MS PGothic"/>
                <a:cs typeface="MS PGothic"/>
              </a:rPr>
              <a:t>“</a:t>
            </a:r>
            <a:r>
              <a:rPr sz="2294" b="1" spc="-26" dirty="0">
                <a:solidFill>
                  <a:srgbClr val="000090"/>
                </a:solidFill>
                <a:latin typeface="Calibri"/>
                <a:cs typeface="Calibri"/>
              </a:rPr>
              <a:t>Architected</a:t>
            </a:r>
            <a:r>
              <a:rPr sz="3375" spc="-39" baseline="1089" dirty="0">
                <a:solidFill>
                  <a:srgbClr val="000090"/>
                </a:solidFill>
                <a:latin typeface="MS PGothic"/>
                <a:cs typeface="MS PGothic"/>
              </a:rPr>
              <a:t>”</a:t>
            </a:r>
            <a:r>
              <a:rPr sz="3375" spc="-231" baseline="1089" dirty="0">
                <a:solidFill>
                  <a:srgbClr val="000090"/>
                </a:solidFill>
                <a:latin typeface="MS PGothic"/>
                <a:cs typeface="MS PGothic"/>
              </a:rPr>
              <a:t> </a:t>
            </a:r>
            <a:r>
              <a:rPr sz="2294" b="1" spc="-22" dirty="0">
                <a:solidFill>
                  <a:srgbClr val="000090"/>
                </a:solidFill>
                <a:latin typeface="Calibri"/>
                <a:cs typeface="Calibri"/>
              </a:rPr>
              <a:t>states</a:t>
            </a:r>
            <a:r>
              <a:rPr sz="2294" b="1" spc="-62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b="1" spc="-22" dirty="0">
                <a:solidFill>
                  <a:srgbClr val="000090"/>
                </a:solidFill>
                <a:latin typeface="Calibri"/>
                <a:cs typeface="Calibri"/>
              </a:rPr>
              <a:t>change</a:t>
            </a:r>
            <a:r>
              <a:rPr sz="2294" b="1" spc="-66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000090"/>
                </a:solidFill>
                <a:latin typeface="Calibri"/>
                <a:cs typeface="Calibri"/>
              </a:rPr>
              <a:t>only</a:t>
            </a:r>
            <a:r>
              <a:rPr sz="2294" b="1" spc="-71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000090"/>
                </a:solidFill>
                <a:latin typeface="Calibri"/>
                <a:cs typeface="Calibri"/>
              </a:rPr>
              <a:t>in</a:t>
            </a:r>
            <a:r>
              <a:rPr sz="2294" b="1" spc="-75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b="1" spc="-18" dirty="0">
                <a:solidFill>
                  <a:srgbClr val="000090"/>
                </a:solidFill>
                <a:latin typeface="Calibri"/>
                <a:cs typeface="Calibri"/>
              </a:rPr>
              <a:t>memory</a:t>
            </a:r>
            <a:r>
              <a:rPr sz="2294" b="1" spc="-66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b="1" spc="-22" dirty="0">
                <a:solidFill>
                  <a:srgbClr val="000090"/>
                </a:solidFill>
                <a:latin typeface="Calibri"/>
                <a:cs typeface="Calibri"/>
              </a:rPr>
              <a:t>(M) </a:t>
            </a:r>
            <a:r>
              <a:rPr sz="2294" b="1" dirty="0">
                <a:solidFill>
                  <a:srgbClr val="000090"/>
                </a:solidFill>
                <a:latin typeface="Calibri"/>
                <a:cs typeface="Calibri"/>
              </a:rPr>
              <a:t>and</a:t>
            </a:r>
            <a:r>
              <a:rPr sz="2294" b="1" spc="-97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b="1" spc="-26" dirty="0">
                <a:solidFill>
                  <a:srgbClr val="000090"/>
                </a:solidFill>
                <a:latin typeface="Calibri"/>
                <a:cs typeface="Calibri"/>
              </a:rPr>
              <a:t>register</a:t>
            </a:r>
            <a:r>
              <a:rPr sz="2294" b="1" spc="-93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b="1" spc="-18" dirty="0">
                <a:solidFill>
                  <a:srgbClr val="000090"/>
                </a:solidFill>
                <a:latin typeface="Calibri"/>
                <a:cs typeface="Calibri"/>
              </a:rPr>
              <a:t>write</a:t>
            </a:r>
            <a:r>
              <a:rPr sz="2294" b="1" spc="-93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b="1" dirty="0">
                <a:solidFill>
                  <a:srgbClr val="000090"/>
                </a:solidFill>
                <a:latin typeface="Calibri"/>
                <a:cs typeface="Calibri"/>
              </a:rPr>
              <a:t>(W)</a:t>
            </a:r>
            <a:r>
              <a:rPr sz="2294" b="1" spc="-79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94" b="1" spc="-9" dirty="0">
                <a:solidFill>
                  <a:srgbClr val="000090"/>
                </a:solidFill>
                <a:latin typeface="Calibri"/>
                <a:cs typeface="Calibri"/>
              </a:rPr>
              <a:t>stages.</a:t>
            </a:r>
            <a:endParaRPr sz="2294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9055" y="1495313"/>
            <a:ext cx="712134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spc="-9" dirty="0">
                <a:solidFill>
                  <a:srgbClr val="FF0000"/>
                </a:solidFill>
                <a:latin typeface="Arial"/>
                <a:cs typeface="Arial"/>
              </a:rPr>
              <a:t>Stages: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29990" y="1495313"/>
            <a:ext cx="127747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>
              <a:spcBef>
                <a:spcPts val="88"/>
              </a:spcBef>
            </a:pPr>
            <a:r>
              <a:rPr sz="1500" b="1" spc="-44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92877" y="1495313"/>
            <a:ext cx="149038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>
              <a:spcBef>
                <a:spcPts val="88"/>
              </a:spcBef>
            </a:pPr>
            <a:r>
              <a:rPr sz="1500" b="1" spc="-44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69011" y="1495313"/>
            <a:ext cx="13839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>
              <a:spcBef>
                <a:spcPts val="88"/>
              </a:spcBef>
            </a:pPr>
            <a:r>
              <a:rPr sz="1500" b="1" spc="-44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26959" y="1495313"/>
            <a:ext cx="17032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>
              <a:spcBef>
                <a:spcPts val="88"/>
              </a:spcBef>
            </a:pPr>
            <a:r>
              <a:rPr sz="1500" b="1" spc="-44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98586" y="1495313"/>
            <a:ext cx="20226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spc="-44" dirty="0">
                <a:solidFill>
                  <a:srgbClr val="FF0000"/>
                </a:solidFill>
                <a:latin typeface="Arial"/>
                <a:cs typeface="Arial"/>
              </a:rPr>
              <a:t>W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8892" y="588653"/>
            <a:ext cx="6839123" cy="589755"/>
          </a:xfrm>
          <a:prstGeom prst="rect">
            <a:avLst/>
          </a:prstGeom>
        </p:spPr>
        <p:txBody>
          <a:bodyPr vert="horz" wrap="square" lIns="0" tIns="126851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9" dirty="0"/>
              <a:t>Commitment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C2B9B-3AA0-1469-2E49-BE4BE2B0164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16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808893" y="1300331"/>
            <a:ext cx="7573107" cy="2956842"/>
          </a:xfrm>
          <a:prstGeom prst="rect">
            <a:avLst/>
          </a:prstGeom>
        </p:spPr>
        <p:txBody>
          <a:bodyPr vert="horz" wrap="square" lIns="0" tIns="50426" rIns="0" bIns="0" rtlCol="0">
            <a:spAutoFit/>
          </a:bodyPr>
          <a:lstStyle/>
          <a:p>
            <a:pPr marL="280162" marR="708250" indent="-268956">
              <a:spcBef>
                <a:spcPts val="397"/>
              </a:spcBef>
              <a:spcAft>
                <a:spcPts val="600"/>
              </a:spcAft>
              <a:buChar char="•"/>
              <a:tabLst>
                <a:tab pos="280162" algn="l"/>
              </a:tabLst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instruction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guaranteed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complete,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is </a:t>
            </a:r>
            <a:r>
              <a:rPr sz="2400" spc="-9" dirty="0">
                <a:solidFill>
                  <a:srgbClr val="FF0000"/>
                </a:solidFill>
                <a:latin typeface="Calibri"/>
                <a:cs typeface="Calibri"/>
              </a:rPr>
              <a:t>committed</a:t>
            </a:r>
            <a:endParaRPr sz="2400" dirty="0">
              <a:latin typeface="Calibri"/>
              <a:cs typeface="Calibri"/>
            </a:endParaRPr>
          </a:p>
          <a:p>
            <a:pPr marL="280162" marR="584978" indent="-268956">
              <a:spcBef>
                <a:spcPts val="865"/>
              </a:spcBef>
              <a:buChar char="•"/>
              <a:tabLst>
                <a:tab pos="280162" algn="l"/>
              </a:tabLst>
            </a:pPr>
            <a:r>
              <a:rPr sz="2400" dirty="0">
                <a:latin typeface="Calibri"/>
                <a:cs typeface="Calibri"/>
              </a:rPr>
              <a:t>Life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easier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instruction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changes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permanent </a:t>
            </a:r>
            <a:r>
              <a:rPr sz="2400" spc="-18" dirty="0">
                <a:latin typeface="Calibri"/>
                <a:cs typeface="Calibri"/>
              </a:rPr>
              <a:t>machine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state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before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committed</a:t>
            </a:r>
            <a:endParaRPr lang="en-US" sz="2400" dirty="0">
              <a:latin typeface="Calibri"/>
              <a:cs typeface="Calibri"/>
            </a:endParaRPr>
          </a:p>
          <a:p>
            <a:pPr>
              <a:spcBef>
                <a:spcPts val="971"/>
              </a:spcBef>
              <a:buFont typeface="Calibri"/>
              <a:buChar char="•"/>
            </a:pPr>
            <a:endParaRPr lang="en-US" sz="2400" dirty="0">
              <a:latin typeface="Calibri"/>
              <a:cs typeface="Calibri"/>
            </a:endParaRPr>
          </a:p>
          <a:p>
            <a:pPr marL="268395" marR="4483" indent="-268395">
              <a:spcBef>
                <a:spcPts val="4"/>
              </a:spcBef>
              <a:buChar char="•"/>
              <a:tabLst>
                <a:tab pos="268395" algn="l"/>
              </a:tabLst>
            </a:pPr>
            <a:r>
              <a:rPr lang="en-US" sz="2400" dirty="0">
                <a:latin typeface="Calibri"/>
                <a:cs typeface="Calibri"/>
              </a:rPr>
              <a:t>In</a:t>
            </a:r>
            <a:r>
              <a:rPr lang="en-US" sz="2400" spc="-79" dirty="0">
                <a:latin typeface="Calibri"/>
                <a:cs typeface="Calibri"/>
              </a:rPr>
              <a:t> </a:t>
            </a:r>
            <a:r>
              <a:rPr lang="en-US" sz="2400" spc="-9" dirty="0">
                <a:latin typeface="Calibri"/>
                <a:cs typeface="Calibri"/>
              </a:rPr>
              <a:t>MIPS,</a:t>
            </a:r>
            <a:r>
              <a:rPr lang="en-US" sz="2400" spc="-71" dirty="0">
                <a:latin typeface="Calibri"/>
                <a:cs typeface="Calibri"/>
              </a:rPr>
              <a:t> </a:t>
            </a:r>
            <a:r>
              <a:rPr lang="en-US" sz="2400" spc="-22" dirty="0">
                <a:latin typeface="Calibri"/>
                <a:cs typeface="Calibri"/>
              </a:rPr>
              <a:t>commitment</a:t>
            </a:r>
            <a:r>
              <a:rPr lang="en-US" sz="2400" spc="-75" dirty="0">
                <a:latin typeface="Calibri"/>
                <a:cs typeface="Calibri"/>
              </a:rPr>
              <a:t> </a:t>
            </a:r>
            <a:r>
              <a:rPr lang="en-US" sz="2400" spc="-9" dirty="0">
                <a:latin typeface="Calibri"/>
                <a:cs typeface="Calibri"/>
              </a:rPr>
              <a:t>occurs</a:t>
            </a:r>
            <a:r>
              <a:rPr lang="en-US" sz="2400" spc="-79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at</a:t>
            </a:r>
            <a:r>
              <a:rPr lang="en-US" sz="2400" spc="-7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7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end</a:t>
            </a:r>
            <a:r>
              <a:rPr lang="en-US" sz="2400" spc="-7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of</a:t>
            </a:r>
            <a:r>
              <a:rPr lang="en-US" sz="2400" spc="-71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71" dirty="0">
                <a:latin typeface="Calibri"/>
                <a:cs typeface="Calibri"/>
              </a:rPr>
              <a:t> </a:t>
            </a:r>
            <a:r>
              <a:rPr lang="en-US" sz="2400" spc="-18" dirty="0">
                <a:latin typeface="Calibri"/>
                <a:cs typeface="Calibri"/>
              </a:rPr>
              <a:t>MEM</a:t>
            </a:r>
            <a:r>
              <a:rPr lang="en-US" sz="2400" spc="-93" dirty="0">
                <a:latin typeface="Calibri"/>
                <a:cs typeface="Calibri"/>
              </a:rPr>
              <a:t> </a:t>
            </a:r>
            <a:r>
              <a:rPr lang="en-US" sz="2400" spc="-9" dirty="0">
                <a:latin typeface="Calibri"/>
                <a:cs typeface="Calibri"/>
              </a:rPr>
              <a:t>stage</a:t>
            </a:r>
            <a:endParaRPr lang="en-US" sz="2400" dirty="0">
              <a:latin typeface="Calibri"/>
              <a:cs typeface="Calibri"/>
            </a:endParaRPr>
          </a:p>
          <a:p>
            <a:pPr marR="4483" lvl="1">
              <a:spcBef>
                <a:spcPts val="4"/>
              </a:spcBef>
              <a:tabLst>
                <a:tab pos="268395" algn="l"/>
              </a:tabLst>
            </a:pPr>
            <a:r>
              <a:rPr sz="2400" spc="-44" dirty="0">
                <a:latin typeface="Calibri"/>
                <a:cs typeface="Calibri"/>
              </a:rPr>
              <a:t>-</a:t>
            </a:r>
            <a:r>
              <a:rPr lang="en-US" sz="2400" spc="-4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that’s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why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register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update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occurs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stage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that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5413" y="3087660"/>
            <a:ext cx="4350124" cy="1380469"/>
          </a:xfrm>
          <a:prstGeom prst="rect">
            <a:avLst/>
          </a:prstGeom>
        </p:spPr>
        <p:txBody>
          <a:bodyPr vert="horz" wrap="square" lIns="0" tIns="71718" rIns="0" bIns="0" rtlCol="0" anchor="ctr">
            <a:spAutoFit/>
          </a:bodyPr>
          <a:lstStyle/>
          <a:p>
            <a:pPr marL="11206" marR="4483">
              <a:lnSpc>
                <a:spcPts val="4147"/>
              </a:lnSpc>
              <a:spcBef>
                <a:spcPts val="565"/>
              </a:spcBef>
            </a:pPr>
            <a:r>
              <a:rPr sz="3794" b="1" spc="-9" dirty="0">
                <a:latin typeface="Arial"/>
                <a:cs typeface="Arial"/>
              </a:rPr>
              <a:t>INSTRUCTION</a:t>
            </a:r>
            <a:r>
              <a:rPr sz="3794" b="1" spc="-212" dirty="0">
                <a:latin typeface="Arial"/>
                <a:cs typeface="Arial"/>
              </a:rPr>
              <a:t> </a:t>
            </a:r>
            <a:r>
              <a:rPr sz="3794" b="1" spc="-22" dirty="0">
                <a:latin typeface="Arial"/>
                <a:cs typeface="Arial"/>
              </a:rPr>
              <a:t>SET </a:t>
            </a:r>
            <a:r>
              <a:rPr sz="3794" b="1" spc="-9" dirty="0">
                <a:latin typeface="Arial"/>
                <a:cs typeface="Arial"/>
              </a:rPr>
              <a:t>COMPLICATION</a:t>
            </a:r>
            <a:endParaRPr sz="3794">
              <a:latin typeface="Arial"/>
              <a:cs typeface="Arial"/>
            </a:endParaRPr>
          </a:p>
          <a:p>
            <a:pPr marL="11206">
              <a:lnSpc>
                <a:spcPts val="2021"/>
              </a:lnSpc>
            </a:pPr>
            <a:r>
              <a:rPr sz="1853" b="1" dirty="0">
                <a:latin typeface="Arial"/>
                <a:cs typeface="Arial"/>
              </a:rPr>
              <a:t>-</a:t>
            </a:r>
            <a:r>
              <a:rPr sz="1853" b="1" spc="75" dirty="0">
                <a:latin typeface="Arial"/>
                <a:cs typeface="Arial"/>
              </a:rPr>
              <a:t> </a:t>
            </a:r>
            <a:r>
              <a:rPr sz="1853" b="1" dirty="0">
                <a:latin typeface="Arial"/>
                <a:cs typeface="Arial"/>
              </a:rPr>
              <a:t>APPENDIX</a:t>
            </a:r>
            <a:r>
              <a:rPr sz="1853" b="1" spc="93" dirty="0">
                <a:latin typeface="Arial"/>
                <a:cs typeface="Arial"/>
              </a:rPr>
              <a:t> </a:t>
            </a:r>
            <a:r>
              <a:rPr sz="1853" b="1" spc="-44" dirty="0">
                <a:latin typeface="Arial"/>
                <a:cs typeface="Arial"/>
              </a:rPr>
              <a:t>C</a:t>
            </a:r>
            <a:endParaRPr sz="1853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E46A1-D9B4-25CC-572A-C3303E9B35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7169" y="588654"/>
            <a:ext cx="6850846" cy="589755"/>
          </a:xfrm>
          <a:prstGeom prst="rect">
            <a:avLst/>
          </a:prstGeom>
        </p:spPr>
        <p:txBody>
          <a:bodyPr vert="horz" wrap="square" lIns="0" tIns="126851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dirty="0"/>
              <a:t>Complications</a:t>
            </a:r>
            <a:r>
              <a:rPr spc="18" dirty="0"/>
              <a:t> </a:t>
            </a:r>
            <a:r>
              <a:rPr dirty="0"/>
              <a:t>with</a:t>
            </a:r>
            <a:r>
              <a:rPr spc="26" dirty="0"/>
              <a:t> </a:t>
            </a:r>
            <a:r>
              <a:rPr dirty="0"/>
              <a:t>long</a:t>
            </a:r>
            <a:r>
              <a:rPr spc="26" dirty="0"/>
              <a:t> </a:t>
            </a:r>
            <a:r>
              <a:rPr spc="-9" dirty="0"/>
              <a:t>instructions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304AB-40CA-A9F1-565F-36B66FDE50E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18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1001807" y="1300331"/>
            <a:ext cx="7333302" cy="33327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79602" indent="-268395">
              <a:spcBef>
                <a:spcPts val="88"/>
              </a:spcBef>
              <a:buChar char="•"/>
              <a:tabLst>
                <a:tab pos="279602" algn="l"/>
              </a:tabLst>
            </a:pPr>
            <a:r>
              <a:rPr sz="2400" dirty="0">
                <a:latin typeface="Calibri"/>
                <a:cs typeface="Calibri"/>
              </a:rPr>
              <a:t>So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far,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MIPS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instructions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take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cycles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1279"/>
              </a:spcBef>
              <a:buFont typeface="Calibri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280162" marR="850572" indent="-268956">
              <a:buChar char="•"/>
              <a:tabLst>
                <a:tab pos="280162" algn="l"/>
              </a:tabLst>
            </a:pPr>
            <a:r>
              <a:rPr sz="2400" dirty="0">
                <a:latin typeface="Calibri"/>
                <a:cs typeface="Calibri"/>
              </a:rPr>
              <a:t>But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haven't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talked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yet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about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floating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point instructions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1310"/>
              </a:spcBef>
              <a:buFont typeface="Calibri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280162" marR="4483" indent="-268956">
              <a:buChar char="•"/>
              <a:tabLst>
                <a:tab pos="280162" algn="l"/>
              </a:tabLst>
            </a:pPr>
            <a:r>
              <a:rPr sz="2400" dirty="0">
                <a:latin typeface="Calibri"/>
                <a:cs typeface="Calibri"/>
              </a:rPr>
              <a:t>Take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faith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floating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instructions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are </a:t>
            </a:r>
            <a:r>
              <a:rPr sz="2400" spc="-9" dirty="0">
                <a:latin typeface="Calibri"/>
                <a:cs typeface="Calibri"/>
              </a:rPr>
              <a:t>inherently</a:t>
            </a:r>
            <a:r>
              <a:rPr sz="2400" spc="-101" dirty="0">
                <a:latin typeface="Calibri"/>
                <a:cs typeface="Calibri"/>
              </a:rPr>
              <a:t> </a:t>
            </a:r>
            <a:r>
              <a:rPr sz="2400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slower</a:t>
            </a:r>
            <a:r>
              <a:rPr sz="2400" u="heavy" spc="-9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than</a:t>
            </a:r>
            <a:r>
              <a:rPr sz="2400" spc="-10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integer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arithmetic</a:t>
            </a:r>
            <a:r>
              <a:rPr sz="2400" spc="-10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instructions</a:t>
            </a:r>
            <a:endParaRPr sz="2400" dirty="0">
              <a:latin typeface="Calibri"/>
              <a:cs typeface="Calibri"/>
            </a:endParaRPr>
          </a:p>
          <a:p>
            <a:pPr marL="440975">
              <a:spcBef>
                <a:spcPts val="494"/>
              </a:spcBef>
            </a:pPr>
            <a:r>
              <a:rPr sz="2200" dirty="0">
                <a:latin typeface="Calibri"/>
                <a:cs typeface="Calibri"/>
              </a:rPr>
              <a:t>–</a:t>
            </a:r>
            <a:r>
              <a:rPr sz="2200" spc="53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doubters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may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consult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Appendix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spc="-44" dirty="0">
                <a:latin typeface="Calibri"/>
                <a:cs typeface="Calibri"/>
              </a:rPr>
              <a:t>J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78021" y="1941754"/>
            <a:ext cx="543485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defTabSz="806867">
              <a:spcBef>
                <a:spcPts val="88"/>
              </a:spcBef>
            </a:pPr>
            <a:r>
              <a:rPr sz="15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EX</a:t>
            </a:r>
            <a:r>
              <a:rPr sz="1500" kern="0" spc="-22" dirty="0">
                <a:solidFill>
                  <a:sysClr val="windowText" lastClr="000000"/>
                </a:solidFill>
                <a:latin typeface="Arial MT"/>
                <a:cs typeface="Arial MT"/>
              </a:rPr>
              <a:t> Int</a:t>
            </a:r>
            <a:endParaRPr sz="15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8021" y="5295451"/>
            <a:ext cx="573741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defTabSz="806867">
              <a:spcBef>
                <a:spcPts val="88"/>
              </a:spcBef>
            </a:pPr>
            <a:r>
              <a:rPr sz="15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EX</a:t>
            </a:r>
            <a:r>
              <a:rPr sz="1500" kern="0" spc="-22" dirty="0">
                <a:solidFill>
                  <a:sysClr val="windowText" lastClr="000000"/>
                </a:solidFill>
                <a:latin typeface="Arial MT"/>
                <a:cs typeface="Arial MT"/>
              </a:rPr>
              <a:t> div</a:t>
            </a:r>
            <a:endParaRPr sz="15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0A7EC-18F4-EA9B-F2CA-BE7E6A84D2F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27720" y="6369091"/>
            <a:ext cx="360253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19</a:t>
            </a:fld>
            <a:endParaRPr lang="en-US" spc="-44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DFBA5676-ADA8-95C9-BA57-34805A297149}"/>
              </a:ext>
            </a:extLst>
          </p:cNvPr>
          <p:cNvSpPr txBox="1">
            <a:spLocks/>
          </p:cNvSpPr>
          <p:nvPr/>
        </p:nvSpPr>
        <p:spPr>
          <a:xfrm>
            <a:off x="789354" y="706371"/>
            <a:ext cx="6958853" cy="729461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1206" defTabSz="914400">
              <a:lnSpc>
                <a:spcPts val="3565"/>
              </a:lnSpc>
              <a:spcBef>
                <a:spcPts val="88"/>
              </a:spcBef>
            </a:pPr>
            <a:r>
              <a:rPr lang="en-US" sz="3000" kern="0" dirty="0">
                <a:solidFill>
                  <a:srgbClr val="0332B7"/>
                </a:solidFill>
              </a:rPr>
              <a:t>Functional</a:t>
            </a:r>
            <a:r>
              <a:rPr lang="en-US" sz="3000" kern="0" spc="4" dirty="0">
                <a:solidFill>
                  <a:srgbClr val="0332B7"/>
                </a:solidFill>
              </a:rPr>
              <a:t> </a:t>
            </a:r>
            <a:r>
              <a:rPr lang="en-US" sz="3000" kern="0" spc="-18" dirty="0">
                <a:solidFill>
                  <a:srgbClr val="0332B7"/>
                </a:solidFill>
              </a:rPr>
              <a:t>Units</a:t>
            </a:r>
          </a:p>
          <a:p>
            <a:pPr marL="11206" defTabSz="914400">
              <a:lnSpc>
                <a:spcPts val="1977"/>
              </a:lnSpc>
            </a:pPr>
            <a:r>
              <a:rPr lang="en-US" sz="1677" kern="0" dirty="0">
                <a:solidFill>
                  <a:srgbClr val="0332B7"/>
                </a:solidFill>
              </a:rPr>
              <a:t>Figure</a:t>
            </a:r>
            <a:r>
              <a:rPr lang="en-US" sz="1677" kern="0" spc="-4" dirty="0">
                <a:solidFill>
                  <a:srgbClr val="0332B7"/>
                </a:solidFill>
              </a:rPr>
              <a:t> </a:t>
            </a:r>
            <a:r>
              <a:rPr lang="en-US" sz="1677" kern="0" spc="-18" dirty="0">
                <a:solidFill>
                  <a:srgbClr val="0332B7"/>
                </a:solidFill>
              </a:rPr>
              <a:t>C.33</a:t>
            </a:r>
            <a:endParaRPr lang="en-US" sz="1677" kern="0" dirty="0">
              <a:solidFill>
                <a:srgbClr val="0332B7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354" y="706371"/>
            <a:ext cx="6958853" cy="729461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ts val="3565"/>
              </a:lnSpc>
              <a:spcBef>
                <a:spcPts val="88"/>
              </a:spcBef>
            </a:pPr>
            <a:r>
              <a:rPr dirty="0"/>
              <a:t>Functional</a:t>
            </a:r>
            <a:r>
              <a:rPr spc="4" dirty="0"/>
              <a:t> </a:t>
            </a:r>
            <a:r>
              <a:rPr spc="-18" dirty="0"/>
              <a:t>Units</a:t>
            </a:r>
          </a:p>
          <a:p>
            <a:pPr marL="11206">
              <a:lnSpc>
                <a:spcPts val="1977"/>
              </a:lnSpc>
            </a:pPr>
            <a:r>
              <a:rPr sz="1677" dirty="0"/>
              <a:t>Figure</a:t>
            </a:r>
            <a:r>
              <a:rPr sz="1677" spc="-4" dirty="0"/>
              <a:t> </a:t>
            </a:r>
            <a:r>
              <a:rPr sz="1677" spc="-18" dirty="0"/>
              <a:t>C.35</a:t>
            </a:r>
            <a:endParaRPr sz="1677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DD864-FEB2-6A59-0230-71AE3E5613F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20</a:t>
            </a:fld>
            <a:endParaRPr lang="en-US" dirty="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2800" y="1532818"/>
            <a:ext cx="7458634" cy="48583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86814" y="5125123"/>
            <a:ext cx="2030506" cy="774273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4483" algn="just">
              <a:lnSpc>
                <a:spcPct val="101099"/>
              </a:lnSpc>
              <a:spcBef>
                <a:spcPts val="66"/>
              </a:spcBef>
            </a:pPr>
            <a:r>
              <a:rPr sz="1677" spc="-9" dirty="0">
                <a:solidFill>
                  <a:srgbClr val="FF0000"/>
                </a:solidFill>
                <a:latin typeface="Arial MT"/>
                <a:cs typeface="Arial MT"/>
              </a:rPr>
              <a:t>non-</a:t>
            </a:r>
            <a:r>
              <a:rPr sz="1677" dirty="0">
                <a:solidFill>
                  <a:srgbClr val="FF0000"/>
                </a:solidFill>
                <a:latin typeface="Arial MT"/>
                <a:cs typeface="Arial MT"/>
              </a:rPr>
              <a:t>pipelined</a:t>
            </a:r>
            <a:r>
              <a:rPr lang="en-US" sz="1677" spc="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77" spc="-18" dirty="0">
                <a:solidFill>
                  <a:srgbClr val="FF0000"/>
                </a:solidFill>
                <a:latin typeface="Arial MT"/>
                <a:cs typeface="Arial MT"/>
              </a:rPr>
              <a:t>DIV.D </a:t>
            </a:r>
            <a:r>
              <a:rPr sz="1677" dirty="0">
                <a:solidFill>
                  <a:srgbClr val="FF0000"/>
                </a:solidFill>
                <a:latin typeface="Arial MT"/>
                <a:cs typeface="Arial MT"/>
              </a:rPr>
              <a:t>instruction stalls </a:t>
            </a:r>
            <a:r>
              <a:rPr sz="1677" spc="-22" dirty="0">
                <a:solidFill>
                  <a:srgbClr val="FF0000"/>
                </a:solidFill>
                <a:latin typeface="Arial MT"/>
                <a:cs typeface="Arial MT"/>
              </a:rPr>
              <a:t>the </a:t>
            </a:r>
            <a:r>
              <a:rPr sz="1677" dirty="0">
                <a:solidFill>
                  <a:srgbClr val="FF0000"/>
                </a:solidFill>
                <a:latin typeface="Arial MT"/>
                <a:cs typeface="Arial MT"/>
              </a:rPr>
              <a:t>pipeline</a:t>
            </a:r>
            <a:r>
              <a:rPr sz="1677" spc="-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FF0000"/>
                </a:solidFill>
                <a:latin typeface="Arial MT"/>
                <a:cs typeface="Arial MT"/>
              </a:rPr>
              <a:t>for</a:t>
            </a:r>
            <a:r>
              <a:rPr sz="1677" spc="-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FF0000"/>
                </a:solidFill>
                <a:latin typeface="Arial MT"/>
                <a:cs typeface="Arial MT"/>
              </a:rPr>
              <a:t>24</a:t>
            </a:r>
            <a:r>
              <a:rPr sz="1677" spc="-9" dirty="0">
                <a:solidFill>
                  <a:srgbClr val="FF0000"/>
                </a:solidFill>
                <a:latin typeface="Arial MT"/>
                <a:cs typeface="Arial MT"/>
              </a:rPr>
              <a:t> cycles</a:t>
            </a:r>
            <a:endParaRPr sz="1677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8892" y="588653"/>
            <a:ext cx="6909461" cy="589755"/>
          </a:xfrm>
          <a:prstGeom prst="rect">
            <a:avLst/>
          </a:prstGeom>
        </p:spPr>
        <p:txBody>
          <a:bodyPr vert="horz" wrap="square" lIns="0" tIns="126851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dirty="0"/>
              <a:t>How</a:t>
            </a:r>
            <a:r>
              <a:rPr spc="18" dirty="0"/>
              <a:t> </a:t>
            </a:r>
            <a:r>
              <a:rPr dirty="0"/>
              <a:t>slow</a:t>
            </a:r>
            <a:r>
              <a:rPr spc="18" dirty="0"/>
              <a:t> </a:t>
            </a:r>
            <a:r>
              <a:rPr dirty="0"/>
              <a:t>is</a:t>
            </a:r>
            <a:r>
              <a:rPr spc="13" dirty="0"/>
              <a:t> </a:t>
            </a:r>
            <a:r>
              <a:rPr spc="-18" dirty="0"/>
              <a:t>slow?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1805" y="1226112"/>
            <a:ext cx="7345025" cy="2301988"/>
          </a:xfrm>
          <a:prstGeom prst="rect">
            <a:avLst/>
          </a:prstGeom>
        </p:spPr>
        <p:txBody>
          <a:bodyPr vert="horz" wrap="square" lIns="0" tIns="85165" rIns="0" bIns="0" rtlCol="0">
            <a:spAutoFit/>
          </a:bodyPr>
          <a:lstStyle/>
          <a:p>
            <a:pPr marL="279602" indent="-268395">
              <a:spcBef>
                <a:spcPts val="671"/>
              </a:spcBef>
              <a:buChar char="•"/>
              <a:tabLst>
                <a:tab pos="279602" algn="l"/>
              </a:tabLst>
            </a:pPr>
            <a:r>
              <a:rPr sz="2400" dirty="0">
                <a:latin typeface="Calibri"/>
                <a:cs typeface="Calibri"/>
              </a:rPr>
              <a:t>Some</a:t>
            </a:r>
            <a:r>
              <a:rPr sz="2400" spc="-11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typical</a:t>
            </a:r>
            <a:r>
              <a:rPr sz="2400" spc="-11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times:</a:t>
            </a:r>
            <a:endParaRPr sz="2400" dirty="0">
              <a:latin typeface="Calibri"/>
              <a:cs typeface="Calibri"/>
            </a:endParaRPr>
          </a:p>
          <a:p>
            <a:pPr marL="654458" marR="4483" lvl="1" indent="-213483">
              <a:spcBef>
                <a:spcPts val="613"/>
              </a:spcBef>
              <a:buFont typeface="Calibri"/>
              <a:buChar char="–"/>
              <a:tabLst>
                <a:tab pos="656139" algn="l"/>
              </a:tabLst>
            </a:pP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latency</a:t>
            </a:r>
            <a:r>
              <a:rPr sz="2200" b="1" spc="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number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cycles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between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instruction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 </a:t>
            </a:r>
            <a:r>
              <a:rPr sz="2200" b="1" dirty="0">
                <a:latin typeface="Calibri"/>
                <a:cs typeface="Calibri"/>
              </a:rPr>
              <a:t>produces</a:t>
            </a:r>
            <a:r>
              <a:rPr sz="2200" b="1" spc="9" dirty="0">
                <a:latin typeface="Calibri"/>
                <a:cs typeface="Calibri"/>
              </a:rPr>
              <a:t> </a:t>
            </a:r>
            <a:r>
              <a:rPr sz="2200" spc="-44" dirty="0">
                <a:latin typeface="Calibri"/>
                <a:cs typeface="Calibri"/>
              </a:rPr>
              <a:t>a </a:t>
            </a:r>
            <a:r>
              <a:rPr sz="2200" dirty="0">
                <a:latin typeface="Calibri"/>
                <a:cs typeface="Calibri"/>
              </a:rPr>
              <a:t>result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uses</a:t>
            </a:r>
            <a:r>
              <a:rPr sz="2200" b="1" spc="-4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it</a:t>
            </a:r>
            <a:endParaRPr sz="2200" dirty="0">
              <a:latin typeface="Calibri"/>
              <a:cs typeface="Calibri"/>
            </a:endParaRPr>
          </a:p>
          <a:p>
            <a:pPr marL="654458" marR="764282" lvl="1" indent="-213483">
              <a:spcBef>
                <a:spcPts val="600"/>
              </a:spcBef>
              <a:buFont typeface="Calibri"/>
              <a:buChar char="–"/>
              <a:tabLst>
                <a:tab pos="656139" algn="l"/>
              </a:tabLst>
            </a:pP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initiation</a:t>
            </a:r>
            <a:r>
              <a:rPr sz="2200" b="1" spc="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interval</a:t>
            </a:r>
            <a:r>
              <a:rPr sz="2200" b="1" spc="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number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cycles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between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issuing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two </a:t>
            </a:r>
            <a:r>
              <a:rPr sz="2200" dirty="0">
                <a:latin typeface="Calibri"/>
                <a:cs typeface="Calibri"/>
              </a:rPr>
              <a:t>instructions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same</a:t>
            </a:r>
            <a:r>
              <a:rPr sz="2200" b="1" spc="9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kind</a:t>
            </a:r>
            <a:r>
              <a:rPr sz="2200" b="1" spc="9" dirty="0">
                <a:latin typeface="Calibri"/>
                <a:cs typeface="Calibri"/>
              </a:rPr>
              <a:t> </a:t>
            </a:r>
            <a:br>
              <a:rPr lang="en-US" sz="2200" b="1" spc="9" dirty="0">
                <a:latin typeface="Calibri"/>
                <a:cs typeface="Calibri"/>
              </a:rPr>
            </a:br>
            <a:r>
              <a:rPr sz="2200" dirty="0">
                <a:latin typeface="Calibri"/>
                <a:cs typeface="Calibri"/>
              </a:rPr>
              <a:t>(for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example,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two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ADD.Ds)</a:t>
            </a:r>
            <a:endParaRPr sz="22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75156"/>
              </p:ext>
            </p:extLst>
          </p:nvPr>
        </p:nvGraphicFramePr>
        <p:xfrm>
          <a:off x="1402975" y="3667661"/>
          <a:ext cx="6167717" cy="24249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3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6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8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06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Instruction</a:t>
                      </a:r>
                      <a:r>
                        <a:rPr lang="en-US" sz="2000" b="1" spc="-10" dirty="0">
                          <a:latin typeface="Calibri"/>
                          <a:cs typeface="Calibri"/>
                        </a:rPr>
                        <a:t> Type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30816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Latency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81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Initiation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81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8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Integer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ALU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5773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8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memory</a:t>
                      </a:r>
                      <a:r>
                        <a:rPr sz="20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(load)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633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1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633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633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8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ADD.D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20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SUB.D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689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689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689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8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MUL.D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689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689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1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689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8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DIV.D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745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24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745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25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745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352157" y="6185281"/>
            <a:ext cx="6502306" cy="25753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00" dirty="0">
                <a:latin typeface="Arial MT"/>
                <a:cs typeface="Arial MT"/>
              </a:rPr>
              <a:t>Example</a:t>
            </a:r>
            <a:r>
              <a:rPr sz="1600" spc="-26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latencies</a:t>
            </a:r>
            <a:r>
              <a:rPr sz="1600" spc="-22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26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initiation</a:t>
            </a:r>
            <a:r>
              <a:rPr sz="1600" spc="-26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intervals</a:t>
            </a:r>
            <a:r>
              <a:rPr sz="1600" spc="-22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18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functional</a:t>
            </a:r>
            <a:r>
              <a:rPr sz="1600" spc="-31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units</a:t>
            </a:r>
            <a:r>
              <a:rPr sz="1600" spc="-22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(Fig.</a:t>
            </a:r>
            <a:r>
              <a:rPr sz="1600" spc="-18" dirty="0">
                <a:latin typeface="Arial MT"/>
                <a:cs typeface="Arial MT"/>
              </a:rPr>
              <a:t> </a:t>
            </a:r>
            <a:r>
              <a:rPr sz="1600" spc="-9" dirty="0">
                <a:latin typeface="Arial MT"/>
                <a:cs typeface="Arial MT"/>
              </a:rPr>
              <a:t>C.34)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4244E-AF97-87FE-5977-B4BE925BD66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68187" y="6346231"/>
            <a:ext cx="299796" cy="436017"/>
          </a:xfrm>
        </p:spPr>
        <p:txBody>
          <a:bodyPr/>
          <a:lstStyle/>
          <a:p>
            <a:fld id="{4FE321F0-2018-4E50-8BB3-A5631EBD98DD}" type="slidenum">
              <a:rPr lang="en-US" smtClean="0"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615" y="588653"/>
            <a:ext cx="6827400" cy="589755"/>
          </a:xfrm>
          <a:prstGeom prst="rect">
            <a:avLst/>
          </a:prstGeom>
        </p:spPr>
        <p:txBody>
          <a:bodyPr vert="horz" wrap="square" lIns="0" tIns="126851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9" dirty="0"/>
              <a:t>Examples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E6EB1-4B67-05D1-B13E-888EDD9B8DF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22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996462" y="1226112"/>
            <a:ext cx="7362091" cy="4342611"/>
          </a:xfrm>
          <a:prstGeom prst="rect">
            <a:avLst/>
          </a:prstGeom>
        </p:spPr>
        <p:txBody>
          <a:bodyPr vert="horz" wrap="square" lIns="0" tIns="85165" rIns="0" bIns="0" rtlCol="0">
            <a:spAutoFit/>
          </a:bodyPr>
          <a:lstStyle/>
          <a:p>
            <a:pPr marL="279602" indent="-268395">
              <a:spcBef>
                <a:spcPts val="671"/>
              </a:spcBef>
              <a:buChar char="•"/>
              <a:tabLst>
                <a:tab pos="279602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lang="en-US" sz="2400" spc="-9" dirty="0">
                <a:latin typeface="Calibri"/>
                <a:cs typeface="Calibri"/>
              </a:rPr>
              <a:t>series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instructions:</a:t>
            </a:r>
            <a:endParaRPr sz="2400" dirty="0">
              <a:latin typeface="Calibri"/>
              <a:cs typeface="Calibri"/>
            </a:endParaRPr>
          </a:p>
          <a:p>
            <a:pPr marL="654458" lvl="1" indent="-213483">
              <a:spcBef>
                <a:spcPts val="427"/>
              </a:spcBef>
              <a:buChar char="–"/>
              <a:tabLst>
                <a:tab pos="654458" algn="l"/>
              </a:tabLst>
            </a:pPr>
            <a:r>
              <a:rPr sz="2200" spc="-22" dirty="0">
                <a:latin typeface="Consolas" panose="020B0609020204030204" pitchFamily="49" charset="0"/>
                <a:cs typeface="Calibri"/>
              </a:rPr>
              <a:t>ADD</a:t>
            </a:r>
            <a:endParaRPr sz="2200" dirty="0">
              <a:latin typeface="Consolas" panose="020B0609020204030204" pitchFamily="49" charset="0"/>
              <a:cs typeface="Calibri"/>
            </a:endParaRPr>
          </a:p>
          <a:p>
            <a:pPr marL="654458" lvl="1" indent="-213483">
              <a:spcBef>
                <a:spcPts val="468"/>
              </a:spcBef>
              <a:buChar char="–"/>
              <a:tabLst>
                <a:tab pos="654458" algn="l"/>
              </a:tabLst>
            </a:pPr>
            <a:r>
              <a:rPr sz="2200" spc="-22" dirty="0">
                <a:latin typeface="Consolas" panose="020B0609020204030204" pitchFamily="49" charset="0"/>
                <a:cs typeface="Calibri"/>
              </a:rPr>
              <a:t>SUB</a:t>
            </a:r>
            <a:endParaRPr sz="2200" dirty="0">
              <a:latin typeface="Consolas" panose="020B0609020204030204" pitchFamily="49" charset="0"/>
              <a:cs typeface="Calibri"/>
            </a:endParaRPr>
          </a:p>
          <a:p>
            <a:pPr marL="654458" lvl="1" indent="-213483">
              <a:spcBef>
                <a:spcPts val="441"/>
              </a:spcBef>
              <a:buChar char="–"/>
              <a:tabLst>
                <a:tab pos="654458" algn="l"/>
              </a:tabLst>
            </a:pPr>
            <a:r>
              <a:rPr sz="2200" spc="-22" dirty="0">
                <a:latin typeface="Consolas" panose="020B0609020204030204" pitchFamily="49" charset="0"/>
                <a:cs typeface="Calibri"/>
              </a:rPr>
              <a:t>AND</a:t>
            </a:r>
            <a:endParaRPr sz="2200" dirty="0">
              <a:latin typeface="Consolas" panose="020B0609020204030204" pitchFamily="49" charset="0"/>
              <a:cs typeface="Calibri"/>
            </a:endParaRPr>
          </a:p>
          <a:p>
            <a:pPr marL="654458" lvl="1" indent="-213483">
              <a:spcBef>
                <a:spcPts val="468"/>
              </a:spcBef>
              <a:buChar char="–"/>
              <a:tabLst>
                <a:tab pos="654458" algn="l"/>
              </a:tabLst>
            </a:pPr>
            <a:r>
              <a:rPr sz="2200" spc="-22" dirty="0">
                <a:latin typeface="Consolas" panose="020B0609020204030204" pitchFamily="49" charset="0"/>
                <a:cs typeface="Calibri"/>
              </a:rPr>
              <a:t>OR</a:t>
            </a:r>
            <a:endParaRPr sz="2200" dirty="0">
              <a:latin typeface="Consolas" panose="020B0609020204030204" pitchFamily="49" charset="0"/>
              <a:cs typeface="Calibri"/>
            </a:endParaRPr>
          </a:p>
          <a:p>
            <a:pPr marL="654458" lvl="1" indent="-213483">
              <a:spcBef>
                <a:spcPts val="361"/>
              </a:spcBef>
              <a:buChar char="–"/>
              <a:tabLst>
                <a:tab pos="654458" algn="l"/>
              </a:tabLst>
            </a:pPr>
            <a:r>
              <a:rPr sz="2200" spc="-18" dirty="0">
                <a:latin typeface="Consolas" panose="020B0609020204030204" pitchFamily="49" charset="0"/>
                <a:cs typeface="Calibri"/>
              </a:rPr>
              <a:t>SLLI</a:t>
            </a:r>
            <a:endParaRPr sz="2200" dirty="0">
              <a:latin typeface="Consolas" panose="020B0609020204030204" pitchFamily="49" charset="0"/>
              <a:cs typeface="Calibri"/>
            </a:endParaRPr>
          </a:p>
          <a:p>
            <a:pPr lvl="1">
              <a:spcBef>
                <a:spcPts val="891"/>
              </a:spcBef>
              <a:buFont typeface="Calibri"/>
              <a:buChar char="–"/>
            </a:pPr>
            <a:endParaRPr sz="1677" dirty="0">
              <a:latin typeface="Calibri"/>
              <a:cs typeface="Calibri"/>
            </a:endParaRPr>
          </a:p>
          <a:p>
            <a:pPr marL="279602" indent="-268395">
              <a:buChar char="•"/>
              <a:tabLst>
                <a:tab pos="279602" algn="l"/>
              </a:tabLst>
            </a:pPr>
            <a:r>
              <a:rPr sz="2400" dirty="0">
                <a:latin typeface="Calibri"/>
                <a:cs typeface="Calibri"/>
              </a:rPr>
              <a:t>Then,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delays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pipeline,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because</a:t>
            </a:r>
            <a:endParaRPr sz="2400" dirty="0">
              <a:latin typeface="Calibri"/>
              <a:cs typeface="Calibri"/>
            </a:endParaRPr>
          </a:p>
          <a:p>
            <a:pPr marL="654458" marR="4483" lvl="1" indent="-213483">
              <a:spcBef>
                <a:spcPts val="582"/>
              </a:spcBef>
              <a:buChar char="–"/>
              <a:tabLst>
                <a:tab pos="656139" algn="l"/>
              </a:tabLst>
            </a:pPr>
            <a:r>
              <a:rPr sz="2200" dirty="0">
                <a:latin typeface="Calibri"/>
                <a:cs typeface="Calibri"/>
              </a:rPr>
              <a:t>Results from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instruction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will be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available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when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next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instruction </a:t>
            </a:r>
            <a:r>
              <a:rPr sz="2200" dirty="0">
                <a:latin typeface="Calibri"/>
                <a:cs typeface="Calibri"/>
              </a:rPr>
              <a:t>needs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them</a:t>
            </a:r>
            <a:r>
              <a:rPr sz="2200" spc="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without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stall</a:t>
            </a:r>
            <a:endParaRPr lang="en-US" sz="2200" spc="-18" dirty="0">
              <a:latin typeface="Calibri"/>
              <a:cs typeface="Calibri"/>
            </a:endParaRPr>
          </a:p>
          <a:p>
            <a:pPr marL="654458" marR="4483" lvl="1" indent="-213483">
              <a:spcBef>
                <a:spcPts val="582"/>
              </a:spcBef>
              <a:buFontTx/>
              <a:buChar char="–"/>
              <a:tabLst>
                <a:tab pos="656139" algn="l"/>
              </a:tabLst>
            </a:pPr>
            <a:r>
              <a:rPr lang="en-US" sz="2200" dirty="0">
                <a:cs typeface="Calibri"/>
              </a:rPr>
              <a:t>Instructions</a:t>
            </a:r>
            <a:r>
              <a:rPr lang="en-US" sz="2200" spc="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can</a:t>
            </a:r>
            <a:r>
              <a:rPr lang="en-US" sz="2200" spc="22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be</a:t>
            </a:r>
            <a:r>
              <a:rPr lang="en-US" sz="2200" spc="18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issued</a:t>
            </a:r>
            <a:r>
              <a:rPr lang="en-US" sz="2200" spc="22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to</a:t>
            </a:r>
            <a:r>
              <a:rPr lang="en-US" sz="2200" spc="13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EX</a:t>
            </a:r>
            <a:r>
              <a:rPr lang="en-US" sz="2200" spc="18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stage</a:t>
            </a:r>
            <a:r>
              <a:rPr lang="en-US" sz="2200" spc="18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every</a:t>
            </a:r>
            <a:r>
              <a:rPr lang="en-US" sz="2200" spc="13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cycle</a:t>
            </a:r>
            <a:endParaRPr lang="en-US" sz="2200" dirty="0"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615" y="588653"/>
            <a:ext cx="6839123" cy="589755"/>
          </a:xfrm>
          <a:prstGeom prst="rect">
            <a:avLst/>
          </a:prstGeom>
        </p:spPr>
        <p:txBody>
          <a:bodyPr vert="horz" wrap="square" lIns="0" tIns="126851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dirty="0"/>
              <a:t>Examples </a:t>
            </a:r>
            <a:r>
              <a:rPr spc="-9" dirty="0"/>
              <a:t>(cont.)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B2970-E801-89F4-1822-A4EFDD650B9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23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1001806" y="1226113"/>
            <a:ext cx="7251240" cy="4358000"/>
          </a:xfrm>
          <a:prstGeom prst="rect">
            <a:avLst/>
          </a:prstGeom>
        </p:spPr>
        <p:txBody>
          <a:bodyPr vert="horz" wrap="square" lIns="0" tIns="85165" rIns="0" bIns="0" rtlCol="0">
            <a:spAutoFit/>
          </a:bodyPr>
          <a:lstStyle/>
          <a:p>
            <a:pPr marL="279602" indent="-268395">
              <a:spcBef>
                <a:spcPts val="671"/>
              </a:spcBef>
              <a:buChar char="•"/>
              <a:tabLst>
                <a:tab pos="279602" algn="l"/>
              </a:tabLst>
            </a:pPr>
            <a:r>
              <a:rPr sz="2400" spc="-9" dirty="0">
                <a:latin typeface="Calibri"/>
                <a:cs typeface="Calibri"/>
              </a:rPr>
              <a:t>Suppose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stream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instructions</a:t>
            </a:r>
            <a:endParaRPr sz="2400" dirty="0">
              <a:latin typeface="Calibri"/>
              <a:cs typeface="Calibri"/>
            </a:endParaRPr>
          </a:p>
          <a:p>
            <a:pPr marL="656139" lvl="1" indent="-215164">
              <a:spcBef>
                <a:spcPts val="427"/>
              </a:spcBef>
              <a:buChar char="–"/>
              <a:tabLst>
                <a:tab pos="656139" algn="l"/>
              </a:tabLst>
            </a:pPr>
            <a:r>
              <a:rPr sz="2200" spc="-9" dirty="0">
                <a:latin typeface="Consolas"/>
                <a:cs typeface="Consolas"/>
              </a:rPr>
              <a:t>ADD.D</a:t>
            </a:r>
            <a:endParaRPr sz="2200" dirty="0">
              <a:latin typeface="Consolas"/>
              <a:cs typeface="Consolas"/>
            </a:endParaRPr>
          </a:p>
          <a:p>
            <a:pPr marL="656139" lvl="1" indent="-215164">
              <a:spcBef>
                <a:spcPts val="468"/>
              </a:spcBef>
              <a:buChar char="–"/>
              <a:tabLst>
                <a:tab pos="656139" algn="l"/>
              </a:tabLst>
            </a:pPr>
            <a:r>
              <a:rPr sz="2200" spc="-9" dirty="0">
                <a:latin typeface="Consolas"/>
                <a:cs typeface="Consolas"/>
              </a:rPr>
              <a:t>SUB.D</a:t>
            </a:r>
            <a:endParaRPr sz="2200" dirty="0">
              <a:latin typeface="Consolas"/>
              <a:cs typeface="Consolas"/>
            </a:endParaRPr>
          </a:p>
          <a:p>
            <a:pPr lvl="1">
              <a:spcBef>
                <a:spcPts val="1262"/>
              </a:spcBef>
              <a:buFont typeface="Calibri"/>
              <a:buChar char="–"/>
            </a:pPr>
            <a:endParaRPr sz="1677" dirty="0">
              <a:latin typeface="Consolas"/>
              <a:cs typeface="Consolas"/>
            </a:endParaRPr>
          </a:p>
          <a:p>
            <a:pPr marL="280162" marR="120470" indent="-268956">
              <a:spcBef>
                <a:spcPts val="4"/>
              </a:spcBef>
              <a:buFont typeface="Calibri"/>
              <a:buChar char="•"/>
              <a:tabLst>
                <a:tab pos="280162" algn="l"/>
              </a:tabLst>
            </a:pPr>
            <a:r>
              <a:rPr sz="2400" b="1" spc="-9" dirty="0">
                <a:latin typeface="Calibri"/>
                <a:cs typeface="Calibri"/>
              </a:rPr>
              <a:t>Initiation</a:t>
            </a:r>
            <a:r>
              <a:rPr sz="2400" b="1" spc="-93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interval</a:t>
            </a:r>
            <a:r>
              <a:rPr sz="2400" b="1" spc="-8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8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1</a:t>
            </a:r>
            <a:r>
              <a:rPr sz="2400" b="1" spc="-10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means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SUB.D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start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one </a:t>
            </a:r>
            <a:r>
              <a:rPr sz="2400" dirty="0">
                <a:latin typeface="Calibri"/>
                <a:cs typeface="Calibri"/>
              </a:rPr>
              <a:t>cycle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behind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ADD.D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assuming</a:t>
            </a:r>
            <a:r>
              <a:rPr sz="2400" u="heavy" spc="-8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</a:t>
            </a:r>
            <a:r>
              <a:rPr sz="2400" u="heavy" spc="-9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dependence</a:t>
            </a:r>
            <a:endParaRPr sz="2400" dirty="0">
              <a:latin typeface="Calibri"/>
              <a:cs typeface="Calibri"/>
            </a:endParaRPr>
          </a:p>
          <a:p>
            <a:pPr marL="280162" marR="4483" indent="-268956">
              <a:spcBef>
                <a:spcPts val="847"/>
              </a:spcBef>
              <a:buFont typeface="Calibri"/>
              <a:buChar char="•"/>
              <a:tabLst>
                <a:tab pos="280162" algn="l"/>
              </a:tabLst>
            </a:pPr>
            <a:r>
              <a:rPr sz="2400" b="1" spc="-18" dirty="0">
                <a:latin typeface="Calibri"/>
                <a:cs typeface="Calibri"/>
              </a:rPr>
              <a:t>Latency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71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3</a:t>
            </a:r>
            <a:r>
              <a:rPr sz="2400" b="1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means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stalls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if</a:t>
            </a:r>
            <a:r>
              <a:rPr sz="2400" b="1" spc="-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SUB.D </a:t>
            </a:r>
            <a:r>
              <a:rPr sz="2400" dirty="0">
                <a:latin typeface="Calibri"/>
                <a:cs typeface="Calibri"/>
              </a:rPr>
              <a:t>needs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10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ADD.D</a:t>
            </a:r>
            <a:endParaRPr sz="2400" dirty="0">
              <a:latin typeface="Calibri"/>
              <a:cs typeface="Calibri"/>
            </a:endParaRPr>
          </a:p>
          <a:p>
            <a:pPr marL="654458" marR="121590" lvl="1" indent="-213483">
              <a:spcBef>
                <a:spcPts val="662"/>
              </a:spcBef>
              <a:buChar char="–"/>
              <a:tabLst>
                <a:tab pos="656139" algn="l"/>
              </a:tabLst>
            </a:pPr>
            <a:r>
              <a:rPr sz="2200" dirty="0">
                <a:latin typeface="Calibri"/>
                <a:cs typeface="Calibri"/>
              </a:rPr>
              <a:t>i.e.,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does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need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results,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then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need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3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instructions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between </a:t>
            </a:r>
            <a:r>
              <a:rPr sz="2200" dirty="0">
                <a:latin typeface="Calibri"/>
                <a:cs typeface="Calibri"/>
              </a:rPr>
              <a:t>ADD.D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SUB.D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prevent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bubbles in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pipeline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8892" y="581865"/>
            <a:ext cx="6850846" cy="603332"/>
          </a:xfrm>
          <a:prstGeom prst="rect">
            <a:avLst/>
          </a:prstGeom>
        </p:spPr>
        <p:txBody>
          <a:bodyPr vert="horz" wrap="square" lIns="0" tIns="140297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dirty="0"/>
              <a:t>Review</a:t>
            </a:r>
            <a:r>
              <a:rPr spc="-44" dirty="0"/>
              <a:t> </a:t>
            </a:r>
            <a:r>
              <a:rPr spc="-9" dirty="0"/>
              <a:t>Question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16128C-FE25-6C0B-0540-F1EBE924A60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24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996896" y="1284884"/>
            <a:ext cx="7314766" cy="2781078"/>
          </a:xfrm>
          <a:prstGeom prst="rect">
            <a:avLst/>
          </a:prstGeom>
        </p:spPr>
        <p:txBody>
          <a:bodyPr vert="horz" wrap="square" lIns="0" tIns="41462" rIns="0" bIns="0" rtlCol="0">
            <a:spAutoFit/>
          </a:bodyPr>
          <a:lstStyle/>
          <a:p>
            <a:pPr marL="278481" marR="4483" indent="-267835">
              <a:spcBef>
                <a:spcPts val="326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Assume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execution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MUL.D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instruction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fully </a:t>
            </a:r>
            <a:r>
              <a:rPr sz="2400" dirty="0">
                <a:latin typeface="Calibri"/>
                <a:cs typeface="Calibri"/>
              </a:rPr>
              <a:t>pipelined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architecture,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takes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7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cycles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execution.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latency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following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two </a:t>
            </a:r>
            <a:r>
              <a:rPr sz="2400" spc="-9" dirty="0">
                <a:latin typeface="Calibri"/>
                <a:cs typeface="Calibri"/>
              </a:rPr>
              <a:t>instructions?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591"/>
              </a:spcBef>
            </a:pPr>
            <a:endParaRPr sz="2400" dirty="0">
              <a:latin typeface="Calibri"/>
              <a:cs typeface="Calibri"/>
            </a:endParaRPr>
          </a:p>
          <a:p>
            <a:pPr marL="385503" marR="4499962">
              <a:spcAft>
                <a:spcPts val="600"/>
              </a:spcAft>
            </a:pPr>
            <a:r>
              <a:rPr sz="2400" dirty="0">
                <a:latin typeface="Calibri"/>
                <a:cs typeface="Calibri"/>
              </a:rPr>
              <a:t>MUL.D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F10,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F9,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F8</a:t>
            </a:r>
            <a:endParaRPr lang="en-US" sz="2400" spc="-22" dirty="0">
              <a:latin typeface="Calibri"/>
              <a:cs typeface="Calibri"/>
            </a:endParaRPr>
          </a:p>
          <a:p>
            <a:pPr marL="385503" marR="4499962">
              <a:spcAft>
                <a:spcPts val="600"/>
              </a:spcAft>
            </a:pPr>
            <a:r>
              <a:rPr sz="2400" dirty="0">
                <a:latin typeface="Calibri"/>
                <a:cs typeface="Calibri"/>
              </a:rPr>
              <a:t>ADD.D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F9,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F10,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F8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6393" y="742083"/>
            <a:ext cx="6958853" cy="703813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ts val="3521"/>
              </a:lnSpc>
              <a:spcBef>
                <a:spcPts val="88"/>
              </a:spcBef>
            </a:pPr>
            <a:r>
              <a:rPr dirty="0"/>
              <a:t>Examples</a:t>
            </a:r>
            <a:r>
              <a:rPr spc="-49" dirty="0"/>
              <a:t> </a:t>
            </a:r>
            <a:r>
              <a:rPr spc="-9" dirty="0"/>
              <a:t>(cont.)</a:t>
            </a:r>
          </a:p>
          <a:p>
            <a:pPr marL="11206">
              <a:lnSpc>
                <a:spcPts val="1932"/>
              </a:lnSpc>
            </a:pPr>
            <a:r>
              <a:rPr sz="1677" dirty="0"/>
              <a:t>Figure</a:t>
            </a:r>
            <a:r>
              <a:rPr sz="1677" spc="-22" dirty="0"/>
              <a:t> </a:t>
            </a:r>
            <a:r>
              <a:rPr sz="1677" spc="-18" dirty="0"/>
              <a:t>C.36</a:t>
            </a:r>
            <a:endParaRPr sz="1677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D7D30-D649-C4EA-7537-489BF48B0CC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25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1020341" y="4590377"/>
            <a:ext cx="7422213" cy="664209"/>
          </a:xfrm>
          <a:prstGeom prst="rect">
            <a:avLst/>
          </a:prstGeom>
        </p:spPr>
        <p:txBody>
          <a:bodyPr vert="horz" wrap="square" lIns="0" tIns="48185" rIns="0" bIns="0" rtlCol="0">
            <a:spAutoFit/>
          </a:bodyPr>
          <a:lstStyle/>
          <a:p>
            <a:pPr marL="278481" marR="4483" indent="-267835">
              <a:lnSpc>
                <a:spcPts val="2391"/>
              </a:lnSpc>
              <a:spcBef>
                <a:spcPts val="379"/>
              </a:spcBef>
              <a:buFont typeface="Calibri"/>
              <a:buChar char="•"/>
              <a:tabLst>
                <a:tab pos="278481" algn="l"/>
              </a:tabLst>
            </a:pP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Italics</a:t>
            </a:r>
            <a:r>
              <a:rPr sz="2400" i="1" spc="4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shows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needed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(when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forwarding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use), </a:t>
            </a:r>
            <a:r>
              <a:rPr sz="2400" dirty="0">
                <a:solidFill>
                  <a:srgbClr val="114FFB"/>
                </a:solidFill>
                <a:latin typeface="Calibri"/>
                <a:cs typeface="Calibri"/>
              </a:rPr>
              <a:t>blue</a:t>
            </a:r>
            <a:r>
              <a:rPr sz="2400" spc="44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</a:t>
            </a:r>
            <a:r>
              <a:rPr sz="2400" spc="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available</a:t>
            </a:r>
            <a:endParaRPr sz="24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630755"/>
              </p:ext>
            </p:extLst>
          </p:nvPr>
        </p:nvGraphicFramePr>
        <p:xfrm>
          <a:off x="991417" y="1911794"/>
          <a:ext cx="7422213" cy="25678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1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3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0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00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5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66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66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05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70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05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21366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MUL.D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M1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M2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M3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M4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M5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M6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5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25" dirty="0">
                          <a:solidFill>
                            <a:srgbClr val="114FFB"/>
                          </a:solidFill>
                          <a:latin typeface="Calibri"/>
                          <a:cs typeface="Calibri"/>
                        </a:rPr>
                        <a:t>M7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MEM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WB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821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ADD.D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9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A2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A3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25" dirty="0">
                          <a:solidFill>
                            <a:srgbClr val="114FFB"/>
                          </a:solidFill>
                          <a:latin typeface="Calibri"/>
                          <a:cs typeface="Calibri"/>
                        </a:rPr>
                        <a:t>A4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MEM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112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WB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821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L.D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EX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25" dirty="0">
                          <a:solidFill>
                            <a:srgbClr val="114FFB"/>
                          </a:solidFill>
                          <a:latin typeface="Calibri"/>
                          <a:cs typeface="Calibri"/>
                        </a:rPr>
                        <a:t>MEM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WB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821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S.D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EX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i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MEM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WB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2338" y="581866"/>
            <a:ext cx="6815677" cy="603332"/>
          </a:xfrm>
          <a:prstGeom prst="rect">
            <a:avLst/>
          </a:prstGeom>
        </p:spPr>
        <p:txBody>
          <a:bodyPr vert="horz" wrap="square" lIns="0" tIns="140297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dirty="0"/>
              <a:t>Hazards</a:t>
            </a:r>
            <a:r>
              <a:rPr spc="-26" dirty="0"/>
              <a:t> </a:t>
            </a:r>
            <a:r>
              <a:rPr dirty="0"/>
              <a:t>caused</a:t>
            </a:r>
            <a:r>
              <a:rPr spc="-13" dirty="0"/>
              <a:t> </a:t>
            </a:r>
            <a:r>
              <a:rPr dirty="0"/>
              <a:t>by</a:t>
            </a:r>
            <a:r>
              <a:rPr spc="-22" dirty="0"/>
              <a:t> </a:t>
            </a:r>
            <a:r>
              <a:rPr dirty="0"/>
              <a:t>long</a:t>
            </a:r>
            <a:r>
              <a:rPr spc="-18" dirty="0"/>
              <a:t> </a:t>
            </a:r>
            <a:r>
              <a:rPr spc="-9" dirty="0"/>
              <a:t>instructions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D2CF2-9E56-126A-81F2-FD8EF6624CC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26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996896" y="1320052"/>
            <a:ext cx="7338212" cy="2397149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marR="4483" indent="-267835">
              <a:spcBef>
                <a:spcPts val="393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FP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adder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</a:t>
            </a:r>
            <a:r>
              <a:rPr lang="en-US" sz="2400" dirty="0">
                <a:latin typeface="Calibri"/>
                <a:cs typeface="Calibri"/>
              </a:rPr>
              <a:t>P</a:t>
            </a:r>
            <a:r>
              <a:rPr sz="2400" dirty="0">
                <a:latin typeface="Calibri"/>
                <a:cs typeface="Calibri"/>
              </a:rPr>
              <a:t>/Integer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multiplier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pipelined,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but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divider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(initiation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interval: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25)</a:t>
            </a:r>
            <a:endParaRPr lang="en-US" sz="2400" dirty="0">
              <a:latin typeface="Calibri"/>
              <a:cs typeface="Calibri"/>
            </a:endParaRPr>
          </a:p>
          <a:p>
            <a:pPr marL="439294">
              <a:spcBef>
                <a:spcPts val="410"/>
              </a:spcBef>
            </a:pPr>
            <a:r>
              <a:rPr lang="en-US" sz="2000" dirty="0">
                <a:latin typeface="Calibri"/>
                <a:cs typeface="Calibri"/>
              </a:rPr>
              <a:t>–</a:t>
            </a:r>
            <a:r>
              <a:rPr lang="en-US" sz="2000" spc="437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program will</a:t>
            </a:r>
            <a:r>
              <a:rPr lang="en-US" sz="2000" spc="-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run</a:t>
            </a:r>
            <a:r>
              <a:rPr lang="en-US" sz="2000" spc="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very</a:t>
            </a:r>
            <a:r>
              <a:rPr lang="en-US" sz="2000" spc="-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slowly if</a:t>
            </a:r>
            <a:r>
              <a:rPr lang="en-US" sz="2000" spc="-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-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does</a:t>
            </a:r>
            <a:r>
              <a:rPr lang="en-US" sz="2000" spc="-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too many of</a:t>
            </a:r>
            <a:r>
              <a:rPr lang="en-US" sz="2000" spc="-4" dirty="0">
                <a:latin typeface="Calibri"/>
                <a:cs typeface="Calibri"/>
              </a:rPr>
              <a:t> </a:t>
            </a:r>
            <a:r>
              <a:rPr lang="en-US" sz="2000" spc="-9" dirty="0">
                <a:latin typeface="Calibri"/>
                <a:cs typeface="Calibri"/>
              </a:rPr>
              <a:t>these!</a:t>
            </a:r>
            <a:endParaRPr lang="en-US" sz="2000" dirty="0">
              <a:latin typeface="Calibri"/>
              <a:cs typeface="Calibri"/>
            </a:endParaRPr>
          </a:p>
          <a:p>
            <a:pPr>
              <a:spcBef>
                <a:spcPts val="1099"/>
              </a:spcBef>
            </a:pPr>
            <a:endParaRPr sz="2400" dirty="0">
              <a:latin typeface="Calibri"/>
              <a:cs typeface="Calibri"/>
            </a:endParaRPr>
          </a:p>
          <a:p>
            <a:pPr marL="278481" marR="739067" indent="-267835"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slowly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results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divide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are </a:t>
            </a:r>
            <a:r>
              <a:rPr sz="2400" dirty="0">
                <a:latin typeface="Calibri"/>
                <a:cs typeface="Calibri"/>
              </a:rPr>
              <a:t>needed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too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soon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(RAW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hazards)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7169" y="581866"/>
            <a:ext cx="6850846" cy="603332"/>
          </a:xfrm>
          <a:prstGeom prst="rect">
            <a:avLst/>
          </a:prstGeom>
        </p:spPr>
        <p:txBody>
          <a:bodyPr vert="horz" wrap="square" lIns="0" tIns="140297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dirty="0"/>
              <a:t>FP</a:t>
            </a:r>
            <a:r>
              <a:rPr spc="-22" dirty="0"/>
              <a:t> </a:t>
            </a:r>
            <a:r>
              <a:rPr dirty="0"/>
              <a:t>stalls</a:t>
            </a:r>
            <a:r>
              <a:rPr spc="-22" dirty="0"/>
              <a:t> </a:t>
            </a:r>
            <a:r>
              <a:rPr dirty="0"/>
              <a:t>from</a:t>
            </a:r>
            <a:r>
              <a:rPr spc="-18" dirty="0"/>
              <a:t> </a:t>
            </a:r>
            <a:r>
              <a:rPr dirty="0"/>
              <a:t>RAW</a:t>
            </a:r>
            <a:r>
              <a:rPr spc="-31" dirty="0"/>
              <a:t> </a:t>
            </a:r>
            <a:r>
              <a:rPr dirty="0"/>
              <a:t>hazards</a:t>
            </a:r>
            <a:r>
              <a:rPr spc="-22" dirty="0"/>
              <a:t> </a:t>
            </a:r>
            <a:r>
              <a:rPr dirty="0"/>
              <a:t>–</a:t>
            </a:r>
            <a:r>
              <a:rPr spc="-13" dirty="0"/>
              <a:t> </a:t>
            </a:r>
            <a:r>
              <a:rPr dirty="0"/>
              <a:t>Fig.</a:t>
            </a:r>
            <a:r>
              <a:rPr spc="-18" dirty="0"/>
              <a:t> C.37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EA1902-C2DF-7A8F-8B8F-A3F6E00ADA8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27</a:t>
            </a:fld>
            <a:endParaRPr lang="en-US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122737"/>
              </p:ext>
            </p:extLst>
          </p:nvPr>
        </p:nvGraphicFramePr>
        <p:xfrm>
          <a:off x="611664" y="1431708"/>
          <a:ext cx="8130990" cy="23554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1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0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1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10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10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10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10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10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20488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Inst.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307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L.D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F4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0(R2)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EX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MEM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WB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187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MUL.D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F0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F4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,F6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stall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M1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M2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M3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M4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M5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307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ADD.D</a:t>
                      </a:r>
                      <a:r>
                        <a:rPr sz="18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3366FF"/>
                          </a:solidFill>
                          <a:latin typeface="Calibri"/>
                          <a:cs typeface="Calibri"/>
                        </a:rPr>
                        <a:t>F2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b="1" spc="-10" dirty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F0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,F8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stall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10" dirty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stall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10" dirty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stall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10" dirty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stall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10" dirty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stall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187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S.D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3366FF"/>
                          </a:solidFill>
                          <a:latin typeface="Calibri"/>
                          <a:cs typeface="Calibri"/>
                        </a:rPr>
                        <a:t>F2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0(R2)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9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stall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10" dirty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stall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10" dirty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stall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10" dirty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stall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10" dirty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stall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531225"/>
              </p:ext>
            </p:extLst>
          </p:nvPr>
        </p:nvGraphicFramePr>
        <p:xfrm>
          <a:off x="612677" y="3980773"/>
          <a:ext cx="7423333" cy="2490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1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7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27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7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27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27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27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27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8073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Inst.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206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20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20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20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13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20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20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20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20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20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073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L.D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F4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0(R2)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073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MUL.D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F0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F4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,F6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M6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M7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MEM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WB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073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ADD.D</a:t>
                      </a:r>
                      <a:r>
                        <a:rPr sz="18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3366FF"/>
                          </a:solidFill>
                          <a:latin typeface="Calibri"/>
                          <a:cs typeface="Calibri"/>
                        </a:rPr>
                        <a:t>F2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b="1" spc="-10" dirty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F0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,F8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40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spc="-10" dirty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stall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4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spc="-10" dirty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stall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4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A1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4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A2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4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A3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4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A4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4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MEM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4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WB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4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73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S.D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3366FF"/>
                          </a:solidFill>
                          <a:latin typeface="Calibri"/>
                          <a:cs typeface="Calibri"/>
                        </a:rPr>
                        <a:t>F2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0(R2)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10" dirty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stall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10" dirty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stall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EX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10" dirty="0">
                          <a:solidFill>
                            <a:srgbClr val="3366FF"/>
                          </a:solidFill>
                          <a:latin typeface="Calibri"/>
                          <a:cs typeface="Calibri"/>
                        </a:rPr>
                        <a:t>stall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10" dirty="0">
                          <a:solidFill>
                            <a:srgbClr val="3366FF"/>
                          </a:solidFill>
                          <a:latin typeface="Calibri"/>
                          <a:cs typeface="Calibri"/>
                        </a:rPr>
                        <a:t>stall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10" dirty="0">
                          <a:solidFill>
                            <a:srgbClr val="FF6600"/>
                          </a:solidFill>
                          <a:latin typeface="Calibri"/>
                          <a:cs typeface="Calibri"/>
                        </a:rPr>
                        <a:t>stall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MEM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86773" y="5384649"/>
            <a:ext cx="551329" cy="39534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0831" y="581866"/>
            <a:ext cx="6870630" cy="603332"/>
          </a:xfrm>
          <a:prstGeom prst="rect">
            <a:avLst/>
          </a:prstGeom>
        </p:spPr>
        <p:txBody>
          <a:bodyPr vert="horz" wrap="square" lIns="0" tIns="140297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b="1" dirty="0">
                <a:latin typeface="Calibri"/>
                <a:cs typeface="Calibri"/>
              </a:rPr>
              <a:t>Structural</a:t>
            </a:r>
            <a:r>
              <a:rPr b="1" spc="-62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Hazard</a:t>
            </a:r>
            <a:r>
              <a:rPr b="1" spc="-71" dirty="0">
                <a:latin typeface="Calibri"/>
                <a:cs typeface="Calibri"/>
              </a:rPr>
              <a:t> </a:t>
            </a:r>
            <a:r>
              <a:rPr dirty="0"/>
              <a:t>from</a:t>
            </a:r>
            <a:r>
              <a:rPr spc="-62" dirty="0"/>
              <a:t> </a:t>
            </a:r>
            <a:r>
              <a:rPr dirty="0"/>
              <a:t>Long</a:t>
            </a:r>
            <a:r>
              <a:rPr spc="-57" dirty="0"/>
              <a:t> </a:t>
            </a:r>
            <a:r>
              <a:rPr spc="-9" dirty="0"/>
              <a:t>instructions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E84882-F040-FCB0-D802-31E2F9F974B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28</a:t>
            </a:fld>
            <a:endParaRPr lang="en-US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77385" y="2482546"/>
          <a:ext cx="7635688" cy="28776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4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3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3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39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39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39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39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19418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10" dirty="0">
                          <a:latin typeface="Calibri"/>
                          <a:cs typeface="Calibri"/>
                        </a:rPr>
                        <a:t>ADD.D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A1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A2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A3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A4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MEM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WB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418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LD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825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825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825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ALU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825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MEM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825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WB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825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9418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665"/>
                        </a:spcBef>
                      </a:pPr>
                      <a:r>
                        <a:rPr sz="1900" b="1" spc="-20" dirty="0">
                          <a:latin typeface="Calibri"/>
                          <a:cs typeface="Calibri"/>
                        </a:rPr>
                        <a:t>DADD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657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65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65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65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65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65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ALU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65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65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MEM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65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65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WB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65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9418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20" dirty="0">
                          <a:latin typeface="Calibri"/>
                          <a:cs typeface="Calibri"/>
                        </a:rPr>
                        <a:t>DADD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ALU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MEM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WB</a:t>
                      </a:r>
                      <a:endParaRPr sz="1900" dirty="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0831" y="581866"/>
            <a:ext cx="6870630" cy="603332"/>
          </a:xfrm>
          <a:prstGeom prst="rect">
            <a:avLst/>
          </a:prstGeom>
        </p:spPr>
        <p:txBody>
          <a:bodyPr vert="horz" wrap="square" lIns="0" tIns="140297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b="1" dirty="0">
                <a:latin typeface="Calibri"/>
                <a:cs typeface="Calibri"/>
              </a:rPr>
              <a:t>Structural</a:t>
            </a:r>
            <a:r>
              <a:rPr b="1" spc="-62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Hazard</a:t>
            </a:r>
            <a:r>
              <a:rPr b="1" spc="-71" dirty="0">
                <a:latin typeface="Calibri"/>
                <a:cs typeface="Calibri"/>
              </a:rPr>
              <a:t> </a:t>
            </a:r>
            <a:r>
              <a:rPr dirty="0"/>
              <a:t>from</a:t>
            </a:r>
            <a:r>
              <a:rPr spc="-62" dirty="0"/>
              <a:t> </a:t>
            </a:r>
            <a:r>
              <a:rPr dirty="0"/>
              <a:t>Long</a:t>
            </a:r>
            <a:r>
              <a:rPr spc="-57" dirty="0"/>
              <a:t> </a:t>
            </a:r>
            <a:r>
              <a:rPr spc="-9" dirty="0"/>
              <a:t>instructions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E7C09-FD70-7F1E-B450-D35D34078D0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29</a:t>
            </a:fld>
            <a:endParaRPr lang="en-US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77385" y="2482546"/>
          <a:ext cx="7635688" cy="28776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4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3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3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39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39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39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39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19418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10" dirty="0">
                          <a:latin typeface="Calibri"/>
                          <a:cs typeface="Calibri"/>
                        </a:rPr>
                        <a:t>ADD.D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A1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A2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A3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A4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MEM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WB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418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LD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825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825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825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ALU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825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MEM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825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WB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825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9418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665"/>
                        </a:spcBef>
                      </a:pPr>
                      <a:r>
                        <a:rPr sz="1900" b="1" spc="-20" dirty="0">
                          <a:latin typeface="Calibri"/>
                          <a:cs typeface="Calibri"/>
                        </a:rPr>
                        <a:t>DADD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657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65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65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65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65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65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ALU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65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65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MEM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65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65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WB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65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9418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20" dirty="0">
                          <a:latin typeface="Calibri"/>
                          <a:cs typeface="Calibri"/>
                        </a:rPr>
                        <a:t>DADD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ALU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25" dirty="0">
                          <a:latin typeface="Calibri"/>
                          <a:cs typeface="Calibri"/>
                        </a:rPr>
                        <a:t>MEM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9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WB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871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586451" y="1543273"/>
            <a:ext cx="6089837" cy="6902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spcBef>
                <a:spcPts val="88"/>
              </a:spcBef>
            </a:pPr>
            <a:r>
              <a:rPr sz="2206" b="1" i="1" dirty="0">
                <a:solidFill>
                  <a:srgbClr val="000066"/>
                </a:solidFill>
                <a:latin typeface="Calibri"/>
                <a:cs typeface="Calibri"/>
              </a:rPr>
              <a:t>It</a:t>
            </a:r>
            <a:r>
              <a:rPr sz="2206" b="1" i="1" spc="53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6" b="1" i="1" dirty="0">
                <a:solidFill>
                  <a:srgbClr val="000066"/>
                </a:solidFill>
                <a:latin typeface="Calibri"/>
                <a:cs typeface="Calibri"/>
              </a:rPr>
              <a:t>is</a:t>
            </a:r>
            <a:r>
              <a:rPr sz="2206" b="1" i="1" spc="53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6" b="1" i="1" dirty="0">
                <a:solidFill>
                  <a:srgbClr val="000066"/>
                </a:solidFill>
                <a:latin typeface="Calibri"/>
                <a:cs typeface="Calibri"/>
              </a:rPr>
              <a:t>possible</a:t>
            </a:r>
            <a:r>
              <a:rPr sz="2206" b="1" i="1" spc="49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6" b="1" i="1" dirty="0">
                <a:solidFill>
                  <a:srgbClr val="000066"/>
                </a:solidFill>
                <a:latin typeface="Calibri"/>
                <a:cs typeface="Calibri"/>
              </a:rPr>
              <a:t>that</a:t>
            </a:r>
            <a:r>
              <a:rPr sz="2206" b="1" i="1" spc="53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6" b="1" i="1" dirty="0">
                <a:solidFill>
                  <a:srgbClr val="000066"/>
                </a:solidFill>
                <a:latin typeface="Calibri"/>
                <a:cs typeface="Calibri"/>
              </a:rPr>
              <a:t>two</a:t>
            </a:r>
            <a:r>
              <a:rPr sz="2206" b="1" i="1" spc="44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6" b="1" i="1" dirty="0">
                <a:solidFill>
                  <a:srgbClr val="000066"/>
                </a:solidFill>
                <a:latin typeface="Calibri"/>
                <a:cs typeface="Calibri"/>
              </a:rPr>
              <a:t>instructions</a:t>
            </a:r>
            <a:r>
              <a:rPr sz="2206" b="1" i="1" spc="57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6" b="1" i="1" dirty="0">
                <a:solidFill>
                  <a:srgbClr val="000066"/>
                </a:solidFill>
                <a:latin typeface="Calibri"/>
                <a:cs typeface="Calibri"/>
              </a:rPr>
              <a:t>enter</a:t>
            </a:r>
            <a:r>
              <a:rPr sz="2206" b="1" i="1" spc="53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6" b="1" i="1" dirty="0">
                <a:solidFill>
                  <a:srgbClr val="000066"/>
                </a:solidFill>
                <a:latin typeface="Calibri"/>
                <a:cs typeface="Calibri"/>
              </a:rPr>
              <a:t>a</a:t>
            </a:r>
            <a:r>
              <a:rPr sz="2206" b="1" i="1" spc="49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6" b="1" i="1" dirty="0">
                <a:solidFill>
                  <a:srgbClr val="000066"/>
                </a:solidFill>
                <a:latin typeface="Calibri"/>
                <a:cs typeface="Calibri"/>
              </a:rPr>
              <a:t>WB</a:t>
            </a:r>
            <a:r>
              <a:rPr sz="2206" b="1" i="1" spc="57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6" b="1" i="1" spc="-9" dirty="0">
                <a:solidFill>
                  <a:srgbClr val="000066"/>
                </a:solidFill>
                <a:latin typeface="Calibri"/>
                <a:cs typeface="Calibri"/>
              </a:rPr>
              <a:t>stage </a:t>
            </a:r>
            <a:r>
              <a:rPr sz="2206" b="1" i="1" dirty="0">
                <a:solidFill>
                  <a:srgbClr val="000066"/>
                </a:solidFill>
                <a:latin typeface="Calibri"/>
                <a:cs typeface="Calibri"/>
              </a:rPr>
              <a:t>at</a:t>
            </a:r>
            <a:r>
              <a:rPr sz="2206" b="1" i="1" spc="40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6" b="1" i="1" dirty="0">
                <a:solidFill>
                  <a:srgbClr val="000066"/>
                </a:solidFill>
                <a:latin typeface="Calibri"/>
                <a:cs typeface="Calibri"/>
              </a:rPr>
              <a:t>the</a:t>
            </a:r>
            <a:r>
              <a:rPr sz="2206" b="1" i="1" spc="35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6" b="1" i="1" dirty="0">
                <a:solidFill>
                  <a:srgbClr val="000066"/>
                </a:solidFill>
                <a:latin typeface="Calibri"/>
                <a:cs typeface="Calibri"/>
              </a:rPr>
              <a:t>same</a:t>
            </a:r>
            <a:r>
              <a:rPr sz="2206" b="1" i="1" spc="35" dirty="0">
                <a:solidFill>
                  <a:srgbClr val="000066"/>
                </a:solidFill>
                <a:latin typeface="Calibri"/>
                <a:cs typeface="Calibri"/>
              </a:rPr>
              <a:t> </a:t>
            </a:r>
            <a:r>
              <a:rPr sz="2206" b="1" i="1" spc="-18" dirty="0">
                <a:solidFill>
                  <a:srgbClr val="000066"/>
                </a:solidFill>
                <a:latin typeface="Calibri"/>
                <a:cs typeface="Calibri"/>
              </a:rPr>
              <a:t>time</a:t>
            </a:r>
            <a:endParaRPr sz="2206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8892" y="570143"/>
            <a:ext cx="6839123" cy="603332"/>
          </a:xfrm>
          <a:prstGeom prst="rect">
            <a:avLst/>
          </a:prstGeom>
        </p:spPr>
        <p:txBody>
          <a:bodyPr vert="horz" wrap="square" lIns="0" tIns="140297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dirty="0"/>
              <a:t>Long</a:t>
            </a:r>
            <a:r>
              <a:rPr spc="-35" dirty="0"/>
              <a:t> </a:t>
            </a:r>
            <a:r>
              <a:rPr dirty="0"/>
              <a:t>instructions</a:t>
            </a:r>
            <a:r>
              <a:rPr spc="-44" dirty="0"/>
              <a:t> </a:t>
            </a:r>
            <a:r>
              <a:rPr dirty="0"/>
              <a:t>-</a:t>
            </a:r>
            <a:r>
              <a:rPr spc="-49" dirty="0"/>
              <a:t> </a:t>
            </a:r>
            <a:r>
              <a:rPr dirty="0"/>
              <a:t>WAW</a:t>
            </a:r>
            <a:r>
              <a:rPr spc="-49" dirty="0"/>
              <a:t> </a:t>
            </a:r>
            <a:r>
              <a:rPr dirty="0"/>
              <a:t>structural</a:t>
            </a:r>
            <a:r>
              <a:rPr spc="-40" dirty="0"/>
              <a:t> </a:t>
            </a:r>
            <a:r>
              <a:rPr spc="-9" dirty="0"/>
              <a:t>Hazard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EF43B-A27C-043D-7BE9-E8CC1AA09F1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30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1020342" y="1237555"/>
            <a:ext cx="6224520" cy="811006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278481" indent="-267275">
              <a:spcBef>
                <a:spcPts val="644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Instructions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finish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wrong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order</a:t>
            </a:r>
            <a:endParaRPr sz="2400" dirty="0">
              <a:latin typeface="Calibri"/>
              <a:cs typeface="Calibri"/>
            </a:endParaRPr>
          </a:p>
          <a:p>
            <a:pPr marL="439294">
              <a:spcBef>
                <a:spcPts val="424"/>
              </a:spcBef>
            </a:pPr>
            <a:r>
              <a:rPr sz="1677" dirty="0">
                <a:latin typeface="Calibri"/>
                <a:cs typeface="Calibri"/>
              </a:rPr>
              <a:t>–</a:t>
            </a:r>
            <a:r>
              <a:rPr sz="1677" spc="3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cause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WAW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hazards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252625"/>
              </p:ext>
            </p:extLst>
          </p:nvPr>
        </p:nvGraphicFramePr>
        <p:xfrm>
          <a:off x="439241" y="2292296"/>
          <a:ext cx="8183656" cy="36351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4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0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90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90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543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654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654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654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654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654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654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654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8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654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654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654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654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MUL.D</a:t>
                      </a:r>
                      <a:r>
                        <a:rPr sz="16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F0,F4,F6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M1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M2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M3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M4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M5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M6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M7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MEM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WB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EX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MEM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WB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8222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822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822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EX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822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MEM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822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WB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822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ADD.D</a:t>
                      </a:r>
                      <a:r>
                        <a:rPr sz="16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F2,F4,F6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A1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A2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A3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A4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MEM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WB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EX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MEM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WB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101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10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10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EX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10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MEM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10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WB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10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L.D</a:t>
                      </a:r>
                      <a:r>
                        <a:rPr sz="16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F2,0(R2)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101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10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10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EX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10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MEM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10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WB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11710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60270-A665-39D8-BA9E-C911CC3A563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31</a:t>
            </a:fld>
            <a:endParaRPr lang="en-US"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453686"/>
              </p:ext>
            </p:extLst>
          </p:nvPr>
        </p:nvGraphicFramePr>
        <p:xfrm>
          <a:off x="439241" y="2292296"/>
          <a:ext cx="8183656" cy="36351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4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0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90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90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543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654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654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654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654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654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654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654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8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654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654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654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654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MUL.D</a:t>
                      </a:r>
                      <a:r>
                        <a:rPr sz="16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F0,F4,F6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M1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M2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M3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M4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M5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M6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M7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MEM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WB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EX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MEM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WB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98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8222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822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822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EX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822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MEM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822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WB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822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ADD.D</a:t>
                      </a:r>
                      <a:r>
                        <a:rPr sz="16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F2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,F4,F6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A1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A2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A3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A4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MEM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WB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EX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MEM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WB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66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600" b="1" spc="-50" dirty="0"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101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10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10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EX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10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MEM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10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WB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10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L.D</a:t>
                      </a:r>
                      <a:r>
                        <a:rPr sz="16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F2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,0(R2)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101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10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10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EX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10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MEM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710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6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WB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11710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object 2">
            <a:extLst>
              <a:ext uri="{FF2B5EF4-FFF2-40B4-BE49-F238E27FC236}">
                <a16:creationId xmlns:a16="http://schemas.microsoft.com/office/drawing/2014/main" id="{BAD12648-38F6-30A4-8F9B-494D99580D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8892" y="570143"/>
            <a:ext cx="6839123" cy="603332"/>
          </a:xfrm>
          <a:prstGeom prst="rect">
            <a:avLst/>
          </a:prstGeom>
        </p:spPr>
        <p:txBody>
          <a:bodyPr vert="horz" wrap="square" lIns="0" tIns="140297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dirty="0"/>
              <a:t>Long</a:t>
            </a:r>
            <a:r>
              <a:rPr spc="-35" dirty="0"/>
              <a:t> </a:t>
            </a:r>
            <a:r>
              <a:rPr dirty="0"/>
              <a:t>instructions</a:t>
            </a:r>
            <a:r>
              <a:rPr spc="-44" dirty="0"/>
              <a:t> </a:t>
            </a:r>
            <a:r>
              <a:rPr dirty="0"/>
              <a:t>-</a:t>
            </a:r>
            <a:r>
              <a:rPr spc="-49" dirty="0"/>
              <a:t> </a:t>
            </a:r>
            <a:r>
              <a:rPr dirty="0"/>
              <a:t>WAW</a:t>
            </a:r>
            <a:r>
              <a:rPr spc="-49" dirty="0"/>
              <a:t> </a:t>
            </a:r>
            <a:r>
              <a:rPr dirty="0"/>
              <a:t>structural</a:t>
            </a:r>
            <a:r>
              <a:rPr spc="-40" dirty="0"/>
              <a:t> </a:t>
            </a:r>
            <a:r>
              <a:rPr spc="-9" dirty="0"/>
              <a:t>Hazard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A1252D2F-C5BC-68E8-2E41-F29BE586C043}"/>
              </a:ext>
            </a:extLst>
          </p:cNvPr>
          <p:cNvSpPr txBox="1"/>
          <p:nvPr/>
        </p:nvSpPr>
        <p:spPr>
          <a:xfrm>
            <a:off x="1020342" y="1237555"/>
            <a:ext cx="6224520" cy="811006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278481" indent="-267275">
              <a:spcBef>
                <a:spcPts val="644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Instructions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finish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wrong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order</a:t>
            </a:r>
            <a:endParaRPr sz="2400" dirty="0">
              <a:latin typeface="Calibri"/>
              <a:cs typeface="Calibri"/>
            </a:endParaRPr>
          </a:p>
          <a:p>
            <a:pPr marL="439294">
              <a:spcBef>
                <a:spcPts val="424"/>
              </a:spcBef>
            </a:pPr>
            <a:r>
              <a:rPr sz="1677" dirty="0">
                <a:latin typeface="Calibri"/>
                <a:cs typeface="Calibri"/>
              </a:rPr>
              <a:t>–</a:t>
            </a:r>
            <a:r>
              <a:rPr sz="1677" spc="3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cause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WAW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hazards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8892" y="570142"/>
            <a:ext cx="6827400" cy="603332"/>
          </a:xfrm>
          <a:prstGeom prst="rect">
            <a:avLst/>
          </a:prstGeom>
        </p:spPr>
        <p:txBody>
          <a:bodyPr vert="horz" wrap="square" lIns="0" tIns="140297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dirty="0"/>
              <a:t>Long</a:t>
            </a:r>
            <a:r>
              <a:rPr spc="-44" dirty="0"/>
              <a:t> </a:t>
            </a:r>
            <a:r>
              <a:rPr dirty="0"/>
              <a:t>instructions</a:t>
            </a:r>
            <a:r>
              <a:rPr spc="-49" dirty="0"/>
              <a:t> </a:t>
            </a:r>
            <a:r>
              <a:rPr spc="-9" dirty="0"/>
              <a:t>(cont.)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C1D9F77-F28E-4032-2E51-6C6919A0AA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32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1020342" y="1252817"/>
            <a:ext cx="6100482" cy="881991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278481" indent="-267275">
              <a:spcBef>
                <a:spcPts val="618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Instructions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finish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wrong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order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cause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WAW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hazards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0341" y="2294862"/>
            <a:ext cx="6435535" cy="147415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78481" indent="-267275">
              <a:spcBef>
                <a:spcPts val="88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violation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WB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ordering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defeats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previous</a:t>
            </a:r>
            <a:r>
              <a:rPr lang="en-US" sz="2400" spc="-9" dirty="0">
                <a:latin typeface="Calibri"/>
                <a:cs typeface="Calibri"/>
              </a:rPr>
              <a:t> </a:t>
            </a:r>
            <a:r>
              <a:rPr lang="en-US" sz="2400" dirty="0">
                <a:cs typeface="Calibri"/>
              </a:rPr>
              <a:t>strategy</a:t>
            </a:r>
            <a:r>
              <a:rPr lang="en-US" sz="2400" spc="57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for</a:t>
            </a:r>
            <a:r>
              <a:rPr lang="en-US" sz="2400" spc="57" dirty="0">
                <a:cs typeface="Calibri"/>
              </a:rPr>
              <a:t> </a:t>
            </a:r>
            <a:r>
              <a:rPr lang="en-US" sz="2400" dirty="0">
                <a:solidFill>
                  <a:srgbClr val="FF0000"/>
                </a:solidFill>
                <a:cs typeface="Calibri"/>
              </a:rPr>
              <a:t>precise</a:t>
            </a:r>
            <a:r>
              <a:rPr lang="en-US" sz="2400" spc="66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sz="2400" dirty="0">
                <a:solidFill>
                  <a:srgbClr val="FF0000"/>
                </a:solidFill>
                <a:cs typeface="Calibri"/>
              </a:rPr>
              <a:t>exception</a:t>
            </a:r>
            <a:r>
              <a:rPr lang="en-US" sz="2400" spc="62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sz="2400" spc="-9" dirty="0">
                <a:solidFill>
                  <a:srgbClr val="FF0000"/>
                </a:solidFill>
                <a:cs typeface="Calibri"/>
              </a:rPr>
              <a:t>handling</a:t>
            </a:r>
            <a:endParaRPr lang="en-US" sz="2400" dirty="0">
              <a:cs typeface="Calibri"/>
            </a:endParaRPr>
          </a:p>
          <a:p>
            <a:pPr marL="171459">
              <a:spcBef>
                <a:spcPts val="529"/>
              </a:spcBef>
            </a:pPr>
            <a:r>
              <a:rPr lang="en-US" sz="1677" dirty="0">
                <a:cs typeface="Calibri"/>
              </a:rPr>
              <a:t>   –</a:t>
            </a:r>
            <a:r>
              <a:rPr lang="en-US" sz="1677" spc="44" dirty="0">
                <a:cs typeface="Calibri"/>
              </a:rPr>
              <a:t>  </a:t>
            </a:r>
            <a:r>
              <a:rPr lang="en-US" sz="2000" dirty="0">
                <a:cs typeface="Calibri"/>
              </a:rPr>
              <a:t>problem</a:t>
            </a:r>
            <a:r>
              <a:rPr lang="en-US" sz="2000" spc="18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is</a:t>
            </a:r>
            <a:r>
              <a:rPr lang="en-US" sz="2000" spc="4" dirty="0">
                <a:cs typeface="Calibri"/>
              </a:rPr>
              <a:t> </a:t>
            </a:r>
            <a:r>
              <a:rPr lang="en-US" sz="2000" spc="-9" dirty="0">
                <a:solidFill>
                  <a:srgbClr val="FF0000"/>
                </a:solidFill>
                <a:cs typeface="Calibri"/>
              </a:rPr>
              <a:t>out-of-</a:t>
            </a:r>
            <a:r>
              <a:rPr lang="en-US" sz="2000" dirty="0">
                <a:solidFill>
                  <a:srgbClr val="FF0000"/>
                </a:solidFill>
                <a:cs typeface="Calibri"/>
              </a:rPr>
              <a:t>order</a:t>
            </a:r>
            <a:r>
              <a:rPr lang="en-US" sz="2000" spc="9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sz="2000" spc="-9" dirty="0">
                <a:solidFill>
                  <a:srgbClr val="FF0000"/>
                </a:solidFill>
                <a:cs typeface="Calibri"/>
              </a:rPr>
              <a:t>completion</a:t>
            </a:r>
            <a:endParaRPr lang="en-US" sz="2000" dirty="0">
              <a:cs typeface="Calibri"/>
            </a:endParaRPr>
          </a:p>
          <a:p>
            <a:pPr marL="278481" indent="-267275">
              <a:spcBef>
                <a:spcPts val="88"/>
              </a:spcBef>
              <a:buChar char="•"/>
              <a:tabLst>
                <a:tab pos="278481" algn="l"/>
              </a:tabLst>
            </a:pPr>
            <a:endParaRPr lang="en-US" sz="2206" spc="-9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9909" y="5197975"/>
            <a:ext cx="840119" cy="1200087"/>
          </a:xfrm>
          <a:prstGeom prst="rect">
            <a:avLst/>
          </a:prstGeom>
        </p:spPr>
        <p:txBody>
          <a:bodyPr vert="horz" wrap="square" lIns="0" tIns="5603" rIns="0" bIns="0" rtlCol="0">
            <a:spAutoFit/>
          </a:bodyPr>
          <a:lstStyle/>
          <a:p>
            <a:pPr marL="11206" marR="4483" algn="just">
              <a:lnSpc>
                <a:spcPct val="149400"/>
              </a:lnSpc>
              <a:spcBef>
                <a:spcPts val="44"/>
              </a:spcBef>
            </a:pPr>
            <a:r>
              <a:rPr b="1" spc="-22" dirty="0">
                <a:latin typeface="Consolas"/>
                <a:cs typeface="Consolas"/>
              </a:rPr>
              <a:t>DIV.D ADD.D SUB.D</a:t>
            </a:r>
            <a:endParaRPr dirty="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60028" y="5197975"/>
            <a:ext cx="1688725" cy="1200087"/>
          </a:xfrm>
          <a:prstGeom prst="rect">
            <a:avLst/>
          </a:prstGeom>
        </p:spPr>
        <p:txBody>
          <a:bodyPr vert="horz" wrap="square" lIns="0" tIns="5603" rIns="0" bIns="0" rtlCol="0">
            <a:spAutoFit/>
          </a:bodyPr>
          <a:lstStyle/>
          <a:p>
            <a:pPr marL="11206" marR="4483">
              <a:lnSpc>
                <a:spcPct val="149400"/>
              </a:lnSpc>
              <a:spcBef>
                <a:spcPts val="44"/>
              </a:spcBef>
            </a:pPr>
            <a:r>
              <a:rPr b="1" dirty="0">
                <a:latin typeface="Consolas"/>
                <a:cs typeface="Consolas"/>
              </a:rPr>
              <a:t>F0,</a:t>
            </a:r>
            <a:r>
              <a:rPr b="1" spc="-57" dirty="0">
                <a:latin typeface="Consolas"/>
                <a:cs typeface="Consolas"/>
              </a:rPr>
              <a:t> </a:t>
            </a:r>
            <a:r>
              <a:rPr b="1" dirty="0">
                <a:latin typeface="Consolas"/>
                <a:cs typeface="Consolas"/>
              </a:rPr>
              <a:t>F2,</a:t>
            </a:r>
            <a:r>
              <a:rPr b="1" spc="-57" dirty="0">
                <a:latin typeface="Consolas"/>
                <a:cs typeface="Consolas"/>
              </a:rPr>
              <a:t> </a:t>
            </a:r>
            <a:r>
              <a:rPr b="1" spc="-22" dirty="0">
                <a:latin typeface="Consolas"/>
                <a:cs typeface="Consolas"/>
              </a:rPr>
              <a:t>F4 </a:t>
            </a:r>
            <a:r>
              <a:rPr b="1" dirty="0">
                <a:latin typeface="Consolas"/>
                <a:cs typeface="Consolas"/>
              </a:rPr>
              <a:t>F10,</a:t>
            </a:r>
            <a:r>
              <a:rPr b="1" spc="-84" dirty="0">
                <a:latin typeface="Consolas"/>
                <a:cs typeface="Consolas"/>
              </a:rPr>
              <a:t> </a:t>
            </a:r>
            <a:r>
              <a:rPr b="1" dirty="0">
                <a:latin typeface="Consolas"/>
                <a:cs typeface="Consolas"/>
              </a:rPr>
              <a:t>F10,</a:t>
            </a:r>
            <a:r>
              <a:rPr b="1" spc="-71" dirty="0">
                <a:latin typeface="Consolas"/>
                <a:cs typeface="Consolas"/>
              </a:rPr>
              <a:t> </a:t>
            </a:r>
            <a:r>
              <a:rPr b="1" spc="-22" dirty="0">
                <a:latin typeface="Consolas"/>
                <a:cs typeface="Consolas"/>
              </a:rPr>
              <a:t>F8 </a:t>
            </a:r>
            <a:r>
              <a:rPr b="1" dirty="0">
                <a:latin typeface="Consolas"/>
                <a:cs typeface="Consolas"/>
              </a:rPr>
              <a:t>F12,</a:t>
            </a:r>
            <a:r>
              <a:rPr b="1" spc="-84" dirty="0">
                <a:latin typeface="Consolas"/>
                <a:cs typeface="Consolas"/>
              </a:rPr>
              <a:t> </a:t>
            </a:r>
            <a:r>
              <a:rPr b="1" dirty="0">
                <a:latin typeface="Consolas"/>
                <a:cs typeface="Consolas"/>
              </a:rPr>
              <a:t>F12,</a:t>
            </a:r>
            <a:r>
              <a:rPr b="1" spc="-71" dirty="0">
                <a:latin typeface="Consolas"/>
                <a:cs typeface="Consolas"/>
              </a:rPr>
              <a:t> </a:t>
            </a:r>
            <a:r>
              <a:rPr b="1" spc="-22" dirty="0">
                <a:latin typeface="Consolas"/>
                <a:cs typeface="Consolas"/>
              </a:rPr>
              <a:t>F14</a:t>
            </a:r>
            <a:endParaRPr dirty="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46841" y="5197974"/>
            <a:ext cx="3040232" cy="120523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681914">
              <a:lnSpc>
                <a:spcPct val="147100"/>
              </a:lnSpc>
              <a:spcBef>
                <a:spcPts val="88"/>
              </a:spcBef>
            </a:pPr>
            <a:r>
              <a:rPr i="1" dirty="0">
                <a:latin typeface="Arial"/>
                <a:cs typeface="Arial"/>
              </a:rPr>
              <a:t>And</a:t>
            </a:r>
            <a:r>
              <a:rPr i="1" spc="-3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then</a:t>
            </a:r>
            <a:r>
              <a:rPr i="1" spc="-31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div</a:t>
            </a:r>
            <a:r>
              <a:rPr i="1" spc="-31" dirty="0">
                <a:latin typeface="Arial"/>
                <a:cs typeface="Arial"/>
              </a:rPr>
              <a:t> </a:t>
            </a:r>
            <a:r>
              <a:rPr i="1" spc="-9" dirty="0">
                <a:latin typeface="Arial"/>
                <a:cs typeface="Arial"/>
              </a:rPr>
              <a:t>faults? </a:t>
            </a:r>
            <a:r>
              <a:rPr i="1" dirty="0">
                <a:latin typeface="Arial"/>
                <a:cs typeface="Arial"/>
              </a:rPr>
              <a:t>Completed</a:t>
            </a:r>
            <a:r>
              <a:rPr i="1" spc="-88" dirty="0">
                <a:latin typeface="Arial"/>
                <a:cs typeface="Arial"/>
              </a:rPr>
              <a:t> </a:t>
            </a:r>
            <a:r>
              <a:rPr i="1" spc="-9" dirty="0">
                <a:latin typeface="Arial"/>
                <a:cs typeface="Arial"/>
              </a:rPr>
              <a:t>already</a:t>
            </a:r>
            <a:endParaRPr dirty="0">
              <a:latin typeface="Arial"/>
              <a:cs typeface="Arial"/>
            </a:endParaRPr>
          </a:p>
          <a:p>
            <a:pPr marL="11206">
              <a:spcBef>
                <a:spcPts val="825"/>
              </a:spcBef>
            </a:pPr>
            <a:r>
              <a:rPr i="1" dirty="0">
                <a:latin typeface="Arial"/>
                <a:cs typeface="Arial"/>
              </a:rPr>
              <a:t>What</a:t>
            </a:r>
            <a:r>
              <a:rPr i="1" spc="-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happens</a:t>
            </a:r>
            <a:r>
              <a:rPr i="1" spc="-31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if</a:t>
            </a:r>
            <a:r>
              <a:rPr i="1" spc="-31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sub</a:t>
            </a:r>
            <a:r>
              <a:rPr i="1" spc="-31" dirty="0">
                <a:latin typeface="Arial"/>
                <a:cs typeface="Arial"/>
              </a:rPr>
              <a:t> </a:t>
            </a:r>
            <a:r>
              <a:rPr i="1" spc="-9" dirty="0">
                <a:latin typeface="Arial"/>
                <a:cs typeface="Arial"/>
              </a:rPr>
              <a:t>faults?</a:t>
            </a:r>
            <a:endParaRPr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82503" y="5361581"/>
            <a:ext cx="2118056" cy="70862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lnSpc>
                <a:spcPct val="150700"/>
              </a:lnSpc>
              <a:spcBef>
                <a:spcPts val="88"/>
              </a:spcBef>
            </a:pPr>
            <a:r>
              <a:rPr sz="1600" b="1" i="1" dirty="0">
                <a:solidFill>
                  <a:srgbClr val="FF0000"/>
                </a:solidFill>
                <a:latin typeface="Arial"/>
                <a:cs typeface="Arial"/>
              </a:rPr>
              <a:t>What</a:t>
            </a:r>
            <a:r>
              <a:rPr sz="1600" b="1" i="1" spc="-7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1" i="1" dirty="0">
                <a:solidFill>
                  <a:srgbClr val="FF0000"/>
                </a:solidFill>
                <a:latin typeface="Arial"/>
                <a:cs typeface="Arial"/>
              </a:rPr>
              <a:t>about</a:t>
            </a:r>
            <a:r>
              <a:rPr sz="1600" b="1" i="1" spc="-7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1" i="1" spc="-18" dirty="0">
                <a:solidFill>
                  <a:srgbClr val="FF0000"/>
                </a:solidFill>
                <a:latin typeface="Arial"/>
                <a:cs typeface="Arial"/>
              </a:rPr>
              <a:t>F10? </a:t>
            </a:r>
            <a:r>
              <a:rPr sz="1600" b="1" i="1" dirty="0">
                <a:solidFill>
                  <a:srgbClr val="FF0000"/>
                </a:solidFill>
                <a:latin typeface="Arial"/>
                <a:cs typeface="Arial"/>
              </a:rPr>
              <a:t>Original</a:t>
            </a:r>
            <a:r>
              <a:rPr sz="1600" b="1" i="1" spc="-6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1" i="1" dirty="0">
                <a:solidFill>
                  <a:srgbClr val="FF0000"/>
                </a:solidFill>
                <a:latin typeface="Arial"/>
                <a:cs typeface="Arial"/>
              </a:rPr>
              <a:t>value</a:t>
            </a:r>
            <a:r>
              <a:rPr sz="1600" b="1" i="1" spc="-6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1" i="1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1600" b="1" i="1" spc="-6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1" i="1" spc="-9" dirty="0">
                <a:solidFill>
                  <a:srgbClr val="FF0000"/>
                </a:solidFill>
                <a:latin typeface="Arial"/>
                <a:cs typeface="Arial"/>
              </a:rPr>
              <a:t>lost!!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DBE382A-C08B-45D2-E5AB-45AE9BE84874}"/>
              </a:ext>
            </a:extLst>
          </p:cNvPr>
          <p:cNvGrpSpPr/>
          <p:nvPr/>
        </p:nvGrpSpPr>
        <p:grpSpPr>
          <a:xfrm>
            <a:off x="6000964" y="3315183"/>
            <a:ext cx="2404482" cy="1498043"/>
            <a:chOff x="6000964" y="3268291"/>
            <a:chExt cx="2404482" cy="1498043"/>
          </a:xfrm>
        </p:grpSpPr>
        <p:grpSp>
          <p:nvGrpSpPr>
            <p:cNvPr id="10" name="object 10"/>
            <p:cNvGrpSpPr/>
            <p:nvPr/>
          </p:nvGrpSpPr>
          <p:grpSpPr>
            <a:xfrm>
              <a:off x="6070059" y="3268291"/>
              <a:ext cx="2335387" cy="1208269"/>
              <a:chOff x="6727000" y="3544632"/>
              <a:chExt cx="2294890" cy="1182370"/>
            </a:xfrm>
          </p:grpSpPr>
          <p:sp>
            <p:nvSpPr>
              <p:cNvPr id="11" name="object 11"/>
              <p:cNvSpPr/>
              <p:nvPr/>
            </p:nvSpPr>
            <p:spPr>
              <a:xfrm>
                <a:off x="6753948" y="3571239"/>
                <a:ext cx="2267585" cy="1155700"/>
              </a:xfrm>
              <a:custGeom>
                <a:avLst/>
                <a:gdLst/>
                <a:ahLst/>
                <a:cxnLst/>
                <a:rect l="l" t="t" r="r" b="b"/>
                <a:pathLst>
                  <a:path w="2267584" h="1155700">
                    <a:moveTo>
                      <a:pt x="2267356" y="0"/>
                    </a:moveTo>
                    <a:lnTo>
                      <a:pt x="2235352" y="0"/>
                    </a:lnTo>
                    <a:lnTo>
                      <a:pt x="2235352" y="5080"/>
                    </a:lnTo>
                    <a:lnTo>
                      <a:pt x="2235352" y="10160"/>
                    </a:lnTo>
                    <a:lnTo>
                      <a:pt x="2235352" y="1123950"/>
                    </a:lnTo>
                    <a:lnTo>
                      <a:pt x="10109" y="1123950"/>
                    </a:lnTo>
                    <a:lnTo>
                      <a:pt x="5054" y="1123950"/>
                    </a:lnTo>
                    <a:lnTo>
                      <a:pt x="0" y="1123950"/>
                    </a:lnTo>
                    <a:lnTo>
                      <a:pt x="0" y="1145540"/>
                    </a:lnTo>
                    <a:lnTo>
                      <a:pt x="0" y="1155700"/>
                    </a:lnTo>
                    <a:lnTo>
                      <a:pt x="2267356" y="1155700"/>
                    </a:lnTo>
                    <a:lnTo>
                      <a:pt x="2267356" y="1145540"/>
                    </a:lnTo>
                    <a:lnTo>
                      <a:pt x="2267356" y="10160"/>
                    </a:lnTo>
                    <a:lnTo>
                      <a:pt x="2267356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6732053" y="3549685"/>
                <a:ext cx="2257425" cy="1145540"/>
              </a:xfrm>
              <a:custGeom>
                <a:avLst/>
                <a:gdLst/>
                <a:ahLst/>
                <a:cxnLst/>
                <a:rect l="l" t="t" r="r" b="b"/>
                <a:pathLst>
                  <a:path w="2257425" h="1145539">
                    <a:moveTo>
                      <a:pt x="0" y="0"/>
                    </a:moveTo>
                    <a:lnTo>
                      <a:pt x="2257248" y="0"/>
                    </a:lnTo>
                    <a:lnTo>
                      <a:pt x="2257248" y="1145469"/>
                    </a:lnTo>
                    <a:lnTo>
                      <a:pt x="0" y="1145469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13" name="object 13"/>
            <p:cNvSpPr txBox="1"/>
            <p:nvPr/>
          </p:nvSpPr>
          <p:spPr>
            <a:xfrm>
              <a:off x="6160131" y="3304838"/>
              <a:ext cx="2212331" cy="1109052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427527" indent="-427527">
                <a:spcBef>
                  <a:spcPts val="88"/>
                </a:spcBef>
                <a:spcAft>
                  <a:spcPts val="300"/>
                </a:spcAft>
                <a:buAutoNum type="arabicParenR"/>
                <a:tabLst>
                  <a:tab pos="427527" algn="l"/>
                </a:tabLst>
              </a:pPr>
              <a:r>
                <a:rPr i="1" dirty="0">
                  <a:latin typeface="Arial"/>
                  <a:cs typeface="Arial"/>
                </a:rPr>
                <a:t>stop</a:t>
              </a:r>
              <a:r>
                <a:rPr i="1" spc="-35" dirty="0">
                  <a:latin typeface="Arial"/>
                  <a:cs typeface="Arial"/>
                </a:rPr>
                <a:t> </a:t>
              </a:r>
              <a:r>
                <a:rPr i="1" spc="-9" dirty="0">
                  <a:latin typeface="Arial"/>
                  <a:cs typeface="Arial"/>
                </a:rPr>
                <a:t>fetching</a:t>
              </a:r>
              <a:endParaRPr dirty="0">
                <a:latin typeface="Arial"/>
                <a:cs typeface="Arial"/>
              </a:endParaRPr>
            </a:p>
            <a:p>
              <a:pPr marL="427527" indent="-427527">
                <a:lnSpc>
                  <a:spcPts val="1777"/>
                </a:lnSpc>
                <a:spcBef>
                  <a:spcPts val="62"/>
                </a:spcBef>
                <a:spcAft>
                  <a:spcPts val="300"/>
                </a:spcAft>
                <a:buAutoNum type="arabicParenR"/>
                <a:tabLst>
                  <a:tab pos="427527" algn="l"/>
                </a:tabLst>
              </a:pPr>
              <a:r>
                <a:rPr i="1" dirty="0">
                  <a:latin typeface="Arial"/>
                  <a:cs typeface="Arial"/>
                </a:rPr>
                <a:t>turn</a:t>
              </a:r>
              <a:r>
                <a:rPr i="1" spc="-26" dirty="0">
                  <a:latin typeface="Arial"/>
                  <a:cs typeface="Arial"/>
                </a:rPr>
                <a:t> </a:t>
              </a:r>
              <a:r>
                <a:rPr i="1" dirty="0">
                  <a:latin typeface="Arial"/>
                  <a:cs typeface="Arial"/>
                </a:rPr>
                <a:t>off</a:t>
              </a:r>
              <a:r>
                <a:rPr i="1" spc="-13" dirty="0">
                  <a:latin typeface="Arial"/>
                  <a:cs typeface="Arial"/>
                </a:rPr>
                <a:t> </a:t>
              </a:r>
              <a:r>
                <a:rPr i="1" spc="-9" dirty="0">
                  <a:latin typeface="Arial"/>
                  <a:cs typeface="Arial"/>
                </a:rPr>
                <a:t>writes</a:t>
              </a:r>
              <a:endParaRPr dirty="0">
                <a:latin typeface="Arial"/>
                <a:cs typeface="Arial"/>
              </a:endParaRPr>
            </a:p>
            <a:p>
              <a:pPr marL="427527" indent="-427527">
                <a:lnSpc>
                  <a:spcPts val="1769"/>
                </a:lnSpc>
                <a:spcAft>
                  <a:spcPts val="300"/>
                </a:spcAft>
                <a:buAutoNum type="arabicParenR"/>
                <a:tabLst>
                  <a:tab pos="427527" algn="l"/>
                </a:tabLst>
              </a:pPr>
              <a:r>
                <a:rPr i="1" dirty="0">
                  <a:latin typeface="Arial"/>
                  <a:cs typeface="Arial"/>
                </a:rPr>
                <a:t>let</a:t>
              </a:r>
              <a:r>
                <a:rPr i="1" spc="-53" dirty="0">
                  <a:latin typeface="Arial"/>
                  <a:cs typeface="Arial"/>
                </a:rPr>
                <a:t> </a:t>
              </a:r>
              <a:r>
                <a:rPr i="1" dirty="0">
                  <a:latin typeface="Arial"/>
                  <a:cs typeface="Arial"/>
                </a:rPr>
                <a:t>pipeline</a:t>
              </a:r>
              <a:r>
                <a:rPr i="1" spc="-53" dirty="0">
                  <a:latin typeface="Arial"/>
                  <a:cs typeface="Arial"/>
                </a:rPr>
                <a:t> </a:t>
              </a:r>
              <a:r>
                <a:rPr i="1" spc="-18" dirty="0">
                  <a:latin typeface="Arial"/>
                  <a:cs typeface="Arial"/>
                </a:rPr>
                <a:t>drain</a:t>
              </a:r>
              <a:endParaRPr dirty="0">
                <a:latin typeface="Arial"/>
                <a:cs typeface="Arial"/>
              </a:endParaRPr>
            </a:p>
            <a:p>
              <a:pPr marL="427527" indent="-427527">
                <a:lnSpc>
                  <a:spcPts val="1791"/>
                </a:lnSpc>
                <a:spcAft>
                  <a:spcPts val="300"/>
                </a:spcAft>
                <a:buAutoNum type="arabicParenR"/>
                <a:tabLst>
                  <a:tab pos="427527" algn="l"/>
                </a:tabLst>
              </a:pPr>
              <a:r>
                <a:rPr i="1" spc="-9" dirty="0">
                  <a:latin typeface="Arial"/>
                  <a:cs typeface="Arial"/>
                </a:rPr>
                <a:t>handle</a:t>
              </a:r>
              <a:endParaRPr dirty="0">
                <a:latin typeface="Arial"/>
                <a:cs typeface="Arial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6000964" y="4508797"/>
              <a:ext cx="2404482" cy="257537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600" b="1" i="1" dirty="0">
                  <a:solidFill>
                    <a:srgbClr val="FF0000"/>
                  </a:solidFill>
                  <a:latin typeface="Arial"/>
                  <a:cs typeface="Arial"/>
                </a:rPr>
                <a:t>Does</a:t>
              </a:r>
              <a:r>
                <a:rPr sz="1600" b="1" i="1" spc="-40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600" b="1" i="1" dirty="0">
                  <a:solidFill>
                    <a:srgbClr val="FF0000"/>
                  </a:solidFill>
                  <a:latin typeface="Arial"/>
                  <a:cs typeface="Arial"/>
                </a:rPr>
                <a:t>this</a:t>
              </a:r>
              <a:r>
                <a:rPr sz="1600" b="1" i="1" spc="-35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600" b="1" i="1" dirty="0">
                  <a:solidFill>
                    <a:srgbClr val="FF0000"/>
                  </a:solidFill>
                  <a:latin typeface="Arial"/>
                  <a:cs typeface="Arial"/>
                </a:rPr>
                <a:t>scheme</a:t>
              </a:r>
              <a:r>
                <a:rPr sz="1600" b="1" i="1" spc="-40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600" b="1" i="1" spc="-18" dirty="0">
                  <a:solidFill>
                    <a:srgbClr val="FF0000"/>
                  </a:solidFill>
                  <a:latin typeface="Arial"/>
                  <a:cs typeface="Arial"/>
                </a:rPr>
                <a:t>work?</a:t>
              </a:r>
              <a:endParaRPr sz="1600" dirty="0">
                <a:latin typeface="Arial"/>
                <a:cs typeface="Arial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61294" y="4873106"/>
            <a:ext cx="4582019" cy="28831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i="1" dirty="0">
                <a:latin typeface="Arial"/>
                <a:cs typeface="Arial"/>
              </a:rPr>
              <a:t>This</a:t>
            </a:r>
            <a:r>
              <a:rPr i="1" spc="-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example</a:t>
            </a:r>
            <a:r>
              <a:rPr i="1" spc="-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is</a:t>
            </a:r>
            <a:r>
              <a:rPr i="1" spc="-3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from</a:t>
            </a:r>
            <a:r>
              <a:rPr i="1" spc="-3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page</a:t>
            </a:r>
            <a:r>
              <a:rPr i="1" spc="-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C-58</a:t>
            </a:r>
            <a:r>
              <a:rPr i="1" spc="-3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(H&amp;P</a:t>
            </a:r>
            <a:r>
              <a:rPr i="1" spc="-93" dirty="0">
                <a:latin typeface="Arial"/>
                <a:cs typeface="Arial"/>
              </a:rPr>
              <a:t> </a:t>
            </a:r>
            <a:r>
              <a:rPr i="1" spc="-18" dirty="0">
                <a:latin typeface="Arial"/>
                <a:cs typeface="Arial"/>
              </a:rPr>
              <a:t>5</a:t>
            </a:r>
            <a:r>
              <a:rPr i="1" spc="-26" baseline="25252" dirty="0">
                <a:latin typeface="Arial"/>
                <a:cs typeface="Arial"/>
              </a:rPr>
              <a:t>th</a:t>
            </a:r>
            <a:r>
              <a:rPr i="1" spc="-18" dirty="0">
                <a:latin typeface="Arial"/>
                <a:cs typeface="Arial"/>
              </a:rPr>
              <a:t>)</a:t>
            </a:r>
            <a:endParaRPr dirty="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695712" y="5753121"/>
            <a:ext cx="991361" cy="140612"/>
          </a:xfrm>
          <a:custGeom>
            <a:avLst/>
            <a:gdLst/>
            <a:ahLst/>
            <a:cxnLst/>
            <a:rect l="l" t="t" r="r" b="b"/>
            <a:pathLst>
              <a:path w="1131570" h="81279">
                <a:moveTo>
                  <a:pt x="80385" y="0"/>
                </a:moveTo>
                <a:lnTo>
                  <a:pt x="0" y="41356"/>
                </a:lnTo>
                <a:lnTo>
                  <a:pt x="81315" y="80852"/>
                </a:lnTo>
                <a:lnTo>
                  <a:pt x="80929" y="47318"/>
                </a:lnTo>
                <a:lnTo>
                  <a:pt x="67452" y="47318"/>
                </a:lnTo>
                <a:lnTo>
                  <a:pt x="67383" y="41356"/>
                </a:lnTo>
                <a:lnTo>
                  <a:pt x="67297" y="33842"/>
                </a:lnTo>
                <a:lnTo>
                  <a:pt x="80773" y="33687"/>
                </a:lnTo>
                <a:lnTo>
                  <a:pt x="80385" y="0"/>
                </a:lnTo>
                <a:close/>
              </a:path>
              <a:path w="1131570" h="81279">
                <a:moveTo>
                  <a:pt x="80773" y="33687"/>
                </a:moveTo>
                <a:lnTo>
                  <a:pt x="67297" y="33842"/>
                </a:lnTo>
                <a:lnTo>
                  <a:pt x="67383" y="41356"/>
                </a:lnTo>
                <a:lnTo>
                  <a:pt x="67452" y="47318"/>
                </a:lnTo>
                <a:lnTo>
                  <a:pt x="80928" y="47163"/>
                </a:lnTo>
                <a:lnTo>
                  <a:pt x="80861" y="41356"/>
                </a:lnTo>
                <a:lnTo>
                  <a:pt x="80773" y="33687"/>
                </a:lnTo>
                <a:close/>
              </a:path>
              <a:path w="1131570" h="81279">
                <a:moveTo>
                  <a:pt x="80928" y="47163"/>
                </a:moveTo>
                <a:lnTo>
                  <a:pt x="67452" y="47318"/>
                </a:lnTo>
                <a:lnTo>
                  <a:pt x="80929" y="47318"/>
                </a:lnTo>
                <a:lnTo>
                  <a:pt x="80928" y="47163"/>
                </a:lnTo>
                <a:close/>
              </a:path>
              <a:path w="1131570" h="81279">
                <a:moveTo>
                  <a:pt x="1130895" y="21603"/>
                </a:moveTo>
                <a:lnTo>
                  <a:pt x="80773" y="33687"/>
                </a:lnTo>
                <a:lnTo>
                  <a:pt x="80861" y="41356"/>
                </a:lnTo>
                <a:lnTo>
                  <a:pt x="80928" y="47163"/>
                </a:lnTo>
                <a:lnTo>
                  <a:pt x="1131050" y="35079"/>
                </a:lnTo>
                <a:lnTo>
                  <a:pt x="1130895" y="216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7169" y="581865"/>
            <a:ext cx="6850846" cy="603332"/>
          </a:xfrm>
          <a:prstGeom prst="rect">
            <a:avLst/>
          </a:prstGeom>
        </p:spPr>
        <p:txBody>
          <a:bodyPr vert="horz" wrap="square" lIns="0" tIns="140297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dirty="0"/>
              <a:t>Possible</a:t>
            </a:r>
            <a:r>
              <a:rPr spc="-66" dirty="0"/>
              <a:t> </a:t>
            </a:r>
            <a:r>
              <a:rPr spc="-9" dirty="0"/>
              <a:t>fixes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B1F49-AED9-7974-F25C-682797F64D4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33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1020342" y="1249277"/>
            <a:ext cx="7361658" cy="4243356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278481" indent="-267275">
              <a:spcBef>
                <a:spcPts val="644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Give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imprecise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exception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handling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424"/>
              </a:spcBef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tempting,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</a:t>
            </a:r>
            <a:r>
              <a:rPr sz="2200" spc="-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very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annoying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users</a:t>
            </a:r>
            <a:endParaRPr sz="2200" dirty="0">
              <a:latin typeface="Calibri"/>
              <a:cs typeface="Calibri"/>
            </a:endParaRPr>
          </a:p>
          <a:p>
            <a:pPr lvl="1">
              <a:spcBef>
                <a:spcPts val="896"/>
              </a:spcBef>
              <a:buFont typeface="Calibri"/>
              <a:buChar char="–"/>
            </a:pPr>
            <a:endParaRPr sz="1677" dirty="0">
              <a:latin typeface="Calibri"/>
              <a:cs typeface="Calibri"/>
            </a:endParaRPr>
          </a:p>
          <a:p>
            <a:pPr marL="278481" indent="-267275"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Delay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WB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until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previous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instructions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complete</a:t>
            </a:r>
            <a:endParaRPr sz="2400" dirty="0">
              <a:latin typeface="Calibri"/>
              <a:cs typeface="Calibri"/>
            </a:endParaRPr>
          </a:p>
          <a:p>
            <a:pPr marL="651657" marR="4483" lvl="1" indent="-212363">
              <a:spcBef>
                <a:spcPts val="719"/>
              </a:spcBef>
              <a:buChar char="–"/>
              <a:tabLst>
                <a:tab pos="653338" algn="l"/>
              </a:tabLst>
            </a:pPr>
            <a:r>
              <a:rPr sz="2200" dirty="0">
                <a:latin typeface="Calibri"/>
                <a:cs typeface="Calibri"/>
              </a:rPr>
              <a:t>since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many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instructions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active,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expensive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-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requires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lang="en-US" sz="2200" spc="361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lot</a:t>
            </a:r>
            <a:r>
              <a:rPr lang="en-US" sz="2200" spc="-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supporting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hardware</a:t>
            </a:r>
            <a:endParaRPr sz="2200" dirty="0">
              <a:latin typeface="Calibri"/>
              <a:cs typeface="Calibri"/>
            </a:endParaRPr>
          </a:p>
          <a:p>
            <a:pPr lvl="1">
              <a:spcBef>
                <a:spcPts val="1271"/>
              </a:spcBef>
              <a:buFont typeface="Calibri"/>
              <a:buChar char="–"/>
            </a:pPr>
            <a:endParaRPr sz="1677" dirty="0">
              <a:latin typeface="Calibri"/>
              <a:cs typeface="Calibri"/>
            </a:endParaRPr>
          </a:p>
          <a:p>
            <a:pPr marL="278481" marR="313781" indent="-267835">
              <a:spcBef>
                <a:spcPts val="4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Write,</a:t>
            </a:r>
            <a:r>
              <a:rPr sz="2400" spc="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memory,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history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lang="en-US" sz="2400" spc="44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register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memory </a:t>
            </a:r>
            <a:r>
              <a:rPr sz="2400" dirty="0">
                <a:latin typeface="Calibri"/>
                <a:cs typeface="Calibri"/>
              </a:rPr>
              <a:t>changes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undo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instructions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necessary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405"/>
              </a:spcBef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or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keep a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future file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computed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results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 waiting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MEM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WB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7169" y="581865"/>
            <a:ext cx="6850846" cy="603332"/>
          </a:xfrm>
          <a:prstGeom prst="rect">
            <a:avLst/>
          </a:prstGeom>
        </p:spPr>
        <p:txBody>
          <a:bodyPr vert="horz" wrap="square" lIns="0" tIns="140297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dirty="0"/>
              <a:t>Possible</a:t>
            </a:r>
            <a:r>
              <a:rPr spc="-44" dirty="0"/>
              <a:t> </a:t>
            </a:r>
            <a:r>
              <a:rPr dirty="0"/>
              <a:t>fixes</a:t>
            </a:r>
            <a:r>
              <a:rPr spc="-40" dirty="0"/>
              <a:t> </a:t>
            </a:r>
            <a:r>
              <a:rPr spc="-9" dirty="0"/>
              <a:t>(cont.)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D3AE17-8A4C-8CB3-3EE0-F3A331E65B1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34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1020341" y="1320052"/>
            <a:ext cx="7326489" cy="3673630"/>
          </a:xfrm>
          <a:prstGeom prst="rect">
            <a:avLst/>
          </a:prstGeom>
        </p:spPr>
        <p:txBody>
          <a:bodyPr vert="horz" wrap="square" lIns="0" tIns="41462" rIns="0" bIns="0" rtlCol="0">
            <a:spAutoFit/>
          </a:bodyPr>
          <a:lstStyle/>
          <a:p>
            <a:pPr marL="278481" marR="359167" indent="-267835">
              <a:spcBef>
                <a:spcPts val="326"/>
              </a:spcBef>
              <a:spcAft>
                <a:spcPts val="600"/>
              </a:spcAft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Have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floating-point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units</a:t>
            </a:r>
            <a:r>
              <a:rPr sz="2400" spc="-119" dirty="0">
                <a:latin typeface="Calibri"/>
                <a:cs typeface="Calibri"/>
              </a:rPr>
              <a:t> </a:t>
            </a:r>
            <a:r>
              <a:rPr sz="2400" u="heavy" spc="-37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diagnose</a:t>
            </a:r>
            <a:r>
              <a:rPr sz="2400" u="heavy" spc="9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exception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possibility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early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stages,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handle </a:t>
            </a:r>
            <a:r>
              <a:rPr sz="2400" dirty="0">
                <a:latin typeface="Calibri"/>
                <a:cs typeface="Calibri"/>
              </a:rPr>
              <a:t>them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methods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well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handling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integer exceptions</a:t>
            </a:r>
            <a:endParaRPr sz="2400" dirty="0">
              <a:latin typeface="Calibri"/>
              <a:cs typeface="Calibri"/>
            </a:endParaRPr>
          </a:p>
          <a:p>
            <a:pPr marL="651657" marR="4483" lvl="1" indent="-212363">
              <a:spcBef>
                <a:spcPts val="649"/>
              </a:spcBef>
              <a:spcAft>
                <a:spcPts val="600"/>
              </a:spcAft>
              <a:buChar char="–"/>
              <a:tabLst>
                <a:tab pos="653338" algn="l"/>
              </a:tabLst>
            </a:pPr>
            <a:r>
              <a:rPr lang="en-US" sz="2000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llows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instruction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issue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continue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certain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the 	</a:t>
            </a:r>
            <a:r>
              <a:rPr sz="2000" dirty="0">
                <a:latin typeface="Calibri"/>
                <a:cs typeface="Calibri"/>
              </a:rPr>
              <a:t>instructions</a:t>
            </a:r>
            <a:r>
              <a:rPr sz="2000" spc="-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before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issuing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instruction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complete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without</a:t>
            </a:r>
            <a:r>
              <a:rPr sz="2000" spc="-22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causing</a:t>
            </a:r>
            <a:r>
              <a:rPr lang="en-US"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exception.</a:t>
            </a:r>
            <a:endParaRPr sz="2000" dirty="0">
              <a:latin typeface="Calibri"/>
              <a:cs typeface="Calibri"/>
            </a:endParaRPr>
          </a:p>
          <a:p>
            <a:pPr marL="651657" marR="11767" lvl="1" indent="-212363">
              <a:spcBef>
                <a:spcPts val="560"/>
              </a:spcBef>
              <a:buChar char="–"/>
              <a:tabLst>
                <a:tab pos="653338" algn="l"/>
              </a:tabLst>
            </a:pPr>
            <a:r>
              <a:rPr lang="en-US" sz="2000" dirty="0">
                <a:latin typeface="Calibri"/>
                <a:cs typeface="Calibri"/>
              </a:rPr>
              <a:t>G</a:t>
            </a:r>
            <a:r>
              <a:rPr sz="2000" dirty="0">
                <a:latin typeface="Calibri"/>
                <a:cs typeface="Calibri"/>
              </a:rPr>
              <a:t>uarantees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excep-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tion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occurs,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instructions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after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the</a:t>
            </a:r>
            <a:r>
              <a:rPr lang="en-US" sz="2000" spc="-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interrupting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completed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instructions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before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the</a:t>
            </a:r>
            <a:r>
              <a:rPr lang="en-US" sz="2000" spc="-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interrupting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completed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7599" y="581865"/>
            <a:ext cx="6795247" cy="603332"/>
          </a:xfrm>
          <a:prstGeom prst="rect">
            <a:avLst/>
          </a:prstGeom>
        </p:spPr>
        <p:txBody>
          <a:bodyPr vert="horz" wrap="square" lIns="0" tIns="140297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dirty="0"/>
              <a:t>What</a:t>
            </a:r>
            <a:r>
              <a:rPr spc="-35" dirty="0"/>
              <a:t> </a:t>
            </a:r>
            <a:r>
              <a:rPr dirty="0"/>
              <a:t>hazards</a:t>
            </a:r>
            <a:r>
              <a:rPr spc="-3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detect</a:t>
            </a:r>
            <a:r>
              <a:rPr spc="-31" dirty="0"/>
              <a:t> </a:t>
            </a:r>
            <a:r>
              <a:rPr dirty="0"/>
              <a:t>in</a:t>
            </a:r>
            <a:r>
              <a:rPr spc="-26" dirty="0"/>
              <a:t> </a:t>
            </a:r>
            <a:r>
              <a:rPr b="1" spc="-22" dirty="0">
                <a:solidFill>
                  <a:srgbClr val="FF0000"/>
                </a:solidFill>
                <a:latin typeface="Calibri"/>
                <a:cs typeface="Calibri"/>
              </a:rPr>
              <a:t>ID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02267-7940-2E24-4950-907BE2C7244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4FE321F0-2018-4E50-8BB3-A5631EBD98DD}" type="slidenum">
              <a:rPr lang="en-US" smtClean="0"/>
              <a:t>35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1020342" y="1252817"/>
            <a:ext cx="7349935" cy="4821531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278481" indent="-267275">
              <a:spcBef>
                <a:spcPts val="618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Early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detection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would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prevent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trouble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Check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structural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hazards: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424"/>
              </a:spcBef>
              <a:buChar char="–"/>
              <a:tabLst>
                <a:tab pos="651657" algn="l"/>
              </a:tabLst>
            </a:pPr>
            <a:r>
              <a:rPr lang="en-US" sz="2000" dirty="0">
                <a:latin typeface="Calibri"/>
                <a:cs typeface="Calibri"/>
              </a:rPr>
              <a:t>W</a:t>
            </a:r>
            <a:r>
              <a:rPr sz="2000" dirty="0">
                <a:latin typeface="Calibri"/>
                <a:cs typeface="Calibri"/>
              </a:rPr>
              <a:t>ill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divide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unit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clear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spc="-18" dirty="0">
                <a:latin typeface="Calibri"/>
                <a:cs typeface="Calibri"/>
              </a:rPr>
              <a:t>time?</a:t>
            </a:r>
            <a:endParaRPr sz="2000" dirty="0">
              <a:latin typeface="Calibri"/>
              <a:cs typeface="Calibri"/>
            </a:endParaRPr>
          </a:p>
          <a:p>
            <a:pPr marL="651657" lvl="1" indent="-212363">
              <a:spcBef>
                <a:spcPts val="463"/>
              </a:spcBef>
              <a:buChar char="–"/>
              <a:tabLst>
                <a:tab pos="651657" algn="l"/>
              </a:tabLst>
            </a:pPr>
            <a:r>
              <a:rPr lang="en-US" sz="2000" dirty="0">
                <a:latin typeface="Calibri"/>
                <a:cs typeface="Calibri"/>
              </a:rPr>
              <a:t>W</a:t>
            </a:r>
            <a:r>
              <a:rPr sz="2000" dirty="0">
                <a:latin typeface="Calibri"/>
                <a:cs typeface="Calibri"/>
              </a:rPr>
              <a:t>ill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WB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possible when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 need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it?</a:t>
            </a:r>
            <a:endParaRPr sz="2000" dirty="0">
              <a:latin typeface="Calibri"/>
              <a:cs typeface="Calibri"/>
            </a:endParaRPr>
          </a:p>
          <a:p>
            <a:pPr marL="278481" indent="-267275">
              <a:spcBef>
                <a:spcPts val="468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Check</a:t>
            </a:r>
            <a:r>
              <a:rPr sz="2400" spc="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RAW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hazards: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446"/>
              </a:spcBef>
              <a:buChar char="–"/>
              <a:tabLst>
                <a:tab pos="651657" algn="l"/>
              </a:tabLst>
            </a:pPr>
            <a:r>
              <a:rPr lang="en-US" sz="2000" dirty="0">
                <a:latin typeface="Calibri"/>
                <a:cs typeface="Calibri"/>
              </a:rPr>
              <a:t>W</a:t>
            </a:r>
            <a:r>
              <a:rPr sz="2000" dirty="0">
                <a:latin typeface="Calibri"/>
                <a:cs typeface="Calibri"/>
              </a:rPr>
              <a:t>ill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source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registers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available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-9" dirty="0">
                <a:latin typeface="Calibri"/>
                <a:cs typeface="Calibri"/>
              </a:rPr>
              <a:t> needed?</a:t>
            </a:r>
            <a:endParaRPr sz="2000" dirty="0">
              <a:latin typeface="Calibri"/>
              <a:cs typeface="Calibri"/>
            </a:endParaRPr>
          </a:p>
          <a:p>
            <a:pPr marL="278481" indent="-267275">
              <a:spcBef>
                <a:spcPts val="552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Check</a:t>
            </a:r>
            <a:r>
              <a:rPr sz="2400" spc="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WAW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hazards:</a:t>
            </a:r>
            <a:endParaRPr sz="2400" dirty="0">
              <a:latin typeface="Calibri"/>
              <a:cs typeface="Calibri"/>
            </a:endParaRPr>
          </a:p>
          <a:p>
            <a:pPr marL="651657" marR="4483" lvl="1" indent="-212363">
              <a:spcBef>
                <a:spcPts val="609"/>
              </a:spcBef>
              <a:spcAft>
                <a:spcPts val="1800"/>
              </a:spcAft>
              <a:buChar char="–"/>
              <a:tabLst>
                <a:tab pos="653338" algn="l"/>
              </a:tabLst>
            </a:pPr>
            <a:r>
              <a:rPr sz="2000" dirty="0">
                <a:latin typeface="Calibri"/>
                <a:cs typeface="Calibri"/>
              </a:rPr>
              <a:t>Is</a:t>
            </a:r>
            <a:r>
              <a:rPr sz="2000" spc="-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destination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register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ADD.D,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multiply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divide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instruction 	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same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register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destination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instruction?</a:t>
            </a:r>
            <a:endParaRPr sz="1677" dirty="0">
              <a:latin typeface="Calibri"/>
              <a:cs typeface="Calibri"/>
            </a:endParaRPr>
          </a:p>
          <a:p>
            <a:pPr marL="278481" marR="153529" indent="-267835"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anything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dangerous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could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happen,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delay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execute </a:t>
            </a:r>
            <a:r>
              <a:rPr sz="2400" dirty="0">
                <a:latin typeface="Calibri"/>
                <a:cs typeface="Calibri"/>
              </a:rPr>
              <a:t>cycle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(i.e.,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delay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issue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EX),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conflict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occurs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483</TotalTime>
  <Words>3839</Words>
  <Application>Microsoft Office PowerPoint</Application>
  <PresentationFormat>On-screen Show (4:3)</PresentationFormat>
  <Paragraphs>892</Paragraphs>
  <Slides>35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MS PGothic</vt:lpstr>
      <vt:lpstr>Aptos</vt:lpstr>
      <vt:lpstr>Arial</vt:lpstr>
      <vt:lpstr>Arial MT</vt:lpstr>
      <vt:lpstr>Calibri</vt:lpstr>
      <vt:lpstr>Consolas</vt:lpstr>
      <vt:lpstr>Times New Roman</vt:lpstr>
      <vt:lpstr>1_Office Theme</vt:lpstr>
      <vt:lpstr>PowerPoint Presentation</vt:lpstr>
      <vt:lpstr>DEALING WITH UNEXPECTED SURPRISES - APPENDIX C</vt:lpstr>
      <vt:lpstr>Another Problem with Pipelining</vt:lpstr>
      <vt:lpstr>Exception (and Interrupt)</vt:lpstr>
      <vt:lpstr>Classifying Exceptions</vt:lpstr>
      <vt:lpstr>Classifying Exceptions (cont.)</vt:lpstr>
      <vt:lpstr>Categorizing Exceptions Figure C.31</vt:lpstr>
      <vt:lpstr>Categorizing Exceptions (cont.) Figure C.31</vt:lpstr>
      <vt:lpstr>The most difficult exceptions...</vt:lpstr>
      <vt:lpstr>Precise Exception Handling</vt:lpstr>
      <vt:lpstr>When do MIPS exceptions occur?</vt:lpstr>
      <vt:lpstr>Example 1 of Exception Handling</vt:lpstr>
      <vt:lpstr>Example 2 of Exception Handling</vt:lpstr>
      <vt:lpstr>How is this done?</vt:lpstr>
      <vt:lpstr>Precise Exceptions in Static Pipelines</vt:lpstr>
      <vt:lpstr>Commitment</vt:lpstr>
      <vt:lpstr>INSTRUCTION SET COMPLICATION - APPENDIX C</vt:lpstr>
      <vt:lpstr>Complications with long instructions</vt:lpstr>
      <vt:lpstr>PowerPoint Presentation</vt:lpstr>
      <vt:lpstr>Functional Units Figure C.35</vt:lpstr>
      <vt:lpstr>How slow is slow?</vt:lpstr>
      <vt:lpstr>Examples</vt:lpstr>
      <vt:lpstr>Examples (cont.)</vt:lpstr>
      <vt:lpstr>Review Question</vt:lpstr>
      <vt:lpstr>Examples (cont.) Figure C.36</vt:lpstr>
      <vt:lpstr>Hazards caused by long instructions</vt:lpstr>
      <vt:lpstr>FP stalls from RAW hazards – Fig. C.37</vt:lpstr>
      <vt:lpstr>Structural Hazard from Long instructions</vt:lpstr>
      <vt:lpstr>Structural Hazard from Long instructions</vt:lpstr>
      <vt:lpstr>Long instructions - WAW structural Hazard</vt:lpstr>
      <vt:lpstr>Long instructions - WAW structural Hazard</vt:lpstr>
      <vt:lpstr>Long instructions (cont.)</vt:lpstr>
      <vt:lpstr>Possible fixes</vt:lpstr>
      <vt:lpstr>Possible fixes (cont.)</vt:lpstr>
      <vt:lpstr>What hazards to detect in ID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Johnson</dc:creator>
  <cp:lastModifiedBy>Richard Johnson</cp:lastModifiedBy>
  <cp:revision>228</cp:revision>
  <dcterms:created xsi:type="dcterms:W3CDTF">2025-09-07T23:26:05Z</dcterms:created>
  <dcterms:modified xsi:type="dcterms:W3CDTF">2025-10-05T23:52:16Z</dcterms:modified>
</cp:coreProperties>
</file>