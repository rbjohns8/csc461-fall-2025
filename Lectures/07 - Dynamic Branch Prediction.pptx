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4"/>
  </p:notesMasterIdLst>
  <p:sldIdLst>
    <p:sldId id="348" r:id="rId2"/>
    <p:sldId id="385" r:id="rId3"/>
    <p:sldId id="386" r:id="rId4"/>
    <p:sldId id="400" r:id="rId5"/>
    <p:sldId id="401" r:id="rId6"/>
    <p:sldId id="40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403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404" r:id="rId29"/>
    <p:sldId id="281" r:id="rId30"/>
    <p:sldId id="282" r:id="rId31"/>
    <p:sldId id="283" r:id="rId32"/>
    <p:sldId id="284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66FF"/>
    <a:srgbClr val="0033CC"/>
    <a:srgbClr val="0332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065" autoAdjust="0"/>
  </p:normalViewPr>
  <p:slideViewPr>
    <p:cSldViewPr snapToGrid="0">
      <p:cViewPr varScale="1">
        <p:scale>
          <a:sx n="58" d="100"/>
          <a:sy n="58" d="100"/>
        </p:scale>
        <p:origin x="2098" y="62"/>
      </p:cViewPr>
      <p:guideLst/>
    </p:cSldViewPr>
  </p:slideViewPr>
  <p:notesTextViewPr>
    <p:cViewPr>
      <p:scale>
        <a:sx n="1" d="1"/>
        <a:sy n="1" d="1"/>
      </p:scale>
      <p:origin x="0" y="-331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47FD1-F16B-4674-8E3F-229D935503A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FFC65-791B-4559-8ED4-77406F77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1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The University of Adelaide, School of Computer Science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80CBAE93-06AC-4832-A6F6-170F7BEDB2E9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Chapter 2 — Instructions: Language of the Computer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CEACC0-B677-4A29-B1E6-BCE98563D55B}" type="slidenum">
              <a:rPr lang="en-US"/>
              <a:pPr/>
              <a:t>1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07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number of cycles wasted per branch misprediction is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determined by the number of pipeline stages between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point where the branch outcome is known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point where the prediction is made.</a:t>
            </a:r>
          </a:p>
          <a:p>
            <a:endParaRPr lang="en-US" b="0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case,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branch direction and target are known in the 5th stage of the 6-stage pipeline,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 the prediction is resolved in stage 5. 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branch prediction occurs during the fetch stage (stage 1),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misprediction penalty is the number of stages from the fetch stage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the stage where the branch is resolved, which is 5 - 1 = 4 stages.</a:t>
            </a:r>
          </a:p>
          <a:p>
            <a:endParaRPr lang="en-US" b="0" dirty="0"/>
          </a:p>
          <a:p>
            <a:r>
              <a:rPr lang="en-US" b="0" dirty="0"/>
              <a:t>So, </a:t>
            </a:r>
            <a:r>
              <a:rPr lang="en-US" b="1" dirty="0"/>
              <a:t>B.</a:t>
            </a:r>
            <a:r>
              <a:rPr lang="en-US" b="0" dirty="0"/>
              <a:t> is the answer.</a:t>
            </a:r>
          </a:p>
          <a:p>
            <a:endParaRPr lang="en-US" b="0" dirty="0"/>
          </a:p>
          <a:p>
            <a: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Misprediction Cost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6-stage pipeline.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Resolution: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direction and target are known in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5th stage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Misprediction Cost: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number of wasted cycles per misprediction is the number of stages after the prediction is made and before the branch outcome is known. In this case, stages 1-4 are wasted because the outcome is known in stage 5 of the 6-stage pipeline.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Cycles wasted = Stage where branch is known (5) - 1 (The stage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mispredicted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instruction is in).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Assuming the branch is made in the first stage (IF), the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mispredicted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instruction will be in the IF stage. Wasted Cycles = $5 - 1 = 4$ cycles.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provided options are 3, 4, 5, and 6 cycles. The answer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171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 CPI = Ideal CPI + Branch Frequency * (1 – Prediction Accuracy) * Penalty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 CPI = 1 + 0.2 * 0.4 x 4 = 1 + 0.32 = 1.32</a:t>
            </a:r>
          </a:p>
          <a:p>
            <a:endParaRPr lang="en-US" dirty="0"/>
          </a:p>
          <a:p>
            <a:r>
              <a:rPr lang="en-US" b="1" u="sng" dirty="0"/>
              <a:t>Average CPI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CPI: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Assumed to be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(no other stalls).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20% of instructions are branches on average.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 Accuracy: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60% correct prediction on average.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Misprediction Rate: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100% - 60% = 40%.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Misprediction Penalty (from Slide 1):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cycles.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Formula for Average CPI: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CPI + Branch Frequency * Misprediction Rate * Misprediction Penalty.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CPI = 1 + (0.20 * 0.40 * 4) = 1 + (0.08 * 4) = 1 + 0.32 = 1.32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59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75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latin typeface="Calibri"/>
                <a:cs typeface="Calibri"/>
              </a:rPr>
              <a:t>Q. </a:t>
            </a:r>
            <a:r>
              <a:rPr lang="en-US" sz="1200" dirty="0">
                <a:latin typeface="Calibri"/>
                <a:cs typeface="Calibri"/>
              </a:rPr>
              <a:t>Why</a:t>
            </a:r>
            <a:r>
              <a:rPr lang="en-US" sz="1200" spc="-93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does</a:t>
            </a:r>
            <a:r>
              <a:rPr lang="en-US" sz="1200" spc="-93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prediction</a:t>
            </a:r>
            <a:r>
              <a:rPr lang="en-US" sz="1200" spc="-88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work?</a:t>
            </a:r>
            <a:endParaRPr lang="en-US" sz="1200" dirty="0"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/>
              <a:t>(arrow down)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prediction works by leveraging regularities in program behavior to reduce pipeline stalls caused by conditional branches.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(Also, cover the bullet points in the slide.)</a:t>
            </a:r>
          </a:p>
          <a:p>
            <a:endParaRPr lang="en-US" b="0" dirty="0"/>
          </a:p>
          <a:p>
            <a:r>
              <a:rPr lang="en-US" b="0" u="sng" dirty="0"/>
              <a:t>Definition: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branch prediction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 a technique used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improve performance by making educated guesses about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outcome of branch instructions before they are resolved.</a:t>
            </a:r>
          </a:p>
          <a:p>
            <a:endParaRPr lang="en-US" b="0" dirty="0"/>
          </a:p>
          <a:p>
            <a:r>
              <a:rPr lang="en-US" b="0" i="1" dirty="0"/>
              <a:t>(arrow down)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Q. </a:t>
            </a:r>
            <a:r>
              <a:rPr lang="en-US" sz="1200" dirty="0">
                <a:latin typeface="Calibri"/>
                <a:cs typeface="Calibri"/>
              </a:rPr>
              <a:t>Is</a:t>
            </a:r>
            <a:r>
              <a:rPr lang="en-US" sz="1200" spc="-9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dynamic</a:t>
            </a:r>
            <a:r>
              <a:rPr lang="en-US" sz="1200" spc="-97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branch</a:t>
            </a:r>
            <a:r>
              <a:rPr lang="en-US" sz="1200" spc="-93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prediction</a:t>
            </a:r>
            <a:r>
              <a:rPr lang="en-US" sz="1200" spc="-93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better</a:t>
            </a:r>
            <a:r>
              <a:rPr lang="en-US" sz="1200" spc="-88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than</a:t>
            </a:r>
            <a:r>
              <a:rPr lang="en-US" sz="1200" spc="-93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static</a:t>
            </a:r>
            <a:r>
              <a:rPr lang="en-US" sz="1200" spc="-97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branch prediction?</a:t>
            </a:r>
            <a:endParaRPr lang="en-US" sz="1200" dirty="0"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/>
              <a:t>(arrow down)</a:t>
            </a:r>
          </a:p>
          <a:p>
            <a:r>
              <a:rPr lang="en-US" b="1" dirty="0"/>
              <a:t>A.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branch prediction is generally considered superior to static branch prediction 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 due to its higher accuracy and adaptability to runtime behavior.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(Also, cover the bullet points in the slide.)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36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performance of a branch predictor is fundamentally determined by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accuracy and the cost associated with a misprediction.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 = ƒ(accuracy, cost of misprediction)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that the effectiveness of the predictor is not solely dependent on how often it predicts correctly,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also on the penalty incurred when it makes an incorrect prediction.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/>
              <a:t>(arrow down)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b="1" u="none" dirty="0"/>
              <a:t>Branch History Table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Dynamic branch prediction uses the past behavior of branches to predict their future outcomes,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relying on hardware to make these predictions based on runtime behavior.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History Table (BHT)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functions as a crucial small memory structure in this process and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indexed by 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 bits of the program counter address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 branch instruction.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entry in the BHT contains a single bit that indicates </a:t>
            </a: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 the branch was taken or not taken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during its most recent execution.</a:t>
            </a:r>
            <a:br>
              <a:rPr lang="en-US" dirty="0"/>
            </a:br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prediction is essentially a hint used to determine the next instruction to fetch,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BHT operates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performing an address check.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/>
              <a:t>(arrow down)</a:t>
            </a:r>
            <a:endParaRPr lang="en-US" dirty="0"/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loop is executed,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1-bit BHT records only the most recent branch outcome,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will lead to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mispredictions in a loop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One when the loop exits instead of looping.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At the end of the first iteration of the loop, </a:t>
            </a:r>
            <a:br>
              <a:rPr lang="en-US" dirty="0"/>
            </a:br>
            <a:r>
              <a:rPr lang="en-US" dirty="0"/>
              <a:t>when it predicts exit instead of looping.</a:t>
            </a:r>
          </a:p>
          <a:p>
            <a:endParaRPr lang="en-US" dirty="0"/>
          </a:p>
          <a:p>
            <a:endParaRPr lang="en-US" i="1" u="sng" dirty="0"/>
          </a:p>
          <a:p>
            <a:r>
              <a:rPr lang="en-US" i="1" u="sng" dirty="0"/>
              <a:t>Optional elaboration: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misprediction occurs at the end of the loop, when the branch is not taken to exit the loop,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the predictor, having remembered the previous iteration's taken state, incorrectly predicts it will be taken again.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misprediction happens when the loop is entered again,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 predictor still holds the "taken" state from the previous exit,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causing it to predict a taken branch when the loop is first entered,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though the branch should be taken only after the initial iteration.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13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2-bit branch predictor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addresses the limitations of the 1-bit predictor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using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hysteresis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counter with four distinct states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reduce mispredictions caused by short-term fluctuations in branch behavior.</a:t>
            </a:r>
          </a:p>
          <a:p>
            <a:endParaRPr lang="en-US" b="0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scheme changes its prediction only after two consecutive mispredictions,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introducing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hysteresis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stabilize predictions and improve accuracy.</a:t>
            </a:r>
          </a:p>
          <a:p>
            <a:endParaRPr lang="en-US" b="0" dirty="0"/>
          </a:p>
          <a:p>
            <a:r>
              <a:rPr lang="en-US" b="1" dirty="0"/>
              <a:t>hysteresis</a:t>
            </a:r>
            <a:r>
              <a:rPr lang="en-US" dirty="0"/>
              <a:t>: </a:t>
            </a:r>
          </a:p>
          <a:p>
            <a:r>
              <a:rPr lang="en-US" dirty="0"/>
              <a:t>a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 that prevents a branch predictor's state from changing immediately after a single misprediction</a:t>
            </a:r>
            <a:endParaRPr lang="en-US" dirty="0"/>
          </a:p>
          <a:p>
            <a:endParaRPr lang="en-US" b="0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aken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aken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71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Mispredictions occur due to two primary reasons: 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either the prediction is incorrect for the specific branch,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 the table index causes aliasing,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the history of a different branch with the same lower address bits is used.</a:t>
            </a:r>
          </a:p>
          <a:p>
            <a:pPr marL="0" indent="0">
              <a:buFont typeface="+mj-lt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+mj-lt"/>
              <a:buNone/>
            </a:pPr>
            <a:r>
              <a:rPr lang="en-US" sz="1200" b="0" i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(H&amp;P Figure C.19)</a:t>
            </a:r>
          </a:p>
          <a:p>
            <a:pPr marL="0" indent="0">
              <a:buFont typeface="+mj-lt"/>
              <a:buNone/>
            </a:pPr>
            <a:r>
              <a:rPr lang="en-US" dirty="0"/>
              <a:t>The figure shows misprediction rates for SPEC89 benchmarks using a 4096-entry table with a</a:t>
            </a:r>
            <a:r>
              <a:rPr lang="en-US" i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2-bit prediction buffer</a:t>
            </a:r>
            <a:r>
              <a:rPr lang="en-US" dirty="0"/>
              <a:t>.</a:t>
            </a:r>
            <a:endParaRPr lang="en-US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+mj-lt"/>
              <a:buNone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(Prediction accuracy of a 4096-entry 2-bit prediction buffer for the SPEC89 benchmarks.)</a:t>
            </a:r>
          </a:p>
          <a:p>
            <a:pPr marL="0" indent="0">
              <a:buFont typeface="+mj-lt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+mj-lt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misprediction rate for 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integer benchmarks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substantially higher (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of 11%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</a:p>
          <a:p>
            <a:pPr marL="0" indent="0">
              <a:buFont typeface="+mj-lt"/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 that for the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floating-point programs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average of 4%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pPr marL="0" indent="0">
              <a:buFont typeface="+mj-lt"/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95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This figure shows a comparison of 2-bit predictors. 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i="1" dirty="0"/>
              <a:t>(</a:t>
            </a:r>
            <a:r>
              <a:rPr lang="en-US" i="1" dirty="0" err="1"/>
              <a:t>noncorrelating</a:t>
            </a:r>
            <a:r>
              <a:rPr lang="en-US" i="1" dirty="0"/>
              <a:t>)</a:t>
            </a:r>
            <a:r>
              <a:rPr lang="en-US" dirty="0"/>
              <a:t> predictor for 4096 bits </a:t>
            </a:r>
            <a:r>
              <a:rPr lang="en-US" b="1" i="1" dirty="0"/>
              <a:t>(in red)</a:t>
            </a:r>
            <a:r>
              <a:rPr lang="en-US" dirty="0"/>
              <a:t>, </a:t>
            </a:r>
          </a:p>
          <a:p>
            <a:r>
              <a:rPr lang="en-US" dirty="0"/>
              <a:t>A </a:t>
            </a:r>
            <a:r>
              <a:rPr lang="en-US" i="1" dirty="0"/>
              <a:t>(</a:t>
            </a:r>
            <a:r>
              <a:rPr lang="en-US" i="1" dirty="0" err="1"/>
              <a:t>noncorrelating</a:t>
            </a:r>
            <a:r>
              <a:rPr lang="en-US" i="1" dirty="0"/>
              <a:t>)</a:t>
            </a:r>
            <a:r>
              <a:rPr lang="en-US" dirty="0"/>
              <a:t> 2-bit predictor with unlimited entries </a:t>
            </a:r>
            <a:r>
              <a:rPr lang="en-US" b="1" i="1" dirty="0"/>
              <a:t>(in green)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044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&gt;&gt;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 the status (T/NT) of the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most recently executed branches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taken or not taken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(global branch history)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use that pattern to select the appropriate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-bit BHT.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$(m, n)$ Predictor: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the last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branches to select between 2^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history tables, each with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-bit counters.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standard 2-bit BHT is considered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2) predictor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86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u="sng" dirty="0"/>
              <a:t>Correlating</a:t>
            </a:r>
            <a:r>
              <a:rPr lang="en-US" dirty="0"/>
              <a:t> (or two-level) dynamic branch predictors use the history of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recent branches to predict the current one,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non-correlating predictors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only use the history of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branch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Mechanism: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behavior of recent branches is used to pick one prediction out of four for the next branch, updating only that selected predictor.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Example: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(2, 2) Global Correlation Predictor: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4 address bits and 2 history bits (total 6 bits)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index into 2^6 = 64 predictors, each having two bits, for a total of 128 bits.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28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0" i="1" u="none" dirty="0"/>
              <a:t>For reference: (2-bit: </a:t>
            </a:r>
            <a:r>
              <a:rPr lang="en-US" sz="1200" b="0" i="1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(0, 2) predictor)</a:t>
            </a:r>
            <a:endParaRPr lang="en-US" dirty="0"/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4096-entry 2-bit BHT size: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4096 * 2 = 8K bits.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4096 = 2^12, so this requires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 address bits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indexing.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dirty="0">
                <a:latin typeface="Calibri"/>
                <a:cs typeface="Calibri"/>
              </a:rPr>
              <a:t>How</a:t>
            </a:r>
            <a:r>
              <a:rPr lang="en-US" sz="1200" spc="3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to</a:t>
            </a:r>
            <a:r>
              <a:rPr lang="en-US" sz="1200" spc="35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use</a:t>
            </a:r>
            <a:r>
              <a:rPr lang="en-US" sz="1200" spc="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the</a:t>
            </a:r>
            <a:r>
              <a:rPr lang="en-US" sz="1200" spc="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same</a:t>
            </a:r>
            <a:r>
              <a:rPr lang="en-US" sz="1200" spc="35" dirty="0">
                <a:latin typeface="Calibri"/>
                <a:cs typeface="Calibri"/>
              </a:rPr>
              <a:t> number of</a:t>
            </a:r>
            <a:r>
              <a:rPr lang="en-US" sz="1200" spc="40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bits</a:t>
            </a:r>
            <a:r>
              <a:rPr lang="en-US" sz="1200" spc="31" dirty="0">
                <a:latin typeface="Calibri"/>
                <a:cs typeface="Calibri"/>
              </a:rPr>
              <a:t> with </a:t>
            </a:r>
            <a:r>
              <a:rPr lang="en-US" sz="1200" dirty="0">
                <a:latin typeface="Calibri"/>
                <a:cs typeface="Calibri"/>
              </a:rPr>
              <a:t>a</a:t>
            </a:r>
            <a:r>
              <a:rPr lang="en-US" sz="1200" spc="31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(2,2)</a:t>
            </a:r>
            <a:r>
              <a:rPr lang="en-US" sz="1200" spc="26" dirty="0">
                <a:latin typeface="Calibri"/>
                <a:cs typeface="Calibri"/>
              </a:rPr>
              <a:t> </a:t>
            </a:r>
            <a:r>
              <a:rPr lang="en-US" sz="1200" spc="-9" dirty="0">
                <a:latin typeface="Calibri"/>
                <a:cs typeface="Calibri"/>
              </a:rPr>
              <a:t>predictor?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(arrow down)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spc="-9" dirty="0">
                <a:latin typeface="Calibri"/>
                <a:cs typeface="Calibri"/>
              </a:rPr>
              <a:t>A. </a:t>
            </a:r>
            <a:endParaRPr lang="en-US" sz="1200" b="1" dirty="0">
              <a:latin typeface="Calibri"/>
              <a:cs typeface="Calibri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Equivalently sized (2, 2) Predictor: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(2, 2) implies an entry has 2^2 = 4 BHTs.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maintain 8K bits: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8K bits / 2 bits per counter / 4 counters per entry = 1K entries.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a (2, 2) predictor with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1024 entries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a similar size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68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(Complete chart from slide 9.)</a:t>
            </a:r>
          </a:p>
          <a:p>
            <a:r>
              <a:rPr lang="en-US" dirty="0"/>
              <a:t>This figure shows a comparison of 2-bit predictors. 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i="1" u="sng" dirty="0" err="1"/>
              <a:t>noncorrelating</a:t>
            </a:r>
            <a:r>
              <a:rPr lang="en-US" dirty="0"/>
              <a:t> predictor for 4096 bits </a:t>
            </a:r>
            <a:r>
              <a:rPr lang="en-US" b="1" i="1" dirty="0"/>
              <a:t>(in red)</a:t>
            </a:r>
            <a:r>
              <a:rPr lang="en-US" dirty="0"/>
              <a:t>, </a:t>
            </a:r>
          </a:p>
          <a:p>
            <a:r>
              <a:rPr lang="en-US" dirty="0"/>
              <a:t>A </a:t>
            </a:r>
            <a:r>
              <a:rPr lang="en-US" i="1" u="sng" dirty="0" err="1"/>
              <a:t>noncorrelating</a:t>
            </a:r>
            <a:r>
              <a:rPr lang="en-US" dirty="0"/>
              <a:t> 2-bit predictor with unlimited entries </a:t>
            </a:r>
            <a:r>
              <a:rPr lang="en-US" b="1" i="1" dirty="0"/>
              <a:t>(in green)</a:t>
            </a:r>
          </a:p>
          <a:p>
            <a:r>
              <a:rPr lang="en-US" dirty="0"/>
              <a:t>A 2-bit predictor with 2 bits of </a:t>
            </a:r>
            <a:r>
              <a:rPr lang="en-US" i="1" u="sng" dirty="0"/>
              <a:t>global history</a:t>
            </a:r>
            <a:r>
              <a:rPr lang="en-US" dirty="0"/>
              <a:t> and a total of 1024 entries.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36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Answer: </a:t>
            </a:r>
            <a:r>
              <a:rPr lang="en-US" b="1" dirty="0"/>
              <a:t>B</a:t>
            </a:r>
            <a:r>
              <a:rPr lang="en-US" dirty="0"/>
              <a:t> </a:t>
            </a:r>
            <a:r>
              <a:rPr lang="en-US" sz="1200" dirty="0">
                <a:latin typeface="Calibri"/>
                <a:cs typeface="Calibri"/>
              </a:rPr>
              <a:t> 01</a:t>
            </a:r>
            <a:r>
              <a:rPr lang="en-US" sz="1200" spc="4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11</a:t>
            </a:r>
            <a:r>
              <a:rPr lang="en-US" sz="1200" spc="13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11</a:t>
            </a:r>
            <a:r>
              <a:rPr lang="en-US" sz="1200" b="1" spc="13" dirty="0">
                <a:latin typeface="Calibri"/>
                <a:cs typeface="Calibri"/>
              </a:rPr>
              <a:t> </a:t>
            </a:r>
            <a:r>
              <a:rPr lang="en-US" sz="1200" b="1" dirty="0">
                <a:latin typeface="Calibri"/>
                <a:cs typeface="Calibri"/>
              </a:rPr>
              <a:t>00</a:t>
            </a:r>
            <a:r>
              <a:rPr lang="en-US" sz="1200" spc="13" dirty="0">
                <a:latin typeface="Calibri"/>
                <a:cs typeface="Calibri"/>
              </a:rPr>
              <a:t> </a:t>
            </a:r>
            <a:r>
              <a:rPr lang="en-US" sz="1200" spc="-22" dirty="0">
                <a:latin typeface="Calibri"/>
                <a:cs typeface="Calibri"/>
              </a:rPr>
              <a:t>01</a:t>
            </a:r>
            <a:endParaRPr lang="en-US" sz="1200" dirty="0">
              <a:latin typeface="Calibri"/>
              <a:cs typeface="Calibri"/>
            </a:endParaRPr>
          </a:p>
          <a:p>
            <a:r>
              <a:rPr lang="en-US" dirty="0"/>
              <a:t>Cannot transition from 11 to 00.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446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Tournament predictors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a type of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multilevel branch predictor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use multiple predictors</a:t>
            </a:r>
          </a:p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(typically, one based on global history, and one based on local history)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will be combined using a selector mechanism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(saturating counter)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choose the most accurate predictor for each branch.</a:t>
            </a:r>
            <a:br>
              <a:rPr lang="en-US" dirty="0"/>
            </a:br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multilevel branch predictor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an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-bit saturating counter (selector) to choose between different predictors.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Typically chooses between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predictor.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selector counter is updated based on whether Predictor 1 or Predictor 2 was correct.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27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u="none" dirty="0"/>
              <a:t>&gt;&gt;</a:t>
            </a:r>
          </a:p>
          <a:p>
            <a:r>
              <a:rPr lang="en-US" b="0" u="none" dirty="0"/>
              <a:t>For example:</a:t>
            </a:r>
          </a:p>
          <a:p>
            <a:endParaRPr lang="en-US" b="0" u="none" dirty="0"/>
          </a:p>
          <a:p>
            <a:r>
              <a:rPr lang="en-US" b="1" dirty="0"/>
              <a:t>Selector:</a:t>
            </a:r>
            <a:r>
              <a:rPr lang="en-US" dirty="0"/>
              <a:t> </a:t>
            </a:r>
          </a:p>
          <a:p>
            <a:r>
              <a:rPr lang="en-US" dirty="0"/>
              <a:t>4K 2-bit counters (8K bits) </a:t>
            </a:r>
          </a:p>
          <a:p>
            <a:r>
              <a:rPr lang="en-US" dirty="0"/>
              <a:t>indexed by </a:t>
            </a:r>
            <a:r>
              <a:rPr lang="en-US" u="sng" dirty="0"/>
              <a:t>local branch address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Global Predictor:</a:t>
            </a:r>
            <a:r>
              <a:rPr lang="en-US" dirty="0"/>
              <a:t> </a:t>
            </a:r>
          </a:p>
          <a:p>
            <a:r>
              <a:rPr lang="en-US" dirty="0"/>
              <a:t>4K entries of 2-bit predictors (8K bits)</a:t>
            </a:r>
          </a:p>
          <a:p>
            <a:r>
              <a:rPr lang="en-US" dirty="0"/>
              <a:t>indexed by the history of the last 12 branches.</a:t>
            </a:r>
          </a:p>
          <a:p>
            <a:endParaRPr lang="en-US" b="1" dirty="0"/>
          </a:p>
          <a:p>
            <a:r>
              <a:rPr lang="en-US" b="1" dirty="0"/>
              <a:t>Local Predictor:</a:t>
            </a:r>
            <a:r>
              <a:rPr lang="en-US" dirty="0"/>
              <a:t> </a:t>
            </a:r>
          </a:p>
          <a:p>
            <a:r>
              <a:rPr lang="en-US" dirty="0"/>
              <a:t>1K 10-bit local history table (10K bits) </a:t>
            </a:r>
          </a:p>
          <a:p>
            <a:r>
              <a:rPr lang="en-US" dirty="0"/>
              <a:t>and 1K entries with 3-bit counters (3K bits).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Predictor Size:</a:t>
            </a:r>
            <a:r>
              <a:rPr lang="en-US" b="0" dirty="0"/>
              <a:t> Total 29K bits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476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Advantage: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The advantage</a:t>
            </a:r>
            <a:r>
              <a:rPr lang="en-US" sz="1200" spc="66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of</a:t>
            </a:r>
            <a:r>
              <a:rPr lang="en-US" sz="1200" spc="62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tournament</a:t>
            </a:r>
            <a:r>
              <a:rPr lang="en-US" sz="1200" spc="53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predictor</a:t>
            </a:r>
            <a:r>
              <a:rPr lang="en-US" sz="1200" spc="62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is</a:t>
            </a:r>
            <a:r>
              <a:rPr lang="en-US" sz="1200" spc="57" dirty="0">
                <a:latin typeface="Calibri"/>
                <a:cs typeface="Calibri"/>
              </a:rPr>
              <a:t> the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/>
                <a:cs typeface="Calibri"/>
              </a:rPr>
              <a:t>ability</a:t>
            </a:r>
            <a:r>
              <a:rPr lang="en-US" sz="1200" spc="66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to</a:t>
            </a:r>
            <a:r>
              <a:rPr lang="en-US" sz="1200" spc="62" dirty="0">
                <a:latin typeface="Calibri"/>
                <a:cs typeface="Calibri"/>
              </a:rPr>
              <a:t> </a:t>
            </a:r>
            <a:r>
              <a:rPr lang="en-US" sz="1200" dirty="0">
                <a:latin typeface="Calibri"/>
                <a:cs typeface="Calibri"/>
              </a:rPr>
              <a:t>select</a:t>
            </a:r>
            <a:r>
              <a:rPr lang="en-US" sz="1200" spc="57" dirty="0">
                <a:latin typeface="Calibri"/>
                <a:cs typeface="Calibri"/>
              </a:rPr>
              <a:t> </a:t>
            </a:r>
            <a:r>
              <a:rPr lang="en-US" sz="1200" spc="-22" dirty="0">
                <a:latin typeface="Calibri"/>
                <a:cs typeface="Calibri"/>
              </a:rPr>
              <a:t>the </a:t>
            </a:r>
            <a:r>
              <a:rPr lang="en-US" sz="1200" u="sng" dirty="0">
                <a:latin typeface="Calibri"/>
                <a:cs typeface="Calibri"/>
              </a:rPr>
              <a:t>right</a:t>
            </a:r>
            <a:r>
              <a:rPr lang="en-US" sz="1200" u="sng" spc="49" dirty="0">
                <a:latin typeface="Calibri"/>
                <a:cs typeface="Calibri"/>
              </a:rPr>
              <a:t> </a:t>
            </a:r>
            <a:r>
              <a:rPr lang="en-US" sz="1200" u="sng" dirty="0">
                <a:latin typeface="Calibri"/>
                <a:cs typeface="Calibri"/>
              </a:rPr>
              <a:t>predictor</a:t>
            </a:r>
            <a:r>
              <a:rPr lang="en-US" sz="1200" u="sng" spc="57" dirty="0">
                <a:latin typeface="Calibri"/>
                <a:cs typeface="Calibri"/>
              </a:rPr>
              <a:t> </a:t>
            </a:r>
            <a:r>
              <a:rPr lang="en-US" sz="1200" u="sng" dirty="0">
                <a:latin typeface="Calibri"/>
                <a:cs typeface="Calibri"/>
              </a:rPr>
              <a:t>for</a:t>
            </a:r>
            <a:r>
              <a:rPr lang="en-US" sz="1200" u="sng" spc="53" dirty="0">
                <a:latin typeface="Calibri"/>
                <a:cs typeface="Calibri"/>
              </a:rPr>
              <a:t> </a:t>
            </a:r>
            <a:r>
              <a:rPr lang="en-US" sz="1200" u="sng" dirty="0">
                <a:latin typeface="Calibri"/>
                <a:cs typeface="Calibri"/>
              </a:rPr>
              <a:t>a</a:t>
            </a:r>
            <a:r>
              <a:rPr lang="en-US" sz="1200" u="sng" spc="62" dirty="0">
                <a:latin typeface="Calibri"/>
                <a:cs typeface="Calibri"/>
              </a:rPr>
              <a:t> </a:t>
            </a:r>
            <a:r>
              <a:rPr lang="en-US" sz="1200" u="sng" dirty="0">
                <a:latin typeface="Calibri"/>
                <a:cs typeface="Calibri"/>
              </a:rPr>
              <a:t>particular</a:t>
            </a:r>
            <a:r>
              <a:rPr lang="en-US" sz="1200" u="sng" spc="57" dirty="0">
                <a:latin typeface="Calibri"/>
                <a:cs typeface="Calibri"/>
              </a:rPr>
              <a:t> </a:t>
            </a:r>
            <a:r>
              <a:rPr lang="en-US" sz="1200" u="sng" spc="-9" dirty="0">
                <a:latin typeface="Calibri"/>
                <a:cs typeface="Calibri"/>
              </a:rPr>
              <a:t>branch.</a:t>
            </a:r>
            <a:endParaRPr lang="en-US" sz="1200" u="sng" dirty="0">
              <a:latin typeface="Calibri"/>
              <a:cs typeface="Calibri"/>
            </a:endParaRP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especially crucial for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integer benchmarks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typical tournament predictor selects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global predictor ~40% of the time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(for SPEC integer benchmarks)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graph shows that </a:t>
            </a:r>
          </a:p>
          <a:p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Tournament Predictors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the lowest misprediction rate (~2.6%)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compared to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(~3.7%)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2-bit predictors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(~6.8%) for a similar size.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19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B1: 0xABCD0048</a:t>
            </a:r>
          </a:p>
          <a:p>
            <a:r>
              <a:rPr lang="en-US" dirty="0"/>
              <a:t>32-entry BHT (2^5 entries): 5-bit index</a:t>
            </a:r>
          </a:p>
          <a:p>
            <a:endParaRPr lang="en-US" dirty="0"/>
          </a:p>
          <a:p>
            <a:r>
              <a:rPr lang="en-US" b="1" dirty="0"/>
              <a:t>Answer:</a:t>
            </a:r>
            <a:r>
              <a:rPr lang="en-US" dirty="0"/>
              <a:t> the lowest 5 bits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719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BHT: 32 * 2 = 64 bits (8 bytes)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61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B2: 0xABCD006C</a:t>
            </a:r>
          </a:p>
          <a:p>
            <a:r>
              <a:rPr lang="en-US" dirty="0"/>
              <a:t>Initially: 00</a:t>
            </a:r>
          </a:p>
          <a:p>
            <a:r>
              <a:rPr lang="en-US" dirty="0"/>
              <a:t>B2 outcome: taken</a:t>
            </a:r>
          </a:p>
          <a:p>
            <a:r>
              <a:rPr lang="en-US" dirty="0"/>
              <a:t>Update: 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B2 outcome: taken</a:t>
            </a:r>
          </a:p>
          <a:p>
            <a:r>
              <a:rPr lang="en-US" dirty="0"/>
              <a:t>Update: 11</a:t>
            </a:r>
          </a:p>
          <a:p>
            <a:endParaRPr lang="en-US" dirty="0"/>
          </a:p>
          <a:p>
            <a:r>
              <a:rPr lang="en-US" dirty="0"/>
              <a:t>Answer: </a:t>
            </a:r>
            <a:r>
              <a:rPr lang="en-US" b="1" dirty="0"/>
              <a:t>11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937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Predictor size: 64 bits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(2, 2) implies an entry has 2^2 = 4 BHTs.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maintain 64 bits: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64 bits / 2 bits per counter / 4 counters per entry = 8 entries.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(or 2^3) entries can be indexed by 3 bits.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Answer: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bits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681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Target Buffer (BTB)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 </a:t>
            </a:r>
          </a:p>
          <a:p>
            <a:r>
              <a:rPr lang="en-US" sz="1200" b="0" i="0" u="non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specialized cache used to store the target addresses of recently executed branch instructions,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enabling the processor to predict and fetch the next instruction when a branch is encountered.</a:t>
            </a:r>
            <a:br>
              <a:rPr lang="en-US" dirty="0"/>
            </a:br>
            <a:endParaRPr lang="en-US" b="1" dirty="0"/>
          </a:p>
          <a:p>
            <a:r>
              <a:rPr lang="en-US" b="1" dirty="0"/>
              <a:t>Purpose:</a:t>
            </a:r>
            <a:r>
              <a:rPr lang="en-US" dirty="0"/>
              <a:t> </a:t>
            </a:r>
          </a:p>
          <a:p>
            <a:r>
              <a:rPr lang="en-US" dirty="0"/>
              <a:t>To overcome the cost of branch target calculation, </a:t>
            </a:r>
          </a:p>
          <a:p>
            <a:r>
              <a:rPr lang="en-US" dirty="0"/>
              <a:t>which can stall instruction fetch.</a:t>
            </a:r>
          </a:p>
          <a:p>
            <a:endParaRPr lang="en-US" dirty="0"/>
          </a:p>
          <a:p>
            <a:r>
              <a:rPr lang="en-US" b="1" dirty="0"/>
              <a:t>Function:</a:t>
            </a:r>
            <a:r>
              <a:rPr lang="en-US" dirty="0"/>
              <a:t> </a:t>
            </a:r>
          </a:p>
          <a:p>
            <a:r>
              <a:rPr lang="en-US" dirty="0"/>
              <a:t>Stores the branch PCs and their target PCs, </a:t>
            </a:r>
          </a:p>
          <a:p>
            <a:r>
              <a:rPr lang="en-US" i="1" dirty="0"/>
              <a:t>(similar to how caches store addresses and data.)</a:t>
            </a:r>
          </a:p>
          <a:p>
            <a:endParaRPr lang="en-US" dirty="0"/>
          </a:p>
          <a:p>
            <a:r>
              <a:rPr lang="en-US" b="1" dirty="0"/>
              <a:t>Process (IF stage):</a:t>
            </a:r>
            <a:endParaRPr lang="en-US" dirty="0"/>
          </a:p>
          <a:p>
            <a:r>
              <a:rPr lang="en-US" dirty="0"/>
              <a:t>The PC of the instruction is sent to the branch target buffer (BTB).</a:t>
            </a:r>
          </a:p>
          <a:p>
            <a:endParaRPr lang="en-US" dirty="0"/>
          </a:p>
          <a:p>
            <a:r>
              <a:rPr lang="en-US" u="sng" dirty="0"/>
              <a:t>If</a:t>
            </a:r>
            <a:r>
              <a:rPr lang="en-US" dirty="0"/>
              <a:t> a match (BTB hit) is </a:t>
            </a:r>
            <a:r>
              <a:rPr lang="en-US" u="sng" dirty="0"/>
              <a:t>found</a:t>
            </a:r>
            <a:r>
              <a:rPr lang="en-US" dirty="0"/>
              <a:t>, </a:t>
            </a:r>
          </a:p>
          <a:p>
            <a:r>
              <a:rPr lang="en-US" dirty="0"/>
              <a:t>the predicted target PC is returned.</a:t>
            </a:r>
          </a:p>
          <a:p>
            <a:endParaRPr lang="en-US" dirty="0"/>
          </a:p>
          <a:p>
            <a:r>
              <a:rPr lang="en-US" dirty="0"/>
              <a:t>If the branch is predicted </a:t>
            </a:r>
            <a:r>
              <a:rPr lang="en-US" u="sng" dirty="0"/>
              <a:t>Taken</a:t>
            </a:r>
            <a:r>
              <a:rPr lang="en-US" dirty="0"/>
              <a:t>, </a:t>
            </a:r>
          </a:p>
          <a:p>
            <a:r>
              <a:rPr lang="en-US" dirty="0"/>
              <a:t>instruction fetch continues at the predicted PC.</a:t>
            </a:r>
          </a:p>
          <a:p>
            <a:endParaRPr lang="en-US" dirty="0"/>
          </a:p>
          <a:p>
            <a:r>
              <a:rPr lang="en-US" dirty="0"/>
              <a:t>If a misprediction occurs,</a:t>
            </a:r>
          </a:p>
          <a:p>
            <a:r>
              <a:rPr lang="en-US" dirty="0"/>
              <a:t>later logic verifies the prediction and </a:t>
            </a:r>
          </a:p>
          <a:p>
            <a:r>
              <a:rPr lang="en-US" dirty="0"/>
              <a:t>flushes incorrectly fetched instructions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8919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This figure depicts a  branch-target buffer. </a:t>
            </a:r>
          </a:p>
          <a:p>
            <a:endParaRPr lang="en-US" dirty="0"/>
          </a:p>
          <a:p>
            <a:r>
              <a:rPr lang="en-US" dirty="0"/>
              <a:t>The PC of the instruction being fetched is matched against </a:t>
            </a:r>
          </a:p>
          <a:p>
            <a:r>
              <a:rPr lang="en-US" dirty="0"/>
              <a:t>a set of instruction addresses stored in the </a:t>
            </a:r>
            <a:r>
              <a:rPr lang="en-US" u="sng" dirty="0"/>
              <a:t>first column</a:t>
            </a:r>
            <a:r>
              <a:rPr lang="en-US" dirty="0"/>
              <a:t>; </a:t>
            </a:r>
          </a:p>
          <a:p>
            <a:r>
              <a:rPr lang="en-US" dirty="0"/>
              <a:t>these represent the addresses of known branches. </a:t>
            </a:r>
          </a:p>
          <a:p>
            <a:endParaRPr lang="en-US" dirty="0"/>
          </a:p>
          <a:p>
            <a:r>
              <a:rPr lang="en-US" dirty="0"/>
              <a:t>If the PC matches one of these entries, </a:t>
            </a:r>
          </a:p>
          <a:p>
            <a:r>
              <a:rPr lang="en-US" dirty="0"/>
              <a:t>then the instruction being fetched is a taken branch, </a:t>
            </a:r>
          </a:p>
          <a:p>
            <a:r>
              <a:rPr lang="en-US" dirty="0"/>
              <a:t>and the </a:t>
            </a:r>
            <a:r>
              <a:rPr lang="en-US" u="sng" dirty="0"/>
              <a:t>second field</a:t>
            </a:r>
            <a:r>
              <a:rPr lang="en-US" dirty="0"/>
              <a:t>, </a:t>
            </a:r>
            <a:r>
              <a:rPr lang="en-US" u="sng" dirty="0"/>
              <a:t>predicted PC</a:t>
            </a:r>
            <a:r>
              <a:rPr lang="en-US" dirty="0"/>
              <a:t>, </a:t>
            </a:r>
          </a:p>
          <a:p>
            <a:r>
              <a:rPr lang="en-US" dirty="0"/>
              <a:t>contains the prediction for the next PC after the branch. </a:t>
            </a:r>
          </a:p>
          <a:p>
            <a:endParaRPr lang="en-US" dirty="0"/>
          </a:p>
          <a:p>
            <a:r>
              <a:rPr lang="en-US" dirty="0"/>
              <a:t>Fetching begins immediately at that address.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u="sng" dirty="0"/>
              <a:t>third field</a:t>
            </a:r>
            <a:r>
              <a:rPr lang="en-US" dirty="0"/>
              <a:t>, which is optional, </a:t>
            </a:r>
          </a:p>
          <a:p>
            <a:r>
              <a:rPr lang="en-US" dirty="0"/>
              <a:t>may be used for </a:t>
            </a:r>
            <a:r>
              <a:rPr lang="en-US" u="sng" dirty="0"/>
              <a:t>extra prediction state bits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907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Target Buffers (BTBs) are accessed concurrently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the instruction cache (I-cache) during the instruction fetch stage of the pipeline,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the program counter (PC) to index into the BTB. 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PC matches an entry in the BTB, resulting in a BTB hit, it implies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the current instruction being fetched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 I-cache has been executed 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and is a branch instruction.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(cover the last bullet on the slide)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278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The steps involved in handling an instruction with a branch-target buffer.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685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b="1" dirty="0"/>
              <a:t>Problem:</a:t>
            </a:r>
            <a:r>
              <a:rPr lang="en-US" dirty="0"/>
              <a:t> </a:t>
            </a:r>
          </a:p>
          <a:p>
            <a:r>
              <a:rPr lang="en-US" dirty="0"/>
              <a:t>Function returns are frequent but are </a:t>
            </a:r>
            <a:r>
              <a:rPr lang="en-US" b="1" dirty="0"/>
              <a:t>indirect jumps</a:t>
            </a:r>
            <a:r>
              <a:rPr lang="en-US" dirty="0"/>
              <a:t> </a:t>
            </a:r>
          </a:p>
          <a:p>
            <a:r>
              <a:rPr lang="en-US" dirty="0"/>
              <a:t>whose destination address (return address) </a:t>
            </a:r>
          </a:p>
          <a:p>
            <a:r>
              <a:rPr lang="en-US" dirty="0"/>
              <a:t>is hard to predict with a BTB because a function can be called from multiple places.</a:t>
            </a:r>
          </a:p>
          <a:p>
            <a:endParaRPr lang="en-US" dirty="0"/>
          </a:p>
          <a:p>
            <a:r>
              <a:rPr lang="en-US" i="1" dirty="0"/>
              <a:t>(arrow down)</a:t>
            </a:r>
          </a:p>
          <a:p>
            <a:r>
              <a:rPr lang="en-US" b="1" dirty="0"/>
              <a:t>Solution:</a:t>
            </a:r>
            <a:r>
              <a:rPr lang="en-US" dirty="0"/>
              <a:t> </a:t>
            </a:r>
          </a:p>
          <a:p>
            <a:r>
              <a:rPr lang="en-US" dirty="0"/>
              <a:t>Use a small stack (Return Address Stack) to cache the most recent return address.</a:t>
            </a:r>
          </a:p>
          <a:p>
            <a:r>
              <a:rPr lang="en-US" dirty="0"/>
              <a:t>The return address is easy to predict: </a:t>
            </a:r>
          </a:p>
          <a:p>
            <a:r>
              <a:rPr lang="en-US" dirty="0"/>
              <a:t>it's the address after the last call instruction that hasn't returned yet.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603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dirty="0"/>
              <a:t>This figure represents</a:t>
            </a:r>
          </a:p>
          <a:p>
            <a:r>
              <a:rPr lang="en-US" dirty="0"/>
              <a:t>prediction accuracy for a return address buffer </a:t>
            </a:r>
          </a:p>
          <a:p>
            <a:r>
              <a:rPr lang="en-US" i="1" dirty="0"/>
              <a:t>(operated as a stack on a number of SPEC CPU95 benchmarks). </a:t>
            </a:r>
          </a:p>
          <a:p>
            <a:endParaRPr lang="en-US" dirty="0"/>
          </a:p>
          <a:p>
            <a:r>
              <a:rPr lang="en-US" dirty="0"/>
              <a:t>The accuracy is the fraction of return addresses predicted correctly. </a:t>
            </a:r>
          </a:p>
          <a:p>
            <a:endParaRPr lang="en-US" dirty="0"/>
          </a:p>
          <a:p>
            <a:r>
              <a:rPr lang="en-US" dirty="0"/>
              <a:t>A buffer of 0 entries implies that the standard branch prediction is used. </a:t>
            </a:r>
          </a:p>
          <a:p>
            <a:endParaRPr lang="en-US" dirty="0"/>
          </a:p>
          <a:p>
            <a:r>
              <a:rPr lang="en-US" i="1" u="sng" dirty="0"/>
              <a:t>Optional:</a:t>
            </a:r>
          </a:p>
          <a:p>
            <a:r>
              <a:rPr lang="en-US" i="1" dirty="0"/>
              <a:t>Because call depths are typically not large, with some exceptions, a modest buffer works well.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316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&gt;&gt;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 is a crucial part of execution.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History Table (BHT):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2-bit counters are used for loop accuracy.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recently executed branches to predict the next branch (Global or Local history)</a:t>
            </a:r>
            <a:endParaRPr lang="en-US" sz="1200" kern="1200" baseline="300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Tournament Predictors: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multiple predictors (usually global and local) and a selector to combine them. 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can be large (e.g., ~30K bits in Power5 and Pentium 4 in 2006).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 Target Buffer (BTB):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Stores the branch address and prediction.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FFC65-791B-4559-8ED4-77406F77020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95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EF516-07C5-44C2-B684-B686D6272CD5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68030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F5A5F-4D81-4062-9F50-DCD803809D85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73531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ECCAE-1332-4E33-8441-6216EBFD33DD}" type="datetime1">
              <a:rPr lang="en-US" smtClean="0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04384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461665"/>
          </a:xfrm>
        </p:spPr>
        <p:txBody>
          <a:bodyPr lIns="0" tIns="0" rIns="0" bIns="0"/>
          <a:lstStyle>
            <a:lvl1pPr>
              <a:defRPr sz="30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9052F-3AA5-4739-B420-600756BBFADF}" type="datetime1">
              <a:rPr lang="en-US" smtClean="0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12561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0362" y="1671388"/>
            <a:ext cx="5164606" cy="43811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EE8F89-E567-4EED-8CB0-CD3B1F0F9ADB}" type="datetime1">
              <a:rPr lang="en-US" smtClean="0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421203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ennessy_cover-v2 (Final)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79512" y="1412776"/>
            <a:ext cx="1872208" cy="2309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0647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GB" sz="240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40649" name="Rectangle 9"/>
          <p:cNvSpPr>
            <a:spLocks noChangeArrowheads="1"/>
          </p:cNvSpPr>
          <p:nvPr userDrawn="1"/>
        </p:nvSpPr>
        <p:spPr bwMode="auto">
          <a:xfrm>
            <a:off x="0" y="76517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240657" name="Picture 17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50800"/>
            <a:ext cx="1228725" cy="714375"/>
          </a:xfrm>
          <a:prstGeom prst="rect">
            <a:avLst/>
          </a:prstGeom>
          <a:noFill/>
        </p:spPr>
      </p:pic>
      <p:sp>
        <p:nvSpPr>
          <p:cNvPr id="240659" name="Rectangle 19"/>
          <p:cNvSpPr>
            <a:spLocks noChangeArrowheads="1"/>
          </p:cNvSpPr>
          <p:nvPr userDrawn="1"/>
        </p:nvSpPr>
        <p:spPr bwMode="auto">
          <a:xfrm>
            <a:off x="2197100" y="765175"/>
            <a:ext cx="46038" cy="5732463"/>
          </a:xfrm>
          <a:prstGeom prst="rect">
            <a:avLst/>
          </a:prstGeom>
          <a:gradFill rotWithShape="1">
            <a:gsLst>
              <a:gs pos="0">
                <a:srgbClr val="808080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0" name="Rectangle 20"/>
          <p:cNvSpPr>
            <a:spLocks noChangeArrowheads="1"/>
          </p:cNvSpPr>
          <p:nvPr userDrawn="1"/>
        </p:nvSpPr>
        <p:spPr bwMode="auto">
          <a:xfrm>
            <a:off x="2559050" y="1195388"/>
            <a:ext cx="46038" cy="3816350"/>
          </a:xfrm>
          <a:prstGeom prst="rect">
            <a:avLst/>
          </a:prstGeom>
          <a:gradFill rotWithShape="1">
            <a:gsLst>
              <a:gs pos="0">
                <a:srgbClr val="767D79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61" name="Rectangle 21"/>
          <p:cNvSpPr>
            <a:spLocks noChangeArrowheads="1"/>
          </p:cNvSpPr>
          <p:nvPr userDrawn="1"/>
        </p:nvSpPr>
        <p:spPr bwMode="auto">
          <a:xfrm>
            <a:off x="2341563" y="1916113"/>
            <a:ext cx="6623050" cy="46037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8" name="Rectangle 38"/>
          <p:cNvSpPr>
            <a:spLocks noChangeArrowheads="1"/>
          </p:cNvSpPr>
          <p:nvPr userDrawn="1"/>
        </p:nvSpPr>
        <p:spPr bwMode="auto">
          <a:xfrm>
            <a:off x="0" y="6308725"/>
            <a:ext cx="9144000" cy="549275"/>
          </a:xfrm>
          <a:prstGeom prst="rect">
            <a:avLst/>
          </a:prstGeom>
          <a:solidFill>
            <a:srgbClr val="767D79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79" name="Rectangle 39"/>
          <p:cNvSpPr>
            <a:spLocks noChangeArrowheads="1"/>
          </p:cNvSpPr>
          <p:nvPr userDrawn="1"/>
        </p:nvSpPr>
        <p:spPr bwMode="auto">
          <a:xfrm>
            <a:off x="0" y="6308725"/>
            <a:ext cx="9144000" cy="17463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0680" name="Rectangle 4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dirty="0"/>
          </a:p>
        </p:txBody>
      </p:sp>
      <p:pic>
        <p:nvPicPr>
          <p:cNvPr id="240681" name="Picture 41" descr="MK_logo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6381750"/>
            <a:ext cx="792162" cy="460375"/>
          </a:xfrm>
          <a:prstGeom prst="rect">
            <a:avLst/>
          </a:prstGeom>
          <a:noFill/>
        </p:spPr>
      </p:pic>
      <p:sp>
        <p:nvSpPr>
          <p:cNvPr id="240682" name="Text Box 42"/>
          <p:cNvSpPr txBox="1">
            <a:spLocks noChangeArrowheads="1"/>
          </p:cNvSpPr>
          <p:nvPr userDrawn="1"/>
        </p:nvSpPr>
        <p:spPr bwMode="auto">
          <a:xfrm>
            <a:off x="8388350" y="6497638"/>
            <a:ext cx="5762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0"/>
              </a:spcBef>
              <a:buClrTx/>
              <a:buSzTx/>
              <a:buFontTx/>
              <a:buNone/>
            </a:pPr>
            <a:fld id="{63BBFCE6-A6C8-4251-973B-1D0917AA6A4E}" type="slidenum">
              <a:rPr lang="en-AU" sz="1200" b="1">
                <a:latin typeface="Arial" charset="0"/>
              </a:rPr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t>‹#›</a:t>
            </a:fld>
            <a:endParaRPr lang="en-GB" sz="12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59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1253" y="1159438"/>
            <a:ext cx="7543223" cy="44824"/>
          </a:xfrm>
          <a:custGeom>
            <a:avLst/>
            <a:gdLst/>
            <a:ahLst/>
            <a:cxnLst/>
            <a:rect l="l" t="t" r="r" b="b"/>
            <a:pathLst>
              <a:path w="8297545" h="50800">
                <a:moveTo>
                  <a:pt x="8297342" y="20320"/>
                </a:moveTo>
                <a:lnTo>
                  <a:pt x="0" y="20320"/>
                </a:lnTo>
                <a:lnTo>
                  <a:pt x="0" y="50800"/>
                </a:lnTo>
                <a:lnTo>
                  <a:pt x="8297342" y="50800"/>
                </a:lnTo>
                <a:lnTo>
                  <a:pt x="8297342" y="20320"/>
                </a:lnTo>
                <a:close/>
              </a:path>
              <a:path w="8297545" h="50800">
                <a:moveTo>
                  <a:pt x="8297342" y="0"/>
                </a:moveTo>
                <a:lnTo>
                  <a:pt x="0" y="0"/>
                </a:lnTo>
                <a:lnTo>
                  <a:pt x="0" y="10160"/>
                </a:lnTo>
                <a:lnTo>
                  <a:pt x="8297342" y="10160"/>
                </a:lnTo>
                <a:lnTo>
                  <a:pt x="8297342" y="0"/>
                </a:lnTo>
                <a:close/>
              </a:path>
            </a:pathLst>
          </a:custGeom>
          <a:solidFill>
            <a:srgbClr val="FBBA03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1303" y="457647"/>
            <a:ext cx="5874905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0332B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308" y="3058065"/>
            <a:ext cx="645159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57E36-A4D3-4216-9467-98056BDF6F20}" type="datetime1">
              <a:rPr lang="en-US" smtClean="0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68187" y="6346231"/>
            <a:ext cx="299796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‹#›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204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80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03433">
        <a:defRPr>
          <a:latin typeface="+mn-lt"/>
          <a:ea typeface="+mn-ea"/>
          <a:cs typeface="+mn-cs"/>
        </a:defRPr>
      </a:lvl2pPr>
      <a:lvl3pPr marL="806867">
        <a:defRPr>
          <a:latin typeface="+mn-lt"/>
          <a:ea typeface="+mn-ea"/>
          <a:cs typeface="+mn-cs"/>
        </a:defRPr>
      </a:lvl3pPr>
      <a:lvl4pPr marL="1210300">
        <a:defRPr>
          <a:latin typeface="+mn-lt"/>
          <a:ea typeface="+mn-ea"/>
          <a:cs typeface="+mn-cs"/>
        </a:defRPr>
      </a:lvl4pPr>
      <a:lvl5pPr marL="1613733">
        <a:defRPr>
          <a:latin typeface="+mn-lt"/>
          <a:ea typeface="+mn-ea"/>
          <a:cs typeface="+mn-cs"/>
        </a:defRPr>
      </a:lvl5pPr>
      <a:lvl6pPr marL="2017166">
        <a:defRPr>
          <a:latin typeface="+mn-lt"/>
          <a:ea typeface="+mn-ea"/>
          <a:cs typeface="+mn-cs"/>
        </a:defRPr>
      </a:lvl6pPr>
      <a:lvl7pPr marL="2420600">
        <a:defRPr>
          <a:latin typeface="+mn-lt"/>
          <a:ea typeface="+mn-ea"/>
          <a:cs typeface="+mn-cs"/>
        </a:defRPr>
      </a:lvl7pPr>
      <a:lvl8pPr marL="2824033">
        <a:defRPr>
          <a:latin typeface="+mn-lt"/>
          <a:ea typeface="+mn-ea"/>
          <a:cs typeface="+mn-cs"/>
        </a:defRPr>
      </a:lvl8pPr>
      <a:lvl9pPr marL="3227466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83" name="Rectangle 11"/>
          <p:cNvSpPr>
            <a:spLocks noChangeArrowheads="1"/>
          </p:cNvSpPr>
          <p:nvPr/>
        </p:nvSpPr>
        <p:spPr bwMode="auto">
          <a:xfrm>
            <a:off x="2843213" y="1254125"/>
            <a:ext cx="3798476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AU" sz="2400" dirty="0">
                <a:solidFill>
                  <a:srgbClr val="000099"/>
                </a:solidFill>
                <a:latin typeface="Arial" charset="0"/>
              </a:rPr>
              <a:t>Chapter 3 and Appendix C</a:t>
            </a:r>
            <a:endParaRPr lang="en-GB" sz="2400" dirty="0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233484" name="Rectangle 12"/>
          <p:cNvSpPr>
            <a:spLocks noChangeArrowheads="1"/>
          </p:cNvSpPr>
          <p:nvPr/>
        </p:nvSpPr>
        <p:spPr bwMode="auto">
          <a:xfrm>
            <a:off x="2843213" y="2060575"/>
            <a:ext cx="5832475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2800" dirty="0">
                <a:solidFill>
                  <a:srgbClr val="0332B7"/>
                </a:solidFill>
                <a:latin typeface="Arial MT"/>
                <a:cs typeface="Arial MT"/>
              </a:rPr>
              <a:t>Dynamic Branch Prediction</a:t>
            </a:r>
            <a:endParaRPr lang="en-US" sz="2800" dirty="0">
              <a:latin typeface="Arial MT"/>
              <a:cs typeface="Arial MT"/>
            </a:endParaRPr>
          </a:p>
        </p:txBody>
      </p:sp>
      <p:sp>
        <p:nvSpPr>
          <p:cNvPr id="233485" name="Text Box 13"/>
          <p:cNvSpPr txBox="1">
            <a:spLocks noChangeArrowheads="1"/>
          </p:cNvSpPr>
          <p:nvPr/>
        </p:nvSpPr>
        <p:spPr bwMode="auto">
          <a:xfrm>
            <a:off x="3299585" y="-100013"/>
            <a:ext cx="3481466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itchFamily="18" charset="0"/>
              </a:rPr>
              <a:t>Computer Architecture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Arial" charset="0"/>
              </a:rPr>
              <a:t>A Quantitative Approach</a:t>
            </a:r>
            <a:endParaRPr lang="en-GB" sz="2000" dirty="0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3" name="Picture 2" descr="A book cover of a computer architecture&#10;&#10;AI-generated content may be incorrect.">
            <a:extLst>
              <a:ext uri="{FF2B5EF4-FFF2-40B4-BE49-F238E27FC236}">
                <a16:creationId xmlns:a16="http://schemas.microsoft.com/office/drawing/2014/main" id="{C8AD8ECF-BB96-6B99-D501-645D3AF2C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3806512"/>
            <a:ext cx="1894513" cy="2315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dirty="0"/>
              <a:t>Review</a:t>
            </a:r>
            <a:r>
              <a:rPr spc="-137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233194"/>
            <a:ext cx="7370517" cy="4944959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93610" indent="-248784">
              <a:lnSpc>
                <a:spcPct val="110000"/>
              </a:lnSpc>
              <a:spcBef>
                <a:spcPts val="569"/>
              </a:spcBef>
              <a:buChar char="•"/>
              <a:tabLst>
                <a:tab pos="293610" algn="l"/>
              </a:tabLst>
            </a:pPr>
            <a:r>
              <a:rPr sz="2400" spc="-9" dirty="0">
                <a:latin typeface="Calibri"/>
                <a:cs typeface="Calibri"/>
              </a:rPr>
              <a:t>Assume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machine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6-</a:t>
            </a:r>
            <a:r>
              <a:rPr sz="2400" spc="-18" dirty="0">
                <a:latin typeface="Calibri"/>
                <a:cs typeface="Calibri"/>
              </a:rPr>
              <a:t>stage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pipeline</a:t>
            </a:r>
            <a:endParaRPr sz="24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357"/>
              </a:spcBef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branch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direction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target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known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</a:t>
            </a:r>
            <a:r>
              <a:rPr sz="2200" baseline="23148" dirty="0">
                <a:latin typeface="Calibri"/>
                <a:cs typeface="Calibri"/>
              </a:rPr>
              <a:t>th</a:t>
            </a:r>
            <a:r>
              <a:rPr sz="2200" spc="99" baseline="2314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stage</a:t>
            </a:r>
            <a:endParaRPr sz="22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383"/>
              </a:spcBef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20%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branches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average</a:t>
            </a:r>
            <a:endParaRPr sz="22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401"/>
              </a:spcBef>
              <a:buChar char="–"/>
              <a:tabLst>
                <a:tab pos="643252" algn="l"/>
              </a:tabLst>
            </a:pPr>
            <a:r>
              <a:rPr sz="2200" spc="-9" dirty="0">
                <a:latin typeface="Calibri"/>
                <a:cs typeface="Calibri"/>
              </a:rPr>
              <a:t>Branch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i="1" spc="-18" dirty="0">
                <a:latin typeface="Calibri"/>
                <a:cs typeface="Calibri"/>
              </a:rPr>
              <a:t>statically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predicted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i="1" spc="-31" dirty="0">
                <a:latin typeface="Calibri"/>
                <a:cs typeface="Calibri"/>
              </a:rPr>
              <a:t>not-</a:t>
            </a:r>
            <a:r>
              <a:rPr sz="2200" i="1" spc="-9" dirty="0">
                <a:latin typeface="Calibri"/>
                <a:cs typeface="Calibri"/>
              </a:rPr>
              <a:t>taken</a:t>
            </a:r>
            <a:endParaRPr sz="2200" i="1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296"/>
              </a:spcBef>
              <a:spcAft>
                <a:spcPts val="2400"/>
              </a:spcAft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60%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correct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prediction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average</a:t>
            </a:r>
            <a:endParaRPr sz="2400" dirty="0">
              <a:latin typeface="Calibri"/>
              <a:cs typeface="Calibri"/>
            </a:endParaRPr>
          </a:p>
          <a:p>
            <a:pPr marL="294170" marR="15689" indent="-249344">
              <a:lnSpc>
                <a:spcPct val="110000"/>
              </a:lnSpc>
              <a:spcBef>
                <a:spcPts val="4"/>
              </a:spcBef>
              <a:buChar char="•"/>
              <a:tabLst>
                <a:tab pos="294170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cycles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wasted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branch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misprediction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machine?</a:t>
            </a:r>
            <a:endParaRPr sz="2400" dirty="0">
              <a:latin typeface="Calibri"/>
              <a:cs typeface="Calibri"/>
            </a:endParaRPr>
          </a:p>
          <a:p>
            <a:pPr marL="443215">
              <a:lnSpc>
                <a:spcPct val="110000"/>
              </a:lnSpc>
              <a:spcBef>
                <a:spcPts val="357"/>
              </a:spcBef>
              <a:tabLst>
                <a:tab pos="742429" algn="l"/>
              </a:tabLst>
            </a:pPr>
            <a:r>
              <a:rPr sz="2200" spc="-22" dirty="0">
                <a:latin typeface="Calibri"/>
                <a:cs typeface="Calibri"/>
              </a:rPr>
              <a:t>A.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44" dirty="0">
                <a:latin typeface="Calibri"/>
                <a:cs typeface="Calibri"/>
              </a:rPr>
              <a:t>3</a:t>
            </a:r>
            <a:endParaRPr sz="2200" dirty="0">
              <a:latin typeface="Calibri"/>
              <a:cs typeface="Calibri"/>
            </a:endParaRPr>
          </a:p>
          <a:p>
            <a:pPr marL="443215">
              <a:lnSpc>
                <a:spcPct val="110000"/>
              </a:lnSpc>
              <a:spcBef>
                <a:spcPts val="383"/>
              </a:spcBef>
              <a:tabLst>
                <a:tab pos="742429" algn="l"/>
              </a:tabLst>
            </a:pPr>
            <a:r>
              <a:rPr sz="2200" spc="-22" dirty="0">
                <a:latin typeface="Calibri"/>
                <a:cs typeface="Calibri"/>
              </a:rPr>
              <a:t>B.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44" dirty="0">
                <a:latin typeface="Calibri"/>
                <a:cs typeface="Calibri"/>
              </a:rPr>
              <a:t>4</a:t>
            </a:r>
            <a:endParaRPr sz="2200" dirty="0">
              <a:latin typeface="Calibri"/>
              <a:cs typeface="Calibri"/>
            </a:endParaRPr>
          </a:p>
          <a:p>
            <a:pPr marL="443215">
              <a:lnSpc>
                <a:spcPct val="110000"/>
              </a:lnSpc>
              <a:spcBef>
                <a:spcPts val="379"/>
              </a:spcBef>
              <a:tabLst>
                <a:tab pos="742429" algn="l"/>
              </a:tabLst>
            </a:pPr>
            <a:r>
              <a:rPr sz="2200" spc="-22" dirty="0">
                <a:latin typeface="Calibri"/>
                <a:cs typeface="Calibri"/>
              </a:rPr>
              <a:t>C.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44" dirty="0">
                <a:latin typeface="Calibri"/>
                <a:cs typeface="Calibri"/>
              </a:rPr>
              <a:t>5</a:t>
            </a:r>
            <a:endParaRPr sz="2200" dirty="0">
              <a:latin typeface="Calibri"/>
              <a:cs typeface="Calibri"/>
            </a:endParaRPr>
          </a:p>
          <a:p>
            <a:pPr marL="443215">
              <a:lnSpc>
                <a:spcPct val="110000"/>
              </a:lnSpc>
              <a:spcBef>
                <a:spcPts val="318"/>
              </a:spcBef>
              <a:tabLst>
                <a:tab pos="742429" algn="l"/>
              </a:tabLst>
            </a:pPr>
            <a:r>
              <a:rPr sz="2200" spc="-22" dirty="0">
                <a:latin typeface="Calibri"/>
                <a:cs typeface="Calibri"/>
              </a:rPr>
              <a:t>D.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44" dirty="0">
                <a:latin typeface="Calibri"/>
                <a:cs typeface="Calibri"/>
              </a:rPr>
              <a:t>6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28478" y="6275618"/>
            <a:ext cx="7978588" cy="384361"/>
            <a:chOff x="508000" y="6842025"/>
            <a:chExt cx="9042400" cy="43560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1867" y="6842025"/>
              <a:ext cx="578533" cy="4350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8000" y="6863887"/>
              <a:ext cx="9042400" cy="413384"/>
            </a:xfrm>
            <a:custGeom>
              <a:avLst/>
              <a:gdLst/>
              <a:ahLst/>
              <a:cxnLst/>
              <a:rect l="l" t="t" r="r" b="b"/>
              <a:pathLst>
                <a:path w="9042400" h="413384">
                  <a:moveTo>
                    <a:pt x="0" y="413213"/>
                  </a:moveTo>
                  <a:lnTo>
                    <a:pt x="0" y="0"/>
                  </a:lnTo>
                  <a:lnTo>
                    <a:pt x="9042400" y="0"/>
                  </a:lnTo>
                  <a:lnTo>
                    <a:pt x="9042400" y="413213"/>
                  </a:lnTo>
                  <a:lnTo>
                    <a:pt x="0" y="413213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FB39657C-632C-791B-123F-0ECE9D5F2E6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56104" y="6026404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</a:t>
            </a:fld>
            <a:endParaRPr lang="en-US" spc="-4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2091" y="1233194"/>
            <a:ext cx="7344013" cy="3667494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293610" indent="-248784">
              <a:lnSpc>
                <a:spcPct val="110000"/>
              </a:lnSpc>
              <a:spcBef>
                <a:spcPts val="569"/>
              </a:spcBef>
              <a:buChar char="•"/>
              <a:tabLst>
                <a:tab pos="293610" algn="l"/>
              </a:tabLst>
            </a:pPr>
            <a:r>
              <a:rPr sz="2400" spc="-9" dirty="0">
                <a:latin typeface="Calibri"/>
                <a:cs typeface="Calibri"/>
              </a:rPr>
              <a:t>Assume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machine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6" dirty="0">
                <a:latin typeface="Calibri"/>
                <a:cs typeface="Calibri"/>
              </a:rPr>
              <a:t>6-</a:t>
            </a:r>
            <a:r>
              <a:rPr sz="2400" spc="-18" dirty="0">
                <a:latin typeface="Calibri"/>
                <a:cs typeface="Calibri"/>
              </a:rPr>
              <a:t>stage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pipeline</a:t>
            </a:r>
            <a:endParaRPr sz="24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357"/>
              </a:spcBef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branch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direction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target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known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</a:t>
            </a:r>
            <a:r>
              <a:rPr sz="2200" baseline="23148" dirty="0">
                <a:latin typeface="Calibri"/>
                <a:cs typeface="Calibri"/>
              </a:rPr>
              <a:t>th</a:t>
            </a:r>
            <a:r>
              <a:rPr sz="2200" spc="99" baseline="23148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stage</a:t>
            </a:r>
            <a:endParaRPr sz="22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383"/>
              </a:spcBef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20%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branches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average</a:t>
            </a:r>
            <a:endParaRPr sz="22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401"/>
              </a:spcBef>
              <a:buChar char="–"/>
              <a:tabLst>
                <a:tab pos="643252" algn="l"/>
              </a:tabLst>
            </a:pPr>
            <a:r>
              <a:rPr sz="2200" spc="-9" dirty="0">
                <a:latin typeface="Calibri"/>
                <a:cs typeface="Calibri"/>
              </a:rPr>
              <a:t>Branch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i="1" spc="-9" dirty="0">
                <a:latin typeface="Calibri"/>
                <a:cs typeface="Calibri"/>
              </a:rPr>
              <a:t>statically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predicted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i="1" spc="-31" dirty="0">
                <a:latin typeface="Calibri"/>
                <a:cs typeface="Calibri"/>
              </a:rPr>
              <a:t>not-</a:t>
            </a:r>
            <a:r>
              <a:rPr sz="2200" i="1" spc="-9" dirty="0">
                <a:latin typeface="Calibri"/>
                <a:cs typeface="Calibri"/>
              </a:rPr>
              <a:t>taken</a:t>
            </a:r>
            <a:endParaRPr sz="2200" dirty="0">
              <a:latin typeface="Calibri"/>
              <a:cs typeface="Calibri"/>
            </a:endParaRPr>
          </a:p>
          <a:p>
            <a:pPr marL="643252" lvl="1" indent="-200036">
              <a:lnSpc>
                <a:spcPct val="110000"/>
              </a:lnSpc>
              <a:spcBef>
                <a:spcPts val="296"/>
              </a:spcBef>
              <a:spcAft>
                <a:spcPts val="2400"/>
              </a:spcAft>
              <a:buChar char="–"/>
              <a:tabLst>
                <a:tab pos="643252" algn="l"/>
              </a:tabLst>
            </a:pPr>
            <a:r>
              <a:rPr sz="2200" dirty="0">
                <a:latin typeface="Calibri"/>
                <a:cs typeface="Calibri"/>
              </a:rPr>
              <a:t>60%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correct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prediction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average</a:t>
            </a:r>
            <a:endParaRPr sz="2400" dirty="0">
              <a:latin typeface="Calibri"/>
              <a:cs typeface="Calibri"/>
            </a:endParaRPr>
          </a:p>
          <a:p>
            <a:pPr marL="294170" marR="15689" indent="-249344" algn="just">
              <a:lnSpc>
                <a:spcPct val="110000"/>
              </a:lnSpc>
              <a:buChar char="•"/>
              <a:tabLst>
                <a:tab pos="294170" algn="l"/>
              </a:tabLst>
            </a:pPr>
            <a:r>
              <a:rPr sz="2400" dirty="0">
                <a:latin typeface="Calibri"/>
                <a:cs typeface="Calibri"/>
              </a:rPr>
              <a:t>What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average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CPI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control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stalls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are </a:t>
            </a:r>
            <a:r>
              <a:rPr sz="2400" spc="-18" dirty="0">
                <a:latin typeface="Calibri"/>
                <a:cs typeface="Calibri"/>
              </a:rPr>
              <a:t>considered?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Assume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stalls,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ideal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CPI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31" dirty="0">
                <a:latin typeface="Calibri"/>
                <a:cs typeface="Calibri"/>
              </a:rPr>
              <a:t>1.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9925B85D-95BE-BFB3-71AB-B71724D481B1}"/>
              </a:ext>
            </a:extLst>
          </p:cNvPr>
          <p:cNvGrpSpPr/>
          <p:nvPr/>
        </p:nvGrpSpPr>
        <p:grpSpPr>
          <a:xfrm>
            <a:off x="728478" y="6275618"/>
            <a:ext cx="7978588" cy="384361"/>
            <a:chOff x="508000" y="6842025"/>
            <a:chExt cx="9042400" cy="435609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16EEB739-ADF6-BE0A-220D-A91402F857A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1867" y="6842025"/>
              <a:ext cx="578533" cy="435074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9C330FDF-EFD8-3FF5-C2AC-F24CDF0443C5}"/>
                </a:ext>
              </a:extLst>
            </p:cNvPr>
            <p:cNvSpPr/>
            <p:nvPr/>
          </p:nvSpPr>
          <p:spPr>
            <a:xfrm>
              <a:off x="508000" y="6863887"/>
              <a:ext cx="9042400" cy="413384"/>
            </a:xfrm>
            <a:custGeom>
              <a:avLst/>
              <a:gdLst/>
              <a:ahLst/>
              <a:cxnLst/>
              <a:rect l="l" t="t" r="r" b="b"/>
              <a:pathLst>
                <a:path w="9042400" h="413384">
                  <a:moveTo>
                    <a:pt x="0" y="413213"/>
                  </a:moveTo>
                  <a:lnTo>
                    <a:pt x="0" y="0"/>
                  </a:lnTo>
                  <a:lnTo>
                    <a:pt x="9042400" y="0"/>
                  </a:lnTo>
                  <a:lnTo>
                    <a:pt x="9042400" y="413213"/>
                  </a:lnTo>
                  <a:lnTo>
                    <a:pt x="0" y="413213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C3496E8E-34BC-2AEA-182E-A669CD7CDB3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256104" y="6026404"/>
            <a:ext cx="386592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</a:t>
            </a:fld>
            <a:endParaRPr lang="en-US" spc="-44" dirty="0"/>
          </a:p>
        </p:txBody>
      </p:sp>
      <p:sp>
        <p:nvSpPr>
          <p:cNvPr id="14" name="object 2">
            <a:extLst>
              <a:ext uri="{FF2B5EF4-FFF2-40B4-BE49-F238E27FC236}">
                <a16:creationId xmlns:a16="http://schemas.microsoft.com/office/drawing/2014/main" id="{749D3BC4-7678-4A18-AF8A-FC64929F2005}"/>
              </a:ext>
            </a:extLst>
          </p:cNvPr>
          <p:cNvSpPr txBox="1">
            <a:spLocks/>
          </p:cNvSpPr>
          <p:nvPr/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78743" defTabSz="914400">
              <a:spcBef>
                <a:spcPts val="88"/>
              </a:spcBef>
            </a:pPr>
            <a:r>
              <a:rPr lang="en-US" kern="0"/>
              <a:t>Review</a:t>
            </a:r>
            <a:r>
              <a:rPr lang="en-US" kern="0" spc="-137"/>
              <a:t> </a:t>
            </a:r>
            <a:r>
              <a:rPr lang="en-US" kern="0" spc="-9"/>
              <a:t>Question</a:t>
            </a:r>
            <a:endParaRPr lang="en-US" kern="0" spc="-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0234" y="777239"/>
            <a:ext cx="2076062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pc="-9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315" y="1396701"/>
            <a:ext cx="5842747" cy="3827895"/>
          </a:xfrm>
          <a:prstGeom prst="rect">
            <a:avLst/>
          </a:prstGeom>
        </p:spPr>
        <p:txBody>
          <a:bodyPr vert="horz" wrap="square" lIns="0" tIns="67235" rIns="0" bIns="0" rtlCol="0">
            <a:spAutoFit/>
          </a:bodyPr>
          <a:lstStyle/>
          <a:p>
            <a:pPr marL="259990" indent="-248784">
              <a:spcBef>
                <a:spcPts val="529"/>
              </a:spcBef>
              <a:buChar char="•"/>
              <a:tabLst>
                <a:tab pos="259990" algn="l"/>
              </a:tabLst>
            </a:pPr>
            <a:r>
              <a:rPr sz="2400" spc="-22" dirty="0">
                <a:solidFill>
                  <a:srgbClr val="919191"/>
                </a:solidFill>
                <a:latin typeface="Calibri"/>
                <a:cs typeface="Calibri"/>
              </a:rPr>
              <a:t>ILP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46"/>
              </a:spcBef>
              <a:buChar char="•"/>
              <a:tabLst>
                <a:tab pos="259990" algn="l"/>
              </a:tabLst>
            </a:pPr>
            <a:r>
              <a:rPr sz="2400" spc="-9" dirty="0">
                <a:solidFill>
                  <a:srgbClr val="919191"/>
                </a:solidFill>
                <a:latin typeface="Calibri"/>
                <a:cs typeface="Calibri"/>
              </a:rPr>
              <a:t>Compiler</a:t>
            </a:r>
            <a:r>
              <a:rPr sz="2400" spc="-75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919191"/>
                </a:solidFill>
                <a:latin typeface="Calibri"/>
                <a:cs typeface="Calibri"/>
              </a:rPr>
              <a:t>techniques</a:t>
            </a:r>
            <a:r>
              <a:rPr sz="2400" spc="-75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to</a:t>
            </a:r>
            <a:r>
              <a:rPr sz="2400" spc="-79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919191"/>
                </a:solidFill>
                <a:latin typeface="Calibri"/>
                <a:cs typeface="Calibri"/>
              </a:rPr>
              <a:t>increase</a:t>
            </a:r>
            <a:r>
              <a:rPr sz="2400" spc="-71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919191"/>
                </a:solidFill>
                <a:latin typeface="Calibri"/>
                <a:cs typeface="Calibri"/>
              </a:rPr>
              <a:t>ILP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68"/>
              </a:spcBef>
              <a:buChar char="•"/>
              <a:tabLst>
                <a:tab pos="259990" algn="l"/>
              </a:tabLst>
            </a:pPr>
            <a:r>
              <a:rPr sz="2400" dirty="0">
                <a:solidFill>
                  <a:srgbClr val="919191"/>
                </a:solidFill>
                <a:latin typeface="Calibri"/>
                <a:cs typeface="Calibri"/>
              </a:rPr>
              <a:t>Loop</a:t>
            </a:r>
            <a:r>
              <a:rPr sz="2400" spc="-101" dirty="0">
                <a:solidFill>
                  <a:srgbClr val="919191"/>
                </a:solidFill>
                <a:latin typeface="Calibri"/>
                <a:cs typeface="Calibri"/>
              </a:rPr>
              <a:t> </a:t>
            </a:r>
            <a:r>
              <a:rPr sz="2400" spc="-9" dirty="0">
                <a:solidFill>
                  <a:srgbClr val="919191"/>
                </a:solidFill>
                <a:latin typeface="Calibri"/>
                <a:cs typeface="Calibri"/>
              </a:rPr>
              <a:t>Unrolling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552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Static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Branch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Prediction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(done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before)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63"/>
              </a:spcBef>
              <a:buFont typeface="Calibri"/>
              <a:buChar char="•"/>
              <a:tabLst>
                <a:tab pos="259990" algn="l"/>
              </a:tabLst>
            </a:pPr>
            <a:r>
              <a:rPr sz="2400" b="1" spc="-9" dirty="0">
                <a:latin typeface="Calibri"/>
                <a:cs typeface="Calibri"/>
              </a:rPr>
              <a:t>Dynamic</a:t>
            </a:r>
            <a:r>
              <a:rPr sz="2400" b="1" spc="-88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Branch</a:t>
            </a:r>
            <a:r>
              <a:rPr sz="2400" b="1" spc="-84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Prediction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46"/>
              </a:spcBef>
              <a:buChar char="•"/>
              <a:tabLst>
                <a:tab pos="259990" algn="l"/>
              </a:tabLst>
            </a:pPr>
            <a:r>
              <a:rPr sz="2400" spc="-18" dirty="0">
                <a:latin typeface="Calibri"/>
                <a:cs typeface="Calibri"/>
              </a:rPr>
              <a:t>Overcoming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Hazards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Dynamic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Scheduling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68"/>
              </a:spcBef>
              <a:buChar char="•"/>
              <a:tabLst>
                <a:tab pos="259990" algn="l"/>
              </a:tabLst>
            </a:pPr>
            <a:r>
              <a:rPr sz="2400" dirty="0">
                <a:latin typeface="Calibri"/>
                <a:cs typeface="Calibri"/>
              </a:rPr>
              <a:t>(Start)</a:t>
            </a:r>
            <a:r>
              <a:rPr sz="2400" spc="-10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Tomasulo</a:t>
            </a:r>
            <a:r>
              <a:rPr sz="2400" spc="-10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Algorithm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spcBef>
                <a:spcPts val="463"/>
              </a:spcBef>
              <a:buChar char="•"/>
              <a:tabLst>
                <a:tab pos="259990" algn="l"/>
              </a:tabLst>
            </a:pPr>
            <a:r>
              <a:rPr sz="2400" spc="-9" dirty="0">
                <a:latin typeface="Calibri"/>
                <a:cs typeface="Calibri"/>
              </a:rPr>
              <a:t>Conclusion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2BB50-160F-504C-B68A-9FE1D604A7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4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330685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dirty="0">
                <a:latin typeface="Calibri"/>
                <a:cs typeface="Calibri"/>
              </a:rPr>
              <a:t>Dynamic</a:t>
            </a:r>
            <a:r>
              <a:rPr spc="-146" dirty="0"/>
              <a:t> </a:t>
            </a:r>
            <a:r>
              <a:rPr dirty="0">
                <a:latin typeface="Calibri"/>
                <a:cs typeface="Calibri"/>
              </a:rPr>
              <a:t>Branch</a:t>
            </a:r>
            <a:r>
              <a:rPr spc="-150" dirty="0"/>
              <a:t> </a:t>
            </a:r>
            <a:r>
              <a:rPr spc="-9" dirty="0"/>
              <a:t>Prediction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92218"/>
            <a:ext cx="7423526" cy="4492142"/>
          </a:xfrm>
          <a:prstGeom prst="rect">
            <a:avLst/>
          </a:prstGeom>
        </p:spPr>
        <p:txBody>
          <a:bodyPr vert="horz" wrap="square" lIns="0" tIns="72278" rIns="0" bIns="0" rtlCol="0">
            <a:spAutoFit/>
          </a:bodyPr>
          <a:lstStyle/>
          <a:p>
            <a:pPr marL="319945" indent="-308739">
              <a:spcBef>
                <a:spcPts val="569"/>
              </a:spcBef>
              <a:buChar char="•"/>
              <a:tabLst>
                <a:tab pos="319945" algn="l"/>
              </a:tabLst>
            </a:pPr>
            <a:r>
              <a:rPr sz="2400" dirty="0">
                <a:latin typeface="Calibri"/>
                <a:cs typeface="Calibri"/>
              </a:rPr>
              <a:t>Why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prediction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work?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spcBef>
                <a:spcPts val="357"/>
              </a:spcBef>
              <a:buChar char="–"/>
              <a:tabLst>
                <a:tab pos="609633" algn="l"/>
              </a:tabLst>
            </a:pPr>
            <a:r>
              <a:rPr sz="2200" spc="-9" dirty="0">
                <a:latin typeface="Calibri"/>
                <a:cs typeface="Calibri"/>
              </a:rPr>
              <a:t>Underlying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algorithm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regularities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spcBef>
                <a:spcPts val="383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being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operated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regularities</a:t>
            </a:r>
            <a:endParaRPr sz="2200" dirty="0">
              <a:latin typeface="Calibri"/>
              <a:cs typeface="Calibri"/>
            </a:endParaRPr>
          </a:p>
          <a:p>
            <a:pPr marL="609633" marR="251025" lvl="1" indent="-199475">
              <a:spcBef>
                <a:spcPts val="649"/>
              </a:spcBef>
              <a:spcAft>
                <a:spcPts val="2400"/>
              </a:spcAft>
              <a:buChar char="–"/>
              <a:tabLst>
                <a:tab pos="609633" algn="l"/>
              </a:tabLst>
            </a:pPr>
            <a:r>
              <a:rPr lang="en-US" sz="2200" spc="-9" dirty="0">
                <a:cs typeface="Calibri"/>
              </a:rPr>
              <a:t>Instruction sequences often contain redundancies that stem from the way humans or compilers conceptualize and solve problems.</a:t>
            </a:r>
            <a:endParaRPr sz="1588" dirty="0">
              <a:latin typeface="Calibri"/>
              <a:cs typeface="Calibri"/>
            </a:endParaRPr>
          </a:p>
          <a:p>
            <a:pPr marL="260551" marR="266714" indent="-249344">
              <a:buChar char="•"/>
              <a:tabLst>
                <a:tab pos="260551" algn="l"/>
              </a:tabLst>
            </a:pPr>
            <a:r>
              <a:rPr sz="2400" dirty="0">
                <a:latin typeface="Calibri"/>
                <a:cs typeface="Calibri"/>
              </a:rPr>
              <a:t>Is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branch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prediction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8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9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static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branch prediction?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spcBef>
                <a:spcPts val="340"/>
              </a:spcBef>
              <a:buChar char="–"/>
              <a:tabLst>
                <a:tab pos="609633" algn="l"/>
              </a:tabLst>
            </a:pPr>
            <a:r>
              <a:rPr lang="en-US" sz="2200" dirty="0"/>
              <a:t>Higher accuracy and adaptability</a:t>
            </a:r>
            <a:endParaRPr sz="2200" dirty="0">
              <a:latin typeface="Calibri"/>
              <a:cs typeface="Calibri"/>
            </a:endParaRPr>
          </a:p>
          <a:p>
            <a:pPr marL="609633" marR="4483" lvl="1" indent="-199475">
              <a:spcBef>
                <a:spcPts val="649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There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number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important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branches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programs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have </a:t>
            </a:r>
            <a:r>
              <a:rPr sz="2200" spc="-9" dirty="0">
                <a:latin typeface="Calibri"/>
                <a:cs typeface="Calibri"/>
              </a:rPr>
              <a:t>dynamic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behavior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083C8-D5CA-D9CB-7293-CEE9B47D8EB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5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56839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50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78743">
              <a:spcBef>
                <a:spcPts val="88"/>
              </a:spcBef>
            </a:pPr>
            <a:r>
              <a:rPr spc="-9" dirty="0"/>
              <a:t>Dynamic</a:t>
            </a:r>
            <a:r>
              <a:rPr spc="-146" dirty="0"/>
              <a:t> </a:t>
            </a:r>
            <a:r>
              <a:rPr dirty="0"/>
              <a:t>Branch</a:t>
            </a:r>
            <a:r>
              <a:rPr spc="-137" dirty="0"/>
              <a:t> </a:t>
            </a:r>
            <a:r>
              <a:rPr spc="-9" dirty="0"/>
              <a:t>Prediction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453178"/>
            <a:ext cx="7410274" cy="426376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259990" indent="-248784">
              <a:spcBef>
                <a:spcPts val="88"/>
              </a:spcBef>
              <a:spcAft>
                <a:spcPts val="1800"/>
              </a:spcAft>
              <a:buChar char="•"/>
              <a:tabLst>
                <a:tab pos="259990" algn="l"/>
              </a:tabLst>
            </a:pPr>
            <a:r>
              <a:rPr sz="2400" spc="-18" dirty="0">
                <a:latin typeface="Calibri"/>
                <a:cs typeface="Calibri"/>
              </a:rPr>
              <a:t>Performance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ƒ(accuracy,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misprediction)</a:t>
            </a:r>
            <a:endParaRPr sz="2400" dirty="0">
              <a:latin typeface="Calibri"/>
              <a:cs typeface="Calibri"/>
            </a:endParaRPr>
          </a:p>
          <a:p>
            <a:pPr marL="259990" indent="-248784">
              <a:buFont typeface="Calibri"/>
              <a:buChar char="•"/>
              <a:tabLst>
                <a:tab pos="259990" algn="l"/>
              </a:tabLst>
            </a:pPr>
            <a:r>
              <a:rPr sz="2400" b="1" spc="-9" dirty="0">
                <a:latin typeface="Calibri"/>
                <a:cs typeface="Calibri"/>
              </a:rPr>
              <a:t>Branch</a:t>
            </a:r>
            <a:r>
              <a:rPr sz="2400" b="1" spc="-106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History</a:t>
            </a:r>
            <a:r>
              <a:rPr sz="2400" b="1" spc="-97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Table</a:t>
            </a:r>
            <a:r>
              <a:rPr sz="2400" b="1" spc="-101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(BHT)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spcBef>
                <a:spcPts val="468"/>
              </a:spcBef>
              <a:buChar char="–"/>
              <a:tabLst>
                <a:tab pos="609633" algn="l"/>
              </a:tabLst>
            </a:pP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Lower</a:t>
            </a:r>
            <a:r>
              <a:rPr sz="2200" u="sng" spc="-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bits</a:t>
            </a:r>
            <a:r>
              <a:rPr sz="2200" u="sng" spc="-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2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PC</a:t>
            </a:r>
            <a:r>
              <a:rPr sz="2200" u="sng" spc="-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address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index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table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1-</a:t>
            </a:r>
            <a:r>
              <a:rPr sz="2200" dirty="0">
                <a:latin typeface="Calibri"/>
                <a:cs typeface="Calibri"/>
              </a:rPr>
              <a:t>bit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values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spcBef>
                <a:spcPts val="296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Says</a:t>
            </a:r>
            <a:r>
              <a:rPr sz="2200" spc="-62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whether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branch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taken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last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time</a:t>
            </a:r>
            <a:endParaRPr sz="2200" dirty="0">
              <a:latin typeface="Calibri"/>
              <a:cs typeface="Calibri"/>
            </a:endParaRPr>
          </a:p>
          <a:p>
            <a:pPr marL="609633" lvl="1" indent="-200036">
              <a:spcBef>
                <a:spcPts val="379"/>
              </a:spcBef>
              <a:spcAft>
                <a:spcPts val="1800"/>
              </a:spcAft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No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address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check</a:t>
            </a:r>
            <a:endParaRPr sz="2400" dirty="0">
              <a:latin typeface="Calibri"/>
              <a:cs typeface="Calibri"/>
            </a:endParaRPr>
          </a:p>
          <a:p>
            <a:pPr marL="260551" marR="156330" indent="-249344">
              <a:spcBef>
                <a:spcPts val="4"/>
              </a:spcBef>
              <a:buChar char="•"/>
              <a:tabLst>
                <a:tab pos="260551" algn="l"/>
              </a:tabLst>
            </a:pPr>
            <a:r>
              <a:rPr sz="2400" spc="-9" dirty="0">
                <a:latin typeface="Calibri"/>
                <a:cs typeface="Calibri"/>
              </a:rPr>
              <a:t>Problem: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1-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BHT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cause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two </a:t>
            </a:r>
            <a:r>
              <a:rPr sz="2400" spc="-18" dirty="0">
                <a:latin typeface="Calibri"/>
                <a:cs typeface="Calibri"/>
              </a:rPr>
              <a:t>mispredictions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(average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loop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iterations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before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exit):</a:t>
            </a:r>
            <a:endParaRPr sz="2400" dirty="0">
              <a:latin typeface="Calibri"/>
              <a:cs typeface="Calibri"/>
            </a:endParaRPr>
          </a:p>
          <a:p>
            <a:pPr marL="609633" lvl="1" indent="-200036">
              <a:spcBef>
                <a:spcPts val="335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End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loop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case,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exits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instead</a:t>
            </a:r>
            <a:r>
              <a:rPr sz="2200" spc="-4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28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looping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before</a:t>
            </a:r>
            <a:endParaRPr sz="2200" dirty="0">
              <a:latin typeface="Calibri"/>
              <a:cs typeface="Calibri"/>
            </a:endParaRPr>
          </a:p>
          <a:p>
            <a:pPr marL="609633" marR="4483" lvl="1" indent="-199475">
              <a:spcBef>
                <a:spcPts val="653"/>
              </a:spcBef>
              <a:buChar char="–"/>
              <a:tabLst>
                <a:tab pos="609633" algn="l"/>
              </a:tabLst>
            </a:pPr>
            <a:r>
              <a:rPr sz="2200" dirty="0">
                <a:latin typeface="Calibri"/>
                <a:cs typeface="Calibri"/>
              </a:rPr>
              <a:t>First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through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loop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next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through</a:t>
            </a:r>
            <a:r>
              <a:rPr sz="2200" spc="-5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code,</a:t>
            </a:r>
            <a:r>
              <a:rPr sz="2200" spc="-49" dirty="0">
                <a:latin typeface="Calibri"/>
                <a:cs typeface="Calibri"/>
              </a:rPr>
              <a:t> </a:t>
            </a:r>
            <a:br>
              <a:rPr lang="en-US" sz="2200" spc="-49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when</a:t>
            </a:r>
            <a:r>
              <a:rPr sz="2200" spc="-4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predicts</a:t>
            </a:r>
            <a:r>
              <a:rPr sz="2200" spc="-57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exit </a:t>
            </a:r>
            <a:r>
              <a:rPr sz="2200" spc="-9" dirty="0">
                <a:latin typeface="Calibri"/>
                <a:cs typeface="Calibri"/>
              </a:rPr>
              <a:t>instead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looping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2217D-7217-8E36-8DE4-8C205C52AF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6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03172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20340" y="5171597"/>
            <a:ext cx="6614831" cy="1315443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Red: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stop,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taken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Green: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go,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taken</a:t>
            </a:r>
            <a:endParaRPr lang="en-US" sz="2400" spc="-18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FontTx/>
              <a:buChar char="•"/>
              <a:tabLst>
                <a:tab pos="278481" algn="l"/>
              </a:tabLst>
            </a:pPr>
            <a:r>
              <a:rPr lang="en-US" sz="2400" dirty="0">
                <a:cs typeface="Calibri"/>
              </a:rPr>
              <a:t>Adds</a:t>
            </a:r>
            <a:r>
              <a:rPr lang="en-US" sz="2400" spc="62" dirty="0">
                <a:cs typeface="Calibri"/>
              </a:rPr>
              <a:t> </a:t>
            </a:r>
            <a:r>
              <a:rPr lang="en-US" sz="2400" dirty="0">
                <a:solidFill>
                  <a:srgbClr val="114FFB"/>
                </a:solidFill>
                <a:cs typeface="Calibri"/>
              </a:rPr>
              <a:t>hysteresis</a:t>
            </a:r>
            <a:r>
              <a:rPr lang="en-US" sz="2400" spc="66" dirty="0">
                <a:solidFill>
                  <a:srgbClr val="114FFB"/>
                </a:solidFill>
                <a:cs typeface="Calibri"/>
              </a:rPr>
              <a:t> </a:t>
            </a:r>
            <a:r>
              <a:rPr lang="en-US" sz="2400" dirty="0">
                <a:cs typeface="Calibri"/>
              </a:rPr>
              <a:t>to</a:t>
            </a:r>
            <a:r>
              <a:rPr lang="en-US" sz="2400" spc="66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decision</a:t>
            </a:r>
            <a:r>
              <a:rPr lang="en-US" sz="2400" spc="75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making</a:t>
            </a:r>
            <a:r>
              <a:rPr lang="en-US" sz="2400" spc="62" dirty="0">
                <a:cs typeface="Calibri"/>
              </a:rPr>
              <a:t> </a:t>
            </a:r>
            <a:r>
              <a:rPr lang="en-US" sz="2400" spc="-9" dirty="0">
                <a:cs typeface="Calibri"/>
              </a:rPr>
              <a:t>process</a:t>
            </a:r>
            <a:endParaRPr lang="en-US" sz="2400" dirty="0"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1351" y="3552887"/>
            <a:ext cx="151840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spc="-44" dirty="0">
                <a:solidFill>
                  <a:srgbClr val="00AE00"/>
                </a:solidFill>
                <a:latin typeface="Consolas"/>
                <a:cs typeface="Consolas"/>
              </a:rPr>
              <a:t>T</a:t>
            </a:r>
            <a:endParaRPr sz="1853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83226" y="3577092"/>
            <a:ext cx="284069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spc="-22" dirty="0">
                <a:solidFill>
                  <a:srgbClr val="FC0128"/>
                </a:solidFill>
                <a:latin typeface="Consolas"/>
                <a:cs typeface="Consolas"/>
              </a:rPr>
              <a:t>NT</a:t>
            </a:r>
            <a:endParaRPr sz="1853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17172" y="4776570"/>
            <a:ext cx="284069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spc="-22" dirty="0">
                <a:solidFill>
                  <a:srgbClr val="FC0128"/>
                </a:solidFill>
                <a:latin typeface="Consolas"/>
                <a:cs typeface="Consolas"/>
              </a:rPr>
              <a:t>NT</a:t>
            </a:r>
            <a:endParaRPr sz="1853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4499" y="3208642"/>
            <a:ext cx="1722904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dirty="0">
                <a:solidFill>
                  <a:srgbClr val="00AE00"/>
                </a:solidFill>
                <a:latin typeface="Consolas"/>
                <a:cs typeface="Consolas"/>
              </a:rPr>
              <a:t>Predict</a:t>
            </a:r>
            <a:r>
              <a:rPr sz="1853" b="1" spc="75" dirty="0">
                <a:solidFill>
                  <a:srgbClr val="00AE00"/>
                </a:solidFill>
                <a:latin typeface="Consolas"/>
                <a:cs typeface="Consolas"/>
              </a:rPr>
              <a:t> </a:t>
            </a:r>
            <a:r>
              <a:rPr sz="1853" b="1" spc="-9" dirty="0">
                <a:solidFill>
                  <a:srgbClr val="00AE00"/>
                </a:solidFill>
                <a:latin typeface="Consolas"/>
                <a:cs typeface="Consolas"/>
              </a:rPr>
              <a:t>Taken</a:t>
            </a:r>
            <a:endParaRPr sz="1853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8597" y="3945542"/>
            <a:ext cx="1461247" cy="57557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2215"/>
              </a:lnSpc>
              <a:spcBef>
                <a:spcPts val="88"/>
              </a:spcBef>
            </a:pPr>
            <a:r>
              <a:rPr sz="1853" b="1" dirty="0">
                <a:solidFill>
                  <a:srgbClr val="FC0128"/>
                </a:solidFill>
                <a:latin typeface="Consolas"/>
                <a:cs typeface="Consolas"/>
              </a:rPr>
              <a:t>Predict</a:t>
            </a:r>
            <a:r>
              <a:rPr sz="1853" b="1" spc="75" dirty="0">
                <a:solidFill>
                  <a:srgbClr val="FC0128"/>
                </a:solidFill>
                <a:latin typeface="Consolas"/>
                <a:cs typeface="Consolas"/>
              </a:rPr>
              <a:t> </a:t>
            </a:r>
            <a:r>
              <a:rPr sz="1853" b="1" spc="-22" dirty="0">
                <a:solidFill>
                  <a:srgbClr val="FC0128"/>
                </a:solidFill>
                <a:latin typeface="Consolas"/>
                <a:cs typeface="Consolas"/>
              </a:rPr>
              <a:t>Not</a:t>
            </a:r>
            <a:endParaRPr sz="1853">
              <a:latin typeface="Consolas"/>
              <a:cs typeface="Consolas"/>
            </a:endParaRPr>
          </a:p>
          <a:p>
            <a:pPr marL="468991">
              <a:lnSpc>
                <a:spcPts val="2215"/>
              </a:lnSpc>
            </a:pPr>
            <a:r>
              <a:rPr sz="1853" b="1" spc="-9" dirty="0">
                <a:solidFill>
                  <a:srgbClr val="FC0128"/>
                </a:solidFill>
                <a:latin typeface="Consolas"/>
                <a:cs typeface="Consolas"/>
              </a:rPr>
              <a:t>Taken</a:t>
            </a:r>
            <a:endParaRPr sz="1853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6712" y="3208642"/>
            <a:ext cx="1722904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dirty="0">
                <a:solidFill>
                  <a:srgbClr val="00AE00"/>
                </a:solidFill>
                <a:latin typeface="Consolas"/>
                <a:cs typeface="Consolas"/>
              </a:rPr>
              <a:t>Predict</a:t>
            </a:r>
            <a:r>
              <a:rPr sz="1853" b="1" spc="75" dirty="0">
                <a:solidFill>
                  <a:srgbClr val="00AE00"/>
                </a:solidFill>
                <a:latin typeface="Consolas"/>
                <a:cs typeface="Consolas"/>
              </a:rPr>
              <a:t> </a:t>
            </a:r>
            <a:r>
              <a:rPr sz="1853" b="1" spc="-9" dirty="0">
                <a:solidFill>
                  <a:srgbClr val="00AE00"/>
                </a:solidFill>
                <a:latin typeface="Consolas"/>
                <a:cs typeface="Consolas"/>
              </a:rPr>
              <a:t>Taken</a:t>
            </a:r>
            <a:endParaRPr sz="1853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33258" y="3910580"/>
            <a:ext cx="1461247" cy="57557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lnSpc>
                <a:spcPts val="2215"/>
              </a:lnSpc>
              <a:spcBef>
                <a:spcPts val="88"/>
              </a:spcBef>
            </a:pPr>
            <a:r>
              <a:rPr sz="1853" b="1" dirty="0">
                <a:solidFill>
                  <a:srgbClr val="FC0128"/>
                </a:solidFill>
                <a:latin typeface="Consolas"/>
                <a:cs typeface="Consolas"/>
              </a:rPr>
              <a:t>Predict</a:t>
            </a:r>
            <a:r>
              <a:rPr sz="1853" b="1" spc="75" dirty="0">
                <a:solidFill>
                  <a:srgbClr val="FC0128"/>
                </a:solidFill>
                <a:latin typeface="Consolas"/>
                <a:cs typeface="Consolas"/>
              </a:rPr>
              <a:t> </a:t>
            </a:r>
            <a:r>
              <a:rPr sz="1853" b="1" spc="-22" dirty="0">
                <a:solidFill>
                  <a:srgbClr val="FC0128"/>
                </a:solidFill>
                <a:latin typeface="Consolas"/>
                <a:cs typeface="Consolas"/>
              </a:rPr>
              <a:t>Not</a:t>
            </a:r>
            <a:endParaRPr sz="1853">
              <a:latin typeface="Consolas"/>
              <a:cs typeface="Consolas"/>
            </a:endParaRPr>
          </a:p>
          <a:p>
            <a:pPr marL="468991">
              <a:lnSpc>
                <a:spcPts val="2215"/>
              </a:lnSpc>
            </a:pPr>
            <a:r>
              <a:rPr sz="1853" b="1" spc="-9" dirty="0">
                <a:solidFill>
                  <a:srgbClr val="FC0128"/>
                </a:solidFill>
                <a:latin typeface="Consolas"/>
                <a:cs typeface="Consolas"/>
              </a:rPr>
              <a:t>Taken</a:t>
            </a:r>
            <a:endParaRPr sz="1853">
              <a:latin typeface="Consolas"/>
              <a:cs typeface="Consola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8773" y="2618556"/>
            <a:ext cx="3103472" cy="217150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614309" y="4101527"/>
            <a:ext cx="151840" cy="2964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853" b="1" spc="-44" dirty="0">
                <a:solidFill>
                  <a:srgbClr val="00AE00"/>
                </a:solidFill>
                <a:latin typeface="Consolas"/>
                <a:cs typeface="Consolas"/>
              </a:rPr>
              <a:t>T</a:t>
            </a:r>
            <a:endParaRPr sz="1853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28103" y="3404970"/>
            <a:ext cx="284069" cy="555393"/>
          </a:xfrm>
          <a:prstGeom prst="rect">
            <a:avLst/>
          </a:prstGeom>
        </p:spPr>
        <p:txBody>
          <a:bodyPr vert="horz" wrap="square" lIns="0" tIns="42022" rIns="0" bIns="0" rtlCol="0">
            <a:spAutoFit/>
          </a:bodyPr>
          <a:lstStyle/>
          <a:p>
            <a:pPr marL="11206" marR="4483" indent="73963">
              <a:lnSpc>
                <a:spcPts val="2012"/>
              </a:lnSpc>
              <a:spcBef>
                <a:spcPts val="331"/>
              </a:spcBef>
            </a:pPr>
            <a:r>
              <a:rPr sz="1853" b="1" spc="-44" dirty="0">
                <a:solidFill>
                  <a:srgbClr val="00AE00"/>
                </a:solidFill>
                <a:latin typeface="Consolas"/>
                <a:cs typeface="Consolas"/>
              </a:rPr>
              <a:t>T </a:t>
            </a:r>
            <a:r>
              <a:rPr sz="1853" b="1" spc="-22" dirty="0">
                <a:solidFill>
                  <a:srgbClr val="FC0128"/>
                </a:solidFill>
                <a:latin typeface="Consolas"/>
                <a:cs typeface="Consolas"/>
              </a:rPr>
              <a:t>NT</a:t>
            </a:r>
            <a:endParaRPr sz="1853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0342" y="1280296"/>
            <a:ext cx="6614831" cy="2016340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Solution: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2-bit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if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misprediction</a:t>
            </a:r>
            <a:r>
              <a:rPr sz="2400" spc="88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twic</a:t>
            </a:r>
            <a:r>
              <a:rPr lang="en-US" sz="2400" spc="-18" dirty="0">
                <a:latin typeface="Calibri"/>
                <a:cs typeface="Calibri"/>
              </a:rPr>
              <a:t>e</a:t>
            </a:r>
            <a:endParaRPr lang="en-US" sz="2400" dirty="0">
              <a:latin typeface="Calibri"/>
              <a:cs typeface="Calibri"/>
            </a:endParaRPr>
          </a:p>
          <a:p>
            <a:pPr marR="629244" algn="ctr">
              <a:spcBef>
                <a:spcPts val="1888"/>
              </a:spcBef>
            </a:pPr>
            <a:r>
              <a:rPr lang="en-US" sz="1853" b="1" spc="-44" dirty="0">
                <a:solidFill>
                  <a:srgbClr val="00AE00"/>
                </a:solidFill>
                <a:latin typeface="Consolas"/>
                <a:cs typeface="Consolas"/>
              </a:rPr>
              <a:t>T</a:t>
            </a:r>
            <a:endParaRPr lang="en-US" sz="1853" dirty="0">
              <a:latin typeface="Consolas"/>
              <a:cs typeface="Consolas"/>
            </a:endParaRPr>
          </a:p>
          <a:p>
            <a:pPr>
              <a:spcBef>
                <a:spcPts val="984"/>
              </a:spcBef>
            </a:pPr>
            <a:endParaRPr lang="en-US" sz="1853" dirty="0">
              <a:latin typeface="Consolas"/>
              <a:cs typeface="Consolas"/>
            </a:endParaRPr>
          </a:p>
          <a:p>
            <a:pPr marL="661182" algn="ctr"/>
            <a:r>
              <a:rPr sz="1853" b="1" spc="-22" dirty="0">
                <a:solidFill>
                  <a:srgbClr val="FC0128"/>
                </a:solidFill>
                <a:latin typeface="Consolas"/>
                <a:cs typeface="Consolas"/>
              </a:rPr>
              <a:t>NT</a:t>
            </a:r>
            <a:endParaRPr sz="1853" dirty="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33322" y="4833943"/>
            <a:ext cx="1608201" cy="25753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00" dirty="0">
                <a:latin typeface="Arial MT"/>
                <a:cs typeface="Arial MT"/>
              </a:rPr>
              <a:t>H&amp;P</a:t>
            </a:r>
            <a:r>
              <a:rPr sz="1600" spc="-62" dirty="0">
                <a:latin typeface="Arial MT"/>
                <a:cs typeface="Arial MT"/>
              </a:rPr>
              <a:t> </a:t>
            </a:r>
            <a:r>
              <a:rPr sz="1600" spc="-18" dirty="0">
                <a:latin typeface="Arial MT"/>
                <a:cs typeface="Arial MT"/>
              </a:rPr>
              <a:t>Figure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8" dirty="0">
                <a:latin typeface="Arial MT"/>
                <a:cs typeface="Arial MT"/>
              </a:rPr>
              <a:t>C.18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BC23AFAE-01FA-888C-FED4-9B42FC31F72A}"/>
              </a:ext>
            </a:extLst>
          </p:cNvPr>
          <p:cNvSpPr txBox="1">
            <a:spLocks/>
          </p:cNvSpPr>
          <p:nvPr/>
        </p:nvSpPr>
        <p:spPr>
          <a:xfrm>
            <a:off x="912091" y="668850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>
            <a:lvl1pPr>
              <a:defRPr sz="3000" b="0" i="0">
                <a:solidFill>
                  <a:srgbClr val="0332B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78743" defTabSz="914400">
              <a:spcBef>
                <a:spcPts val="88"/>
              </a:spcBef>
            </a:pPr>
            <a:r>
              <a:rPr lang="en-US" kern="0" spc="-9"/>
              <a:t>Dynamic</a:t>
            </a:r>
            <a:r>
              <a:rPr lang="en-US" kern="0" spc="-146"/>
              <a:t> </a:t>
            </a:r>
            <a:r>
              <a:rPr lang="en-US" kern="0"/>
              <a:t>Branch</a:t>
            </a:r>
            <a:r>
              <a:rPr lang="en-US" kern="0" spc="-137"/>
              <a:t> </a:t>
            </a:r>
            <a:r>
              <a:rPr lang="en-US" kern="0" spc="-9"/>
              <a:t>Prediction</a:t>
            </a:r>
            <a:endParaRPr lang="en-US" kern="0" spc="-9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8F1F5A3C-561E-EDCE-5D08-71A3E38913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7</a:t>
            </a:fld>
            <a:endParaRPr lang="en-US" spc="-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BHT</a:t>
            </a:r>
            <a:r>
              <a:rPr spc="-26" dirty="0"/>
              <a:t> </a:t>
            </a:r>
            <a:r>
              <a:rPr spc="-9" dirty="0"/>
              <a:t>Accuracy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302286"/>
            <a:ext cx="7341163" cy="1170079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200" dirty="0">
                <a:latin typeface="Calibri"/>
                <a:cs typeface="Calibri"/>
              </a:rPr>
              <a:t>Mispredict</a:t>
            </a:r>
            <a:r>
              <a:rPr sz="2200" spc="7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because</a:t>
            </a:r>
            <a:r>
              <a:rPr sz="2200" spc="97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either:</a:t>
            </a:r>
            <a:endParaRPr sz="2200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z="2000" dirty="0">
                <a:latin typeface="Calibri"/>
                <a:cs typeface="Calibri"/>
              </a:rPr>
              <a:t>Wrong guess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9" dirty="0">
                <a:latin typeface="Calibri"/>
                <a:cs typeface="Calibri"/>
              </a:rPr>
              <a:t> branch</a:t>
            </a:r>
            <a:endParaRPr sz="2000" dirty="0">
              <a:latin typeface="Calibri"/>
              <a:cs typeface="Calibri"/>
            </a:endParaRPr>
          </a:p>
          <a:p>
            <a:pPr marL="651657" lvl="1" indent="-212363">
              <a:spcBef>
                <a:spcPts val="379"/>
              </a:spcBef>
              <a:buChar char="–"/>
              <a:tabLst>
                <a:tab pos="651657" algn="l"/>
              </a:tabLst>
            </a:pPr>
            <a:r>
              <a:rPr sz="2000" dirty="0">
                <a:latin typeface="Calibri"/>
                <a:cs typeface="Calibri"/>
              </a:rPr>
              <a:t>Got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branch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history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wrong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branch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index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table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025E1DA-6752-F0A3-56A3-198D7CC1B5B2}"/>
              </a:ext>
            </a:extLst>
          </p:cNvPr>
          <p:cNvGrpSpPr/>
          <p:nvPr/>
        </p:nvGrpSpPr>
        <p:grpSpPr>
          <a:xfrm>
            <a:off x="912091" y="2588363"/>
            <a:ext cx="7357474" cy="3854924"/>
            <a:chOff x="912091" y="2588363"/>
            <a:chExt cx="7357474" cy="3854924"/>
          </a:xfrm>
        </p:grpSpPr>
        <p:sp>
          <p:nvSpPr>
            <p:cNvPr id="4" name="object 4"/>
            <p:cNvSpPr txBox="1"/>
            <p:nvPr/>
          </p:nvSpPr>
          <p:spPr>
            <a:xfrm>
              <a:off x="4099538" y="6201139"/>
              <a:ext cx="657225" cy="24214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500" b="1" spc="-9" dirty="0">
                  <a:latin typeface="Arial"/>
                  <a:cs typeface="Arial"/>
                </a:rPr>
                <a:t>Integer</a:t>
              </a:r>
              <a:endParaRPr sz="1500">
                <a:latin typeface="Arial"/>
                <a:cs typeface="Arial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5965038" y="6201139"/>
              <a:ext cx="1290918" cy="24214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500" b="1" dirty="0">
                  <a:latin typeface="Arial"/>
                  <a:cs typeface="Arial"/>
                </a:rPr>
                <a:t>Floating</a:t>
              </a:r>
              <a:r>
                <a:rPr sz="1500" b="1" spc="-35" dirty="0">
                  <a:latin typeface="Arial"/>
                  <a:cs typeface="Arial"/>
                </a:rPr>
                <a:t> </a:t>
              </a:r>
              <a:r>
                <a:rPr sz="1500" b="1" spc="-18" dirty="0">
                  <a:latin typeface="Arial"/>
                  <a:cs typeface="Arial"/>
                </a:rPr>
                <a:t>Point</a:t>
              </a:r>
              <a:endParaRPr sz="1500">
                <a:latin typeface="Arial"/>
                <a:cs typeface="Arial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179555" y="6143855"/>
              <a:ext cx="5065619" cy="71718"/>
            </a:xfrm>
            <a:custGeom>
              <a:avLst/>
              <a:gdLst/>
              <a:ahLst/>
              <a:cxnLst/>
              <a:rect l="l" t="t" r="r" b="b"/>
              <a:pathLst>
                <a:path w="5741034" h="81279">
                  <a:moveTo>
                    <a:pt x="2344839" y="40436"/>
                  </a:moveTo>
                  <a:lnTo>
                    <a:pt x="2331364" y="33693"/>
                  </a:lnTo>
                  <a:lnTo>
                    <a:pt x="2263978" y="0"/>
                  </a:lnTo>
                  <a:lnTo>
                    <a:pt x="2263978" y="33693"/>
                  </a:lnTo>
                  <a:lnTo>
                    <a:pt x="80848" y="33693"/>
                  </a:lnTo>
                  <a:lnTo>
                    <a:pt x="80848" y="0"/>
                  </a:lnTo>
                  <a:lnTo>
                    <a:pt x="0" y="40436"/>
                  </a:lnTo>
                  <a:lnTo>
                    <a:pt x="80848" y="80860"/>
                  </a:lnTo>
                  <a:lnTo>
                    <a:pt x="80848" y="47167"/>
                  </a:lnTo>
                  <a:lnTo>
                    <a:pt x="2263978" y="47167"/>
                  </a:lnTo>
                  <a:lnTo>
                    <a:pt x="2263978" y="80860"/>
                  </a:lnTo>
                  <a:lnTo>
                    <a:pt x="2331364" y="47167"/>
                  </a:lnTo>
                  <a:lnTo>
                    <a:pt x="2344839" y="40436"/>
                  </a:lnTo>
                  <a:close/>
                </a:path>
                <a:path w="5741034" h="81279">
                  <a:moveTo>
                    <a:pt x="5740819" y="40436"/>
                  </a:moveTo>
                  <a:lnTo>
                    <a:pt x="5727344" y="33693"/>
                  </a:lnTo>
                  <a:lnTo>
                    <a:pt x="5659958" y="0"/>
                  </a:lnTo>
                  <a:lnTo>
                    <a:pt x="5659958" y="33693"/>
                  </a:lnTo>
                  <a:lnTo>
                    <a:pt x="2425700" y="33693"/>
                  </a:lnTo>
                  <a:lnTo>
                    <a:pt x="2425700" y="0"/>
                  </a:lnTo>
                  <a:lnTo>
                    <a:pt x="2344839" y="40436"/>
                  </a:lnTo>
                  <a:lnTo>
                    <a:pt x="2425700" y="80860"/>
                  </a:lnTo>
                  <a:lnTo>
                    <a:pt x="2425700" y="47167"/>
                  </a:lnTo>
                  <a:lnTo>
                    <a:pt x="5659958" y="47167"/>
                  </a:lnTo>
                  <a:lnTo>
                    <a:pt x="5659958" y="80860"/>
                  </a:lnTo>
                  <a:lnTo>
                    <a:pt x="5727344" y="47167"/>
                  </a:lnTo>
                  <a:lnTo>
                    <a:pt x="5740819" y="40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2158406" y="5620226"/>
              <a:ext cx="750234" cy="24214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500" b="1" spc="-9" dirty="0">
                  <a:latin typeface="Arial"/>
                  <a:cs typeface="Arial"/>
                </a:rPr>
                <a:t>SPEC89</a:t>
              </a:r>
              <a:endParaRPr sz="1500">
                <a:latin typeface="Arial"/>
                <a:cs typeface="Arial"/>
              </a:endParaRPr>
            </a:p>
          </p:txBody>
        </p:sp>
        <p:grpSp>
          <p:nvGrpSpPr>
            <p:cNvPr id="8" name="object 8"/>
            <p:cNvGrpSpPr/>
            <p:nvPr/>
          </p:nvGrpSpPr>
          <p:grpSpPr>
            <a:xfrm>
              <a:off x="3284628" y="3078205"/>
              <a:ext cx="4984937" cy="2247340"/>
              <a:chOff x="3692863" y="3410621"/>
              <a:chExt cx="5649595" cy="2546985"/>
            </a:xfrm>
          </p:grpSpPr>
          <p:sp>
            <p:nvSpPr>
              <p:cNvPr id="9" name="object 9"/>
              <p:cNvSpPr/>
              <p:nvPr/>
            </p:nvSpPr>
            <p:spPr>
              <a:xfrm>
                <a:off x="3752728" y="3909473"/>
                <a:ext cx="5572760" cy="1731010"/>
              </a:xfrm>
              <a:custGeom>
                <a:avLst/>
                <a:gdLst/>
                <a:ahLst/>
                <a:cxnLst/>
                <a:rect l="l" t="t" r="r" b="b"/>
                <a:pathLst>
                  <a:path w="5572759" h="1731010">
                    <a:moveTo>
                      <a:pt x="951569" y="1730848"/>
                    </a:moveTo>
                    <a:lnTo>
                      <a:pt x="1277691" y="1730848"/>
                    </a:lnTo>
                  </a:path>
                  <a:path w="5572759" h="1731010">
                    <a:moveTo>
                      <a:pt x="2631781" y="1730848"/>
                    </a:moveTo>
                    <a:lnTo>
                      <a:pt x="2958017" y="1730848"/>
                    </a:lnTo>
                  </a:path>
                  <a:path w="5572759" h="1731010">
                    <a:moveTo>
                      <a:pt x="0" y="1730848"/>
                    </a:moveTo>
                    <a:lnTo>
                      <a:pt x="163060" y="1730848"/>
                    </a:lnTo>
                  </a:path>
                  <a:path w="5572759" h="1731010">
                    <a:moveTo>
                      <a:pt x="3180943" y="1730848"/>
                    </a:moveTo>
                    <a:lnTo>
                      <a:pt x="3506495" y="1730848"/>
                    </a:lnTo>
                  </a:path>
                  <a:path w="5572759" h="1731010">
                    <a:moveTo>
                      <a:pt x="1517721" y="1730848"/>
                    </a:moveTo>
                    <a:lnTo>
                      <a:pt x="1843273" y="1730848"/>
                    </a:lnTo>
                  </a:path>
                  <a:path w="5572759" h="1731010">
                    <a:moveTo>
                      <a:pt x="2066199" y="1730848"/>
                    </a:moveTo>
                    <a:lnTo>
                      <a:pt x="2391751" y="1730848"/>
                    </a:lnTo>
                  </a:path>
                  <a:path w="5572759" h="1731010">
                    <a:moveTo>
                      <a:pt x="4294889" y="1730848"/>
                    </a:moveTo>
                    <a:lnTo>
                      <a:pt x="5572694" y="1730848"/>
                    </a:lnTo>
                  </a:path>
                  <a:path w="5572759" h="1731010">
                    <a:moveTo>
                      <a:pt x="403091" y="1730848"/>
                    </a:moveTo>
                    <a:lnTo>
                      <a:pt x="728643" y="1730848"/>
                    </a:lnTo>
                  </a:path>
                  <a:path w="5572759" h="1731010">
                    <a:moveTo>
                      <a:pt x="3746525" y="1730848"/>
                    </a:moveTo>
                    <a:lnTo>
                      <a:pt x="4072533" y="1730848"/>
                    </a:lnTo>
                  </a:path>
                  <a:path w="5572759" h="1731010">
                    <a:moveTo>
                      <a:pt x="951569" y="1473684"/>
                    </a:moveTo>
                    <a:lnTo>
                      <a:pt x="1277691" y="1473684"/>
                    </a:lnTo>
                  </a:path>
                  <a:path w="5572759" h="1731010">
                    <a:moveTo>
                      <a:pt x="3180943" y="1473684"/>
                    </a:moveTo>
                    <a:lnTo>
                      <a:pt x="3506495" y="1473684"/>
                    </a:lnTo>
                  </a:path>
                  <a:path w="5572759" h="1731010">
                    <a:moveTo>
                      <a:pt x="2066199" y="1473684"/>
                    </a:moveTo>
                    <a:lnTo>
                      <a:pt x="2391751" y="1473684"/>
                    </a:lnTo>
                  </a:path>
                  <a:path w="5572759" h="1731010">
                    <a:moveTo>
                      <a:pt x="1517721" y="1473684"/>
                    </a:moveTo>
                    <a:lnTo>
                      <a:pt x="1843273" y="1473684"/>
                    </a:lnTo>
                  </a:path>
                  <a:path w="5572759" h="1731010">
                    <a:moveTo>
                      <a:pt x="2631781" y="1473684"/>
                    </a:moveTo>
                    <a:lnTo>
                      <a:pt x="2958017" y="1473684"/>
                    </a:lnTo>
                  </a:path>
                  <a:path w="5572759" h="1731010">
                    <a:moveTo>
                      <a:pt x="3746525" y="1473684"/>
                    </a:moveTo>
                    <a:lnTo>
                      <a:pt x="4072533" y="1473684"/>
                    </a:lnTo>
                  </a:path>
                  <a:path w="5572759" h="1731010">
                    <a:moveTo>
                      <a:pt x="403091" y="1473684"/>
                    </a:moveTo>
                    <a:lnTo>
                      <a:pt x="728643" y="1473684"/>
                    </a:lnTo>
                  </a:path>
                  <a:path w="5572759" h="1731010">
                    <a:moveTo>
                      <a:pt x="4294889" y="1473684"/>
                    </a:moveTo>
                    <a:lnTo>
                      <a:pt x="5572694" y="1473684"/>
                    </a:lnTo>
                  </a:path>
                  <a:path w="5572759" h="1731010">
                    <a:moveTo>
                      <a:pt x="0" y="1473684"/>
                    </a:moveTo>
                    <a:lnTo>
                      <a:pt x="163060" y="1473684"/>
                    </a:lnTo>
                  </a:path>
                  <a:path w="5572759" h="1731010">
                    <a:moveTo>
                      <a:pt x="4294889" y="1233589"/>
                    </a:moveTo>
                    <a:lnTo>
                      <a:pt x="5572694" y="1233589"/>
                    </a:lnTo>
                  </a:path>
                  <a:path w="5572759" h="1731010">
                    <a:moveTo>
                      <a:pt x="2631781" y="1233589"/>
                    </a:moveTo>
                    <a:lnTo>
                      <a:pt x="3506495" y="1233589"/>
                    </a:lnTo>
                  </a:path>
                  <a:path w="5572759" h="1731010">
                    <a:moveTo>
                      <a:pt x="2066199" y="1233589"/>
                    </a:moveTo>
                    <a:lnTo>
                      <a:pt x="2391751" y="1233589"/>
                    </a:lnTo>
                  </a:path>
                  <a:path w="5572759" h="1731010">
                    <a:moveTo>
                      <a:pt x="0" y="1233589"/>
                    </a:moveTo>
                    <a:lnTo>
                      <a:pt x="163060" y="1233589"/>
                    </a:lnTo>
                  </a:path>
                  <a:path w="5572759" h="1731010">
                    <a:moveTo>
                      <a:pt x="3746525" y="1233589"/>
                    </a:moveTo>
                    <a:lnTo>
                      <a:pt x="4072533" y="1233589"/>
                    </a:lnTo>
                  </a:path>
                  <a:path w="5572759" h="1731010">
                    <a:moveTo>
                      <a:pt x="403091" y="1233589"/>
                    </a:moveTo>
                    <a:lnTo>
                      <a:pt x="1277691" y="1233589"/>
                    </a:lnTo>
                  </a:path>
                  <a:path w="5572759" h="1731010">
                    <a:moveTo>
                      <a:pt x="1517721" y="1233589"/>
                    </a:moveTo>
                    <a:lnTo>
                      <a:pt x="1843273" y="1233589"/>
                    </a:lnTo>
                  </a:path>
                  <a:path w="5572759" h="1731010">
                    <a:moveTo>
                      <a:pt x="2631781" y="976994"/>
                    </a:moveTo>
                    <a:lnTo>
                      <a:pt x="3506495" y="976994"/>
                    </a:lnTo>
                  </a:path>
                  <a:path w="5572759" h="1731010">
                    <a:moveTo>
                      <a:pt x="3746525" y="976994"/>
                    </a:moveTo>
                    <a:lnTo>
                      <a:pt x="4072533" y="976994"/>
                    </a:lnTo>
                  </a:path>
                  <a:path w="5572759" h="1731010">
                    <a:moveTo>
                      <a:pt x="1517721" y="976994"/>
                    </a:moveTo>
                    <a:lnTo>
                      <a:pt x="1843273" y="976994"/>
                    </a:lnTo>
                  </a:path>
                  <a:path w="5572759" h="1731010">
                    <a:moveTo>
                      <a:pt x="0" y="976994"/>
                    </a:moveTo>
                    <a:lnTo>
                      <a:pt x="163060" y="976994"/>
                    </a:lnTo>
                  </a:path>
                  <a:path w="5572759" h="1731010">
                    <a:moveTo>
                      <a:pt x="2066199" y="976994"/>
                    </a:moveTo>
                    <a:lnTo>
                      <a:pt x="2391751" y="976994"/>
                    </a:lnTo>
                  </a:path>
                  <a:path w="5572759" h="1731010">
                    <a:moveTo>
                      <a:pt x="4294889" y="976994"/>
                    </a:moveTo>
                    <a:lnTo>
                      <a:pt x="5572694" y="976994"/>
                    </a:lnTo>
                  </a:path>
                  <a:path w="5572759" h="1731010">
                    <a:moveTo>
                      <a:pt x="403091" y="976994"/>
                    </a:moveTo>
                    <a:lnTo>
                      <a:pt x="1277691" y="976994"/>
                    </a:lnTo>
                  </a:path>
                  <a:path w="5572759" h="1731010">
                    <a:moveTo>
                      <a:pt x="0" y="736899"/>
                    </a:moveTo>
                    <a:lnTo>
                      <a:pt x="163060" y="736899"/>
                    </a:lnTo>
                  </a:path>
                  <a:path w="5572759" h="1731010">
                    <a:moveTo>
                      <a:pt x="1517721" y="736899"/>
                    </a:moveTo>
                    <a:lnTo>
                      <a:pt x="5572694" y="736899"/>
                    </a:lnTo>
                  </a:path>
                  <a:path w="5572759" h="1731010">
                    <a:moveTo>
                      <a:pt x="403091" y="736899"/>
                    </a:moveTo>
                    <a:lnTo>
                      <a:pt x="1277691" y="736899"/>
                    </a:lnTo>
                  </a:path>
                  <a:path w="5572759" h="1731010">
                    <a:moveTo>
                      <a:pt x="0" y="496803"/>
                    </a:moveTo>
                    <a:lnTo>
                      <a:pt x="163060" y="496803"/>
                    </a:lnTo>
                  </a:path>
                  <a:path w="5572759" h="1731010">
                    <a:moveTo>
                      <a:pt x="403091" y="496803"/>
                    </a:moveTo>
                    <a:lnTo>
                      <a:pt x="5572694" y="496803"/>
                    </a:lnTo>
                  </a:path>
                  <a:path w="5572759" h="1731010">
                    <a:moveTo>
                      <a:pt x="0" y="239640"/>
                    </a:moveTo>
                    <a:lnTo>
                      <a:pt x="163060" y="239640"/>
                    </a:lnTo>
                  </a:path>
                  <a:path w="5572759" h="1731010">
                    <a:moveTo>
                      <a:pt x="403091" y="239640"/>
                    </a:moveTo>
                    <a:lnTo>
                      <a:pt x="5572694" y="239640"/>
                    </a:lnTo>
                  </a:path>
                  <a:path w="5572759" h="1731010">
                    <a:moveTo>
                      <a:pt x="403091" y="0"/>
                    </a:moveTo>
                    <a:lnTo>
                      <a:pt x="5572694" y="0"/>
                    </a:lnTo>
                  </a:path>
                  <a:path w="5572759" h="1731010">
                    <a:moveTo>
                      <a:pt x="0" y="0"/>
                    </a:moveTo>
                    <a:lnTo>
                      <a:pt x="163060" y="0"/>
                    </a:lnTo>
                  </a:path>
                </a:pathLst>
              </a:custGeom>
              <a:ln w="3186">
                <a:solidFill>
                  <a:srgbClr val="000000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3752728" y="3412214"/>
                <a:ext cx="5572760" cy="240665"/>
              </a:xfrm>
              <a:custGeom>
                <a:avLst/>
                <a:gdLst/>
                <a:ahLst/>
                <a:cxnLst/>
                <a:rect l="l" t="t" r="r" b="b"/>
                <a:pathLst>
                  <a:path w="5572759" h="240664">
                    <a:moveTo>
                      <a:pt x="0" y="240095"/>
                    </a:moveTo>
                    <a:lnTo>
                      <a:pt x="5572694" y="240095"/>
                    </a:lnTo>
                  </a:path>
                  <a:path w="5572759" h="240664">
                    <a:moveTo>
                      <a:pt x="0" y="0"/>
                    </a:moveTo>
                    <a:lnTo>
                      <a:pt x="5572694" y="0"/>
                    </a:lnTo>
                  </a:path>
                </a:pathLst>
              </a:custGeom>
              <a:ln w="3189">
                <a:solidFill>
                  <a:srgbClr val="000000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3915789" y="3660957"/>
                <a:ext cx="240029" cy="2219960"/>
              </a:xfrm>
              <a:custGeom>
                <a:avLst/>
                <a:gdLst/>
                <a:ahLst/>
                <a:cxnLst/>
                <a:rect l="l" t="t" r="r" b="b"/>
                <a:pathLst>
                  <a:path w="240029" h="2219960">
                    <a:moveTo>
                      <a:pt x="240030" y="0"/>
                    </a:moveTo>
                    <a:lnTo>
                      <a:pt x="0" y="0"/>
                    </a:lnTo>
                    <a:lnTo>
                      <a:pt x="0" y="2219459"/>
                    </a:lnTo>
                    <a:lnTo>
                      <a:pt x="240030" y="2219459"/>
                    </a:lnTo>
                    <a:lnTo>
                      <a:pt x="240030" y="0"/>
                    </a:lnTo>
                    <a:close/>
                  </a:path>
                </a:pathLst>
              </a:custGeom>
              <a:solidFill>
                <a:srgbClr val="9999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3915789" y="3660957"/>
                <a:ext cx="240029" cy="2219960"/>
              </a:xfrm>
              <a:custGeom>
                <a:avLst/>
                <a:gdLst/>
                <a:ahLst/>
                <a:cxnLst/>
                <a:rect l="l" t="t" r="r" b="b"/>
                <a:pathLst>
                  <a:path w="240029" h="2219960">
                    <a:moveTo>
                      <a:pt x="240030" y="2219459"/>
                    </a:moveTo>
                    <a:lnTo>
                      <a:pt x="240030" y="0"/>
                    </a:lnTo>
                    <a:lnTo>
                      <a:pt x="0" y="0"/>
                    </a:lnTo>
                    <a:lnTo>
                      <a:pt x="0" y="2219459"/>
                    </a:lnTo>
                  </a:path>
                </a:pathLst>
              </a:custGeom>
              <a:ln w="1710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4481371" y="5271644"/>
                <a:ext cx="223520" cy="608965"/>
              </a:xfrm>
              <a:custGeom>
                <a:avLst/>
                <a:gdLst/>
                <a:ahLst/>
                <a:cxnLst/>
                <a:rect l="l" t="t" r="r" b="b"/>
                <a:pathLst>
                  <a:path w="223520" h="608964">
                    <a:moveTo>
                      <a:pt x="222926" y="0"/>
                    </a:moveTo>
                    <a:lnTo>
                      <a:pt x="0" y="0"/>
                    </a:lnTo>
                    <a:lnTo>
                      <a:pt x="0" y="608772"/>
                    </a:lnTo>
                    <a:lnTo>
                      <a:pt x="222926" y="608772"/>
                    </a:lnTo>
                    <a:lnTo>
                      <a:pt x="222926" y="0"/>
                    </a:lnTo>
                    <a:close/>
                  </a:path>
                </a:pathLst>
              </a:custGeom>
              <a:solidFill>
                <a:srgbClr val="9999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4481371" y="5271644"/>
                <a:ext cx="223520" cy="608965"/>
              </a:xfrm>
              <a:custGeom>
                <a:avLst/>
                <a:gdLst/>
                <a:ahLst/>
                <a:cxnLst/>
                <a:rect l="l" t="t" r="r" b="b"/>
                <a:pathLst>
                  <a:path w="223520" h="608964">
                    <a:moveTo>
                      <a:pt x="222926" y="608772"/>
                    </a:moveTo>
                    <a:lnTo>
                      <a:pt x="222926" y="0"/>
                    </a:lnTo>
                    <a:lnTo>
                      <a:pt x="0" y="0"/>
                    </a:lnTo>
                    <a:lnTo>
                      <a:pt x="0" y="608772"/>
                    </a:lnTo>
                  </a:path>
                </a:pathLst>
              </a:custGeom>
              <a:ln w="17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5030419" y="4414811"/>
                <a:ext cx="240029" cy="1466215"/>
              </a:xfrm>
              <a:custGeom>
                <a:avLst/>
                <a:gdLst/>
                <a:ahLst/>
                <a:cxnLst/>
                <a:rect l="l" t="t" r="r" b="b"/>
                <a:pathLst>
                  <a:path w="240029" h="1466214">
                    <a:moveTo>
                      <a:pt x="240030" y="0"/>
                    </a:moveTo>
                    <a:lnTo>
                      <a:pt x="0" y="0"/>
                    </a:lnTo>
                    <a:lnTo>
                      <a:pt x="0" y="1465605"/>
                    </a:lnTo>
                    <a:lnTo>
                      <a:pt x="240030" y="1465605"/>
                    </a:lnTo>
                    <a:lnTo>
                      <a:pt x="240030" y="0"/>
                    </a:lnTo>
                    <a:close/>
                  </a:path>
                </a:pathLst>
              </a:custGeom>
              <a:solidFill>
                <a:srgbClr val="9999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5030419" y="4414811"/>
                <a:ext cx="240029" cy="1466215"/>
              </a:xfrm>
              <a:custGeom>
                <a:avLst/>
                <a:gdLst/>
                <a:ahLst/>
                <a:cxnLst/>
                <a:rect l="l" t="t" r="r" b="b"/>
                <a:pathLst>
                  <a:path w="240029" h="1466214">
                    <a:moveTo>
                      <a:pt x="240030" y="1465605"/>
                    </a:moveTo>
                    <a:lnTo>
                      <a:pt x="240030" y="0"/>
                    </a:lnTo>
                    <a:lnTo>
                      <a:pt x="0" y="0"/>
                    </a:lnTo>
                    <a:lnTo>
                      <a:pt x="0" y="1465605"/>
                    </a:lnTo>
                  </a:path>
                </a:pathLst>
              </a:custGeom>
              <a:ln w="1710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5596001" y="4654907"/>
                <a:ext cx="223520" cy="1225550"/>
              </a:xfrm>
              <a:custGeom>
                <a:avLst/>
                <a:gdLst/>
                <a:ahLst/>
                <a:cxnLst/>
                <a:rect l="l" t="t" r="r" b="b"/>
                <a:pathLst>
                  <a:path w="223520" h="1225550">
                    <a:moveTo>
                      <a:pt x="222926" y="0"/>
                    </a:moveTo>
                    <a:lnTo>
                      <a:pt x="0" y="0"/>
                    </a:lnTo>
                    <a:lnTo>
                      <a:pt x="0" y="1225510"/>
                    </a:lnTo>
                    <a:lnTo>
                      <a:pt x="222926" y="1225510"/>
                    </a:lnTo>
                    <a:lnTo>
                      <a:pt x="222926" y="0"/>
                    </a:lnTo>
                    <a:close/>
                  </a:path>
                </a:pathLst>
              </a:custGeom>
              <a:solidFill>
                <a:srgbClr val="9999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5596001" y="4654907"/>
                <a:ext cx="223520" cy="1225550"/>
              </a:xfrm>
              <a:custGeom>
                <a:avLst/>
                <a:gdLst/>
                <a:ahLst/>
                <a:cxnLst/>
                <a:rect l="l" t="t" r="r" b="b"/>
                <a:pathLst>
                  <a:path w="223520" h="1225550">
                    <a:moveTo>
                      <a:pt x="222926" y="1225510"/>
                    </a:moveTo>
                    <a:lnTo>
                      <a:pt x="222926" y="0"/>
                    </a:lnTo>
                    <a:lnTo>
                      <a:pt x="0" y="0"/>
                    </a:lnTo>
                    <a:lnTo>
                      <a:pt x="0" y="1225510"/>
                    </a:lnTo>
                  </a:path>
                </a:pathLst>
              </a:custGeom>
              <a:ln w="17103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6144479" y="4774954"/>
                <a:ext cx="240029" cy="1105535"/>
              </a:xfrm>
              <a:custGeom>
                <a:avLst/>
                <a:gdLst/>
                <a:ahLst/>
                <a:cxnLst/>
                <a:rect l="l" t="t" r="r" b="b"/>
                <a:pathLst>
                  <a:path w="240029" h="1105535">
                    <a:moveTo>
                      <a:pt x="240030" y="0"/>
                    </a:moveTo>
                    <a:lnTo>
                      <a:pt x="0" y="0"/>
                    </a:lnTo>
                    <a:lnTo>
                      <a:pt x="0" y="1105462"/>
                    </a:lnTo>
                    <a:lnTo>
                      <a:pt x="240030" y="1105462"/>
                    </a:lnTo>
                    <a:lnTo>
                      <a:pt x="240030" y="0"/>
                    </a:lnTo>
                    <a:close/>
                  </a:path>
                </a:pathLst>
              </a:custGeom>
              <a:solidFill>
                <a:srgbClr val="9999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6144479" y="4774954"/>
                <a:ext cx="240029" cy="1105535"/>
              </a:xfrm>
              <a:custGeom>
                <a:avLst/>
                <a:gdLst/>
                <a:ahLst/>
                <a:cxnLst/>
                <a:rect l="l" t="t" r="r" b="b"/>
                <a:pathLst>
                  <a:path w="240029" h="1105535">
                    <a:moveTo>
                      <a:pt x="240030" y="1105462"/>
                    </a:moveTo>
                    <a:lnTo>
                      <a:pt x="240030" y="0"/>
                    </a:lnTo>
                    <a:lnTo>
                      <a:pt x="0" y="0"/>
                    </a:lnTo>
                    <a:lnTo>
                      <a:pt x="0" y="1105462"/>
                    </a:lnTo>
                  </a:path>
                </a:pathLst>
              </a:custGeom>
              <a:ln w="1710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6710745" y="5271644"/>
                <a:ext cx="223520" cy="608965"/>
              </a:xfrm>
              <a:custGeom>
                <a:avLst/>
                <a:gdLst/>
                <a:ahLst/>
                <a:cxnLst/>
                <a:rect l="l" t="t" r="r" b="b"/>
                <a:pathLst>
                  <a:path w="223520" h="608964">
                    <a:moveTo>
                      <a:pt x="222926" y="0"/>
                    </a:moveTo>
                    <a:lnTo>
                      <a:pt x="0" y="0"/>
                    </a:lnTo>
                    <a:lnTo>
                      <a:pt x="0" y="608772"/>
                    </a:lnTo>
                    <a:lnTo>
                      <a:pt x="222926" y="608772"/>
                    </a:lnTo>
                    <a:lnTo>
                      <a:pt x="222926" y="0"/>
                    </a:lnTo>
                    <a:close/>
                  </a:path>
                </a:pathLst>
              </a:custGeom>
              <a:solidFill>
                <a:srgbClr val="9999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6710745" y="5271644"/>
                <a:ext cx="223520" cy="608965"/>
              </a:xfrm>
              <a:custGeom>
                <a:avLst/>
                <a:gdLst/>
                <a:ahLst/>
                <a:cxnLst/>
                <a:rect l="l" t="t" r="r" b="b"/>
                <a:pathLst>
                  <a:path w="223520" h="608964">
                    <a:moveTo>
                      <a:pt x="222926" y="608772"/>
                    </a:moveTo>
                    <a:lnTo>
                      <a:pt x="222926" y="0"/>
                    </a:lnTo>
                    <a:lnTo>
                      <a:pt x="0" y="0"/>
                    </a:lnTo>
                    <a:lnTo>
                      <a:pt x="0" y="608772"/>
                    </a:lnTo>
                  </a:path>
                </a:pathLst>
              </a:custGeom>
              <a:ln w="171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7259223" y="4774954"/>
                <a:ext cx="240029" cy="1105535"/>
              </a:xfrm>
              <a:custGeom>
                <a:avLst/>
                <a:gdLst/>
                <a:ahLst/>
                <a:cxnLst/>
                <a:rect l="l" t="t" r="r" b="b"/>
                <a:pathLst>
                  <a:path w="240029" h="1105535">
                    <a:moveTo>
                      <a:pt x="240030" y="0"/>
                    </a:moveTo>
                    <a:lnTo>
                      <a:pt x="0" y="0"/>
                    </a:lnTo>
                    <a:lnTo>
                      <a:pt x="0" y="1105462"/>
                    </a:lnTo>
                    <a:lnTo>
                      <a:pt x="240030" y="1105462"/>
                    </a:lnTo>
                    <a:lnTo>
                      <a:pt x="240030" y="0"/>
                    </a:lnTo>
                    <a:close/>
                  </a:path>
                </a:pathLst>
              </a:custGeom>
              <a:solidFill>
                <a:srgbClr val="9999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7259223" y="4774954"/>
                <a:ext cx="240029" cy="1105535"/>
              </a:xfrm>
              <a:custGeom>
                <a:avLst/>
                <a:gdLst/>
                <a:ahLst/>
                <a:cxnLst/>
                <a:rect l="l" t="t" r="r" b="b"/>
                <a:pathLst>
                  <a:path w="240029" h="1105535">
                    <a:moveTo>
                      <a:pt x="240030" y="1105462"/>
                    </a:moveTo>
                    <a:lnTo>
                      <a:pt x="240030" y="0"/>
                    </a:lnTo>
                    <a:lnTo>
                      <a:pt x="0" y="0"/>
                    </a:lnTo>
                    <a:lnTo>
                      <a:pt x="0" y="1105462"/>
                    </a:lnTo>
                  </a:path>
                </a:pathLst>
              </a:custGeom>
              <a:ln w="1710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7825261" y="4774954"/>
                <a:ext cx="222885" cy="1105535"/>
              </a:xfrm>
              <a:custGeom>
                <a:avLst/>
                <a:gdLst/>
                <a:ahLst/>
                <a:cxnLst/>
                <a:rect l="l" t="t" r="r" b="b"/>
                <a:pathLst>
                  <a:path w="222884" h="1105535">
                    <a:moveTo>
                      <a:pt x="222355" y="0"/>
                    </a:moveTo>
                    <a:lnTo>
                      <a:pt x="0" y="0"/>
                    </a:lnTo>
                    <a:lnTo>
                      <a:pt x="0" y="1105462"/>
                    </a:lnTo>
                    <a:lnTo>
                      <a:pt x="222355" y="1105462"/>
                    </a:lnTo>
                    <a:lnTo>
                      <a:pt x="222355" y="0"/>
                    </a:lnTo>
                    <a:close/>
                  </a:path>
                </a:pathLst>
              </a:custGeom>
              <a:solidFill>
                <a:srgbClr val="9999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7825261" y="4774954"/>
                <a:ext cx="222885" cy="1105535"/>
              </a:xfrm>
              <a:custGeom>
                <a:avLst/>
                <a:gdLst/>
                <a:ahLst/>
                <a:cxnLst/>
                <a:rect l="l" t="t" r="r" b="b"/>
                <a:pathLst>
                  <a:path w="222884" h="1105535">
                    <a:moveTo>
                      <a:pt x="222355" y="1105462"/>
                    </a:moveTo>
                    <a:lnTo>
                      <a:pt x="222355" y="0"/>
                    </a:lnTo>
                    <a:lnTo>
                      <a:pt x="0" y="0"/>
                    </a:lnTo>
                    <a:lnTo>
                      <a:pt x="0" y="1105462"/>
                    </a:lnTo>
                  </a:path>
                </a:pathLst>
              </a:custGeom>
              <a:ln w="17102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8939321" y="5768904"/>
                <a:ext cx="223520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223520" h="111760">
                    <a:moveTo>
                      <a:pt x="222926" y="0"/>
                    </a:moveTo>
                    <a:lnTo>
                      <a:pt x="0" y="0"/>
                    </a:lnTo>
                    <a:lnTo>
                      <a:pt x="0" y="111513"/>
                    </a:lnTo>
                    <a:lnTo>
                      <a:pt x="222926" y="111513"/>
                    </a:lnTo>
                    <a:lnTo>
                      <a:pt x="222926" y="0"/>
                    </a:lnTo>
                    <a:close/>
                  </a:path>
                </a:pathLst>
              </a:custGeom>
              <a:solidFill>
                <a:srgbClr val="9999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8939321" y="5768904"/>
                <a:ext cx="223520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223520" h="111760">
                    <a:moveTo>
                      <a:pt x="222926" y="111513"/>
                    </a:moveTo>
                    <a:lnTo>
                      <a:pt x="222926" y="0"/>
                    </a:lnTo>
                    <a:lnTo>
                      <a:pt x="0" y="0"/>
                    </a:lnTo>
                    <a:lnTo>
                      <a:pt x="0" y="111513"/>
                    </a:lnTo>
                  </a:path>
                </a:pathLst>
              </a:custGeom>
              <a:ln w="170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9" name="object 29"/>
              <p:cNvSpPr/>
              <p:nvPr/>
            </p:nvSpPr>
            <p:spPr>
              <a:xfrm>
                <a:off x="3692863" y="3420862"/>
                <a:ext cx="5641340" cy="2536825"/>
              </a:xfrm>
              <a:custGeom>
                <a:avLst/>
                <a:gdLst/>
                <a:ahLst/>
                <a:cxnLst/>
                <a:rect l="l" t="t" r="r" b="b"/>
                <a:pathLst>
                  <a:path w="5641340" h="2536825">
                    <a:moveTo>
                      <a:pt x="68417" y="0"/>
                    </a:moveTo>
                    <a:lnTo>
                      <a:pt x="68417" y="2450451"/>
                    </a:lnTo>
                  </a:path>
                  <a:path w="5641340" h="2536825">
                    <a:moveTo>
                      <a:pt x="0" y="2468089"/>
                    </a:moveTo>
                    <a:lnTo>
                      <a:pt x="51312" y="2468089"/>
                    </a:lnTo>
                  </a:path>
                  <a:path w="5641340" h="2536825">
                    <a:moveTo>
                      <a:pt x="0" y="2227993"/>
                    </a:moveTo>
                    <a:lnTo>
                      <a:pt x="51312" y="2227993"/>
                    </a:lnTo>
                  </a:path>
                  <a:path w="5641340" h="2536825">
                    <a:moveTo>
                      <a:pt x="0" y="1970830"/>
                    </a:moveTo>
                    <a:lnTo>
                      <a:pt x="51312" y="1970830"/>
                    </a:lnTo>
                  </a:path>
                  <a:path w="5641340" h="2536825">
                    <a:moveTo>
                      <a:pt x="0" y="1730734"/>
                    </a:moveTo>
                    <a:lnTo>
                      <a:pt x="51312" y="1730734"/>
                    </a:lnTo>
                  </a:path>
                  <a:path w="5641340" h="2536825">
                    <a:moveTo>
                      <a:pt x="0" y="1474253"/>
                    </a:moveTo>
                    <a:lnTo>
                      <a:pt x="51312" y="1474253"/>
                    </a:lnTo>
                  </a:path>
                  <a:path w="5641340" h="2536825">
                    <a:moveTo>
                      <a:pt x="0" y="1234158"/>
                    </a:moveTo>
                    <a:lnTo>
                      <a:pt x="51312" y="1234158"/>
                    </a:lnTo>
                  </a:path>
                  <a:path w="5641340" h="2536825">
                    <a:moveTo>
                      <a:pt x="0" y="994063"/>
                    </a:moveTo>
                    <a:lnTo>
                      <a:pt x="51312" y="994063"/>
                    </a:lnTo>
                  </a:path>
                  <a:path w="5641340" h="2536825">
                    <a:moveTo>
                      <a:pt x="0" y="736671"/>
                    </a:moveTo>
                    <a:lnTo>
                      <a:pt x="51312" y="736671"/>
                    </a:lnTo>
                  </a:path>
                  <a:path w="5641340" h="2536825">
                    <a:moveTo>
                      <a:pt x="0" y="497259"/>
                    </a:moveTo>
                    <a:lnTo>
                      <a:pt x="51312" y="497259"/>
                    </a:lnTo>
                  </a:path>
                  <a:path w="5641340" h="2536825">
                    <a:moveTo>
                      <a:pt x="0" y="240095"/>
                    </a:moveTo>
                    <a:lnTo>
                      <a:pt x="51312" y="240095"/>
                    </a:lnTo>
                  </a:path>
                  <a:path w="5641340" h="2536825">
                    <a:moveTo>
                      <a:pt x="0" y="0"/>
                    </a:moveTo>
                    <a:lnTo>
                      <a:pt x="51312" y="0"/>
                    </a:lnTo>
                  </a:path>
                  <a:path w="5641340" h="2536825">
                    <a:moveTo>
                      <a:pt x="68417" y="2468089"/>
                    </a:moveTo>
                    <a:lnTo>
                      <a:pt x="5623893" y="2468089"/>
                    </a:lnTo>
                  </a:path>
                  <a:path w="5641340" h="2536825">
                    <a:moveTo>
                      <a:pt x="68417" y="2536362"/>
                    </a:moveTo>
                    <a:lnTo>
                      <a:pt x="68417" y="2485157"/>
                    </a:lnTo>
                  </a:path>
                  <a:path w="5641340" h="2536825">
                    <a:moveTo>
                      <a:pt x="634569" y="2536362"/>
                    </a:moveTo>
                    <a:lnTo>
                      <a:pt x="634569" y="2485157"/>
                    </a:lnTo>
                  </a:path>
                  <a:path w="5641340" h="2536825">
                    <a:moveTo>
                      <a:pt x="1182933" y="2536362"/>
                    </a:moveTo>
                    <a:lnTo>
                      <a:pt x="1182933" y="2485157"/>
                    </a:lnTo>
                  </a:path>
                  <a:path w="5641340" h="2536825">
                    <a:moveTo>
                      <a:pt x="1749199" y="2536362"/>
                    </a:moveTo>
                    <a:lnTo>
                      <a:pt x="1749199" y="2485157"/>
                    </a:lnTo>
                  </a:path>
                  <a:path w="5641340" h="2536825">
                    <a:moveTo>
                      <a:pt x="2297677" y="2536362"/>
                    </a:moveTo>
                    <a:lnTo>
                      <a:pt x="2297677" y="2485157"/>
                    </a:lnTo>
                  </a:path>
                  <a:path w="5641340" h="2536825">
                    <a:moveTo>
                      <a:pt x="2863259" y="2536362"/>
                    </a:moveTo>
                    <a:lnTo>
                      <a:pt x="2863259" y="2485157"/>
                    </a:lnTo>
                  </a:path>
                  <a:path w="5641340" h="2536825">
                    <a:moveTo>
                      <a:pt x="3412421" y="2536362"/>
                    </a:moveTo>
                    <a:lnTo>
                      <a:pt x="3412421" y="2485157"/>
                    </a:lnTo>
                  </a:path>
                  <a:path w="5641340" h="2536825">
                    <a:moveTo>
                      <a:pt x="3978004" y="2536362"/>
                    </a:moveTo>
                    <a:lnTo>
                      <a:pt x="3978004" y="2485157"/>
                    </a:lnTo>
                  </a:path>
                  <a:path w="5641340" h="2536825">
                    <a:moveTo>
                      <a:pt x="4526481" y="2536362"/>
                    </a:moveTo>
                    <a:lnTo>
                      <a:pt x="4526481" y="2485157"/>
                    </a:lnTo>
                  </a:path>
                  <a:path w="5641340" h="2536825">
                    <a:moveTo>
                      <a:pt x="5092520" y="2536362"/>
                    </a:moveTo>
                    <a:lnTo>
                      <a:pt x="5092520" y="2485157"/>
                    </a:lnTo>
                  </a:path>
                  <a:path w="5641340" h="2536825">
                    <a:moveTo>
                      <a:pt x="5640998" y="2536362"/>
                    </a:moveTo>
                    <a:lnTo>
                      <a:pt x="5640998" y="2485157"/>
                    </a:lnTo>
                  </a:path>
                </a:pathLst>
              </a:custGeom>
              <a:ln w="1708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30" name="object 30"/>
            <p:cNvSpPr txBox="1"/>
            <p:nvPr/>
          </p:nvSpPr>
          <p:spPr>
            <a:xfrm>
              <a:off x="3387116" y="2948022"/>
              <a:ext cx="401731" cy="230315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412" spc="26" dirty="0">
                  <a:latin typeface="Arial MT"/>
                  <a:cs typeface="Arial MT"/>
                </a:rPr>
                <a:t>18%</a:t>
              </a:r>
              <a:endParaRPr sz="1412">
                <a:latin typeface="Arial MT"/>
                <a:cs typeface="Arial MT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3916343" y="4369217"/>
              <a:ext cx="295275" cy="230315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412" spc="26" dirty="0">
                  <a:latin typeface="Arial MT"/>
                  <a:cs typeface="Arial MT"/>
                </a:rPr>
                <a:t>5%</a:t>
              </a:r>
              <a:endParaRPr sz="1412">
                <a:latin typeface="Arial MT"/>
                <a:cs typeface="Arial MT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>
              <a:off x="4370110" y="3613287"/>
              <a:ext cx="401731" cy="230315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412" spc="26" dirty="0">
                  <a:latin typeface="Arial MT"/>
                  <a:cs typeface="Arial MT"/>
                </a:rPr>
                <a:t>12%</a:t>
              </a:r>
              <a:endParaRPr sz="1412">
                <a:latin typeface="Arial MT"/>
                <a:cs typeface="Arial MT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>
              <a:off x="4854664" y="3825137"/>
              <a:ext cx="401731" cy="230315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412" spc="26" dirty="0">
                  <a:latin typeface="Arial MT"/>
                  <a:cs typeface="Arial MT"/>
                </a:rPr>
                <a:t>10%</a:t>
              </a:r>
              <a:endParaRPr sz="1412">
                <a:latin typeface="Arial MT"/>
                <a:cs typeface="Arial MT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5398984" y="3930558"/>
              <a:ext cx="295275" cy="230315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412" spc="26" dirty="0">
                  <a:latin typeface="Arial MT"/>
                  <a:cs typeface="Arial MT"/>
                </a:rPr>
                <a:t>9%</a:t>
              </a:r>
              <a:endParaRPr sz="1412">
                <a:latin typeface="Arial MT"/>
                <a:cs typeface="Arial MT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5883337" y="4369217"/>
              <a:ext cx="295275" cy="230315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412" spc="26" dirty="0">
                  <a:latin typeface="Arial MT"/>
                  <a:cs typeface="Arial MT"/>
                </a:rPr>
                <a:t>5%</a:t>
              </a:r>
              <a:endParaRPr sz="1412">
                <a:latin typeface="Arial MT"/>
                <a:cs typeface="Arial MT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6382380" y="3930558"/>
              <a:ext cx="779369" cy="230315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  <a:tabLst>
                  <a:tab pos="494766" algn="l"/>
                </a:tabLst>
              </a:pPr>
              <a:r>
                <a:rPr sz="1412" spc="-22" dirty="0">
                  <a:latin typeface="Arial MT"/>
                  <a:cs typeface="Arial MT"/>
                </a:rPr>
                <a:t>9%</a:t>
              </a:r>
              <a:r>
                <a:rPr sz="1412" dirty="0">
                  <a:latin typeface="Arial MT"/>
                  <a:cs typeface="Arial MT"/>
                </a:rPr>
                <a:t>	</a:t>
              </a:r>
              <a:r>
                <a:rPr sz="1412" spc="26" dirty="0">
                  <a:latin typeface="Arial MT"/>
                  <a:cs typeface="Arial MT"/>
                </a:rPr>
                <a:t>9%</a:t>
              </a:r>
              <a:endParaRPr sz="1412">
                <a:latin typeface="Arial MT"/>
                <a:cs typeface="Arial MT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7365979" y="4913396"/>
              <a:ext cx="295275" cy="230315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412" spc="26" dirty="0">
                  <a:latin typeface="Arial MT"/>
                  <a:cs typeface="Arial MT"/>
                </a:rPr>
                <a:t>0%</a:t>
              </a:r>
              <a:endParaRPr sz="1412">
                <a:latin typeface="Arial MT"/>
                <a:cs typeface="Arial MT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7849729" y="4807974"/>
              <a:ext cx="295275" cy="230315"/>
            </a:xfrm>
            <a:prstGeom prst="rect">
              <a:avLst/>
            </a:prstGeom>
          </p:spPr>
          <p:txBody>
            <a:bodyPr vert="horz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1412" spc="26" dirty="0">
                  <a:latin typeface="Arial MT"/>
                  <a:cs typeface="Arial MT"/>
                </a:rPr>
                <a:t>1%</a:t>
              </a:r>
              <a:endParaRPr sz="1412">
                <a:latin typeface="Arial MT"/>
                <a:cs typeface="Arial MT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912091" y="2588363"/>
              <a:ext cx="2286560" cy="2799707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278481" indent="-267275">
                <a:spcBef>
                  <a:spcPts val="88"/>
                </a:spcBef>
                <a:buChar char="•"/>
                <a:tabLst>
                  <a:tab pos="278481" algn="l"/>
                </a:tabLst>
              </a:pPr>
              <a:r>
                <a:rPr sz="2206" dirty="0">
                  <a:latin typeface="Calibri"/>
                  <a:cs typeface="Calibri"/>
                </a:rPr>
                <a:t>4096</a:t>
              </a:r>
              <a:r>
                <a:rPr sz="2206" spc="53" dirty="0">
                  <a:latin typeface="Calibri"/>
                  <a:cs typeface="Calibri"/>
                </a:rPr>
                <a:t> </a:t>
              </a:r>
              <a:r>
                <a:rPr sz="2206" dirty="0">
                  <a:latin typeface="Calibri"/>
                  <a:cs typeface="Calibri"/>
                </a:rPr>
                <a:t>entry</a:t>
              </a:r>
              <a:r>
                <a:rPr sz="2206" spc="57" dirty="0">
                  <a:latin typeface="Calibri"/>
                  <a:cs typeface="Calibri"/>
                </a:rPr>
                <a:t> </a:t>
              </a:r>
              <a:r>
                <a:rPr sz="2206" spc="-9" dirty="0">
                  <a:latin typeface="Calibri"/>
                  <a:cs typeface="Calibri"/>
                </a:rPr>
                <a:t>table:</a:t>
              </a:r>
              <a:endParaRPr sz="2206" dirty="0">
                <a:latin typeface="Calibri"/>
                <a:cs typeface="Calibri"/>
              </a:endParaRPr>
            </a:p>
            <a:p>
              <a:pPr marR="4483" algn="r">
                <a:lnSpc>
                  <a:spcPts val="1681"/>
                </a:lnSpc>
                <a:spcBef>
                  <a:spcPts val="79"/>
                </a:spcBef>
              </a:pPr>
              <a:r>
                <a:rPr sz="1412" spc="26" dirty="0">
                  <a:latin typeface="Arial MT"/>
                  <a:cs typeface="Arial MT"/>
                </a:rPr>
                <a:t>20%</a:t>
              </a:r>
              <a:endParaRPr sz="1412" dirty="0">
                <a:latin typeface="Arial MT"/>
                <a:cs typeface="Arial MT"/>
              </a:endParaRPr>
            </a:p>
            <a:p>
              <a:pPr marR="4483" algn="r">
                <a:lnSpc>
                  <a:spcPts val="1681"/>
                </a:lnSpc>
              </a:pPr>
              <a:r>
                <a:rPr sz="1412" spc="26" dirty="0">
                  <a:latin typeface="Arial MT"/>
                  <a:cs typeface="Arial MT"/>
                </a:rPr>
                <a:t>18%</a:t>
              </a:r>
              <a:endParaRPr sz="1412" dirty="0">
                <a:latin typeface="Arial MT"/>
                <a:cs typeface="Arial MT"/>
              </a:endParaRPr>
            </a:p>
            <a:p>
              <a:pPr marR="4483" algn="r">
                <a:lnSpc>
                  <a:spcPts val="1681"/>
                </a:lnSpc>
                <a:spcBef>
                  <a:spcPts val="93"/>
                </a:spcBef>
              </a:pPr>
              <a:r>
                <a:rPr sz="1412" spc="26" dirty="0">
                  <a:latin typeface="Arial MT"/>
                  <a:cs typeface="Arial MT"/>
                </a:rPr>
                <a:t>16%</a:t>
              </a:r>
              <a:endParaRPr sz="1412" dirty="0">
                <a:latin typeface="Arial MT"/>
                <a:cs typeface="Arial MT"/>
              </a:endParaRPr>
            </a:p>
            <a:p>
              <a:pPr marR="4483" algn="r">
                <a:lnSpc>
                  <a:spcPts val="1681"/>
                </a:lnSpc>
              </a:pPr>
              <a:r>
                <a:rPr sz="1412" spc="26" dirty="0">
                  <a:latin typeface="Arial MT"/>
                  <a:cs typeface="Arial MT"/>
                </a:rPr>
                <a:t>14%</a:t>
              </a:r>
              <a:endParaRPr sz="1412" dirty="0">
                <a:latin typeface="Arial MT"/>
                <a:cs typeface="Arial MT"/>
              </a:endParaRPr>
            </a:p>
            <a:p>
              <a:pPr marR="4483" algn="r">
                <a:lnSpc>
                  <a:spcPts val="1681"/>
                </a:lnSpc>
                <a:spcBef>
                  <a:spcPts val="93"/>
                </a:spcBef>
              </a:pPr>
              <a:r>
                <a:rPr sz="1412" spc="26" dirty="0">
                  <a:latin typeface="Arial MT"/>
                  <a:cs typeface="Arial MT"/>
                </a:rPr>
                <a:t>12%</a:t>
              </a:r>
              <a:endParaRPr sz="1412" dirty="0">
                <a:latin typeface="Arial MT"/>
                <a:cs typeface="Arial MT"/>
              </a:endParaRPr>
            </a:p>
            <a:p>
              <a:pPr marR="4483" algn="r">
                <a:lnSpc>
                  <a:spcPts val="1667"/>
                </a:lnSpc>
              </a:pPr>
              <a:r>
                <a:rPr sz="1412" spc="26" dirty="0">
                  <a:latin typeface="Arial MT"/>
                  <a:cs typeface="Arial MT"/>
                </a:rPr>
                <a:t>10%</a:t>
              </a:r>
              <a:endParaRPr sz="1412" dirty="0">
                <a:latin typeface="Arial MT"/>
                <a:cs typeface="Arial MT"/>
              </a:endParaRPr>
            </a:p>
            <a:p>
              <a:pPr marR="4483" algn="r">
                <a:lnSpc>
                  <a:spcPts val="1681"/>
                </a:lnSpc>
              </a:pPr>
              <a:r>
                <a:rPr sz="1412" spc="26" dirty="0">
                  <a:latin typeface="Arial MT"/>
                  <a:cs typeface="Arial MT"/>
                </a:rPr>
                <a:t>8%</a:t>
              </a:r>
              <a:endParaRPr sz="1412" dirty="0">
                <a:latin typeface="Arial MT"/>
                <a:cs typeface="Arial MT"/>
              </a:endParaRPr>
            </a:p>
            <a:p>
              <a:pPr marR="4483" algn="r">
                <a:lnSpc>
                  <a:spcPts val="1681"/>
                </a:lnSpc>
                <a:spcBef>
                  <a:spcPts val="93"/>
                </a:spcBef>
              </a:pPr>
              <a:r>
                <a:rPr sz="1412" spc="26" dirty="0">
                  <a:latin typeface="Arial MT"/>
                  <a:cs typeface="Arial MT"/>
                </a:rPr>
                <a:t>6%</a:t>
              </a:r>
              <a:endParaRPr sz="1412" dirty="0">
                <a:latin typeface="Arial MT"/>
                <a:cs typeface="Arial MT"/>
              </a:endParaRPr>
            </a:p>
            <a:p>
              <a:pPr marR="4483" algn="r">
                <a:lnSpc>
                  <a:spcPts val="1681"/>
                </a:lnSpc>
              </a:pPr>
              <a:r>
                <a:rPr sz="1412" spc="26" dirty="0">
                  <a:latin typeface="Arial MT"/>
                  <a:cs typeface="Arial MT"/>
                </a:rPr>
                <a:t>4%</a:t>
              </a:r>
              <a:endParaRPr sz="1412" dirty="0">
                <a:latin typeface="Arial MT"/>
                <a:cs typeface="Arial MT"/>
              </a:endParaRPr>
            </a:p>
            <a:p>
              <a:pPr marR="4483" algn="r">
                <a:lnSpc>
                  <a:spcPts val="1681"/>
                </a:lnSpc>
                <a:spcBef>
                  <a:spcPts val="93"/>
                </a:spcBef>
              </a:pPr>
              <a:r>
                <a:rPr sz="1412" spc="26" dirty="0">
                  <a:latin typeface="Arial MT"/>
                  <a:cs typeface="Arial MT"/>
                </a:rPr>
                <a:t>2%</a:t>
              </a:r>
              <a:endParaRPr sz="1412" dirty="0">
                <a:latin typeface="Arial MT"/>
                <a:cs typeface="Arial MT"/>
              </a:endParaRPr>
            </a:p>
            <a:p>
              <a:pPr marR="4483" algn="r">
                <a:lnSpc>
                  <a:spcPts val="1681"/>
                </a:lnSpc>
              </a:pPr>
              <a:r>
                <a:rPr sz="1412" spc="26" dirty="0">
                  <a:latin typeface="Arial MT"/>
                  <a:cs typeface="Arial MT"/>
                </a:rPr>
                <a:t>0%</a:t>
              </a:r>
              <a:endParaRPr sz="1412" dirty="0">
                <a:latin typeface="Arial MT"/>
                <a:cs typeface="Arial MT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 rot="18960000">
              <a:off x="2968463" y="5625904"/>
              <a:ext cx="511770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429"/>
                </a:lnSpc>
              </a:pPr>
              <a:r>
                <a:rPr sz="1412" spc="-93" dirty="0">
                  <a:latin typeface="Arial MT"/>
                  <a:cs typeface="Arial MT"/>
                </a:rPr>
                <a:t>eqnt</a:t>
              </a:r>
              <a:r>
                <a:rPr sz="2118" spc="-139" baseline="1736" dirty="0">
                  <a:latin typeface="Arial MT"/>
                  <a:cs typeface="Arial MT"/>
                </a:rPr>
                <a:t>ott</a:t>
              </a:r>
              <a:endParaRPr sz="2118" baseline="1736">
                <a:latin typeface="Arial MT"/>
                <a:cs typeface="Arial MT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 rot="18960000">
              <a:off x="3265251" y="5744832"/>
              <a:ext cx="680755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429"/>
                </a:lnSpc>
              </a:pPr>
              <a:r>
                <a:rPr sz="1412" spc="-84" dirty="0">
                  <a:latin typeface="Arial MT"/>
                  <a:cs typeface="Arial MT"/>
                </a:rPr>
                <a:t>espr</a:t>
              </a:r>
              <a:r>
                <a:rPr sz="2118" spc="-125" baseline="1736" dirty="0">
                  <a:latin typeface="Arial MT"/>
                  <a:cs typeface="Arial MT"/>
                </a:rPr>
                <a:t>ess</a:t>
              </a:r>
              <a:r>
                <a:rPr sz="2118" spc="-125" baseline="3472" dirty="0">
                  <a:latin typeface="Arial MT"/>
                  <a:cs typeface="Arial MT"/>
                </a:rPr>
                <a:t>o</a:t>
              </a:r>
              <a:endParaRPr sz="2118" baseline="3472">
                <a:latin typeface="Arial MT"/>
                <a:cs typeface="Arial MT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 rot="18960000">
              <a:off x="4152674" y="5519213"/>
              <a:ext cx="320308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429"/>
                </a:lnSpc>
              </a:pPr>
              <a:r>
                <a:rPr sz="1412" spc="-62" dirty="0">
                  <a:latin typeface="Arial MT"/>
                  <a:cs typeface="Arial MT"/>
                </a:rPr>
                <a:t>gcc</a:t>
              </a:r>
              <a:endParaRPr sz="1412">
                <a:latin typeface="Arial MT"/>
                <a:cs typeface="Arial MT"/>
              </a:endParaRPr>
            </a:p>
          </p:txBody>
        </p:sp>
        <p:sp>
          <p:nvSpPr>
            <p:cNvPr id="43" name="object 43"/>
            <p:cNvSpPr txBox="1"/>
            <p:nvPr/>
          </p:nvSpPr>
          <p:spPr>
            <a:xfrm rot="18960000">
              <a:off x="4784687" y="5444847"/>
              <a:ext cx="201725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429"/>
                </a:lnSpc>
              </a:pPr>
              <a:r>
                <a:rPr sz="1412" spc="-22" dirty="0">
                  <a:latin typeface="Arial MT"/>
                  <a:cs typeface="Arial MT"/>
                </a:rPr>
                <a:t>li</a:t>
              </a:r>
              <a:endParaRPr sz="1412">
                <a:latin typeface="Arial MT"/>
                <a:cs typeface="Arial MT"/>
              </a:endParaRPr>
            </a:p>
          </p:txBody>
        </p:sp>
        <p:sp>
          <p:nvSpPr>
            <p:cNvPr id="44" name="object 44"/>
            <p:cNvSpPr txBox="1"/>
            <p:nvPr/>
          </p:nvSpPr>
          <p:spPr>
            <a:xfrm rot="18960000">
              <a:off x="5004353" y="5602554"/>
              <a:ext cx="418500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429"/>
                </a:lnSpc>
              </a:pPr>
              <a:r>
                <a:rPr sz="1412" spc="-79" dirty="0">
                  <a:latin typeface="Arial MT"/>
                  <a:cs typeface="Arial MT"/>
                </a:rPr>
                <a:t>sp</a:t>
              </a:r>
              <a:r>
                <a:rPr sz="2118" spc="-119" baseline="1736" dirty="0">
                  <a:latin typeface="Arial MT"/>
                  <a:cs typeface="Arial MT"/>
                </a:rPr>
                <a:t>ice</a:t>
              </a:r>
              <a:endParaRPr sz="2118" baseline="1736">
                <a:latin typeface="Arial MT"/>
                <a:cs typeface="Arial MT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 rot="18960000">
              <a:off x="5471088" y="5616879"/>
              <a:ext cx="455699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429"/>
                </a:lnSpc>
              </a:pPr>
              <a:r>
                <a:rPr sz="1412" spc="-124" dirty="0">
                  <a:latin typeface="Arial MT"/>
                  <a:cs typeface="Arial MT"/>
                </a:rPr>
                <a:t>doduc</a:t>
              </a:r>
              <a:endParaRPr sz="1412">
                <a:latin typeface="Arial MT"/>
                <a:cs typeface="Arial MT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 rot="18960000">
              <a:off x="5987953" y="5602554"/>
              <a:ext cx="418500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429"/>
                </a:lnSpc>
              </a:pPr>
              <a:r>
                <a:rPr sz="1412" spc="-79" dirty="0">
                  <a:latin typeface="Arial MT"/>
                  <a:cs typeface="Arial MT"/>
                </a:rPr>
                <a:t>sp</a:t>
              </a:r>
              <a:r>
                <a:rPr sz="2118" spc="-119" baseline="1736" dirty="0">
                  <a:latin typeface="Arial MT"/>
                  <a:cs typeface="Arial MT"/>
                </a:rPr>
                <a:t>ice</a:t>
              </a:r>
              <a:endParaRPr sz="2118" baseline="1736">
                <a:latin typeface="Arial MT"/>
                <a:cs typeface="Arial MT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 rot="18960000">
              <a:off x="6486343" y="5592119"/>
              <a:ext cx="440332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429"/>
                </a:lnSpc>
              </a:pPr>
              <a:r>
                <a:rPr sz="1412" spc="-88" dirty="0">
                  <a:latin typeface="Arial MT"/>
                  <a:cs typeface="Arial MT"/>
                </a:rPr>
                <a:t>fpp</a:t>
              </a:r>
              <a:r>
                <a:rPr sz="2118" spc="-132" baseline="1736" dirty="0">
                  <a:latin typeface="Arial MT"/>
                  <a:cs typeface="Arial MT"/>
                </a:rPr>
                <a:t>pp</a:t>
              </a:r>
              <a:endParaRPr sz="2118" baseline="1736">
                <a:latin typeface="Arial MT"/>
                <a:cs typeface="Arial MT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 rot="18960000">
              <a:off x="6688822" y="5723336"/>
              <a:ext cx="745228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429"/>
                </a:lnSpc>
              </a:pPr>
              <a:r>
                <a:rPr sz="1412" spc="-66" dirty="0">
                  <a:latin typeface="Arial MT"/>
                  <a:cs typeface="Arial MT"/>
                </a:rPr>
                <a:t>ma</a:t>
              </a:r>
              <a:r>
                <a:rPr sz="2118" spc="-99" baseline="1736" dirty="0">
                  <a:latin typeface="Arial MT"/>
                  <a:cs typeface="Arial MT"/>
                </a:rPr>
                <a:t>trix3</a:t>
              </a:r>
              <a:r>
                <a:rPr sz="2118" spc="-99" baseline="3472" dirty="0">
                  <a:latin typeface="Arial MT"/>
                  <a:cs typeface="Arial MT"/>
                </a:rPr>
                <a:t>00</a:t>
              </a:r>
              <a:endParaRPr sz="2118" baseline="3472">
                <a:latin typeface="Arial MT"/>
                <a:cs typeface="Arial MT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 rot="18960000">
              <a:off x="7421965" y="5628432"/>
              <a:ext cx="464966" cy="17953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429"/>
                </a:lnSpc>
              </a:pPr>
              <a:r>
                <a:rPr sz="1412" spc="-110" dirty="0">
                  <a:latin typeface="Arial MT"/>
                  <a:cs typeface="Arial MT"/>
                </a:rPr>
                <a:t>nas</a:t>
              </a:r>
              <a:r>
                <a:rPr sz="2118" spc="-165" baseline="1736" dirty="0">
                  <a:latin typeface="Arial MT"/>
                  <a:cs typeface="Arial MT"/>
                </a:rPr>
                <a:t>a7</a:t>
              </a:r>
              <a:endParaRPr sz="2118" baseline="1736">
                <a:latin typeface="Arial MT"/>
                <a:cs typeface="Arial MT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2481190" y="3347985"/>
              <a:ext cx="204736" cy="1633257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1206">
                <a:lnSpc>
                  <a:spcPts val="1663"/>
                </a:lnSpc>
              </a:pPr>
              <a:r>
                <a:rPr sz="1412" b="1" spc="-9" dirty="0">
                  <a:latin typeface="Arial"/>
                  <a:cs typeface="Arial"/>
                </a:rPr>
                <a:t>Misprediction</a:t>
              </a:r>
              <a:r>
                <a:rPr sz="1412" b="1" spc="-13" dirty="0">
                  <a:latin typeface="Arial"/>
                  <a:cs typeface="Arial"/>
                </a:rPr>
                <a:t> </a:t>
              </a:r>
              <a:r>
                <a:rPr sz="1412" b="1" spc="-18" dirty="0">
                  <a:latin typeface="Arial"/>
                  <a:cs typeface="Arial"/>
                </a:rPr>
                <a:t>Rate</a:t>
              </a:r>
              <a:endParaRPr sz="1412">
                <a:latin typeface="Arial"/>
                <a:cs typeface="Arial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7014591" y="3085904"/>
              <a:ext cx="1098737" cy="18783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147" dirty="0">
                  <a:latin typeface="Arial MT"/>
                  <a:cs typeface="Arial MT"/>
                </a:rPr>
                <a:t>H&amp;P</a:t>
              </a:r>
              <a:r>
                <a:rPr sz="1147" spc="-62" dirty="0">
                  <a:latin typeface="Arial MT"/>
                  <a:cs typeface="Arial MT"/>
                </a:rPr>
                <a:t> </a:t>
              </a:r>
              <a:r>
                <a:rPr sz="1147" spc="-18" dirty="0">
                  <a:latin typeface="Arial MT"/>
                  <a:cs typeface="Arial MT"/>
                </a:rPr>
                <a:t>Figure</a:t>
              </a:r>
              <a:r>
                <a:rPr sz="1147" spc="-40" dirty="0">
                  <a:latin typeface="Arial MT"/>
                  <a:cs typeface="Arial MT"/>
                </a:rPr>
                <a:t> </a:t>
              </a:r>
              <a:r>
                <a:rPr sz="1147" spc="-18" dirty="0">
                  <a:latin typeface="Arial MT"/>
                  <a:cs typeface="Arial MT"/>
                </a:rPr>
                <a:t>C.19</a:t>
              </a:r>
              <a:endParaRPr sz="1147">
                <a:latin typeface="Arial MT"/>
                <a:cs typeface="Arial MT"/>
              </a:endParaRPr>
            </a:p>
          </p:txBody>
        </p:sp>
      </p:grpSp>
      <p:sp>
        <p:nvSpPr>
          <p:cNvPr id="54" name="Slide Number Placeholder 4">
            <a:extLst>
              <a:ext uri="{FF2B5EF4-FFF2-40B4-BE49-F238E27FC236}">
                <a16:creationId xmlns:a16="http://schemas.microsoft.com/office/drawing/2014/main" id="{34A1CAE4-8321-9318-DCE8-84DF071347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8</a:t>
            </a:fld>
            <a:endParaRPr lang="en-US" spc="-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2609" y="4939780"/>
            <a:ext cx="166712" cy="5233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expresso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3409" y="3555619"/>
            <a:ext cx="243656" cy="122480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919"/>
              </a:lnSpc>
            </a:pPr>
            <a:r>
              <a:rPr sz="1677" b="1" dirty="0">
                <a:latin typeface="Times New Roman"/>
                <a:cs typeface="Times New Roman"/>
              </a:rPr>
              <a:t>Frequency</a:t>
            </a:r>
            <a:r>
              <a:rPr sz="1677" b="1" spc="-49" dirty="0">
                <a:latin typeface="Times New Roman"/>
                <a:cs typeface="Times New Roman"/>
              </a:rPr>
              <a:t> </a:t>
            </a:r>
            <a:r>
              <a:rPr sz="1677" b="1" spc="-22" dirty="0">
                <a:latin typeface="Times New Roman"/>
                <a:cs typeface="Times New Roman"/>
              </a:rPr>
              <a:t>of</a:t>
            </a:r>
            <a:endParaRPr sz="1677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3409" y="2084898"/>
            <a:ext cx="243656" cy="138560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919"/>
              </a:lnSpc>
            </a:pPr>
            <a:r>
              <a:rPr sz="1677" b="1" spc="-9" dirty="0">
                <a:solidFill>
                  <a:schemeClr val="accent1">
                    <a:lumMod val="75000"/>
                  </a:schemeClr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Mispredictions</a:t>
            </a:r>
            <a:endParaRPr sz="1677" dirty="0">
              <a:solidFill>
                <a:schemeClr val="accent1">
                  <a:lumMod val="75000"/>
                </a:schemeClr>
              </a:solidFill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04859" y="1764647"/>
            <a:ext cx="6101603" cy="3125881"/>
            <a:chOff x="1779773" y="1999933"/>
            <a:chExt cx="6915150" cy="3542665"/>
          </a:xfrm>
        </p:grpSpPr>
        <p:sp>
          <p:nvSpPr>
            <p:cNvPr id="6" name="object 6"/>
            <p:cNvSpPr/>
            <p:nvPr/>
          </p:nvSpPr>
          <p:spPr>
            <a:xfrm>
              <a:off x="1865683" y="5330216"/>
              <a:ext cx="195580" cy="170180"/>
            </a:xfrm>
            <a:custGeom>
              <a:avLst/>
              <a:gdLst/>
              <a:ahLst/>
              <a:cxnLst/>
              <a:rect l="l" t="t" r="r" b="b"/>
              <a:pathLst>
                <a:path w="195580" h="170179">
                  <a:moveTo>
                    <a:pt x="195403" y="0"/>
                  </a:moveTo>
                  <a:lnTo>
                    <a:pt x="0" y="0"/>
                  </a:lnTo>
                  <a:lnTo>
                    <a:pt x="0" y="170135"/>
                  </a:lnTo>
                  <a:lnTo>
                    <a:pt x="195403" y="170135"/>
                  </a:lnTo>
                  <a:lnTo>
                    <a:pt x="195403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1865683" y="5330216"/>
              <a:ext cx="195580" cy="170180"/>
            </a:xfrm>
            <a:custGeom>
              <a:avLst/>
              <a:gdLst/>
              <a:ahLst/>
              <a:cxnLst/>
              <a:rect l="l" t="t" r="r" b="b"/>
              <a:pathLst>
                <a:path w="195580" h="170179">
                  <a:moveTo>
                    <a:pt x="0" y="0"/>
                  </a:moveTo>
                  <a:lnTo>
                    <a:pt x="195403" y="0"/>
                  </a:lnTo>
                  <a:lnTo>
                    <a:pt x="195403" y="170135"/>
                  </a:lnTo>
                  <a:lnTo>
                    <a:pt x="0" y="170135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3241931" y="5330216"/>
              <a:ext cx="197485" cy="170180"/>
            </a:xfrm>
            <a:custGeom>
              <a:avLst/>
              <a:gdLst/>
              <a:ahLst/>
              <a:cxnLst/>
              <a:rect l="l" t="t" r="r" b="b"/>
              <a:pathLst>
                <a:path w="197485" h="170179">
                  <a:moveTo>
                    <a:pt x="197087" y="0"/>
                  </a:moveTo>
                  <a:lnTo>
                    <a:pt x="0" y="0"/>
                  </a:lnTo>
                  <a:lnTo>
                    <a:pt x="0" y="170135"/>
                  </a:lnTo>
                  <a:lnTo>
                    <a:pt x="197087" y="170135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241931" y="5330216"/>
              <a:ext cx="197485" cy="170180"/>
            </a:xfrm>
            <a:custGeom>
              <a:avLst/>
              <a:gdLst/>
              <a:ahLst/>
              <a:cxnLst/>
              <a:rect l="l" t="t" r="r" b="b"/>
              <a:pathLst>
                <a:path w="197485" h="170179">
                  <a:moveTo>
                    <a:pt x="0" y="0"/>
                  </a:moveTo>
                  <a:lnTo>
                    <a:pt x="197087" y="0"/>
                  </a:lnTo>
                  <a:lnTo>
                    <a:pt x="197087" y="170135"/>
                  </a:lnTo>
                  <a:lnTo>
                    <a:pt x="0" y="170135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3924159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5" h="879475">
                  <a:moveTo>
                    <a:pt x="197088" y="0"/>
                  </a:moveTo>
                  <a:lnTo>
                    <a:pt x="0" y="0"/>
                  </a:lnTo>
                  <a:lnTo>
                    <a:pt x="0" y="879316"/>
                  </a:lnTo>
                  <a:lnTo>
                    <a:pt x="197088" y="879316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3924159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5" h="879475">
                  <a:moveTo>
                    <a:pt x="0" y="0"/>
                  </a:moveTo>
                  <a:lnTo>
                    <a:pt x="197088" y="0"/>
                  </a:lnTo>
                  <a:lnTo>
                    <a:pt x="197088" y="879316"/>
                  </a:lnTo>
                  <a:lnTo>
                    <a:pt x="0" y="879316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6387" y="3925332"/>
              <a:ext cx="197485" cy="1575435"/>
            </a:xfrm>
            <a:custGeom>
              <a:avLst/>
              <a:gdLst/>
              <a:ahLst/>
              <a:cxnLst/>
              <a:rect l="l" t="t" r="r" b="b"/>
              <a:pathLst>
                <a:path w="197485" h="1575435">
                  <a:moveTo>
                    <a:pt x="197087" y="0"/>
                  </a:moveTo>
                  <a:lnTo>
                    <a:pt x="0" y="0"/>
                  </a:lnTo>
                  <a:lnTo>
                    <a:pt x="0" y="1575019"/>
                  </a:lnTo>
                  <a:lnTo>
                    <a:pt x="197087" y="1575019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4606387" y="3925332"/>
              <a:ext cx="197485" cy="1575435"/>
            </a:xfrm>
            <a:custGeom>
              <a:avLst/>
              <a:gdLst/>
              <a:ahLst/>
              <a:cxnLst/>
              <a:rect l="l" t="t" r="r" b="b"/>
              <a:pathLst>
                <a:path w="197485" h="1575435">
                  <a:moveTo>
                    <a:pt x="0" y="0"/>
                  </a:moveTo>
                  <a:lnTo>
                    <a:pt x="197087" y="0"/>
                  </a:lnTo>
                  <a:lnTo>
                    <a:pt x="197087" y="1575019"/>
                  </a:lnTo>
                  <a:lnTo>
                    <a:pt x="0" y="1575019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302091" y="3925332"/>
              <a:ext cx="195580" cy="1575435"/>
            </a:xfrm>
            <a:custGeom>
              <a:avLst/>
              <a:gdLst/>
              <a:ahLst/>
              <a:cxnLst/>
              <a:rect l="l" t="t" r="r" b="b"/>
              <a:pathLst>
                <a:path w="195579" h="1575435">
                  <a:moveTo>
                    <a:pt x="195403" y="0"/>
                  </a:moveTo>
                  <a:lnTo>
                    <a:pt x="0" y="0"/>
                  </a:lnTo>
                  <a:lnTo>
                    <a:pt x="0" y="1575019"/>
                  </a:lnTo>
                  <a:lnTo>
                    <a:pt x="195403" y="1575019"/>
                  </a:lnTo>
                  <a:lnTo>
                    <a:pt x="195403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5302091" y="3925332"/>
              <a:ext cx="195580" cy="1575435"/>
            </a:xfrm>
            <a:custGeom>
              <a:avLst/>
              <a:gdLst/>
              <a:ahLst/>
              <a:cxnLst/>
              <a:rect l="l" t="t" r="r" b="b"/>
              <a:pathLst>
                <a:path w="195579" h="1575435">
                  <a:moveTo>
                    <a:pt x="0" y="0"/>
                  </a:moveTo>
                  <a:lnTo>
                    <a:pt x="195403" y="0"/>
                  </a:lnTo>
                  <a:lnTo>
                    <a:pt x="195403" y="1575019"/>
                  </a:lnTo>
                  <a:lnTo>
                    <a:pt x="0" y="1575019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5984319" y="3399764"/>
              <a:ext cx="195580" cy="2101215"/>
            </a:xfrm>
            <a:custGeom>
              <a:avLst/>
              <a:gdLst/>
              <a:ahLst/>
              <a:cxnLst/>
              <a:rect l="l" t="t" r="r" b="b"/>
              <a:pathLst>
                <a:path w="195579" h="2101215">
                  <a:moveTo>
                    <a:pt x="195403" y="0"/>
                  </a:moveTo>
                  <a:lnTo>
                    <a:pt x="0" y="0"/>
                  </a:lnTo>
                  <a:lnTo>
                    <a:pt x="0" y="2100587"/>
                  </a:lnTo>
                  <a:lnTo>
                    <a:pt x="195403" y="2100587"/>
                  </a:lnTo>
                  <a:lnTo>
                    <a:pt x="195403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5984319" y="3399764"/>
              <a:ext cx="195580" cy="2101215"/>
            </a:xfrm>
            <a:custGeom>
              <a:avLst/>
              <a:gdLst/>
              <a:ahLst/>
              <a:cxnLst/>
              <a:rect l="l" t="t" r="r" b="b"/>
              <a:pathLst>
                <a:path w="195579" h="2101215">
                  <a:moveTo>
                    <a:pt x="0" y="0"/>
                  </a:moveTo>
                  <a:lnTo>
                    <a:pt x="195403" y="0"/>
                  </a:lnTo>
                  <a:lnTo>
                    <a:pt x="195403" y="2100588"/>
                  </a:lnTo>
                  <a:lnTo>
                    <a:pt x="0" y="2100588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6664863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4" h="879475">
                  <a:moveTo>
                    <a:pt x="197087" y="0"/>
                  </a:moveTo>
                  <a:lnTo>
                    <a:pt x="0" y="0"/>
                  </a:lnTo>
                  <a:lnTo>
                    <a:pt x="0" y="879316"/>
                  </a:lnTo>
                  <a:lnTo>
                    <a:pt x="197087" y="879316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6664863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4" h="879475">
                  <a:moveTo>
                    <a:pt x="0" y="0"/>
                  </a:moveTo>
                  <a:lnTo>
                    <a:pt x="197087" y="0"/>
                  </a:lnTo>
                  <a:lnTo>
                    <a:pt x="197087" y="879316"/>
                  </a:lnTo>
                  <a:lnTo>
                    <a:pt x="0" y="879316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7347091" y="2360418"/>
              <a:ext cx="197485" cy="3140075"/>
            </a:xfrm>
            <a:custGeom>
              <a:avLst/>
              <a:gdLst/>
              <a:ahLst/>
              <a:cxnLst/>
              <a:rect l="l" t="t" r="r" b="b"/>
              <a:pathLst>
                <a:path w="197484" h="3140075">
                  <a:moveTo>
                    <a:pt x="197088" y="0"/>
                  </a:moveTo>
                  <a:lnTo>
                    <a:pt x="0" y="0"/>
                  </a:lnTo>
                  <a:lnTo>
                    <a:pt x="0" y="3139934"/>
                  </a:lnTo>
                  <a:lnTo>
                    <a:pt x="197088" y="3139934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7347091" y="2360418"/>
              <a:ext cx="197485" cy="3140075"/>
            </a:xfrm>
            <a:custGeom>
              <a:avLst/>
              <a:gdLst/>
              <a:ahLst/>
              <a:cxnLst/>
              <a:rect l="l" t="t" r="r" b="b"/>
              <a:pathLst>
                <a:path w="197484" h="3140075">
                  <a:moveTo>
                    <a:pt x="0" y="0"/>
                  </a:moveTo>
                  <a:lnTo>
                    <a:pt x="197088" y="0"/>
                  </a:lnTo>
                  <a:lnTo>
                    <a:pt x="197088" y="3139933"/>
                  </a:lnTo>
                  <a:lnTo>
                    <a:pt x="0" y="3139933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8042795" y="3753511"/>
              <a:ext cx="197485" cy="1746885"/>
            </a:xfrm>
            <a:custGeom>
              <a:avLst/>
              <a:gdLst/>
              <a:ahLst/>
              <a:cxnLst/>
              <a:rect l="l" t="t" r="r" b="b"/>
              <a:pathLst>
                <a:path w="197484" h="1746885">
                  <a:moveTo>
                    <a:pt x="197087" y="0"/>
                  </a:moveTo>
                  <a:lnTo>
                    <a:pt x="0" y="0"/>
                  </a:lnTo>
                  <a:lnTo>
                    <a:pt x="0" y="1746840"/>
                  </a:lnTo>
                  <a:lnTo>
                    <a:pt x="197087" y="1746840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8042795" y="3753511"/>
              <a:ext cx="197485" cy="1746885"/>
            </a:xfrm>
            <a:custGeom>
              <a:avLst/>
              <a:gdLst/>
              <a:ahLst/>
              <a:cxnLst/>
              <a:rect l="l" t="t" r="r" b="b"/>
              <a:pathLst>
                <a:path w="197484" h="1746885">
                  <a:moveTo>
                    <a:pt x="0" y="0"/>
                  </a:moveTo>
                  <a:lnTo>
                    <a:pt x="197087" y="0"/>
                  </a:lnTo>
                  <a:lnTo>
                    <a:pt x="197087" y="1746840"/>
                  </a:lnTo>
                  <a:lnTo>
                    <a:pt x="0" y="1746840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1247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5" h="879475">
                  <a:moveTo>
                    <a:pt x="197087" y="0"/>
                  </a:moveTo>
                  <a:lnTo>
                    <a:pt x="0" y="0"/>
                  </a:lnTo>
                  <a:lnTo>
                    <a:pt x="0" y="879316"/>
                  </a:lnTo>
                  <a:lnTo>
                    <a:pt x="197087" y="879316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1247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5" h="879475">
                  <a:moveTo>
                    <a:pt x="0" y="0"/>
                  </a:moveTo>
                  <a:lnTo>
                    <a:pt x="197087" y="0"/>
                  </a:lnTo>
                  <a:lnTo>
                    <a:pt x="197087" y="879316"/>
                  </a:lnTo>
                  <a:lnTo>
                    <a:pt x="0" y="879316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4803475" y="3925332"/>
              <a:ext cx="208915" cy="1575435"/>
            </a:xfrm>
            <a:custGeom>
              <a:avLst/>
              <a:gdLst/>
              <a:ahLst/>
              <a:cxnLst/>
              <a:rect l="l" t="t" r="r" b="b"/>
              <a:pathLst>
                <a:path w="208914" h="1575435">
                  <a:moveTo>
                    <a:pt x="208879" y="0"/>
                  </a:moveTo>
                  <a:lnTo>
                    <a:pt x="0" y="0"/>
                  </a:lnTo>
                  <a:lnTo>
                    <a:pt x="0" y="1575019"/>
                  </a:lnTo>
                  <a:lnTo>
                    <a:pt x="208879" y="1575019"/>
                  </a:lnTo>
                  <a:lnTo>
                    <a:pt x="208879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4803475" y="3925332"/>
              <a:ext cx="208915" cy="1575435"/>
            </a:xfrm>
            <a:custGeom>
              <a:avLst/>
              <a:gdLst/>
              <a:ahLst/>
              <a:cxnLst/>
              <a:rect l="l" t="t" r="r" b="b"/>
              <a:pathLst>
                <a:path w="208914" h="1575435">
                  <a:moveTo>
                    <a:pt x="0" y="0"/>
                  </a:moveTo>
                  <a:lnTo>
                    <a:pt x="208879" y="0"/>
                  </a:lnTo>
                  <a:lnTo>
                    <a:pt x="208879" y="1575019"/>
                  </a:lnTo>
                  <a:lnTo>
                    <a:pt x="0" y="1575019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497494" y="3925332"/>
              <a:ext cx="197485" cy="1575435"/>
            </a:xfrm>
            <a:custGeom>
              <a:avLst/>
              <a:gdLst/>
              <a:ahLst/>
              <a:cxnLst/>
              <a:rect l="l" t="t" r="r" b="b"/>
              <a:pathLst>
                <a:path w="197485" h="1575435">
                  <a:moveTo>
                    <a:pt x="197088" y="0"/>
                  </a:moveTo>
                  <a:lnTo>
                    <a:pt x="0" y="0"/>
                  </a:lnTo>
                  <a:lnTo>
                    <a:pt x="0" y="1575019"/>
                  </a:lnTo>
                  <a:lnTo>
                    <a:pt x="197088" y="1575019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5497494" y="3925332"/>
              <a:ext cx="197485" cy="1575435"/>
            </a:xfrm>
            <a:custGeom>
              <a:avLst/>
              <a:gdLst/>
              <a:ahLst/>
              <a:cxnLst/>
              <a:rect l="l" t="t" r="r" b="b"/>
              <a:pathLst>
                <a:path w="197485" h="1575435">
                  <a:moveTo>
                    <a:pt x="0" y="0"/>
                  </a:moveTo>
                  <a:lnTo>
                    <a:pt x="197088" y="0"/>
                  </a:lnTo>
                  <a:lnTo>
                    <a:pt x="197088" y="1575019"/>
                  </a:lnTo>
                  <a:lnTo>
                    <a:pt x="0" y="1575019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6179723" y="3581692"/>
              <a:ext cx="197485" cy="1918970"/>
            </a:xfrm>
            <a:custGeom>
              <a:avLst/>
              <a:gdLst/>
              <a:ahLst/>
              <a:cxnLst/>
              <a:rect l="l" t="t" r="r" b="b"/>
              <a:pathLst>
                <a:path w="197485" h="1918970">
                  <a:moveTo>
                    <a:pt x="197087" y="0"/>
                  </a:moveTo>
                  <a:lnTo>
                    <a:pt x="0" y="0"/>
                  </a:lnTo>
                  <a:lnTo>
                    <a:pt x="0" y="1918660"/>
                  </a:lnTo>
                  <a:lnTo>
                    <a:pt x="197087" y="1918660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6179723" y="3581692"/>
              <a:ext cx="197485" cy="1918970"/>
            </a:xfrm>
            <a:custGeom>
              <a:avLst/>
              <a:gdLst/>
              <a:ahLst/>
              <a:cxnLst/>
              <a:rect l="l" t="t" r="r" b="b"/>
              <a:pathLst>
                <a:path w="197485" h="1918970">
                  <a:moveTo>
                    <a:pt x="0" y="0"/>
                  </a:moveTo>
                  <a:lnTo>
                    <a:pt x="197087" y="0"/>
                  </a:lnTo>
                  <a:lnTo>
                    <a:pt x="197087" y="1918660"/>
                  </a:lnTo>
                  <a:lnTo>
                    <a:pt x="0" y="1918660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6861950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4" h="879475">
                  <a:moveTo>
                    <a:pt x="197088" y="0"/>
                  </a:moveTo>
                  <a:lnTo>
                    <a:pt x="0" y="0"/>
                  </a:lnTo>
                  <a:lnTo>
                    <a:pt x="0" y="879316"/>
                  </a:lnTo>
                  <a:lnTo>
                    <a:pt x="197088" y="879316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6861950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4" h="879475">
                  <a:moveTo>
                    <a:pt x="0" y="0"/>
                  </a:moveTo>
                  <a:lnTo>
                    <a:pt x="197088" y="0"/>
                  </a:lnTo>
                  <a:lnTo>
                    <a:pt x="197088" y="879316"/>
                  </a:lnTo>
                  <a:lnTo>
                    <a:pt x="0" y="879316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7544179" y="2360418"/>
              <a:ext cx="210820" cy="3140075"/>
            </a:xfrm>
            <a:custGeom>
              <a:avLst/>
              <a:gdLst/>
              <a:ahLst/>
              <a:cxnLst/>
              <a:rect l="l" t="t" r="r" b="b"/>
              <a:pathLst>
                <a:path w="210820" h="3140075">
                  <a:moveTo>
                    <a:pt x="210563" y="0"/>
                  </a:moveTo>
                  <a:lnTo>
                    <a:pt x="0" y="0"/>
                  </a:lnTo>
                  <a:lnTo>
                    <a:pt x="0" y="3139934"/>
                  </a:lnTo>
                  <a:lnTo>
                    <a:pt x="210563" y="3139934"/>
                  </a:lnTo>
                  <a:lnTo>
                    <a:pt x="210563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7544179" y="2360418"/>
              <a:ext cx="210820" cy="3140075"/>
            </a:xfrm>
            <a:custGeom>
              <a:avLst/>
              <a:gdLst/>
              <a:ahLst/>
              <a:cxnLst/>
              <a:rect l="l" t="t" r="r" b="b"/>
              <a:pathLst>
                <a:path w="210820" h="3140075">
                  <a:moveTo>
                    <a:pt x="0" y="0"/>
                  </a:moveTo>
                  <a:lnTo>
                    <a:pt x="210563" y="0"/>
                  </a:lnTo>
                  <a:lnTo>
                    <a:pt x="210563" y="3139933"/>
                  </a:lnTo>
                  <a:lnTo>
                    <a:pt x="0" y="3139933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8239883" y="3753511"/>
              <a:ext cx="197485" cy="1746885"/>
            </a:xfrm>
            <a:custGeom>
              <a:avLst/>
              <a:gdLst/>
              <a:ahLst/>
              <a:cxnLst/>
              <a:rect l="l" t="t" r="r" b="b"/>
              <a:pathLst>
                <a:path w="197484" h="1746885">
                  <a:moveTo>
                    <a:pt x="197088" y="0"/>
                  </a:moveTo>
                  <a:lnTo>
                    <a:pt x="0" y="0"/>
                  </a:lnTo>
                  <a:lnTo>
                    <a:pt x="0" y="1746840"/>
                  </a:lnTo>
                  <a:lnTo>
                    <a:pt x="197088" y="1746840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8239883" y="3753511"/>
              <a:ext cx="197485" cy="1746885"/>
            </a:xfrm>
            <a:custGeom>
              <a:avLst/>
              <a:gdLst/>
              <a:ahLst/>
              <a:cxnLst/>
              <a:rect l="l" t="t" r="r" b="b"/>
              <a:pathLst>
                <a:path w="197484" h="1746885">
                  <a:moveTo>
                    <a:pt x="0" y="0"/>
                  </a:moveTo>
                  <a:lnTo>
                    <a:pt x="197088" y="0"/>
                  </a:lnTo>
                  <a:lnTo>
                    <a:pt x="197088" y="1746840"/>
                  </a:lnTo>
                  <a:lnTo>
                    <a:pt x="0" y="1746840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1825254" y="2006671"/>
              <a:ext cx="1905" cy="3493770"/>
            </a:xfrm>
            <a:custGeom>
              <a:avLst/>
              <a:gdLst/>
              <a:ahLst/>
              <a:cxnLst/>
              <a:rect l="l" t="t" r="r" b="b"/>
              <a:pathLst>
                <a:path w="1905" h="3493770">
                  <a:moveTo>
                    <a:pt x="0" y="0"/>
                  </a:moveTo>
                  <a:lnTo>
                    <a:pt x="1685" y="3493681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1786511" y="5500352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5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1786511" y="5146603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5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1786511" y="4804648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1786511" y="4450900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1786511" y="4107260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1786511" y="3753511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1786511" y="3399764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1786511" y="3056123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5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1786511" y="2702375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5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1786511" y="2360418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5">
                  <a:moveTo>
                    <a:pt x="0" y="0"/>
                  </a:moveTo>
                  <a:lnTo>
                    <a:pt x="79171" y="1685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1786511" y="2006671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5">
                  <a:moveTo>
                    <a:pt x="0" y="0"/>
                  </a:moveTo>
                  <a:lnTo>
                    <a:pt x="79171" y="1685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1825254" y="5500352"/>
              <a:ext cx="6861175" cy="1905"/>
            </a:xfrm>
            <a:custGeom>
              <a:avLst/>
              <a:gdLst/>
              <a:ahLst/>
              <a:cxnLst/>
              <a:rect l="l" t="t" r="r" b="b"/>
              <a:pathLst>
                <a:path w="6861175" h="1904">
                  <a:moveTo>
                    <a:pt x="0" y="0"/>
                  </a:moveTo>
                  <a:lnTo>
                    <a:pt x="6861024" y="1685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1825254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5" h="69214">
                  <a:moveTo>
                    <a:pt x="0" y="69065"/>
                  </a:moveTo>
                  <a:lnTo>
                    <a:pt x="1685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2507482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5" h="69214">
                  <a:moveTo>
                    <a:pt x="0" y="69065"/>
                  </a:moveTo>
                  <a:lnTo>
                    <a:pt x="1683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3203186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5" h="69214">
                  <a:moveTo>
                    <a:pt x="0" y="69065"/>
                  </a:moveTo>
                  <a:lnTo>
                    <a:pt x="1685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3885415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3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4567642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5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5261663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5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5943891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3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6626119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5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9" name="object 59"/>
            <p:cNvSpPr/>
            <p:nvPr/>
          </p:nvSpPr>
          <p:spPr>
            <a:xfrm>
              <a:off x="7308347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3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8004050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5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8686279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3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2653825" y="4668371"/>
            <a:ext cx="21403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0%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56254" y="2594833"/>
            <a:ext cx="285190" cy="175012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14%</a:t>
            </a:r>
            <a:endParaRPr sz="1147" dirty="0">
              <a:latin typeface="Times New Roman"/>
              <a:cs typeface="Times New Roman"/>
            </a:endParaRPr>
          </a:p>
          <a:p>
            <a:pPr marL="11206">
              <a:spcBef>
                <a:spcPts val="1015"/>
              </a:spcBef>
            </a:pPr>
            <a:r>
              <a:rPr sz="1147" spc="-22" dirty="0">
                <a:latin typeface="Times New Roman"/>
                <a:cs typeface="Times New Roman"/>
              </a:rPr>
              <a:t>12%</a:t>
            </a:r>
            <a:endParaRPr sz="1147" dirty="0">
              <a:latin typeface="Times New Roman"/>
              <a:cs typeface="Times New Roman"/>
            </a:endParaRPr>
          </a:p>
          <a:p>
            <a:pPr marL="11206">
              <a:spcBef>
                <a:spcPts val="1081"/>
              </a:spcBef>
            </a:pPr>
            <a:r>
              <a:rPr sz="1147" spc="-22" dirty="0">
                <a:latin typeface="Times New Roman"/>
                <a:cs typeface="Times New Roman"/>
              </a:rPr>
              <a:t>10%</a:t>
            </a:r>
            <a:endParaRPr sz="1147" dirty="0">
              <a:latin typeface="Times New Roman"/>
              <a:cs typeface="Times New Roman"/>
            </a:endParaRPr>
          </a:p>
          <a:p>
            <a:pPr marL="82368">
              <a:spcBef>
                <a:spcPts val="1081"/>
              </a:spcBef>
            </a:pPr>
            <a:r>
              <a:rPr sz="1147" spc="-22" dirty="0">
                <a:latin typeface="Times New Roman"/>
                <a:cs typeface="Times New Roman"/>
              </a:rPr>
              <a:t>8%</a:t>
            </a:r>
            <a:endParaRPr sz="1147" dirty="0">
              <a:latin typeface="Times New Roman"/>
              <a:cs typeface="Times New Roman"/>
            </a:endParaRPr>
          </a:p>
          <a:p>
            <a:pPr marL="82368">
              <a:spcBef>
                <a:spcPts val="1015"/>
              </a:spcBef>
            </a:pPr>
            <a:r>
              <a:rPr sz="1147" spc="-22" dirty="0">
                <a:latin typeface="Times New Roman"/>
                <a:cs typeface="Times New Roman"/>
              </a:rPr>
              <a:t>6%</a:t>
            </a:r>
            <a:endParaRPr sz="1147" dirty="0">
              <a:latin typeface="Times New Roman"/>
              <a:cs typeface="Times New Roman"/>
            </a:endParaRPr>
          </a:p>
          <a:p>
            <a:pPr marL="82368">
              <a:spcBef>
                <a:spcPts val="1081"/>
              </a:spcBef>
            </a:pPr>
            <a:r>
              <a:rPr sz="1147" spc="-22" dirty="0">
                <a:latin typeface="Times New Roman"/>
                <a:cs typeface="Times New Roman"/>
              </a:rPr>
              <a:t>4%</a:t>
            </a:r>
            <a:endParaRPr sz="1147" dirty="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356254" y="2282863"/>
            <a:ext cx="28519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16%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356254" y="1981648"/>
            <a:ext cx="28519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18%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356254" y="1669677"/>
            <a:ext cx="28519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20%</a:t>
            </a:r>
            <a:endParaRPr sz="1147">
              <a:latin typeface="Times New Roman"/>
              <a:cs typeface="Times New Roman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2121033" y="5716813"/>
            <a:ext cx="81803" cy="72838"/>
            <a:chOff x="2251437" y="6479055"/>
            <a:chExt cx="92710" cy="82550"/>
          </a:xfrm>
        </p:grpSpPr>
        <p:sp>
          <p:nvSpPr>
            <p:cNvPr id="68" name="object 68"/>
            <p:cNvSpPr/>
            <p:nvPr/>
          </p:nvSpPr>
          <p:spPr>
            <a:xfrm>
              <a:off x="2258175" y="6485793"/>
              <a:ext cx="79375" cy="69215"/>
            </a:xfrm>
            <a:custGeom>
              <a:avLst/>
              <a:gdLst/>
              <a:ahLst/>
              <a:cxnLst/>
              <a:rect l="l" t="t" r="r" b="b"/>
              <a:pathLst>
                <a:path w="79375" h="69215">
                  <a:moveTo>
                    <a:pt x="79170" y="0"/>
                  </a:moveTo>
                  <a:lnTo>
                    <a:pt x="0" y="0"/>
                  </a:lnTo>
                  <a:lnTo>
                    <a:pt x="0" y="69064"/>
                  </a:lnTo>
                  <a:lnTo>
                    <a:pt x="79170" y="69064"/>
                  </a:lnTo>
                  <a:lnTo>
                    <a:pt x="79170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9" name="object 69"/>
            <p:cNvSpPr/>
            <p:nvPr/>
          </p:nvSpPr>
          <p:spPr>
            <a:xfrm>
              <a:off x="2258175" y="6485793"/>
              <a:ext cx="79375" cy="69215"/>
            </a:xfrm>
            <a:custGeom>
              <a:avLst/>
              <a:gdLst/>
              <a:ahLst/>
              <a:cxnLst/>
              <a:rect l="l" t="t" r="r" b="b"/>
              <a:pathLst>
                <a:path w="79375" h="69215">
                  <a:moveTo>
                    <a:pt x="0" y="0"/>
                  </a:moveTo>
                  <a:lnTo>
                    <a:pt x="79171" y="0"/>
                  </a:lnTo>
                  <a:lnTo>
                    <a:pt x="79171" y="69064"/>
                  </a:lnTo>
                  <a:lnTo>
                    <a:pt x="0" y="69064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70" name="object 70"/>
          <p:cNvGrpSpPr/>
          <p:nvPr/>
        </p:nvGrpSpPr>
        <p:grpSpPr>
          <a:xfrm>
            <a:off x="4112723" y="5716813"/>
            <a:ext cx="80682" cy="72838"/>
            <a:chOff x="4508686" y="6479055"/>
            <a:chExt cx="91440" cy="82550"/>
          </a:xfrm>
        </p:grpSpPr>
        <p:sp>
          <p:nvSpPr>
            <p:cNvPr id="71" name="object 71"/>
            <p:cNvSpPr/>
            <p:nvPr/>
          </p:nvSpPr>
          <p:spPr>
            <a:xfrm>
              <a:off x="4515424" y="6485793"/>
              <a:ext cx="78105" cy="69215"/>
            </a:xfrm>
            <a:custGeom>
              <a:avLst/>
              <a:gdLst/>
              <a:ahLst/>
              <a:cxnLst/>
              <a:rect l="l" t="t" r="r" b="b"/>
              <a:pathLst>
                <a:path w="78104" h="69215">
                  <a:moveTo>
                    <a:pt x="77487" y="0"/>
                  </a:moveTo>
                  <a:lnTo>
                    <a:pt x="0" y="0"/>
                  </a:lnTo>
                  <a:lnTo>
                    <a:pt x="0" y="69064"/>
                  </a:lnTo>
                  <a:lnTo>
                    <a:pt x="77487" y="69064"/>
                  </a:lnTo>
                  <a:lnTo>
                    <a:pt x="77487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2" name="object 72"/>
            <p:cNvSpPr/>
            <p:nvPr/>
          </p:nvSpPr>
          <p:spPr>
            <a:xfrm>
              <a:off x="4515424" y="6485793"/>
              <a:ext cx="78105" cy="69215"/>
            </a:xfrm>
            <a:custGeom>
              <a:avLst/>
              <a:gdLst/>
              <a:ahLst/>
              <a:cxnLst/>
              <a:rect l="l" t="t" r="r" b="b"/>
              <a:pathLst>
                <a:path w="78104" h="69215">
                  <a:moveTo>
                    <a:pt x="0" y="0"/>
                  </a:moveTo>
                  <a:lnTo>
                    <a:pt x="77487" y="0"/>
                  </a:lnTo>
                  <a:lnTo>
                    <a:pt x="77487" y="69064"/>
                  </a:lnTo>
                  <a:lnTo>
                    <a:pt x="0" y="69064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73" name="object 73"/>
          <p:cNvGrpSpPr/>
          <p:nvPr/>
        </p:nvGrpSpPr>
        <p:grpSpPr>
          <a:xfrm>
            <a:off x="6091035" y="5716813"/>
            <a:ext cx="81803" cy="72838"/>
            <a:chOff x="6750773" y="6479055"/>
            <a:chExt cx="92710" cy="82550"/>
          </a:xfrm>
        </p:grpSpPr>
        <p:sp>
          <p:nvSpPr>
            <p:cNvPr id="74" name="object 74"/>
            <p:cNvSpPr/>
            <p:nvPr/>
          </p:nvSpPr>
          <p:spPr>
            <a:xfrm>
              <a:off x="6757511" y="6485793"/>
              <a:ext cx="79375" cy="69215"/>
            </a:xfrm>
            <a:custGeom>
              <a:avLst/>
              <a:gdLst/>
              <a:ahLst/>
              <a:cxnLst/>
              <a:rect l="l" t="t" r="r" b="b"/>
              <a:pathLst>
                <a:path w="79375" h="69215">
                  <a:moveTo>
                    <a:pt x="79173" y="0"/>
                  </a:moveTo>
                  <a:lnTo>
                    <a:pt x="0" y="0"/>
                  </a:lnTo>
                  <a:lnTo>
                    <a:pt x="0" y="69064"/>
                  </a:lnTo>
                  <a:lnTo>
                    <a:pt x="79173" y="69064"/>
                  </a:lnTo>
                  <a:lnTo>
                    <a:pt x="79173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5" name="object 75"/>
            <p:cNvSpPr/>
            <p:nvPr/>
          </p:nvSpPr>
          <p:spPr>
            <a:xfrm>
              <a:off x="6757511" y="6485793"/>
              <a:ext cx="79375" cy="69215"/>
            </a:xfrm>
            <a:custGeom>
              <a:avLst/>
              <a:gdLst/>
              <a:ahLst/>
              <a:cxnLst/>
              <a:rect l="l" t="t" r="r" b="b"/>
              <a:pathLst>
                <a:path w="79375" h="69215">
                  <a:moveTo>
                    <a:pt x="0" y="0"/>
                  </a:moveTo>
                  <a:lnTo>
                    <a:pt x="79172" y="0"/>
                  </a:lnTo>
                  <a:lnTo>
                    <a:pt x="79172" y="69064"/>
                  </a:lnTo>
                  <a:lnTo>
                    <a:pt x="0" y="69064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2092791" y="5660333"/>
            <a:ext cx="5358653" cy="170107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3362" rIns="0" bIns="0" rtlCol="0">
            <a:spAutoFit/>
          </a:bodyPr>
          <a:lstStyle/>
          <a:p>
            <a:pPr marL="179304">
              <a:lnSpc>
                <a:spcPts val="1328"/>
              </a:lnSpc>
              <a:spcBef>
                <a:spcPts val="26"/>
              </a:spcBef>
              <a:tabLst>
                <a:tab pos="2169575" algn="l"/>
                <a:tab pos="4148079" algn="l"/>
              </a:tabLst>
            </a:pPr>
            <a:r>
              <a:rPr sz="1147" dirty="0">
                <a:latin typeface="Times New Roman"/>
                <a:cs typeface="Times New Roman"/>
              </a:rPr>
              <a:t>4,096</a:t>
            </a:r>
            <a:r>
              <a:rPr sz="1147" spc="-57" dirty="0">
                <a:latin typeface="Times New Roman"/>
                <a:cs typeface="Times New Roman"/>
              </a:rPr>
              <a:t> </a:t>
            </a:r>
            <a:r>
              <a:rPr sz="1147" dirty="0">
                <a:latin typeface="Times New Roman"/>
                <a:cs typeface="Times New Roman"/>
              </a:rPr>
              <a:t>entries:</a:t>
            </a:r>
            <a:r>
              <a:rPr sz="1147" spc="199" dirty="0">
                <a:latin typeface="Times New Roman"/>
                <a:cs typeface="Times New Roman"/>
              </a:rPr>
              <a:t> </a:t>
            </a:r>
            <a:r>
              <a:rPr sz="1147" spc="-22" dirty="0">
                <a:latin typeface="Times New Roman"/>
                <a:cs typeface="Times New Roman"/>
              </a:rPr>
              <a:t>2-</a:t>
            </a:r>
            <a:r>
              <a:rPr sz="1147" dirty="0">
                <a:latin typeface="Times New Roman"/>
                <a:cs typeface="Times New Roman"/>
              </a:rPr>
              <a:t>bits</a:t>
            </a:r>
            <a:r>
              <a:rPr sz="1147" spc="-57" dirty="0">
                <a:latin typeface="Times New Roman"/>
                <a:cs typeface="Times New Roman"/>
              </a:rPr>
              <a:t> </a:t>
            </a:r>
            <a:r>
              <a:rPr sz="1147" dirty="0">
                <a:latin typeface="Times New Roman"/>
                <a:cs typeface="Times New Roman"/>
              </a:rPr>
              <a:t>per</a:t>
            </a:r>
            <a:r>
              <a:rPr sz="1147" spc="-53" dirty="0">
                <a:latin typeface="Times New Roman"/>
                <a:cs typeface="Times New Roman"/>
              </a:rPr>
              <a:t> </a:t>
            </a:r>
            <a:r>
              <a:rPr sz="1147" spc="-9" dirty="0">
                <a:latin typeface="Times New Roman"/>
                <a:cs typeface="Times New Roman"/>
              </a:rPr>
              <a:t>entry</a:t>
            </a:r>
            <a:r>
              <a:rPr sz="1147" dirty="0">
                <a:latin typeface="Times New Roman"/>
                <a:cs typeface="Times New Roman"/>
              </a:rPr>
              <a:t>	</a:t>
            </a:r>
            <a:r>
              <a:rPr sz="1147" spc="-9" dirty="0">
                <a:latin typeface="Times New Roman"/>
                <a:cs typeface="Times New Roman"/>
              </a:rPr>
              <a:t>Unlimited</a:t>
            </a:r>
            <a:r>
              <a:rPr sz="1147" spc="-49" dirty="0">
                <a:latin typeface="Times New Roman"/>
                <a:cs typeface="Times New Roman"/>
              </a:rPr>
              <a:t> </a:t>
            </a:r>
            <a:r>
              <a:rPr sz="1147" dirty="0">
                <a:latin typeface="Times New Roman"/>
                <a:cs typeface="Times New Roman"/>
              </a:rPr>
              <a:t>entries:</a:t>
            </a:r>
            <a:r>
              <a:rPr sz="1147" spc="216" dirty="0">
                <a:latin typeface="Times New Roman"/>
                <a:cs typeface="Times New Roman"/>
              </a:rPr>
              <a:t> </a:t>
            </a:r>
            <a:r>
              <a:rPr sz="1147" spc="-26" dirty="0">
                <a:latin typeface="Times New Roman"/>
                <a:cs typeface="Times New Roman"/>
              </a:rPr>
              <a:t>2-</a:t>
            </a:r>
            <a:r>
              <a:rPr sz="1147" spc="-9" dirty="0">
                <a:latin typeface="Times New Roman"/>
                <a:cs typeface="Times New Roman"/>
              </a:rPr>
              <a:t>bits/entry</a:t>
            </a:r>
            <a:r>
              <a:rPr sz="1147" dirty="0">
                <a:latin typeface="Times New Roman"/>
                <a:cs typeface="Times New Roman"/>
              </a:rPr>
              <a:t>	1,024</a:t>
            </a:r>
            <a:r>
              <a:rPr sz="1147" spc="-49" dirty="0">
                <a:latin typeface="Times New Roman"/>
                <a:cs typeface="Times New Roman"/>
              </a:rPr>
              <a:t> </a:t>
            </a:r>
            <a:r>
              <a:rPr sz="1147" spc="-9" dirty="0">
                <a:latin typeface="Times New Roman"/>
                <a:cs typeface="Times New Roman"/>
              </a:rPr>
              <a:t>entries</a:t>
            </a:r>
            <a:r>
              <a:rPr sz="1147" spc="-49" dirty="0">
                <a:latin typeface="Times New Roman"/>
                <a:cs typeface="Times New Roman"/>
              </a:rPr>
              <a:t> </a:t>
            </a:r>
            <a:r>
              <a:rPr sz="1147" spc="-9" dirty="0">
                <a:latin typeface="Times New Roman"/>
                <a:cs typeface="Times New Roman"/>
              </a:rPr>
              <a:t>(2,2)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Accuracy</a:t>
            </a:r>
            <a:r>
              <a:rPr spc="-31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Different</a:t>
            </a:r>
            <a:r>
              <a:rPr spc="-31" dirty="0"/>
              <a:t> </a:t>
            </a:r>
            <a:r>
              <a:rPr spc="-9" dirty="0"/>
              <a:t>Schemes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396689" y="1782631"/>
            <a:ext cx="2864224" cy="3507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6" b="1" dirty="0">
                <a:solidFill>
                  <a:srgbClr val="FF0000"/>
                </a:solidFill>
                <a:latin typeface="Times New Roman"/>
                <a:cs typeface="Times New Roman"/>
              </a:rPr>
              <a:t>4096</a:t>
            </a:r>
            <a:r>
              <a:rPr sz="2206" b="1" spc="5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6" b="1" dirty="0">
                <a:solidFill>
                  <a:srgbClr val="FF0000"/>
                </a:solidFill>
                <a:latin typeface="Times New Roman"/>
                <a:cs typeface="Times New Roman"/>
              </a:rPr>
              <a:t>Entries</a:t>
            </a:r>
            <a:r>
              <a:rPr sz="2206" b="1" spc="7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6" b="1" dirty="0">
                <a:solidFill>
                  <a:srgbClr val="FF0000"/>
                </a:solidFill>
                <a:latin typeface="Times New Roman"/>
                <a:cs typeface="Times New Roman"/>
              </a:rPr>
              <a:t>2-bit</a:t>
            </a:r>
            <a:r>
              <a:rPr sz="2206" b="1" spc="6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6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BHT</a:t>
            </a:r>
            <a:endParaRPr sz="2206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396690" y="2132254"/>
            <a:ext cx="3513604" cy="3507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6" b="1" dirty="0">
                <a:solidFill>
                  <a:srgbClr val="00AE00"/>
                </a:solidFill>
                <a:latin typeface="Times New Roman"/>
                <a:cs typeface="Times New Roman"/>
              </a:rPr>
              <a:t>Unlimited</a:t>
            </a:r>
            <a:r>
              <a:rPr sz="2206" b="1" spc="79" dirty="0">
                <a:solidFill>
                  <a:srgbClr val="00AE00"/>
                </a:solidFill>
                <a:latin typeface="Times New Roman"/>
                <a:cs typeface="Times New Roman"/>
              </a:rPr>
              <a:t> </a:t>
            </a:r>
            <a:r>
              <a:rPr sz="2206" b="1" dirty="0">
                <a:solidFill>
                  <a:srgbClr val="00AE00"/>
                </a:solidFill>
                <a:latin typeface="Times New Roman"/>
                <a:cs typeface="Times New Roman"/>
              </a:rPr>
              <a:t>Entries</a:t>
            </a:r>
            <a:r>
              <a:rPr sz="2206" b="1" spc="75" dirty="0">
                <a:solidFill>
                  <a:srgbClr val="00AE00"/>
                </a:solidFill>
                <a:latin typeface="Times New Roman"/>
                <a:cs typeface="Times New Roman"/>
              </a:rPr>
              <a:t> </a:t>
            </a:r>
            <a:r>
              <a:rPr sz="2206" b="1" dirty="0">
                <a:solidFill>
                  <a:srgbClr val="00AE00"/>
                </a:solidFill>
                <a:latin typeface="Times New Roman"/>
                <a:cs typeface="Times New Roman"/>
              </a:rPr>
              <a:t>2-bit</a:t>
            </a:r>
            <a:r>
              <a:rPr sz="2206" b="1" spc="71" dirty="0">
                <a:solidFill>
                  <a:srgbClr val="00AE00"/>
                </a:solidFill>
                <a:latin typeface="Times New Roman"/>
                <a:cs typeface="Times New Roman"/>
              </a:rPr>
              <a:t> </a:t>
            </a:r>
            <a:r>
              <a:rPr sz="2206" b="1" spc="-22" dirty="0">
                <a:solidFill>
                  <a:srgbClr val="00AE00"/>
                </a:solidFill>
                <a:latin typeface="Times New Roman"/>
                <a:cs typeface="Times New Roman"/>
              </a:rPr>
              <a:t>BHT</a:t>
            </a:r>
            <a:endParaRPr sz="2206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75209" y="4369160"/>
            <a:ext cx="750234" cy="964446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463388">
              <a:spcBef>
                <a:spcPts val="644"/>
              </a:spcBef>
            </a:pPr>
            <a:r>
              <a:rPr sz="1147" spc="-22" dirty="0">
                <a:latin typeface="Times New Roman"/>
                <a:cs typeface="Times New Roman"/>
              </a:rPr>
              <a:t>2%</a:t>
            </a:r>
            <a:endParaRPr sz="1147">
              <a:latin typeface="Times New Roman"/>
              <a:cs typeface="Times New Roman"/>
            </a:endParaRPr>
          </a:p>
          <a:p>
            <a:pPr marL="421924">
              <a:spcBef>
                <a:spcPts val="728"/>
              </a:spcBef>
            </a:pPr>
            <a:r>
              <a:rPr sz="1500" spc="-22" dirty="0">
                <a:latin typeface="Times New Roman"/>
                <a:cs typeface="Times New Roman"/>
              </a:rPr>
              <a:t>0%</a:t>
            </a:r>
            <a:endParaRPr sz="1500">
              <a:latin typeface="Times New Roman"/>
              <a:cs typeface="Times New Roman"/>
            </a:endParaRPr>
          </a:p>
          <a:p>
            <a:pPr marL="11206">
              <a:spcBef>
                <a:spcPts val="1204"/>
              </a:spcBef>
            </a:pPr>
            <a:r>
              <a:rPr sz="1500" b="1" spc="-9" dirty="0">
                <a:latin typeface="Arial"/>
                <a:cs typeface="Arial"/>
              </a:rPr>
              <a:t>SPEC89</a:t>
            </a:r>
            <a:endParaRPr sz="15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948442" y="4941520"/>
            <a:ext cx="166712" cy="34962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nasa7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522167" y="4941899"/>
            <a:ext cx="166712" cy="612962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matrix300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770689" y="4940500"/>
            <a:ext cx="166712" cy="44487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doducd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366712" y="4941289"/>
            <a:ext cx="166712" cy="31768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spice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971652" y="4939608"/>
            <a:ext cx="166712" cy="35690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fpppp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589959" y="4942229"/>
            <a:ext cx="166712" cy="22243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22" dirty="0">
                <a:latin typeface="Times New Roman"/>
                <a:cs typeface="Times New Roman"/>
              </a:rPr>
              <a:t>gcc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790927" y="4942473"/>
            <a:ext cx="166712" cy="421341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eqntott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398836" y="4943554"/>
            <a:ext cx="166712" cy="10309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22" dirty="0">
                <a:latin typeface="Times New Roman"/>
                <a:cs typeface="Times New Roman"/>
              </a:rPr>
              <a:t>li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164264" y="4942442"/>
            <a:ext cx="166712" cy="4857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tomcatv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519329" y="5990079"/>
            <a:ext cx="115700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dirty="0">
                <a:latin typeface="Arial MT"/>
                <a:cs typeface="Arial MT"/>
              </a:rPr>
              <a:t>H&amp;P</a:t>
            </a:r>
            <a:r>
              <a:rPr sz="1324" spc="-71" dirty="0">
                <a:latin typeface="Arial MT"/>
                <a:cs typeface="Arial MT"/>
              </a:rPr>
              <a:t> </a:t>
            </a:r>
            <a:r>
              <a:rPr sz="1324" spc="-9" dirty="0">
                <a:latin typeface="Arial MT"/>
                <a:cs typeface="Arial MT"/>
              </a:rPr>
              <a:t>Figure</a:t>
            </a:r>
            <a:r>
              <a:rPr sz="1324" spc="-53" dirty="0">
                <a:latin typeface="Arial MT"/>
                <a:cs typeface="Arial MT"/>
              </a:rPr>
              <a:t> </a:t>
            </a:r>
            <a:r>
              <a:rPr sz="1324" spc="-22" dirty="0">
                <a:latin typeface="Arial MT"/>
                <a:cs typeface="Arial MT"/>
              </a:rPr>
              <a:t>3.3</a:t>
            </a:r>
            <a:endParaRPr sz="1324" dirty="0">
              <a:latin typeface="Arial MT"/>
              <a:cs typeface="Arial MT"/>
            </a:endParaRPr>
          </a:p>
        </p:txBody>
      </p:sp>
      <p:sp>
        <p:nvSpPr>
          <p:cNvPr id="92" name="Slide Number Placeholder 4">
            <a:extLst>
              <a:ext uri="{FF2B5EF4-FFF2-40B4-BE49-F238E27FC236}">
                <a16:creationId xmlns:a16="http://schemas.microsoft.com/office/drawing/2014/main" id="{0536C825-0FCF-5810-89AE-A1E7510DFA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9</a:t>
            </a:fld>
            <a:endParaRPr lang="en-US" spc="-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Correlated</a:t>
            </a:r>
            <a:r>
              <a:rPr spc="-71" dirty="0"/>
              <a:t> </a:t>
            </a:r>
            <a:r>
              <a:rPr dirty="0"/>
              <a:t>Branch</a:t>
            </a:r>
            <a:r>
              <a:rPr spc="-66" dirty="0"/>
              <a:t> </a:t>
            </a:r>
            <a:r>
              <a:rPr spc="-9" dirty="0"/>
              <a:t>Prediction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6724" y="1320052"/>
            <a:ext cx="7032251" cy="4591699"/>
          </a:xfrm>
          <a:prstGeom prst="rect">
            <a:avLst/>
          </a:prstGeom>
        </p:spPr>
        <p:txBody>
          <a:bodyPr vert="horz" wrap="square" lIns="0" tIns="44824" rIns="0" bIns="0" rtlCol="0">
            <a:spAutoFit/>
          </a:bodyPr>
          <a:lstStyle/>
          <a:p>
            <a:pPr marL="312100" marR="15689" indent="-267835">
              <a:spcBef>
                <a:spcPts val="353"/>
              </a:spcBef>
              <a:spcAft>
                <a:spcPts val="2400"/>
              </a:spcAft>
              <a:buChar char="•"/>
              <a:tabLst>
                <a:tab pos="312100" algn="l"/>
                <a:tab pos="1016428" algn="l"/>
              </a:tabLst>
            </a:pPr>
            <a:r>
              <a:rPr sz="2400" spc="-9" dirty="0">
                <a:latin typeface="Calibri"/>
                <a:cs typeface="Calibri"/>
              </a:rPr>
              <a:t>Idea:</a:t>
            </a:r>
            <a:r>
              <a:rPr sz="2400" dirty="0">
                <a:latin typeface="Calibri"/>
                <a:cs typeface="Calibri"/>
              </a:rPr>
              <a:t>	record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114FFB"/>
                </a:solidFill>
                <a:latin typeface="Calibri"/>
                <a:cs typeface="Calibri"/>
              </a:rPr>
              <a:t>m</a:t>
            </a:r>
            <a:r>
              <a:rPr sz="2400" i="1" spc="84" dirty="0">
                <a:solidFill>
                  <a:srgbClr val="114FFB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recently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executed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branches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taken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taken,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pattern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proper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i="1" spc="-22" dirty="0">
                <a:solidFill>
                  <a:srgbClr val="114FFB"/>
                </a:solidFill>
                <a:latin typeface="Calibri"/>
                <a:cs typeface="Calibri"/>
              </a:rPr>
              <a:t>n</a:t>
            </a:r>
            <a:r>
              <a:rPr sz="2400" spc="-22" dirty="0">
                <a:latin typeface="Calibri"/>
                <a:cs typeface="Calibri"/>
              </a:rPr>
              <a:t>- 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BHT</a:t>
            </a:r>
            <a:endParaRPr sz="2400" dirty="0">
              <a:latin typeface="Calibri"/>
              <a:cs typeface="Calibri"/>
            </a:endParaRPr>
          </a:p>
          <a:p>
            <a:pPr marL="312100" marR="119349" indent="-267835">
              <a:spcAft>
                <a:spcPts val="600"/>
              </a:spcAft>
              <a:buChar char="•"/>
              <a:tabLst>
                <a:tab pos="3121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general,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solidFill>
                  <a:srgbClr val="114FFB"/>
                </a:solidFill>
                <a:latin typeface="Calibri"/>
                <a:cs typeface="Calibri"/>
              </a:rPr>
              <a:t>m,n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predictor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record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</a:t>
            </a:r>
            <a:r>
              <a:rPr sz="2400" i="1" spc="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branches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i="1" baseline="26143" dirty="0">
                <a:latin typeface="Calibri"/>
                <a:cs typeface="Calibri"/>
              </a:rPr>
              <a:t>m</a:t>
            </a:r>
            <a:r>
              <a:rPr sz="2400" i="1" spc="284" baseline="2614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history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tables,</a:t>
            </a:r>
            <a:r>
              <a:rPr sz="2400" spc="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22" dirty="0">
                <a:latin typeface="Calibri"/>
                <a:cs typeface="Calibri"/>
              </a:rPr>
              <a:t>bit </a:t>
            </a:r>
            <a:r>
              <a:rPr sz="2400" spc="-9" dirty="0">
                <a:latin typeface="Calibri"/>
                <a:cs typeface="Calibri"/>
              </a:rPr>
              <a:t>counters</a:t>
            </a:r>
            <a:endParaRPr sz="2400" dirty="0">
              <a:latin typeface="Calibri"/>
              <a:cs typeface="Calibri"/>
            </a:endParaRPr>
          </a:p>
          <a:p>
            <a:pPr marL="685276" lvl="1" indent="-212363">
              <a:spcBef>
                <a:spcPts val="446"/>
              </a:spcBef>
              <a:spcAft>
                <a:spcPts val="600"/>
              </a:spcAft>
              <a:buChar char="–"/>
              <a:tabLst>
                <a:tab pos="685276" algn="l"/>
              </a:tabLst>
            </a:pPr>
            <a:r>
              <a:rPr sz="2200" dirty="0">
                <a:latin typeface="Calibri"/>
                <a:cs typeface="Calibri"/>
              </a:rPr>
              <a:t>Thus, old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2-</a:t>
            </a:r>
            <a:r>
              <a:rPr sz="2200" dirty="0">
                <a:latin typeface="Calibri"/>
                <a:cs typeface="Calibri"/>
              </a:rPr>
              <a:t>bit BHT is a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(0,2)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predictor</a:t>
            </a:r>
            <a:endParaRPr sz="2200" dirty="0">
              <a:latin typeface="Calibri"/>
              <a:cs typeface="Calibri"/>
            </a:endParaRPr>
          </a:p>
          <a:p>
            <a:pPr marL="685276" lvl="1" indent="-212363">
              <a:spcBef>
                <a:spcPts val="357"/>
              </a:spcBef>
              <a:spcAft>
                <a:spcPts val="1200"/>
              </a:spcAft>
              <a:buChar char="–"/>
              <a:tabLst>
                <a:tab pos="685276" algn="l"/>
              </a:tabLst>
            </a:pPr>
            <a:r>
              <a:rPr sz="2200" dirty="0">
                <a:latin typeface="Calibri"/>
                <a:cs typeface="Calibri"/>
              </a:rPr>
              <a:t>Global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Branch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History:</a:t>
            </a:r>
            <a:r>
              <a:rPr sz="2200" spc="366" dirty="0">
                <a:latin typeface="Calibri"/>
                <a:cs typeface="Calibri"/>
              </a:rPr>
              <a:t> </a:t>
            </a:r>
            <a:r>
              <a:rPr sz="2200" i="1" spc="-9" dirty="0">
                <a:latin typeface="Calibri"/>
                <a:cs typeface="Calibri"/>
              </a:rPr>
              <a:t>m</a:t>
            </a:r>
            <a:r>
              <a:rPr sz="2200" spc="-9" dirty="0">
                <a:latin typeface="Calibri"/>
                <a:cs typeface="Calibri"/>
              </a:rPr>
              <a:t>-</a:t>
            </a:r>
            <a:r>
              <a:rPr sz="2200" dirty="0">
                <a:latin typeface="Calibri"/>
                <a:cs typeface="Calibri"/>
              </a:rPr>
              <a:t>bit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shift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register</a:t>
            </a:r>
            <a:r>
              <a:rPr sz="2200" spc="-13" dirty="0">
                <a:latin typeface="Calibri"/>
                <a:cs typeface="Calibri"/>
              </a:rPr>
              <a:t> </a:t>
            </a:r>
            <a:br>
              <a:rPr lang="en-US" sz="2200" spc="-13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keeping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T/NT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status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last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i="1" spc="-44" dirty="0">
                <a:latin typeface="Calibri"/>
                <a:cs typeface="Calibri"/>
              </a:rPr>
              <a:t>m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branches.</a:t>
            </a:r>
            <a:endParaRPr lang="en-US" sz="2200" spc="-9" dirty="0">
              <a:latin typeface="Calibri"/>
              <a:cs typeface="Calibri"/>
            </a:endParaRPr>
          </a:p>
          <a:p>
            <a:pPr marL="463550"/>
            <a:r>
              <a:rPr lang="en-US" sz="2200" dirty="0">
                <a:cs typeface="Calibri"/>
              </a:rPr>
              <a:t>–</a:t>
            </a:r>
            <a:r>
              <a:rPr lang="en-US" sz="2200" spc="31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Each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entry in</a:t>
            </a:r>
            <a:r>
              <a:rPr lang="en-US" sz="2200" spc="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table has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dirty="0">
                <a:cs typeface="Calibri"/>
              </a:rPr>
              <a:t>2</a:t>
            </a:r>
            <a:r>
              <a:rPr lang="en-US" sz="2200" i="1" baseline="25641" dirty="0">
                <a:cs typeface="Calibri"/>
              </a:rPr>
              <a:t>m</a:t>
            </a:r>
            <a:r>
              <a:rPr lang="en-US" sz="2200" i="1" spc="146" baseline="25641" dirty="0">
                <a:cs typeface="Calibri"/>
              </a:rPr>
              <a:t> </a:t>
            </a:r>
            <a:r>
              <a:rPr lang="en-US" sz="2200" i="1" spc="-9" dirty="0">
                <a:cs typeface="Calibri"/>
              </a:rPr>
              <a:t>n</a:t>
            </a:r>
            <a:r>
              <a:rPr lang="en-US" sz="2200" spc="-9" dirty="0">
                <a:cs typeface="Calibri"/>
              </a:rPr>
              <a:t>-</a:t>
            </a:r>
            <a:r>
              <a:rPr lang="en-US" sz="2200" dirty="0">
                <a:cs typeface="Calibri"/>
              </a:rPr>
              <a:t>bit</a:t>
            </a:r>
            <a:r>
              <a:rPr lang="en-US" sz="2200" spc="-4" dirty="0">
                <a:cs typeface="Calibri"/>
              </a:rPr>
              <a:t> </a:t>
            </a:r>
            <a:r>
              <a:rPr lang="en-US" sz="2200" spc="-9" dirty="0">
                <a:cs typeface="Calibri"/>
              </a:rPr>
              <a:t>predictors.</a:t>
            </a:r>
            <a:endParaRPr lang="en-US" sz="2200" dirty="0">
              <a:cs typeface="Calibri"/>
            </a:endParaRPr>
          </a:p>
          <a:p>
            <a:pPr marL="686957"/>
            <a:endParaRPr sz="1677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732871" y="3928730"/>
            <a:ext cx="1622051" cy="1938057"/>
            <a:chOff x="7267918" y="5248576"/>
            <a:chExt cx="1838325" cy="2196465"/>
          </a:xfrm>
        </p:grpSpPr>
        <p:sp>
          <p:nvSpPr>
            <p:cNvPr id="7" name="object 7"/>
            <p:cNvSpPr/>
            <p:nvPr/>
          </p:nvSpPr>
          <p:spPr>
            <a:xfrm>
              <a:off x="7294867" y="5275579"/>
              <a:ext cx="1811020" cy="2169160"/>
            </a:xfrm>
            <a:custGeom>
              <a:avLst/>
              <a:gdLst/>
              <a:ahLst/>
              <a:cxnLst/>
              <a:rect l="l" t="t" r="r" b="b"/>
              <a:pathLst>
                <a:path w="1811020" h="2169159">
                  <a:moveTo>
                    <a:pt x="1810854" y="0"/>
                  </a:moveTo>
                  <a:lnTo>
                    <a:pt x="1777161" y="0"/>
                  </a:lnTo>
                  <a:lnTo>
                    <a:pt x="1777161" y="6350"/>
                  </a:lnTo>
                  <a:lnTo>
                    <a:pt x="1777161" y="13970"/>
                  </a:lnTo>
                  <a:lnTo>
                    <a:pt x="1777161" y="2134870"/>
                  </a:lnTo>
                  <a:lnTo>
                    <a:pt x="13474" y="2134870"/>
                  </a:lnTo>
                  <a:lnTo>
                    <a:pt x="6731" y="2134870"/>
                  </a:lnTo>
                  <a:lnTo>
                    <a:pt x="0" y="2134870"/>
                  </a:lnTo>
                  <a:lnTo>
                    <a:pt x="0" y="2155190"/>
                  </a:lnTo>
                  <a:lnTo>
                    <a:pt x="0" y="2169160"/>
                  </a:lnTo>
                  <a:lnTo>
                    <a:pt x="1810854" y="2169160"/>
                  </a:lnTo>
                  <a:lnTo>
                    <a:pt x="1810854" y="2155190"/>
                  </a:lnTo>
                  <a:lnTo>
                    <a:pt x="1810854" y="13970"/>
                  </a:lnTo>
                  <a:lnTo>
                    <a:pt x="1810854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7274656" y="5255314"/>
              <a:ext cx="1797685" cy="2155825"/>
            </a:xfrm>
            <a:custGeom>
              <a:avLst/>
              <a:gdLst/>
              <a:ahLst/>
              <a:cxnLst/>
              <a:rect l="l" t="t" r="r" b="b"/>
              <a:pathLst>
                <a:path w="1797684" h="2155825">
                  <a:moveTo>
                    <a:pt x="0" y="0"/>
                  </a:moveTo>
                  <a:lnTo>
                    <a:pt x="1797376" y="0"/>
                  </a:lnTo>
                  <a:lnTo>
                    <a:pt x="1797376" y="2155461"/>
                  </a:lnTo>
                  <a:lnTo>
                    <a:pt x="0" y="2155461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797769" y="3871094"/>
            <a:ext cx="1574426" cy="1912025"/>
          </a:xfrm>
          <a:prstGeom prst="rect">
            <a:avLst/>
          </a:prstGeom>
        </p:spPr>
        <p:txBody>
          <a:bodyPr vert="horz" wrap="square" lIns="0" tIns="147918" rIns="0" bIns="0" rtlCol="0">
            <a:spAutoFit/>
          </a:bodyPr>
          <a:lstStyle/>
          <a:p>
            <a:pPr marL="79566">
              <a:spcBef>
                <a:spcPts val="1165"/>
              </a:spcBef>
            </a:pP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if</a:t>
            </a:r>
            <a:r>
              <a:rPr sz="1677" spc="-13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(aa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==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spc="-22" dirty="0">
                <a:solidFill>
                  <a:srgbClr val="FC0128"/>
                </a:solidFill>
                <a:latin typeface="Arial MT"/>
                <a:cs typeface="Arial MT"/>
              </a:rPr>
              <a:t>2)</a:t>
            </a:r>
            <a:endParaRPr sz="1677" dirty="0">
              <a:latin typeface="Arial MT"/>
              <a:cs typeface="Arial MT"/>
            </a:endParaRPr>
          </a:p>
          <a:p>
            <a:pPr marL="79566" marR="351323" indent="475155">
              <a:lnSpc>
                <a:spcPct val="149500"/>
              </a:lnSpc>
              <a:spcBef>
                <a:spcPts val="88"/>
              </a:spcBef>
            </a:pP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aa</a:t>
            </a:r>
            <a:r>
              <a:rPr sz="1677" spc="-13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=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spc="-22" dirty="0">
                <a:solidFill>
                  <a:srgbClr val="FC0128"/>
                </a:solidFill>
                <a:latin typeface="Arial MT"/>
                <a:cs typeface="Arial MT"/>
              </a:rPr>
              <a:t>0;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if</a:t>
            </a:r>
            <a:r>
              <a:rPr sz="1677" spc="-13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(bb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==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spc="-22" dirty="0">
                <a:solidFill>
                  <a:srgbClr val="FC0128"/>
                </a:solidFill>
                <a:latin typeface="Arial MT"/>
                <a:cs typeface="Arial MT"/>
              </a:rPr>
              <a:t>2)</a:t>
            </a:r>
            <a:endParaRPr sz="1677" dirty="0">
              <a:latin typeface="Arial MT"/>
              <a:cs typeface="Arial MT"/>
            </a:endParaRPr>
          </a:p>
          <a:p>
            <a:pPr marL="79566" marR="268395" indent="475155">
              <a:lnSpc>
                <a:spcPct val="148400"/>
              </a:lnSpc>
              <a:spcBef>
                <a:spcPts val="18"/>
              </a:spcBef>
            </a:pP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bb</a:t>
            </a:r>
            <a:r>
              <a:rPr sz="1677" spc="-13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=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spc="-22" dirty="0">
                <a:solidFill>
                  <a:srgbClr val="FC0128"/>
                </a:solidFill>
                <a:latin typeface="Arial MT"/>
                <a:cs typeface="Arial MT"/>
              </a:rPr>
              <a:t>0;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if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(aa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!=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dirty="0">
                <a:solidFill>
                  <a:srgbClr val="FC0128"/>
                </a:solidFill>
                <a:latin typeface="Arial MT"/>
                <a:cs typeface="Arial MT"/>
              </a:rPr>
              <a:t>bb)</a:t>
            </a:r>
            <a:r>
              <a:rPr sz="1677" spc="-9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77" spc="-44" dirty="0">
                <a:solidFill>
                  <a:srgbClr val="FC0128"/>
                </a:solidFill>
                <a:latin typeface="Arial MT"/>
                <a:cs typeface="Arial MT"/>
              </a:rPr>
              <a:t>{</a:t>
            </a:r>
            <a:endParaRPr sz="1677" dirty="0">
              <a:latin typeface="Arial MT"/>
              <a:cs typeface="Arial MT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E5936075-15AE-CFCF-C105-B963C5AE512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10</a:t>
            </a:fld>
            <a:endParaRPr lang="en-US" spc="-4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50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Correlating</a:t>
            </a:r>
            <a:r>
              <a:rPr spc="-31" dirty="0"/>
              <a:t> </a:t>
            </a:r>
            <a:r>
              <a:rPr spc="-9" dirty="0"/>
              <a:t>Branches</a:t>
            </a:r>
          </a:p>
        </p:txBody>
      </p:sp>
      <p:grpSp>
        <p:nvGrpSpPr>
          <p:cNvPr id="93" name="object 93"/>
          <p:cNvGrpSpPr/>
          <p:nvPr/>
        </p:nvGrpSpPr>
        <p:grpSpPr>
          <a:xfrm>
            <a:off x="537884" y="3896142"/>
            <a:ext cx="3305248" cy="1505363"/>
            <a:chOff x="898771" y="5108114"/>
            <a:chExt cx="3248660" cy="1607820"/>
          </a:xfrm>
        </p:grpSpPr>
        <p:sp>
          <p:nvSpPr>
            <p:cNvPr id="94" name="object 94"/>
            <p:cNvSpPr/>
            <p:nvPr/>
          </p:nvSpPr>
          <p:spPr>
            <a:xfrm>
              <a:off x="925715" y="5134609"/>
              <a:ext cx="3221355" cy="1581150"/>
            </a:xfrm>
            <a:custGeom>
              <a:avLst/>
              <a:gdLst/>
              <a:ahLst/>
              <a:cxnLst/>
              <a:rect l="l" t="t" r="r" b="b"/>
              <a:pathLst>
                <a:path w="3221354" h="1581150">
                  <a:moveTo>
                    <a:pt x="3221304" y="0"/>
                  </a:moveTo>
                  <a:lnTo>
                    <a:pt x="3187611" y="0"/>
                  </a:lnTo>
                  <a:lnTo>
                    <a:pt x="3187611" y="7620"/>
                  </a:lnTo>
                  <a:lnTo>
                    <a:pt x="3187611" y="13970"/>
                  </a:lnTo>
                  <a:lnTo>
                    <a:pt x="3187611" y="1548130"/>
                  </a:lnTo>
                  <a:lnTo>
                    <a:pt x="13474" y="1548130"/>
                  </a:lnTo>
                  <a:lnTo>
                    <a:pt x="6743" y="1548130"/>
                  </a:lnTo>
                  <a:lnTo>
                    <a:pt x="0" y="1548130"/>
                  </a:lnTo>
                  <a:lnTo>
                    <a:pt x="0" y="1568450"/>
                  </a:lnTo>
                  <a:lnTo>
                    <a:pt x="0" y="1581150"/>
                  </a:lnTo>
                  <a:lnTo>
                    <a:pt x="3221304" y="1581150"/>
                  </a:lnTo>
                  <a:lnTo>
                    <a:pt x="3221304" y="1568450"/>
                  </a:lnTo>
                  <a:lnTo>
                    <a:pt x="3221304" y="13970"/>
                  </a:lnTo>
                  <a:lnTo>
                    <a:pt x="3221304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5" name="object 95"/>
            <p:cNvSpPr/>
            <p:nvPr/>
          </p:nvSpPr>
          <p:spPr>
            <a:xfrm>
              <a:off x="905510" y="5114852"/>
              <a:ext cx="3208020" cy="1567815"/>
            </a:xfrm>
            <a:custGeom>
              <a:avLst/>
              <a:gdLst/>
              <a:ahLst/>
              <a:cxnLst/>
              <a:rect l="l" t="t" r="r" b="b"/>
              <a:pathLst>
                <a:path w="3208020" h="1567815">
                  <a:moveTo>
                    <a:pt x="0" y="0"/>
                  </a:moveTo>
                  <a:lnTo>
                    <a:pt x="3207822" y="0"/>
                  </a:lnTo>
                  <a:lnTo>
                    <a:pt x="3207822" y="1567609"/>
                  </a:lnTo>
                  <a:lnTo>
                    <a:pt x="0" y="1567609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96" name="object 96"/>
          <p:cNvSpPr txBox="1">
            <a:spLocks noGrp="1"/>
          </p:cNvSpPr>
          <p:nvPr>
            <p:ph sz="half" idx="2"/>
          </p:nvPr>
        </p:nvSpPr>
        <p:spPr>
          <a:xfrm>
            <a:off x="590891" y="1352015"/>
            <a:ext cx="3509682" cy="3968794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R="265033">
              <a:spcBef>
                <a:spcPts val="44"/>
              </a:spcBef>
            </a:pPr>
            <a:endParaRPr lang="en-US" sz="2000" spc="-9" dirty="0"/>
          </a:p>
          <a:p>
            <a:pPr marR="265033">
              <a:spcBef>
                <a:spcPts val="44"/>
              </a:spcBef>
            </a:pPr>
            <a:endParaRPr lang="en-US" sz="2000" spc="-9" dirty="0"/>
          </a:p>
          <a:p>
            <a:pPr marL="396875" marR="15689" indent="-371475" algn="just">
              <a:spcBef>
                <a:spcPts val="1182"/>
              </a:spcBef>
              <a:tabLst>
                <a:tab pos="906043" algn="l"/>
              </a:tabLst>
            </a:pPr>
            <a:r>
              <a:rPr sz="2000" spc="-44" dirty="0"/>
              <a:t>–</a:t>
            </a:r>
            <a:r>
              <a:rPr sz="2000" dirty="0"/>
              <a:t>	Behavior</a:t>
            </a:r>
            <a:r>
              <a:rPr sz="2000" spc="9" dirty="0"/>
              <a:t> </a:t>
            </a:r>
            <a:r>
              <a:rPr sz="2000" dirty="0"/>
              <a:t>of</a:t>
            </a:r>
            <a:r>
              <a:rPr sz="2000" spc="13" dirty="0"/>
              <a:t> </a:t>
            </a:r>
            <a:r>
              <a:rPr sz="2000" spc="-9" dirty="0"/>
              <a:t>recent </a:t>
            </a:r>
            <a:r>
              <a:rPr sz="2000" dirty="0"/>
              <a:t>branches</a:t>
            </a:r>
            <a:r>
              <a:rPr sz="2000" spc="-4" dirty="0"/>
              <a:t> </a:t>
            </a:r>
            <a:r>
              <a:rPr sz="2000" dirty="0"/>
              <a:t>is used</a:t>
            </a:r>
            <a:r>
              <a:rPr sz="2000" spc="4" dirty="0"/>
              <a:t> </a:t>
            </a:r>
            <a:r>
              <a:rPr sz="2000" spc="-22" dirty="0"/>
              <a:t>to </a:t>
            </a:r>
            <a:r>
              <a:rPr sz="2000" dirty="0"/>
              <a:t>pick one </a:t>
            </a:r>
            <a:r>
              <a:rPr sz="2000" spc="-9" dirty="0"/>
              <a:t>prediction </a:t>
            </a:r>
            <a:r>
              <a:rPr sz="2000" dirty="0"/>
              <a:t>out</a:t>
            </a:r>
            <a:r>
              <a:rPr sz="2000" spc="-4" dirty="0"/>
              <a:t> </a:t>
            </a:r>
            <a:r>
              <a:rPr sz="2000" dirty="0"/>
              <a:t>of</a:t>
            </a:r>
            <a:r>
              <a:rPr sz="2000" spc="-4" dirty="0"/>
              <a:t> </a:t>
            </a:r>
            <a:r>
              <a:rPr sz="2000" dirty="0"/>
              <a:t>four</a:t>
            </a:r>
            <a:r>
              <a:rPr sz="2000" spc="-4" dirty="0"/>
              <a:t> </a:t>
            </a:r>
            <a:r>
              <a:rPr sz="2000" spc="-9" dirty="0"/>
              <a:t>predictions </a:t>
            </a:r>
            <a:r>
              <a:rPr sz="2000" dirty="0"/>
              <a:t>for the</a:t>
            </a:r>
            <a:r>
              <a:rPr sz="2000" spc="9" dirty="0"/>
              <a:t> </a:t>
            </a:r>
            <a:r>
              <a:rPr sz="2000" dirty="0"/>
              <a:t>next</a:t>
            </a:r>
            <a:r>
              <a:rPr sz="2000" spc="4" dirty="0"/>
              <a:t> </a:t>
            </a:r>
            <a:r>
              <a:rPr sz="2000" spc="-9" dirty="0"/>
              <a:t>branch, </a:t>
            </a:r>
            <a:r>
              <a:rPr sz="2000" dirty="0"/>
              <a:t>updating</a:t>
            </a:r>
            <a:r>
              <a:rPr sz="2000" spc="9" dirty="0"/>
              <a:t> </a:t>
            </a:r>
            <a:r>
              <a:rPr sz="2000" dirty="0"/>
              <a:t>just </a:t>
            </a:r>
            <a:r>
              <a:rPr sz="2000" spc="-18" dirty="0"/>
              <a:t>that </a:t>
            </a:r>
            <a:r>
              <a:rPr sz="2000" spc="-9" dirty="0"/>
              <a:t>predictor</a:t>
            </a:r>
            <a:endParaRPr sz="2000" dirty="0"/>
          </a:p>
          <a:p>
            <a:pPr>
              <a:spcBef>
                <a:spcPts val="459"/>
              </a:spcBef>
            </a:pPr>
            <a:endParaRPr sz="1853" dirty="0"/>
          </a:p>
          <a:p>
            <a:pPr marL="113185" marR="322747"/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Another</a:t>
            </a:r>
            <a:r>
              <a:rPr sz="1677" i="1" spc="-22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view</a:t>
            </a:r>
            <a:r>
              <a:rPr sz="1677" i="1" spc="-18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of</a:t>
            </a:r>
            <a:r>
              <a:rPr sz="1677" i="1" spc="-18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this</a:t>
            </a:r>
            <a:r>
              <a:rPr sz="1677" i="1" spc="-22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spc="-9" dirty="0">
                <a:solidFill>
                  <a:srgbClr val="FC0128"/>
                </a:solidFill>
                <a:latin typeface="Arial"/>
                <a:cs typeface="Arial"/>
              </a:rPr>
              <a:t>design: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4</a:t>
            </a:r>
            <a:r>
              <a:rPr sz="1677" i="1" spc="-18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addr</a:t>
            </a:r>
            <a:r>
              <a:rPr sz="1677" i="1" spc="-13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bits</a:t>
            </a:r>
            <a:r>
              <a:rPr sz="1677" i="1" spc="-13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+</a:t>
            </a:r>
            <a:r>
              <a:rPr sz="1677" i="1" spc="-13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2</a:t>
            </a:r>
            <a:r>
              <a:rPr sz="1677" i="1" spc="-13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history</a:t>
            </a:r>
            <a:r>
              <a:rPr sz="1677" i="1" spc="-13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spc="-18" dirty="0">
                <a:solidFill>
                  <a:srgbClr val="FC0128"/>
                </a:solidFill>
                <a:latin typeface="Arial"/>
                <a:cs typeface="Arial"/>
              </a:rPr>
              <a:t>bits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give</a:t>
            </a:r>
            <a:r>
              <a:rPr sz="1677" i="1" spc="-22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us</a:t>
            </a:r>
            <a:r>
              <a:rPr sz="1677" i="1" spc="-18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spc="-9" dirty="0">
                <a:solidFill>
                  <a:srgbClr val="FC0128"/>
                </a:solidFill>
                <a:latin typeface="Arial"/>
                <a:cs typeface="Arial"/>
              </a:rPr>
              <a:t>6-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bit</a:t>
            </a:r>
            <a:r>
              <a:rPr sz="1677" i="1" spc="-22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index</a:t>
            </a:r>
            <a:r>
              <a:rPr sz="1677" i="1" spc="-18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into</a:t>
            </a:r>
            <a:r>
              <a:rPr sz="1677" i="1" spc="-22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2</a:t>
            </a:r>
            <a:r>
              <a:rPr sz="1721" i="1" baseline="25641" dirty="0">
                <a:solidFill>
                  <a:srgbClr val="FC0128"/>
                </a:solidFill>
                <a:latin typeface="Arial"/>
                <a:cs typeface="Arial"/>
              </a:rPr>
              <a:t>6</a:t>
            </a:r>
            <a:r>
              <a:rPr sz="1721" i="1" spc="158" baseline="25641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spc="-44" dirty="0">
                <a:solidFill>
                  <a:srgbClr val="FC0128"/>
                </a:solidFill>
                <a:latin typeface="Arial"/>
                <a:cs typeface="Arial"/>
              </a:rPr>
              <a:t>=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64</a:t>
            </a:r>
            <a:r>
              <a:rPr sz="1677" i="1" spc="-31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predictors,</a:t>
            </a:r>
            <a:r>
              <a:rPr sz="1677" i="1" spc="-31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each</a:t>
            </a:r>
            <a:r>
              <a:rPr sz="1677" i="1" spc="-31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spc="-9" dirty="0">
                <a:solidFill>
                  <a:srgbClr val="FC0128"/>
                </a:solidFill>
                <a:latin typeface="Arial"/>
                <a:cs typeface="Arial"/>
              </a:rPr>
              <a:t>having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two</a:t>
            </a:r>
            <a:r>
              <a:rPr sz="1677" i="1" spc="-9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bits</a:t>
            </a:r>
            <a:r>
              <a:rPr sz="1677" i="1" spc="-9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dirty="0">
                <a:solidFill>
                  <a:srgbClr val="FC0128"/>
                </a:solidFill>
                <a:latin typeface="Wingdings"/>
                <a:cs typeface="Wingdings"/>
              </a:rPr>
              <a:t></a:t>
            </a:r>
            <a:r>
              <a:rPr sz="1677" spc="49" dirty="0">
                <a:solidFill>
                  <a:srgbClr val="FC0128"/>
                </a:solidFill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128</a:t>
            </a:r>
            <a:r>
              <a:rPr sz="1677" i="1" spc="-9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dirty="0">
                <a:solidFill>
                  <a:srgbClr val="FC0128"/>
                </a:solidFill>
                <a:latin typeface="Arial"/>
                <a:cs typeface="Arial"/>
              </a:rPr>
              <a:t>total</a:t>
            </a:r>
            <a:r>
              <a:rPr sz="1677" i="1" spc="-9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677" i="1" spc="-18" dirty="0">
                <a:solidFill>
                  <a:srgbClr val="FC0128"/>
                </a:solidFill>
                <a:latin typeface="Arial"/>
                <a:cs typeface="Arial"/>
              </a:rPr>
              <a:t>bits.</a:t>
            </a:r>
            <a:endParaRPr sz="1677" dirty="0">
              <a:latin typeface="Arial"/>
              <a:cs typeface="Arial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837ED86-DCDD-C603-7403-145CB82A552D}"/>
              </a:ext>
            </a:extLst>
          </p:cNvPr>
          <p:cNvGrpSpPr/>
          <p:nvPr/>
        </p:nvGrpSpPr>
        <p:grpSpPr>
          <a:xfrm>
            <a:off x="4404116" y="1851973"/>
            <a:ext cx="4622785" cy="3783148"/>
            <a:chOff x="4019805" y="1741393"/>
            <a:chExt cx="4622785" cy="3783148"/>
          </a:xfrm>
        </p:grpSpPr>
        <p:grpSp>
          <p:nvGrpSpPr>
            <p:cNvPr id="3" name="object 3"/>
            <p:cNvGrpSpPr/>
            <p:nvPr/>
          </p:nvGrpSpPr>
          <p:grpSpPr>
            <a:xfrm>
              <a:off x="5583381" y="1927625"/>
              <a:ext cx="1623172" cy="282388"/>
              <a:chOff x="6175431" y="2184641"/>
              <a:chExt cx="1839595" cy="320040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6202375" y="2211069"/>
                <a:ext cx="1812925" cy="293370"/>
              </a:xfrm>
              <a:custGeom>
                <a:avLst/>
                <a:gdLst/>
                <a:ahLst/>
                <a:cxnLst/>
                <a:rect l="l" t="t" r="r" b="b"/>
                <a:pathLst>
                  <a:path w="1812925" h="293369">
                    <a:moveTo>
                      <a:pt x="1812544" y="0"/>
                    </a:moveTo>
                    <a:lnTo>
                      <a:pt x="1778850" y="0"/>
                    </a:lnTo>
                    <a:lnTo>
                      <a:pt x="1778850" y="7620"/>
                    </a:lnTo>
                    <a:lnTo>
                      <a:pt x="1778850" y="13970"/>
                    </a:lnTo>
                    <a:lnTo>
                      <a:pt x="1778850" y="260350"/>
                    </a:lnTo>
                    <a:lnTo>
                      <a:pt x="13474" y="260350"/>
                    </a:lnTo>
                    <a:lnTo>
                      <a:pt x="6743" y="260350"/>
                    </a:lnTo>
                    <a:lnTo>
                      <a:pt x="0" y="260350"/>
                    </a:lnTo>
                    <a:lnTo>
                      <a:pt x="0" y="280670"/>
                    </a:lnTo>
                    <a:lnTo>
                      <a:pt x="0" y="293370"/>
                    </a:lnTo>
                    <a:lnTo>
                      <a:pt x="1812544" y="293370"/>
                    </a:lnTo>
                    <a:lnTo>
                      <a:pt x="1812544" y="280670"/>
                    </a:lnTo>
                    <a:lnTo>
                      <a:pt x="1812544" y="13970"/>
                    </a:lnTo>
                    <a:lnTo>
                      <a:pt x="1812544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6182169" y="2191379"/>
                <a:ext cx="1799589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1799590" h="280035">
                    <a:moveTo>
                      <a:pt x="0" y="0"/>
                    </a:moveTo>
                    <a:lnTo>
                      <a:pt x="1799060" y="0"/>
                    </a:lnTo>
                    <a:lnTo>
                      <a:pt x="1799060" y="279629"/>
                    </a:lnTo>
                    <a:lnTo>
                      <a:pt x="0" y="279629"/>
                    </a:lnTo>
                    <a:lnTo>
                      <a:pt x="0" y="0"/>
                    </a:lnTo>
                    <a:close/>
                  </a:path>
                </a:pathLst>
              </a:custGeom>
              <a:ln w="1347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6" name="object 6"/>
            <p:cNvSpPr txBox="1"/>
            <p:nvPr/>
          </p:nvSpPr>
          <p:spPr>
            <a:xfrm>
              <a:off x="5595271" y="1920687"/>
              <a:ext cx="1575547" cy="24214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202837">
                <a:spcBef>
                  <a:spcPts val="88"/>
                </a:spcBef>
              </a:pPr>
              <a:r>
                <a:rPr sz="1500" dirty="0">
                  <a:latin typeface="Times New Roman"/>
                  <a:cs typeface="Times New Roman"/>
                </a:rPr>
                <a:t>Branch</a:t>
              </a:r>
              <a:r>
                <a:rPr sz="1500" spc="-18" dirty="0">
                  <a:latin typeface="Times New Roman"/>
                  <a:cs typeface="Times New Roman"/>
                </a:rPr>
                <a:t> </a:t>
              </a:r>
              <a:r>
                <a:rPr sz="1500" spc="-9" dirty="0">
                  <a:latin typeface="Times New Roman"/>
                  <a:cs typeface="Times New Roman"/>
                </a:rPr>
                <a:t>address</a:t>
              </a:r>
              <a:endParaRPr sz="1500">
                <a:latin typeface="Times New Roman"/>
                <a:cs typeface="Times New Roman"/>
              </a:endParaRPr>
            </a:p>
          </p:txBody>
        </p:sp>
        <p:grpSp>
          <p:nvGrpSpPr>
            <p:cNvPr id="7" name="object 7"/>
            <p:cNvGrpSpPr/>
            <p:nvPr/>
          </p:nvGrpSpPr>
          <p:grpSpPr>
            <a:xfrm>
              <a:off x="5936369" y="4122599"/>
              <a:ext cx="2706221" cy="352425"/>
              <a:chOff x="6575485" y="4672278"/>
              <a:chExt cx="3067050" cy="399415"/>
            </a:xfrm>
          </p:grpSpPr>
          <p:sp>
            <p:nvSpPr>
              <p:cNvPr id="8" name="object 8"/>
              <p:cNvSpPr/>
              <p:nvPr/>
            </p:nvSpPr>
            <p:spPr>
              <a:xfrm>
                <a:off x="6602425" y="4698999"/>
                <a:ext cx="3039745" cy="372110"/>
              </a:xfrm>
              <a:custGeom>
                <a:avLst/>
                <a:gdLst/>
                <a:ahLst/>
                <a:cxnLst/>
                <a:rect l="l" t="t" r="r" b="b"/>
                <a:pathLst>
                  <a:path w="3039745" h="372110">
                    <a:moveTo>
                      <a:pt x="3039707" y="0"/>
                    </a:moveTo>
                    <a:lnTo>
                      <a:pt x="3006026" y="0"/>
                    </a:lnTo>
                    <a:lnTo>
                      <a:pt x="3006026" y="6350"/>
                    </a:lnTo>
                    <a:lnTo>
                      <a:pt x="3006026" y="13970"/>
                    </a:lnTo>
                    <a:lnTo>
                      <a:pt x="3006026" y="339090"/>
                    </a:lnTo>
                    <a:lnTo>
                      <a:pt x="13487" y="339090"/>
                    </a:lnTo>
                    <a:lnTo>
                      <a:pt x="6743" y="339090"/>
                    </a:lnTo>
                    <a:lnTo>
                      <a:pt x="0" y="339090"/>
                    </a:lnTo>
                    <a:lnTo>
                      <a:pt x="0" y="359410"/>
                    </a:lnTo>
                    <a:lnTo>
                      <a:pt x="0" y="372110"/>
                    </a:lnTo>
                    <a:lnTo>
                      <a:pt x="3039707" y="372110"/>
                    </a:lnTo>
                    <a:lnTo>
                      <a:pt x="3039707" y="359410"/>
                    </a:lnTo>
                    <a:lnTo>
                      <a:pt x="3039707" y="13970"/>
                    </a:lnTo>
                    <a:lnTo>
                      <a:pt x="3039707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6582223" y="4679016"/>
                <a:ext cx="3026410" cy="359410"/>
              </a:xfrm>
              <a:custGeom>
                <a:avLst/>
                <a:gdLst/>
                <a:ahLst/>
                <a:cxnLst/>
                <a:rect l="l" t="t" r="r" b="b"/>
                <a:pathLst>
                  <a:path w="3026409" h="359410">
                    <a:moveTo>
                      <a:pt x="0" y="0"/>
                    </a:moveTo>
                    <a:lnTo>
                      <a:pt x="3026229" y="0"/>
                    </a:lnTo>
                    <a:lnTo>
                      <a:pt x="3026229" y="358799"/>
                    </a:lnTo>
                    <a:lnTo>
                      <a:pt x="0" y="358799"/>
                    </a:lnTo>
                    <a:lnTo>
                      <a:pt x="0" y="0"/>
                    </a:lnTo>
                    <a:close/>
                  </a:path>
                </a:pathLst>
              </a:custGeom>
              <a:ln w="1347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grpSp>
          <p:nvGrpSpPr>
            <p:cNvPr id="10" name="object 10"/>
            <p:cNvGrpSpPr/>
            <p:nvPr/>
          </p:nvGrpSpPr>
          <p:grpSpPr>
            <a:xfrm>
              <a:off x="4019805" y="1966270"/>
              <a:ext cx="2674284" cy="2061882"/>
              <a:chOff x="4403379" y="2228439"/>
              <a:chExt cx="3030855" cy="2336800"/>
            </a:xfrm>
          </p:grpSpPr>
          <p:sp>
            <p:nvSpPr>
              <p:cNvPr id="11" name="object 11"/>
              <p:cNvSpPr/>
              <p:nvPr/>
            </p:nvSpPr>
            <p:spPr>
              <a:xfrm>
                <a:off x="4784022" y="3776507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5412346" y="3552468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5412346" y="344128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4784022" y="366532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439657" y="0"/>
                    </a:moveTo>
                    <a:lnTo>
                      <a:pt x="0" y="0"/>
                    </a:lnTo>
                    <a:lnTo>
                      <a:pt x="0" y="111178"/>
                    </a:lnTo>
                    <a:lnTo>
                      <a:pt x="439657" y="111178"/>
                    </a:lnTo>
                    <a:lnTo>
                      <a:pt x="439657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4784022" y="366532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4784022" y="3552468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4784022" y="344128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5412346" y="3776507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5412346" y="366532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439658" y="0"/>
                    </a:moveTo>
                    <a:lnTo>
                      <a:pt x="0" y="0"/>
                    </a:lnTo>
                    <a:lnTo>
                      <a:pt x="0" y="111178"/>
                    </a:lnTo>
                    <a:lnTo>
                      <a:pt x="439658" y="111178"/>
                    </a:lnTo>
                    <a:lnTo>
                      <a:pt x="439658" y="0"/>
                    </a:lnTo>
                    <a:close/>
                  </a:path>
                </a:pathLst>
              </a:custGeom>
              <a:solidFill>
                <a:srgbClr val="618FFD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5412346" y="366532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6040670" y="3776507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6040670" y="366532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439657" y="0"/>
                    </a:moveTo>
                    <a:lnTo>
                      <a:pt x="0" y="0"/>
                    </a:lnTo>
                    <a:lnTo>
                      <a:pt x="0" y="111178"/>
                    </a:lnTo>
                    <a:lnTo>
                      <a:pt x="439657" y="111178"/>
                    </a:lnTo>
                    <a:lnTo>
                      <a:pt x="439657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6040670" y="366532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6040670" y="3552468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6040670" y="344128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6668992" y="3552468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6668992" y="344128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6668992" y="3776507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29" name="object 29"/>
              <p:cNvSpPr/>
              <p:nvPr/>
            </p:nvSpPr>
            <p:spPr>
              <a:xfrm>
                <a:off x="6668992" y="366532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439658" y="0"/>
                    </a:moveTo>
                    <a:lnTo>
                      <a:pt x="0" y="0"/>
                    </a:lnTo>
                    <a:lnTo>
                      <a:pt x="0" y="111178"/>
                    </a:lnTo>
                    <a:lnTo>
                      <a:pt x="439658" y="111178"/>
                    </a:lnTo>
                    <a:lnTo>
                      <a:pt x="439658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6668992" y="366532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4403379" y="2361516"/>
                <a:ext cx="1640839" cy="1400175"/>
              </a:xfrm>
              <a:custGeom>
                <a:avLst/>
                <a:gdLst/>
                <a:ahLst/>
                <a:cxnLst/>
                <a:rect l="l" t="t" r="r" b="b"/>
                <a:pathLst>
                  <a:path w="1640839" h="1400175">
                    <a:moveTo>
                      <a:pt x="220614" y="1318973"/>
                    </a:moveTo>
                    <a:lnTo>
                      <a:pt x="220614" y="1399830"/>
                    </a:lnTo>
                    <a:lnTo>
                      <a:pt x="291361" y="1364456"/>
                    </a:lnTo>
                    <a:lnTo>
                      <a:pt x="234090" y="1364456"/>
                    </a:lnTo>
                    <a:lnTo>
                      <a:pt x="234090" y="1354348"/>
                    </a:lnTo>
                    <a:lnTo>
                      <a:pt x="291363" y="1354348"/>
                    </a:lnTo>
                    <a:lnTo>
                      <a:pt x="220614" y="1318973"/>
                    </a:lnTo>
                    <a:close/>
                  </a:path>
                  <a:path w="1640839" h="1400175">
                    <a:moveTo>
                      <a:pt x="1640659" y="0"/>
                    </a:moveTo>
                    <a:lnTo>
                      <a:pt x="0" y="0"/>
                    </a:lnTo>
                    <a:lnTo>
                      <a:pt x="0" y="1364456"/>
                    </a:lnTo>
                    <a:lnTo>
                      <a:pt x="220614" y="1364456"/>
                    </a:lnTo>
                    <a:lnTo>
                      <a:pt x="220614" y="1359401"/>
                    </a:lnTo>
                    <a:lnTo>
                      <a:pt x="10107" y="1359401"/>
                    </a:lnTo>
                    <a:lnTo>
                      <a:pt x="5053" y="1354348"/>
                    </a:lnTo>
                    <a:lnTo>
                      <a:pt x="10107" y="1354348"/>
                    </a:lnTo>
                    <a:lnTo>
                      <a:pt x="10107" y="10106"/>
                    </a:lnTo>
                    <a:lnTo>
                      <a:pt x="5053" y="10106"/>
                    </a:lnTo>
                    <a:lnTo>
                      <a:pt x="10107" y="5053"/>
                    </a:lnTo>
                    <a:lnTo>
                      <a:pt x="1640659" y="5053"/>
                    </a:lnTo>
                    <a:lnTo>
                      <a:pt x="1640659" y="0"/>
                    </a:lnTo>
                    <a:close/>
                  </a:path>
                  <a:path w="1640839" h="1400175">
                    <a:moveTo>
                      <a:pt x="291363" y="1354348"/>
                    </a:moveTo>
                    <a:lnTo>
                      <a:pt x="234090" y="1354348"/>
                    </a:lnTo>
                    <a:lnTo>
                      <a:pt x="234090" y="1364456"/>
                    </a:lnTo>
                    <a:lnTo>
                      <a:pt x="291361" y="1364456"/>
                    </a:lnTo>
                    <a:lnTo>
                      <a:pt x="301470" y="1359401"/>
                    </a:lnTo>
                    <a:lnTo>
                      <a:pt x="291363" y="1354348"/>
                    </a:lnTo>
                    <a:close/>
                  </a:path>
                  <a:path w="1640839" h="1400175">
                    <a:moveTo>
                      <a:pt x="10107" y="1354348"/>
                    </a:moveTo>
                    <a:lnTo>
                      <a:pt x="5053" y="1354348"/>
                    </a:lnTo>
                    <a:lnTo>
                      <a:pt x="10107" y="1359401"/>
                    </a:lnTo>
                    <a:lnTo>
                      <a:pt x="10107" y="1354348"/>
                    </a:lnTo>
                    <a:close/>
                  </a:path>
                  <a:path w="1640839" h="1400175">
                    <a:moveTo>
                      <a:pt x="220614" y="1354348"/>
                    </a:moveTo>
                    <a:lnTo>
                      <a:pt x="10107" y="1354348"/>
                    </a:lnTo>
                    <a:lnTo>
                      <a:pt x="10107" y="1359401"/>
                    </a:lnTo>
                    <a:lnTo>
                      <a:pt x="220614" y="1359401"/>
                    </a:lnTo>
                    <a:lnTo>
                      <a:pt x="220614" y="1354348"/>
                    </a:lnTo>
                    <a:close/>
                  </a:path>
                  <a:path w="1640839" h="1400175">
                    <a:moveTo>
                      <a:pt x="10107" y="5053"/>
                    </a:moveTo>
                    <a:lnTo>
                      <a:pt x="5053" y="10106"/>
                    </a:lnTo>
                    <a:lnTo>
                      <a:pt x="10107" y="10106"/>
                    </a:lnTo>
                    <a:lnTo>
                      <a:pt x="10107" y="5053"/>
                    </a:lnTo>
                    <a:close/>
                  </a:path>
                  <a:path w="1640839" h="1400175">
                    <a:moveTo>
                      <a:pt x="1640659" y="5053"/>
                    </a:moveTo>
                    <a:lnTo>
                      <a:pt x="10107" y="5053"/>
                    </a:lnTo>
                    <a:lnTo>
                      <a:pt x="10107" y="10106"/>
                    </a:lnTo>
                    <a:lnTo>
                      <a:pt x="1640659" y="10106"/>
                    </a:lnTo>
                    <a:lnTo>
                      <a:pt x="1640659" y="505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5026592" y="2233493"/>
                <a:ext cx="89535" cy="210820"/>
              </a:xfrm>
              <a:custGeom>
                <a:avLst/>
                <a:gdLst/>
                <a:ahLst/>
                <a:cxnLst/>
                <a:rect l="l" t="t" r="r" b="b"/>
                <a:pathLst>
                  <a:path w="89535" h="210819">
                    <a:moveTo>
                      <a:pt x="89278" y="0"/>
                    </a:moveTo>
                    <a:lnTo>
                      <a:pt x="0" y="210564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7145710" y="3670383"/>
                <a:ext cx="288290" cy="81280"/>
              </a:xfrm>
              <a:custGeom>
                <a:avLst/>
                <a:gdLst/>
                <a:ahLst/>
                <a:cxnLst/>
                <a:rect l="l" t="t" r="r" b="b"/>
                <a:pathLst>
                  <a:path w="288290" h="81279">
                    <a:moveTo>
                      <a:pt x="207195" y="0"/>
                    </a:moveTo>
                    <a:lnTo>
                      <a:pt x="207194" y="80857"/>
                    </a:lnTo>
                    <a:lnTo>
                      <a:pt x="277944" y="45482"/>
                    </a:lnTo>
                    <a:lnTo>
                      <a:pt x="220671" y="45482"/>
                    </a:lnTo>
                    <a:lnTo>
                      <a:pt x="220671" y="35375"/>
                    </a:lnTo>
                    <a:lnTo>
                      <a:pt x="277944" y="35375"/>
                    </a:lnTo>
                    <a:lnTo>
                      <a:pt x="207195" y="0"/>
                    </a:lnTo>
                    <a:close/>
                  </a:path>
                  <a:path w="288290" h="81279">
                    <a:moveTo>
                      <a:pt x="207194" y="35375"/>
                    </a:moveTo>
                    <a:lnTo>
                      <a:pt x="0" y="35375"/>
                    </a:lnTo>
                    <a:lnTo>
                      <a:pt x="0" y="45482"/>
                    </a:lnTo>
                    <a:lnTo>
                      <a:pt x="207194" y="45482"/>
                    </a:lnTo>
                    <a:lnTo>
                      <a:pt x="207194" y="35375"/>
                    </a:lnTo>
                    <a:close/>
                  </a:path>
                  <a:path w="288290" h="81279">
                    <a:moveTo>
                      <a:pt x="277944" y="35375"/>
                    </a:moveTo>
                    <a:lnTo>
                      <a:pt x="220671" y="35375"/>
                    </a:lnTo>
                    <a:lnTo>
                      <a:pt x="220671" y="45482"/>
                    </a:lnTo>
                    <a:lnTo>
                      <a:pt x="277944" y="45482"/>
                    </a:lnTo>
                    <a:lnTo>
                      <a:pt x="288051" y="40429"/>
                    </a:lnTo>
                    <a:lnTo>
                      <a:pt x="277944" y="3537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5412346" y="3997178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5412346" y="3886001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4784022" y="3997178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4784022" y="3886001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6040670" y="3997178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6040670" y="3886001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6668992" y="3997178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6668992" y="3886001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5412346" y="4219535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5412346" y="4108357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4784022" y="4219535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4784022" y="4108357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6" name="object 46"/>
              <p:cNvSpPr/>
              <p:nvPr/>
            </p:nvSpPr>
            <p:spPr>
              <a:xfrm>
                <a:off x="6040670" y="4219535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7" name="object 47"/>
              <p:cNvSpPr/>
              <p:nvPr/>
            </p:nvSpPr>
            <p:spPr>
              <a:xfrm>
                <a:off x="6040670" y="4108357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8" name="object 48"/>
              <p:cNvSpPr/>
              <p:nvPr/>
            </p:nvSpPr>
            <p:spPr>
              <a:xfrm>
                <a:off x="6668992" y="4219535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6668992" y="4108357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0" name="object 50"/>
              <p:cNvSpPr/>
              <p:nvPr/>
            </p:nvSpPr>
            <p:spPr>
              <a:xfrm>
                <a:off x="5412346" y="3326743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1" name="object 51"/>
              <p:cNvSpPr/>
              <p:nvPr/>
            </p:nvSpPr>
            <p:spPr>
              <a:xfrm>
                <a:off x="5412346" y="3215565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2" name="object 52"/>
              <p:cNvSpPr/>
              <p:nvPr/>
            </p:nvSpPr>
            <p:spPr>
              <a:xfrm>
                <a:off x="4784022" y="3326743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4784022" y="3215565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4" name="object 54"/>
              <p:cNvSpPr/>
              <p:nvPr/>
            </p:nvSpPr>
            <p:spPr>
              <a:xfrm>
                <a:off x="6040670" y="3326743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6040670" y="3215565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6" name="object 56"/>
              <p:cNvSpPr/>
              <p:nvPr/>
            </p:nvSpPr>
            <p:spPr>
              <a:xfrm>
                <a:off x="6668992" y="3326743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7" name="object 57"/>
              <p:cNvSpPr/>
              <p:nvPr/>
            </p:nvSpPr>
            <p:spPr>
              <a:xfrm>
                <a:off x="6668992" y="3215565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8" name="object 58"/>
              <p:cNvSpPr/>
              <p:nvPr/>
            </p:nvSpPr>
            <p:spPr>
              <a:xfrm>
                <a:off x="5412346" y="3101017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3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59" name="object 59"/>
              <p:cNvSpPr/>
              <p:nvPr/>
            </p:nvSpPr>
            <p:spPr>
              <a:xfrm>
                <a:off x="5412346" y="2989840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0" name="object 60"/>
              <p:cNvSpPr/>
              <p:nvPr/>
            </p:nvSpPr>
            <p:spPr>
              <a:xfrm>
                <a:off x="4784022" y="3101017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3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1" name="object 61"/>
              <p:cNvSpPr/>
              <p:nvPr/>
            </p:nvSpPr>
            <p:spPr>
              <a:xfrm>
                <a:off x="4784022" y="2989840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6040670" y="3101017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3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3" name="object 63"/>
              <p:cNvSpPr/>
              <p:nvPr/>
            </p:nvSpPr>
            <p:spPr>
              <a:xfrm>
                <a:off x="6040670" y="2989840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4" name="object 64"/>
              <p:cNvSpPr/>
              <p:nvPr/>
            </p:nvSpPr>
            <p:spPr>
              <a:xfrm>
                <a:off x="6668992" y="3101017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3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5" name="object 65"/>
              <p:cNvSpPr/>
              <p:nvPr/>
            </p:nvSpPr>
            <p:spPr>
              <a:xfrm>
                <a:off x="6668992" y="2989840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6" name="object 66"/>
              <p:cNvSpPr/>
              <p:nvPr/>
            </p:nvSpPr>
            <p:spPr>
              <a:xfrm>
                <a:off x="5412346" y="2875292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3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7" name="object 67"/>
              <p:cNvSpPr/>
              <p:nvPr/>
            </p:nvSpPr>
            <p:spPr>
              <a:xfrm>
                <a:off x="5412346" y="2764115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114FFB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8" name="object 68"/>
              <p:cNvSpPr/>
              <p:nvPr/>
            </p:nvSpPr>
            <p:spPr>
              <a:xfrm>
                <a:off x="4784022" y="2875292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3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9" name="object 69"/>
              <p:cNvSpPr/>
              <p:nvPr/>
            </p:nvSpPr>
            <p:spPr>
              <a:xfrm>
                <a:off x="4784022" y="2764115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114FFB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0" name="object 70"/>
              <p:cNvSpPr/>
              <p:nvPr/>
            </p:nvSpPr>
            <p:spPr>
              <a:xfrm>
                <a:off x="6040670" y="2875292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3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1" name="object 71"/>
              <p:cNvSpPr/>
              <p:nvPr/>
            </p:nvSpPr>
            <p:spPr>
              <a:xfrm>
                <a:off x="6040670" y="2764115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114FFB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2" name="object 72"/>
              <p:cNvSpPr/>
              <p:nvPr/>
            </p:nvSpPr>
            <p:spPr>
              <a:xfrm>
                <a:off x="6668992" y="2875292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3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1"/>
                    </a:lnTo>
                    <a:lnTo>
                      <a:pt x="0" y="112861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3" name="object 73"/>
              <p:cNvSpPr/>
              <p:nvPr/>
            </p:nvSpPr>
            <p:spPr>
              <a:xfrm>
                <a:off x="6668992" y="2764115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114FFB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4" name="object 74"/>
              <p:cNvSpPr/>
              <p:nvPr/>
            </p:nvSpPr>
            <p:spPr>
              <a:xfrm>
                <a:off x="5412346" y="4446944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2"/>
                    </a:lnTo>
                    <a:lnTo>
                      <a:pt x="0" y="112862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5" name="object 75"/>
              <p:cNvSpPr/>
              <p:nvPr/>
            </p:nvSpPr>
            <p:spPr>
              <a:xfrm>
                <a:off x="5412346" y="4335765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6" name="object 76"/>
              <p:cNvSpPr/>
              <p:nvPr/>
            </p:nvSpPr>
            <p:spPr>
              <a:xfrm>
                <a:off x="4784022" y="4446944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2"/>
                    </a:lnTo>
                    <a:lnTo>
                      <a:pt x="0" y="112862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7" name="object 77"/>
              <p:cNvSpPr/>
              <p:nvPr/>
            </p:nvSpPr>
            <p:spPr>
              <a:xfrm>
                <a:off x="4784022" y="4335765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8" name="object 78"/>
              <p:cNvSpPr/>
              <p:nvPr/>
            </p:nvSpPr>
            <p:spPr>
              <a:xfrm>
                <a:off x="6040670" y="4446944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2862"/>
                    </a:lnTo>
                    <a:lnTo>
                      <a:pt x="0" y="112862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9" name="object 79"/>
              <p:cNvSpPr/>
              <p:nvPr/>
            </p:nvSpPr>
            <p:spPr>
              <a:xfrm>
                <a:off x="6040670" y="4335765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0" name="object 80"/>
              <p:cNvSpPr/>
              <p:nvPr/>
            </p:nvSpPr>
            <p:spPr>
              <a:xfrm>
                <a:off x="6668992" y="4446944"/>
                <a:ext cx="440055" cy="11303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3029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2862"/>
                    </a:lnTo>
                    <a:lnTo>
                      <a:pt x="0" y="112862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1" name="object 81"/>
              <p:cNvSpPr/>
              <p:nvPr/>
            </p:nvSpPr>
            <p:spPr>
              <a:xfrm>
                <a:off x="6668992" y="4335765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8" y="0"/>
                    </a:lnTo>
                    <a:lnTo>
                      <a:pt x="439658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2" name="object 82"/>
              <p:cNvSpPr/>
              <p:nvPr/>
            </p:nvSpPr>
            <p:spPr>
              <a:xfrm>
                <a:off x="4497655" y="2678203"/>
                <a:ext cx="2924810" cy="281940"/>
              </a:xfrm>
              <a:custGeom>
                <a:avLst/>
                <a:gdLst/>
                <a:ahLst/>
                <a:cxnLst/>
                <a:rect l="l" t="t" r="r" b="b"/>
                <a:pathLst>
                  <a:path w="2924809" h="281939">
                    <a:moveTo>
                      <a:pt x="0" y="140657"/>
                    </a:moveTo>
                    <a:lnTo>
                      <a:pt x="33724" y="110482"/>
                    </a:lnTo>
                    <a:lnTo>
                      <a:pt x="74541" y="96198"/>
                    </a:lnTo>
                    <a:lnTo>
                      <a:pt x="130140" y="82563"/>
                    </a:lnTo>
                    <a:lnTo>
                      <a:pt x="199627" y="69664"/>
                    </a:lnTo>
                    <a:lnTo>
                      <a:pt x="239300" y="63517"/>
                    </a:lnTo>
                    <a:lnTo>
                      <a:pt x="282111" y="57586"/>
                    </a:lnTo>
                    <a:lnTo>
                      <a:pt x="327948" y="51882"/>
                    </a:lnTo>
                    <a:lnTo>
                      <a:pt x="376700" y="46415"/>
                    </a:lnTo>
                    <a:lnTo>
                      <a:pt x="428256" y="41197"/>
                    </a:lnTo>
                    <a:lnTo>
                      <a:pt x="482503" y="36237"/>
                    </a:lnTo>
                    <a:lnTo>
                      <a:pt x="539330" y="31548"/>
                    </a:lnTo>
                    <a:lnTo>
                      <a:pt x="598626" y="27138"/>
                    </a:lnTo>
                    <a:lnTo>
                      <a:pt x="660279" y="23020"/>
                    </a:lnTo>
                    <a:lnTo>
                      <a:pt x="724178" y="19203"/>
                    </a:lnTo>
                    <a:lnTo>
                      <a:pt x="790212" y="15699"/>
                    </a:lnTo>
                    <a:lnTo>
                      <a:pt x="858268" y="12519"/>
                    </a:lnTo>
                    <a:lnTo>
                      <a:pt x="928235" y="9672"/>
                    </a:lnTo>
                    <a:lnTo>
                      <a:pt x="1000002" y="7170"/>
                    </a:lnTo>
                    <a:lnTo>
                      <a:pt x="1073458" y="5024"/>
                    </a:lnTo>
                    <a:lnTo>
                      <a:pt x="1148490" y="3244"/>
                    </a:lnTo>
                    <a:lnTo>
                      <a:pt x="1224988" y="1840"/>
                    </a:lnTo>
                    <a:lnTo>
                      <a:pt x="1302839" y="825"/>
                    </a:lnTo>
                    <a:lnTo>
                      <a:pt x="1381933" y="208"/>
                    </a:lnTo>
                    <a:lnTo>
                      <a:pt x="1462157" y="0"/>
                    </a:lnTo>
                    <a:lnTo>
                      <a:pt x="1542382" y="208"/>
                    </a:lnTo>
                    <a:lnTo>
                      <a:pt x="1621476" y="825"/>
                    </a:lnTo>
                    <a:lnTo>
                      <a:pt x="1699327" y="1840"/>
                    </a:lnTo>
                    <a:lnTo>
                      <a:pt x="1775825" y="3244"/>
                    </a:lnTo>
                    <a:lnTo>
                      <a:pt x="1850857" y="5024"/>
                    </a:lnTo>
                    <a:lnTo>
                      <a:pt x="1924312" y="7170"/>
                    </a:lnTo>
                    <a:lnTo>
                      <a:pt x="1996080" y="9672"/>
                    </a:lnTo>
                    <a:lnTo>
                      <a:pt x="2066047" y="12519"/>
                    </a:lnTo>
                    <a:lnTo>
                      <a:pt x="2134103" y="15699"/>
                    </a:lnTo>
                    <a:lnTo>
                      <a:pt x="2200137" y="19203"/>
                    </a:lnTo>
                    <a:lnTo>
                      <a:pt x="2264036" y="23020"/>
                    </a:lnTo>
                    <a:lnTo>
                      <a:pt x="2325689" y="27138"/>
                    </a:lnTo>
                    <a:lnTo>
                      <a:pt x="2384985" y="31548"/>
                    </a:lnTo>
                    <a:lnTo>
                      <a:pt x="2441812" y="36237"/>
                    </a:lnTo>
                    <a:lnTo>
                      <a:pt x="2496059" y="41197"/>
                    </a:lnTo>
                    <a:lnTo>
                      <a:pt x="2547615" y="46415"/>
                    </a:lnTo>
                    <a:lnTo>
                      <a:pt x="2596366" y="51882"/>
                    </a:lnTo>
                    <a:lnTo>
                      <a:pt x="2642204" y="57586"/>
                    </a:lnTo>
                    <a:lnTo>
                      <a:pt x="2685015" y="63517"/>
                    </a:lnTo>
                    <a:lnTo>
                      <a:pt x="2724688" y="69664"/>
                    </a:lnTo>
                    <a:lnTo>
                      <a:pt x="2794175" y="82563"/>
                    </a:lnTo>
                    <a:lnTo>
                      <a:pt x="2849774" y="96198"/>
                    </a:lnTo>
                    <a:lnTo>
                      <a:pt x="2890591" y="110482"/>
                    </a:lnTo>
                    <a:lnTo>
                      <a:pt x="2922152" y="132939"/>
                    </a:lnTo>
                    <a:lnTo>
                      <a:pt x="2924315" y="140657"/>
                    </a:lnTo>
                    <a:lnTo>
                      <a:pt x="2922152" y="148374"/>
                    </a:lnTo>
                    <a:lnTo>
                      <a:pt x="2890591" y="170831"/>
                    </a:lnTo>
                    <a:lnTo>
                      <a:pt x="2849774" y="185115"/>
                    </a:lnTo>
                    <a:lnTo>
                      <a:pt x="2794175" y="198750"/>
                    </a:lnTo>
                    <a:lnTo>
                      <a:pt x="2724688" y="211649"/>
                    </a:lnTo>
                    <a:lnTo>
                      <a:pt x="2685015" y="217796"/>
                    </a:lnTo>
                    <a:lnTo>
                      <a:pt x="2642204" y="223727"/>
                    </a:lnTo>
                    <a:lnTo>
                      <a:pt x="2596366" y="229431"/>
                    </a:lnTo>
                    <a:lnTo>
                      <a:pt x="2547615" y="234898"/>
                    </a:lnTo>
                    <a:lnTo>
                      <a:pt x="2496059" y="240116"/>
                    </a:lnTo>
                    <a:lnTo>
                      <a:pt x="2441812" y="245076"/>
                    </a:lnTo>
                    <a:lnTo>
                      <a:pt x="2384985" y="249766"/>
                    </a:lnTo>
                    <a:lnTo>
                      <a:pt x="2325689" y="254175"/>
                    </a:lnTo>
                    <a:lnTo>
                      <a:pt x="2264036" y="258293"/>
                    </a:lnTo>
                    <a:lnTo>
                      <a:pt x="2200137" y="262110"/>
                    </a:lnTo>
                    <a:lnTo>
                      <a:pt x="2134103" y="265614"/>
                    </a:lnTo>
                    <a:lnTo>
                      <a:pt x="2066047" y="268795"/>
                    </a:lnTo>
                    <a:lnTo>
                      <a:pt x="1996080" y="271641"/>
                    </a:lnTo>
                    <a:lnTo>
                      <a:pt x="1924312" y="274143"/>
                    </a:lnTo>
                    <a:lnTo>
                      <a:pt x="1850857" y="276289"/>
                    </a:lnTo>
                    <a:lnTo>
                      <a:pt x="1775825" y="278070"/>
                    </a:lnTo>
                    <a:lnTo>
                      <a:pt x="1699327" y="279473"/>
                    </a:lnTo>
                    <a:lnTo>
                      <a:pt x="1621476" y="280488"/>
                    </a:lnTo>
                    <a:lnTo>
                      <a:pt x="1542382" y="281106"/>
                    </a:lnTo>
                    <a:lnTo>
                      <a:pt x="1462157" y="281314"/>
                    </a:lnTo>
                    <a:lnTo>
                      <a:pt x="1381933" y="281106"/>
                    </a:lnTo>
                    <a:lnTo>
                      <a:pt x="1302839" y="280488"/>
                    </a:lnTo>
                    <a:lnTo>
                      <a:pt x="1224988" y="279473"/>
                    </a:lnTo>
                    <a:lnTo>
                      <a:pt x="1148490" y="278070"/>
                    </a:lnTo>
                    <a:lnTo>
                      <a:pt x="1073458" y="276289"/>
                    </a:lnTo>
                    <a:lnTo>
                      <a:pt x="1000002" y="274143"/>
                    </a:lnTo>
                    <a:lnTo>
                      <a:pt x="928235" y="271641"/>
                    </a:lnTo>
                    <a:lnTo>
                      <a:pt x="858268" y="268795"/>
                    </a:lnTo>
                    <a:lnTo>
                      <a:pt x="790212" y="265614"/>
                    </a:lnTo>
                    <a:lnTo>
                      <a:pt x="724178" y="262110"/>
                    </a:lnTo>
                    <a:lnTo>
                      <a:pt x="660279" y="258293"/>
                    </a:lnTo>
                    <a:lnTo>
                      <a:pt x="598626" y="254175"/>
                    </a:lnTo>
                    <a:lnTo>
                      <a:pt x="539330" y="249766"/>
                    </a:lnTo>
                    <a:lnTo>
                      <a:pt x="482503" y="245076"/>
                    </a:lnTo>
                    <a:lnTo>
                      <a:pt x="428256" y="240116"/>
                    </a:lnTo>
                    <a:lnTo>
                      <a:pt x="376700" y="234898"/>
                    </a:lnTo>
                    <a:lnTo>
                      <a:pt x="327948" y="229431"/>
                    </a:lnTo>
                    <a:lnTo>
                      <a:pt x="282111" y="223727"/>
                    </a:lnTo>
                    <a:lnTo>
                      <a:pt x="239300" y="217796"/>
                    </a:lnTo>
                    <a:lnTo>
                      <a:pt x="199627" y="211649"/>
                    </a:lnTo>
                    <a:lnTo>
                      <a:pt x="130140" y="198750"/>
                    </a:lnTo>
                    <a:lnTo>
                      <a:pt x="74541" y="185115"/>
                    </a:lnTo>
                    <a:lnTo>
                      <a:pt x="33724" y="170831"/>
                    </a:lnTo>
                    <a:lnTo>
                      <a:pt x="2163" y="148374"/>
                    </a:lnTo>
                    <a:lnTo>
                      <a:pt x="0" y="140657"/>
                    </a:lnTo>
                    <a:close/>
                  </a:path>
                </a:pathLst>
              </a:custGeom>
              <a:ln w="13476">
                <a:solidFill>
                  <a:srgbClr val="114FFB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grpSp>
          <p:nvGrpSpPr>
            <p:cNvPr id="83" name="object 83"/>
            <p:cNvGrpSpPr/>
            <p:nvPr/>
          </p:nvGrpSpPr>
          <p:grpSpPr>
            <a:xfrm>
              <a:off x="6735291" y="3229655"/>
              <a:ext cx="397249" cy="107016"/>
              <a:chOff x="7480929" y="3660275"/>
              <a:chExt cx="450215" cy="121285"/>
            </a:xfrm>
          </p:grpSpPr>
          <p:sp>
            <p:nvSpPr>
              <p:cNvPr id="84" name="object 84"/>
              <p:cNvSpPr/>
              <p:nvPr/>
            </p:nvSpPr>
            <p:spPr>
              <a:xfrm>
                <a:off x="7485982" y="366532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439657" y="0"/>
                    </a:moveTo>
                    <a:lnTo>
                      <a:pt x="0" y="0"/>
                    </a:lnTo>
                    <a:lnTo>
                      <a:pt x="0" y="111178"/>
                    </a:lnTo>
                    <a:lnTo>
                      <a:pt x="439657" y="111178"/>
                    </a:lnTo>
                    <a:lnTo>
                      <a:pt x="439657" y="0"/>
                    </a:lnTo>
                    <a:close/>
                  </a:path>
                </a:pathLst>
              </a:custGeom>
              <a:solidFill>
                <a:srgbClr val="618FFD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5" name="object 85"/>
              <p:cNvSpPr/>
              <p:nvPr/>
            </p:nvSpPr>
            <p:spPr>
              <a:xfrm>
                <a:off x="7485982" y="3665329"/>
                <a:ext cx="440055" cy="111760"/>
              </a:xfrm>
              <a:custGeom>
                <a:avLst/>
                <a:gdLst/>
                <a:ahLst/>
                <a:cxnLst/>
                <a:rect l="l" t="t" r="r" b="b"/>
                <a:pathLst>
                  <a:path w="440054" h="111760">
                    <a:moveTo>
                      <a:pt x="0" y="0"/>
                    </a:moveTo>
                    <a:lnTo>
                      <a:pt x="439657" y="0"/>
                    </a:lnTo>
                    <a:lnTo>
                      <a:pt x="439657" y="111177"/>
                    </a:lnTo>
                    <a:lnTo>
                      <a:pt x="0" y="111177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86" name="object 86"/>
            <p:cNvSpPr txBox="1"/>
            <p:nvPr/>
          </p:nvSpPr>
          <p:spPr>
            <a:xfrm>
              <a:off x="7245194" y="3121062"/>
              <a:ext cx="996203" cy="296458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853" spc="-9" dirty="0">
                  <a:latin typeface="Times New Roman"/>
                  <a:cs typeface="Times New Roman"/>
                </a:rPr>
                <a:t>Prediction</a:t>
              </a:r>
              <a:endParaRPr sz="1853">
                <a:latin typeface="Times New Roman"/>
                <a:cs typeface="Times New Roman"/>
              </a:endParaRPr>
            </a:p>
          </p:txBody>
        </p:sp>
        <p:grpSp>
          <p:nvGrpSpPr>
            <p:cNvPr id="87" name="object 87"/>
            <p:cNvGrpSpPr/>
            <p:nvPr/>
          </p:nvGrpSpPr>
          <p:grpSpPr>
            <a:xfrm>
              <a:off x="4617262" y="4273063"/>
              <a:ext cx="1144681" cy="807384"/>
              <a:chOff x="5080496" y="4842804"/>
              <a:chExt cx="1297305" cy="915035"/>
            </a:xfrm>
          </p:grpSpPr>
          <p:sp>
            <p:nvSpPr>
              <p:cNvPr id="88" name="object 88"/>
              <p:cNvSpPr/>
              <p:nvPr/>
            </p:nvSpPr>
            <p:spPr>
              <a:xfrm>
                <a:off x="5680185" y="4842804"/>
                <a:ext cx="81280" cy="544195"/>
              </a:xfrm>
              <a:custGeom>
                <a:avLst/>
                <a:gdLst/>
                <a:ahLst/>
                <a:cxnLst/>
                <a:rect l="l" t="t" r="r" b="b"/>
                <a:pathLst>
                  <a:path w="81279" h="544195">
                    <a:moveTo>
                      <a:pt x="45481" y="67381"/>
                    </a:moveTo>
                    <a:lnTo>
                      <a:pt x="35374" y="67381"/>
                    </a:lnTo>
                    <a:lnTo>
                      <a:pt x="35373" y="544098"/>
                    </a:lnTo>
                    <a:lnTo>
                      <a:pt x="45479" y="544098"/>
                    </a:lnTo>
                    <a:lnTo>
                      <a:pt x="45481" y="67381"/>
                    </a:lnTo>
                    <a:close/>
                  </a:path>
                  <a:path w="81279" h="544195">
                    <a:moveTo>
                      <a:pt x="40427" y="0"/>
                    </a:moveTo>
                    <a:lnTo>
                      <a:pt x="0" y="80857"/>
                    </a:lnTo>
                    <a:lnTo>
                      <a:pt x="35374" y="80857"/>
                    </a:lnTo>
                    <a:lnTo>
                      <a:pt x="35374" y="67381"/>
                    </a:lnTo>
                    <a:lnTo>
                      <a:pt x="74117" y="67381"/>
                    </a:lnTo>
                    <a:lnTo>
                      <a:pt x="40427" y="0"/>
                    </a:lnTo>
                    <a:close/>
                  </a:path>
                  <a:path w="81279" h="544195">
                    <a:moveTo>
                      <a:pt x="74117" y="67381"/>
                    </a:moveTo>
                    <a:lnTo>
                      <a:pt x="45481" y="67381"/>
                    </a:lnTo>
                    <a:lnTo>
                      <a:pt x="45481" y="80857"/>
                    </a:lnTo>
                    <a:lnTo>
                      <a:pt x="80855" y="80857"/>
                    </a:lnTo>
                    <a:lnTo>
                      <a:pt x="74117" y="6738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9" name="object 89"/>
              <p:cNvSpPr/>
              <p:nvPr/>
            </p:nvSpPr>
            <p:spPr>
              <a:xfrm>
                <a:off x="5732402" y="5395325"/>
                <a:ext cx="633730" cy="195580"/>
              </a:xfrm>
              <a:custGeom>
                <a:avLst/>
                <a:gdLst/>
                <a:ahLst/>
                <a:cxnLst/>
                <a:rect l="l" t="t" r="r" b="b"/>
                <a:pathLst>
                  <a:path w="633729" h="195579">
                    <a:moveTo>
                      <a:pt x="0" y="0"/>
                    </a:moveTo>
                    <a:lnTo>
                      <a:pt x="633377" y="195403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90" name="object 90"/>
              <p:cNvSpPr/>
              <p:nvPr/>
            </p:nvSpPr>
            <p:spPr>
              <a:xfrm>
                <a:off x="5085550" y="5381849"/>
                <a:ext cx="640715" cy="208915"/>
              </a:xfrm>
              <a:custGeom>
                <a:avLst/>
                <a:gdLst/>
                <a:ahLst/>
                <a:cxnLst/>
                <a:rect l="l" t="t" r="r" b="b"/>
                <a:pathLst>
                  <a:path w="640714" h="208914">
                    <a:moveTo>
                      <a:pt x="0" y="208879"/>
                    </a:moveTo>
                    <a:lnTo>
                      <a:pt x="640115" y="0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91" name="object 91"/>
              <p:cNvSpPr/>
              <p:nvPr/>
            </p:nvSpPr>
            <p:spPr>
              <a:xfrm>
                <a:off x="5085550" y="5597467"/>
                <a:ext cx="128714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87145" h="155575">
                    <a:moveTo>
                      <a:pt x="0" y="0"/>
                    </a:moveTo>
                    <a:lnTo>
                      <a:pt x="1286968" y="0"/>
                    </a:lnTo>
                    <a:lnTo>
                      <a:pt x="1286968" y="154975"/>
                    </a:lnTo>
                    <a:lnTo>
                      <a:pt x="0" y="154975"/>
                    </a:lnTo>
                    <a:lnTo>
                      <a:pt x="0" y="0"/>
                    </a:lnTo>
                    <a:close/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92" name="object 92"/>
              <p:cNvSpPr/>
              <p:nvPr/>
            </p:nvSpPr>
            <p:spPr>
              <a:xfrm>
                <a:off x="5729034" y="5604205"/>
                <a:ext cx="0" cy="141605"/>
              </a:xfrm>
              <a:custGeom>
                <a:avLst/>
                <a:gdLst/>
                <a:ahLst/>
                <a:cxnLst/>
                <a:rect l="l" t="t" r="r" b="b"/>
                <a:pathLst>
                  <a:path h="141604">
                    <a:moveTo>
                      <a:pt x="0" y="0"/>
                    </a:moveTo>
                    <a:lnTo>
                      <a:pt x="1" y="141499"/>
                    </a:lnTo>
                  </a:path>
                </a:pathLst>
              </a:custGeom>
              <a:ln w="10107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grpSp>
          <p:nvGrpSpPr>
            <p:cNvPr id="97" name="object 97"/>
            <p:cNvGrpSpPr/>
            <p:nvPr/>
          </p:nvGrpSpPr>
          <p:grpSpPr>
            <a:xfrm>
              <a:off x="4419579" y="5242153"/>
              <a:ext cx="1768849" cy="282388"/>
              <a:chOff x="4856456" y="5941107"/>
              <a:chExt cx="2004695" cy="320040"/>
            </a:xfrm>
          </p:grpSpPr>
          <p:sp>
            <p:nvSpPr>
              <p:cNvPr id="98" name="object 98"/>
              <p:cNvSpPr/>
              <p:nvPr/>
            </p:nvSpPr>
            <p:spPr>
              <a:xfrm>
                <a:off x="4883404" y="5967729"/>
                <a:ext cx="1978025" cy="293370"/>
              </a:xfrm>
              <a:custGeom>
                <a:avLst/>
                <a:gdLst/>
                <a:ahLst/>
                <a:cxnLst/>
                <a:rect l="l" t="t" r="r" b="b"/>
                <a:pathLst>
                  <a:path w="1978025" h="293370">
                    <a:moveTo>
                      <a:pt x="1977618" y="0"/>
                    </a:moveTo>
                    <a:lnTo>
                      <a:pt x="1943925" y="0"/>
                    </a:lnTo>
                    <a:lnTo>
                      <a:pt x="1943925" y="7620"/>
                    </a:lnTo>
                    <a:lnTo>
                      <a:pt x="1943925" y="13970"/>
                    </a:lnTo>
                    <a:lnTo>
                      <a:pt x="1943925" y="260350"/>
                    </a:lnTo>
                    <a:lnTo>
                      <a:pt x="1862670" y="260350"/>
                    </a:lnTo>
                    <a:lnTo>
                      <a:pt x="1863331" y="259753"/>
                    </a:lnTo>
                    <a:lnTo>
                      <a:pt x="1829701" y="259753"/>
                    </a:lnTo>
                    <a:lnTo>
                      <a:pt x="1829993" y="260350"/>
                    </a:lnTo>
                    <a:lnTo>
                      <a:pt x="13474" y="260350"/>
                    </a:lnTo>
                    <a:lnTo>
                      <a:pt x="6731" y="260350"/>
                    </a:lnTo>
                    <a:lnTo>
                      <a:pt x="0" y="260350"/>
                    </a:lnTo>
                    <a:lnTo>
                      <a:pt x="0" y="279400"/>
                    </a:lnTo>
                    <a:lnTo>
                      <a:pt x="0" y="293370"/>
                    </a:lnTo>
                    <a:lnTo>
                      <a:pt x="1977618" y="293370"/>
                    </a:lnTo>
                    <a:lnTo>
                      <a:pt x="1977618" y="279400"/>
                    </a:lnTo>
                    <a:lnTo>
                      <a:pt x="1977618" y="13970"/>
                    </a:lnTo>
                    <a:lnTo>
                      <a:pt x="1977618" y="0"/>
                    </a:lnTo>
                    <a:close/>
                  </a:path>
                </a:pathLst>
              </a:custGeom>
              <a:solidFill>
                <a:srgbClr val="919191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99" name="object 99"/>
              <p:cNvSpPr/>
              <p:nvPr/>
            </p:nvSpPr>
            <p:spPr>
              <a:xfrm>
                <a:off x="4863194" y="5947845"/>
                <a:ext cx="1964689" cy="280035"/>
              </a:xfrm>
              <a:custGeom>
                <a:avLst/>
                <a:gdLst/>
                <a:ahLst/>
                <a:cxnLst/>
                <a:rect l="l" t="t" r="r" b="b"/>
                <a:pathLst>
                  <a:path w="1964690" h="280035">
                    <a:moveTo>
                      <a:pt x="0" y="0"/>
                    </a:moveTo>
                    <a:lnTo>
                      <a:pt x="1964143" y="0"/>
                    </a:lnTo>
                    <a:lnTo>
                      <a:pt x="1964143" y="279629"/>
                    </a:lnTo>
                    <a:lnTo>
                      <a:pt x="0" y="279629"/>
                    </a:lnTo>
                    <a:lnTo>
                      <a:pt x="0" y="0"/>
                    </a:lnTo>
                    <a:close/>
                  </a:path>
                </a:pathLst>
              </a:custGeom>
              <a:ln w="1347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00" name="object 100"/>
            <p:cNvSpPr txBox="1"/>
            <p:nvPr/>
          </p:nvSpPr>
          <p:spPr>
            <a:xfrm>
              <a:off x="4431469" y="4135867"/>
              <a:ext cx="4175312" cy="1377652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627180">
                <a:spcBef>
                  <a:spcPts val="88"/>
                </a:spcBef>
              </a:pPr>
              <a:r>
                <a:rPr sz="1677" i="1" spc="-9" dirty="0">
                  <a:solidFill>
                    <a:srgbClr val="FC0128"/>
                  </a:solidFill>
                  <a:latin typeface="Arial"/>
                  <a:cs typeface="Arial"/>
                </a:rPr>
                <a:t>2-</a:t>
              </a:r>
              <a:r>
                <a:rPr sz="1677" i="1" dirty="0">
                  <a:solidFill>
                    <a:srgbClr val="FC0128"/>
                  </a:solidFill>
                  <a:latin typeface="Arial"/>
                  <a:cs typeface="Arial"/>
                </a:rPr>
                <a:t>bits</a:t>
              </a:r>
              <a:r>
                <a:rPr sz="1677" i="1" spc="-26" dirty="0">
                  <a:solidFill>
                    <a:srgbClr val="FC0128"/>
                  </a:solidFill>
                  <a:latin typeface="Arial"/>
                  <a:cs typeface="Arial"/>
                </a:rPr>
                <a:t> </a:t>
              </a:r>
              <a:r>
                <a:rPr sz="1677" i="1" dirty="0">
                  <a:solidFill>
                    <a:srgbClr val="FC0128"/>
                  </a:solidFill>
                  <a:latin typeface="Arial"/>
                  <a:cs typeface="Arial"/>
                </a:rPr>
                <a:t>per</a:t>
              </a:r>
              <a:r>
                <a:rPr sz="1677" i="1" spc="-26" dirty="0">
                  <a:solidFill>
                    <a:srgbClr val="FC0128"/>
                  </a:solidFill>
                  <a:latin typeface="Arial"/>
                  <a:cs typeface="Arial"/>
                </a:rPr>
                <a:t> </a:t>
              </a:r>
              <a:r>
                <a:rPr sz="1677" i="1" dirty="0">
                  <a:solidFill>
                    <a:srgbClr val="FC0128"/>
                  </a:solidFill>
                  <a:latin typeface="Arial"/>
                  <a:cs typeface="Arial"/>
                </a:rPr>
                <a:t>branch</a:t>
              </a:r>
              <a:r>
                <a:rPr sz="1677" i="1" spc="-22" dirty="0">
                  <a:solidFill>
                    <a:srgbClr val="FC0128"/>
                  </a:solidFill>
                  <a:latin typeface="Arial"/>
                  <a:cs typeface="Arial"/>
                </a:rPr>
                <a:t> </a:t>
              </a:r>
              <a:r>
                <a:rPr sz="1677" i="1" spc="-9" dirty="0">
                  <a:solidFill>
                    <a:srgbClr val="FC0128"/>
                  </a:solidFill>
                  <a:latin typeface="Arial"/>
                  <a:cs typeface="Arial"/>
                </a:rPr>
                <a:t>predictor</a:t>
              </a:r>
              <a:endParaRPr sz="1677" dirty="0">
                <a:latin typeface="Arial"/>
                <a:cs typeface="Arial"/>
              </a:endParaRPr>
            </a:p>
            <a:p>
              <a:pPr>
                <a:lnSpc>
                  <a:spcPct val="100000"/>
                </a:lnSpc>
              </a:pPr>
              <a:endParaRPr sz="1677" dirty="0">
                <a:latin typeface="Arial"/>
                <a:cs typeface="Arial"/>
              </a:endParaRPr>
            </a:p>
            <a:p>
              <a:pPr>
                <a:spcBef>
                  <a:spcPts val="326"/>
                </a:spcBef>
              </a:pPr>
              <a:endParaRPr sz="1677" dirty="0">
                <a:latin typeface="Arial"/>
                <a:cs typeface="Arial"/>
              </a:endParaRPr>
            </a:p>
            <a:p>
              <a:pPr marL="430889">
                <a:tabLst>
                  <a:tab pos="1025953" algn="l"/>
                </a:tabLst>
              </a:pPr>
              <a:r>
                <a:rPr sz="882" b="1" spc="-44" dirty="0">
                  <a:solidFill>
                    <a:srgbClr val="FC0128"/>
                  </a:solidFill>
                  <a:latin typeface="Arial"/>
                  <a:cs typeface="Arial"/>
                </a:rPr>
                <a:t>1</a:t>
              </a:r>
              <a:r>
                <a:rPr sz="882" b="1" dirty="0">
                  <a:solidFill>
                    <a:srgbClr val="FC0128"/>
                  </a:solidFill>
                  <a:latin typeface="Arial"/>
                  <a:cs typeface="Arial"/>
                </a:rPr>
                <a:t>	</a:t>
              </a:r>
              <a:r>
                <a:rPr sz="882" b="1" spc="-44" dirty="0">
                  <a:solidFill>
                    <a:srgbClr val="FC0128"/>
                  </a:solidFill>
                  <a:latin typeface="Arial"/>
                  <a:cs typeface="Arial"/>
                </a:rPr>
                <a:t>0</a:t>
              </a:r>
              <a:endParaRPr sz="882" dirty="0">
                <a:latin typeface="Arial"/>
                <a:cs typeface="Arial"/>
              </a:endParaRPr>
            </a:p>
            <a:p>
              <a:pPr>
                <a:spcBef>
                  <a:spcPts val="397"/>
                </a:spcBef>
              </a:pPr>
              <a:endParaRPr sz="882" dirty="0">
                <a:latin typeface="Arial"/>
                <a:cs typeface="Arial"/>
              </a:endParaRPr>
            </a:p>
            <a:p>
              <a:pPr marL="28576">
                <a:spcBef>
                  <a:spcPts val="4"/>
                </a:spcBef>
              </a:pPr>
              <a:r>
                <a:rPr sz="1500" dirty="0">
                  <a:latin typeface="Times New Roman"/>
                  <a:cs typeface="Times New Roman"/>
                </a:rPr>
                <a:t>Global</a:t>
              </a:r>
              <a:r>
                <a:rPr sz="1500" spc="-13" dirty="0">
                  <a:latin typeface="Times New Roman"/>
                  <a:cs typeface="Times New Roman"/>
                </a:rPr>
                <a:t> </a:t>
              </a:r>
              <a:r>
                <a:rPr sz="1500" dirty="0">
                  <a:latin typeface="Times New Roman"/>
                  <a:cs typeface="Times New Roman"/>
                </a:rPr>
                <a:t>branch</a:t>
              </a:r>
              <a:r>
                <a:rPr sz="1500" spc="-18" dirty="0">
                  <a:latin typeface="Times New Roman"/>
                  <a:cs typeface="Times New Roman"/>
                </a:rPr>
                <a:t> </a:t>
              </a:r>
              <a:r>
                <a:rPr sz="1500" spc="-9" dirty="0">
                  <a:latin typeface="Times New Roman"/>
                  <a:cs typeface="Times New Roman"/>
                </a:rPr>
                <a:t>history</a:t>
              </a:r>
              <a:endParaRPr sz="1500" dirty="0">
                <a:latin typeface="Times New Roman"/>
                <a:cs typeface="Times New Roman"/>
              </a:endParaRPr>
            </a:p>
          </p:txBody>
        </p:sp>
        <p:sp>
          <p:nvSpPr>
            <p:cNvPr id="101" name="object 101"/>
            <p:cNvSpPr txBox="1"/>
            <p:nvPr/>
          </p:nvSpPr>
          <p:spPr>
            <a:xfrm>
              <a:off x="4599515" y="1741393"/>
              <a:ext cx="106456" cy="21508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324" spc="-44" dirty="0">
                  <a:latin typeface="Times New Roman"/>
                  <a:cs typeface="Times New Roman"/>
                </a:rPr>
                <a:t>4</a:t>
              </a:r>
              <a:endParaRPr sz="1324">
                <a:latin typeface="Times New Roman"/>
                <a:cs typeface="Times New Roman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E0702269-B35A-C694-D860-EB66B8F7BF87}"/>
              </a:ext>
            </a:extLst>
          </p:cNvPr>
          <p:cNvSpPr txBox="1"/>
          <p:nvPr/>
        </p:nvSpPr>
        <p:spPr>
          <a:xfrm>
            <a:off x="497933" y="160010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(2,2)</a:t>
            </a:r>
            <a:r>
              <a:rPr lang="en-US" sz="2400" spc="53" dirty="0"/>
              <a:t> </a:t>
            </a:r>
            <a:r>
              <a:rPr lang="en-US" sz="2400" dirty="0"/>
              <a:t>global</a:t>
            </a:r>
            <a:r>
              <a:rPr lang="en-US" sz="2400" spc="49" dirty="0"/>
              <a:t> </a:t>
            </a:r>
            <a:r>
              <a:rPr lang="en-US" sz="2400" spc="-9" dirty="0"/>
              <a:t>correlation predictor</a:t>
            </a:r>
            <a:endParaRPr lang="en-US" sz="2400" dirty="0"/>
          </a:p>
        </p:txBody>
      </p:sp>
      <p:sp>
        <p:nvSpPr>
          <p:cNvPr id="106" name="Slide Number Placeholder 4">
            <a:extLst>
              <a:ext uri="{FF2B5EF4-FFF2-40B4-BE49-F238E27FC236}">
                <a16:creationId xmlns:a16="http://schemas.microsoft.com/office/drawing/2014/main" id="{18F942EA-F4AD-3B82-FDDD-87FA53A5C8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11</a:t>
            </a:fld>
            <a:endParaRPr lang="en-US" spc="-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A</a:t>
            </a:r>
            <a:r>
              <a:rPr spc="-13" dirty="0"/>
              <a:t> </a:t>
            </a:r>
            <a:r>
              <a:rPr dirty="0"/>
              <a:t>few</a:t>
            </a:r>
            <a:r>
              <a:rPr spc="-9" dirty="0"/>
              <a:t> Calculations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249278"/>
            <a:ext cx="7476535" cy="3246610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312100" indent="-267275">
              <a:spcBef>
                <a:spcPts val="644"/>
              </a:spcBef>
              <a:buChar char="•"/>
              <a:tabLst>
                <a:tab pos="312100" algn="l"/>
              </a:tabLst>
            </a:pPr>
            <a:r>
              <a:rPr sz="2400" dirty="0">
                <a:latin typeface="Calibri"/>
                <a:cs typeface="Calibri"/>
              </a:rPr>
              <a:t>4096-entry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2-bit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BHT</a:t>
            </a:r>
            <a:endParaRPr sz="2400" dirty="0">
              <a:latin typeface="Calibri"/>
              <a:cs typeface="Calibri"/>
            </a:endParaRPr>
          </a:p>
          <a:p>
            <a:pPr marL="685276" lvl="1" indent="-212363">
              <a:spcBef>
                <a:spcPts val="424"/>
              </a:spcBef>
              <a:buChar char="–"/>
              <a:tabLst>
                <a:tab pos="685276" algn="l"/>
              </a:tabLst>
            </a:pPr>
            <a:r>
              <a:rPr sz="2200" dirty="0">
                <a:latin typeface="Calibri"/>
                <a:cs typeface="Calibri"/>
              </a:rPr>
              <a:t>4k x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8k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bits</a:t>
            </a:r>
            <a:endParaRPr sz="2200" dirty="0">
              <a:latin typeface="Calibri"/>
              <a:cs typeface="Calibri"/>
            </a:endParaRPr>
          </a:p>
          <a:p>
            <a:pPr marL="685276" lvl="1" indent="-212363">
              <a:spcBef>
                <a:spcPts val="379"/>
              </a:spcBef>
              <a:buChar char="–"/>
              <a:tabLst>
                <a:tab pos="685276" algn="l"/>
              </a:tabLst>
            </a:pPr>
            <a:r>
              <a:rPr sz="2200" dirty="0">
                <a:latin typeface="Calibri"/>
                <a:cs typeface="Calibri"/>
              </a:rPr>
              <a:t>4k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baseline="25641" dirty="0">
                <a:latin typeface="Calibri"/>
                <a:cs typeface="Calibri"/>
              </a:rPr>
              <a:t>12</a:t>
            </a:r>
            <a:r>
              <a:rPr sz="2200" spc="158" baseline="25641" dirty="0">
                <a:latin typeface="Calibri"/>
                <a:cs typeface="Calibri"/>
              </a:rPr>
              <a:t> </a:t>
            </a:r>
            <a:r>
              <a:rPr sz="2200" dirty="0">
                <a:latin typeface="Wingdings"/>
                <a:cs typeface="Wingdings"/>
              </a:rPr>
              <a:t></a:t>
            </a:r>
            <a:r>
              <a:rPr sz="2200" spc="-31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12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bits</a:t>
            </a:r>
            <a:endParaRPr sz="2200" dirty="0">
              <a:latin typeface="Calibri"/>
              <a:cs typeface="Calibri"/>
            </a:endParaRPr>
          </a:p>
          <a:p>
            <a:pPr lvl="1">
              <a:spcBef>
                <a:spcPts val="1681"/>
              </a:spcBef>
              <a:buFont typeface="Calibri"/>
              <a:buChar char="–"/>
            </a:pPr>
            <a:endParaRPr sz="1677" dirty="0">
              <a:latin typeface="Calibri"/>
              <a:cs typeface="Calibri"/>
            </a:endParaRPr>
          </a:p>
          <a:p>
            <a:pPr marL="312100" indent="-267275">
              <a:buChar char="•"/>
              <a:tabLst>
                <a:tab pos="312100" algn="l"/>
              </a:tabLst>
            </a:pPr>
            <a:r>
              <a:rPr sz="2400" dirty="0">
                <a:latin typeface="Calibri"/>
                <a:cs typeface="Calibri"/>
              </a:rPr>
              <a:t>How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#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w/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(2,2)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predictor?</a:t>
            </a:r>
            <a:endParaRPr sz="2400" dirty="0">
              <a:latin typeface="Calibri"/>
              <a:cs typeface="Calibri"/>
            </a:endParaRPr>
          </a:p>
          <a:p>
            <a:pPr marL="685276" lvl="1" indent="-212363">
              <a:spcBef>
                <a:spcPts val="446"/>
              </a:spcBef>
              <a:buChar char="–"/>
              <a:tabLst>
                <a:tab pos="685276" algn="l"/>
              </a:tabLst>
            </a:pPr>
            <a:r>
              <a:rPr sz="2200" dirty="0">
                <a:latin typeface="Calibri"/>
                <a:cs typeface="Calibri"/>
              </a:rPr>
              <a:t>8k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bits w/</a:t>
            </a:r>
            <a:r>
              <a:rPr sz="2200" spc="9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2-</a:t>
            </a:r>
            <a:r>
              <a:rPr sz="2200" dirty="0">
                <a:latin typeface="Calibri"/>
                <a:cs typeface="Calibri"/>
              </a:rPr>
              <a:t>bit BHT means 4k </a:t>
            </a:r>
            <a:r>
              <a:rPr sz="2200" spc="-18" dirty="0">
                <a:latin typeface="Calibri"/>
                <a:cs typeface="Calibri"/>
              </a:rPr>
              <a:t>BHTs</a:t>
            </a:r>
            <a:endParaRPr sz="2200" dirty="0">
              <a:latin typeface="Calibri"/>
              <a:cs typeface="Calibri"/>
            </a:endParaRPr>
          </a:p>
          <a:p>
            <a:pPr marL="685276" lvl="1" indent="-212363">
              <a:spcBef>
                <a:spcPts val="446"/>
              </a:spcBef>
              <a:buChar char="–"/>
              <a:tabLst>
                <a:tab pos="685276" algn="l"/>
              </a:tabLst>
            </a:pPr>
            <a:r>
              <a:rPr sz="2200" dirty="0">
                <a:latin typeface="Calibri"/>
                <a:cs typeface="Calibri"/>
              </a:rPr>
              <a:t>the (2, 2)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implies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 entry has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four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BHTs</a:t>
            </a:r>
            <a:endParaRPr sz="2200" dirty="0">
              <a:latin typeface="Calibri"/>
              <a:cs typeface="Calibri"/>
            </a:endParaRPr>
          </a:p>
          <a:p>
            <a:pPr marL="685276" lvl="1" indent="-212363">
              <a:spcBef>
                <a:spcPts val="379"/>
              </a:spcBef>
              <a:buFont typeface="Calibri"/>
              <a:buChar char="–"/>
              <a:tabLst>
                <a:tab pos="685276" algn="l"/>
              </a:tabLst>
            </a:pPr>
            <a:r>
              <a:rPr sz="2200" dirty="0">
                <a:latin typeface="Wingdings"/>
                <a:cs typeface="Wingdings"/>
              </a:rPr>
              <a:t></a:t>
            </a:r>
            <a:r>
              <a:rPr sz="2200" spc="-31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1k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entries, i.e.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(2,2)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predictor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w/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1024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entries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FA59E-5A61-5BC6-1483-51A375268D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12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2609" y="4939780"/>
            <a:ext cx="166712" cy="5233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expresso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3409" y="3555619"/>
            <a:ext cx="243656" cy="122480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919"/>
              </a:lnSpc>
            </a:pPr>
            <a:r>
              <a:rPr sz="1677" b="1" dirty="0">
                <a:latin typeface="Times New Roman"/>
                <a:cs typeface="Times New Roman"/>
              </a:rPr>
              <a:t>Frequency</a:t>
            </a:r>
            <a:r>
              <a:rPr sz="1677" b="1" spc="-49" dirty="0">
                <a:latin typeface="Times New Roman"/>
                <a:cs typeface="Times New Roman"/>
              </a:rPr>
              <a:t> </a:t>
            </a:r>
            <a:r>
              <a:rPr sz="1677" b="1" spc="-22" dirty="0">
                <a:latin typeface="Times New Roman"/>
                <a:cs typeface="Times New Roman"/>
              </a:rPr>
              <a:t>of</a:t>
            </a:r>
            <a:endParaRPr sz="1677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3409" y="2084898"/>
            <a:ext cx="243656" cy="138560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919"/>
              </a:lnSpc>
            </a:pPr>
            <a:r>
              <a:rPr sz="1677" b="1" u="heavy" spc="-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Mispredictions</a:t>
            </a:r>
            <a:endParaRPr sz="1677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04859" y="1764647"/>
            <a:ext cx="6101603" cy="3125881"/>
            <a:chOff x="1779773" y="1999933"/>
            <a:chExt cx="6915150" cy="3542665"/>
          </a:xfrm>
        </p:grpSpPr>
        <p:sp>
          <p:nvSpPr>
            <p:cNvPr id="6" name="object 6"/>
            <p:cNvSpPr/>
            <p:nvPr/>
          </p:nvSpPr>
          <p:spPr>
            <a:xfrm>
              <a:off x="1865683" y="5330216"/>
              <a:ext cx="195580" cy="170180"/>
            </a:xfrm>
            <a:custGeom>
              <a:avLst/>
              <a:gdLst/>
              <a:ahLst/>
              <a:cxnLst/>
              <a:rect l="l" t="t" r="r" b="b"/>
              <a:pathLst>
                <a:path w="195580" h="170179">
                  <a:moveTo>
                    <a:pt x="195403" y="0"/>
                  </a:moveTo>
                  <a:lnTo>
                    <a:pt x="0" y="0"/>
                  </a:lnTo>
                  <a:lnTo>
                    <a:pt x="0" y="170135"/>
                  </a:lnTo>
                  <a:lnTo>
                    <a:pt x="195403" y="170135"/>
                  </a:lnTo>
                  <a:lnTo>
                    <a:pt x="195403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" name="object 7"/>
            <p:cNvSpPr/>
            <p:nvPr/>
          </p:nvSpPr>
          <p:spPr>
            <a:xfrm>
              <a:off x="1865683" y="5330216"/>
              <a:ext cx="195580" cy="170180"/>
            </a:xfrm>
            <a:custGeom>
              <a:avLst/>
              <a:gdLst/>
              <a:ahLst/>
              <a:cxnLst/>
              <a:rect l="l" t="t" r="r" b="b"/>
              <a:pathLst>
                <a:path w="195580" h="170179">
                  <a:moveTo>
                    <a:pt x="0" y="0"/>
                  </a:moveTo>
                  <a:lnTo>
                    <a:pt x="195403" y="0"/>
                  </a:lnTo>
                  <a:lnTo>
                    <a:pt x="195403" y="170135"/>
                  </a:lnTo>
                  <a:lnTo>
                    <a:pt x="0" y="170135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8" name="object 8"/>
            <p:cNvSpPr/>
            <p:nvPr/>
          </p:nvSpPr>
          <p:spPr>
            <a:xfrm>
              <a:off x="3241931" y="5330216"/>
              <a:ext cx="197485" cy="170180"/>
            </a:xfrm>
            <a:custGeom>
              <a:avLst/>
              <a:gdLst/>
              <a:ahLst/>
              <a:cxnLst/>
              <a:rect l="l" t="t" r="r" b="b"/>
              <a:pathLst>
                <a:path w="197485" h="170179">
                  <a:moveTo>
                    <a:pt x="197087" y="0"/>
                  </a:moveTo>
                  <a:lnTo>
                    <a:pt x="0" y="0"/>
                  </a:lnTo>
                  <a:lnTo>
                    <a:pt x="0" y="170135"/>
                  </a:lnTo>
                  <a:lnTo>
                    <a:pt x="197087" y="170135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9" name="object 9"/>
            <p:cNvSpPr/>
            <p:nvPr/>
          </p:nvSpPr>
          <p:spPr>
            <a:xfrm>
              <a:off x="3241931" y="5330216"/>
              <a:ext cx="197485" cy="170180"/>
            </a:xfrm>
            <a:custGeom>
              <a:avLst/>
              <a:gdLst/>
              <a:ahLst/>
              <a:cxnLst/>
              <a:rect l="l" t="t" r="r" b="b"/>
              <a:pathLst>
                <a:path w="197485" h="170179">
                  <a:moveTo>
                    <a:pt x="0" y="0"/>
                  </a:moveTo>
                  <a:lnTo>
                    <a:pt x="197087" y="0"/>
                  </a:lnTo>
                  <a:lnTo>
                    <a:pt x="197087" y="170135"/>
                  </a:lnTo>
                  <a:lnTo>
                    <a:pt x="0" y="170135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" name="object 10"/>
            <p:cNvSpPr/>
            <p:nvPr/>
          </p:nvSpPr>
          <p:spPr>
            <a:xfrm>
              <a:off x="3924159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5" h="879475">
                  <a:moveTo>
                    <a:pt x="197088" y="0"/>
                  </a:moveTo>
                  <a:lnTo>
                    <a:pt x="0" y="0"/>
                  </a:lnTo>
                  <a:lnTo>
                    <a:pt x="0" y="879316"/>
                  </a:lnTo>
                  <a:lnTo>
                    <a:pt x="197088" y="879316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1" name="object 11"/>
            <p:cNvSpPr/>
            <p:nvPr/>
          </p:nvSpPr>
          <p:spPr>
            <a:xfrm>
              <a:off x="3924159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5" h="879475">
                  <a:moveTo>
                    <a:pt x="0" y="0"/>
                  </a:moveTo>
                  <a:lnTo>
                    <a:pt x="197088" y="0"/>
                  </a:lnTo>
                  <a:lnTo>
                    <a:pt x="197088" y="879316"/>
                  </a:lnTo>
                  <a:lnTo>
                    <a:pt x="0" y="879316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2" name="object 12"/>
            <p:cNvSpPr/>
            <p:nvPr/>
          </p:nvSpPr>
          <p:spPr>
            <a:xfrm>
              <a:off x="4606387" y="3925332"/>
              <a:ext cx="197485" cy="1575435"/>
            </a:xfrm>
            <a:custGeom>
              <a:avLst/>
              <a:gdLst/>
              <a:ahLst/>
              <a:cxnLst/>
              <a:rect l="l" t="t" r="r" b="b"/>
              <a:pathLst>
                <a:path w="197485" h="1575435">
                  <a:moveTo>
                    <a:pt x="197087" y="0"/>
                  </a:moveTo>
                  <a:lnTo>
                    <a:pt x="0" y="0"/>
                  </a:lnTo>
                  <a:lnTo>
                    <a:pt x="0" y="1575019"/>
                  </a:lnTo>
                  <a:lnTo>
                    <a:pt x="197087" y="1575019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3" name="object 13"/>
            <p:cNvSpPr/>
            <p:nvPr/>
          </p:nvSpPr>
          <p:spPr>
            <a:xfrm>
              <a:off x="4606387" y="3925332"/>
              <a:ext cx="197485" cy="1575435"/>
            </a:xfrm>
            <a:custGeom>
              <a:avLst/>
              <a:gdLst/>
              <a:ahLst/>
              <a:cxnLst/>
              <a:rect l="l" t="t" r="r" b="b"/>
              <a:pathLst>
                <a:path w="197485" h="1575435">
                  <a:moveTo>
                    <a:pt x="0" y="0"/>
                  </a:moveTo>
                  <a:lnTo>
                    <a:pt x="197087" y="0"/>
                  </a:lnTo>
                  <a:lnTo>
                    <a:pt x="197087" y="1575019"/>
                  </a:lnTo>
                  <a:lnTo>
                    <a:pt x="0" y="1575019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4" name="object 14"/>
            <p:cNvSpPr/>
            <p:nvPr/>
          </p:nvSpPr>
          <p:spPr>
            <a:xfrm>
              <a:off x="5302091" y="3925332"/>
              <a:ext cx="195580" cy="1575435"/>
            </a:xfrm>
            <a:custGeom>
              <a:avLst/>
              <a:gdLst/>
              <a:ahLst/>
              <a:cxnLst/>
              <a:rect l="l" t="t" r="r" b="b"/>
              <a:pathLst>
                <a:path w="195579" h="1575435">
                  <a:moveTo>
                    <a:pt x="195403" y="0"/>
                  </a:moveTo>
                  <a:lnTo>
                    <a:pt x="0" y="0"/>
                  </a:lnTo>
                  <a:lnTo>
                    <a:pt x="0" y="1575019"/>
                  </a:lnTo>
                  <a:lnTo>
                    <a:pt x="195403" y="1575019"/>
                  </a:lnTo>
                  <a:lnTo>
                    <a:pt x="195403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5" name="object 15"/>
            <p:cNvSpPr/>
            <p:nvPr/>
          </p:nvSpPr>
          <p:spPr>
            <a:xfrm>
              <a:off x="5302091" y="3925332"/>
              <a:ext cx="195580" cy="1575435"/>
            </a:xfrm>
            <a:custGeom>
              <a:avLst/>
              <a:gdLst/>
              <a:ahLst/>
              <a:cxnLst/>
              <a:rect l="l" t="t" r="r" b="b"/>
              <a:pathLst>
                <a:path w="195579" h="1575435">
                  <a:moveTo>
                    <a:pt x="0" y="0"/>
                  </a:moveTo>
                  <a:lnTo>
                    <a:pt x="195403" y="0"/>
                  </a:lnTo>
                  <a:lnTo>
                    <a:pt x="195403" y="1575019"/>
                  </a:lnTo>
                  <a:lnTo>
                    <a:pt x="0" y="1575019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6" name="object 16"/>
            <p:cNvSpPr/>
            <p:nvPr/>
          </p:nvSpPr>
          <p:spPr>
            <a:xfrm>
              <a:off x="5984319" y="3399764"/>
              <a:ext cx="195580" cy="2101215"/>
            </a:xfrm>
            <a:custGeom>
              <a:avLst/>
              <a:gdLst/>
              <a:ahLst/>
              <a:cxnLst/>
              <a:rect l="l" t="t" r="r" b="b"/>
              <a:pathLst>
                <a:path w="195579" h="2101215">
                  <a:moveTo>
                    <a:pt x="195403" y="0"/>
                  </a:moveTo>
                  <a:lnTo>
                    <a:pt x="0" y="0"/>
                  </a:lnTo>
                  <a:lnTo>
                    <a:pt x="0" y="2100587"/>
                  </a:lnTo>
                  <a:lnTo>
                    <a:pt x="195403" y="2100587"/>
                  </a:lnTo>
                  <a:lnTo>
                    <a:pt x="195403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7" name="object 17"/>
            <p:cNvSpPr/>
            <p:nvPr/>
          </p:nvSpPr>
          <p:spPr>
            <a:xfrm>
              <a:off x="5984319" y="3399764"/>
              <a:ext cx="195580" cy="2101215"/>
            </a:xfrm>
            <a:custGeom>
              <a:avLst/>
              <a:gdLst/>
              <a:ahLst/>
              <a:cxnLst/>
              <a:rect l="l" t="t" r="r" b="b"/>
              <a:pathLst>
                <a:path w="195579" h="2101215">
                  <a:moveTo>
                    <a:pt x="0" y="0"/>
                  </a:moveTo>
                  <a:lnTo>
                    <a:pt x="195403" y="0"/>
                  </a:lnTo>
                  <a:lnTo>
                    <a:pt x="195403" y="2100588"/>
                  </a:lnTo>
                  <a:lnTo>
                    <a:pt x="0" y="2100588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8" name="object 18"/>
            <p:cNvSpPr/>
            <p:nvPr/>
          </p:nvSpPr>
          <p:spPr>
            <a:xfrm>
              <a:off x="6664863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4" h="879475">
                  <a:moveTo>
                    <a:pt x="197087" y="0"/>
                  </a:moveTo>
                  <a:lnTo>
                    <a:pt x="0" y="0"/>
                  </a:lnTo>
                  <a:lnTo>
                    <a:pt x="0" y="879316"/>
                  </a:lnTo>
                  <a:lnTo>
                    <a:pt x="197087" y="879316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9" name="object 19"/>
            <p:cNvSpPr/>
            <p:nvPr/>
          </p:nvSpPr>
          <p:spPr>
            <a:xfrm>
              <a:off x="6664863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4" h="879475">
                  <a:moveTo>
                    <a:pt x="0" y="0"/>
                  </a:moveTo>
                  <a:lnTo>
                    <a:pt x="197087" y="0"/>
                  </a:lnTo>
                  <a:lnTo>
                    <a:pt x="197087" y="879316"/>
                  </a:lnTo>
                  <a:lnTo>
                    <a:pt x="0" y="879316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0" name="object 20"/>
            <p:cNvSpPr/>
            <p:nvPr/>
          </p:nvSpPr>
          <p:spPr>
            <a:xfrm>
              <a:off x="7347091" y="2360418"/>
              <a:ext cx="197485" cy="3140075"/>
            </a:xfrm>
            <a:custGeom>
              <a:avLst/>
              <a:gdLst/>
              <a:ahLst/>
              <a:cxnLst/>
              <a:rect l="l" t="t" r="r" b="b"/>
              <a:pathLst>
                <a:path w="197484" h="3140075">
                  <a:moveTo>
                    <a:pt x="197088" y="0"/>
                  </a:moveTo>
                  <a:lnTo>
                    <a:pt x="0" y="0"/>
                  </a:lnTo>
                  <a:lnTo>
                    <a:pt x="0" y="3139934"/>
                  </a:lnTo>
                  <a:lnTo>
                    <a:pt x="197088" y="3139934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1" name="object 21"/>
            <p:cNvSpPr/>
            <p:nvPr/>
          </p:nvSpPr>
          <p:spPr>
            <a:xfrm>
              <a:off x="7347091" y="2360418"/>
              <a:ext cx="197485" cy="3140075"/>
            </a:xfrm>
            <a:custGeom>
              <a:avLst/>
              <a:gdLst/>
              <a:ahLst/>
              <a:cxnLst/>
              <a:rect l="l" t="t" r="r" b="b"/>
              <a:pathLst>
                <a:path w="197484" h="3140075">
                  <a:moveTo>
                    <a:pt x="0" y="0"/>
                  </a:moveTo>
                  <a:lnTo>
                    <a:pt x="197088" y="0"/>
                  </a:lnTo>
                  <a:lnTo>
                    <a:pt x="197088" y="3139933"/>
                  </a:lnTo>
                  <a:lnTo>
                    <a:pt x="0" y="3139933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2" name="object 22"/>
            <p:cNvSpPr/>
            <p:nvPr/>
          </p:nvSpPr>
          <p:spPr>
            <a:xfrm>
              <a:off x="8042795" y="3753511"/>
              <a:ext cx="197485" cy="1746885"/>
            </a:xfrm>
            <a:custGeom>
              <a:avLst/>
              <a:gdLst/>
              <a:ahLst/>
              <a:cxnLst/>
              <a:rect l="l" t="t" r="r" b="b"/>
              <a:pathLst>
                <a:path w="197484" h="1746885">
                  <a:moveTo>
                    <a:pt x="197087" y="0"/>
                  </a:moveTo>
                  <a:lnTo>
                    <a:pt x="0" y="0"/>
                  </a:lnTo>
                  <a:lnTo>
                    <a:pt x="0" y="1746840"/>
                  </a:lnTo>
                  <a:lnTo>
                    <a:pt x="197087" y="1746840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3" name="object 23"/>
            <p:cNvSpPr/>
            <p:nvPr/>
          </p:nvSpPr>
          <p:spPr>
            <a:xfrm>
              <a:off x="8042795" y="3753511"/>
              <a:ext cx="197485" cy="1746885"/>
            </a:xfrm>
            <a:custGeom>
              <a:avLst/>
              <a:gdLst/>
              <a:ahLst/>
              <a:cxnLst/>
              <a:rect l="l" t="t" r="r" b="b"/>
              <a:pathLst>
                <a:path w="197484" h="1746885">
                  <a:moveTo>
                    <a:pt x="0" y="0"/>
                  </a:moveTo>
                  <a:lnTo>
                    <a:pt x="197087" y="0"/>
                  </a:lnTo>
                  <a:lnTo>
                    <a:pt x="197087" y="1746840"/>
                  </a:lnTo>
                  <a:lnTo>
                    <a:pt x="0" y="1746840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4" name="object 24"/>
            <p:cNvSpPr/>
            <p:nvPr/>
          </p:nvSpPr>
          <p:spPr>
            <a:xfrm>
              <a:off x="4121247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5" h="879475">
                  <a:moveTo>
                    <a:pt x="197087" y="0"/>
                  </a:moveTo>
                  <a:lnTo>
                    <a:pt x="0" y="0"/>
                  </a:lnTo>
                  <a:lnTo>
                    <a:pt x="0" y="879316"/>
                  </a:lnTo>
                  <a:lnTo>
                    <a:pt x="197087" y="879316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5" name="object 25"/>
            <p:cNvSpPr/>
            <p:nvPr/>
          </p:nvSpPr>
          <p:spPr>
            <a:xfrm>
              <a:off x="4121247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5" h="879475">
                  <a:moveTo>
                    <a:pt x="0" y="0"/>
                  </a:moveTo>
                  <a:lnTo>
                    <a:pt x="197087" y="0"/>
                  </a:lnTo>
                  <a:lnTo>
                    <a:pt x="197087" y="879316"/>
                  </a:lnTo>
                  <a:lnTo>
                    <a:pt x="0" y="879316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6" name="object 26"/>
            <p:cNvSpPr/>
            <p:nvPr/>
          </p:nvSpPr>
          <p:spPr>
            <a:xfrm>
              <a:off x="4803475" y="3925332"/>
              <a:ext cx="208915" cy="1575435"/>
            </a:xfrm>
            <a:custGeom>
              <a:avLst/>
              <a:gdLst/>
              <a:ahLst/>
              <a:cxnLst/>
              <a:rect l="l" t="t" r="r" b="b"/>
              <a:pathLst>
                <a:path w="208914" h="1575435">
                  <a:moveTo>
                    <a:pt x="208879" y="0"/>
                  </a:moveTo>
                  <a:lnTo>
                    <a:pt x="0" y="0"/>
                  </a:lnTo>
                  <a:lnTo>
                    <a:pt x="0" y="1575019"/>
                  </a:lnTo>
                  <a:lnTo>
                    <a:pt x="208879" y="1575019"/>
                  </a:lnTo>
                  <a:lnTo>
                    <a:pt x="208879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7" name="object 27"/>
            <p:cNvSpPr/>
            <p:nvPr/>
          </p:nvSpPr>
          <p:spPr>
            <a:xfrm>
              <a:off x="4803475" y="3925332"/>
              <a:ext cx="208915" cy="1575435"/>
            </a:xfrm>
            <a:custGeom>
              <a:avLst/>
              <a:gdLst/>
              <a:ahLst/>
              <a:cxnLst/>
              <a:rect l="l" t="t" r="r" b="b"/>
              <a:pathLst>
                <a:path w="208914" h="1575435">
                  <a:moveTo>
                    <a:pt x="0" y="0"/>
                  </a:moveTo>
                  <a:lnTo>
                    <a:pt x="208879" y="0"/>
                  </a:lnTo>
                  <a:lnTo>
                    <a:pt x="208879" y="1575019"/>
                  </a:lnTo>
                  <a:lnTo>
                    <a:pt x="0" y="1575019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8" name="object 28"/>
            <p:cNvSpPr/>
            <p:nvPr/>
          </p:nvSpPr>
          <p:spPr>
            <a:xfrm>
              <a:off x="5497494" y="3925332"/>
              <a:ext cx="197485" cy="1575435"/>
            </a:xfrm>
            <a:custGeom>
              <a:avLst/>
              <a:gdLst/>
              <a:ahLst/>
              <a:cxnLst/>
              <a:rect l="l" t="t" r="r" b="b"/>
              <a:pathLst>
                <a:path w="197485" h="1575435">
                  <a:moveTo>
                    <a:pt x="197088" y="0"/>
                  </a:moveTo>
                  <a:lnTo>
                    <a:pt x="0" y="0"/>
                  </a:lnTo>
                  <a:lnTo>
                    <a:pt x="0" y="1575019"/>
                  </a:lnTo>
                  <a:lnTo>
                    <a:pt x="197088" y="1575019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29" name="object 29"/>
            <p:cNvSpPr/>
            <p:nvPr/>
          </p:nvSpPr>
          <p:spPr>
            <a:xfrm>
              <a:off x="5497494" y="3925332"/>
              <a:ext cx="197485" cy="1575435"/>
            </a:xfrm>
            <a:custGeom>
              <a:avLst/>
              <a:gdLst/>
              <a:ahLst/>
              <a:cxnLst/>
              <a:rect l="l" t="t" r="r" b="b"/>
              <a:pathLst>
                <a:path w="197485" h="1575435">
                  <a:moveTo>
                    <a:pt x="0" y="0"/>
                  </a:moveTo>
                  <a:lnTo>
                    <a:pt x="197088" y="0"/>
                  </a:lnTo>
                  <a:lnTo>
                    <a:pt x="197088" y="1575019"/>
                  </a:lnTo>
                  <a:lnTo>
                    <a:pt x="0" y="1575019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0" name="object 30"/>
            <p:cNvSpPr/>
            <p:nvPr/>
          </p:nvSpPr>
          <p:spPr>
            <a:xfrm>
              <a:off x="6179723" y="3581692"/>
              <a:ext cx="197485" cy="1918970"/>
            </a:xfrm>
            <a:custGeom>
              <a:avLst/>
              <a:gdLst/>
              <a:ahLst/>
              <a:cxnLst/>
              <a:rect l="l" t="t" r="r" b="b"/>
              <a:pathLst>
                <a:path w="197485" h="1918970">
                  <a:moveTo>
                    <a:pt x="197087" y="0"/>
                  </a:moveTo>
                  <a:lnTo>
                    <a:pt x="0" y="0"/>
                  </a:lnTo>
                  <a:lnTo>
                    <a:pt x="0" y="1918660"/>
                  </a:lnTo>
                  <a:lnTo>
                    <a:pt x="197087" y="1918660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1" name="object 31"/>
            <p:cNvSpPr/>
            <p:nvPr/>
          </p:nvSpPr>
          <p:spPr>
            <a:xfrm>
              <a:off x="6179723" y="3581692"/>
              <a:ext cx="197485" cy="1918970"/>
            </a:xfrm>
            <a:custGeom>
              <a:avLst/>
              <a:gdLst/>
              <a:ahLst/>
              <a:cxnLst/>
              <a:rect l="l" t="t" r="r" b="b"/>
              <a:pathLst>
                <a:path w="197485" h="1918970">
                  <a:moveTo>
                    <a:pt x="0" y="0"/>
                  </a:moveTo>
                  <a:lnTo>
                    <a:pt x="197087" y="0"/>
                  </a:lnTo>
                  <a:lnTo>
                    <a:pt x="197087" y="1918660"/>
                  </a:lnTo>
                  <a:lnTo>
                    <a:pt x="0" y="1918660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2" name="object 32"/>
            <p:cNvSpPr/>
            <p:nvPr/>
          </p:nvSpPr>
          <p:spPr>
            <a:xfrm>
              <a:off x="6861950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4" h="879475">
                  <a:moveTo>
                    <a:pt x="197088" y="0"/>
                  </a:moveTo>
                  <a:lnTo>
                    <a:pt x="0" y="0"/>
                  </a:lnTo>
                  <a:lnTo>
                    <a:pt x="0" y="879316"/>
                  </a:lnTo>
                  <a:lnTo>
                    <a:pt x="197088" y="879316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3" name="object 33"/>
            <p:cNvSpPr/>
            <p:nvPr/>
          </p:nvSpPr>
          <p:spPr>
            <a:xfrm>
              <a:off x="6861950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4" h="879475">
                  <a:moveTo>
                    <a:pt x="0" y="0"/>
                  </a:moveTo>
                  <a:lnTo>
                    <a:pt x="197088" y="0"/>
                  </a:lnTo>
                  <a:lnTo>
                    <a:pt x="197088" y="879316"/>
                  </a:lnTo>
                  <a:lnTo>
                    <a:pt x="0" y="879316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4" name="object 34"/>
            <p:cNvSpPr/>
            <p:nvPr/>
          </p:nvSpPr>
          <p:spPr>
            <a:xfrm>
              <a:off x="7544179" y="2360418"/>
              <a:ext cx="210820" cy="3140075"/>
            </a:xfrm>
            <a:custGeom>
              <a:avLst/>
              <a:gdLst/>
              <a:ahLst/>
              <a:cxnLst/>
              <a:rect l="l" t="t" r="r" b="b"/>
              <a:pathLst>
                <a:path w="210820" h="3140075">
                  <a:moveTo>
                    <a:pt x="210563" y="0"/>
                  </a:moveTo>
                  <a:lnTo>
                    <a:pt x="0" y="0"/>
                  </a:lnTo>
                  <a:lnTo>
                    <a:pt x="0" y="3139934"/>
                  </a:lnTo>
                  <a:lnTo>
                    <a:pt x="210563" y="3139934"/>
                  </a:lnTo>
                  <a:lnTo>
                    <a:pt x="210563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5" name="object 35"/>
            <p:cNvSpPr/>
            <p:nvPr/>
          </p:nvSpPr>
          <p:spPr>
            <a:xfrm>
              <a:off x="7544179" y="2360418"/>
              <a:ext cx="210820" cy="3140075"/>
            </a:xfrm>
            <a:custGeom>
              <a:avLst/>
              <a:gdLst/>
              <a:ahLst/>
              <a:cxnLst/>
              <a:rect l="l" t="t" r="r" b="b"/>
              <a:pathLst>
                <a:path w="210820" h="3140075">
                  <a:moveTo>
                    <a:pt x="0" y="0"/>
                  </a:moveTo>
                  <a:lnTo>
                    <a:pt x="210563" y="0"/>
                  </a:lnTo>
                  <a:lnTo>
                    <a:pt x="210563" y="3139933"/>
                  </a:lnTo>
                  <a:lnTo>
                    <a:pt x="0" y="3139933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6" name="object 36"/>
            <p:cNvSpPr/>
            <p:nvPr/>
          </p:nvSpPr>
          <p:spPr>
            <a:xfrm>
              <a:off x="8239883" y="3753511"/>
              <a:ext cx="197485" cy="1746885"/>
            </a:xfrm>
            <a:custGeom>
              <a:avLst/>
              <a:gdLst/>
              <a:ahLst/>
              <a:cxnLst/>
              <a:rect l="l" t="t" r="r" b="b"/>
              <a:pathLst>
                <a:path w="197484" h="1746885">
                  <a:moveTo>
                    <a:pt x="197088" y="0"/>
                  </a:moveTo>
                  <a:lnTo>
                    <a:pt x="0" y="0"/>
                  </a:lnTo>
                  <a:lnTo>
                    <a:pt x="0" y="1746840"/>
                  </a:lnTo>
                  <a:lnTo>
                    <a:pt x="197088" y="1746840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7" name="object 37"/>
            <p:cNvSpPr/>
            <p:nvPr/>
          </p:nvSpPr>
          <p:spPr>
            <a:xfrm>
              <a:off x="8239883" y="3753511"/>
              <a:ext cx="197485" cy="1746885"/>
            </a:xfrm>
            <a:custGeom>
              <a:avLst/>
              <a:gdLst/>
              <a:ahLst/>
              <a:cxnLst/>
              <a:rect l="l" t="t" r="r" b="b"/>
              <a:pathLst>
                <a:path w="197484" h="1746885">
                  <a:moveTo>
                    <a:pt x="0" y="0"/>
                  </a:moveTo>
                  <a:lnTo>
                    <a:pt x="197088" y="0"/>
                  </a:lnTo>
                  <a:lnTo>
                    <a:pt x="197088" y="1746840"/>
                  </a:lnTo>
                  <a:lnTo>
                    <a:pt x="0" y="1746840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8" name="object 38"/>
            <p:cNvSpPr/>
            <p:nvPr/>
          </p:nvSpPr>
          <p:spPr>
            <a:xfrm>
              <a:off x="2258175" y="5330216"/>
              <a:ext cx="197485" cy="170180"/>
            </a:xfrm>
            <a:custGeom>
              <a:avLst/>
              <a:gdLst/>
              <a:ahLst/>
              <a:cxnLst/>
              <a:rect l="l" t="t" r="r" b="b"/>
              <a:pathLst>
                <a:path w="197485" h="170179">
                  <a:moveTo>
                    <a:pt x="197088" y="0"/>
                  </a:moveTo>
                  <a:lnTo>
                    <a:pt x="0" y="0"/>
                  </a:lnTo>
                  <a:lnTo>
                    <a:pt x="0" y="170135"/>
                  </a:lnTo>
                  <a:lnTo>
                    <a:pt x="197088" y="170135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39" name="object 39"/>
            <p:cNvSpPr/>
            <p:nvPr/>
          </p:nvSpPr>
          <p:spPr>
            <a:xfrm>
              <a:off x="2258175" y="5330216"/>
              <a:ext cx="197485" cy="170180"/>
            </a:xfrm>
            <a:custGeom>
              <a:avLst/>
              <a:gdLst/>
              <a:ahLst/>
              <a:cxnLst/>
              <a:rect l="l" t="t" r="r" b="b"/>
              <a:pathLst>
                <a:path w="197485" h="170179">
                  <a:moveTo>
                    <a:pt x="0" y="0"/>
                  </a:moveTo>
                  <a:lnTo>
                    <a:pt x="197088" y="0"/>
                  </a:lnTo>
                  <a:lnTo>
                    <a:pt x="197088" y="170135"/>
                  </a:lnTo>
                  <a:lnTo>
                    <a:pt x="0" y="170135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0" name="object 40"/>
            <p:cNvSpPr/>
            <p:nvPr/>
          </p:nvSpPr>
          <p:spPr>
            <a:xfrm>
              <a:off x="3636107" y="5330216"/>
              <a:ext cx="197485" cy="170180"/>
            </a:xfrm>
            <a:custGeom>
              <a:avLst/>
              <a:gdLst/>
              <a:ahLst/>
              <a:cxnLst/>
              <a:rect l="l" t="t" r="r" b="b"/>
              <a:pathLst>
                <a:path w="197485" h="170179">
                  <a:moveTo>
                    <a:pt x="197088" y="0"/>
                  </a:moveTo>
                  <a:lnTo>
                    <a:pt x="0" y="0"/>
                  </a:lnTo>
                  <a:lnTo>
                    <a:pt x="0" y="170135"/>
                  </a:lnTo>
                  <a:lnTo>
                    <a:pt x="197088" y="170135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1" name="object 41"/>
            <p:cNvSpPr/>
            <p:nvPr/>
          </p:nvSpPr>
          <p:spPr>
            <a:xfrm>
              <a:off x="3636107" y="5330216"/>
              <a:ext cx="197485" cy="170180"/>
            </a:xfrm>
            <a:custGeom>
              <a:avLst/>
              <a:gdLst/>
              <a:ahLst/>
              <a:cxnLst/>
              <a:rect l="l" t="t" r="r" b="b"/>
              <a:pathLst>
                <a:path w="197485" h="170179">
                  <a:moveTo>
                    <a:pt x="0" y="0"/>
                  </a:moveTo>
                  <a:lnTo>
                    <a:pt x="197088" y="0"/>
                  </a:lnTo>
                  <a:lnTo>
                    <a:pt x="197088" y="170135"/>
                  </a:lnTo>
                  <a:lnTo>
                    <a:pt x="0" y="170135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2" name="object 42"/>
            <p:cNvSpPr/>
            <p:nvPr/>
          </p:nvSpPr>
          <p:spPr>
            <a:xfrm>
              <a:off x="4318336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5" h="879475">
                  <a:moveTo>
                    <a:pt x="197087" y="0"/>
                  </a:moveTo>
                  <a:lnTo>
                    <a:pt x="0" y="0"/>
                  </a:lnTo>
                  <a:lnTo>
                    <a:pt x="0" y="879316"/>
                  </a:lnTo>
                  <a:lnTo>
                    <a:pt x="197087" y="879316"/>
                  </a:lnTo>
                  <a:lnTo>
                    <a:pt x="197087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3" name="object 43"/>
            <p:cNvSpPr/>
            <p:nvPr/>
          </p:nvSpPr>
          <p:spPr>
            <a:xfrm>
              <a:off x="4318336" y="4621036"/>
              <a:ext cx="197485" cy="879475"/>
            </a:xfrm>
            <a:custGeom>
              <a:avLst/>
              <a:gdLst/>
              <a:ahLst/>
              <a:cxnLst/>
              <a:rect l="l" t="t" r="r" b="b"/>
              <a:pathLst>
                <a:path w="197485" h="879475">
                  <a:moveTo>
                    <a:pt x="0" y="0"/>
                  </a:moveTo>
                  <a:lnTo>
                    <a:pt x="197088" y="0"/>
                  </a:lnTo>
                  <a:lnTo>
                    <a:pt x="197088" y="879316"/>
                  </a:lnTo>
                  <a:lnTo>
                    <a:pt x="0" y="879316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4" name="object 44"/>
            <p:cNvSpPr/>
            <p:nvPr/>
          </p:nvSpPr>
          <p:spPr>
            <a:xfrm>
              <a:off x="5012356" y="4450900"/>
              <a:ext cx="197485" cy="1049655"/>
            </a:xfrm>
            <a:custGeom>
              <a:avLst/>
              <a:gdLst/>
              <a:ahLst/>
              <a:cxnLst/>
              <a:rect l="l" t="t" r="r" b="b"/>
              <a:pathLst>
                <a:path w="197485" h="1049654">
                  <a:moveTo>
                    <a:pt x="197088" y="0"/>
                  </a:moveTo>
                  <a:lnTo>
                    <a:pt x="0" y="0"/>
                  </a:lnTo>
                  <a:lnTo>
                    <a:pt x="0" y="1049451"/>
                  </a:lnTo>
                  <a:lnTo>
                    <a:pt x="197088" y="1049451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5" name="object 45"/>
            <p:cNvSpPr/>
            <p:nvPr/>
          </p:nvSpPr>
          <p:spPr>
            <a:xfrm>
              <a:off x="5012356" y="4450900"/>
              <a:ext cx="197485" cy="1049655"/>
            </a:xfrm>
            <a:custGeom>
              <a:avLst/>
              <a:gdLst/>
              <a:ahLst/>
              <a:cxnLst/>
              <a:rect l="l" t="t" r="r" b="b"/>
              <a:pathLst>
                <a:path w="197485" h="1049654">
                  <a:moveTo>
                    <a:pt x="0" y="0"/>
                  </a:moveTo>
                  <a:lnTo>
                    <a:pt x="197088" y="0"/>
                  </a:lnTo>
                  <a:lnTo>
                    <a:pt x="197088" y="1049451"/>
                  </a:lnTo>
                  <a:lnTo>
                    <a:pt x="0" y="1049451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6" name="object 46"/>
            <p:cNvSpPr/>
            <p:nvPr/>
          </p:nvSpPr>
          <p:spPr>
            <a:xfrm>
              <a:off x="5694583" y="4450900"/>
              <a:ext cx="197485" cy="1049655"/>
            </a:xfrm>
            <a:custGeom>
              <a:avLst/>
              <a:gdLst/>
              <a:ahLst/>
              <a:cxnLst/>
              <a:rect l="l" t="t" r="r" b="b"/>
              <a:pathLst>
                <a:path w="197485" h="1049654">
                  <a:moveTo>
                    <a:pt x="197088" y="0"/>
                  </a:moveTo>
                  <a:lnTo>
                    <a:pt x="0" y="0"/>
                  </a:lnTo>
                  <a:lnTo>
                    <a:pt x="0" y="1049451"/>
                  </a:lnTo>
                  <a:lnTo>
                    <a:pt x="197088" y="1049451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7" name="object 47"/>
            <p:cNvSpPr/>
            <p:nvPr/>
          </p:nvSpPr>
          <p:spPr>
            <a:xfrm>
              <a:off x="5694583" y="4450900"/>
              <a:ext cx="197485" cy="1049655"/>
            </a:xfrm>
            <a:custGeom>
              <a:avLst/>
              <a:gdLst/>
              <a:ahLst/>
              <a:cxnLst/>
              <a:rect l="l" t="t" r="r" b="b"/>
              <a:pathLst>
                <a:path w="197485" h="1049654">
                  <a:moveTo>
                    <a:pt x="0" y="0"/>
                  </a:moveTo>
                  <a:lnTo>
                    <a:pt x="197088" y="0"/>
                  </a:lnTo>
                  <a:lnTo>
                    <a:pt x="197088" y="1049451"/>
                  </a:lnTo>
                  <a:lnTo>
                    <a:pt x="0" y="1049451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8" name="object 48"/>
            <p:cNvSpPr/>
            <p:nvPr/>
          </p:nvSpPr>
          <p:spPr>
            <a:xfrm>
              <a:off x="6376812" y="3581692"/>
              <a:ext cx="197485" cy="1918970"/>
            </a:xfrm>
            <a:custGeom>
              <a:avLst/>
              <a:gdLst/>
              <a:ahLst/>
              <a:cxnLst/>
              <a:rect l="l" t="t" r="r" b="b"/>
              <a:pathLst>
                <a:path w="197484" h="1918970">
                  <a:moveTo>
                    <a:pt x="197088" y="0"/>
                  </a:moveTo>
                  <a:lnTo>
                    <a:pt x="0" y="0"/>
                  </a:lnTo>
                  <a:lnTo>
                    <a:pt x="0" y="1918660"/>
                  </a:lnTo>
                  <a:lnTo>
                    <a:pt x="197088" y="1918660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49" name="object 49"/>
            <p:cNvSpPr/>
            <p:nvPr/>
          </p:nvSpPr>
          <p:spPr>
            <a:xfrm>
              <a:off x="6376812" y="3581692"/>
              <a:ext cx="197485" cy="1918970"/>
            </a:xfrm>
            <a:custGeom>
              <a:avLst/>
              <a:gdLst/>
              <a:ahLst/>
              <a:cxnLst/>
              <a:rect l="l" t="t" r="r" b="b"/>
              <a:pathLst>
                <a:path w="197484" h="1918970">
                  <a:moveTo>
                    <a:pt x="0" y="0"/>
                  </a:moveTo>
                  <a:lnTo>
                    <a:pt x="197088" y="0"/>
                  </a:lnTo>
                  <a:lnTo>
                    <a:pt x="197088" y="1918660"/>
                  </a:lnTo>
                  <a:lnTo>
                    <a:pt x="0" y="1918660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0" name="object 50"/>
            <p:cNvSpPr/>
            <p:nvPr/>
          </p:nvSpPr>
          <p:spPr>
            <a:xfrm>
              <a:off x="7059039" y="4804648"/>
              <a:ext cx="197485" cy="695960"/>
            </a:xfrm>
            <a:custGeom>
              <a:avLst/>
              <a:gdLst/>
              <a:ahLst/>
              <a:cxnLst/>
              <a:rect l="l" t="t" r="r" b="b"/>
              <a:pathLst>
                <a:path w="197484" h="695960">
                  <a:moveTo>
                    <a:pt x="197088" y="0"/>
                  </a:moveTo>
                  <a:lnTo>
                    <a:pt x="0" y="0"/>
                  </a:lnTo>
                  <a:lnTo>
                    <a:pt x="0" y="695703"/>
                  </a:lnTo>
                  <a:lnTo>
                    <a:pt x="197088" y="695703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1" name="object 51"/>
            <p:cNvSpPr/>
            <p:nvPr/>
          </p:nvSpPr>
          <p:spPr>
            <a:xfrm>
              <a:off x="7059039" y="4804648"/>
              <a:ext cx="197485" cy="695960"/>
            </a:xfrm>
            <a:custGeom>
              <a:avLst/>
              <a:gdLst/>
              <a:ahLst/>
              <a:cxnLst/>
              <a:rect l="l" t="t" r="r" b="b"/>
              <a:pathLst>
                <a:path w="197484" h="695960">
                  <a:moveTo>
                    <a:pt x="0" y="0"/>
                  </a:moveTo>
                  <a:lnTo>
                    <a:pt x="197088" y="0"/>
                  </a:lnTo>
                  <a:lnTo>
                    <a:pt x="197088" y="695703"/>
                  </a:lnTo>
                  <a:lnTo>
                    <a:pt x="0" y="695703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2" name="object 52"/>
            <p:cNvSpPr/>
            <p:nvPr/>
          </p:nvSpPr>
          <p:spPr>
            <a:xfrm>
              <a:off x="7754744" y="4450900"/>
              <a:ext cx="197485" cy="1049655"/>
            </a:xfrm>
            <a:custGeom>
              <a:avLst/>
              <a:gdLst/>
              <a:ahLst/>
              <a:cxnLst/>
              <a:rect l="l" t="t" r="r" b="b"/>
              <a:pathLst>
                <a:path w="197484" h="1049654">
                  <a:moveTo>
                    <a:pt x="197088" y="0"/>
                  </a:moveTo>
                  <a:lnTo>
                    <a:pt x="0" y="0"/>
                  </a:lnTo>
                  <a:lnTo>
                    <a:pt x="0" y="1049451"/>
                  </a:lnTo>
                  <a:lnTo>
                    <a:pt x="197088" y="1049451"/>
                  </a:lnTo>
                  <a:lnTo>
                    <a:pt x="197088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3" name="object 53"/>
            <p:cNvSpPr/>
            <p:nvPr/>
          </p:nvSpPr>
          <p:spPr>
            <a:xfrm>
              <a:off x="7754744" y="4450900"/>
              <a:ext cx="197485" cy="1049655"/>
            </a:xfrm>
            <a:custGeom>
              <a:avLst/>
              <a:gdLst/>
              <a:ahLst/>
              <a:cxnLst/>
              <a:rect l="l" t="t" r="r" b="b"/>
              <a:pathLst>
                <a:path w="197484" h="1049654">
                  <a:moveTo>
                    <a:pt x="0" y="0"/>
                  </a:moveTo>
                  <a:lnTo>
                    <a:pt x="197088" y="0"/>
                  </a:lnTo>
                  <a:lnTo>
                    <a:pt x="197088" y="1049451"/>
                  </a:lnTo>
                  <a:lnTo>
                    <a:pt x="0" y="1049451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4" name="object 54"/>
            <p:cNvSpPr/>
            <p:nvPr/>
          </p:nvSpPr>
          <p:spPr>
            <a:xfrm>
              <a:off x="8436971" y="4621036"/>
              <a:ext cx="195580" cy="879475"/>
            </a:xfrm>
            <a:custGeom>
              <a:avLst/>
              <a:gdLst/>
              <a:ahLst/>
              <a:cxnLst/>
              <a:rect l="l" t="t" r="r" b="b"/>
              <a:pathLst>
                <a:path w="195579" h="879475">
                  <a:moveTo>
                    <a:pt x="195403" y="0"/>
                  </a:moveTo>
                  <a:lnTo>
                    <a:pt x="0" y="0"/>
                  </a:lnTo>
                  <a:lnTo>
                    <a:pt x="0" y="879316"/>
                  </a:lnTo>
                  <a:lnTo>
                    <a:pt x="195403" y="879316"/>
                  </a:lnTo>
                  <a:lnTo>
                    <a:pt x="195403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5" name="object 55"/>
            <p:cNvSpPr/>
            <p:nvPr/>
          </p:nvSpPr>
          <p:spPr>
            <a:xfrm>
              <a:off x="8436971" y="4621036"/>
              <a:ext cx="195580" cy="879475"/>
            </a:xfrm>
            <a:custGeom>
              <a:avLst/>
              <a:gdLst/>
              <a:ahLst/>
              <a:cxnLst/>
              <a:rect l="l" t="t" r="r" b="b"/>
              <a:pathLst>
                <a:path w="195579" h="879475">
                  <a:moveTo>
                    <a:pt x="0" y="0"/>
                  </a:moveTo>
                  <a:lnTo>
                    <a:pt x="195403" y="0"/>
                  </a:lnTo>
                  <a:lnTo>
                    <a:pt x="195403" y="879316"/>
                  </a:lnTo>
                  <a:lnTo>
                    <a:pt x="0" y="879316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6" name="object 56"/>
            <p:cNvSpPr/>
            <p:nvPr/>
          </p:nvSpPr>
          <p:spPr>
            <a:xfrm>
              <a:off x="1825254" y="2006671"/>
              <a:ext cx="1905" cy="3493770"/>
            </a:xfrm>
            <a:custGeom>
              <a:avLst/>
              <a:gdLst/>
              <a:ahLst/>
              <a:cxnLst/>
              <a:rect l="l" t="t" r="r" b="b"/>
              <a:pathLst>
                <a:path w="1905" h="3493770">
                  <a:moveTo>
                    <a:pt x="0" y="0"/>
                  </a:moveTo>
                  <a:lnTo>
                    <a:pt x="1685" y="3493681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7" name="object 57"/>
            <p:cNvSpPr/>
            <p:nvPr/>
          </p:nvSpPr>
          <p:spPr>
            <a:xfrm>
              <a:off x="1786511" y="5500352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5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8" name="object 58"/>
            <p:cNvSpPr/>
            <p:nvPr/>
          </p:nvSpPr>
          <p:spPr>
            <a:xfrm>
              <a:off x="1786511" y="5146603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5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9" name="object 59"/>
            <p:cNvSpPr/>
            <p:nvPr/>
          </p:nvSpPr>
          <p:spPr>
            <a:xfrm>
              <a:off x="1786511" y="4804648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0" name="object 60"/>
            <p:cNvSpPr/>
            <p:nvPr/>
          </p:nvSpPr>
          <p:spPr>
            <a:xfrm>
              <a:off x="1786511" y="4450900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1" name="object 61"/>
            <p:cNvSpPr/>
            <p:nvPr/>
          </p:nvSpPr>
          <p:spPr>
            <a:xfrm>
              <a:off x="1786511" y="4107260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2" name="object 62"/>
            <p:cNvSpPr/>
            <p:nvPr/>
          </p:nvSpPr>
          <p:spPr>
            <a:xfrm>
              <a:off x="1786511" y="3753511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3" name="object 63"/>
            <p:cNvSpPr/>
            <p:nvPr/>
          </p:nvSpPr>
          <p:spPr>
            <a:xfrm>
              <a:off x="1786511" y="3399764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4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4" name="object 64"/>
            <p:cNvSpPr/>
            <p:nvPr/>
          </p:nvSpPr>
          <p:spPr>
            <a:xfrm>
              <a:off x="1786511" y="3056123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5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5" name="object 65"/>
            <p:cNvSpPr/>
            <p:nvPr/>
          </p:nvSpPr>
          <p:spPr>
            <a:xfrm>
              <a:off x="1786511" y="2702375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5">
                  <a:moveTo>
                    <a:pt x="0" y="0"/>
                  </a:moveTo>
                  <a:lnTo>
                    <a:pt x="79171" y="1683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6" name="object 66"/>
            <p:cNvSpPr/>
            <p:nvPr/>
          </p:nvSpPr>
          <p:spPr>
            <a:xfrm>
              <a:off x="1786511" y="2360418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5">
                  <a:moveTo>
                    <a:pt x="0" y="0"/>
                  </a:moveTo>
                  <a:lnTo>
                    <a:pt x="79171" y="1685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7" name="object 67"/>
            <p:cNvSpPr/>
            <p:nvPr/>
          </p:nvSpPr>
          <p:spPr>
            <a:xfrm>
              <a:off x="1786511" y="2006671"/>
              <a:ext cx="79375" cy="1905"/>
            </a:xfrm>
            <a:custGeom>
              <a:avLst/>
              <a:gdLst/>
              <a:ahLst/>
              <a:cxnLst/>
              <a:rect l="l" t="t" r="r" b="b"/>
              <a:pathLst>
                <a:path w="79375" h="1905">
                  <a:moveTo>
                    <a:pt x="0" y="0"/>
                  </a:moveTo>
                  <a:lnTo>
                    <a:pt x="79171" y="1685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8" name="object 68"/>
            <p:cNvSpPr/>
            <p:nvPr/>
          </p:nvSpPr>
          <p:spPr>
            <a:xfrm>
              <a:off x="1825254" y="5500352"/>
              <a:ext cx="6861175" cy="1905"/>
            </a:xfrm>
            <a:custGeom>
              <a:avLst/>
              <a:gdLst/>
              <a:ahLst/>
              <a:cxnLst/>
              <a:rect l="l" t="t" r="r" b="b"/>
              <a:pathLst>
                <a:path w="6861175" h="1904">
                  <a:moveTo>
                    <a:pt x="0" y="0"/>
                  </a:moveTo>
                  <a:lnTo>
                    <a:pt x="6861024" y="1685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69" name="object 69"/>
            <p:cNvSpPr/>
            <p:nvPr/>
          </p:nvSpPr>
          <p:spPr>
            <a:xfrm>
              <a:off x="1825254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5" h="69214">
                  <a:moveTo>
                    <a:pt x="0" y="69065"/>
                  </a:moveTo>
                  <a:lnTo>
                    <a:pt x="1685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0" name="object 70"/>
            <p:cNvSpPr/>
            <p:nvPr/>
          </p:nvSpPr>
          <p:spPr>
            <a:xfrm>
              <a:off x="2507482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5" h="69214">
                  <a:moveTo>
                    <a:pt x="0" y="69065"/>
                  </a:moveTo>
                  <a:lnTo>
                    <a:pt x="1683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1" name="object 71"/>
            <p:cNvSpPr/>
            <p:nvPr/>
          </p:nvSpPr>
          <p:spPr>
            <a:xfrm>
              <a:off x="3203186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5" h="69214">
                  <a:moveTo>
                    <a:pt x="0" y="69065"/>
                  </a:moveTo>
                  <a:lnTo>
                    <a:pt x="1685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2" name="object 72"/>
            <p:cNvSpPr/>
            <p:nvPr/>
          </p:nvSpPr>
          <p:spPr>
            <a:xfrm>
              <a:off x="3885415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3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3" name="object 73"/>
            <p:cNvSpPr/>
            <p:nvPr/>
          </p:nvSpPr>
          <p:spPr>
            <a:xfrm>
              <a:off x="4567642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5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4" name="object 74"/>
            <p:cNvSpPr/>
            <p:nvPr/>
          </p:nvSpPr>
          <p:spPr>
            <a:xfrm>
              <a:off x="5261663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5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5" name="object 75"/>
            <p:cNvSpPr/>
            <p:nvPr/>
          </p:nvSpPr>
          <p:spPr>
            <a:xfrm>
              <a:off x="5943891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3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6" name="object 76"/>
            <p:cNvSpPr/>
            <p:nvPr/>
          </p:nvSpPr>
          <p:spPr>
            <a:xfrm>
              <a:off x="6626119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5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7" name="object 77"/>
            <p:cNvSpPr/>
            <p:nvPr/>
          </p:nvSpPr>
          <p:spPr>
            <a:xfrm>
              <a:off x="7308347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3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8" name="object 78"/>
            <p:cNvSpPr/>
            <p:nvPr/>
          </p:nvSpPr>
          <p:spPr>
            <a:xfrm>
              <a:off x="8004050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5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79" name="object 79"/>
            <p:cNvSpPr/>
            <p:nvPr/>
          </p:nvSpPr>
          <p:spPr>
            <a:xfrm>
              <a:off x="8686279" y="5466662"/>
              <a:ext cx="1905" cy="69215"/>
            </a:xfrm>
            <a:custGeom>
              <a:avLst/>
              <a:gdLst/>
              <a:ahLst/>
              <a:cxnLst/>
              <a:rect l="l" t="t" r="r" b="b"/>
              <a:pathLst>
                <a:path w="1904" h="69214">
                  <a:moveTo>
                    <a:pt x="0" y="69065"/>
                  </a:moveTo>
                  <a:lnTo>
                    <a:pt x="1683" y="0"/>
                  </a:lnTo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2653825" y="4668371"/>
            <a:ext cx="21403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0%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336052" y="4523143"/>
            <a:ext cx="21403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1%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3938019" y="3899199"/>
            <a:ext cx="21403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5%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4575658" y="3748591"/>
            <a:ext cx="21403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6%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177623" y="3748591"/>
            <a:ext cx="21403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6%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743916" y="2982109"/>
            <a:ext cx="281268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11%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391959" y="4060564"/>
            <a:ext cx="21403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4%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993926" y="3748591"/>
            <a:ext cx="21403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6%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607782" y="3899199"/>
            <a:ext cx="21403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5%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121717" y="4523143"/>
            <a:ext cx="21403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1%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427598" y="4138557"/>
            <a:ext cx="21403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4%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427598" y="3826585"/>
            <a:ext cx="214032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6%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356254" y="3210708"/>
            <a:ext cx="285190" cy="50542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10%</a:t>
            </a:r>
            <a:endParaRPr sz="1147">
              <a:latin typeface="Times New Roman"/>
              <a:cs typeface="Times New Roman"/>
            </a:endParaRPr>
          </a:p>
          <a:p>
            <a:pPr marL="82368">
              <a:spcBef>
                <a:spcPts val="1077"/>
              </a:spcBef>
            </a:pPr>
            <a:r>
              <a:rPr sz="1147" spc="-22" dirty="0">
                <a:latin typeface="Times New Roman"/>
                <a:cs typeface="Times New Roman"/>
              </a:rPr>
              <a:t>8%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356254" y="2898737"/>
            <a:ext cx="28519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12%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356254" y="2594834"/>
            <a:ext cx="28519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14%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356254" y="2282863"/>
            <a:ext cx="28519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16%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356254" y="1981648"/>
            <a:ext cx="28519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18%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356254" y="1669677"/>
            <a:ext cx="285190" cy="18783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147" spc="-22" dirty="0">
                <a:latin typeface="Times New Roman"/>
                <a:cs typeface="Times New Roman"/>
              </a:rPr>
              <a:t>20%</a:t>
            </a:r>
            <a:endParaRPr sz="1147">
              <a:latin typeface="Times New Roman"/>
              <a:cs typeface="Times New Roman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121033" y="5716813"/>
            <a:ext cx="81803" cy="72838"/>
            <a:chOff x="2251437" y="6479055"/>
            <a:chExt cx="92710" cy="82550"/>
          </a:xfrm>
        </p:grpSpPr>
        <p:sp>
          <p:nvSpPr>
            <p:cNvPr id="99" name="object 99"/>
            <p:cNvSpPr/>
            <p:nvPr/>
          </p:nvSpPr>
          <p:spPr>
            <a:xfrm>
              <a:off x="2258175" y="6485793"/>
              <a:ext cx="79375" cy="69215"/>
            </a:xfrm>
            <a:custGeom>
              <a:avLst/>
              <a:gdLst/>
              <a:ahLst/>
              <a:cxnLst/>
              <a:rect l="l" t="t" r="r" b="b"/>
              <a:pathLst>
                <a:path w="79375" h="69215">
                  <a:moveTo>
                    <a:pt x="79170" y="0"/>
                  </a:moveTo>
                  <a:lnTo>
                    <a:pt x="0" y="0"/>
                  </a:lnTo>
                  <a:lnTo>
                    <a:pt x="0" y="69064"/>
                  </a:lnTo>
                  <a:lnTo>
                    <a:pt x="79170" y="69064"/>
                  </a:lnTo>
                  <a:lnTo>
                    <a:pt x="79170" y="0"/>
                  </a:lnTo>
                  <a:close/>
                </a:path>
              </a:pathLst>
            </a:custGeom>
            <a:solidFill>
              <a:srgbClr val="DD080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258175" y="6485793"/>
              <a:ext cx="79375" cy="69215"/>
            </a:xfrm>
            <a:custGeom>
              <a:avLst/>
              <a:gdLst/>
              <a:ahLst/>
              <a:cxnLst/>
              <a:rect l="l" t="t" r="r" b="b"/>
              <a:pathLst>
                <a:path w="79375" h="69215">
                  <a:moveTo>
                    <a:pt x="0" y="0"/>
                  </a:moveTo>
                  <a:lnTo>
                    <a:pt x="79171" y="0"/>
                  </a:lnTo>
                  <a:lnTo>
                    <a:pt x="79171" y="69064"/>
                  </a:lnTo>
                  <a:lnTo>
                    <a:pt x="0" y="69064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01" name="object 101"/>
          <p:cNvGrpSpPr/>
          <p:nvPr/>
        </p:nvGrpSpPr>
        <p:grpSpPr>
          <a:xfrm>
            <a:off x="4112723" y="5716813"/>
            <a:ext cx="80682" cy="72838"/>
            <a:chOff x="4508686" y="6479055"/>
            <a:chExt cx="91440" cy="82550"/>
          </a:xfrm>
        </p:grpSpPr>
        <p:sp>
          <p:nvSpPr>
            <p:cNvPr id="102" name="object 102"/>
            <p:cNvSpPr/>
            <p:nvPr/>
          </p:nvSpPr>
          <p:spPr>
            <a:xfrm>
              <a:off x="4515424" y="6485793"/>
              <a:ext cx="78105" cy="69215"/>
            </a:xfrm>
            <a:custGeom>
              <a:avLst/>
              <a:gdLst/>
              <a:ahLst/>
              <a:cxnLst/>
              <a:rect l="l" t="t" r="r" b="b"/>
              <a:pathLst>
                <a:path w="78104" h="69215">
                  <a:moveTo>
                    <a:pt x="77487" y="0"/>
                  </a:moveTo>
                  <a:lnTo>
                    <a:pt x="0" y="0"/>
                  </a:lnTo>
                  <a:lnTo>
                    <a:pt x="0" y="69064"/>
                  </a:lnTo>
                  <a:lnTo>
                    <a:pt x="77487" y="69064"/>
                  </a:lnTo>
                  <a:lnTo>
                    <a:pt x="77487" y="0"/>
                  </a:lnTo>
                  <a:close/>
                </a:path>
              </a:pathLst>
            </a:custGeom>
            <a:solidFill>
              <a:srgbClr val="1FB71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515424" y="6485793"/>
              <a:ext cx="78105" cy="69215"/>
            </a:xfrm>
            <a:custGeom>
              <a:avLst/>
              <a:gdLst/>
              <a:ahLst/>
              <a:cxnLst/>
              <a:rect l="l" t="t" r="r" b="b"/>
              <a:pathLst>
                <a:path w="78104" h="69215">
                  <a:moveTo>
                    <a:pt x="0" y="0"/>
                  </a:moveTo>
                  <a:lnTo>
                    <a:pt x="77487" y="0"/>
                  </a:lnTo>
                  <a:lnTo>
                    <a:pt x="77487" y="69064"/>
                  </a:lnTo>
                  <a:lnTo>
                    <a:pt x="0" y="69064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grpSp>
        <p:nvGrpSpPr>
          <p:cNvPr id="104" name="object 104"/>
          <p:cNvGrpSpPr/>
          <p:nvPr/>
        </p:nvGrpSpPr>
        <p:grpSpPr>
          <a:xfrm>
            <a:off x="6091035" y="5716813"/>
            <a:ext cx="81803" cy="72838"/>
            <a:chOff x="6750773" y="6479055"/>
            <a:chExt cx="92710" cy="82550"/>
          </a:xfrm>
        </p:grpSpPr>
        <p:sp>
          <p:nvSpPr>
            <p:cNvPr id="105" name="object 105"/>
            <p:cNvSpPr/>
            <p:nvPr/>
          </p:nvSpPr>
          <p:spPr>
            <a:xfrm>
              <a:off x="6757511" y="6485793"/>
              <a:ext cx="79375" cy="69215"/>
            </a:xfrm>
            <a:custGeom>
              <a:avLst/>
              <a:gdLst/>
              <a:ahLst/>
              <a:cxnLst/>
              <a:rect l="l" t="t" r="r" b="b"/>
              <a:pathLst>
                <a:path w="79375" h="69215">
                  <a:moveTo>
                    <a:pt x="79173" y="0"/>
                  </a:moveTo>
                  <a:lnTo>
                    <a:pt x="0" y="0"/>
                  </a:lnTo>
                  <a:lnTo>
                    <a:pt x="0" y="69064"/>
                  </a:lnTo>
                  <a:lnTo>
                    <a:pt x="79173" y="69064"/>
                  </a:lnTo>
                  <a:lnTo>
                    <a:pt x="79173" y="0"/>
                  </a:lnTo>
                  <a:close/>
                </a:path>
              </a:pathLst>
            </a:custGeom>
            <a:solidFill>
              <a:srgbClr val="0000D4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757511" y="6485793"/>
              <a:ext cx="79375" cy="69215"/>
            </a:xfrm>
            <a:custGeom>
              <a:avLst/>
              <a:gdLst/>
              <a:ahLst/>
              <a:cxnLst/>
              <a:rect l="l" t="t" r="r" b="b"/>
              <a:pathLst>
                <a:path w="79375" h="69215">
                  <a:moveTo>
                    <a:pt x="0" y="0"/>
                  </a:moveTo>
                  <a:lnTo>
                    <a:pt x="79172" y="0"/>
                  </a:lnTo>
                  <a:lnTo>
                    <a:pt x="79172" y="69064"/>
                  </a:lnTo>
                  <a:lnTo>
                    <a:pt x="0" y="69064"/>
                  </a:lnTo>
                  <a:lnTo>
                    <a:pt x="0" y="0"/>
                  </a:lnTo>
                  <a:close/>
                </a:path>
              </a:pathLst>
            </a:custGeom>
            <a:ln w="134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2092791" y="5660333"/>
            <a:ext cx="5358653" cy="170107"/>
          </a:xfrm>
          <a:prstGeom prst="rect">
            <a:avLst/>
          </a:prstGeom>
          <a:ln w="13476">
            <a:solidFill>
              <a:srgbClr val="000000"/>
            </a:solidFill>
          </a:ln>
        </p:spPr>
        <p:txBody>
          <a:bodyPr vert="horz" wrap="square" lIns="0" tIns="3362" rIns="0" bIns="0" rtlCol="0">
            <a:spAutoFit/>
          </a:bodyPr>
          <a:lstStyle/>
          <a:p>
            <a:pPr marL="179304">
              <a:lnSpc>
                <a:spcPts val="1328"/>
              </a:lnSpc>
              <a:spcBef>
                <a:spcPts val="26"/>
              </a:spcBef>
              <a:tabLst>
                <a:tab pos="2169575" algn="l"/>
                <a:tab pos="4148079" algn="l"/>
              </a:tabLst>
            </a:pPr>
            <a:r>
              <a:rPr sz="1147" dirty="0">
                <a:latin typeface="Times New Roman"/>
                <a:cs typeface="Times New Roman"/>
              </a:rPr>
              <a:t>4,096</a:t>
            </a:r>
            <a:r>
              <a:rPr sz="1147" spc="-57" dirty="0">
                <a:latin typeface="Times New Roman"/>
                <a:cs typeface="Times New Roman"/>
              </a:rPr>
              <a:t> </a:t>
            </a:r>
            <a:r>
              <a:rPr sz="1147" dirty="0">
                <a:latin typeface="Times New Roman"/>
                <a:cs typeface="Times New Roman"/>
              </a:rPr>
              <a:t>entries:</a:t>
            </a:r>
            <a:r>
              <a:rPr sz="1147" spc="199" dirty="0">
                <a:latin typeface="Times New Roman"/>
                <a:cs typeface="Times New Roman"/>
              </a:rPr>
              <a:t> </a:t>
            </a:r>
            <a:r>
              <a:rPr sz="1147" spc="-22" dirty="0">
                <a:latin typeface="Times New Roman"/>
                <a:cs typeface="Times New Roman"/>
              </a:rPr>
              <a:t>2-</a:t>
            </a:r>
            <a:r>
              <a:rPr sz="1147" dirty="0">
                <a:latin typeface="Times New Roman"/>
                <a:cs typeface="Times New Roman"/>
              </a:rPr>
              <a:t>bits</a:t>
            </a:r>
            <a:r>
              <a:rPr sz="1147" spc="-57" dirty="0">
                <a:latin typeface="Times New Roman"/>
                <a:cs typeface="Times New Roman"/>
              </a:rPr>
              <a:t> </a:t>
            </a:r>
            <a:r>
              <a:rPr sz="1147" dirty="0">
                <a:latin typeface="Times New Roman"/>
                <a:cs typeface="Times New Roman"/>
              </a:rPr>
              <a:t>per</a:t>
            </a:r>
            <a:r>
              <a:rPr sz="1147" spc="-53" dirty="0">
                <a:latin typeface="Times New Roman"/>
                <a:cs typeface="Times New Roman"/>
              </a:rPr>
              <a:t> </a:t>
            </a:r>
            <a:r>
              <a:rPr sz="1147" spc="-9" dirty="0">
                <a:latin typeface="Times New Roman"/>
                <a:cs typeface="Times New Roman"/>
              </a:rPr>
              <a:t>entry</a:t>
            </a:r>
            <a:r>
              <a:rPr sz="1147" dirty="0">
                <a:latin typeface="Times New Roman"/>
                <a:cs typeface="Times New Roman"/>
              </a:rPr>
              <a:t>	</a:t>
            </a:r>
            <a:r>
              <a:rPr sz="1147" spc="-9" dirty="0">
                <a:latin typeface="Times New Roman"/>
                <a:cs typeface="Times New Roman"/>
              </a:rPr>
              <a:t>Unlimited</a:t>
            </a:r>
            <a:r>
              <a:rPr sz="1147" spc="-49" dirty="0">
                <a:latin typeface="Times New Roman"/>
                <a:cs typeface="Times New Roman"/>
              </a:rPr>
              <a:t> </a:t>
            </a:r>
            <a:r>
              <a:rPr sz="1147" dirty="0">
                <a:latin typeface="Times New Roman"/>
                <a:cs typeface="Times New Roman"/>
              </a:rPr>
              <a:t>entries:</a:t>
            </a:r>
            <a:r>
              <a:rPr sz="1147" spc="216" dirty="0">
                <a:latin typeface="Times New Roman"/>
                <a:cs typeface="Times New Roman"/>
              </a:rPr>
              <a:t> </a:t>
            </a:r>
            <a:r>
              <a:rPr sz="1147" spc="-26" dirty="0">
                <a:latin typeface="Times New Roman"/>
                <a:cs typeface="Times New Roman"/>
              </a:rPr>
              <a:t>2-</a:t>
            </a:r>
            <a:r>
              <a:rPr sz="1147" spc="-9" dirty="0">
                <a:latin typeface="Times New Roman"/>
                <a:cs typeface="Times New Roman"/>
              </a:rPr>
              <a:t>bits/entry</a:t>
            </a:r>
            <a:r>
              <a:rPr sz="1147" dirty="0">
                <a:latin typeface="Times New Roman"/>
                <a:cs typeface="Times New Roman"/>
              </a:rPr>
              <a:t>	1,024</a:t>
            </a:r>
            <a:r>
              <a:rPr sz="1147" spc="-49" dirty="0">
                <a:latin typeface="Times New Roman"/>
                <a:cs typeface="Times New Roman"/>
              </a:rPr>
              <a:t> </a:t>
            </a:r>
            <a:r>
              <a:rPr sz="1147" spc="-9" dirty="0">
                <a:latin typeface="Times New Roman"/>
                <a:cs typeface="Times New Roman"/>
              </a:rPr>
              <a:t>entries</a:t>
            </a:r>
            <a:r>
              <a:rPr sz="1147" spc="-49" dirty="0">
                <a:latin typeface="Times New Roman"/>
                <a:cs typeface="Times New Roman"/>
              </a:rPr>
              <a:t> </a:t>
            </a:r>
            <a:r>
              <a:rPr sz="1147" spc="-9" dirty="0">
                <a:latin typeface="Times New Roman"/>
                <a:cs typeface="Times New Roman"/>
              </a:rPr>
              <a:t>(2,2)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Accuracy</a:t>
            </a:r>
            <a:r>
              <a:rPr spc="-31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Different</a:t>
            </a:r>
            <a:r>
              <a:rPr spc="-31" dirty="0"/>
              <a:t> </a:t>
            </a:r>
            <a:r>
              <a:rPr spc="-9" dirty="0"/>
              <a:t>Schemes</a:t>
            </a:r>
          </a:p>
        </p:txBody>
      </p:sp>
      <p:sp>
        <p:nvSpPr>
          <p:cNvPr id="109" name="object 109"/>
          <p:cNvSpPr txBox="1"/>
          <p:nvPr/>
        </p:nvSpPr>
        <p:spPr>
          <a:xfrm>
            <a:off x="2396689" y="1782631"/>
            <a:ext cx="2864224" cy="3507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6" b="1" dirty="0">
                <a:solidFill>
                  <a:srgbClr val="FF0000"/>
                </a:solidFill>
                <a:latin typeface="Times New Roman"/>
                <a:cs typeface="Times New Roman"/>
              </a:rPr>
              <a:t>4096</a:t>
            </a:r>
            <a:r>
              <a:rPr sz="2206" b="1" spc="57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6" b="1" dirty="0">
                <a:solidFill>
                  <a:srgbClr val="FF0000"/>
                </a:solidFill>
                <a:latin typeface="Times New Roman"/>
                <a:cs typeface="Times New Roman"/>
              </a:rPr>
              <a:t>Entries</a:t>
            </a:r>
            <a:r>
              <a:rPr sz="2206" b="1" spc="7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6" b="1" dirty="0">
                <a:solidFill>
                  <a:srgbClr val="FF0000"/>
                </a:solidFill>
                <a:latin typeface="Times New Roman"/>
                <a:cs typeface="Times New Roman"/>
              </a:rPr>
              <a:t>2-bit</a:t>
            </a:r>
            <a:r>
              <a:rPr sz="2206" b="1" spc="6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6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BHT</a:t>
            </a:r>
            <a:endParaRPr sz="2206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2396690" y="2132255"/>
            <a:ext cx="3513604" cy="6902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2206" b="1" dirty="0">
                <a:solidFill>
                  <a:srgbClr val="00AE00"/>
                </a:solidFill>
                <a:latin typeface="Times New Roman"/>
                <a:cs typeface="Times New Roman"/>
              </a:rPr>
              <a:t>Unlimited</a:t>
            </a:r>
            <a:r>
              <a:rPr sz="2206" b="1" spc="79" dirty="0">
                <a:solidFill>
                  <a:srgbClr val="00AE00"/>
                </a:solidFill>
                <a:latin typeface="Times New Roman"/>
                <a:cs typeface="Times New Roman"/>
              </a:rPr>
              <a:t> </a:t>
            </a:r>
            <a:r>
              <a:rPr sz="2206" b="1" dirty="0">
                <a:solidFill>
                  <a:srgbClr val="00AE00"/>
                </a:solidFill>
                <a:latin typeface="Times New Roman"/>
                <a:cs typeface="Times New Roman"/>
              </a:rPr>
              <a:t>Entries</a:t>
            </a:r>
            <a:r>
              <a:rPr sz="2206" b="1" spc="75" dirty="0">
                <a:solidFill>
                  <a:srgbClr val="00AE00"/>
                </a:solidFill>
                <a:latin typeface="Times New Roman"/>
                <a:cs typeface="Times New Roman"/>
              </a:rPr>
              <a:t> </a:t>
            </a:r>
            <a:r>
              <a:rPr sz="2206" b="1" dirty="0">
                <a:solidFill>
                  <a:srgbClr val="00AE00"/>
                </a:solidFill>
                <a:latin typeface="Times New Roman"/>
                <a:cs typeface="Times New Roman"/>
              </a:rPr>
              <a:t>2-bit</a:t>
            </a:r>
            <a:r>
              <a:rPr sz="2206" b="1" spc="71" dirty="0">
                <a:solidFill>
                  <a:srgbClr val="00AE00"/>
                </a:solidFill>
                <a:latin typeface="Times New Roman"/>
                <a:cs typeface="Times New Roman"/>
              </a:rPr>
              <a:t> </a:t>
            </a:r>
            <a:r>
              <a:rPr sz="2206" b="1" spc="-22" dirty="0">
                <a:solidFill>
                  <a:srgbClr val="00AE00"/>
                </a:solidFill>
                <a:latin typeface="Times New Roman"/>
                <a:cs typeface="Times New Roman"/>
              </a:rPr>
              <a:t>BHT </a:t>
            </a:r>
            <a:r>
              <a:rPr sz="2206" b="1" dirty="0">
                <a:solidFill>
                  <a:srgbClr val="114FFB"/>
                </a:solidFill>
                <a:latin typeface="Times New Roman"/>
                <a:cs typeface="Times New Roman"/>
              </a:rPr>
              <a:t>1024</a:t>
            </a:r>
            <a:r>
              <a:rPr sz="2206" b="1" spc="71" dirty="0">
                <a:solidFill>
                  <a:srgbClr val="114FFB"/>
                </a:solidFill>
                <a:latin typeface="Times New Roman"/>
                <a:cs typeface="Times New Roman"/>
              </a:rPr>
              <a:t> </a:t>
            </a:r>
            <a:r>
              <a:rPr sz="2206" b="1" dirty="0">
                <a:solidFill>
                  <a:srgbClr val="114FFB"/>
                </a:solidFill>
                <a:latin typeface="Times New Roman"/>
                <a:cs typeface="Times New Roman"/>
              </a:rPr>
              <a:t>Entries</a:t>
            </a:r>
            <a:r>
              <a:rPr sz="2206" b="1" spc="71" dirty="0">
                <a:solidFill>
                  <a:srgbClr val="114FFB"/>
                </a:solidFill>
                <a:latin typeface="Times New Roman"/>
                <a:cs typeface="Times New Roman"/>
              </a:rPr>
              <a:t> </a:t>
            </a:r>
            <a:r>
              <a:rPr sz="2206" b="1" dirty="0">
                <a:solidFill>
                  <a:srgbClr val="114FFB"/>
                </a:solidFill>
                <a:latin typeface="Times New Roman"/>
                <a:cs typeface="Times New Roman"/>
              </a:rPr>
              <a:t>(2,2)</a:t>
            </a:r>
            <a:r>
              <a:rPr sz="2206" b="1" spc="66" dirty="0">
                <a:solidFill>
                  <a:srgbClr val="114FFB"/>
                </a:solidFill>
                <a:latin typeface="Times New Roman"/>
                <a:cs typeface="Times New Roman"/>
              </a:rPr>
              <a:t> </a:t>
            </a:r>
            <a:r>
              <a:rPr sz="2206" b="1" spc="-22" dirty="0">
                <a:solidFill>
                  <a:srgbClr val="114FFB"/>
                </a:solidFill>
                <a:latin typeface="Times New Roman"/>
                <a:cs typeface="Times New Roman"/>
              </a:rPr>
              <a:t>BHT</a:t>
            </a:r>
            <a:endParaRPr sz="2206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975209" y="4369160"/>
            <a:ext cx="750234" cy="964446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463388">
              <a:spcBef>
                <a:spcPts val="644"/>
              </a:spcBef>
            </a:pPr>
            <a:r>
              <a:rPr sz="1147" spc="-22" dirty="0">
                <a:latin typeface="Times New Roman"/>
                <a:cs typeface="Times New Roman"/>
              </a:rPr>
              <a:t>2%</a:t>
            </a:r>
            <a:endParaRPr sz="1147">
              <a:latin typeface="Times New Roman"/>
              <a:cs typeface="Times New Roman"/>
            </a:endParaRPr>
          </a:p>
          <a:p>
            <a:pPr marL="421924">
              <a:spcBef>
                <a:spcPts val="728"/>
              </a:spcBef>
            </a:pPr>
            <a:r>
              <a:rPr sz="1500" spc="-22" dirty="0">
                <a:latin typeface="Times New Roman"/>
                <a:cs typeface="Times New Roman"/>
              </a:rPr>
              <a:t>0%</a:t>
            </a:r>
            <a:endParaRPr sz="1500">
              <a:latin typeface="Times New Roman"/>
              <a:cs typeface="Times New Roman"/>
            </a:endParaRPr>
          </a:p>
          <a:p>
            <a:pPr marL="11206">
              <a:spcBef>
                <a:spcPts val="1204"/>
              </a:spcBef>
            </a:pPr>
            <a:r>
              <a:rPr sz="1500" b="1" spc="-9" dirty="0">
                <a:latin typeface="Arial"/>
                <a:cs typeface="Arial"/>
              </a:rPr>
              <a:t>SPEC89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948442" y="4941520"/>
            <a:ext cx="166712" cy="34962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nasa7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2522167" y="4941899"/>
            <a:ext cx="166712" cy="612962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matrix300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770689" y="4940500"/>
            <a:ext cx="166712" cy="44487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doducd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366712" y="4941289"/>
            <a:ext cx="166712" cy="31768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spice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971652" y="4939608"/>
            <a:ext cx="166712" cy="35690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fpppp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5589959" y="4942229"/>
            <a:ext cx="166712" cy="222437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22" dirty="0">
                <a:latin typeface="Times New Roman"/>
                <a:cs typeface="Times New Roman"/>
              </a:rPr>
              <a:t>gcc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6790927" y="4942473"/>
            <a:ext cx="166712" cy="421341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eqntott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7398836" y="4943554"/>
            <a:ext cx="166712" cy="10309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22" dirty="0">
                <a:latin typeface="Times New Roman"/>
                <a:cs typeface="Times New Roman"/>
              </a:rPr>
              <a:t>li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164264" y="4942442"/>
            <a:ext cx="166712" cy="4857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1206">
              <a:lnSpc>
                <a:spcPts val="1341"/>
              </a:lnSpc>
            </a:pPr>
            <a:r>
              <a:rPr sz="1147" spc="-9" dirty="0">
                <a:latin typeface="Times New Roman"/>
                <a:cs typeface="Times New Roman"/>
              </a:rPr>
              <a:t>tomcatv</a:t>
            </a:r>
            <a:endParaRPr sz="1147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6691606" y="5950323"/>
            <a:ext cx="1157007" cy="21508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324" dirty="0">
                <a:latin typeface="Arial MT"/>
                <a:cs typeface="Arial MT"/>
              </a:rPr>
              <a:t>H&amp;P</a:t>
            </a:r>
            <a:r>
              <a:rPr sz="1324" spc="-71" dirty="0">
                <a:latin typeface="Arial MT"/>
                <a:cs typeface="Arial MT"/>
              </a:rPr>
              <a:t> </a:t>
            </a:r>
            <a:r>
              <a:rPr sz="1324" spc="-9" dirty="0">
                <a:latin typeface="Arial MT"/>
                <a:cs typeface="Arial MT"/>
              </a:rPr>
              <a:t>Figure</a:t>
            </a:r>
            <a:r>
              <a:rPr sz="1324" spc="-53" dirty="0">
                <a:latin typeface="Arial MT"/>
                <a:cs typeface="Arial MT"/>
              </a:rPr>
              <a:t> </a:t>
            </a:r>
            <a:r>
              <a:rPr sz="1324" spc="-22" dirty="0">
                <a:latin typeface="Arial MT"/>
                <a:cs typeface="Arial MT"/>
              </a:rPr>
              <a:t>3.3</a:t>
            </a:r>
            <a:endParaRPr sz="1324">
              <a:latin typeface="Arial MT"/>
              <a:cs typeface="Arial MT"/>
            </a:endParaRPr>
          </a:p>
        </p:txBody>
      </p:sp>
      <p:sp>
        <p:nvSpPr>
          <p:cNvPr id="123" name="Slide Number Placeholder 4">
            <a:extLst>
              <a:ext uri="{FF2B5EF4-FFF2-40B4-BE49-F238E27FC236}">
                <a16:creationId xmlns:a16="http://schemas.microsoft.com/office/drawing/2014/main" id="{0AAEDEDC-C38E-0173-5F96-94AF5CB4A45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13</a:t>
            </a:fld>
            <a:endParaRPr lang="en-US" spc="-4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50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Review</a:t>
            </a:r>
            <a:r>
              <a:rPr spc="-44" dirty="0"/>
              <a:t> </a:t>
            </a:r>
            <a:r>
              <a:rPr spc="-9" dirty="0"/>
              <a:t>Question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0342" y="1320052"/>
            <a:ext cx="7381875" cy="3530793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Consider</a:t>
            </a:r>
            <a:r>
              <a:rPr sz="2400" spc="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2-bit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hysteresis</a:t>
            </a:r>
            <a:r>
              <a:rPr sz="2400" spc="22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counter.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Choose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invalid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counter </a:t>
            </a:r>
            <a:r>
              <a:rPr sz="2400" dirty="0">
                <a:latin typeface="Calibri"/>
                <a:cs typeface="Calibri"/>
              </a:rPr>
              <a:t>sequence.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(assume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initial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value)</a:t>
            </a:r>
            <a:endParaRPr sz="2400" dirty="0">
              <a:latin typeface="Calibri"/>
              <a:cs typeface="Calibri"/>
            </a:endParaRPr>
          </a:p>
          <a:p>
            <a:pPr>
              <a:spcBef>
                <a:spcPts val="979"/>
              </a:spcBef>
              <a:buFont typeface="Calibri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759799" lvl="1" indent="-320505">
              <a:spcAft>
                <a:spcPts val="600"/>
              </a:spcAft>
              <a:buAutoNum type="alphaUcPeriod"/>
              <a:tabLst>
                <a:tab pos="759799" algn="l"/>
              </a:tabLst>
            </a:pP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00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lang="en-US"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01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11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00</a:t>
            </a:r>
            <a:endParaRPr sz="2400" dirty="0">
              <a:latin typeface="Calibri"/>
              <a:cs typeface="Calibri"/>
            </a:endParaRPr>
          </a:p>
          <a:p>
            <a:pPr marL="759799" lvl="1" indent="-320505">
              <a:spcBef>
                <a:spcPts val="379"/>
              </a:spcBef>
              <a:spcAft>
                <a:spcPts val="600"/>
              </a:spcAft>
              <a:buAutoNum type="alphaUcPeriod"/>
              <a:tabLst>
                <a:tab pos="759799" algn="l"/>
              </a:tabLst>
            </a:pP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01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lang="en-US"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11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11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00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01</a:t>
            </a:r>
            <a:endParaRPr sz="2400" dirty="0">
              <a:latin typeface="Calibri"/>
              <a:cs typeface="Calibri"/>
            </a:endParaRPr>
          </a:p>
          <a:p>
            <a:pPr marL="759799" lvl="1" indent="-320505">
              <a:spcBef>
                <a:spcPts val="361"/>
              </a:spcBef>
              <a:spcAft>
                <a:spcPts val="600"/>
              </a:spcAft>
              <a:buAutoNum type="alphaUcPeriod"/>
              <a:tabLst>
                <a:tab pos="759799" algn="l"/>
              </a:tabLst>
            </a:pP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11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lang="en-US"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00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00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01</a:t>
            </a:r>
            <a:endParaRPr sz="2400" dirty="0">
              <a:latin typeface="Calibri"/>
              <a:cs typeface="Calibri"/>
            </a:endParaRPr>
          </a:p>
          <a:p>
            <a:pPr marL="759799" lvl="1" indent="-320505">
              <a:spcBef>
                <a:spcPts val="468"/>
              </a:spcBef>
              <a:buAutoNum type="alphaUcPeriod"/>
              <a:tabLst>
                <a:tab pos="759799" algn="l"/>
              </a:tabLst>
            </a:pP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4" dirty="0">
                <a:latin typeface="Calibri"/>
                <a:cs typeface="Calibri"/>
              </a:rPr>
              <a:t> </a:t>
            </a:r>
            <a:r>
              <a:rPr lang="en-US" sz="2400" spc="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00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01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11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lang="en-US" sz="2400" spc="1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10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1353" y="6221956"/>
            <a:ext cx="8561294" cy="412376"/>
            <a:chOff x="177800" y="7051550"/>
            <a:chExt cx="9702800" cy="46735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9815" y="7051550"/>
              <a:ext cx="620785" cy="4668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7800" y="7075008"/>
              <a:ext cx="9702800" cy="443865"/>
            </a:xfrm>
            <a:custGeom>
              <a:avLst/>
              <a:gdLst/>
              <a:ahLst/>
              <a:cxnLst/>
              <a:rect l="l" t="t" r="r" b="b"/>
              <a:pathLst>
                <a:path w="9702800" h="443865">
                  <a:moveTo>
                    <a:pt x="0" y="443391"/>
                  </a:moveTo>
                  <a:lnTo>
                    <a:pt x="0" y="0"/>
                  </a:lnTo>
                  <a:lnTo>
                    <a:pt x="9702800" y="0"/>
                  </a:lnTo>
                  <a:lnTo>
                    <a:pt x="9702800" y="443391"/>
                  </a:lnTo>
                  <a:lnTo>
                    <a:pt x="0" y="443391"/>
                  </a:lnTo>
                  <a:close/>
                </a:path>
              </a:pathLst>
            </a:custGeom>
            <a:solidFill>
              <a:srgbClr val="E9517E">
                <a:alpha val="36079"/>
              </a:srgbClr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3BFA0DC0-8D46-CC62-E1DC-66160DC068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375375" y="5988426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14</a:t>
            </a:fld>
            <a:endParaRPr lang="en-US" spc="-4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50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Tournament</a:t>
            </a:r>
            <a:r>
              <a:rPr spc="-115" dirty="0"/>
              <a:t> </a:t>
            </a:r>
            <a:r>
              <a:rPr spc="-9" dirty="0"/>
              <a:t>Predictors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252817"/>
            <a:ext cx="7622309" cy="1328267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Multilevel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branch</a:t>
            </a:r>
            <a:r>
              <a:rPr sz="2400" spc="10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predictor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n-bit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saturating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counter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choose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predictors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61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Usually,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choice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global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local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predictors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28499" y="2758331"/>
            <a:ext cx="6805050" cy="4471429"/>
            <a:chOff x="2187516" y="3293826"/>
            <a:chExt cx="5539740" cy="3780154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1629" y="3293826"/>
              <a:ext cx="5055226" cy="37800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3479" y="4673441"/>
              <a:ext cx="245939" cy="24593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187516" y="4853134"/>
              <a:ext cx="826769" cy="1016635"/>
            </a:xfrm>
            <a:custGeom>
              <a:avLst/>
              <a:gdLst/>
              <a:ahLst/>
              <a:cxnLst/>
              <a:rect l="l" t="t" r="r" b="b"/>
              <a:pathLst>
                <a:path w="826769" h="1016635">
                  <a:moveTo>
                    <a:pt x="0" y="926001"/>
                  </a:moveTo>
                  <a:lnTo>
                    <a:pt x="4027" y="1016312"/>
                  </a:lnTo>
                  <a:lnTo>
                    <a:pt x="73859" y="958904"/>
                  </a:lnTo>
                  <a:lnTo>
                    <a:pt x="70717" y="957505"/>
                  </a:lnTo>
                  <a:lnTo>
                    <a:pt x="37600" y="957505"/>
                  </a:lnTo>
                  <a:lnTo>
                    <a:pt x="25290" y="952021"/>
                  </a:lnTo>
                  <a:lnTo>
                    <a:pt x="30774" y="939711"/>
                  </a:lnTo>
                  <a:lnTo>
                    <a:pt x="0" y="926001"/>
                  </a:lnTo>
                  <a:close/>
                </a:path>
                <a:path w="826769" h="1016635">
                  <a:moveTo>
                    <a:pt x="30774" y="939711"/>
                  </a:moveTo>
                  <a:lnTo>
                    <a:pt x="25290" y="952021"/>
                  </a:lnTo>
                  <a:lnTo>
                    <a:pt x="37600" y="957505"/>
                  </a:lnTo>
                  <a:lnTo>
                    <a:pt x="43084" y="945194"/>
                  </a:lnTo>
                  <a:lnTo>
                    <a:pt x="30774" y="939711"/>
                  </a:lnTo>
                  <a:close/>
                </a:path>
                <a:path w="826769" h="1016635">
                  <a:moveTo>
                    <a:pt x="43084" y="945194"/>
                  </a:moveTo>
                  <a:lnTo>
                    <a:pt x="37600" y="957505"/>
                  </a:lnTo>
                  <a:lnTo>
                    <a:pt x="70717" y="957505"/>
                  </a:lnTo>
                  <a:lnTo>
                    <a:pt x="43084" y="945194"/>
                  </a:lnTo>
                  <a:close/>
                </a:path>
                <a:path w="826769" h="1016635">
                  <a:moveTo>
                    <a:pt x="818959" y="0"/>
                  </a:moveTo>
                  <a:lnTo>
                    <a:pt x="753410" y="43761"/>
                  </a:lnTo>
                  <a:lnTo>
                    <a:pt x="688370" y="88296"/>
                  </a:lnTo>
                  <a:lnTo>
                    <a:pt x="624267" y="134171"/>
                  </a:lnTo>
                  <a:lnTo>
                    <a:pt x="561519" y="181960"/>
                  </a:lnTo>
                  <a:lnTo>
                    <a:pt x="500543" y="232239"/>
                  </a:lnTo>
                  <a:lnTo>
                    <a:pt x="441761" y="285587"/>
                  </a:lnTo>
                  <a:lnTo>
                    <a:pt x="385596" y="342577"/>
                  </a:lnTo>
                  <a:lnTo>
                    <a:pt x="358555" y="372698"/>
                  </a:lnTo>
                  <a:lnTo>
                    <a:pt x="332398" y="403872"/>
                  </a:lnTo>
                  <a:lnTo>
                    <a:pt x="307094" y="436217"/>
                  </a:lnTo>
                  <a:lnTo>
                    <a:pt x="282623" y="469667"/>
                  </a:lnTo>
                  <a:lnTo>
                    <a:pt x="236016" y="539513"/>
                  </a:lnTo>
                  <a:lnTo>
                    <a:pt x="192045" y="612994"/>
                  </a:lnTo>
                  <a:lnTo>
                    <a:pt x="150348" y="689448"/>
                  </a:lnTo>
                  <a:lnTo>
                    <a:pt x="110503" y="768305"/>
                  </a:lnTo>
                  <a:lnTo>
                    <a:pt x="72087" y="848991"/>
                  </a:lnTo>
                  <a:lnTo>
                    <a:pt x="34683" y="930936"/>
                  </a:lnTo>
                  <a:lnTo>
                    <a:pt x="30774" y="939711"/>
                  </a:lnTo>
                  <a:lnTo>
                    <a:pt x="43084" y="945194"/>
                  </a:lnTo>
                  <a:lnTo>
                    <a:pt x="46943" y="936532"/>
                  </a:lnTo>
                  <a:lnTo>
                    <a:pt x="84255" y="854783"/>
                  </a:lnTo>
                  <a:lnTo>
                    <a:pt x="122532" y="774382"/>
                  </a:lnTo>
                  <a:lnTo>
                    <a:pt x="162180" y="695900"/>
                  </a:lnTo>
                  <a:lnTo>
                    <a:pt x="203610" y="619913"/>
                  </a:lnTo>
                  <a:lnTo>
                    <a:pt x="247227" y="546992"/>
                  </a:lnTo>
                  <a:lnTo>
                    <a:pt x="293500" y="477622"/>
                  </a:lnTo>
                  <a:lnTo>
                    <a:pt x="317710" y="444519"/>
                  </a:lnTo>
                  <a:lnTo>
                    <a:pt x="342723" y="412532"/>
                  </a:lnTo>
                  <a:lnTo>
                    <a:pt x="368584" y="381698"/>
                  </a:lnTo>
                  <a:lnTo>
                    <a:pt x="395196" y="352036"/>
                  </a:lnTo>
                  <a:lnTo>
                    <a:pt x="450819" y="295565"/>
                  </a:lnTo>
                  <a:lnTo>
                    <a:pt x="509117" y="242637"/>
                  </a:lnTo>
                  <a:lnTo>
                    <a:pt x="569685" y="192680"/>
                  </a:lnTo>
                  <a:lnTo>
                    <a:pt x="632110" y="145130"/>
                  </a:lnTo>
                  <a:lnTo>
                    <a:pt x="695984" y="99416"/>
                  </a:lnTo>
                  <a:lnTo>
                    <a:pt x="760893" y="54969"/>
                  </a:lnTo>
                  <a:lnTo>
                    <a:pt x="826442" y="11207"/>
                  </a:lnTo>
                  <a:lnTo>
                    <a:pt x="818959" y="0"/>
                  </a:lnTo>
                  <a:close/>
                </a:path>
              </a:pathLst>
            </a:custGeom>
            <a:solidFill>
              <a:srgbClr val="FC0128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4402" y="5835801"/>
            <a:ext cx="1903657" cy="5037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600" spc="-22" dirty="0">
                <a:solidFill>
                  <a:srgbClr val="FC0128"/>
                </a:solidFill>
                <a:latin typeface="Arial MT"/>
                <a:cs typeface="Arial MT"/>
              </a:rPr>
              <a:t>Predictor</a:t>
            </a:r>
            <a:r>
              <a:rPr sz="1600" spc="-13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C0128"/>
                </a:solidFill>
                <a:latin typeface="Arial MT"/>
                <a:cs typeface="Arial MT"/>
              </a:rPr>
              <a:t>1</a:t>
            </a:r>
            <a:r>
              <a:rPr sz="1600" spc="-35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00" spc="-9" dirty="0">
                <a:solidFill>
                  <a:srgbClr val="FC0128"/>
                </a:solidFill>
                <a:latin typeface="Arial MT"/>
                <a:cs typeface="Arial MT"/>
              </a:rPr>
              <a:t>correct.</a:t>
            </a:r>
            <a:endParaRPr sz="1600" dirty="0">
              <a:latin typeface="Arial MT"/>
              <a:cs typeface="Arial MT"/>
            </a:endParaRPr>
          </a:p>
          <a:p>
            <a:pPr marL="11206"/>
            <a:r>
              <a:rPr sz="1600" spc="-22" dirty="0">
                <a:solidFill>
                  <a:srgbClr val="FC0128"/>
                </a:solidFill>
                <a:latin typeface="Arial MT"/>
                <a:cs typeface="Arial MT"/>
              </a:rPr>
              <a:t>Predictor</a:t>
            </a:r>
            <a:r>
              <a:rPr sz="1600" spc="-13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FC0128"/>
                </a:solidFill>
                <a:latin typeface="Arial MT"/>
                <a:cs typeface="Arial MT"/>
              </a:rPr>
              <a:t>2</a:t>
            </a:r>
            <a:r>
              <a:rPr sz="1600" spc="-35" dirty="0">
                <a:solidFill>
                  <a:srgbClr val="FC0128"/>
                </a:solidFill>
                <a:latin typeface="Arial MT"/>
                <a:cs typeface="Arial MT"/>
              </a:rPr>
              <a:t> </a:t>
            </a:r>
            <a:r>
              <a:rPr sz="1600" spc="-9" dirty="0">
                <a:solidFill>
                  <a:srgbClr val="FC0128"/>
                </a:solidFill>
                <a:latin typeface="Arial MT"/>
                <a:cs typeface="Arial MT"/>
              </a:rPr>
              <a:t>incorrect.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4D0B23F-3BBD-9CA7-C39A-557BD7707C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15</a:t>
            </a:fld>
            <a:endParaRPr lang="en-US" spc="-4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58147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Tournament</a:t>
            </a:r>
            <a:r>
              <a:rPr spc="-115" dirty="0"/>
              <a:t> </a:t>
            </a:r>
            <a:r>
              <a:rPr spc="-9" dirty="0"/>
              <a:t>Predictors</a:t>
            </a:r>
            <a:r>
              <a:rPr lang="en-US" spc="-9" dirty="0"/>
              <a:t> (Example)</a:t>
            </a:r>
            <a:endParaRPr spc="-9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2091" y="1214051"/>
            <a:ext cx="7410273" cy="5573019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345720" indent="-267275">
              <a:spcBef>
                <a:spcPts val="618"/>
              </a:spcBef>
              <a:buChar char="•"/>
              <a:tabLst>
                <a:tab pos="345720" algn="l"/>
              </a:tabLst>
            </a:pPr>
            <a:r>
              <a:rPr sz="2300" dirty="0"/>
              <a:t>Tournament</a:t>
            </a:r>
            <a:r>
              <a:rPr sz="2300" spc="97" dirty="0"/>
              <a:t> </a:t>
            </a:r>
            <a:r>
              <a:rPr sz="2300" dirty="0"/>
              <a:t>predictor</a:t>
            </a:r>
            <a:r>
              <a:rPr sz="2300" spc="101" dirty="0"/>
              <a:t> </a:t>
            </a:r>
            <a:r>
              <a:rPr sz="2300" dirty="0"/>
              <a:t>using,</a:t>
            </a:r>
            <a:r>
              <a:rPr sz="2300" spc="101" dirty="0"/>
              <a:t> </a:t>
            </a:r>
            <a:r>
              <a:rPr sz="2300" spc="-18" dirty="0"/>
              <a:t>say,</a:t>
            </a:r>
          </a:p>
          <a:p>
            <a:pPr marL="505973" indent="-427527">
              <a:spcBef>
                <a:spcPts val="529"/>
              </a:spcBef>
              <a:buAutoNum type="arabicPeriod"/>
              <a:tabLst>
                <a:tab pos="505973" algn="l"/>
              </a:tabLst>
            </a:pPr>
            <a:r>
              <a:rPr sz="2300" b="1" spc="-9" dirty="0">
                <a:latin typeface="Calibri"/>
                <a:cs typeface="Calibri"/>
              </a:rPr>
              <a:t>Selector</a:t>
            </a:r>
          </a:p>
          <a:p>
            <a:pPr marL="718896" lvl="1" indent="-212363">
              <a:spcBef>
                <a:spcPts val="424"/>
              </a:spcBef>
              <a:buChar char="–"/>
              <a:tabLst>
                <a:tab pos="718896" algn="l"/>
              </a:tabLst>
            </a:pPr>
            <a:r>
              <a:rPr sz="2100" dirty="0">
                <a:latin typeface="Calibri"/>
                <a:cs typeface="Calibri"/>
              </a:rPr>
              <a:t>4K </a:t>
            </a:r>
            <a:r>
              <a:rPr sz="2100" spc="-9" dirty="0">
                <a:latin typeface="Calibri"/>
                <a:cs typeface="Calibri"/>
              </a:rPr>
              <a:t>2-</a:t>
            </a:r>
            <a:r>
              <a:rPr sz="2100" dirty="0">
                <a:latin typeface="Calibri"/>
                <a:cs typeface="Calibri"/>
              </a:rPr>
              <a:t>bit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counters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indexed by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local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branch </a:t>
            </a:r>
            <a:r>
              <a:rPr sz="2100" spc="-9" dirty="0">
                <a:latin typeface="Calibri"/>
                <a:cs typeface="Calibri"/>
              </a:rPr>
              <a:t>address.</a:t>
            </a:r>
            <a:endParaRPr sz="2100" dirty="0">
              <a:latin typeface="Calibri"/>
              <a:cs typeface="Calibri"/>
            </a:endParaRPr>
          </a:p>
          <a:p>
            <a:pPr marL="505973" indent="-427527">
              <a:spcBef>
                <a:spcPts val="552"/>
              </a:spcBef>
              <a:buAutoNum type="arabicPeriod"/>
              <a:tabLst>
                <a:tab pos="505973" algn="l"/>
              </a:tabLst>
            </a:pPr>
            <a:r>
              <a:rPr sz="2300" b="1" dirty="0">
                <a:latin typeface="Calibri"/>
                <a:cs typeface="Calibri"/>
              </a:rPr>
              <a:t>Global</a:t>
            </a:r>
            <a:r>
              <a:rPr sz="2300" b="1" spc="62" dirty="0">
                <a:latin typeface="Calibri"/>
                <a:cs typeface="Calibri"/>
              </a:rPr>
              <a:t> </a:t>
            </a:r>
            <a:r>
              <a:rPr sz="2300" b="1" spc="-9" dirty="0">
                <a:latin typeface="Calibri"/>
                <a:cs typeface="Calibri"/>
              </a:rPr>
              <a:t>predictor</a:t>
            </a:r>
          </a:p>
          <a:p>
            <a:pPr marL="718896" lvl="1" indent="-212363">
              <a:spcBef>
                <a:spcPts val="441"/>
              </a:spcBef>
              <a:buChar char="–"/>
              <a:tabLst>
                <a:tab pos="718896" algn="l"/>
              </a:tabLst>
            </a:pPr>
            <a:r>
              <a:rPr sz="2100" dirty="0">
                <a:latin typeface="Calibri"/>
                <a:cs typeface="Calibri"/>
              </a:rPr>
              <a:t>4K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entries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indexed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by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history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last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12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branches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(2</a:t>
            </a:r>
            <a:r>
              <a:rPr sz="2100" baseline="25641" dirty="0">
                <a:latin typeface="Calibri"/>
                <a:cs typeface="Calibri"/>
              </a:rPr>
              <a:t>12</a:t>
            </a:r>
            <a:r>
              <a:rPr sz="2100" spc="152" baseline="2564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=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spc="-22" dirty="0">
                <a:latin typeface="Calibri"/>
                <a:cs typeface="Calibri"/>
              </a:rPr>
              <a:t>4K)</a:t>
            </a:r>
            <a:endParaRPr sz="2100" dirty="0">
              <a:latin typeface="Calibri"/>
              <a:cs typeface="Calibri"/>
            </a:endParaRPr>
          </a:p>
          <a:p>
            <a:pPr marL="718896" lvl="1" indent="-212363">
              <a:spcBef>
                <a:spcPts val="383"/>
              </a:spcBef>
              <a:buChar char="–"/>
              <a:tabLst>
                <a:tab pos="718896" algn="l"/>
              </a:tabLst>
            </a:pPr>
            <a:r>
              <a:rPr sz="2100" dirty="0">
                <a:latin typeface="Calibri"/>
                <a:cs typeface="Calibri"/>
              </a:rPr>
              <a:t>Each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entry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standard </a:t>
            </a:r>
            <a:r>
              <a:rPr sz="2100" spc="-9" dirty="0">
                <a:latin typeface="Calibri"/>
                <a:cs typeface="Calibri"/>
              </a:rPr>
              <a:t>2-</a:t>
            </a:r>
            <a:r>
              <a:rPr sz="2100" dirty="0">
                <a:latin typeface="Calibri"/>
                <a:cs typeface="Calibri"/>
              </a:rPr>
              <a:t>bit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predictor</a:t>
            </a:r>
            <a:endParaRPr sz="2100" dirty="0">
              <a:latin typeface="Calibri"/>
              <a:cs typeface="Calibri"/>
            </a:endParaRPr>
          </a:p>
          <a:p>
            <a:pPr marL="718896" lvl="1" indent="-212363">
              <a:spcBef>
                <a:spcPts val="446"/>
              </a:spcBef>
              <a:buChar char="–"/>
              <a:tabLst>
                <a:tab pos="718896" algn="l"/>
              </a:tabLst>
            </a:pP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Irrelevant</a:t>
            </a:r>
            <a:r>
              <a:rPr sz="2100" u="sng" spc="-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100" u="sng" spc="-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specific</a:t>
            </a:r>
            <a:r>
              <a:rPr sz="2100" u="sng" spc="-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branch</a:t>
            </a:r>
            <a:r>
              <a:rPr sz="2100" u="sng" spc="-1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address</a:t>
            </a:r>
            <a:endParaRPr sz="2100" dirty="0">
              <a:latin typeface="Calibri"/>
              <a:cs typeface="Calibri"/>
            </a:endParaRPr>
          </a:p>
          <a:p>
            <a:pPr marL="505973" indent="-427527">
              <a:spcBef>
                <a:spcPts val="547"/>
              </a:spcBef>
              <a:buAutoNum type="arabicPeriod"/>
              <a:tabLst>
                <a:tab pos="505973" algn="l"/>
              </a:tabLst>
            </a:pPr>
            <a:r>
              <a:rPr sz="2300" b="1" dirty="0">
                <a:latin typeface="Calibri"/>
                <a:cs typeface="Calibri"/>
              </a:rPr>
              <a:t>Local</a:t>
            </a:r>
            <a:r>
              <a:rPr sz="2300" b="1" spc="31" dirty="0">
                <a:latin typeface="Calibri"/>
                <a:cs typeface="Calibri"/>
              </a:rPr>
              <a:t> </a:t>
            </a:r>
            <a:r>
              <a:rPr sz="2300" b="1" spc="-9" dirty="0">
                <a:latin typeface="Calibri"/>
                <a:cs typeface="Calibri"/>
              </a:rPr>
              <a:t>predictor</a:t>
            </a:r>
          </a:p>
          <a:p>
            <a:pPr marL="718896" marR="82928" lvl="1" indent="-212363">
              <a:spcBef>
                <a:spcPts val="719"/>
              </a:spcBef>
              <a:buChar char="–"/>
              <a:tabLst>
                <a:tab pos="720577" algn="l"/>
              </a:tabLst>
            </a:pPr>
            <a:r>
              <a:rPr sz="2100" dirty="0">
                <a:latin typeface="Calibri"/>
                <a:cs typeface="Calibri"/>
              </a:rPr>
              <a:t>Local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history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table: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1K</a:t>
            </a:r>
            <a:r>
              <a:rPr sz="2100" spc="9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10-</a:t>
            </a:r>
            <a:r>
              <a:rPr sz="2100" dirty="0">
                <a:latin typeface="Calibri"/>
                <a:cs typeface="Calibri"/>
              </a:rPr>
              <a:t>bit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entries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recording</a:t>
            </a:r>
            <a:r>
              <a:rPr sz="2100" spc="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last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10 </a:t>
            </a:r>
            <a:r>
              <a:rPr sz="2100" spc="-9" dirty="0">
                <a:latin typeface="Calibri"/>
                <a:cs typeface="Calibri"/>
              </a:rPr>
              <a:t>branches,</a:t>
            </a:r>
            <a:r>
              <a:rPr lang="en-US" sz="2100" spc="-9" dirty="0">
                <a:latin typeface="Calibri"/>
                <a:cs typeface="Calibri"/>
              </a:rPr>
              <a:t> </a:t>
            </a:r>
            <a:r>
              <a:rPr sz="21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indexed</a:t>
            </a:r>
            <a:r>
              <a:rPr lang="en-US" sz="21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by</a:t>
            </a:r>
            <a:r>
              <a:rPr sz="21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branch</a:t>
            </a:r>
            <a:r>
              <a:rPr sz="2100" u="sng" spc="-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00" u="sng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address</a:t>
            </a:r>
            <a:endParaRPr sz="2100" dirty="0">
              <a:latin typeface="Calibri"/>
              <a:cs typeface="Calibri"/>
            </a:endParaRPr>
          </a:p>
          <a:p>
            <a:pPr marL="718896" marR="202837" lvl="1" indent="-212363">
              <a:spcBef>
                <a:spcPts val="569"/>
              </a:spcBef>
              <a:buChar char="–"/>
              <a:tabLst>
                <a:tab pos="720577" algn="l"/>
              </a:tabLst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10-</a:t>
            </a:r>
            <a:r>
              <a:rPr sz="2100" dirty="0">
                <a:latin typeface="Calibri"/>
                <a:cs typeface="Calibri"/>
              </a:rPr>
              <a:t>bit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pattern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that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particular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branch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used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index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table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spc="-22" dirty="0">
                <a:latin typeface="Calibri"/>
                <a:cs typeface="Calibri"/>
              </a:rPr>
              <a:t>1K</a:t>
            </a:r>
            <a:r>
              <a:rPr lang="en-US" sz="2100" spc="-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entries</a:t>
            </a:r>
            <a:r>
              <a:rPr sz="2100" spc="-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3-</a:t>
            </a:r>
            <a:r>
              <a:rPr sz="2100" dirty="0">
                <a:latin typeface="Calibri"/>
                <a:cs typeface="Calibri"/>
              </a:rPr>
              <a:t>bit</a:t>
            </a:r>
            <a:r>
              <a:rPr sz="2100" spc="-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saturating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counters</a:t>
            </a:r>
            <a:endParaRPr sz="2100" dirty="0">
              <a:latin typeface="Calibri"/>
              <a:cs typeface="Calibri"/>
            </a:endParaRPr>
          </a:p>
          <a:p>
            <a:pPr marL="345720" indent="-267275">
              <a:spcBef>
                <a:spcPts val="512"/>
              </a:spcBef>
              <a:buFont typeface="Calibri"/>
              <a:buChar char="•"/>
              <a:tabLst>
                <a:tab pos="345720" algn="l"/>
              </a:tabLst>
            </a:pPr>
            <a:r>
              <a:rPr sz="2300" b="1" dirty="0">
                <a:latin typeface="Calibri"/>
                <a:cs typeface="Calibri"/>
              </a:rPr>
              <a:t>Predictor</a:t>
            </a:r>
            <a:r>
              <a:rPr sz="2300" b="1" spc="93" dirty="0">
                <a:latin typeface="Calibri"/>
                <a:cs typeface="Calibri"/>
              </a:rPr>
              <a:t> </a:t>
            </a:r>
            <a:r>
              <a:rPr sz="2300" b="1" spc="-18" dirty="0">
                <a:latin typeface="Calibri"/>
                <a:cs typeface="Calibri"/>
              </a:rPr>
              <a:t>Size</a:t>
            </a:r>
          </a:p>
          <a:p>
            <a:pPr marL="506533">
              <a:spcBef>
                <a:spcPts val="446"/>
              </a:spcBef>
            </a:pPr>
            <a:r>
              <a:rPr sz="2200" dirty="0"/>
              <a:t>–</a:t>
            </a:r>
            <a:r>
              <a:rPr sz="2200" spc="40" dirty="0"/>
              <a:t>  </a:t>
            </a:r>
            <a:r>
              <a:rPr sz="2100" dirty="0"/>
              <a:t>4K*2</a:t>
            </a:r>
            <a:r>
              <a:rPr sz="2100" spc="9" dirty="0"/>
              <a:t> </a:t>
            </a:r>
            <a:r>
              <a:rPr sz="2100" dirty="0"/>
              <a:t>+</a:t>
            </a:r>
            <a:r>
              <a:rPr sz="2100" spc="13" dirty="0"/>
              <a:t> </a:t>
            </a:r>
            <a:r>
              <a:rPr sz="2100" dirty="0"/>
              <a:t>4K*2</a:t>
            </a:r>
            <a:r>
              <a:rPr sz="2100" spc="4" dirty="0"/>
              <a:t> </a:t>
            </a:r>
            <a:r>
              <a:rPr sz="2100" dirty="0"/>
              <a:t>+</a:t>
            </a:r>
            <a:r>
              <a:rPr sz="2100" spc="13" dirty="0"/>
              <a:t> </a:t>
            </a:r>
            <a:r>
              <a:rPr sz="2100" dirty="0"/>
              <a:t>1K*10</a:t>
            </a:r>
            <a:r>
              <a:rPr sz="2100" spc="9" dirty="0"/>
              <a:t> </a:t>
            </a:r>
            <a:r>
              <a:rPr sz="2100" dirty="0"/>
              <a:t>+</a:t>
            </a:r>
            <a:r>
              <a:rPr sz="2100" spc="9" dirty="0"/>
              <a:t> </a:t>
            </a:r>
            <a:r>
              <a:rPr sz="2100" dirty="0"/>
              <a:t>1K*3</a:t>
            </a:r>
            <a:r>
              <a:rPr sz="2100" spc="9" dirty="0"/>
              <a:t> </a:t>
            </a:r>
            <a:r>
              <a:rPr sz="2100" dirty="0"/>
              <a:t>=</a:t>
            </a:r>
            <a:r>
              <a:rPr sz="2100" spc="9" dirty="0"/>
              <a:t> </a:t>
            </a:r>
            <a:r>
              <a:rPr sz="2100" spc="-22" dirty="0"/>
              <a:t>29K</a:t>
            </a:r>
            <a:endParaRPr sz="2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8E8D54-4400-D9C6-26E7-5C44272300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16</a:t>
            </a:fld>
            <a:endParaRPr lang="en-US" spc="-4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8"/>
            <a:ext cx="704707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Comparing</a:t>
            </a:r>
            <a:r>
              <a:rPr spc="-31" dirty="0"/>
              <a:t> </a:t>
            </a:r>
            <a:r>
              <a:rPr dirty="0"/>
              <a:t>Predictors</a:t>
            </a:r>
            <a:r>
              <a:rPr spc="-31" dirty="0"/>
              <a:t> </a:t>
            </a:r>
            <a:r>
              <a:rPr dirty="0"/>
              <a:t>(H&amp;P</a:t>
            </a:r>
            <a:r>
              <a:rPr spc="-40" dirty="0"/>
              <a:t> </a:t>
            </a:r>
            <a:r>
              <a:rPr dirty="0"/>
              <a:t>Fig.</a:t>
            </a:r>
            <a:r>
              <a:rPr spc="-22" dirty="0"/>
              <a:t> </a:t>
            </a:r>
            <a:r>
              <a:rPr dirty="0"/>
              <a:t>3.4</a:t>
            </a:r>
            <a:r>
              <a:rPr spc="-26" dirty="0"/>
              <a:t> </a:t>
            </a:r>
            <a:r>
              <a:rPr dirty="0"/>
              <a:t>,</a:t>
            </a:r>
            <a:r>
              <a:rPr spc="-31" dirty="0"/>
              <a:t> </a:t>
            </a:r>
            <a:r>
              <a:rPr dirty="0"/>
              <a:t>5</a:t>
            </a:r>
            <a:r>
              <a:rPr sz="3044" baseline="24154" dirty="0"/>
              <a:t>th</a:t>
            </a:r>
            <a:r>
              <a:rPr sz="3044" spc="271" baseline="24154" dirty="0"/>
              <a:t> </a:t>
            </a:r>
            <a:r>
              <a:rPr spc="-18" dirty="0"/>
              <a:t>ed.)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2090" y="1214036"/>
            <a:ext cx="7410275" cy="2148363"/>
          </a:xfrm>
          <a:prstGeom prst="rect">
            <a:avLst/>
          </a:prstGeom>
        </p:spPr>
        <p:txBody>
          <a:bodyPr vert="horz" wrap="square" lIns="0" tIns="49866" rIns="0" bIns="0" rtlCol="0">
            <a:spAutoFit/>
          </a:bodyPr>
          <a:lstStyle/>
          <a:p>
            <a:pPr marL="278481" marR="4483" indent="-267835">
              <a:spcBef>
                <a:spcPts val="39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Advantage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tournament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predictor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ability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predictor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branch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10"/>
              </a:spcBef>
              <a:buChar char="–"/>
              <a:tabLst>
                <a:tab pos="651657" algn="l"/>
              </a:tabLst>
            </a:pPr>
            <a:r>
              <a:rPr sz="2000" dirty="0">
                <a:latin typeface="Calibri"/>
                <a:cs typeface="Calibri"/>
              </a:rPr>
              <a:t>Particularly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crucial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integer</a:t>
            </a:r>
            <a:r>
              <a:rPr sz="2000" spc="-22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benchmarks.</a:t>
            </a:r>
            <a:endParaRPr sz="2000" dirty="0">
              <a:latin typeface="Calibri"/>
              <a:cs typeface="Calibri"/>
            </a:endParaRPr>
          </a:p>
          <a:p>
            <a:pPr marL="651657" marR="147365" lvl="1" indent="-212363">
              <a:spcBef>
                <a:spcPts val="560"/>
              </a:spcBef>
              <a:buChar char="–"/>
              <a:tabLst>
                <a:tab pos="653338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typical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tournament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predictor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global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predictor</a:t>
            </a:r>
            <a:r>
              <a:rPr sz="2000" spc="-18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almost </a:t>
            </a:r>
            <a:r>
              <a:rPr sz="2000" dirty="0">
                <a:latin typeface="Calibri"/>
                <a:cs typeface="Calibri"/>
              </a:rPr>
              <a:t>40% of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time for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SPEC integer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benchmarks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less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 15% </a:t>
            </a:r>
            <a:r>
              <a:rPr sz="2000" spc="-22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 for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SPEC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FP</a:t>
            </a:r>
            <a:r>
              <a:rPr sz="2000" spc="-9" dirty="0">
                <a:latin typeface="Calibri"/>
                <a:cs typeface="Calibri"/>
              </a:rPr>
              <a:t> benchmarks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429" y="3452324"/>
            <a:ext cx="6486694" cy="34918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552170" y="3803237"/>
            <a:ext cx="912719" cy="2421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00" b="1" dirty="0">
                <a:solidFill>
                  <a:srgbClr val="FC0128"/>
                </a:solidFill>
                <a:latin typeface="Arial"/>
                <a:cs typeface="Arial"/>
              </a:rPr>
              <a:t>6.8%</a:t>
            </a:r>
            <a:r>
              <a:rPr sz="1500" b="1" spc="-35" dirty="0">
                <a:solidFill>
                  <a:srgbClr val="FC0128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FC0128"/>
                </a:solidFill>
                <a:latin typeface="Arial"/>
                <a:cs typeface="Arial"/>
              </a:rPr>
              <a:t>2-</a:t>
            </a:r>
            <a:r>
              <a:rPr sz="1500" b="1" spc="-22" dirty="0">
                <a:solidFill>
                  <a:srgbClr val="FC0128"/>
                </a:solidFill>
                <a:latin typeface="Arial"/>
                <a:cs typeface="Arial"/>
              </a:rPr>
              <a:t>bit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52170" y="4807316"/>
            <a:ext cx="1099297" cy="783206"/>
          </a:xfrm>
          <a:prstGeom prst="rect">
            <a:avLst/>
          </a:prstGeom>
        </p:spPr>
        <p:txBody>
          <a:bodyPr vert="horz" wrap="square" lIns="0" tIns="124946" rIns="0" bIns="0" rtlCol="0">
            <a:spAutoFit/>
          </a:bodyPr>
          <a:lstStyle/>
          <a:p>
            <a:pPr marL="11206">
              <a:spcBef>
                <a:spcPts val="984"/>
              </a:spcBef>
            </a:pPr>
            <a:r>
              <a:rPr sz="1500" b="1" dirty="0">
                <a:solidFill>
                  <a:srgbClr val="00AE00"/>
                </a:solidFill>
                <a:latin typeface="Arial"/>
                <a:cs typeface="Arial"/>
              </a:rPr>
              <a:t>3.7%</a:t>
            </a:r>
            <a:r>
              <a:rPr sz="1500" b="1" spc="-35" dirty="0">
                <a:solidFill>
                  <a:srgbClr val="00AE00"/>
                </a:solidFill>
                <a:latin typeface="Arial"/>
                <a:cs typeface="Arial"/>
              </a:rPr>
              <a:t> </a:t>
            </a:r>
            <a:r>
              <a:rPr sz="1500" b="1" spc="-18" dirty="0">
                <a:solidFill>
                  <a:srgbClr val="00AE00"/>
                </a:solidFill>
                <a:latin typeface="Arial"/>
                <a:cs typeface="Arial"/>
              </a:rPr>
              <a:t>Corr.</a:t>
            </a:r>
            <a:endParaRPr sz="1500" dirty="0">
              <a:latin typeface="Arial"/>
              <a:cs typeface="Arial"/>
            </a:endParaRPr>
          </a:p>
          <a:p>
            <a:pPr marL="11206">
              <a:spcBef>
                <a:spcPts val="1107"/>
              </a:spcBef>
            </a:pP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2.6%</a:t>
            </a:r>
            <a:r>
              <a:rPr sz="1500" b="1" spc="-40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0332B7"/>
                </a:solidFill>
                <a:latin typeface="Arial"/>
                <a:cs typeface="Arial"/>
              </a:rPr>
              <a:t>Tourn</a:t>
            </a:r>
            <a:r>
              <a:rPr sz="1853" b="1" spc="-9" dirty="0">
                <a:solidFill>
                  <a:srgbClr val="0332B7"/>
                </a:solidFill>
                <a:latin typeface="Arial"/>
                <a:cs typeface="Arial"/>
              </a:rPr>
              <a:t>.</a:t>
            </a:r>
            <a:endParaRPr sz="1853" dirty="0">
              <a:latin typeface="Arial"/>
              <a:cs typeface="Arial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75D4CB72-11BF-3E4D-375F-3A6EA4BB5C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17</a:t>
            </a:fld>
            <a:endParaRPr lang="en-US" spc="-4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451" y="355899"/>
            <a:ext cx="4636994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Pentium</a:t>
            </a:r>
            <a:r>
              <a:rPr spc="-49" dirty="0"/>
              <a:t> </a:t>
            </a:r>
            <a:r>
              <a:rPr dirty="0"/>
              <a:t>4</a:t>
            </a:r>
            <a:r>
              <a:rPr spc="-53" dirty="0"/>
              <a:t> </a:t>
            </a:r>
            <a:r>
              <a:rPr dirty="0"/>
              <a:t>Misprediction</a:t>
            </a:r>
            <a:r>
              <a:rPr spc="-44" dirty="0"/>
              <a:t> </a:t>
            </a:r>
            <a:r>
              <a:rPr spc="-18" dirty="0"/>
              <a:t>Rate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8451" y="782170"/>
            <a:ext cx="4512609" cy="35076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206" dirty="0">
                <a:solidFill>
                  <a:srgbClr val="0332B7"/>
                </a:solidFill>
                <a:latin typeface="Calibri"/>
                <a:cs typeface="Calibri"/>
              </a:rPr>
              <a:t>(per</a:t>
            </a:r>
            <a:r>
              <a:rPr sz="2206" spc="66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332B7"/>
                </a:solidFill>
                <a:latin typeface="Calibri"/>
                <a:cs typeface="Calibri"/>
              </a:rPr>
              <a:t>1000</a:t>
            </a:r>
            <a:r>
              <a:rPr sz="2206" spc="66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332B7"/>
                </a:solidFill>
                <a:latin typeface="Calibri"/>
                <a:cs typeface="Calibri"/>
              </a:rPr>
              <a:t>instructions,</a:t>
            </a:r>
            <a:r>
              <a:rPr sz="2206" spc="62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332B7"/>
                </a:solidFill>
                <a:latin typeface="Calibri"/>
                <a:cs typeface="Calibri"/>
              </a:rPr>
              <a:t>not</a:t>
            </a:r>
            <a:r>
              <a:rPr sz="2206" spc="62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206" dirty="0">
                <a:solidFill>
                  <a:srgbClr val="0332B7"/>
                </a:solidFill>
                <a:latin typeface="Calibri"/>
                <a:cs typeface="Calibri"/>
              </a:rPr>
              <a:t>per</a:t>
            </a:r>
            <a:r>
              <a:rPr sz="2206" spc="71" dirty="0">
                <a:solidFill>
                  <a:srgbClr val="0332B7"/>
                </a:solidFill>
                <a:latin typeface="Calibri"/>
                <a:cs typeface="Calibri"/>
              </a:rPr>
              <a:t> </a:t>
            </a:r>
            <a:r>
              <a:rPr sz="2206" spc="-9" dirty="0">
                <a:solidFill>
                  <a:srgbClr val="0332B7"/>
                </a:solidFill>
                <a:latin typeface="Calibri"/>
                <a:cs typeface="Calibri"/>
              </a:rPr>
              <a:t>branch)</a:t>
            </a:r>
            <a:endParaRPr sz="2206">
              <a:latin typeface="Calibri"/>
              <a:cs typeface="Calibri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E688328-D0F4-7915-1262-BB0DC5A098A2}"/>
              </a:ext>
            </a:extLst>
          </p:cNvPr>
          <p:cNvGrpSpPr/>
          <p:nvPr/>
        </p:nvGrpSpPr>
        <p:grpSpPr>
          <a:xfrm>
            <a:off x="1749774" y="1525699"/>
            <a:ext cx="5608424" cy="4711450"/>
            <a:chOff x="1749774" y="1525699"/>
            <a:chExt cx="5608424" cy="4711450"/>
          </a:xfrm>
        </p:grpSpPr>
        <p:grpSp>
          <p:nvGrpSpPr>
            <p:cNvPr id="4" name="object 4"/>
            <p:cNvGrpSpPr/>
            <p:nvPr/>
          </p:nvGrpSpPr>
          <p:grpSpPr>
            <a:xfrm>
              <a:off x="2106001" y="1585940"/>
              <a:ext cx="5252197" cy="4326031"/>
              <a:chOff x="2234401" y="1797398"/>
              <a:chExt cx="5952490" cy="4902835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2263143" y="4581228"/>
                <a:ext cx="5920105" cy="1737360"/>
              </a:xfrm>
              <a:custGeom>
                <a:avLst/>
                <a:gdLst/>
                <a:ahLst/>
                <a:cxnLst/>
                <a:rect l="l" t="t" r="r" b="b"/>
                <a:pathLst>
                  <a:path w="5920105" h="1737360">
                    <a:moveTo>
                      <a:pt x="0" y="1736905"/>
                    </a:moveTo>
                    <a:lnTo>
                      <a:pt x="177209" y="1736905"/>
                    </a:lnTo>
                  </a:path>
                  <a:path w="5920105" h="1737360">
                    <a:moveTo>
                      <a:pt x="414527" y="1736905"/>
                    </a:moveTo>
                    <a:lnTo>
                      <a:pt x="769555" y="1736905"/>
                    </a:lnTo>
                  </a:path>
                  <a:path w="5920105" h="1737360">
                    <a:moveTo>
                      <a:pt x="1005901" y="1736905"/>
                    </a:moveTo>
                    <a:lnTo>
                      <a:pt x="1360850" y="1736905"/>
                    </a:lnTo>
                  </a:path>
                  <a:path w="5920105" h="1737360">
                    <a:moveTo>
                      <a:pt x="1598168" y="1736905"/>
                    </a:moveTo>
                    <a:lnTo>
                      <a:pt x="1953164" y="1736905"/>
                    </a:lnTo>
                  </a:path>
                  <a:path w="5920105" h="1737360">
                    <a:moveTo>
                      <a:pt x="2189510" y="1736905"/>
                    </a:moveTo>
                    <a:lnTo>
                      <a:pt x="2544538" y="1736905"/>
                    </a:lnTo>
                  </a:path>
                  <a:path w="5920105" h="1737360">
                    <a:moveTo>
                      <a:pt x="2781856" y="1736905"/>
                    </a:moveTo>
                    <a:lnTo>
                      <a:pt x="5504388" y="1736905"/>
                    </a:lnTo>
                  </a:path>
                  <a:path w="5920105" h="1737360">
                    <a:moveTo>
                      <a:pt x="5741705" y="1736905"/>
                    </a:moveTo>
                    <a:lnTo>
                      <a:pt x="5919689" y="1736905"/>
                    </a:lnTo>
                  </a:path>
                  <a:path w="5920105" h="1737360">
                    <a:moveTo>
                      <a:pt x="0" y="1389461"/>
                    </a:moveTo>
                    <a:lnTo>
                      <a:pt x="177209" y="1389461"/>
                    </a:lnTo>
                  </a:path>
                  <a:path w="5920105" h="1737360">
                    <a:moveTo>
                      <a:pt x="414527" y="1389461"/>
                    </a:moveTo>
                    <a:lnTo>
                      <a:pt x="769555" y="1389461"/>
                    </a:lnTo>
                  </a:path>
                  <a:path w="5920105" h="1737360">
                    <a:moveTo>
                      <a:pt x="1005901" y="1389461"/>
                    </a:moveTo>
                    <a:lnTo>
                      <a:pt x="1360850" y="1389461"/>
                    </a:lnTo>
                  </a:path>
                  <a:path w="5920105" h="1737360">
                    <a:moveTo>
                      <a:pt x="1598168" y="1389461"/>
                    </a:moveTo>
                    <a:lnTo>
                      <a:pt x="1953164" y="1389461"/>
                    </a:lnTo>
                  </a:path>
                  <a:path w="5920105" h="1737360">
                    <a:moveTo>
                      <a:pt x="2189510" y="1389461"/>
                    </a:moveTo>
                    <a:lnTo>
                      <a:pt x="2544538" y="1389461"/>
                    </a:lnTo>
                  </a:path>
                  <a:path w="5920105" h="1737360">
                    <a:moveTo>
                      <a:pt x="2781856" y="1389461"/>
                    </a:moveTo>
                    <a:lnTo>
                      <a:pt x="5504388" y="1389461"/>
                    </a:lnTo>
                  </a:path>
                  <a:path w="5920105" h="1737360">
                    <a:moveTo>
                      <a:pt x="5741705" y="1389461"/>
                    </a:moveTo>
                    <a:lnTo>
                      <a:pt x="5919689" y="1389461"/>
                    </a:lnTo>
                  </a:path>
                  <a:path w="5920105" h="1737360">
                    <a:moveTo>
                      <a:pt x="0" y="1042095"/>
                    </a:moveTo>
                    <a:lnTo>
                      <a:pt x="177209" y="1042095"/>
                    </a:lnTo>
                  </a:path>
                  <a:path w="5920105" h="1737360">
                    <a:moveTo>
                      <a:pt x="414527" y="1042095"/>
                    </a:moveTo>
                    <a:lnTo>
                      <a:pt x="769555" y="1042095"/>
                    </a:lnTo>
                  </a:path>
                  <a:path w="5920105" h="1737360">
                    <a:moveTo>
                      <a:pt x="1005901" y="1042095"/>
                    </a:moveTo>
                    <a:lnTo>
                      <a:pt x="1360850" y="1042095"/>
                    </a:lnTo>
                  </a:path>
                  <a:path w="5920105" h="1737360">
                    <a:moveTo>
                      <a:pt x="1598168" y="1042095"/>
                    </a:moveTo>
                    <a:lnTo>
                      <a:pt x="1953164" y="1042095"/>
                    </a:lnTo>
                  </a:path>
                  <a:path w="5920105" h="1737360">
                    <a:moveTo>
                      <a:pt x="2189510" y="1042095"/>
                    </a:moveTo>
                    <a:lnTo>
                      <a:pt x="2544538" y="1042095"/>
                    </a:lnTo>
                  </a:path>
                  <a:path w="5920105" h="1737360">
                    <a:moveTo>
                      <a:pt x="2781856" y="1042095"/>
                    </a:moveTo>
                    <a:lnTo>
                      <a:pt x="5504388" y="1042095"/>
                    </a:lnTo>
                  </a:path>
                  <a:path w="5920105" h="1737360">
                    <a:moveTo>
                      <a:pt x="5741705" y="1042095"/>
                    </a:moveTo>
                    <a:lnTo>
                      <a:pt x="5919689" y="1042095"/>
                    </a:lnTo>
                  </a:path>
                  <a:path w="5920105" h="1737360">
                    <a:moveTo>
                      <a:pt x="0" y="694730"/>
                    </a:moveTo>
                    <a:lnTo>
                      <a:pt x="177209" y="694730"/>
                    </a:lnTo>
                  </a:path>
                  <a:path w="5920105" h="1737360">
                    <a:moveTo>
                      <a:pt x="414527" y="694730"/>
                    </a:moveTo>
                    <a:lnTo>
                      <a:pt x="769555" y="694730"/>
                    </a:lnTo>
                  </a:path>
                  <a:path w="5920105" h="1737360">
                    <a:moveTo>
                      <a:pt x="1005901" y="694730"/>
                    </a:moveTo>
                    <a:lnTo>
                      <a:pt x="1360850" y="694730"/>
                    </a:lnTo>
                  </a:path>
                  <a:path w="5920105" h="1737360">
                    <a:moveTo>
                      <a:pt x="1598168" y="694730"/>
                    </a:moveTo>
                    <a:lnTo>
                      <a:pt x="1953164" y="694730"/>
                    </a:lnTo>
                  </a:path>
                  <a:path w="5920105" h="1737360">
                    <a:moveTo>
                      <a:pt x="2189510" y="694730"/>
                    </a:moveTo>
                    <a:lnTo>
                      <a:pt x="2544538" y="694730"/>
                    </a:lnTo>
                  </a:path>
                  <a:path w="5920105" h="1737360">
                    <a:moveTo>
                      <a:pt x="2781856" y="694730"/>
                    </a:moveTo>
                    <a:lnTo>
                      <a:pt x="5504388" y="694730"/>
                    </a:lnTo>
                  </a:path>
                  <a:path w="5920105" h="1737360">
                    <a:moveTo>
                      <a:pt x="5741705" y="694730"/>
                    </a:moveTo>
                    <a:lnTo>
                      <a:pt x="5919689" y="694730"/>
                    </a:lnTo>
                  </a:path>
                  <a:path w="5920105" h="1737360">
                    <a:moveTo>
                      <a:pt x="0" y="347365"/>
                    </a:moveTo>
                    <a:lnTo>
                      <a:pt x="177209" y="347365"/>
                    </a:lnTo>
                  </a:path>
                  <a:path w="5920105" h="1737360">
                    <a:moveTo>
                      <a:pt x="414527" y="347365"/>
                    </a:moveTo>
                    <a:lnTo>
                      <a:pt x="769555" y="347365"/>
                    </a:lnTo>
                  </a:path>
                  <a:path w="5920105" h="1737360">
                    <a:moveTo>
                      <a:pt x="1005901" y="347365"/>
                    </a:moveTo>
                    <a:lnTo>
                      <a:pt x="1360850" y="347365"/>
                    </a:lnTo>
                  </a:path>
                  <a:path w="5920105" h="1737360">
                    <a:moveTo>
                      <a:pt x="1598168" y="347365"/>
                    </a:moveTo>
                    <a:lnTo>
                      <a:pt x="1953164" y="347365"/>
                    </a:lnTo>
                  </a:path>
                  <a:path w="5920105" h="1737360">
                    <a:moveTo>
                      <a:pt x="2189510" y="347365"/>
                    </a:moveTo>
                    <a:lnTo>
                      <a:pt x="2544538" y="347365"/>
                    </a:lnTo>
                  </a:path>
                  <a:path w="5920105" h="1737360">
                    <a:moveTo>
                      <a:pt x="2781856" y="347365"/>
                    </a:moveTo>
                    <a:lnTo>
                      <a:pt x="5504388" y="347365"/>
                    </a:lnTo>
                  </a:path>
                  <a:path w="5920105" h="1737360">
                    <a:moveTo>
                      <a:pt x="5741705" y="347365"/>
                    </a:moveTo>
                    <a:lnTo>
                      <a:pt x="5919689" y="347365"/>
                    </a:lnTo>
                  </a:path>
                  <a:path w="5920105" h="1737360">
                    <a:moveTo>
                      <a:pt x="0" y="0"/>
                    </a:moveTo>
                    <a:lnTo>
                      <a:pt x="177209" y="0"/>
                    </a:lnTo>
                  </a:path>
                  <a:path w="5920105" h="1737360">
                    <a:moveTo>
                      <a:pt x="414527" y="0"/>
                    </a:moveTo>
                    <a:lnTo>
                      <a:pt x="769555" y="0"/>
                    </a:lnTo>
                  </a:path>
                  <a:path w="5920105" h="1737360">
                    <a:moveTo>
                      <a:pt x="1005901" y="0"/>
                    </a:moveTo>
                    <a:lnTo>
                      <a:pt x="1360850" y="0"/>
                    </a:lnTo>
                  </a:path>
                  <a:path w="5920105" h="1737360">
                    <a:moveTo>
                      <a:pt x="1598168" y="0"/>
                    </a:moveTo>
                    <a:lnTo>
                      <a:pt x="1953164" y="0"/>
                    </a:lnTo>
                  </a:path>
                  <a:path w="5920105" h="1737360">
                    <a:moveTo>
                      <a:pt x="2189510" y="0"/>
                    </a:moveTo>
                    <a:lnTo>
                      <a:pt x="2544538" y="0"/>
                    </a:lnTo>
                  </a:path>
                  <a:path w="5920105" h="1737360">
                    <a:moveTo>
                      <a:pt x="2781856" y="0"/>
                    </a:moveTo>
                    <a:lnTo>
                      <a:pt x="5919689" y="0"/>
                    </a:lnTo>
                  </a:path>
                </a:pathLst>
              </a:custGeom>
              <a:ln w="3175">
                <a:solidFill>
                  <a:srgbClr val="808080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2263143" y="1801208"/>
                <a:ext cx="5920105" cy="2432685"/>
              </a:xfrm>
              <a:custGeom>
                <a:avLst/>
                <a:gdLst/>
                <a:ahLst/>
                <a:cxnLst/>
                <a:rect l="l" t="t" r="r" b="b"/>
                <a:pathLst>
                  <a:path w="5920105" h="2432685">
                    <a:moveTo>
                      <a:pt x="0" y="2432654"/>
                    </a:moveTo>
                    <a:lnTo>
                      <a:pt x="177209" y="2432654"/>
                    </a:lnTo>
                  </a:path>
                  <a:path w="5920105" h="2432685">
                    <a:moveTo>
                      <a:pt x="414527" y="2432654"/>
                    </a:moveTo>
                    <a:lnTo>
                      <a:pt x="769555" y="2432654"/>
                    </a:lnTo>
                  </a:path>
                  <a:path w="5920105" h="2432685">
                    <a:moveTo>
                      <a:pt x="1005901" y="2432654"/>
                    </a:moveTo>
                    <a:lnTo>
                      <a:pt x="1360850" y="2432654"/>
                    </a:lnTo>
                  </a:path>
                  <a:path w="5920105" h="2432685">
                    <a:moveTo>
                      <a:pt x="1598168" y="2432654"/>
                    </a:moveTo>
                    <a:lnTo>
                      <a:pt x="1953164" y="2432654"/>
                    </a:lnTo>
                  </a:path>
                  <a:path w="5920105" h="2432685">
                    <a:moveTo>
                      <a:pt x="2189510" y="2432654"/>
                    </a:moveTo>
                    <a:lnTo>
                      <a:pt x="2544538" y="2432654"/>
                    </a:lnTo>
                  </a:path>
                  <a:path w="5920105" h="2432685">
                    <a:moveTo>
                      <a:pt x="2781856" y="2432654"/>
                    </a:moveTo>
                    <a:lnTo>
                      <a:pt x="5919689" y="2432654"/>
                    </a:lnTo>
                  </a:path>
                  <a:path w="5920105" h="2432685">
                    <a:moveTo>
                      <a:pt x="0" y="2084270"/>
                    </a:moveTo>
                    <a:lnTo>
                      <a:pt x="177209" y="2084270"/>
                    </a:lnTo>
                  </a:path>
                  <a:path w="5920105" h="2432685">
                    <a:moveTo>
                      <a:pt x="414527" y="2084270"/>
                    </a:moveTo>
                    <a:lnTo>
                      <a:pt x="769555" y="2084270"/>
                    </a:lnTo>
                  </a:path>
                  <a:path w="5920105" h="2432685">
                    <a:moveTo>
                      <a:pt x="1005901" y="2084270"/>
                    </a:moveTo>
                    <a:lnTo>
                      <a:pt x="1953164" y="2084270"/>
                    </a:lnTo>
                  </a:path>
                  <a:path w="5920105" h="2432685">
                    <a:moveTo>
                      <a:pt x="2189510" y="2084270"/>
                    </a:moveTo>
                    <a:lnTo>
                      <a:pt x="2544538" y="2084270"/>
                    </a:lnTo>
                  </a:path>
                  <a:path w="5920105" h="2432685">
                    <a:moveTo>
                      <a:pt x="2781856" y="2084270"/>
                    </a:moveTo>
                    <a:lnTo>
                      <a:pt x="5919689" y="2084270"/>
                    </a:lnTo>
                  </a:path>
                  <a:path w="5920105" h="2432685">
                    <a:moveTo>
                      <a:pt x="0" y="1736905"/>
                    </a:moveTo>
                    <a:lnTo>
                      <a:pt x="177209" y="1736905"/>
                    </a:lnTo>
                  </a:path>
                  <a:path w="5920105" h="2432685">
                    <a:moveTo>
                      <a:pt x="414527" y="1736905"/>
                    </a:moveTo>
                    <a:lnTo>
                      <a:pt x="769555" y="1736905"/>
                    </a:lnTo>
                  </a:path>
                  <a:path w="5920105" h="2432685">
                    <a:moveTo>
                      <a:pt x="1005901" y="1736905"/>
                    </a:moveTo>
                    <a:lnTo>
                      <a:pt x="1953164" y="1736905"/>
                    </a:lnTo>
                  </a:path>
                  <a:path w="5920105" h="2432685">
                    <a:moveTo>
                      <a:pt x="2189510" y="1736905"/>
                    </a:moveTo>
                    <a:lnTo>
                      <a:pt x="5919689" y="1736905"/>
                    </a:lnTo>
                  </a:path>
                  <a:path w="5920105" h="2432685">
                    <a:moveTo>
                      <a:pt x="0" y="1389539"/>
                    </a:moveTo>
                    <a:lnTo>
                      <a:pt x="177209" y="1389539"/>
                    </a:lnTo>
                  </a:path>
                  <a:path w="5920105" h="2432685">
                    <a:moveTo>
                      <a:pt x="414527" y="1389539"/>
                    </a:moveTo>
                    <a:lnTo>
                      <a:pt x="769555" y="1389539"/>
                    </a:lnTo>
                  </a:path>
                  <a:path w="5920105" h="2432685">
                    <a:moveTo>
                      <a:pt x="1005901" y="1389539"/>
                    </a:moveTo>
                    <a:lnTo>
                      <a:pt x="1953164" y="1389539"/>
                    </a:lnTo>
                  </a:path>
                  <a:path w="5920105" h="2432685">
                    <a:moveTo>
                      <a:pt x="2189510" y="1389539"/>
                    </a:moveTo>
                    <a:lnTo>
                      <a:pt x="5919689" y="1389539"/>
                    </a:lnTo>
                  </a:path>
                  <a:path w="5920105" h="2432685">
                    <a:moveTo>
                      <a:pt x="0" y="1042095"/>
                    </a:moveTo>
                    <a:lnTo>
                      <a:pt x="769555" y="1042095"/>
                    </a:lnTo>
                  </a:path>
                  <a:path w="5920105" h="2432685">
                    <a:moveTo>
                      <a:pt x="1005901" y="1042095"/>
                    </a:moveTo>
                    <a:lnTo>
                      <a:pt x="1953164" y="1042095"/>
                    </a:lnTo>
                  </a:path>
                  <a:path w="5920105" h="2432685">
                    <a:moveTo>
                      <a:pt x="2189510" y="1042095"/>
                    </a:moveTo>
                    <a:lnTo>
                      <a:pt x="5919689" y="1042095"/>
                    </a:lnTo>
                  </a:path>
                  <a:path w="5920105" h="2432685">
                    <a:moveTo>
                      <a:pt x="0" y="694730"/>
                    </a:moveTo>
                    <a:lnTo>
                      <a:pt x="769555" y="694730"/>
                    </a:lnTo>
                  </a:path>
                  <a:path w="5920105" h="2432685">
                    <a:moveTo>
                      <a:pt x="1005901" y="694730"/>
                    </a:moveTo>
                    <a:lnTo>
                      <a:pt x="1953164" y="694730"/>
                    </a:lnTo>
                  </a:path>
                  <a:path w="5920105" h="2432685">
                    <a:moveTo>
                      <a:pt x="2189510" y="694730"/>
                    </a:moveTo>
                    <a:lnTo>
                      <a:pt x="2766056" y="694730"/>
                    </a:lnTo>
                  </a:path>
                  <a:path w="5920105" h="2432685">
                    <a:moveTo>
                      <a:pt x="0" y="347365"/>
                    </a:moveTo>
                    <a:lnTo>
                      <a:pt x="769555" y="347365"/>
                    </a:lnTo>
                  </a:path>
                  <a:path w="5920105" h="2432685">
                    <a:moveTo>
                      <a:pt x="1005901" y="347365"/>
                    </a:moveTo>
                    <a:lnTo>
                      <a:pt x="2766056" y="347365"/>
                    </a:lnTo>
                  </a:path>
                  <a:path w="5920105" h="2432685">
                    <a:moveTo>
                      <a:pt x="0" y="0"/>
                    </a:moveTo>
                    <a:lnTo>
                      <a:pt x="2766056" y="0"/>
                    </a:lnTo>
                  </a:path>
                </a:pathLst>
              </a:custGeom>
              <a:ln w="3175">
                <a:solidFill>
                  <a:srgbClr val="808080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2263143" y="1801208"/>
                <a:ext cx="5920105" cy="4864735"/>
              </a:xfrm>
              <a:custGeom>
                <a:avLst/>
                <a:gdLst/>
                <a:ahLst/>
                <a:cxnLst/>
                <a:rect l="l" t="t" r="r" b="b"/>
                <a:pathLst>
                  <a:path w="5920105" h="4864734">
                    <a:moveTo>
                      <a:pt x="0" y="0"/>
                    </a:moveTo>
                    <a:lnTo>
                      <a:pt x="5919689" y="0"/>
                    </a:lnTo>
                    <a:lnTo>
                      <a:pt x="5919689" y="4864274"/>
                    </a:lnTo>
                    <a:lnTo>
                      <a:pt x="0" y="4864274"/>
                    </a:lnTo>
                    <a:lnTo>
                      <a:pt x="0" y="0"/>
                    </a:lnTo>
                  </a:path>
                </a:pathLst>
              </a:custGeom>
              <a:ln w="7588">
                <a:solidFill>
                  <a:srgbClr val="80808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2440343" y="2002675"/>
                <a:ext cx="5575935" cy="4663440"/>
              </a:xfrm>
              <a:custGeom>
                <a:avLst/>
                <a:gdLst/>
                <a:ahLst/>
                <a:cxnLst/>
                <a:rect l="l" t="t" r="r" b="b"/>
                <a:pathLst>
                  <a:path w="5575934" h="4663440">
                    <a:moveTo>
                      <a:pt x="248589" y="900023"/>
                    </a:moveTo>
                    <a:lnTo>
                      <a:pt x="237324" y="900023"/>
                    </a:lnTo>
                    <a:lnTo>
                      <a:pt x="237324" y="884834"/>
                    </a:lnTo>
                    <a:lnTo>
                      <a:pt x="0" y="884834"/>
                    </a:lnTo>
                    <a:lnTo>
                      <a:pt x="0" y="4662817"/>
                    </a:lnTo>
                    <a:lnTo>
                      <a:pt x="237324" y="4662817"/>
                    </a:lnTo>
                    <a:lnTo>
                      <a:pt x="237324" y="4659109"/>
                    </a:lnTo>
                    <a:lnTo>
                      <a:pt x="248589" y="4659109"/>
                    </a:lnTo>
                    <a:lnTo>
                      <a:pt x="248589" y="900023"/>
                    </a:lnTo>
                    <a:close/>
                  </a:path>
                  <a:path w="5575934" h="4663440">
                    <a:moveTo>
                      <a:pt x="839965" y="15113"/>
                    </a:moveTo>
                    <a:lnTo>
                      <a:pt x="828700" y="15113"/>
                    </a:lnTo>
                    <a:lnTo>
                      <a:pt x="828700" y="0"/>
                    </a:lnTo>
                    <a:lnTo>
                      <a:pt x="592353" y="0"/>
                    </a:lnTo>
                    <a:lnTo>
                      <a:pt x="592353" y="4662817"/>
                    </a:lnTo>
                    <a:lnTo>
                      <a:pt x="828700" y="4662817"/>
                    </a:lnTo>
                    <a:lnTo>
                      <a:pt x="828700" y="4659109"/>
                    </a:lnTo>
                    <a:lnTo>
                      <a:pt x="839965" y="4659109"/>
                    </a:lnTo>
                    <a:lnTo>
                      <a:pt x="839965" y="15113"/>
                    </a:lnTo>
                    <a:close/>
                  </a:path>
                  <a:path w="5575934" h="4663440">
                    <a:moveTo>
                      <a:pt x="1420964" y="2067331"/>
                    </a:moveTo>
                    <a:lnTo>
                      <a:pt x="1183640" y="2067331"/>
                    </a:lnTo>
                    <a:lnTo>
                      <a:pt x="1183640" y="4662817"/>
                    </a:lnTo>
                    <a:lnTo>
                      <a:pt x="1420964" y="4662817"/>
                    </a:lnTo>
                    <a:lnTo>
                      <a:pt x="1420964" y="2067331"/>
                    </a:lnTo>
                    <a:close/>
                  </a:path>
                  <a:path w="5575934" h="4663440">
                    <a:moveTo>
                      <a:pt x="1432280" y="2082444"/>
                    </a:moveTo>
                    <a:lnTo>
                      <a:pt x="1420990" y="2082444"/>
                    </a:lnTo>
                    <a:lnTo>
                      <a:pt x="1420990" y="4659109"/>
                    </a:lnTo>
                    <a:lnTo>
                      <a:pt x="1432280" y="4659109"/>
                    </a:lnTo>
                    <a:lnTo>
                      <a:pt x="1432280" y="2082444"/>
                    </a:lnTo>
                    <a:close/>
                  </a:path>
                  <a:path w="5575934" h="4663440">
                    <a:moveTo>
                      <a:pt x="2012302" y="356844"/>
                    </a:moveTo>
                    <a:lnTo>
                      <a:pt x="1775955" y="356844"/>
                    </a:lnTo>
                    <a:lnTo>
                      <a:pt x="1775955" y="4662817"/>
                    </a:lnTo>
                    <a:lnTo>
                      <a:pt x="2012302" y="4662817"/>
                    </a:lnTo>
                    <a:lnTo>
                      <a:pt x="2012302" y="356844"/>
                    </a:lnTo>
                    <a:close/>
                  </a:path>
                  <a:path w="5575934" h="4663440">
                    <a:moveTo>
                      <a:pt x="2023656" y="371881"/>
                    </a:moveTo>
                    <a:lnTo>
                      <a:pt x="2012365" y="371881"/>
                    </a:lnTo>
                    <a:lnTo>
                      <a:pt x="2012365" y="4659109"/>
                    </a:lnTo>
                    <a:lnTo>
                      <a:pt x="2023656" y="4659109"/>
                    </a:lnTo>
                    <a:lnTo>
                      <a:pt x="2023656" y="371881"/>
                    </a:lnTo>
                    <a:close/>
                  </a:path>
                  <a:path w="5575934" h="4663440">
                    <a:moveTo>
                      <a:pt x="2604655" y="1664462"/>
                    </a:moveTo>
                    <a:lnTo>
                      <a:pt x="2367330" y="1664462"/>
                    </a:lnTo>
                    <a:lnTo>
                      <a:pt x="2367330" y="4662817"/>
                    </a:lnTo>
                    <a:lnTo>
                      <a:pt x="2604655" y="4662817"/>
                    </a:lnTo>
                    <a:lnTo>
                      <a:pt x="2604655" y="1664462"/>
                    </a:lnTo>
                    <a:close/>
                  </a:path>
                  <a:path w="5575934" h="4663440">
                    <a:moveTo>
                      <a:pt x="2615958" y="1679422"/>
                    </a:moveTo>
                    <a:lnTo>
                      <a:pt x="2604681" y="1679422"/>
                    </a:lnTo>
                    <a:lnTo>
                      <a:pt x="2604681" y="4659109"/>
                    </a:lnTo>
                    <a:lnTo>
                      <a:pt x="2615958" y="4659109"/>
                    </a:lnTo>
                    <a:lnTo>
                      <a:pt x="2615958" y="1679422"/>
                    </a:lnTo>
                    <a:close/>
                  </a:path>
                  <a:path w="5575934" h="4663440">
                    <a:moveTo>
                      <a:pt x="3196971" y="4449140"/>
                    </a:moveTo>
                    <a:lnTo>
                      <a:pt x="2959646" y="4449140"/>
                    </a:lnTo>
                    <a:lnTo>
                      <a:pt x="2959646" y="4662817"/>
                    </a:lnTo>
                    <a:lnTo>
                      <a:pt x="3196971" y="4662817"/>
                    </a:lnTo>
                    <a:lnTo>
                      <a:pt x="3196971" y="4449140"/>
                    </a:lnTo>
                    <a:close/>
                  </a:path>
                  <a:path w="5575934" h="4663440">
                    <a:moveTo>
                      <a:pt x="3208274" y="4464316"/>
                    </a:moveTo>
                    <a:lnTo>
                      <a:pt x="3196996" y="4464316"/>
                    </a:lnTo>
                    <a:lnTo>
                      <a:pt x="3196996" y="4659109"/>
                    </a:lnTo>
                    <a:lnTo>
                      <a:pt x="3208274" y="4659109"/>
                    </a:lnTo>
                    <a:lnTo>
                      <a:pt x="3208274" y="4464316"/>
                    </a:lnTo>
                    <a:close/>
                  </a:path>
                  <a:path w="5575934" h="4663440">
                    <a:moveTo>
                      <a:pt x="3799776" y="4634598"/>
                    </a:moveTo>
                    <a:lnTo>
                      <a:pt x="3788308" y="4634598"/>
                    </a:lnTo>
                    <a:lnTo>
                      <a:pt x="3788308" y="4619612"/>
                    </a:lnTo>
                    <a:lnTo>
                      <a:pt x="3551961" y="4619612"/>
                    </a:lnTo>
                    <a:lnTo>
                      <a:pt x="3551961" y="4662817"/>
                    </a:lnTo>
                    <a:lnTo>
                      <a:pt x="3788308" y="4662817"/>
                    </a:lnTo>
                    <a:lnTo>
                      <a:pt x="3788308" y="4659109"/>
                    </a:lnTo>
                    <a:lnTo>
                      <a:pt x="3799776" y="4659109"/>
                    </a:lnTo>
                    <a:lnTo>
                      <a:pt x="3799776" y="4634598"/>
                    </a:lnTo>
                    <a:close/>
                  </a:path>
                  <a:path w="5575934" h="4663440">
                    <a:moveTo>
                      <a:pt x="4392092" y="4597031"/>
                    </a:moveTo>
                    <a:lnTo>
                      <a:pt x="4380611" y="4597031"/>
                    </a:lnTo>
                    <a:lnTo>
                      <a:pt x="4380611" y="4581855"/>
                    </a:lnTo>
                    <a:lnTo>
                      <a:pt x="4143489" y="4581855"/>
                    </a:lnTo>
                    <a:lnTo>
                      <a:pt x="4143489" y="4662817"/>
                    </a:lnTo>
                    <a:lnTo>
                      <a:pt x="4380611" y="4662817"/>
                    </a:lnTo>
                    <a:lnTo>
                      <a:pt x="4380611" y="4659109"/>
                    </a:lnTo>
                    <a:lnTo>
                      <a:pt x="4392092" y="4659109"/>
                    </a:lnTo>
                    <a:lnTo>
                      <a:pt x="4392092" y="4597031"/>
                    </a:lnTo>
                    <a:close/>
                  </a:path>
                  <a:path w="5575934" h="4663440">
                    <a:moveTo>
                      <a:pt x="4983416" y="4640237"/>
                    </a:moveTo>
                    <a:lnTo>
                      <a:pt x="4972151" y="4640237"/>
                    </a:lnTo>
                    <a:lnTo>
                      <a:pt x="4972151" y="4625251"/>
                    </a:lnTo>
                    <a:lnTo>
                      <a:pt x="4735804" y="4625251"/>
                    </a:lnTo>
                    <a:lnTo>
                      <a:pt x="4735804" y="4662817"/>
                    </a:lnTo>
                    <a:lnTo>
                      <a:pt x="4972151" y="4662817"/>
                    </a:lnTo>
                    <a:lnTo>
                      <a:pt x="4972151" y="4659109"/>
                    </a:lnTo>
                    <a:lnTo>
                      <a:pt x="4983416" y="4659109"/>
                    </a:lnTo>
                    <a:lnTo>
                      <a:pt x="4983416" y="4640237"/>
                    </a:lnTo>
                    <a:close/>
                  </a:path>
                  <a:path w="5575934" h="4663440">
                    <a:moveTo>
                      <a:pt x="5564505" y="2763012"/>
                    </a:moveTo>
                    <a:lnTo>
                      <a:pt x="5327180" y="2763012"/>
                    </a:lnTo>
                    <a:lnTo>
                      <a:pt x="5327180" y="4662817"/>
                    </a:lnTo>
                    <a:lnTo>
                      <a:pt x="5564505" y="4662817"/>
                    </a:lnTo>
                    <a:lnTo>
                      <a:pt x="5564505" y="2763012"/>
                    </a:lnTo>
                    <a:close/>
                  </a:path>
                  <a:path w="5575934" h="4663440">
                    <a:moveTo>
                      <a:pt x="5575808" y="2778201"/>
                    </a:moveTo>
                    <a:lnTo>
                      <a:pt x="5564530" y="2778201"/>
                    </a:lnTo>
                    <a:lnTo>
                      <a:pt x="5564530" y="4659109"/>
                    </a:lnTo>
                    <a:lnTo>
                      <a:pt x="5575808" y="4659109"/>
                    </a:lnTo>
                    <a:lnTo>
                      <a:pt x="5575808" y="2778201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2235036" y="1804031"/>
                <a:ext cx="5951220" cy="4895850"/>
              </a:xfrm>
              <a:custGeom>
                <a:avLst/>
                <a:gdLst/>
                <a:ahLst/>
                <a:cxnLst/>
                <a:rect l="l" t="t" r="r" b="b"/>
                <a:pathLst>
                  <a:path w="5951220" h="4895850">
                    <a:moveTo>
                      <a:pt x="30928" y="0"/>
                    </a:moveTo>
                    <a:lnTo>
                      <a:pt x="30928" y="4863490"/>
                    </a:lnTo>
                  </a:path>
                  <a:path w="5951220" h="4895850">
                    <a:moveTo>
                      <a:pt x="0" y="4864274"/>
                    </a:moveTo>
                    <a:lnTo>
                      <a:pt x="30144" y="4864274"/>
                    </a:lnTo>
                  </a:path>
                  <a:path w="5951220" h="4895850">
                    <a:moveTo>
                      <a:pt x="0" y="4516925"/>
                    </a:moveTo>
                    <a:lnTo>
                      <a:pt x="30144" y="4516925"/>
                    </a:lnTo>
                  </a:path>
                  <a:path w="5951220" h="4895850">
                    <a:moveTo>
                      <a:pt x="0" y="4169481"/>
                    </a:moveTo>
                    <a:lnTo>
                      <a:pt x="30144" y="4169481"/>
                    </a:lnTo>
                  </a:path>
                  <a:path w="5951220" h="4895850">
                    <a:moveTo>
                      <a:pt x="0" y="3822116"/>
                    </a:moveTo>
                    <a:lnTo>
                      <a:pt x="30144" y="3822116"/>
                    </a:lnTo>
                  </a:path>
                  <a:path w="5951220" h="4895850">
                    <a:moveTo>
                      <a:pt x="0" y="3474750"/>
                    </a:moveTo>
                    <a:lnTo>
                      <a:pt x="30144" y="3474750"/>
                    </a:lnTo>
                  </a:path>
                  <a:path w="5951220" h="4895850">
                    <a:moveTo>
                      <a:pt x="0" y="3127385"/>
                    </a:moveTo>
                    <a:lnTo>
                      <a:pt x="30144" y="3127385"/>
                    </a:lnTo>
                  </a:path>
                  <a:path w="5951220" h="4895850">
                    <a:moveTo>
                      <a:pt x="0" y="2780020"/>
                    </a:moveTo>
                    <a:lnTo>
                      <a:pt x="30144" y="2780020"/>
                    </a:lnTo>
                  </a:path>
                  <a:path w="5951220" h="4895850">
                    <a:moveTo>
                      <a:pt x="0" y="2432654"/>
                    </a:moveTo>
                    <a:lnTo>
                      <a:pt x="30144" y="2432654"/>
                    </a:lnTo>
                  </a:path>
                  <a:path w="5951220" h="4895850">
                    <a:moveTo>
                      <a:pt x="0" y="2084270"/>
                    </a:moveTo>
                    <a:lnTo>
                      <a:pt x="30144" y="2084270"/>
                    </a:lnTo>
                  </a:path>
                  <a:path w="5951220" h="4895850">
                    <a:moveTo>
                      <a:pt x="0" y="1736905"/>
                    </a:moveTo>
                    <a:lnTo>
                      <a:pt x="30144" y="1736905"/>
                    </a:lnTo>
                  </a:path>
                  <a:path w="5951220" h="4895850">
                    <a:moveTo>
                      <a:pt x="0" y="1389539"/>
                    </a:moveTo>
                    <a:lnTo>
                      <a:pt x="30144" y="1389539"/>
                    </a:lnTo>
                  </a:path>
                  <a:path w="5951220" h="4895850">
                    <a:moveTo>
                      <a:pt x="0" y="1042095"/>
                    </a:moveTo>
                    <a:lnTo>
                      <a:pt x="30144" y="1042095"/>
                    </a:lnTo>
                  </a:path>
                  <a:path w="5951220" h="4895850">
                    <a:moveTo>
                      <a:pt x="0" y="694730"/>
                    </a:moveTo>
                    <a:lnTo>
                      <a:pt x="30144" y="694730"/>
                    </a:lnTo>
                  </a:path>
                  <a:path w="5951220" h="4895850">
                    <a:moveTo>
                      <a:pt x="0" y="347365"/>
                    </a:moveTo>
                    <a:lnTo>
                      <a:pt x="30144" y="347365"/>
                    </a:lnTo>
                  </a:path>
                  <a:path w="5951220" h="4895850">
                    <a:moveTo>
                      <a:pt x="0" y="0"/>
                    </a:moveTo>
                    <a:lnTo>
                      <a:pt x="30144" y="0"/>
                    </a:lnTo>
                  </a:path>
                  <a:path w="5951220" h="4895850">
                    <a:moveTo>
                      <a:pt x="30928" y="4864274"/>
                    </a:moveTo>
                    <a:lnTo>
                      <a:pt x="5949677" y="4864274"/>
                    </a:lnTo>
                  </a:path>
                  <a:path w="5951220" h="4895850">
                    <a:moveTo>
                      <a:pt x="30928" y="4895405"/>
                    </a:moveTo>
                    <a:lnTo>
                      <a:pt x="30928" y="4865246"/>
                    </a:lnTo>
                  </a:path>
                  <a:path w="5951220" h="4895850">
                    <a:moveTo>
                      <a:pt x="623469" y="4895405"/>
                    </a:moveTo>
                    <a:lnTo>
                      <a:pt x="623469" y="4865246"/>
                    </a:lnTo>
                  </a:path>
                  <a:path w="5951220" h="4895850">
                    <a:moveTo>
                      <a:pt x="1214765" y="4895405"/>
                    </a:moveTo>
                    <a:lnTo>
                      <a:pt x="1214765" y="4865246"/>
                    </a:lnTo>
                  </a:path>
                  <a:path w="5951220" h="4895850">
                    <a:moveTo>
                      <a:pt x="1807080" y="4895405"/>
                    </a:moveTo>
                    <a:lnTo>
                      <a:pt x="1807080" y="4865246"/>
                    </a:lnTo>
                  </a:path>
                  <a:path w="5951220" h="4895850">
                    <a:moveTo>
                      <a:pt x="2398454" y="4895405"/>
                    </a:moveTo>
                    <a:lnTo>
                      <a:pt x="2398454" y="4865246"/>
                    </a:lnTo>
                  </a:path>
                  <a:path w="5951220" h="4895850">
                    <a:moveTo>
                      <a:pt x="2990769" y="4895405"/>
                    </a:moveTo>
                    <a:lnTo>
                      <a:pt x="2990769" y="4865246"/>
                    </a:lnTo>
                  </a:path>
                  <a:path w="5951220" h="4895850">
                    <a:moveTo>
                      <a:pt x="3583083" y="4895405"/>
                    </a:moveTo>
                    <a:lnTo>
                      <a:pt x="3583083" y="4865246"/>
                    </a:lnTo>
                  </a:path>
                  <a:path w="5951220" h="4895850">
                    <a:moveTo>
                      <a:pt x="4174457" y="4895405"/>
                    </a:moveTo>
                    <a:lnTo>
                      <a:pt x="4174457" y="4865246"/>
                    </a:lnTo>
                  </a:path>
                  <a:path w="5951220" h="4895850">
                    <a:moveTo>
                      <a:pt x="4766772" y="4895405"/>
                    </a:moveTo>
                    <a:lnTo>
                      <a:pt x="4766772" y="4865246"/>
                    </a:lnTo>
                  </a:path>
                  <a:path w="5951220" h="4895850">
                    <a:moveTo>
                      <a:pt x="5358303" y="4895405"/>
                    </a:moveTo>
                    <a:lnTo>
                      <a:pt x="5358303" y="4865246"/>
                    </a:lnTo>
                  </a:path>
                  <a:path w="5951220" h="4895850">
                    <a:moveTo>
                      <a:pt x="5950617" y="4895405"/>
                    </a:moveTo>
                    <a:lnTo>
                      <a:pt x="5950617" y="4865246"/>
                    </a:lnTo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0" name="object 10"/>
            <p:cNvSpPr txBox="1"/>
            <p:nvPr/>
          </p:nvSpPr>
          <p:spPr>
            <a:xfrm>
              <a:off x="2302257" y="2341382"/>
              <a:ext cx="180415" cy="161846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971" spc="-22" dirty="0">
                  <a:latin typeface="Verdana"/>
                  <a:cs typeface="Verdana"/>
                </a:rPr>
                <a:t>11</a:t>
              </a:r>
              <a:endParaRPr sz="971">
                <a:latin typeface="Verdana"/>
                <a:cs typeface="Verdana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2824065" y="1560574"/>
              <a:ext cx="180415" cy="161846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971" spc="-22" dirty="0">
                  <a:latin typeface="Verdana"/>
                  <a:cs typeface="Verdana"/>
                </a:rPr>
                <a:t>13</a:t>
              </a:r>
              <a:endParaRPr sz="971">
                <a:latin typeface="Verdana"/>
                <a:cs typeface="Verdana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3028863" y="3384695"/>
              <a:ext cx="826434" cy="161846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R="1681" algn="ctr">
                <a:spcBef>
                  <a:spcPts val="97"/>
                </a:spcBef>
              </a:pPr>
              <a:r>
                <a:rPr sz="971" spc="-44" dirty="0">
                  <a:latin typeface="Verdana"/>
                  <a:cs typeface="Verdana"/>
                </a:rPr>
                <a:t>7</a:t>
              </a:r>
              <a:endParaRPr sz="971">
                <a:latin typeface="Verdana"/>
                <a:cs typeface="Verdana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3868427" y="1875304"/>
              <a:ext cx="180415" cy="161846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971" spc="-22" dirty="0">
                  <a:latin typeface="Verdana"/>
                  <a:cs typeface="Verdana"/>
                </a:rPr>
                <a:t>12</a:t>
              </a:r>
              <a:endParaRPr sz="971">
                <a:latin typeface="Verdana"/>
                <a:cs typeface="Verdana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4431089" y="3029223"/>
              <a:ext cx="101974" cy="161846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971" spc="-44" dirty="0">
                  <a:latin typeface="Verdana"/>
                  <a:cs typeface="Verdana"/>
                </a:rPr>
                <a:t>9</a:t>
              </a:r>
              <a:endParaRPr sz="971">
                <a:latin typeface="Verdana"/>
                <a:cs typeface="Verdana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4953720" y="5486333"/>
              <a:ext cx="101974" cy="161846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971" spc="-44" dirty="0">
                  <a:latin typeface="Verdana"/>
                  <a:cs typeface="Verdana"/>
                </a:rPr>
                <a:t>1</a:t>
              </a:r>
              <a:endParaRPr sz="971">
                <a:latin typeface="Verdana"/>
                <a:cs typeface="Verdana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5475452" y="5636711"/>
              <a:ext cx="101974" cy="161846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971" spc="-44" dirty="0">
                  <a:latin typeface="Verdana"/>
                  <a:cs typeface="Verdana"/>
                </a:rPr>
                <a:t>0</a:t>
              </a:r>
              <a:endParaRPr sz="971">
                <a:latin typeface="Verdana"/>
                <a:cs typeface="Verdana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5998151" y="5603440"/>
              <a:ext cx="101974" cy="161846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971" spc="-44" dirty="0">
                  <a:latin typeface="Verdana"/>
                  <a:cs typeface="Verdana"/>
                </a:rPr>
                <a:t>0</a:t>
              </a:r>
              <a:endParaRPr sz="971">
                <a:latin typeface="Verdana"/>
                <a:cs typeface="Verdana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6519882" y="5641691"/>
              <a:ext cx="101974" cy="161846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971" spc="-44" dirty="0">
                  <a:latin typeface="Verdana"/>
                  <a:cs typeface="Verdana"/>
                </a:rPr>
                <a:t>0</a:t>
              </a:r>
              <a:endParaRPr sz="971">
                <a:latin typeface="Verdana"/>
                <a:cs typeface="Verdana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7042513" y="3998592"/>
              <a:ext cx="101974" cy="161846"/>
            </a:xfrm>
            <a:prstGeom prst="rect">
              <a:avLst/>
            </a:prstGeom>
          </p:spPr>
          <p:txBody>
            <a:bodyPr vert="horz" wrap="square" lIns="0" tIns="12326" rIns="0" bIns="0" rtlCol="0">
              <a:spAutoFit/>
            </a:bodyPr>
            <a:lstStyle/>
            <a:p>
              <a:pPr marL="11206">
                <a:spcBef>
                  <a:spcPts val="97"/>
                </a:spcBef>
              </a:pPr>
              <a:r>
                <a:rPr sz="971" spc="-44" dirty="0">
                  <a:latin typeface="Verdana"/>
                  <a:cs typeface="Verdana"/>
                </a:rPr>
                <a:t>5</a:t>
              </a:r>
              <a:endParaRPr sz="971">
                <a:latin typeface="Verdana"/>
                <a:cs typeface="Verdana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1998981" y="5817727"/>
              <a:ext cx="75640" cy="112071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</a:pPr>
              <a:r>
                <a:rPr sz="662" spc="-44" dirty="0">
                  <a:latin typeface="Verdana"/>
                  <a:cs typeface="Verdana"/>
                </a:rPr>
                <a:t>0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1998981" y="5511221"/>
              <a:ext cx="75640" cy="112071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</a:pPr>
              <a:r>
                <a:rPr sz="662" spc="-44" dirty="0">
                  <a:latin typeface="Verdana"/>
                  <a:cs typeface="Verdana"/>
                </a:rPr>
                <a:t>1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1998981" y="4285156"/>
              <a:ext cx="75640" cy="1029052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</a:pPr>
              <a:r>
                <a:rPr sz="662" spc="-44" dirty="0">
                  <a:latin typeface="Verdana"/>
                  <a:cs typeface="Verdana"/>
                </a:rPr>
                <a:t>5</a:t>
              </a:r>
              <a:endParaRPr sz="662">
                <a:latin typeface="Verdana"/>
                <a:cs typeface="Verdana"/>
              </a:endParaRPr>
            </a:p>
            <a:p>
              <a:pPr>
                <a:lnSpc>
                  <a:spcPct val="100000"/>
                </a:lnSpc>
              </a:pPr>
              <a:endParaRPr sz="662">
                <a:latin typeface="Verdana"/>
                <a:cs typeface="Verdana"/>
              </a:endParaRPr>
            </a:p>
            <a:p>
              <a:pPr>
                <a:spcBef>
                  <a:spcPts val="9"/>
                </a:spcBef>
              </a:pPr>
              <a:endParaRPr sz="662">
                <a:latin typeface="Verdana"/>
                <a:cs typeface="Verdana"/>
              </a:endParaRPr>
            </a:p>
            <a:p>
              <a:pPr marL="11206"/>
              <a:r>
                <a:rPr sz="662" spc="-44" dirty="0">
                  <a:latin typeface="Verdana"/>
                  <a:cs typeface="Verdana"/>
                </a:rPr>
                <a:t>4</a:t>
              </a:r>
              <a:endParaRPr sz="662">
                <a:latin typeface="Verdana"/>
                <a:cs typeface="Verdana"/>
              </a:endParaRPr>
            </a:p>
            <a:p>
              <a:pPr>
                <a:lnSpc>
                  <a:spcPct val="100000"/>
                </a:lnSpc>
              </a:pPr>
              <a:endParaRPr sz="662">
                <a:latin typeface="Verdana"/>
                <a:cs typeface="Verdana"/>
              </a:endParaRPr>
            </a:p>
            <a:p>
              <a:pPr>
                <a:spcBef>
                  <a:spcPts val="13"/>
                </a:spcBef>
              </a:pPr>
              <a:endParaRPr sz="662">
                <a:latin typeface="Verdana"/>
                <a:cs typeface="Verdana"/>
              </a:endParaRPr>
            </a:p>
            <a:p>
              <a:pPr marL="11206"/>
              <a:r>
                <a:rPr sz="662" spc="-44" dirty="0">
                  <a:latin typeface="Verdana"/>
                  <a:cs typeface="Verdana"/>
                </a:rPr>
                <a:t>3</a:t>
              </a:r>
              <a:endParaRPr sz="662">
                <a:latin typeface="Verdana"/>
                <a:cs typeface="Verdana"/>
              </a:endParaRPr>
            </a:p>
            <a:p>
              <a:pPr>
                <a:lnSpc>
                  <a:spcPct val="100000"/>
                </a:lnSpc>
              </a:pPr>
              <a:endParaRPr sz="662">
                <a:latin typeface="Verdana"/>
                <a:cs typeface="Verdana"/>
              </a:endParaRPr>
            </a:p>
            <a:p>
              <a:pPr>
                <a:spcBef>
                  <a:spcPts val="9"/>
                </a:spcBef>
              </a:pPr>
              <a:endParaRPr sz="662">
                <a:latin typeface="Verdana"/>
                <a:cs typeface="Verdana"/>
              </a:endParaRPr>
            </a:p>
            <a:p>
              <a:pPr marL="11206"/>
              <a:r>
                <a:rPr sz="662" spc="-44" dirty="0">
                  <a:latin typeface="Verdana"/>
                  <a:cs typeface="Verdana"/>
                </a:rPr>
                <a:t>2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1998981" y="3978658"/>
              <a:ext cx="75640" cy="112071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</a:pPr>
              <a:r>
                <a:rPr sz="662" spc="-44" dirty="0">
                  <a:latin typeface="Verdana"/>
                  <a:cs typeface="Verdana"/>
                </a:rPr>
                <a:t>6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1998981" y="3672159"/>
              <a:ext cx="75640" cy="112071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</a:pPr>
              <a:r>
                <a:rPr sz="662" spc="-44" dirty="0">
                  <a:latin typeface="Verdana"/>
                  <a:cs typeface="Verdana"/>
                </a:rPr>
                <a:t>7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1998981" y="3364761"/>
              <a:ext cx="75640" cy="112071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</a:pPr>
              <a:r>
                <a:rPr sz="662" spc="-44" dirty="0">
                  <a:latin typeface="Verdana"/>
                  <a:cs typeface="Verdana"/>
                </a:rPr>
                <a:t>8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1998981" y="3058262"/>
              <a:ext cx="75640" cy="112071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</a:pPr>
              <a:r>
                <a:rPr sz="662" spc="-44" dirty="0">
                  <a:latin typeface="Verdana"/>
                  <a:cs typeface="Verdana"/>
                </a:rPr>
                <a:t>9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1945771" y="2751763"/>
              <a:ext cx="128868" cy="112071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</a:pPr>
              <a:r>
                <a:rPr sz="662" spc="-22" dirty="0">
                  <a:latin typeface="Verdana"/>
                  <a:cs typeface="Verdana"/>
                </a:rPr>
                <a:t>10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28" name="object 28"/>
            <p:cNvSpPr txBox="1"/>
            <p:nvPr/>
          </p:nvSpPr>
          <p:spPr>
            <a:xfrm>
              <a:off x="1945771" y="2445264"/>
              <a:ext cx="128868" cy="112071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</a:pPr>
              <a:r>
                <a:rPr sz="662" spc="-22" dirty="0">
                  <a:latin typeface="Verdana"/>
                  <a:cs typeface="Verdana"/>
                </a:rPr>
                <a:t>11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29" name="object 29"/>
            <p:cNvSpPr txBox="1"/>
            <p:nvPr/>
          </p:nvSpPr>
          <p:spPr>
            <a:xfrm>
              <a:off x="1945771" y="2138766"/>
              <a:ext cx="128868" cy="112071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</a:pPr>
              <a:r>
                <a:rPr sz="662" spc="-22" dirty="0">
                  <a:latin typeface="Verdana"/>
                  <a:cs typeface="Verdana"/>
                </a:rPr>
                <a:t>12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945771" y="1832198"/>
              <a:ext cx="128868" cy="112071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</a:pPr>
              <a:r>
                <a:rPr sz="662" spc="-22" dirty="0">
                  <a:latin typeface="Verdana"/>
                  <a:cs typeface="Verdana"/>
                </a:rPr>
                <a:t>13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1945771" y="1525699"/>
              <a:ext cx="128868" cy="112071"/>
            </a:xfrm>
            <a:prstGeom prst="rect">
              <a:avLst/>
            </a:prstGeom>
          </p:spPr>
          <p:txBody>
            <a:bodyPr vert="horz" wrap="square" lIns="0" tIns="10085" rIns="0" bIns="0" rtlCol="0">
              <a:spAutoFit/>
            </a:bodyPr>
            <a:lstStyle/>
            <a:p>
              <a:pPr marL="11206">
                <a:spcBef>
                  <a:spcPts val="79"/>
                </a:spcBef>
              </a:pPr>
              <a:r>
                <a:rPr sz="662" spc="-22" dirty="0">
                  <a:latin typeface="Verdana"/>
                  <a:cs typeface="Verdana"/>
                </a:rPr>
                <a:t>14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32" name="object 32"/>
            <p:cNvSpPr txBox="1"/>
            <p:nvPr/>
          </p:nvSpPr>
          <p:spPr>
            <a:xfrm rot="18900000">
              <a:off x="2031165" y="6080613"/>
              <a:ext cx="364904" cy="8976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653"/>
                </a:lnSpc>
              </a:pPr>
              <a:r>
                <a:rPr sz="662" spc="-18" dirty="0">
                  <a:latin typeface="Verdana"/>
                  <a:cs typeface="Verdana"/>
                </a:rPr>
                <a:t>164.gzip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33" name="object 33"/>
            <p:cNvSpPr txBox="1"/>
            <p:nvPr/>
          </p:nvSpPr>
          <p:spPr>
            <a:xfrm rot="18900000">
              <a:off x="2582160" y="6068085"/>
              <a:ext cx="333352" cy="8976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653"/>
                </a:lnSpc>
              </a:pPr>
              <a:r>
                <a:rPr sz="662" spc="-22" dirty="0">
                  <a:latin typeface="Verdana"/>
                  <a:cs typeface="Verdana"/>
                </a:rPr>
                <a:t>175.vpr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34" name="object 34"/>
            <p:cNvSpPr txBox="1"/>
            <p:nvPr/>
          </p:nvSpPr>
          <p:spPr>
            <a:xfrm rot="18900000">
              <a:off x="3102977" y="6069222"/>
              <a:ext cx="334437" cy="8976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653"/>
                </a:lnSpc>
              </a:pPr>
              <a:r>
                <a:rPr sz="662" spc="-18" dirty="0">
                  <a:latin typeface="Verdana"/>
                  <a:cs typeface="Verdana"/>
                </a:rPr>
                <a:t>176.gcc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 rot="18900000">
              <a:off x="3612057" y="6074826"/>
              <a:ext cx="348562" cy="8976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653"/>
                </a:lnSpc>
              </a:pPr>
              <a:r>
                <a:rPr sz="662" spc="-22" dirty="0">
                  <a:latin typeface="Verdana"/>
                  <a:cs typeface="Verdana"/>
                </a:rPr>
                <a:t>181.mcf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 rot="18900000">
              <a:off x="4062732" y="6105727"/>
              <a:ext cx="431181" cy="8976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653"/>
                </a:lnSpc>
              </a:pPr>
              <a:r>
                <a:rPr sz="662" spc="-22" dirty="0">
                  <a:latin typeface="Verdana"/>
                  <a:cs typeface="Verdana"/>
                </a:rPr>
                <a:t>186.crafty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 rot="18900000">
              <a:off x="4486433" y="6147381"/>
              <a:ext cx="543769" cy="8976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653"/>
                </a:lnSpc>
              </a:pPr>
              <a:r>
                <a:rPr sz="662" spc="-18" dirty="0">
                  <a:latin typeface="Verdana"/>
                  <a:cs typeface="Verdana"/>
                </a:rPr>
                <a:t>168.wupwise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 rot="18900000">
              <a:off x="5127855" y="6096503"/>
              <a:ext cx="408119" cy="8976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653"/>
                </a:lnSpc>
              </a:pPr>
              <a:r>
                <a:rPr sz="662" spc="-18" dirty="0">
                  <a:latin typeface="Verdana"/>
                  <a:cs typeface="Verdana"/>
                </a:rPr>
                <a:t>171.swim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 rot="18900000">
              <a:off x="5627554" y="6105968"/>
              <a:ext cx="434479" cy="8976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653"/>
                </a:lnSpc>
              </a:pPr>
              <a:r>
                <a:rPr sz="662" spc="-18" dirty="0">
                  <a:latin typeface="Verdana"/>
                  <a:cs typeface="Verdana"/>
                </a:rPr>
                <a:t>172.mgrid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40" name="object 40"/>
            <p:cNvSpPr txBox="1"/>
            <p:nvPr/>
          </p:nvSpPr>
          <p:spPr>
            <a:xfrm rot="18900000">
              <a:off x="6161272" y="6100705"/>
              <a:ext cx="421840" cy="8976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653"/>
                </a:lnSpc>
              </a:pPr>
              <a:r>
                <a:rPr sz="662" spc="-18" dirty="0">
                  <a:latin typeface="Verdana"/>
                  <a:cs typeface="Verdana"/>
                </a:rPr>
                <a:t>173.applu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41" name="object 41"/>
            <p:cNvSpPr txBox="1"/>
            <p:nvPr/>
          </p:nvSpPr>
          <p:spPr>
            <a:xfrm rot="18900000">
              <a:off x="6687000" y="6100056"/>
              <a:ext cx="416899" cy="8976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653"/>
                </a:lnSpc>
              </a:pPr>
              <a:r>
                <a:rPr sz="662" spc="-18" dirty="0">
                  <a:latin typeface="Verdana"/>
                  <a:cs typeface="Verdana"/>
                </a:rPr>
                <a:t>177.mesa</a:t>
              </a:r>
              <a:endParaRPr sz="662">
                <a:latin typeface="Verdana"/>
                <a:cs typeface="Verdana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1749774" y="2154208"/>
              <a:ext cx="149400" cy="3161179"/>
            </a:xfrm>
            <a:prstGeom prst="rect">
              <a:avLst/>
            </a:prstGeom>
          </p:spPr>
          <p:txBody>
            <a:bodyPr vert="vert270" wrap="square" lIns="0" tIns="12886" rIns="0" bIns="0" rtlCol="0">
              <a:spAutoFit/>
            </a:bodyPr>
            <a:lstStyle/>
            <a:p>
              <a:pPr marL="11206">
                <a:spcBef>
                  <a:spcPts val="101"/>
                </a:spcBef>
              </a:pPr>
              <a:r>
                <a:rPr sz="971" b="1" dirty="0">
                  <a:latin typeface="Verdana"/>
                  <a:cs typeface="Verdana"/>
                </a:rPr>
                <a:t>Branch mispredictions per</a:t>
              </a:r>
              <a:r>
                <a:rPr sz="971" b="1" spc="4" dirty="0">
                  <a:latin typeface="Verdana"/>
                  <a:cs typeface="Verdana"/>
                </a:rPr>
                <a:t> </a:t>
              </a:r>
              <a:r>
                <a:rPr sz="971" b="1" dirty="0">
                  <a:latin typeface="Verdana"/>
                  <a:cs typeface="Verdana"/>
                </a:rPr>
                <a:t>1000</a:t>
              </a:r>
              <a:r>
                <a:rPr sz="971" b="1" spc="4" dirty="0">
                  <a:latin typeface="Verdana"/>
                  <a:cs typeface="Verdana"/>
                </a:rPr>
                <a:t> </a:t>
              </a:r>
              <a:r>
                <a:rPr sz="971" b="1" spc="-9" dirty="0">
                  <a:latin typeface="Verdana"/>
                  <a:cs typeface="Verdana"/>
                </a:rPr>
                <a:t>Instructions</a:t>
              </a:r>
              <a:endParaRPr sz="971">
                <a:latin typeface="Verdana"/>
                <a:cs typeface="Verdana"/>
              </a:endParaRPr>
            </a:p>
          </p:txBody>
        </p:sp>
      </p:grpSp>
      <p:sp>
        <p:nvSpPr>
          <p:cNvPr id="43" name="object 43"/>
          <p:cNvSpPr/>
          <p:nvPr/>
        </p:nvSpPr>
        <p:spPr>
          <a:xfrm>
            <a:off x="4572000" y="1283074"/>
            <a:ext cx="4148418" cy="1116666"/>
          </a:xfrm>
          <a:custGeom>
            <a:avLst/>
            <a:gdLst/>
            <a:ahLst/>
            <a:cxnLst/>
            <a:rect l="l" t="t" r="r" b="b"/>
            <a:pathLst>
              <a:path w="4701540" h="1265555">
                <a:moveTo>
                  <a:pt x="4701477" y="0"/>
                </a:moveTo>
                <a:lnTo>
                  <a:pt x="0" y="0"/>
                </a:lnTo>
                <a:lnTo>
                  <a:pt x="0" y="1265071"/>
                </a:lnTo>
                <a:lnTo>
                  <a:pt x="4701477" y="1265071"/>
                </a:lnTo>
                <a:lnTo>
                  <a:pt x="47014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4" name="object 44"/>
          <p:cNvSpPr txBox="1"/>
          <p:nvPr/>
        </p:nvSpPr>
        <p:spPr>
          <a:xfrm>
            <a:off x="4641948" y="1304813"/>
            <a:ext cx="4001060" cy="461488"/>
          </a:xfrm>
          <a:prstGeom prst="rect">
            <a:avLst/>
          </a:prstGeom>
        </p:spPr>
        <p:txBody>
          <a:bodyPr vert="horz" wrap="square" lIns="0" tIns="5603" rIns="0" bIns="0" rtlCol="0">
            <a:spAutoFit/>
          </a:bodyPr>
          <a:lstStyle/>
          <a:p>
            <a:pPr marL="721697" marR="4483" indent="-711051">
              <a:lnSpc>
                <a:spcPct val="102400"/>
              </a:lnSpc>
              <a:spcBef>
                <a:spcPts val="44"/>
              </a:spcBef>
            </a:pPr>
            <a:r>
              <a:rPr sz="1456" dirty="0">
                <a:solidFill>
                  <a:srgbClr val="0332B7"/>
                </a:solidFill>
                <a:latin typeface="Symbol"/>
                <a:cs typeface="Symbol"/>
              </a:rPr>
              <a:t>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6%</a:t>
            </a:r>
            <a:r>
              <a:rPr sz="1500" b="1" spc="-31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misprediction</a:t>
            </a:r>
            <a:r>
              <a:rPr sz="1500" b="1" spc="-3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rate</a:t>
            </a:r>
            <a:r>
              <a:rPr sz="1500" b="1" spc="-3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per</a:t>
            </a:r>
            <a:r>
              <a:rPr sz="1500" b="1" spc="-31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branch</a:t>
            </a:r>
            <a:r>
              <a:rPr sz="1500" b="1" spc="-3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0332B7"/>
                </a:solidFill>
                <a:latin typeface="Arial"/>
                <a:cs typeface="Arial"/>
              </a:rPr>
              <a:t>SPECint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(19%</a:t>
            </a:r>
            <a:r>
              <a:rPr sz="1500" b="1" spc="-26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of</a:t>
            </a:r>
            <a:r>
              <a:rPr sz="1500" b="1" spc="-26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INT</a:t>
            </a:r>
            <a:r>
              <a:rPr sz="1500" b="1" spc="-31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instructions</a:t>
            </a:r>
            <a:r>
              <a:rPr sz="1500" b="1" spc="-31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are</a:t>
            </a:r>
            <a:r>
              <a:rPr sz="1500" b="1" spc="-26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0332B7"/>
                </a:solidFill>
                <a:latin typeface="Arial"/>
                <a:cs typeface="Arial"/>
              </a:rPr>
              <a:t>branch)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48964" y="1877657"/>
            <a:ext cx="3897966" cy="484860"/>
          </a:xfrm>
          <a:prstGeom prst="rect">
            <a:avLst/>
          </a:prstGeom>
        </p:spPr>
        <p:txBody>
          <a:bodyPr vert="horz" wrap="square" lIns="0" tIns="22971" rIns="0" bIns="0" rtlCol="0">
            <a:spAutoFit/>
          </a:bodyPr>
          <a:lstStyle/>
          <a:p>
            <a:pPr marL="787255" marR="4483" indent="-776609">
              <a:lnSpc>
                <a:spcPts val="1755"/>
              </a:lnSpc>
              <a:spcBef>
                <a:spcPts val="180"/>
              </a:spcBef>
            </a:pPr>
            <a:r>
              <a:rPr sz="1456" dirty="0">
                <a:solidFill>
                  <a:srgbClr val="0332B7"/>
                </a:solidFill>
                <a:latin typeface="Symbol"/>
                <a:cs typeface="Symbol"/>
              </a:rPr>
              <a:t>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2%</a:t>
            </a:r>
            <a:r>
              <a:rPr sz="1500" b="1" spc="-31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misprediction</a:t>
            </a:r>
            <a:r>
              <a:rPr sz="1500" b="1" spc="-3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rate</a:t>
            </a:r>
            <a:r>
              <a:rPr sz="1500" b="1" spc="-3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per</a:t>
            </a:r>
            <a:r>
              <a:rPr sz="1500" b="1" spc="-31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branch</a:t>
            </a:r>
            <a:r>
              <a:rPr sz="1500" b="1" spc="-35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0332B7"/>
                </a:solidFill>
                <a:latin typeface="Arial"/>
                <a:cs typeface="Arial"/>
              </a:rPr>
              <a:t>SPECfp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(5%</a:t>
            </a:r>
            <a:r>
              <a:rPr sz="1500" b="1" spc="-26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of</a:t>
            </a:r>
            <a:r>
              <a:rPr sz="1500" b="1" spc="-26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FP</a:t>
            </a:r>
            <a:r>
              <a:rPr sz="1500" b="1" spc="-57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instructions</a:t>
            </a:r>
            <a:r>
              <a:rPr sz="1500" b="1" spc="-26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0332B7"/>
                </a:solidFill>
                <a:latin typeface="Arial"/>
                <a:cs typeface="Arial"/>
              </a:rPr>
              <a:t>are</a:t>
            </a:r>
            <a:r>
              <a:rPr sz="1500" b="1" spc="-31" dirty="0">
                <a:solidFill>
                  <a:srgbClr val="0332B7"/>
                </a:solidFill>
                <a:latin typeface="Arial"/>
                <a:cs typeface="Arial"/>
              </a:rPr>
              <a:t> </a:t>
            </a:r>
            <a:r>
              <a:rPr sz="1500" b="1" spc="-9" dirty="0">
                <a:solidFill>
                  <a:srgbClr val="0332B7"/>
                </a:solidFill>
                <a:latin typeface="Arial"/>
                <a:cs typeface="Arial"/>
              </a:rPr>
              <a:t>branch)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48" name="Slide Number Placeholder 4">
            <a:extLst>
              <a:ext uri="{FF2B5EF4-FFF2-40B4-BE49-F238E27FC236}">
                <a16:creationId xmlns:a16="http://schemas.microsoft.com/office/drawing/2014/main" id="{2832AA38-B994-6898-40D0-2B04765871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18</a:t>
            </a:fld>
            <a:endParaRPr lang="en-US" spc="-4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BDE36ED6-CA75-E612-8973-413AD082577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784" y="424069"/>
            <a:ext cx="8772938" cy="4566111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27B1BBD4-E5AB-A839-AFF7-76285668A290}"/>
              </a:ext>
            </a:extLst>
          </p:cNvPr>
          <p:cNvSpPr txBox="1"/>
          <p:nvPr/>
        </p:nvSpPr>
        <p:spPr>
          <a:xfrm>
            <a:off x="457670" y="5177137"/>
            <a:ext cx="8089982" cy="1242987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11206" marR="4483">
              <a:lnSpc>
                <a:spcPct val="99600"/>
              </a:lnSpc>
              <a:spcBef>
                <a:spcPts val="93"/>
              </a:spcBef>
            </a:pPr>
            <a:r>
              <a:rPr sz="2000" dirty="0">
                <a:latin typeface="Arial MT"/>
                <a:cs typeface="Arial MT"/>
              </a:rPr>
              <a:t>Branch</a:t>
            </a:r>
            <a:r>
              <a:rPr sz="2000" spc="-57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Misprediction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4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1000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</a:t>
            </a:r>
            <a:r>
              <a:rPr sz="2000" spc="-53" dirty="0">
                <a:latin typeface="Arial MT"/>
                <a:cs typeface="Arial MT"/>
              </a:rPr>
              <a:t> </a:t>
            </a:r>
            <a:r>
              <a:rPr sz="2000" spc="-9" dirty="0">
                <a:latin typeface="Arial MT"/>
                <a:cs typeface="Arial MT"/>
              </a:rPr>
              <a:t>CPU2006 </a:t>
            </a:r>
            <a:r>
              <a:rPr sz="2000" dirty="0">
                <a:latin typeface="Arial MT"/>
                <a:cs typeface="Arial MT"/>
              </a:rPr>
              <a:t>Benchmarks;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(Intel</a:t>
            </a:r>
            <a:r>
              <a:rPr sz="2000" spc="-4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Core</a:t>
            </a:r>
            <a:r>
              <a:rPr sz="2000" spc="-4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</a:t>
            </a:r>
            <a:r>
              <a:rPr sz="2000" spc="-4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Duo)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/</a:t>
            </a:r>
            <a:r>
              <a:rPr sz="2000" spc="-49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Source: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Performance</a:t>
            </a:r>
            <a:r>
              <a:rPr sz="2000" i="1" spc="-44" dirty="0">
                <a:latin typeface="Arial"/>
                <a:cs typeface="Arial"/>
              </a:rPr>
              <a:t> </a:t>
            </a:r>
            <a:r>
              <a:rPr sz="2000" i="1" spc="-9" dirty="0">
                <a:latin typeface="Arial"/>
                <a:cs typeface="Arial"/>
              </a:rPr>
              <a:t>characterization </a:t>
            </a:r>
            <a:r>
              <a:rPr sz="2000" i="1" dirty="0">
                <a:latin typeface="Arial"/>
                <a:cs typeface="Arial"/>
              </a:rPr>
              <a:t>of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spec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cpu2006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benchmarks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on</a:t>
            </a:r>
            <a:r>
              <a:rPr sz="2000" i="1" spc="-4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intel</a:t>
            </a:r>
            <a:r>
              <a:rPr sz="2000" i="1" spc="-4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core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2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duo</a:t>
            </a:r>
            <a:r>
              <a:rPr sz="2000" i="1" spc="-40" dirty="0">
                <a:latin typeface="Arial"/>
                <a:cs typeface="Arial"/>
              </a:rPr>
              <a:t> </a:t>
            </a:r>
            <a:r>
              <a:rPr sz="2000" i="1" spc="-9" dirty="0">
                <a:latin typeface="Arial"/>
                <a:cs typeface="Arial"/>
              </a:rPr>
              <a:t>processor.</a:t>
            </a:r>
            <a:r>
              <a:rPr sz="2000" i="1" spc="-31" dirty="0">
                <a:latin typeface="Arial"/>
                <a:cs typeface="Arial"/>
              </a:rPr>
              <a:t> </a:t>
            </a:r>
            <a:r>
              <a:rPr sz="2000" i="1" spc="-9" dirty="0">
                <a:latin typeface="Arial"/>
                <a:cs typeface="Arial"/>
              </a:rPr>
              <a:t>ISAST Trans.</a:t>
            </a:r>
            <a:r>
              <a:rPr sz="2000" i="1" spc="-49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Comput.</a:t>
            </a:r>
            <a:r>
              <a:rPr sz="2000" i="1" spc="-44" dirty="0">
                <a:latin typeface="Arial"/>
                <a:cs typeface="Arial"/>
              </a:rPr>
              <a:t> </a:t>
            </a:r>
            <a:r>
              <a:rPr sz="2000" i="1" spc="-9" dirty="0">
                <a:latin typeface="Arial"/>
                <a:cs typeface="Arial"/>
              </a:rPr>
              <a:t>Softw.</a:t>
            </a:r>
            <a:r>
              <a:rPr sz="2000" i="1" spc="-4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Eng.</a:t>
            </a:r>
            <a:r>
              <a:rPr sz="2000" i="1" spc="-4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2,</a:t>
            </a:r>
            <a:r>
              <a:rPr sz="2000" i="1" spc="-4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1</a:t>
            </a:r>
            <a:r>
              <a:rPr sz="2000" i="1" spc="-49" dirty="0">
                <a:latin typeface="Arial"/>
                <a:cs typeface="Arial"/>
              </a:rPr>
              <a:t> </a:t>
            </a:r>
            <a:r>
              <a:rPr sz="2000" i="1" spc="-9" dirty="0">
                <a:latin typeface="Arial"/>
                <a:cs typeface="Arial"/>
              </a:rPr>
              <a:t>(2008),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6E7CD50A-85C7-17F7-BBB4-FE25573304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19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1260020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7397022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lang="en-US" dirty="0"/>
              <a:t>Examples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Branch</a:t>
            </a:r>
            <a:r>
              <a:rPr spc="-35" dirty="0"/>
              <a:t> </a:t>
            </a:r>
            <a:r>
              <a:rPr spc="-9" dirty="0"/>
              <a:t>Predictors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091" y="1236026"/>
            <a:ext cx="7397022" cy="5511973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400" spc="-9" dirty="0">
                <a:latin typeface="Calibri"/>
                <a:cs typeface="Calibri"/>
              </a:rPr>
              <a:t>Pentium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pc="-9" dirty="0">
                <a:latin typeface="Calibri"/>
                <a:cs typeface="Calibri"/>
              </a:rPr>
              <a:t>2-</a:t>
            </a:r>
            <a:r>
              <a:rPr dirty="0">
                <a:latin typeface="Calibri"/>
                <a:cs typeface="Calibri"/>
              </a:rPr>
              <a:t>bit local predictor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(Direct jump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(00)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(11)</a:t>
            </a:r>
            <a:r>
              <a:rPr spc="13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state)</a:t>
            </a:r>
            <a:endParaRPr dirty="0">
              <a:latin typeface="Calibri"/>
              <a:cs typeface="Calibri"/>
            </a:endParaRPr>
          </a:p>
          <a:p>
            <a:pPr marL="278481" indent="-267275">
              <a:spcBef>
                <a:spcPts val="552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Pentium</a:t>
            </a:r>
            <a:r>
              <a:rPr sz="2400" spc="7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MMX,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Pentium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Pro,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Celeron,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Pentium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II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Char char="–"/>
              <a:tabLst>
                <a:tab pos="651657" algn="l"/>
              </a:tabLst>
            </a:pPr>
            <a:r>
              <a:rPr dirty="0">
                <a:latin typeface="Calibri"/>
                <a:cs typeface="Calibri"/>
              </a:rPr>
              <a:t>(4,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2)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correlating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predictor</a:t>
            </a:r>
            <a:endParaRPr dirty="0">
              <a:latin typeface="Calibri"/>
              <a:cs typeface="Calibri"/>
            </a:endParaRPr>
          </a:p>
          <a:p>
            <a:pPr marL="278481" indent="-267275">
              <a:spcBef>
                <a:spcPts val="463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Pentium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III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Char char="–"/>
              <a:tabLst>
                <a:tab pos="651657" algn="l"/>
              </a:tabLst>
            </a:pPr>
            <a:r>
              <a:rPr spc="-9" dirty="0">
                <a:latin typeface="Calibri"/>
                <a:cs typeface="Calibri"/>
              </a:rPr>
              <a:t>2-</a:t>
            </a:r>
            <a:r>
              <a:rPr dirty="0">
                <a:latin typeface="Calibri"/>
                <a:cs typeface="Calibri"/>
              </a:rPr>
              <a:t>level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tournament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predictor</a:t>
            </a:r>
            <a:endParaRPr dirty="0">
              <a:latin typeface="Calibri"/>
              <a:cs typeface="Calibri"/>
            </a:endParaRPr>
          </a:p>
          <a:p>
            <a:pPr marL="651657" lvl="1" indent="-212363">
              <a:spcBef>
                <a:spcPts val="446"/>
              </a:spcBef>
              <a:buChar char="–"/>
              <a:tabLst>
                <a:tab pos="651657" algn="l"/>
              </a:tabLst>
            </a:pPr>
            <a:r>
              <a:rPr dirty="0">
                <a:latin typeface="Calibri"/>
                <a:cs typeface="Calibri"/>
              </a:rPr>
              <a:t>512-entry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Branch</a:t>
            </a:r>
            <a:r>
              <a:rPr spc="-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Target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Buffer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(BTB)</a:t>
            </a:r>
            <a:r>
              <a:rPr spc="-9" dirty="0">
                <a:latin typeface="Calibri"/>
                <a:cs typeface="Calibri"/>
              </a:rPr>
              <a:t> (later)</a:t>
            </a:r>
            <a:endParaRPr dirty="0">
              <a:latin typeface="Calibri"/>
              <a:cs typeface="Calibri"/>
            </a:endParaRPr>
          </a:p>
          <a:p>
            <a:pPr marL="278481" indent="-267275">
              <a:spcBef>
                <a:spcPts val="552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Pentium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IV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41"/>
              </a:spcBef>
              <a:buChar char="–"/>
              <a:tabLst>
                <a:tab pos="651657" algn="l"/>
              </a:tabLst>
            </a:pPr>
            <a:r>
              <a:rPr dirty="0">
                <a:latin typeface="Calibri"/>
                <a:cs typeface="Calibri"/>
              </a:rPr>
              <a:t>4096-entry</a:t>
            </a:r>
            <a:r>
              <a:rPr spc="-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BTB</a:t>
            </a:r>
            <a:r>
              <a:rPr spc="-1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execution</a:t>
            </a:r>
            <a:r>
              <a:rPr spc="-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trace</a:t>
            </a:r>
            <a:r>
              <a:rPr spc="-9" dirty="0">
                <a:latin typeface="Calibri"/>
                <a:cs typeface="Calibri"/>
              </a:rPr>
              <a:t> cache</a:t>
            </a:r>
            <a:endParaRPr dirty="0">
              <a:latin typeface="Calibri"/>
              <a:cs typeface="Calibri"/>
            </a:endParaRPr>
          </a:p>
          <a:p>
            <a:pPr marL="278481" indent="-267275">
              <a:spcBef>
                <a:spcPts val="468"/>
              </a:spcBef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Intel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Core</a:t>
            </a:r>
            <a:r>
              <a:rPr sz="2400" spc="53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i7</a:t>
            </a:r>
            <a:endParaRPr sz="2400" dirty="0">
              <a:latin typeface="Calibri"/>
              <a:cs typeface="Calibri"/>
            </a:endParaRPr>
          </a:p>
          <a:p>
            <a:pPr marL="651657" lvl="1" indent="-212363">
              <a:spcBef>
                <a:spcPts val="424"/>
              </a:spcBef>
              <a:buChar char="–"/>
              <a:tabLst>
                <a:tab pos="651657" algn="l"/>
              </a:tabLst>
            </a:pPr>
            <a:r>
              <a:rPr spc="-9" dirty="0">
                <a:latin typeface="Calibri"/>
                <a:cs typeface="Calibri"/>
              </a:rPr>
              <a:t>Two-</a:t>
            </a:r>
            <a:r>
              <a:rPr dirty="0">
                <a:latin typeface="Calibri"/>
                <a:cs typeface="Calibri"/>
              </a:rPr>
              <a:t>level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predictor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(smaller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first-</a:t>
            </a:r>
            <a:r>
              <a:rPr dirty="0">
                <a:latin typeface="Calibri"/>
                <a:cs typeface="Calibri"/>
              </a:rPr>
              <a:t>level,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bigger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second-</a:t>
            </a:r>
            <a:r>
              <a:rPr dirty="0">
                <a:latin typeface="Calibri"/>
                <a:cs typeface="Calibri"/>
              </a:rPr>
              <a:t>level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predictor)</a:t>
            </a:r>
            <a:endParaRPr dirty="0">
              <a:latin typeface="Calibri"/>
              <a:cs typeface="Calibri"/>
            </a:endParaRPr>
          </a:p>
          <a:p>
            <a:pPr marL="651657" lvl="1" indent="-212363">
              <a:spcBef>
                <a:spcPts val="468"/>
              </a:spcBef>
              <a:buChar char="–"/>
              <a:tabLst>
                <a:tab pos="651657" algn="l"/>
              </a:tabLst>
            </a:pPr>
            <a:r>
              <a:rPr dirty="0">
                <a:latin typeface="Calibri"/>
                <a:cs typeface="Calibri"/>
              </a:rPr>
              <a:t>Each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combines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three </a:t>
            </a:r>
            <a:r>
              <a:rPr spc="-9" dirty="0">
                <a:latin typeface="Calibri"/>
                <a:cs typeface="Calibri"/>
              </a:rPr>
              <a:t>predictors</a:t>
            </a:r>
            <a:endParaRPr dirty="0">
              <a:latin typeface="Calibri"/>
              <a:cs typeface="Calibri"/>
            </a:endParaRPr>
          </a:p>
          <a:p>
            <a:pPr marL="867382">
              <a:spcBef>
                <a:spcPts val="379"/>
              </a:spcBef>
            </a:pPr>
            <a:r>
              <a:rPr dirty="0">
                <a:latin typeface="Calibri"/>
                <a:cs typeface="Calibri"/>
              </a:rPr>
              <a:t>»</a:t>
            </a:r>
            <a:r>
              <a:rPr spc="42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Simple</a:t>
            </a:r>
            <a:r>
              <a:rPr spc="9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2-</a:t>
            </a:r>
            <a:r>
              <a:rPr dirty="0">
                <a:latin typeface="Calibri"/>
                <a:cs typeface="Calibri"/>
              </a:rPr>
              <a:t>bit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predictor,</a:t>
            </a:r>
            <a:endParaRPr dirty="0">
              <a:latin typeface="Calibri"/>
              <a:cs typeface="Calibri"/>
            </a:endParaRPr>
          </a:p>
          <a:p>
            <a:pPr marL="867382">
              <a:spcBef>
                <a:spcPts val="446"/>
              </a:spcBef>
            </a:pPr>
            <a:r>
              <a:rPr dirty="0">
                <a:latin typeface="Calibri"/>
                <a:cs typeface="Calibri"/>
              </a:rPr>
              <a:t>»</a:t>
            </a:r>
            <a:r>
              <a:rPr spc="4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Global</a:t>
            </a:r>
            <a:r>
              <a:rPr spc="-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history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predictor,</a:t>
            </a:r>
            <a:endParaRPr dirty="0">
              <a:latin typeface="Calibri"/>
              <a:cs typeface="Calibri"/>
            </a:endParaRPr>
          </a:p>
          <a:p>
            <a:pPr marL="867382">
              <a:spcBef>
                <a:spcPts val="379"/>
              </a:spcBef>
            </a:pPr>
            <a:r>
              <a:rPr dirty="0">
                <a:latin typeface="Calibri"/>
                <a:cs typeface="Calibri"/>
              </a:rPr>
              <a:t>»</a:t>
            </a:r>
            <a:r>
              <a:rPr spc="419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loop</a:t>
            </a:r>
            <a:r>
              <a:rPr spc="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exit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spc="-9" dirty="0">
                <a:latin typeface="Calibri"/>
                <a:cs typeface="Calibri"/>
              </a:rPr>
              <a:t>predictor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05245-E493-DC9F-C1EE-3EFC1588E9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20</a:t>
            </a:fld>
            <a:endParaRPr lang="en-US" spc="-4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7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A</a:t>
            </a:r>
            <a:r>
              <a:rPr spc="-18" dirty="0"/>
              <a:t> </a:t>
            </a:r>
            <a:r>
              <a:rPr dirty="0"/>
              <a:t>sample</a:t>
            </a:r>
            <a:r>
              <a:rPr spc="-18" dirty="0"/>
              <a:t> </a:t>
            </a:r>
            <a:r>
              <a:rPr spc="-9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832" y="1407058"/>
            <a:ext cx="7123991" cy="33638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249" y="4966688"/>
            <a:ext cx="7134037" cy="1301865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33114A2-CCBC-654A-125E-0E6625F532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21</a:t>
            </a:fld>
            <a:endParaRPr lang="en-US" spc="-4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A</a:t>
            </a:r>
            <a:r>
              <a:rPr spc="-18" dirty="0"/>
              <a:t> </a:t>
            </a:r>
            <a:r>
              <a:rPr dirty="0"/>
              <a:t>sample</a:t>
            </a:r>
            <a:r>
              <a:rPr spc="-18" dirty="0"/>
              <a:t> </a:t>
            </a:r>
            <a:r>
              <a:rPr spc="-9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4794" y="1344014"/>
            <a:ext cx="7277100" cy="50273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789C6-4FCD-4189-7E9A-B78A96C742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22</a:t>
            </a:fld>
            <a:endParaRPr lang="en-US" spc="-4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A</a:t>
            </a:r>
            <a:r>
              <a:rPr spc="-18" dirty="0"/>
              <a:t> </a:t>
            </a:r>
            <a:r>
              <a:rPr dirty="0"/>
              <a:t>sample</a:t>
            </a:r>
            <a:r>
              <a:rPr spc="-18" dirty="0"/>
              <a:t> </a:t>
            </a:r>
            <a:r>
              <a:rPr spc="-9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4794" y="1344013"/>
            <a:ext cx="7277100" cy="50370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0B8AB-400F-740E-67F5-7342BA3D18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23</a:t>
            </a:fld>
            <a:endParaRPr lang="en-US" spc="-4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A</a:t>
            </a:r>
            <a:r>
              <a:rPr spc="-18" dirty="0"/>
              <a:t> </a:t>
            </a:r>
            <a:r>
              <a:rPr dirty="0"/>
              <a:t>sample</a:t>
            </a:r>
            <a:r>
              <a:rPr spc="-18" dirty="0"/>
              <a:t> </a:t>
            </a:r>
            <a:r>
              <a:rPr spc="-9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832" y="1407058"/>
            <a:ext cx="7123991" cy="33638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7866" y="4974218"/>
            <a:ext cx="7162499" cy="1532774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FCCA07D-7BDC-2C19-D121-A9E4B1347D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24</a:t>
            </a:fld>
            <a:endParaRPr lang="en-US" spc="-4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Branch</a:t>
            </a:r>
            <a:r>
              <a:rPr spc="-66" dirty="0"/>
              <a:t> </a:t>
            </a:r>
            <a:r>
              <a:rPr dirty="0"/>
              <a:t>Target</a:t>
            </a:r>
            <a:r>
              <a:rPr spc="-62" dirty="0"/>
              <a:t> </a:t>
            </a:r>
            <a:r>
              <a:rPr dirty="0"/>
              <a:t>Buffers</a:t>
            </a:r>
            <a:r>
              <a:rPr spc="-66" dirty="0"/>
              <a:t> </a:t>
            </a:r>
            <a:r>
              <a:rPr spc="-9" dirty="0"/>
              <a:t>(BTB)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2091" y="1253807"/>
            <a:ext cx="7463282" cy="5458168"/>
          </a:xfrm>
          <a:prstGeom prst="rect">
            <a:avLst/>
          </a:prstGeom>
        </p:spPr>
        <p:txBody>
          <a:bodyPr vert="horz" wrap="square" lIns="0" tIns="117101" rIns="0" bIns="0" rtlCol="0">
            <a:spAutoFit/>
          </a:bodyPr>
          <a:lstStyle/>
          <a:p>
            <a:pPr marL="345720" marR="1270255" indent="-267835">
              <a:spcBef>
                <a:spcPts val="393"/>
              </a:spcBef>
              <a:buChar char="•"/>
              <a:tabLst>
                <a:tab pos="345720" algn="l"/>
              </a:tabLst>
            </a:pPr>
            <a:r>
              <a:rPr sz="2400" dirty="0"/>
              <a:t>Branch</a:t>
            </a:r>
            <a:r>
              <a:rPr sz="2400" spc="62" dirty="0"/>
              <a:t> </a:t>
            </a:r>
            <a:r>
              <a:rPr sz="2400" dirty="0"/>
              <a:t>target</a:t>
            </a:r>
            <a:r>
              <a:rPr sz="2400" spc="44" dirty="0"/>
              <a:t> </a:t>
            </a:r>
            <a:r>
              <a:rPr sz="2400" dirty="0"/>
              <a:t>calculation</a:t>
            </a:r>
            <a:r>
              <a:rPr sz="2400" spc="62" dirty="0"/>
              <a:t> </a:t>
            </a:r>
            <a:r>
              <a:rPr sz="2400" dirty="0"/>
              <a:t>is</a:t>
            </a:r>
            <a:r>
              <a:rPr sz="2400" spc="53" dirty="0"/>
              <a:t> </a:t>
            </a:r>
            <a:r>
              <a:rPr sz="2400" dirty="0"/>
              <a:t>costly</a:t>
            </a:r>
            <a:r>
              <a:rPr sz="2400" spc="57" dirty="0"/>
              <a:t> </a:t>
            </a:r>
            <a:r>
              <a:rPr sz="2400" dirty="0"/>
              <a:t>and</a:t>
            </a:r>
            <a:r>
              <a:rPr sz="2400" spc="62" dirty="0"/>
              <a:t> </a:t>
            </a:r>
            <a:r>
              <a:rPr sz="2400" dirty="0"/>
              <a:t>stalls</a:t>
            </a:r>
            <a:r>
              <a:rPr sz="2400" spc="53" dirty="0"/>
              <a:t> </a:t>
            </a:r>
            <a:r>
              <a:rPr sz="2400" spc="-22" dirty="0"/>
              <a:t>the </a:t>
            </a:r>
            <a:r>
              <a:rPr sz="2400" dirty="0"/>
              <a:t>instruction</a:t>
            </a:r>
            <a:r>
              <a:rPr sz="2400" spc="62" dirty="0"/>
              <a:t> </a:t>
            </a:r>
            <a:r>
              <a:rPr sz="2400" dirty="0"/>
              <a:t>fetch</a:t>
            </a:r>
            <a:r>
              <a:rPr sz="2400" spc="66" dirty="0"/>
              <a:t> </a:t>
            </a:r>
            <a:r>
              <a:rPr sz="2400" dirty="0"/>
              <a:t>one</a:t>
            </a:r>
            <a:r>
              <a:rPr sz="2400" spc="66" dirty="0"/>
              <a:t> </a:t>
            </a:r>
            <a:r>
              <a:rPr sz="2400" dirty="0"/>
              <a:t>or</a:t>
            </a:r>
            <a:r>
              <a:rPr sz="2400" spc="57" dirty="0"/>
              <a:t> </a:t>
            </a:r>
            <a:r>
              <a:rPr sz="2400" dirty="0"/>
              <a:t>more</a:t>
            </a:r>
            <a:r>
              <a:rPr sz="2400" spc="66" dirty="0"/>
              <a:t> </a:t>
            </a:r>
            <a:r>
              <a:rPr sz="2400" spc="-9" dirty="0"/>
              <a:t>cycles.</a:t>
            </a:r>
          </a:p>
          <a:p>
            <a:pPr marL="345720" marR="227492" indent="-267835">
              <a:spcBef>
                <a:spcPts val="874"/>
              </a:spcBef>
              <a:buChar char="•"/>
              <a:tabLst>
                <a:tab pos="345720" algn="l"/>
              </a:tabLst>
            </a:pPr>
            <a:r>
              <a:rPr sz="2400" dirty="0"/>
              <a:t>BTB</a:t>
            </a:r>
            <a:r>
              <a:rPr sz="2400" spc="44" dirty="0"/>
              <a:t> </a:t>
            </a:r>
            <a:r>
              <a:rPr sz="2400" dirty="0"/>
              <a:t>stores</a:t>
            </a:r>
            <a:r>
              <a:rPr sz="2400" spc="44" dirty="0"/>
              <a:t> </a:t>
            </a:r>
            <a:r>
              <a:rPr sz="2400" dirty="0"/>
              <a:t>branch</a:t>
            </a:r>
            <a:r>
              <a:rPr sz="2400" spc="53" dirty="0"/>
              <a:t> </a:t>
            </a:r>
            <a:r>
              <a:rPr sz="2400" dirty="0"/>
              <a:t>PCs</a:t>
            </a:r>
            <a:r>
              <a:rPr sz="2400" spc="44" dirty="0"/>
              <a:t> </a:t>
            </a:r>
            <a:r>
              <a:rPr sz="2400" dirty="0"/>
              <a:t>and</a:t>
            </a:r>
            <a:r>
              <a:rPr sz="2400" spc="53" dirty="0"/>
              <a:t> </a:t>
            </a:r>
            <a:r>
              <a:rPr sz="2400" dirty="0"/>
              <a:t>target</a:t>
            </a:r>
            <a:r>
              <a:rPr sz="2400" spc="40" dirty="0"/>
              <a:t> </a:t>
            </a:r>
            <a:r>
              <a:rPr sz="2400" dirty="0"/>
              <a:t>PCs</a:t>
            </a:r>
            <a:r>
              <a:rPr sz="2400" spc="49" dirty="0"/>
              <a:t> </a:t>
            </a:r>
            <a:r>
              <a:rPr sz="2400" dirty="0"/>
              <a:t>the</a:t>
            </a:r>
            <a:r>
              <a:rPr sz="2400" spc="53" dirty="0"/>
              <a:t> </a:t>
            </a:r>
            <a:r>
              <a:rPr sz="2400" dirty="0"/>
              <a:t>same</a:t>
            </a:r>
            <a:r>
              <a:rPr sz="2400" spc="53" dirty="0"/>
              <a:t> </a:t>
            </a:r>
            <a:r>
              <a:rPr sz="2400" dirty="0"/>
              <a:t>way</a:t>
            </a:r>
            <a:r>
              <a:rPr sz="2400" spc="49" dirty="0"/>
              <a:t> </a:t>
            </a:r>
            <a:r>
              <a:rPr sz="2400" spc="-18" dirty="0"/>
              <a:t>that </a:t>
            </a:r>
            <a:r>
              <a:rPr sz="2400" dirty="0"/>
              <a:t>caches</a:t>
            </a:r>
            <a:r>
              <a:rPr sz="2400" spc="57" dirty="0"/>
              <a:t> </a:t>
            </a:r>
            <a:r>
              <a:rPr sz="2400" dirty="0"/>
              <a:t>store</a:t>
            </a:r>
            <a:r>
              <a:rPr sz="2400" spc="75" dirty="0"/>
              <a:t> </a:t>
            </a:r>
            <a:r>
              <a:rPr sz="2400" dirty="0"/>
              <a:t>addresses</a:t>
            </a:r>
            <a:r>
              <a:rPr sz="2400" spc="57" dirty="0"/>
              <a:t> </a:t>
            </a:r>
            <a:r>
              <a:rPr sz="2400" dirty="0"/>
              <a:t>and</a:t>
            </a:r>
            <a:r>
              <a:rPr sz="2400" spc="75" dirty="0"/>
              <a:t> </a:t>
            </a:r>
            <a:r>
              <a:rPr sz="2400" dirty="0"/>
              <a:t>data</a:t>
            </a:r>
            <a:r>
              <a:rPr sz="2400" spc="66" dirty="0"/>
              <a:t> </a:t>
            </a:r>
            <a:r>
              <a:rPr sz="2400" spc="-9" dirty="0"/>
              <a:t>blocks.</a:t>
            </a:r>
          </a:p>
          <a:p>
            <a:pPr marL="345720" indent="-267275">
              <a:spcBef>
                <a:spcPts val="494"/>
              </a:spcBef>
              <a:buChar char="•"/>
              <a:tabLst>
                <a:tab pos="345720" algn="l"/>
              </a:tabLst>
            </a:pPr>
            <a:r>
              <a:rPr sz="2400" dirty="0"/>
              <a:t>The</a:t>
            </a:r>
            <a:r>
              <a:rPr sz="2400" spc="40" dirty="0"/>
              <a:t> </a:t>
            </a:r>
            <a:r>
              <a:rPr sz="2400" dirty="0"/>
              <a:t>PC</a:t>
            </a:r>
            <a:r>
              <a:rPr sz="2400" spc="35" dirty="0"/>
              <a:t> </a:t>
            </a:r>
            <a:r>
              <a:rPr sz="2400" dirty="0"/>
              <a:t>of</a:t>
            </a:r>
            <a:r>
              <a:rPr sz="2400" spc="35" dirty="0"/>
              <a:t> </a:t>
            </a:r>
            <a:r>
              <a:rPr sz="2400" dirty="0"/>
              <a:t>a</a:t>
            </a:r>
            <a:r>
              <a:rPr sz="2400" spc="40" dirty="0"/>
              <a:t> </a:t>
            </a:r>
            <a:r>
              <a:rPr sz="2400" dirty="0"/>
              <a:t>branch</a:t>
            </a:r>
            <a:r>
              <a:rPr sz="2400" spc="40" dirty="0"/>
              <a:t> </a:t>
            </a:r>
            <a:r>
              <a:rPr sz="2400" dirty="0"/>
              <a:t>is</a:t>
            </a:r>
            <a:r>
              <a:rPr sz="2400" spc="31" dirty="0"/>
              <a:t> </a:t>
            </a:r>
            <a:r>
              <a:rPr sz="2400" dirty="0"/>
              <a:t>sent</a:t>
            </a:r>
            <a:r>
              <a:rPr sz="2400" spc="31" dirty="0"/>
              <a:t> </a:t>
            </a:r>
            <a:r>
              <a:rPr sz="2400" dirty="0"/>
              <a:t>to</a:t>
            </a:r>
            <a:r>
              <a:rPr sz="2400" spc="40" dirty="0"/>
              <a:t> </a:t>
            </a:r>
            <a:r>
              <a:rPr sz="2400" dirty="0"/>
              <a:t>the</a:t>
            </a:r>
            <a:r>
              <a:rPr sz="2400" spc="44" dirty="0"/>
              <a:t> </a:t>
            </a:r>
            <a:r>
              <a:rPr sz="2400" spc="-22" dirty="0"/>
              <a:t>BTB</a:t>
            </a:r>
          </a:p>
          <a:p>
            <a:pPr marL="345720" indent="-267275">
              <a:spcBef>
                <a:spcPts val="613"/>
              </a:spcBef>
              <a:buChar char="•"/>
              <a:tabLst>
                <a:tab pos="345720" algn="l"/>
              </a:tabLst>
            </a:pPr>
            <a:r>
              <a:rPr sz="2400" dirty="0"/>
              <a:t>In</a:t>
            </a:r>
            <a:r>
              <a:rPr sz="2400" spc="26" dirty="0"/>
              <a:t> </a:t>
            </a:r>
            <a:r>
              <a:rPr sz="2400" dirty="0"/>
              <a:t>IF</a:t>
            </a:r>
            <a:r>
              <a:rPr sz="2400" spc="22" dirty="0"/>
              <a:t> </a:t>
            </a:r>
            <a:r>
              <a:rPr sz="2400" spc="-9" dirty="0"/>
              <a:t>stage,</a:t>
            </a:r>
          </a:p>
          <a:p>
            <a:pPr marL="718896" marR="730662" lvl="1" indent="-212363">
              <a:spcBef>
                <a:spcPts val="719"/>
              </a:spcBef>
              <a:buChar char="–"/>
              <a:tabLst>
                <a:tab pos="720577" algn="l"/>
              </a:tabLst>
            </a:pPr>
            <a:r>
              <a:rPr sz="2200" dirty="0">
                <a:latin typeface="Calibri"/>
                <a:cs typeface="Calibri"/>
              </a:rPr>
              <a:t>When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match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found,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corresponding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predicted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target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PC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is </a:t>
            </a:r>
            <a:r>
              <a:rPr sz="2200" spc="-9" dirty="0">
                <a:latin typeface="Calibri"/>
                <a:cs typeface="Calibri"/>
              </a:rPr>
              <a:t>returned</a:t>
            </a:r>
            <a:endParaRPr sz="2200" dirty="0">
              <a:latin typeface="Calibri"/>
              <a:cs typeface="Calibri"/>
            </a:endParaRPr>
          </a:p>
          <a:p>
            <a:pPr marL="718896" marR="107582" lvl="1" indent="-212363">
              <a:spcBef>
                <a:spcPts val="724"/>
              </a:spcBef>
              <a:buChar char="–"/>
              <a:tabLst>
                <a:tab pos="720577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branch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predicted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Taken,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fetch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continues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the</a:t>
            </a:r>
            <a:r>
              <a:rPr lang="en-US"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returned</a:t>
            </a:r>
            <a:r>
              <a:rPr sz="2200" spc="-31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predicted</a:t>
            </a:r>
            <a:r>
              <a:rPr sz="2200" spc="-26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PC</a:t>
            </a:r>
            <a:endParaRPr sz="2200" dirty="0">
              <a:latin typeface="Calibri"/>
              <a:cs typeface="Calibri"/>
            </a:endParaRPr>
          </a:p>
          <a:p>
            <a:pPr marL="345720" marR="4483" indent="-267835">
              <a:spcBef>
                <a:spcPts val="759"/>
              </a:spcBef>
              <a:buChar char="•"/>
              <a:tabLst>
                <a:tab pos="345720" algn="l"/>
              </a:tabLst>
            </a:pPr>
            <a:r>
              <a:rPr sz="2400" dirty="0"/>
              <a:t>Later,</a:t>
            </a:r>
            <a:r>
              <a:rPr sz="2400" spc="49" dirty="0"/>
              <a:t> </a:t>
            </a:r>
            <a:r>
              <a:rPr sz="2400" dirty="0"/>
              <a:t>extra</a:t>
            </a:r>
            <a:r>
              <a:rPr sz="2400" spc="57" dirty="0"/>
              <a:t> </a:t>
            </a:r>
            <a:r>
              <a:rPr sz="2400" dirty="0"/>
              <a:t>logic</a:t>
            </a:r>
            <a:r>
              <a:rPr sz="2400" spc="57" dirty="0"/>
              <a:t> </a:t>
            </a:r>
            <a:r>
              <a:rPr sz="2400" dirty="0"/>
              <a:t>verifies</a:t>
            </a:r>
            <a:r>
              <a:rPr sz="2400" spc="53" dirty="0"/>
              <a:t> </a:t>
            </a:r>
            <a:r>
              <a:rPr sz="2400" dirty="0"/>
              <a:t>predicted</a:t>
            </a:r>
            <a:r>
              <a:rPr sz="2400" spc="66" dirty="0"/>
              <a:t> </a:t>
            </a:r>
            <a:r>
              <a:rPr sz="2400" dirty="0"/>
              <a:t>PC</a:t>
            </a:r>
            <a:r>
              <a:rPr sz="2400" spc="53" dirty="0"/>
              <a:t> </a:t>
            </a:r>
            <a:r>
              <a:rPr sz="2400" dirty="0"/>
              <a:t>was</a:t>
            </a:r>
            <a:r>
              <a:rPr sz="2400" spc="57" dirty="0"/>
              <a:t> </a:t>
            </a:r>
            <a:r>
              <a:rPr sz="2400" dirty="0"/>
              <a:t>correct</a:t>
            </a:r>
            <a:r>
              <a:rPr sz="2400" spc="49" dirty="0"/>
              <a:t> </a:t>
            </a:r>
            <a:r>
              <a:rPr sz="2400" spc="-22" dirty="0"/>
              <a:t>and </a:t>
            </a:r>
            <a:r>
              <a:rPr sz="2400" dirty="0"/>
              <a:t>flushes</a:t>
            </a:r>
            <a:r>
              <a:rPr sz="2400" spc="71" dirty="0"/>
              <a:t> </a:t>
            </a:r>
            <a:r>
              <a:rPr sz="2400" dirty="0"/>
              <a:t>all</a:t>
            </a:r>
            <a:r>
              <a:rPr sz="2400" spc="57" dirty="0"/>
              <a:t> </a:t>
            </a:r>
            <a:r>
              <a:rPr sz="2400" dirty="0"/>
              <a:t>incorrectly</a:t>
            </a:r>
            <a:r>
              <a:rPr sz="2400" spc="75" dirty="0"/>
              <a:t> </a:t>
            </a:r>
            <a:r>
              <a:rPr sz="2400" dirty="0"/>
              <a:t>fetched</a:t>
            </a:r>
            <a:r>
              <a:rPr sz="2400" spc="84" dirty="0"/>
              <a:t> </a:t>
            </a:r>
            <a:r>
              <a:rPr sz="2400" dirty="0"/>
              <a:t>instructions</a:t>
            </a:r>
            <a:r>
              <a:rPr sz="2400" spc="71" dirty="0"/>
              <a:t> </a:t>
            </a:r>
            <a:r>
              <a:rPr sz="2400" dirty="0"/>
              <a:t>from</a:t>
            </a:r>
            <a:r>
              <a:rPr sz="2400" spc="84" dirty="0"/>
              <a:t> </a:t>
            </a:r>
            <a:r>
              <a:rPr sz="2400" spc="-9" dirty="0"/>
              <a:t>pipeline(s) </a:t>
            </a:r>
            <a:r>
              <a:rPr sz="2400" dirty="0"/>
              <a:t>without</a:t>
            </a:r>
            <a:r>
              <a:rPr sz="2400" spc="57" dirty="0"/>
              <a:t> </a:t>
            </a:r>
            <a:r>
              <a:rPr sz="2400" dirty="0"/>
              <a:t>storing</a:t>
            </a:r>
            <a:r>
              <a:rPr sz="2400" spc="66" dirty="0"/>
              <a:t> </a:t>
            </a:r>
            <a:r>
              <a:rPr sz="2400" dirty="0"/>
              <a:t>any</a:t>
            </a:r>
            <a:r>
              <a:rPr sz="2400" spc="66" dirty="0"/>
              <a:t> </a:t>
            </a:r>
            <a:r>
              <a:rPr sz="2400" spc="-9" dirty="0"/>
              <a:t>results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BD190F5-AD86-3042-5B18-078F3ACA6A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25</a:t>
            </a:fld>
            <a:endParaRPr lang="en-US" spc="-4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2091" y="1298712"/>
            <a:ext cx="7416340" cy="6347792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9B848641-68CC-1355-464C-733D9A94C0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Branch</a:t>
            </a:r>
            <a:r>
              <a:rPr spc="-66" dirty="0"/>
              <a:t> </a:t>
            </a:r>
            <a:r>
              <a:rPr dirty="0"/>
              <a:t>Target</a:t>
            </a:r>
            <a:r>
              <a:rPr spc="-62" dirty="0"/>
              <a:t> </a:t>
            </a:r>
            <a:r>
              <a:rPr dirty="0"/>
              <a:t>Buffers</a:t>
            </a:r>
            <a:r>
              <a:rPr spc="-66" dirty="0"/>
              <a:t> </a:t>
            </a:r>
            <a:r>
              <a:rPr spc="-9" dirty="0"/>
              <a:t>(BTB)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F87DBEA-30DC-E735-4397-A1E6912BBF03}"/>
              </a:ext>
            </a:extLst>
          </p:cNvPr>
          <p:cNvSpPr txBox="1">
            <a:spLocks/>
          </p:cNvSpPr>
          <p:nvPr/>
        </p:nvSpPr>
        <p:spPr>
          <a:xfrm>
            <a:off x="8494643" y="6346231"/>
            <a:ext cx="373340" cy="4360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500" b="0" i="0" kern="120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26</a:t>
            </a:fld>
            <a:endParaRPr lang="en-US" spc="-4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12091" y="1292573"/>
            <a:ext cx="7955892" cy="2946659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278481" indent="-267275">
              <a:spcBef>
                <a:spcPts val="618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Accessed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concurrently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accessing</a:t>
            </a:r>
            <a:r>
              <a:rPr sz="2400" spc="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I-</a:t>
            </a:r>
            <a:r>
              <a:rPr sz="2400" spc="-9" dirty="0">
                <a:latin typeface="Calibri"/>
                <a:cs typeface="Calibri"/>
              </a:rPr>
              <a:t>cache</a:t>
            </a:r>
            <a:endParaRPr sz="2400" dirty="0">
              <a:latin typeface="Calibri"/>
              <a:cs typeface="Calibri"/>
            </a:endParaRPr>
          </a:p>
          <a:p>
            <a:pPr marL="278481" indent="-267275">
              <a:spcBef>
                <a:spcPts val="529"/>
              </a:spcBef>
              <a:spcAft>
                <a:spcPts val="600"/>
              </a:spcAft>
              <a:buChar char="•"/>
              <a:tabLst>
                <a:tab pos="278481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PC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matches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entry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BTB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BTB</a:t>
            </a:r>
            <a:r>
              <a:rPr sz="2400" spc="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hit),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implies</a:t>
            </a:r>
            <a:endParaRPr sz="2400" dirty="0">
              <a:latin typeface="Calibri"/>
              <a:cs typeface="Calibri"/>
            </a:endParaRPr>
          </a:p>
          <a:p>
            <a:pPr marL="651657" marR="484680" lvl="1" indent="-212363">
              <a:spcBef>
                <a:spcPts val="609"/>
              </a:spcBef>
              <a:spcAft>
                <a:spcPts val="600"/>
              </a:spcAft>
              <a:buChar char="–"/>
              <a:tabLst>
                <a:tab pos="653338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current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 being fetched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 the </a:t>
            </a:r>
            <a:r>
              <a:rPr sz="2200" spc="-9" dirty="0">
                <a:latin typeface="Calibri"/>
                <a:cs typeface="Calibri"/>
              </a:rPr>
              <a:t>I-</a:t>
            </a:r>
            <a:r>
              <a:rPr sz="2200" dirty="0">
                <a:latin typeface="Calibri"/>
                <a:cs typeface="Calibri"/>
              </a:rPr>
              <a:t>cache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been </a:t>
            </a:r>
            <a:r>
              <a:rPr sz="2200" dirty="0">
                <a:latin typeface="Calibri"/>
                <a:cs typeface="Calibri"/>
              </a:rPr>
              <a:t>executed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before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branch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instruction.</a:t>
            </a:r>
            <a:endParaRPr sz="2200" dirty="0">
              <a:latin typeface="Calibri"/>
              <a:cs typeface="Calibri"/>
            </a:endParaRPr>
          </a:p>
          <a:p>
            <a:pPr marL="651657" marR="67239" lvl="1" indent="-212363">
              <a:spcBef>
                <a:spcPts val="525"/>
              </a:spcBef>
              <a:buChar char="–"/>
              <a:tabLst>
                <a:tab pos="653338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BTA</a:t>
            </a:r>
            <a:r>
              <a:rPr lang="en-US" sz="2200" dirty="0">
                <a:latin typeface="Calibri"/>
                <a:cs typeface="Calibri"/>
              </a:rPr>
              <a:t> (branch target instruction)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field of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entry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accessed and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 be used as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 </a:t>
            </a:r>
            <a:r>
              <a:rPr sz="2200" spc="-18" dirty="0">
                <a:latin typeface="Calibri"/>
                <a:cs typeface="Calibri"/>
              </a:rPr>
              <a:t>next</a:t>
            </a:r>
            <a:r>
              <a:rPr lang="en-US"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fetch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address,</a:t>
            </a:r>
            <a:r>
              <a:rPr sz="2200" spc="-18" dirty="0">
                <a:latin typeface="Calibri"/>
                <a:cs typeface="Calibri"/>
              </a:rPr>
              <a:t> </a:t>
            </a:r>
            <a:br>
              <a:rPr lang="en-US" sz="2200" spc="-18" dirty="0">
                <a:latin typeface="Calibri"/>
                <a:cs typeface="Calibri"/>
              </a:rPr>
            </a:br>
            <a:r>
              <a:rPr sz="2200" dirty="0">
                <a:latin typeface="Calibri"/>
                <a:cs typeface="Calibri"/>
              </a:rPr>
              <a:t>if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lang="en-US" sz="2200" spc="-18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branch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instruction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spc="-22" dirty="0">
                <a:latin typeface="Calibri"/>
                <a:cs typeface="Calibri"/>
              </a:rPr>
              <a:t>is </a:t>
            </a:r>
            <a:r>
              <a:rPr sz="2200" dirty="0">
                <a:latin typeface="Calibri"/>
                <a:cs typeface="Calibri"/>
              </a:rPr>
              <a:t>predicted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taken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618849E-BC79-F61E-5946-FE3165BD48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2091" y="668848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Branch</a:t>
            </a:r>
            <a:r>
              <a:rPr spc="-66" dirty="0"/>
              <a:t> </a:t>
            </a:r>
            <a:r>
              <a:rPr dirty="0"/>
              <a:t>Target</a:t>
            </a:r>
            <a:r>
              <a:rPr spc="-62" dirty="0"/>
              <a:t> </a:t>
            </a:r>
            <a:r>
              <a:rPr dirty="0"/>
              <a:t>Buffers</a:t>
            </a:r>
            <a:r>
              <a:rPr spc="-66" dirty="0"/>
              <a:t> </a:t>
            </a:r>
            <a:r>
              <a:rPr spc="-9" dirty="0"/>
              <a:t>(BTB)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49B7DA3-88C2-F5E0-2E93-EE19856DCA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27</a:t>
            </a:fld>
            <a:endParaRPr lang="en-US" spc="-4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DA3EF321-0F6D-DF3C-5DC3-34799BC85D5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7252" y="248478"/>
            <a:ext cx="6069495" cy="6361044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BD8CD81-89A3-A89A-8796-ABBC8B53D3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28</a:t>
            </a:fld>
            <a:endParaRPr lang="en-US" spc="-44" dirty="0"/>
          </a:p>
        </p:txBody>
      </p:sp>
    </p:spTree>
    <p:extLst>
      <p:ext uri="{BB962C8B-B14F-4D97-AF65-F5344CB8AC3E}">
        <p14:creationId xmlns:p14="http://schemas.microsoft.com/office/powerpoint/2010/main" val="2893506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Return</a:t>
            </a:r>
            <a:r>
              <a:rPr spc="-53" dirty="0"/>
              <a:t> </a:t>
            </a:r>
            <a:r>
              <a:rPr dirty="0"/>
              <a:t>Address</a:t>
            </a:r>
            <a:r>
              <a:rPr spc="-57" dirty="0"/>
              <a:t> </a:t>
            </a:r>
            <a:r>
              <a:rPr dirty="0"/>
              <a:t>Predictor</a:t>
            </a:r>
            <a:r>
              <a:rPr spc="-53" dirty="0"/>
              <a:t> </a:t>
            </a:r>
            <a:r>
              <a:rPr sz="1677" dirty="0"/>
              <a:t>(Ch.</a:t>
            </a:r>
            <a:r>
              <a:rPr sz="1677" spc="-26" dirty="0"/>
              <a:t> </a:t>
            </a:r>
            <a:r>
              <a:rPr sz="1677" spc="-18" dirty="0"/>
              <a:t>3.9)</a:t>
            </a:r>
            <a:endParaRPr sz="1677" dirty="0"/>
          </a:p>
        </p:txBody>
      </p:sp>
      <p:sp>
        <p:nvSpPr>
          <p:cNvPr id="3" name="object 3"/>
          <p:cNvSpPr txBox="1"/>
          <p:nvPr/>
        </p:nvSpPr>
        <p:spPr>
          <a:xfrm>
            <a:off x="912090" y="1249278"/>
            <a:ext cx="7927109" cy="5452342"/>
          </a:xfrm>
          <a:prstGeom prst="rect">
            <a:avLst/>
          </a:prstGeom>
        </p:spPr>
        <p:txBody>
          <a:bodyPr vert="horz" wrap="square" lIns="0" tIns="81803" rIns="0" bIns="0" rtlCol="0">
            <a:spAutoFit/>
          </a:bodyPr>
          <a:lstStyle/>
          <a:p>
            <a:pPr marL="278481" indent="-267275">
              <a:spcBef>
                <a:spcPts val="644"/>
              </a:spcBef>
              <a:buChar char="•"/>
              <a:tabLst>
                <a:tab pos="278481" algn="l"/>
              </a:tabLst>
            </a:pPr>
            <a:r>
              <a:rPr sz="2300" dirty="0">
                <a:latin typeface="Calibri"/>
                <a:cs typeface="Calibri"/>
              </a:rPr>
              <a:t>Function</a:t>
            </a:r>
            <a:r>
              <a:rPr sz="2300" spc="8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returns</a:t>
            </a:r>
            <a:r>
              <a:rPr sz="2300" spc="71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are</a:t>
            </a:r>
            <a:r>
              <a:rPr sz="2300" spc="84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frequent,</a:t>
            </a:r>
            <a:r>
              <a:rPr sz="2300" spc="71" dirty="0">
                <a:latin typeface="Calibri"/>
                <a:cs typeface="Calibri"/>
              </a:rPr>
              <a:t> </a:t>
            </a:r>
            <a:r>
              <a:rPr sz="2300" spc="-22" dirty="0">
                <a:latin typeface="Calibri"/>
                <a:cs typeface="Calibri"/>
              </a:rPr>
              <a:t>yet</a:t>
            </a:r>
            <a:endParaRPr sz="2300" dirty="0">
              <a:latin typeface="Calibri"/>
              <a:cs typeface="Calibri"/>
            </a:endParaRPr>
          </a:p>
          <a:p>
            <a:pPr marL="651657" marR="4483" lvl="1" indent="-212363">
              <a:spcBef>
                <a:spcPts val="675"/>
              </a:spcBef>
              <a:buChar char="–"/>
              <a:tabLst>
                <a:tab pos="653338" algn="l"/>
              </a:tabLst>
            </a:pPr>
            <a:r>
              <a:rPr sz="2100" dirty="0">
                <a:latin typeface="Calibri"/>
                <a:cs typeface="Calibri"/>
              </a:rPr>
              <a:t>Indirect</a:t>
            </a:r>
            <a:r>
              <a:rPr sz="2100" spc="-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jumps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whose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destination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address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varies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at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runtime</a:t>
            </a:r>
            <a:r>
              <a:rPr sz="2100" spc="-9" dirty="0">
                <a:latin typeface="Calibri"/>
                <a:cs typeface="Calibri"/>
              </a:rPr>
              <a:t> </a:t>
            </a:r>
            <a:br>
              <a:rPr lang="en-US" sz="2100" spc="-9" dirty="0">
                <a:latin typeface="Calibri"/>
                <a:cs typeface="Calibri"/>
              </a:rPr>
            </a:br>
            <a:r>
              <a:rPr sz="2100" dirty="0">
                <a:latin typeface="Calibri"/>
                <a:cs typeface="Calibri"/>
              </a:rPr>
              <a:t>(have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18" dirty="0">
                <a:latin typeface="Calibri"/>
                <a:cs typeface="Calibri"/>
              </a:rPr>
              <a:t> wait</a:t>
            </a:r>
            <a:r>
              <a:rPr lang="en-US"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until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EX stage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done to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know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22" dirty="0">
                <a:latin typeface="Calibri"/>
                <a:cs typeface="Calibri"/>
              </a:rPr>
              <a:t>it)</a:t>
            </a:r>
            <a:endParaRPr sz="2100" dirty="0">
              <a:latin typeface="Calibri"/>
              <a:cs typeface="Calibri"/>
            </a:endParaRPr>
          </a:p>
          <a:p>
            <a:pPr marL="651657" lvl="1" indent="-212363">
              <a:spcBef>
                <a:spcPts val="419"/>
              </a:spcBef>
              <a:buChar char="–"/>
              <a:tabLst>
                <a:tab pos="651657" algn="l"/>
              </a:tabLst>
            </a:pPr>
            <a:r>
              <a:rPr sz="2100" dirty="0">
                <a:latin typeface="Calibri"/>
                <a:cs typeface="Calibri"/>
              </a:rPr>
              <a:t>Difficult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predict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with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BTB</a:t>
            </a:r>
            <a:r>
              <a:rPr sz="2100" spc="-13" dirty="0">
                <a:latin typeface="Calibri"/>
                <a:cs typeface="Calibri"/>
              </a:rPr>
              <a:t> </a:t>
            </a:r>
            <a:br>
              <a:rPr lang="en-US" sz="2100" spc="-13" dirty="0">
                <a:latin typeface="Calibri"/>
                <a:cs typeface="Calibri"/>
              </a:rPr>
            </a:br>
            <a:r>
              <a:rPr sz="2100" dirty="0">
                <a:latin typeface="Calibri"/>
                <a:cs typeface="Calibri"/>
              </a:rPr>
              <a:t>(function can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called from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multiple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places)</a:t>
            </a:r>
            <a:endParaRPr sz="2100" dirty="0">
              <a:latin typeface="Calibri"/>
              <a:cs typeface="Calibri"/>
            </a:endParaRPr>
          </a:p>
          <a:p>
            <a:pPr marL="651657" marR="206760" lvl="1" indent="-212363">
              <a:spcBef>
                <a:spcPts val="653"/>
              </a:spcBef>
              <a:buChar char="–"/>
              <a:tabLst>
                <a:tab pos="653338" algn="l"/>
              </a:tabLst>
            </a:pPr>
            <a:r>
              <a:rPr sz="2100" dirty="0">
                <a:latin typeface="Calibri"/>
                <a:cs typeface="Calibri"/>
              </a:rPr>
              <a:t>In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SPEC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CPU95,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aggressive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branch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predictor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achieves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accuracy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spc="-22" dirty="0">
                <a:latin typeface="Calibri"/>
                <a:cs typeface="Calibri"/>
              </a:rPr>
              <a:t>of</a:t>
            </a:r>
            <a:r>
              <a:rPr lang="en-US" sz="2100" spc="-22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less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than 60%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such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return </a:t>
            </a:r>
            <a:r>
              <a:rPr sz="2100" spc="-9" dirty="0">
                <a:latin typeface="Calibri"/>
                <a:cs typeface="Calibri"/>
              </a:rPr>
              <a:t>branches</a:t>
            </a:r>
            <a:endParaRPr sz="2100" dirty="0">
              <a:latin typeface="Calibri"/>
              <a:cs typeface="Calibri"/>
            </a:endParaRPr>
          </a:p>
          <a:p>
            <a:pPr lvl="1">
              <a:spcBef>
                <a:spcPts val="353"/>
              </a:spcBef>
              <a:buFont typeface="Calibri"/>
              <a:buChar char="–"/>
            </a:pPr>
            <a:endParaRPr sz="1677" dirty="0">
              <a:latin typeface="Calibri"/>
              <a:cs typeface="Calibri"/>
            </a:endParaRPr>
          </a:p>
          <a:p>
            <a:pPr marL="278481" indent="-267275">
              <a:buChar char="•"/>
              <a:tabLst>
                <a:tab pos="278481" algn="l"/>
              </a:tabLst>
            </a:pPr>
            <a:r>
              <a:rPr sz="2300" dirty="0">
                <a:latin typeface="Calibri"/>
                <a:cs typeface="Calibri"/>
              </a:rPr>
              <a:t>But</a:t>
            </a:r>
            <a:r>
              <a:rPr sz="2300" spc="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return</a:t>
            </a:r>
            <a:r>
              <a:rPr sz="2300" spc="57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address</a:t>
            </a:r>
            <a:r>
              <a:rPr sz="2300" spc="4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49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actually</a:t>
            </a:r>
            <a:r>
              <a:rPr sz="2300" spc="53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easy</a:t>
            </a:r>
            <a:r>
              <a:rPr sz="2300" spc="57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53" dirty="0">
                <a:latin typeface="Calibri"/>
                <a:cs typeface="Calibri"/>
              </a:rPr>
              <a:t> </a:t>
            </a:r>
            <a:r>
              <a:rPr sz="2300" spc="-9" dirty="0">
                <a:latin typeface="Calibri"/>
                <a:cs typeface="Calibri"/>
              </a:rPr>
              <a:t>predict</a:t>
            </a:r>
            <a:endParaRPr sz="2300" dirty="0">
              <a:latin typeface="Calibri"/>
              <a:cs typeface="Calibri"/>
            </a:endParaRPr>
          </a:p>
          <a:p>
            <a:pPr marL="651657" marR="247663" lvl="1" indent="-212363">
              <a:spcBef>
                <a:spcPts val="675"/>
              </a:spcBef>
              <a:buChar char="–"/>
              <a:tabLst>
                <a:tab pos="653338" algn="l"/>
              </a:tabLst>
            </a:pPr>
            <a:r>
              <a:rPr sz="2100" dirty="0">
                <a:latin typeface="Calibri"/>
                <a:cs typeface="Calibri"/>
              </a:rPr>
              <a:t>It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address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after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last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call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instruction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that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we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haven’t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returned</a:t>
            </a:r>
            <a:r>
              <a:rPr lang="en-US"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from</a:t>
            </a:r>
            <a:r>
              <a:rPr sz="2100" spc="13" dirty="0">
                <a:latin typeface="Calibri"/>
                <a:cs typeface="Calibri"/>
              </a:rPr>
              <a:t> </a:t>
            </a:r>
            <a:r>
              <a:rPr sz="2100" spc="-22" dirty="0">
                <a:latin typeface="Calibri"/>
                <a:cs typeface="Calibri"/>
              </a:rPr>
              <a:t>yet</a:t>
            </a:r>
            <a:endParaRPr sz="2100" dirty="0">
              <a:latin typeface="Calibri"/>
              <a:cs typeface="Calibri"/>
            </a:endParaRPr>
          </a:p>
          <a:p>
            <a:pPr marL="651657" lvl="1" indent="-212363">
              <a:spcBef>
                <a:spcPts val="419"/>
              </a:spcBef>
              <a:buChar char="–"/>
              <a:tabLst>
                <a:tab pos="651657" algn="l"/>
              </a:tabLst>
            </a:pPr>
            <a:r>
              <a:rPr sz="2100" dirty="0">
                <a:latin typeface="Calibri"/>
                <a:cs typeface="Calibri"/>
              </a:rPr>
              <a:t>Overcome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 problem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by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using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small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stack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return </a:t>
            </a:r>
            <a:r>
              <a:rPr sz="2100" spc="-9" dirty="0">
                <a:latin typeface="Calibri"/>
                <a:cs typeface="Calibri"/>
              </a:rPr>
              <a:t>addresses</a:t>
            </a:r>
            <a:endParaRPr sz="2100" dirty="0">
              <a:latin typeface="Calibri"/>
              <a:cs typeface="Calibri"/>
            </a:endParaRPr>
          </a:p>
          <a:p>
            <a:pPr marL="651657" lvl="1" indent="-212363">
              <a:spcBef>
                <a:spcPts val="383"/>
              </a:spcBef>
              <a:buChar char="–"/>
              <a:tabLst>
                <a:tab pos="651657" algn="l"/>
              </a:tabLst>
            </a:pPr>
            <a:r>
              <a:rPr sz="2100" dirty="0">
                <a:latin typeface="Calibri"/>
                <a:cs typeface="Calibri"/>
              </a:rPr>
              <a:t>Caches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most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recent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return</a:t>
            </a:r>
            <a:r>
              <a:rPr sz="2100" spc="-4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address</a:t>
            </a:r>
            <a:endParaRPr sz="2100" dirty="0">
              <a:latin typeface="Calibri"/>
              <a:cs typeface="Calibri"/>
            </a:endParaRPr>
          </a:p>
          <a:p>
            <a:pPr marL="651657" lvl="1" indent="-212363">
              <a:spcBef>
                <a:spcPts val="357"/>
              </a:spcBef>
              <a:buChar char="–"/>
              <a:tabLst>
                <a:tab pos="651657" algn="l"/>
              </a:tabLst>
            </a:pPr>
            <a:r>
              <a:rPr sz="2100" dirty="0">
                <a:latin typeface="Calibri"/>
                <a:cs typeface="Calibri"/>
              </a:rPr>
              <a:t>When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return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instruction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1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executed,</a:t>
            </a:r>
            <a:r>
              <a:rPr sz="2100" spc="-18" dirty="0">
                <a:latin typeface="Calibri"/>
                <a:cs typeface="Calibri"/>
              </a:rPr>
              <a:t> </a:t>
            </a:r>
            <a:br>
              <a:rPr lang="en-US" sz="2100" spc="-18" dirty="0">
                <a:latin typeface="Calibri"/>
                <a:cs typeface="Calibri"/>
              </a:rPr>
            </a:br>
            <a:r>
              <a:rPr sz="2100" dirty="0">
                <a:latin typeface="Calibri"/>
                <a:cs typeface="Calibri"/>
              </a:rPr>
              <a:t>use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predicted</a:t>
            </a:r>
            <a:r>
              <a:rPr sz="2100" spc="-9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return</a:t>
            </a:r>
            <a:r>
              <a:rPr sz="2100" spc="-13" dirty="0">
                <a:latin typeface="Calibri"/>
                <a:cs typeface="Calibri"/>
              </a:rPr>
              <a:t> </a:t>
            </a:r>
            <a:r>
              <a:rPr sz="2100" spc="-9" dirty="0">
                <a:latin typeface="Calibri"/>
                <a:cs typeface="Calibri"/>
              </a:rPr>
              <a:t>address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E86F5-035D-777C-8911-B3BBAD899C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29</a:t>
            </a:fld>
            <a:endParaRPr lang="en-US" spc="-44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1" y="668849"/>
            <a:ext cx="518374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Return</a:t>
            </a:r>
            <a:r>
              <a:rPr spc="-53" dirty="0"/>
              <a:t> </a:t>
            </a:r>
            <a:r>
              <a:rPr dirty="0"/>
              <a:t>Address</a:t>
            </a:r>
            <a:r>
              <a:rPr spc="-57" dirty="0"/>
              <a:t> </a:t>
            </a:r>
            <a:r>
              <a:rPr dirty="0"/>
              <a:t>Predictor</a:t>
            </a:r>
            <a:r>
              <a:rPr spc="-53" dirty="0"/>
              <a:t> </a:t>
            </a:r>
            <a:r>
              <a:rPr sz="1677" dirty="0"/>
              <a:t>(Ch.</a:t>
            </a:r>
            <a:r>
              <a:rPr sz="1677" spc="-26" dirty="0"/>
              <a:t> </a:t>
            </a:r>
            <a:r>
              <a:rPr sz="1677" spc="-18" dirty="0"/>
              <a:t>3.9)</a:t>
            </a:r>
            <a:endParaRPr sz="1677" dirty="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4820" y="1379392"/>
            <a:ext cx="5183740" cy="464438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2091" y="6214213"/>
            <a:ext cx="7701822" cy="308909"/>
          </a:xfrm>
          <a:prstGeom prst="rect">
            <a:avLst/>
          </a:prstGeom>
        </p:spPr>
        <p:txBody>
          <a:bodyPr vert="horz" wrap="square" lIns="0" tIns="1121" rIns="0" bIns="0" rtlCol="0">
            <a:spAutoFit/>
          </a:bodyPr>
          <a:lstStyle/>
          <a:p>
            <a:pPr marL="11206">
              <a:spcBef>
                <a:spcPts val="9"/>
              </a:spcBef>
            </a:pPr>
            <a:r>
              <a:rPr sz="1677" dirty="0">
                <a:latin typeface="Calibri"/>
                <a:cs typeface="Calibri"/>
              </a:rPr>
              <a:t>–</a:t>
            </a:r>
            <a:r>
              <a:rPr sz="1677" spc="42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buffer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entries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implies</a:t>
            </a:r>
            <a:r>
              <a:rPr sz="2000" spc="-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standard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branch</a:t>
            </a:r>
            <a:r>
              <a:rPr sz="2000" spc="-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prediction is</a:t>
            </a:r>
            <a:r>
              <a:rPr sz="2000" spc="-13" dirty="0">
                <a:latin typeface="Calibri"/>
                <a:cs typeface="Calibri"/>
              </a:rPr>
              <a:t> </a:t>
            </a:r>
            <a:r>
              <a:rPr sz="2000" spc="-9" dirty="0">
                <a:latin typeface="Calibri"/>
                <a:cs typeface="Calibri"/>
              </a:rPr>
              <a:t>used.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00C0465-EE75-9424-33FC-C14AA9ED50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045239" y="5778196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30</a:t>
            </a:fld>
            <a:endParaRPr lang="en-US" spc="-4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090" y="668849"/>
            <a:ext cx="6518021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>
              <a:spcBef>
                <a:spcPts val="88"/>
              </a:spcBef>
            </a:pPr>
            <a:r>
              <a:rPr dirty="0"/>
              <a:t>Dynamic</a:t>
            </a:r>
            <a:r>
              <a:rPr spc="-53" dirty="0"/>
              <a:t> </a:t>
            </a:r>
            <a:r>
              <a:rPr dirty="0"/>
              <a:t>Branch</a:t>
            </a:r>
            <a:r>
              <a:rPr spc="-49" dirty="0"/>
              <a:t> </a:t>
            </a:r>
            <a:r>
              <a:rPr dirty="0"/>
              <a:t>Prediction</a:t>
            </a:r>
            <a:r>
              <a:rPr spc="-44" dirty="0"/>
              <a:t> </a:t>
            </a:r>
            <a:r>
              <a:rPr spc="-9" dirty="0"/>
              <a:t>Summary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2090" y="1234456"/>
            <a:ext cx="8059632" cy="5324233"/>
          </a:xfrm>
          <a:prstGeom prst="rect">
            <a:avLst/>
          </a:prstGeom>
        </p:spPr>
        <p:txBody>
          <a:bodyPr vert="horz" wrap="square" lIns="0" tIns="78441" rIns="0" bIns="0" rtlCol="0">
            <a:spAutoFit/>
          </a:bodyPr>
          <a:lstStyle/>
          <a:p>
            <a:pPr marL="345720" indent="-267275">
              <a:spcBef>
                <a:spcPts val="618"/>
              </a:spcBef>
              <a:buChar char="•"/>
              <a:tabLst>
                <a:tab pos="345720" algn="l"/>
              </a:tabLst>
            </a:pPr>
            <a:r>
              <a:rPr sz="2400" dirty="0"/>
              <a:t>Prediction</a:t>
            </a:r>
            <a:r>
              <a:rPr sz="2400" spc="84" dirty="0"/>
              <a:t> </a:t>
            </a:r>
            <a:r>
              <a:rPr sz="2400" dirty="0"/>
              <a:t>becoming</a:t>
            </a:r>
            <a:r>
              <a:rPr sz="2400" spc="75" dirty="0"/>
              <a:t> </a:t>
            </a:r>
            <a:r>
              <a:rPr sz="2400" dirty="0"/>
              <a:t>important</a:t>
            </a:r>
            <a:r>
              <a:rPr sz="2400" spc="71" dirty="0"/>
              <a:t> </a:t>
            </a:r>
            <a:r>
              <a:rPr sz="2400" dirty="0"/>
              <a:t>part</a:t>
            </a:r>
            <a:r>
              <a:rPr sz="2400" spc="71" dirty="0"/>
              <a:t> </a:t>
            </a:r>
            <a:r>
              <a:rPr sz="2400" dirty="0"/>
              <a:t>of</a:t>
            </a:r>
            <a:r>
              <a:rPr sz="2400" spc="84" dirty="0"/>
              <a:t> </a:t>
            </a:r>
            <a:r>
              <a:rPr sz="2400" spc="-9" dirty="0"/>
              <a:t>execution</a:t>
            </a:r>
          </a:p>
          <a:p>
            <a:pPr marL="345720" indent="-267275">
              <a:spcBef>
                <a:spcPts val="529"/>
              </a:spcBef>
              <a:buChar char="•"/>
              <a:tabLst>
                <a:tab pos="345720" algn="l"/>
              </a:tabLst>
            </a:pPr>
            <a:r>
              <a:rPr sz="2400" dirty="0"/>
              <a:t>Branch</a:t>
            </a:r>
            <a:r>
              <a:rPr sz="2400" spc="57" dirty="0"/>
              <a:t> </a:t>
            </a:r>
            <a:r>
              <a:rPr sz="2400" dirty="0"/>
              <a:t>History</a:t>
            </a:r>
            <a:r>
              <a:rPr sz="2400" spc="57" dirty="0"/>
              <a:t> </a:t>
            </a:r>
            <a:r>
              <a:rPr sz="2400" dirty="0"/>
              <a:t>Table:</a:t>
            </a:r>
            <a:r>
              <a:rPr sz="2400" spc="44" dirty="0"/>
              <a:t> </a:t>
            </a:r>
            <a:r>
              <a:rPr sz="2400" dirty="0"/>
              <a:t>2</a:t>
            </a:r>
            <a:r>
              <a:rPr sz="2400" spc="53" dirty="0"/>
              <a:t> </a:t>
            </a:r>
            <a:r>
              <a:rPr sz="2400" dirty="0"/>
              <a:t>bits</a:t>
            </a:r>
            <a:r>
              <a:rPr sz="2400" spc="53" dirty="0"/>
              <a:t> </a:t>
            </a:r>
            <a:r>
              <a:rPr sz="2400" dirty="0"/>
              <a:t>for</a:t>
            </a:r>
            <a:r>
              <a:rPr sz="2400" spc="49" dirty="0"/>
              <a:t> </a:t>
            </a:r>
            <a:r>
              <a:rPr sz="2400" dirty="0"/>
              <a:t>loop</a:t>
            </a:r>
            <a:r>
              <a:rPr sz="2400" spc="62" dirty="0"/>
              <a:t> </a:t>
            </a:r>
            <a:r>
              <a:rPr sz="2400" spc="-9" dirty="0"/>
              <a:t>accuracy</a:t>
            </a:r>
          </a:p>
          <a:p>
            <a:pPr marL="345720" marR="209561" indent="-267835">
              <a:spcBef>
                <a:spcPts val="922"/>
              </a:spcBef>
              <a:buChar char="•"/>
              <a:tabLst>
                <a:tab pos="345720" algn="l"/>
              </a:tabLst>
            </a:pPr>
            <a:r>
              <a:rPr sz="2400" dirty="0"/>
              <a:t>Correlation:</a:t>
            </a:r>
            <a:r>
              <a:rPr sz="2400" spc="75" dirty="0"/>
              <a:t> </a:t>
            </a:r>
            <a:r>
              <a:rPr sz="2400" dirty="0"/>
              <a:t>Recently</a:t>
            </a:r>
            <a:r>
              <a:rPr sz="2400" spc="97" dirty="0"/>
              <a:t> </a:t>
            </a:r>
            <a:r>
              <a:rPr sz="2400" dirty="0"/>
              <a:t>executed</a:t>
            </a:r>
            <a:r>
              <a:rPr sz="2400" spc="97" dirty="0"/>
              <a:t> </a:t>
            </a:r>
            <a:r>
              <a:rPr sz="2400" dirty="0"/>
              <a:t>branches</a:t>
            </a:r>
            <a:r>
              <a:rPr sz="2400" spc="88" dirty="0"/>
              <a:t> </a:t>
            </a:r>
            <a:r>
              <a:rPr sz="2400" dirty="0"/>
              <a:t>correlated</a:t>
            </a:r>
            <a:r>
              <a:rPr sz="2400" spc="101" dirty="0"/>
              <a:t> </a:t>
            </a:r>
            <a:r>
              <a:rPr sz="2400" spc="-18" dirty="0"/>
              <a:t>with </a:t>
            </a:r>
            <a:r>
              <a:rPr sz="2400" dirty="0"/>
              <a:t>next</a:t>
            </a:r>
            <a:r>
              <a:rPr sz="2400" spc="31" dirty="0"/>
              <a:t> </a:t>
            </a:r>
            <a:r>
              <a:rPr sz="2400" spc="-9" dirty="0"/>
              <a:t>branch</a:t>
            </a:r>
          </a:p>
          <a:p>
            <a:pPr marL="718896" lvl="1" indent="-212363">
              <a:spcBef>
                <a:spcPts val="405"/>
              </a:spcBef>
              <a:buChar char="–"/>
              <a:tabLst>
                <a:tab pos="718896" algn="l"/>
              </a:tabLst>
            </a:pPr>
            <a:r>
              <a:rPr sz="2200" dirty="0">
                <a:latin typeface="Calibri"/>
                <a:cs typeface="Calibri"/>
              </a:rPr>
              <a:t>Either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different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branches</a:t>
            </a:r>
            <a:r>
              <a:rPr sz="2200" spc="-22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(GA)</a:t>
            </a:r>
            <a:endParaRPr sz="2200" dirty="0">
              <a:latin typeface="Calibri"/>
              <a:cs typeface="Calibri"/>
            </a:endParaRPr>
          </a:p>
          <a:p>
            <a:pPr marL="718896" lvl="1" indent="-212363">
              <a:spcBef>
                <a:spcPts val="383"/>
              </a:spcBef>
              <a:buChar char="–"/>
              <a:tabLst>
                <a:tab pos="718896" algn="l"/>
              </a:tabLst>
            </a:pPr>
            <a:r>
              <a:rPr sz="2200" dirty="0">
                <a:latin typeface="Calibri"/>
                <a:cs typeface="Calibri"/>
              </a:rPr>
              <a:t>Or</a:t>
            </a:r>
            <a:r>
              <a:rPr sz="2200" spc="-18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different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executions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branches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spc="-18" dirty="0">
                <a:latin typeface="Calibri"/>
                <a:cs typeface="Calibri"/>
              </a:rPr>
              <a:t>(PA)</a:t>
            </a:r>
            <a:endParaRPr sz="2200" dirty="0">
              <a:latin typeface="Calibri"/>
              <a:cs typeface="Calibri"/>
            </a:endParaRPr>
          </a:p>
          <a:p>
            <a:pPr marL="345720" marR="80126" indent="-267835">
              <a:spcBef>
                <a:spcPts val="794"/>
              </a:spcBef>
              <a:buChar char="•"/>
              <a:tabLst>
                <a:tab pos="345720" algn="l"/>
              </a:tabLst>
            </a:pPr>
            <a:r>
              <a:rPr sz="2400" dirty="0"/>
              <a:t>Tournament</a:t>
            </a:r>
            <a:r>
              <a:rPr sz="2400" spc="53" dirty="0"/>
              <a:t> </a:t>
            </a:r>
            <a:r>
              <a:rPr sz="2400" dirty="0"/>
              <a:t>predictors</a:t>
            </a:r>
            <a:r>
              <a:rPr sz="2400" spc="66" dirty="0"/>
              <a:t> </a:t>
            </a:r>
            <a:r>
              <a:rPr sz="2400" dirty="0"/>
              <a:t>take</a:t>
            </a:r>
            <a:r>
              <a:rPr sz="2400" spc="71" dirty="0"/>
              <a:t> </a:t>
            </a:r>
            <a:r>
              <a:rPr sz="2400" dirty="0"/>
              <a:t>insight</a:t>
            </a:r>
            <a:r>
              <a:rPr sz="2400" spc="57" dirty="0"/>
              <a:t> </a:t>
            </a:r>
            <a:r>
              <a:rPr sz="2400" dirty="0"/>
              <a:t>to</a:t>
            </a:r>
            <a:r>
              <a:rPr sz="2400" spc="66" dirty="0"/>
              <a:t> </a:t>
            </a:r>
            <a:r>
              <a:rPr sz="2400" dirty="0"/>
              <a:t>next</a:t>
            </a:r>
            <a:r>
              <a:rPr sz="2400" spc="57" dirty="0"/>
              <a:t> </a:t>
            </a:r>
            <a:r>
              <a:rPr sz="2400" dirty="0"/>
              <a:t>level,</a:t>
            </a:r>
            <a:r>
              <a:rPr sz="2400" spc="57" dirty="0"/>
              <a:t> </a:t>
            </a:r>
            <a:r>
              <a:rPr sz="2400" dirty="0"/>
              <a:t>by</a:t>
            </a:r>
            <a:r>
              <a:rPr sz="2400" spc="66" dirty="0"/>
              <a:t> </a:t>
            </a:r>
            <a:r>
              <a:rPr sz="2400" spc="-9" dirty="0"/>
              <a:t>using </a:t>
            </a:r>
            <a:r>
              <a:rPr sz="2400" dirty="0"/>
              <a:t>multiple</a:t>
            </a:r>
            <a:r>
              <a:rPr sz="2400" spc="66" dirty="0"/>
              <a:t> </a:t>
            </a:r>
            <a:r>
              <a:rPr sz="2400" spc="-9" dirty="0"/>
              <a:t>predictors</a:t>
            </a:r>
          </a:p>
          <a:p>
            <a:pPr marL="718896" marR="832081" lvl="1" indent="-212363">
              <a:spcBef>
                <a:spcPts val="671"/>
              </a:spcBef>
              <a:buChar char="–"/>
              <a:tabLst>
                <a:tab pos="720577" algn="l"/>
              </a:tabLst>
            </a:pPr>
            <a:r>
              <a:rPr lang="en-US" sz="2200" dirty="0">
                <a:latin typeface="Calibri"/>
                <a:cs typeface="Calibri"/>
              </a:rPr>
              <a:t>Usually,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 based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 global information and one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based on</a:t>
            </a:r>
            <a:r>
              <a:rPr sz="2200" spc="4" dirty="0">
                <a:latin typeface="Calibri"/>
                <a:cs typeface="Calibri"/>
              </a:rPr>
              <a:t> </a:t>
            </a:r>
            <a:r>
              <a:rPr sz="2200" spc="-9" dirty="0">
                <a:latin typeface="Calibri"/>
                <a:cs typeface="Calibri"/>
              </a:rPr>
              <a:t>local </a:t>
            </a:r>
            <a:r>
              <a:rPr sz="2200" dirty="0">
                <a:latin typeface="Calibri"/>
                <a:cs typeface="Calibri"/>
              </a:rPr>
              <a:t>information,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combining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them with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9" dirty="0">
                <a:latin typeface="Calibri"/>
                <a:cs typeface="Calibri"/>
              </a:rPr>
              <a:t> selector</a:t>
            </a:r>
            <a:endParaRPr sz="2200" dirty="0">
              <a:latin typeface="Calibri"/>
              <a:cs typeface="Calibri"/>
            </a:endParaRPr>
          </a:p>
          <a:p>
            <a:pPr marL="718896" marR="4483" lvl="1" indent="-212363">
              <a:spcBef>
                <a:spcPts val="723"/>
              </a:spcBef>
              <a:buChar char="–"/>
              <a:tabLst>
                <a:tab pos="720577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2006,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tournament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predictors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4" dirty="0">
                <a:latin typeface="Calibri"/>
                <a:cs typeface="Calibri"/>
              </a:rPr>
              <a:t> </a:t>
            </a:r>
            <a:r>
              <a:rPr sz="2200" dirty="0">
                <a:latin typeface="Symbol"/>
                <a:cs typeface="Symbol"/>
              </a:rPr>
              <a:t></a:t>
            </a:r>
            <a:r>
              <a:rPr sz="2200" spc="-4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Calibri"/>
                <a:cs typeface="Calibri"/>
              </a:rPr>
              <a:t>30K bits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 in processors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like </a:t>
            </a:r>
            <a:r>
              <a:rPr sz="2200" spc="-22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Power5</a:t>
            </a:r>
            <a:r>
              <a:rPr sz="2200" spc="-13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Pentium</a:t>
            </a:r>
            <a:r>
              <a:rPr sz="2200" spc="-9" dirty="0">
                <a:latin typeface="Calibri"/>
                <a:cs typeface="Calibri"/>
              </a:rPr>
              <a:t> </a:t>
            </a:r>
            <a:r>
              <a:rPr sz="2200" spc="-44" dirty="0">
                <a:latin typeface="Calibri"/>
                <a:cs typeface="Calibri"/>
              </a:rPr>
              <a:t>4</a:t>
            </a:r>
            <a:endParaRPr sz="2200" dirty="0">
              <a:latin typeface="Calibri"/>
              <a:cs typeface="Calibri"/>
            </a:endParaRPr>
          </a:p>
          <a:p>
            <a:pPr marL="345720" indent="-267275">
              <a:spcBef>
                <a:spcPts val="534"/>
              </a:spcBef>
              <a:buChar char="•"/>
              <a:tabLst>
                <a:tab pos="345720" algn="l"/>
              </a:tabLst>
            </a:pPr>
            <a:r>
              <a:rPr sz="2400" dirty="0"/>
              <a:t>Branch</a:t>
            </a:r>
            <a:r>
              <a:rPr sz="2400" spc="75" dirty="0"/>
              <a:t> </a:t>
            </a:r>
            <a:r>
              <a:rPr sz="2400" dirty="0"/>
              <a:t>Target</a:t>
            </a:r>
            <a:r>
              <a:rPr sz="2400" spc="66" dirty="0"/>
              <a:t> </a:t>
            </a:r>
            <a:r>
              <a:rPr sz="2400" dirty="0"/>
              <a:t>Buffer:</a:t>
            </a:r>
            <a:r>
              <a:rPr sz="2400" spc="57" dirty="0"/>
              <a:t> </a:t>
            </a:r>
            <a:r>
              <a:rPr sz="2400" dirty="0"/>
              <a:t>include</a:t>
            </a:r>
            <a:r>
              <a:rPr sz="2400" spc="79" dirty="0"/>
              <a:t> </a:t>
            </a:r>
            <a:r>
              <a:rPr sz="2400" dirty="0"/>
              <a:t>branch</a:t>
            </a:r>
            <a:r>
              <a:rPr sz="2400" spc="79" dirty="0"/>
              <a:t> </a:t>
            </a:r>
            <a:r>
              <a:rPr sz="2400" dirty="0"/>
              <a:t>address</a:t>
            </a:r>
            <a:r>
              <a:rPr sz="2400" spc="66" dirty="0"/>
              <a:t> </a:t>
            </a:r>
            <a:r>
              <a:rPr sz="2400" dirty="0"/>
              <a:t>&amp;</a:t>
            </a:r>
            <a:r>
              <a:rPr sz="2400" spc="84" dirty="0"/>
              <a:t> </a:t>
            </a:r>
            <a:r>
              <a:rPr sz="2400" spc="-9" dirty="0"/>
              <a:t>prediction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DC09C3-F6E6-D4AB-C648-59F325967F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31</a:t>
            </a:fld>
            <a:endParaRPr lang="en-US" spc="-4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42395" y="669918"/>
            <a:ext cx="6858000" cy="4729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dirty="0"/>
              <a:t>Floor</a:t>
            </a:r>
            <a:r>
              <a:rPr spc="-35" dirty="0"/>
              <a:t> </a:t>
            </a:r>
            <a:r>
              <a:rPr dirty="0"/>
              <a:t>Plan</a:t>
            </a:r>
            <a:r>
              <a:rPr spc="-18" dirty="0"/>
              <a:t> </a:t>
            </a:r>
            <a:r>
              <a:rPr dirty="0"/>
              <a:t>of</a:t>
            </a:r>
            <a:r>
              <a:rPr spc="-26" dirty="0"/>
              <a:t> </a:t>
            </a:r>
            <a:r>
              <a:rPr dirty="0"/>
              <a:t>Pentium</a:t>
            </a:r>
            <a:r>
              <a:rPr spc="-18" dirty="0"/>
              <a:t> </a:t>
            </a:r>
            <a:r>
              <a:rPr spc="-9" dirty="0"/>
              <a:t>Processor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3628" y="1386194"/>
            <a:ext cx="4747868" cy="50841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44139" y="2023783"/>
            <a:ext cx="1262377" cy="740723"/>
          </a:xfrm>
          <a:prstGeom prst="rect">
            <a:avLst/>
          </a:prstGeom>
        </p:spPr>
        <p:txBody>
          <a:bodyPr vert="horz" wrap="square" lIns="0" tIns="2801" rIns="0" bIns="0" rtlCol="0">
            <a:spAutoFit/>
          </a:bodyPr>
          <a:lstStyle/>
          <a:p>
            <a:pPr marL="11206" marR="4483">
              <a:lnSpc>
                <a:spcPct val="102899"/>
              </a:lnSpc>
              <a:spcBef>
                <a:spcPts val="22"/>
              </a:spcBef>
            </a:pPr>
            <a:r>
              <a:rPr sz="2400" dirty="0">
                <a:solidFill>
                  <a:srgbClr val="008000"/>
                </a:solidFill>
                <a:latin typeface="Times New Roman"/>
                <a:cs typeface="Times New Roman"/>
              </a:rPr>
              <a:t>1993</a:t>
            </a:r>
            <a:r>
              <a:rPr sz="2400" spc="31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400" spc="-18" dirty="0">
                <a:solidFill>
                  <a:srgbClr val="008000"/>
                </a:solidFill>
                <a:latin typeface="Times New Roman"/>
                <a:cs typeface="Times New Roman"/>
              </a:rPr>
              <a:t>Intel </a:t>
            </a:r>
            <a:r>
              <a:rPr sz="2400" spc="-9" dirty="0">
                <a:solidFill>
                  <a:srgbClr val="008000"/>
                </a:solidFill>
                <a:latin typeface="Times New Roman"/>
                <a:cs typeface="Times New Roman"/>
              </a:rPr>
              <a:t>Pentium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84F4B15-9D05-A729-71DE-D15165D2AC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494643" y="6346231"/>
            <a:ext cx="373340" cy="436017"/>
          </a:xfrm>
        </p:spPr>
        <p:txBody>
          <a:bodyPr/>
          <a:lstStyle/>
          <a:p>
            <a:pPr marL="139521">
              <a:lnSpc>
                <a:spcPts val="1747"/>
              </a:lnSpc>
            </a:pPr>
            <a:fld id="{81D60167-4931-47E6-BA6A-407CBD079E47}" type="slidenum">
              <a:rPr lang="en-US" spc="-44" smtClean="0"/>
              <a:pPr marL="139521">
                <a:lnSpc>
                  <a:spcPts val="1747"/>
                </a:lnSpc>
              </a:pPr>
              <a:t>32</a:t>
            </a:fld>
            <a:endParaRPr lang="en-US" spc="-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1397</TotalTime>
  <Words>4396</Words>
  <Application>Microsoft Office PowerPoint</Application>
  <PresentationFormat>On-screen Show (4:3)</PresentationFormat>
  <Paragraphs>751</Paragraphs>
  <Slides>32</Slides>
  <Notes>28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Aptos</vt:lpstr>
      <vt:lpstr>Arial</vt:lpstr>
      <vt:lpstr>Arial MT</vt:lpstr>
      <vt:lpstr>Calibri</vt:lpstr>
      <vt:lpstr>Consolas</vt:lpstr>
      <vt:lpstr>Symbol</vt:lpstr>
      <vt:lpstr>Times New Roman</vt:lpstr>
      <vt:lpstr>Verdana</vt:lpstr>
      <vt:lpstr>Wingdings</vt:lpstr>
      <vt:lpstr>1_Office Theme</vt:lpstr>
      <vt:lpstr>PowerPoint Presentation</vt:lpstr>
      <vt:lpstr>Review Question</vt:lpstr>
      <vt:lpstr>PowerPoint Presentation</vt:lpstr>
      <vt:lpstr>Outline</vt:lpstr>
      <vt:lpstr>Dynamic Branch Prediction</vt:lpstr>
      <vt:lpstr>Dynamic Branch Prediction</vt:lpstr>
      <vt:lpstr>PowerPoint Presentation</vt:lpstr>
      <vt:lpstr>BHT Accuracy</vt:lpstr>
      <vt:lpstr>Accuracy of Different Schemes</vt:lpstr>
      <vt:lpstr>Correlated Branch Prediction</vt:lpstr>
      <vt:lpstr>Correlating Branches</vt:lpstr>
      <vt:lpstr>A few Calculations</vt:lpstr>
      <vt:lpstr>Accuracy of Different Schemes</vt:lpstr>
      <vt:lpstr>Review Question</vt:lpstr>
      <vt:lpstr>Tournament Predictors</vt:lpstr>
      <vt:lpstr>Tournament Predictors (Example)</vt:lpstr>
      <vt:lpstr>Comparing Predictors (H&amp;P Fig. 3.4 , 5th ed.)</vt:lpstr>
      <vt:lpstr>Pentium 4 Misprediction Rate</vt:lpstr>
      <vt:lpstr>PowerPoint Presentation</vt:lpstr>
      <vt:lpstr>Examples of Branch Predictors</vt:lpstr>
      <vt:lpstr>A sample problem</vt:lpstr>
      <vt:lpstr>A sample problem</vt:lpstr>
      <vt:lpstr>A sample problem</vt:lpstr>
      <vt:lpstr>A sample problem</vt:lpstr>
      <vt:lpstr>Branch Target Buffers (BTB)</vt:lpstr>
      <vt:lpstr>Branch Target Buffers (BTB)</vt:lpstr>
      <vt:lpstr>Branch Target Buffers (BTB)</vt:lpstr>
      <vt:lpstr>PowerPoint Presentation</vt:lpstr>
      <vt:lpstr>Return Address Predictor (Ch. 3.9)</vt:lpstr>
      <vt:lpstr>Return Address Predictor (Ch. 3.9)</vt:lpstr>
      <vt:lpstr>Dynamic Branch Prediction Summary</vt:lpstr>
      <vt:lpstr>Floor Plan of Pentium Processor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Johnson</dc:creator>
  <cp:lastModifiedBy>Richard Johnson</cp:lastModifiedBy>
  <cp:revision>744</cp:revision>
  <dcterms:created xsi:type="dcterms:W3CDTF">2025-09-07T23:26:05Z</dcterms:created>
  <dcterms:modified xsi:type="dcterms:W3CDTF">2025-11-10T17:24:19Z</dcterms:modified>
</cp:coreProperties>
</file>