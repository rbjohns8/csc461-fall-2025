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7"/>
  </p:notesMasterIdLst>
  <p:sldIdLst>
    <p:sldId id="348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349" r:id="rId20"/>
    <p:sldId id="350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66FF"/>
    <a:srgbClr val="0033CC"/>
    <a:srgbClr val="0332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129" autoAdjust="0"/>
  </p:normalViewPr>
  <p:slideViewPr>
    <p:cSldViewPr snapToGrid="0">
      <p:cViewPr varScale="1">
        <p:scale>
          <a:sx n="57" d="100"/>
          <a:sy n="57" d="100"/>
        </p:scale>
        <p:origin x="21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47FD1-F16B-4674-8E3F-229D935503A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FFC65-791B-4559-8ED4-77406F77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11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80CBAE93-06AC-4832-A6F6-170F7BEDB2E9}" type="datetime3">
              <a:rPr lang="en-US" smtClean="0"/>
              <a:t>17 November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CEACC0-B677-4A29-B1E6-BCE98563D55B}" type="slidenum">
              <a:rPr lang="en-US"/>
              <a:pPr/>
              <a:t>1</a:t>
            </a:fld>
            <a:endParaRPr lang="en-US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0739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none" dirty="0"/>
              <a:t>&gt;&gt;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none" dirty="0"/>
              <a:t>AMAT = L1 hit time + L1 miss rate * L1 miss penalty</a:t>
            </a:r>
          </a:p>
          <a:p>
            <a:endParaRPr lang="en-US" u="none" dirty="0"/>
          </a:p>
          <a:p>
            <a:r>
              <a:rPr lang="en-US" u="none" dirty="0"/>
              <a:t>L1 hit time: 2ns</a:t>
            </a:r>
          </a:p>
          <a:p>
            <a:r>
              <a:rPr lang="en-US" dirty="0"/>
              <a:t>L1 miss rate: </a:t>
            </a:r>
            <a:r>
              <a:rPr lang="en-US" dirty="0">
                <a:effectLst/>
              </a:rPr>
              <a:t>8%</a:t>
            </a:r>
          </a:p>
          <a:p>
            <a:r>
              <a:rPr lang="en-US" dirty="0">
                <a:effectLst/>
              </a:rPr>
              <a:t>L1 miss penalty = L2 hit time + L2 miss rate * L2 miss penalty</a:t>
            </a:r>
            <a:endParaRPr lang="en-US" dirty="0"/>
          </a:p>
          <a:p>
            <a:endParaRPr lang="en-US" dirty="0"/>
          </a:p>
          <a:p>
            <a:r>
              <a:rPr lang="en-US" dirty="0"/>
              <a:t>L2 hit time: 10ns</a:t>
            </a:r>
          </a:p>
          <a:p>
            <a:r>
              <a:rPr lang="en-US" dirty="0"/>
              <a:t>L2 miss rate: </a:t>
            </a:r>
            <a:r>
              <a:rPr lang="en-US" dirty="0">
                <a:effectLst/>
              </a:rPr>
              <a:t>1% (</a:t>
            </a:r>
            <a:r>
              <a:rPr lang="en-US" dirty="0"/>
              <a:t>of L1 misses)</a:t>
            </a:r>
          </a:p>
          <a:p>
            <a:r>
              <a:rPr lang="en-US" dirty="0"/>
              <a:t>L2 miss penalty = Memory access time = 100ns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L1 miss penalty = 10ns + 0.01 * 100ns = 11ns</a:t>
            </a:r>
          </a:p>
          <a:p>
            <a:r>
              <a:rPr lang="en-US" dirty="0"/>
              <a:t>AMAT = 2ns + 0.08 * 11ns = 2.88ns</a:t>
            </a:r>
          </a:p>
          <a:p>
            <a:endParaRPr lang="en-US" dirty="0"/>
          </a:p>
          <a:p>
            <a:r>
              <a:rPr lang="en-US" b="1" dirty="0"/>
              <a:t>The answer is 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29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AMAT = Cache hit time + Cache miss rate + Cache miss penalty</a:t>
            </a:r>
          </a:p>
          <a:p>
            <a:endParaRPr lang="en-US" dirty="0"/>
          </a:p>
          <a:p>
            <a:r>
              <a:rPr lang="en-US" dirty="0"/>
              <a:t>Cache hit time: 1 cycle</a:t>
            </a:r>
          </a:p>
          <a:p>
            <a:r>
              <a:rPr lang="en-US" dirty="0"/>
              <a:t>Cache miss rate: 0%</a:t>
            </a:r>
          </a:p>
          <a:p>
            <a:r>
              <a:rPr lang="en-US" dirty="0"/>
              <a:t>Cache miss penalty = Memory access time = 200 cycles</a:t>
            </a:r>
          </a:p>
          <a:p>
            <a:endParaRPr lang="en-US" dirty="0"/>
          </a:p>
          <a:p>
            <a:r>
              <a:rPr lang="en-US" dirty="0"/>
              <a:t>AMAT = 1 cycle</a:t>
            </a:r>
          </a:p>
          <a:p>
            <a:endParaRPr lang="en-US" dirty="0"/>
          </a:p>
          <a:p>
            <a:r>
              <a:rPr lang="en-US" b="1" dirty="0"/>
              <a:t>Answer is 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7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Scoreboarding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hardware technique used for dynamic instruction scheduling that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enables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out-of-order execution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tracking data dependencies and hazards in real time.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this technique has “perfect information” about hazards, it can do a good job of scheduling.</a:t>
            </a:r>
          </a:p>
          <a:p>
            <a:endParaRPr lang="en-US" b="1" dirty="0"/>
          </a:p>
          <a:p>
            <a:r>
              <a:rPr lang="en-US" b="1" dirty="0"/>
              <a:t>Goal:</a:t>
            </a:r>
            <a:r>
              <a:rPr lang="en-US" dirty="0"/>
              <a:t> </a:t>
            </a:r>
          </a:p>
          <a:p>
            <a:r>
              <a:rPr lang="en-US" dirty="0"/>
              <a:t>Start each instruction as early as possible and deal with instructions that </a:t>
            </a:r>
            <a:r>
              <a:rPr lang="en-US" u="sng" dirty="0"/>
              <a:t>complete </a:t>
            </a:r>
            <a:r>
              <a:rPr lang="en-US" b="0" u="sng" dirty="0"/>
              <a:t>out-of-order</a:t>
            </a:r>
            <a:r>
              <a:rPr lang="en-US" dirty="0"/>
              <a:t>.</a:t>
            </a:r>
          </a:p>
          <a:p>
            <a:endParaRPr lang="en-US" i="1" dirty="0"/>
          </a:p>
          <a:p>
            <a:r>
              <a:rPr lang="en-US" i="1" u="sng" dirty="0"/>
              <a:t>Optional</a:t>
            </a:r>
            <a:r>
              <a:rPr lang="en-US" i="1" dirty="0"/>
              <a:t>: (Give the analogy)</a:t>
            </a:r>
          </a:p>
          <a:p>
            <a:endParaRPr lang="en-US" b="1" dirty="0"/>
          </a:p>
          <a:p>
            <a:r>
              <a:rPr lang="en-US" b="1" dirty="0"/>
              <a:t>Main Schemes:</a:t>
            </a:r>
            <a:r>
              <a:rPr lang="en-US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Scoreboard method (App. C.7)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Tomasulo's method (Ch 3)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u="sng" dirty="0"/>
              <a:t>For reference: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Out-of-order execution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allows a processor to execute instructions in a different order than they appear in the code,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out-of-order completion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refers to a situation where an instruction finishes executing before an earlier one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scoreboard </a:t>
            </a:r>
            <a:r>
              <a:rPr lang="en-US" i="1" dirty="0"/>
              <a:t>achieves its goal</a:t>
            </a:r>
            <a:r>
              <a:rPr lang="en-US" dirty="0"/>
              <a:t> (starting instructions early and dealing with out-of-order completion) </a:t>
            </a:r>
          </a:p>
          <a:p>
            <a:r>
              <a:rPr lang="en-US" i="1" dirty="0"/>
              <a:t>by using its mechanism</a:t>
            </a:r>
            <a:r>
              <a:rPr lang="en-US" dirty="0"/>
              <a:t> (tracking dependencies and enabling dynamic, out-of-order execution).</a:t>
            </a:r>
          </a:p>
          <a:p>
            <a:endParaRPr lang="en-US" dirty="0"/>
          </a:p>
          <a:p>
            <a:r>
              <a:rPr lang="en-US" dirty="0"/>
              <a:t>In essence, the second statement is the driving force behind the first. </a:t>
            </a:r>
          </a:p>
          <a:p>
            <a:r>
              <a:rPr lang="en-US" dirty="0"/>
              <a:t>The hardware technique (</a:t>
            </a:r>
            <a:r>
              <a:rPr lang="en-US" dirty="0" err="1"/>
              <a:t>Scoreboarding</a:t>
            </a:r>
            <a:r>
              <a:rPr lang="en-US" dirty="0"/>
              <a:t>) was developed specifically </a:t>
            </a:r>
          </a:p>
          <a:p>
            <a:r>
              <a:rPr lang="en-US" dirty="0"/>
              <a:t>to achieve the goal of maximizing Instruction Level Parallelism (ILP) </a:t>
            </a:r>
          </a:p>
          <a:p>
            <a:r>
              <a:rPr lang="en-US" dirty="0"/>
              <a:t>by executing instructions as soon as their data dependencies are met, </a:t>
            </a:r>
          </a:p>
          <a:p>
            <a:r>
              <a:rPr lang="en-US" dirty="0"/>
              <a:t>which necessitates out-of-order execution and completion.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84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&gt;&gt;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latin typeface="Calibri"/>
                <a:cs typeface="Calibri"/>
              </a:rPr>
              <a:t>(CDC</a:t>
            </a:r>
            <a:r>
              <a:rPr lang="en-US" sz="1200" i="1" spc="53" dirty="0">
                <a:latin typeface="Calibri"/>
                <a:cs typeface="Calibri"/>
              </a:rPr>
              <a:t> </a:t>
            </a:r>
            <a:r>
              <a:rPr lang="en-US" sz="1200" i="1" dirty="0">
                <a:latin typeface="Calibri"/>
                <a:cs typeface="Calibri"/>
              </a:rPr>
              <a:t>6600,</a:t>
            </a:r>
            <a:r>
              <a:rPr lang="en-US" sz="1200" i="1" spc="53" dirty="0">
                <a:latin typeface="Calibri"/>
                <a:cs typeface="Calibri"/>
              </a:rPr>
              <a:t> </a:t>
            </a:r>
            <a:r>
              <a:rPr lang="en-US" sz="1200" i="1" dirty="0">
                <a:latin typeface="Calibri"/>
                <a:cs typeface="Calibri"/>
              </a:rPr>
              <a:t>late</a:t>
            </a:r>
            <a:r>
              <a:rPr lang="en-US" sz="1200" i="1" spc="66" dirty="0">
                <a:latin typeface="Calibri"/>
                <a:cs typeface="Calibri"/>
              </a:rPr>
              <a:t> </a:t>
            </a:r>
            <a:r>
              <a:rPr lang="en-US" sz="1200" i="1" spc="-18" dirty="0">
                <a:latin typeface="Calibri"/>
                <a:cs typeface="Calibri"/>
              </a:rPr>
              <a:t>1960s)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i="1" spc="-18" dirty="0"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Origin</a:t>
            </a:r>
            <a:r>
              <a:rPr lang="en-US" b="0" dirty="0"/>
              <a:t> of Scoreboard Method</a:t>
            </a:r>
            <a:r>
              <a:rPr lang="en-US" b="1" dirty="0"/>
              <a:t>:</a:t>
            </a:r>
            <a:r>
              <a:rPr lang="en-US" dirty="0"/>
              <a:t> CDC 6600, late 1960s.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i="1" dirty="0">
              <a:latin typeface="Calibri"/>
              <a:cs typeface="Calibri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CDC 6600 is the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flagship of the discontinued 6000 series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 mainframe computer systems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manufactured by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ontrol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orporation,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is widely regarded as the first successful supercomputer.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828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b="1" dirty="0"/>
              <a:t>Origin</a:t>
            </a:r>
            <a:r>
              <a:rPr lang="en-US" b="0" dirty="0"/>
              <a:t> of Scoreboard Method</a:t>
            </a:r>
            <a:r>
              <a:rPr lang="en-US" b="1" dirty="0"/>
              <a:t>:</a:t>
            </a:r>
            <a:r>
              <a:rPr lang="en-US" dirty="0"/>
              <a:t> CDC 6600, late 1960s.</a:t>
            </a:r>
          </a:p>
          <a:p>
            <a:br>
              <a:rPr lang="en-US" i="1" dirty="0"/>
            </a:br>
            <a:r>
              <a:rPr lang="en-US" i="1" dirty="0"/>
              <a:t>(You may refer to slide 6.)</a:t>
            </a:r>
          </a:p>
          <a:p>
            <a:endParaRPr lang="en-US" dirty="0"/>
          </a:p>
          <a:p>
            <a:r>
              <a:rPr lang="en-US" i="1" dirty="0"/>
              <a:t>(arrow down)</a:t>
            </a:r>
          </a:p>
          <a:p>
            <a:r>
              <a:rPr lang="en-US" dirty="0"/>
              <a:t>Scoreboard controls instruction flow to avoid </a:t>
            </a:r>
            <a:r>
              <a:rPr lang="en-US" b="1" dirty="0"/>
              <a:t>RAW</a:t>
            </a:r>
            <a:r>
              <a:rPr lang="en-US" dirty="0"/>
              <a:t> (Read-After-Write) and other hazards.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(arrow down)</a:t>
            </a:r>
          </a:p>
          <a:p>
            <a:r>
              <a:rPr lang="en-US" b="1" dirty="0"/>
              <a:t>ID (decode) Stage is Split:</a:t>
            </a: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Issue:</a:t>
            </a:r>
            <a:r>
              <a:rPr lang="en-US" dirty="0"/>
              <a:t> Decodes, checks for </a:t>
            </a:r>
            <a:r>
              <a:rPr lang="en-US" b="1" dirty="0"/>
              <a:t>structural</a:t>
            </a:r>
            <a:r>
              <a:rPr lang="en-US" dirty="0"/>
              <a:t> and </a:t>
            </a:r>
            <a:r>
              <a:rPr lang="en-US" b="1" dirty="0"/>
              <a:t>WAW</a:t>
            </a:r>
            <a:r>
              <a:rPr lang="en-US" dirty="0"/>
              <a:t> (Write-After-Write) hazards.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Read operands:</a:t>
            </a:r>
            <a:r>
              <a:rPr lang="en-US" dirty="0"/>
              <a:t> Waits until no data hazards, then reads operands.</a:t>
            </a:r>
          </a:p>
          <a:p>
            <a:pPr marL="0" indent="0">
              <a:buFont typeface="+mj-lt"/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(arrow down)</a:t>
            </a:r>
          </a:p>
          <a:p>
            <a:r>
              <a:rPr lang="en-US" dirty="0"/>
              <a:t>Instructions are issued in order, </a:t>
            </a:r>
          </a:p>
          <a:p>
            <a:r>
              <a:rPr lang="en-US" dirty="0"/>
              <a:t>but execute out-of-order, </a:t>
            </a:r>
          </a:p>
          <a:p>
            <a:r>
              <a:rPr lang="en-US" dirty="0"/>
              <a:t>which can lead to </a:t>
            </a:r>
            <a:r>
              <a:rPr lang="en-US" b="1" dirty="0"/>
              <a:t>WAR</a:t>
            </a:r>
            <a:r>
              <a:rPr lang="en-US" dirty="0"/>
              <a:t> (Write-After-Read) hazards.</a:t>
            </a:r>
          </a:p>
          <a:p>
            <a:endParaRPr lang="en-US" dirty="0"/>
          </a:p>
          <a:p>
            <a:r>
              <a:rPr lang="en-US" i="1" dirty="0"/>
              <a:t>(arrow down)</a:t>
            </a:r>
          </a:p>
          <a:p>
            <a:r>
              <a:rPr lang="en-US" dirty="0"/>
              <a:t>An example …</a:t>
            </a:r>
          </a:p>
          <a:p>
            <a:r>
              <a:rPr lang="en-US" i="0" dirty="0"/>
              <a:t>Potentially, ADD.D could write to F1 before MUL.D reads F1.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56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Also, the second MUL.D cannot be issued </a:t>
            </a:r>
          </a:p>
          <a:p>
            <a:r>
              <a:rPr lang="en-US" dirty="0"/>
              <a:t>if there is only 1 multiply functional unit, </a:t>
            </a:r>
          </a:p>
          <a:p>
            <a:r>
              <a:rPr lang="en-US" dirty="0"/>
              <a:t>leading to a structural hazard.</a:t>
            </a:r>
          </a:p>
          <a:p>
            <a:endParaRPr lang="en-US" dirty="0"/>
          </a:p>
          <a:p>
            <a:r>
              <a:rPr lang="en-US" i="1" dirty="0"/>
              <a:t>(arrow down)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96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b="0" u="sng" dirty="0"/>
              <a:t>One Example:</a:t>
            </a:r>
          </a:p>
          <a:p>
            <a:r>
              <a:rPr lang="en-US" b="1" dirty="0"/>
              <a:t>Assumed FUs:</a:t>
            </a:r>
            <a:r>
              <a:rPr lang="en-US" dirty="0"/>
              <a:t> 1 INT ALU, 2 FP Multiply, 1 FP Adder, 1 FP Divide.</a:t>
            </a:r>
          </a:p>
          <a:p>
            <a:endParaRPr lang="en-US" dirty="0"/>
          </a:p>
          <a:p>
            <a:r>
              <a:rPr lang="en-US" i="1" dirty="0"/>
              <a:t>(Refer to figure in slide 10 and then come back.)</a:t>
            </a:r>
          </a:p>
          <a:p>
            <a:endParaRPr lang="en-US" dirty="0"/>
          </a:p>
          <a:p>
            <a:r>
              <a:rPr lang="en-US" dirty="0"/>
              <a:t>The aim is to keep functional units (FUs) busy.</a:t>
            </a:r>
          </a:p>
          <a:p>
            <a:endParaRPr lang="en-US" dirty="0"/>
          </a:p>
          <a:p>
            <a:r>
              <a:rPr lang="en-US" dirty="0"/>
              <a:t>On MIPS, </a:t>
            </a:r>
            <a:r>
              <a:rPr lang="en-US" u="sng" dirty="0"/>
              <a:t>scoreboard</a:t>
            </a:r>
            <a:r>
              <a:rPr lang="en-US" dirty="0"/>
              <a:t> is most useful for the Floating-Point (FP) unit.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Q. </a:t>
            </a:r>
            <a:r>
              <a:rPr lang="en-US" sz="1200" spc="-18" dirty="0">
                <a:latin typeface="Calibri"/>
                <a:cs typeface="Calibri"/>
              </a:rPr>
              <a:t>Why?</a:t>
            </a:r>
            <a:endParaRPr lang="en-US" dirty="0"/>
          </a:p>
          <a:p>
            <a:r>
              <a:rPr lang="en-US" b="1" dirty="0"/>
              <a:t>A. </a:t>
            </a:r>
          </a:p>
          <a:p>
            <a:r>
              <a:rPr lang="en-US" dirty="0"/>
              <a:t>Using scoreboard to manage the Floating Point (FP) units on MIPS makes sense </a:t>
            </a:r>
          </a:p>
          <a:p>
            <a:r>
              <a:rPr lang="en-US" dirty="0"/>
              <a:t>due to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 and often long latencies of floating-point operations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compared to the predictable, single-cycle latency of most integer operations.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530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This diagram depicts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MIPS processor with a scoreboard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combines the classic RISC architecture with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 scheduling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enable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in-order issue, out-of-order execution, and out-of-order completion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  <a:p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Components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Units (FUs)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 parallel units (e.g., integer, FP adder, FP multiplier, FP divider, memory).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Register File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Holds general-purpose and floating-point registers.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Scoreboard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Central hardware unit that tracks instruction progress and resolves hazards.</a:t>
            </a:r>
          </a:p>
          <a:p>
            <a:endParaRPr lang="en-US" dirty="0"/>
          </a:p>
          <a:p>
            <a:r>
              <a:rPr lang="en-US" i="1" dirty="0"/>
              <a:t>(Return to slide 9.)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45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u="sng" dirty="0"/>
              <a:t>Components of the scoreboard:</a:t>
            </a: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Each instruction that has issued or is pending issue has an entry in the instruction status table.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There is one entry in the functional unit status table for each functional unit. </a:t>
            </a:r>
          </a:p>
          <a:p>
            <a:pPr marL="0" indent="0">
              <a:buFont typeface="+mj-lt"/>
              <a:buNone/>
            </a:pPr>
            <a:endParaRPr lang="en-US" dirty="0"/>
          </a:p>
          <a:p>
            <a:pPr marL="0" indent="0">
              <a:buFont typeface="+mj-lt"/>
              <a:buNone/>
            </a:pPr>
            <a:r>
              <a:rPr lang="en-US" dirty="0"/>
              <a:t>---------------------</a:t>
            </a:r>
          </a:p>
          <a:p>
            <a:pPr marL="0" indent="0">
              <a:buFont typeface="+mj-lt"/>
              <a:buNone/>
            </a:pPr>
            <a:r>
              <a:rPr lang="en-US" i="1" u="sng" dirty="0"/>
              <a:t>Optional:</a:t>
            </a:r>
            <a:r>
              <a:rPr lang="en-US" i="1" dirty="0"/>
              <a:t> (have not covered yet)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en-US" i="1" dirty="0"/>
              <a:t>Once an instruction issues, the record of its operands is kept in the functional unit status table. 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en-US" i="1" dirty="0"/>
              <a:t>Finally, the register result table indicates which unit will produce each pending result; </a:t>
            </a:r>
            <a:br>
              <a:rPr lang="en-US" i="1" dirty="0"/>
            </a:br>
            <a:r>
              <a:rPr lang="en-US" i="1" dirty="0"/>
              <a:t>the number of entries is equal to the number of registers.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---------------------</a:t>
            </a:r>
          </a:p>
          <a:p>
            <a:endParaRPr lang="en-US" dirty="0"/>
          </a:p>
          <a:p>
            <a:r>
              <a:rPr lang="en-US" u="sng" dirty="0"/>
              <a:t>The instruction status table says that: </a:t>
            </a:r>
          </a:p>
          <a:p>
            <a:pPr marL="228600" indent="-228600">
              <a:buAutoNum type="arabicParenBoth"/>
            </a:pPr>
            <a:r>
              <a:rPr lang="en-US" dirty="0"/>
              <a:t>the first L.D has completed and written its result, and </a:t>
            </a:r>
          </a:p>
          <a:p>
            <a:pPr marL="228600" indent="-228600">
              <a:buAutoNum type="arabicParenBoth"/>
            </a:pPr>
            <a:r>
              <a:rPr lang="en-US" dirty="0"/>
              <a:t>the second L.D has completed execution but has not yet written its result.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MUL.D, SUB.D, and DIV.D have all issued but are stalled, waiting for their operands.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211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The scoreboard tracks the status of each functional unit with the following fields:</a:t>
            </a:r>
          </a:p>
          <a:p>
            <a:endParaRPr lang="en-US" i="1" dirty="0"/>
          </a:p>
          <a:p>
            <a:r>
              <a:rPr lang="en-US" i="1" dirty="0"/>
              <a:t>… (Go over each field) 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720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For reference:</a:t>
            </a:r>
          </a:p>
          <a:p>
            <a:r>
              <a:rPr lang="en-US" dirty="0"/>
              <a:t>Fi: name of destination register</a:t>
            </a:r>
          </a:p>
          <a:p>
            <a:r>
              <a:rPr lang="en-US" dirty="0"/>
              <a:t>Fj, </a:t>
            </a:r>
            <a:r>
              <a:rPr lang="en-US" dirty="0" err="1"/>
              <a:t>Fk</a:t>
            </a:r>
            <a:r>
              <a:rPr lang="en-US" dirty="0"/>
              <a:t>: names of source registers</a:t>
            </a:r>
          </a:p>
          <a:p>
            <a:r>
              <a:rPr lang="en-US" dirty="0" err="1"/>
              <a:t>Qj</a:t>
            </a:r>
            <a:r>
              <a:rPr lang="en-US" dirty="0"/>
              <a:t>, </a:t>
            </a:r>
            <a:r>
              <a:rPr lang="en-US" dirty="0" err="1"/>
              <a:t>Qk</a:t>
            </a:r>
            <a:r>
              <a:rPr lang="en-US" dirty="0"/>
              <a:t>: functional units producing the sources Fj and </a:t>
            </a:r>
            <a:r>
              <a:rPr lang="en-US" dirty="0" err="1"/>
              <a:t>Fk</a:t>
            </a:r>
            <a:r>
              <a:rPr lang="en-US" dirty="0"/>
              <a:t>. </a:t>
            </a:r>
            <a:r>
              <a:rPr lang="en-US" i="1" dirty="0"/>
              <a:t>(other instructions)</a:t>
            </a:r>
          </a:p>
          <a:p>
            <a:r>
              <a:rPr lang="en-US" dirty="0" err="1"/>
              <a:t>Rj</a:t>
            </a:r>
            <a:r>
              <a:rPr lang="en-US" dirty="0"/>
              <a:t>, </a:t>
            </a:r>
            <a:r>
              <a:rPr lang="en-US" dirty="0" err="1"/>
              <a:t>Rk</a:t>
            </a:r>
            <a:r>
              <a:rPr lang="en-US" dirty="0"/>
              <a:t>: ready flags when Fj and </a:t>
            </a:r>
            <a:r>
              <a:rPr lang="en-US" dirty="0" err="1"/>
              <a:t>Fk</a:t>
            </a:r>
            <a:r>
              <a:rPr lang="en-US" dirty="0"/>
              <a:t> are ready and unread: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3390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b="1" dirty="0"/>
              <a:t>Register Status:</a:t>
            </a:r>
            <a:r>
              <a:rPr lang="en-US" dirty="0"/>
              <a:t> </a:t>
            </a:r>
          </a:p>
          <a:p>
            <a:r>
              <a:rPr lang="en-US" dirty="0"/>
              <a:t>Tracks which register is expecting an output from which functional unit.</a:t>
            </a:r>
          </a:p>
          <a:p>
            <a:endParaRPr lang="en-US" dirty="0"/>
          </a:p>
          <a:p>
            <a:r>
              <a:rPr lang="en-US" u="sng" dirty="0"/>
              <a:t>For reference:</a:t>
            </a:r>
          </a:p>
          <a:p>
            <a:r>
              <a:rPr lang="en-US" dirty="0"/>
              <a:t>Fi: name of destination register</a:t>
            </a:r>
          </a:p>
          <a:p>
            <a:r>
              <a:rPr lang="en-US" dirty="0"/>
              <a:t>Fj, </a:t>
            </a:r>
            <a:r>
              <a:rPr lang="en-US" dirty="0" err="1"/>
              <a:t>Fk</a:t>
            </a:r>
            <a:r>
              <a:rPr lang="en-US" dirty="0"/>
              <a:t>: names of source registers</a:t>
            </a:r>
          </a:p>
          <a:p>
            <a:r>
              <a:rPr lang="en-US" dirty="0" err="1"/>
              <a:t>Qj</a:t>
            </a:r>
            <a:r>
              <a:rPr lang="en-US" dirty="0"/>
              <a:t>, </a:t>
            </a:r>
            <a:r>
              <a:rPr lang="en-US" dirty="0" err="1"/>
              <a:t>Qk</a:t>
            </a:r>
            <a:r>
              <a:rPr lang="en-US" dirty="0"/>
              <a:t>: functional units producing the sources Fj and </a:t>
            </a:r>
            <a:r>
              <a:rPr lang="en-US" dirty="0" err="1"/>
              <a:t>Fk</a:t>
            </a:r>
            <a:r>
              <a:rPr lang="en-US" dirty="0"/>
              <a:t>. </a:t>
            </a:r>
            <a:r>
              <a:rPr lang="en-US" i="1" dirty="0"/>
              <a:t>(other instructions)</a:t>
            </a:r>
          </a:p>
          <a:p>
            <a:r>
              <a:rPr lang="en-US" dirty="0" err="1"/>
              <a:t>Rj</a:t>
            </a:r>
            <a:r>
              <a:rPr lang="en-US" dirty="0"/>
              <a:t>, </a:t>
            </a:r>
            <a:r>
              <a:rPr lang="en-US" dirty="0" err="1"/>
              <a:t>Rk</a:t>
            </a:r>
            <a:r>
              <a:rPr lang="en-US" dirty="0"/>
              <a:t>: ready flags when Fj and </a:t>
            </a:r>
            <a:r>
              <a:rPr lang="en-US" dirty="0" err="1"/>
              <a:t>Fk</a:t>
            </a:r>
            <a:r>
              <a:rPr lang="en-US" dirty="0"/>
              <a:t> are ready and unread: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794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u="none" dirty="0"/>
              <a:t>…</a:t>
            </a:r>
          </a:p>
          <a:p>
            <a:endParaRPr lang="en-US" b="0" u="none" dirty="0"/>
          </a:p>
          <a:p>
            <a:r>
              <a:rPr lang="en-US" b="0" u="none" dirty="0"/>
              <a:t>And we’ll assume these initial registers contents are flags:</a:t>
            </a:r>
          </a:p>
          <a:p>
            <a:endParaRPr lang="en-US" u="sng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scoreboard uses a naming convention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track which functional unit will write a result to a register.</a:t>
            </a:r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r>
              <a:rPr lang="en-US" u="sng" dirty="0"/>
              <a:t>For reference:</a:t>
            </a:r>
          </a:p>
          <a:p>
            <a:r>
              <a:rPr lang="en-US" dirty="0"/>
              <a:t>Fi: name of destination register</a:t>
            </a:r>
          </a:p>
          <a:p>
            <a:r>
              <a:rPr lang="en-US" dirty="0"/>
              <a:t>Fj, </a:t>
            </a:r>
            <a:r>
              <a:rPr lang="en-US" dirty="0" err="1"/>
              <a:t>Fk</a:t>
            </a:r>
            <a:r>
              <a:rPr lang="en-US" dirty="0"/>
              <a:t>: names of source registers</a:t>
            </a:r>
          </a:p>
          <a:p>
            <a:r>
              <a:rPr lang="en-US" dirty="0" err="1"/>
              <a:t>Qj</a:t>
            </a:r>
            <a:r>
              <a:rPr lang="en-US" dirty="0"/>
              <a:t>, </a:t>
            </a:r>
            <a:r>
              <a:rPr lang="en-US" dirty="0" err="1"/>
              <a:t>Qk</a:t>
            </a:r>
            <a:r>
              <a:rPr lang="en-US" dirty="0"/>
              <a:t>: functional units producing the sources Fj and </a:t>
            </a:r>
            <a:r>
              <a:rPr lang="en-US" dirty="0" err="1"/>
              <a:t>Fk</a:t>
            </a:r>
            <a:r>
              <a:rPr lang="en-US" dirty="0"/>
              <a:t>. </a:t>
            </a:r>
            <a:r>
              <a:rPr lang="en-US" i="1" dirty="0"/>
              <a:t>(other instructions)</a:t>
            </a:r>
          </a:p>
          <a:p>
            <a:r>
              <a:rPr lang="en-US" dirty="0" err="1"/>
              <a:t>Rj</a:t>
            </a:r>
            <a:r>
              <a:rPr lang="en-US" dirty="0"/>
              <a:t>, </a:t>
            </a:r>
            <a:r>
              <a:rPr lang="en-US" dirty="0" err="1"/>
              <a:t>Rk</a:t>
            </a:r>
            <a:r>
              <a:rPr lang="en-US" dirty="0"/>
              <a:t>: ready flags when Fj and </a:t>
            </a:r>
            <a:r>
              <a:rPr lang="en-US" dirty="0" err="1"/>
              <a:t>Fk</a:t>
            </a:r>
            <a:r>
              <a:rPr lang="en-US" dirty="0"/>
              <a:t> are ready and unread: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847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Example 1</a:t>
            </a:r>
          </a:p>
          <a:p>
            <a:endParaRPr lang="en-US" dirty="0"/>
          </a:p>
          <a:p>
            <a:r>
              <a:rPr lang="en-US" u="sng" dirty="0"/>
              <a:t>For reference:</a:t>
            </a:r>
          </a:p>
          <a:p>
            <a:r>
              <a:rPr lang="en-US" dirty="0"/>
              <a:t>Fi: name of destination register</a:t>
            </a:r>
          </a:p>
          <a:p>
            <a:r>
              <a:rPr lang="en-US" dirty="0"/>
              <a:t>Fj, </a:t>
            </a:r>
            <a:r>
              <a:rPr lang="en-US" dirty="0" err="1"/>
              <a:t>Fk</a:t>
            </a:r>
            <a:r>
              <a:rPr lang="en-US" dirty="0"/>
              <a:t>: names of source registers</a:t>
            </a:r>
          </a:p>
          <a:p>
            <a:r>
              <a:rPr lang="en-US" dirty="0" err="1"/>
              <a:t>Qj</a:t>
            </a:r>
            <a:r>
              <a:rPr lang="en-US" dirty="0"/>
              <a:t>, </a:t>
            </a:r>
            <a:r>
              <a:rPr lang="en-US" dirty="0" err="1"/>
              <a:t>Qk</a:t>
            </a:r>
            <a:r>
              <a:rPr lang="en-US" dirty="0"/>
              <a:t>: functional units producing the sources Fj and </a:t>
            </a:r>
            <a:r>
              <a:rPr lang="en-US" dirty="0" err="1"/>
              <a:t>Fk</a:t>
            </a:r>
            <a:r>
              <a:rPr lang="en-US" dirty="0"/>
              <a:t>. </a:t>
            </a:r>
            <a:r>
              <a:rPr lang="en-US" i="1" dirty="0"/>
              <a:t>(other instructions)</a:t>
            </a:r>
          </a:p>
          <a:p>
            <a:r>
              <a:rPr lang="en-US" dirty="0" err="1"/>
              <a:t>Rj</a:t>
            </a:r>
            <a:r>
              <a:rPr lang="en-US" dirty="0"/>
              <a:t>, </a:t>
            </a:r>
            <a:r>
              <a:rPr lang="en-US" dirty="0" err="1"/>
              <a:t>Rk</a:t>
            </a:r>
            <a:r>
              <a:rPr lang="en-US" dirty="0"/>
              <a:t>: ready flags when Fj and </a:t>
            </a:r>
            <a:r>
              <a:rPr lang="en-US" dirty="0" err="1"/>
              <a:t>Fk</a:t>
            </a:r>
            <a:r>
              <a:rPr lang="en-US" dirty="0"/>
              <a:t> are ready and unread: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671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For reference:</a:t>
            </a:r>
          </a:p>
          <a:p>
            <a:r>
              <a:rPr lang="en-US" dirty="0"/>
              <a:t>Fi: name of destination register</a:t>
            </a:r>
          </a:p>
          <a:p>
            <a:r>
              <a:rPr lang="en-US" dirty="0"/>
              <a:t>Fj, </a:t>
            </a:r>
            <a:r>
              <a:rPr lang="en-US" dirty="0" err="1"/>
              <a:t>Fk</a:t>
            </a:r>
            <a:r>
              <a:rPr lang="en-US" dirty="0"/>
              <a:t>: names of source registers</a:t>
            </a:r>
          </a:p>
          <a:p>
            <a:r>
              <a:rPr lang="en-US" dirty="0" err="1"/>
              <a:t>Qj</a:t>
            </a:r>
            <a:r>
              <a:rPr lang="en-US" dirty="0"/>
              <a:t>, </a:t>
            </a:r>
            <a:r>
              <a:rPr lang="en-US" dirty="0" err="1"/>
              <a:t>Qk</a:t>
            </a:r>
            <a:r>
              <a:rPr lang="en-US" dirty="0"/>
              <a:t>: functional units producing the sources Fj and </a:t>
            </a:r>
            <a:r>
              <a:rPr lang="en-US" dirty="0" err="1"/>
              <a:t>Fk</a:t>
            </a:r>
            <a:r>
              <a:rPr lang="en-US" dirty="0"/>
              <a:t>. </a:t>
            </a:r>
            <a:r>
              <a:rPr lang="en-US" i="1" dirty="0"/>
              <a:t>(other instructions)</a:t>
            </a:r>
          </a:p>
          <a:p>
            <a:r>
              <a:rPr lang="en-US" dirty="0" err="1"/>
              <a:t>Rj</a:t>
            </a:r>
            <a:r>
              <a:rPr lang="en-US" dirty="0"/>
              <a:t>, </a:t>
            </a:r>
            <a:r>
              <a:rPr lang="en-US" dirty="0" err="1"/>
              <a:t>Rk</a:t>
            </a:r>
            <a:r>
              <a:rPr lang="en-US" dirty="0"/>
              <a:t>: ready flags when Fj and </a:t>
            </a:r>
            <a:r>
              <a:rPr lang="en-US" dirty="0" err="1"/>
              <a:t>Fk</a:t>
            </a:r>
            <a:r>
              <a:rPr lang="en-US" dirty="0"/>
              <a:t> are ready and unread: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055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For reference:</a:t>
            </a:r>
          </a:p>
          <a:p>
            <a:r>
              <a:rPr lang="en-US" dirty="0"/>
              <a:t>Fi: name of destination register</a:t>
            </a:r>
          </a:p>
          <a:p>
            <a:r>
              <a:rPr lang="en-US" dirty="0"/>
              <a:t>Fj, </a:t>
            </a:r>
            <a:r>
              <a:rPr lang="en-US" dirty="0" err="1"/>
              <a:t>Fk</a:t>
            </a:r>
            <a:r>
              <a:rPr lang="en-US" dirty="0"/>
              <a:t>: names of source registers</a:t>
            </a:r>
          </a:p>
          <a:p>
            <a:r>
              <a:rPr lang="en-US" dirty="0" err="1"/>
              <a:t>Qj</a:t>
            </a:r>
            <a:r>
              <a:rPr lang="en-US" dirty="0"/>
              <a:t>, </a:t>
            </a:r>
            <a:r>
              <a:rPr lang="en-US" dirty="0" err="1"/>
              <a:t>Qk</a:t>
            </a:r>
            <a:r>
              <a:rPr lang="en-US" dirty="0"/>
              <a:t>: functional units producing the sources Fj and </a:t>
            </a:r>
            <a:r>
              <a:rPr lang="en-US" dirty="0" err="1"/>
              <a:t>Fk</a:t>
            </a:r>
            <a:r>
              <a:rPr lang="en-US" dirty="0"/>
              <a:t>. </a:t>
            </a:r>
            <a:r>
              <a:rPr lang="en-US" i="1" dirty="0"/>
              <a:t>(other instructions)</a:t>
            </a:r>
          </a:p>
          <a:p>
            <a:r>
              <a:rPr lang="en-US" dirty="0" err="1"/>
              <a:t>Rj</a:t>
            </a:r>
            <a:r>
              <a:rPr lang="en-US" dirty="0"/>
              <a:t>, </a:t>
            </a:r>
            <a:r>
              <a:rPr lang="en-US" dirty="0" err="1"/>
              <a:t>Rk</a:t>
            </a:r>
            <a:r>
              <a:rPr lang="en-US" dirty="0"/>
              <a:t>: ready flags when Fj and </a:t>
            </a:r>
            <a:r>
              <a:rPr lang="en-US" dirty="0" err="1"/>
              <a:t>Fk</a:t>
            </a:r>
            <a:r>
              <a:rPr lang="en-US" dirty="0"/>
              <a:t> are ready and unread: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877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none" dirty="0"/>
              <a:t>&gt;&gt;</a:t>
            </a:r>
          </a:p>
          <a:p>
            <a:r>
              <a:rPr lang="en-US" u="sng" dirty="0"/>
              <a:t>S3:</a:t>
            </a:r>
          </a:p>
          <a:p>
            <a:r>
              <a:rPr lang="en-US" u="none" dirty="0"/>
              <a:t>RAW: S1-S3 on F0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none" dirty="0"/>
              <a:t>RAW: S2-S3 on F2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u="none" dirty="0"/>
              <a:t>(Stall S3)</a:t>
            </a:r>
          </a:p>
          <a:p>
            <a:endParaRPr lang="en-US" u="sng" dirty="0"/>
          </a:p>
          <a:p>
            <a:r>
              <a:rPr lang="en-US" u="sng" dirty="0"/>
              <a:t>For reference:</a:t>
            </a:r>
          </a:p>
          <a:p>
            <a:r>
              <a:rPr lang="en-US" dirty="0"/>
              <a:t>Fi: name of destination register</a:t>
            </a:r>
          </a:p>
          <a:p>
            <a:r>
              <a:rPr lang="en-US" dirty="0"/>
              <a:t>Fj, </a:t>
            </a:r>
            <a:r>
              <a:rPr lang="en-US" dirty="0" err="1"/>
              <a:t>Fk</a:t>
            </a:r>
            <a:r>
              <a:rPr lang="en-US" dirty="0"/>
              <a:t>: names of source registers</a:t>
            </a:r>
          </a:p>
          <a:p>
            <a:r>
              <a:rPr lang="en-US" dirty="0" err="1"/>
              <a:t>Qj</a:t>
            </a:r>
            <a:r>
              <a:rPr lang="en-US" dirty="0"/>
              <a:t>, </a:t>
            </a:r>
            <a:r>
              <a:rPr lang="en-US" dirty="0" err="1"/>
              <a:t>Qk</a:t>
            </a:r>
            <a:r>
              <a:rPr lang="en-US" dirty="0"/>
              <a:t>: functional units producing the sources Fj and </a:t>
            </a:r>
            <a:r>
              <a:rPr lang="en-US" dirty="0" err="1"/>
              <a:t>Fk</a:t>
            </a:r>
            <a:r>
              <a:rPr lang="en-US" dirty="0"/>
              <a:t>. </a:t>
            </a:r>
            <a:r>
              <a:rPr lang="en-US" i="1" dirty="0"/>
              <a:t>(other instructions)</a:t>
            </a:r>
          </a:p>
          <a:p>
            <a:r>
              <a:rPr lang="en-US" dirty="0" err="1"/>
              <a:t>Rj</a:t>
            </a:r>
            <a:r>
              <a:rPr lang="en-US" dirty="0"/>
              <a:t>, </a:t>
            </a:r>
            <a:r>
              <a:rPr lang="en-US" dirty="0" err="1"/>
              <a:t>Rk</a:t>
            </a:r>
            <a:r>
              <a:rPr lang="en-US" dirty="0"/>
              <a:t>: ready flags when Fj and </a:t>
            </a:r>
            <a:r>
              <a:rPr lang="en-US" dirty="0" err="1"/>
              <a:t>Fk</a:t>
            </a:r>
            <a:r>
              <a:rPr lang="en-US" dirty="0"/>
              <a:t> are ready and unread: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614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none" dirty="0"/>
              <a:t>&gt;&gt;</a:t>
            </a:r>
          </a:p>
          <a:p>
            <a:r>
              <a:rPr lang="en-US" u="none" dirty="0"/>
              <a:t>S4:</a:t>
            </a:r>
          </a:p>
          <a:p>
            <a:r>
              <a:rPr lang="en-US" u="sng" dirty="0"/>
              <a:t>No</a:t>
            </a:r>
            <a:r>
              <a:rPr lang="en-US" u="none" dirty="0"/>
              <a:t> WAW: S1-S4 on F0</a:t>
            </a:r>
          </a:p>
          <a:p>
            <a:endParaRPr lang="en-US" u="sng" dirty="0"/>
          </a:p>
          <a:p>
            <a:r>
              <a:rPr lang="en-US" b="1" u="none" dirty="0"/>
              <a:t>Because S1 is in the write stage, </a:t>
            </a:r>
          </a:p>
          <a:p>
            <a:r>
              <a:rPr lang="en-US" b="1" u="none" dirty="0"/>
              <a:t>no WAW hazard will occur with S4 on F0.</a:t>
            </a:r>
          </a:p>
          <a:p>
            <a:endParaRPr lang="en-US" u="sng" dirty="0"/>
          </a:p>
          <a:p>
            <a:r>
              <a:rPr lang="en-US" u="sng" dirty="0"/>
              <a:t>No</a:t>
            </a:r>
            <a:r>
              <a:rPr lang="en-US" u="none" dirty="0"/>
              <a:t> structural hazard (2 FP adder FUs)</a:t>
            </a:r>
          </a:p>
          <a:p>
            <a:endParaRPr lang="en-US" u="none" dirty="0"/>
          </a:p>
          <a:p>
            <a:br>
              <a:rPr lang="en-US" u="none" dirty="0"/>
            </a:br>
            <a:r>
              <a:rPr lang="en-US" u="sng" dirty="0"/>
              <a:t>For reference:</a:t>
            </a:r>
          </a:p>
          <a:p>
            <a:r>
              <a:rPr lang="en-US" dirty="0"/>
              <a:t>Fi: name of destination register</a:t>
            </a:r>
          </a:p>
          <a:p>
            <a:r>
              <a:rPr lang="en-US" dirty="0"/>
              <a:t>Fj, </a:t>
            </a:r>
            <a:r>
              <a:rPr lang="en-US" dirty="0" err="1"/>
              <a:t>Fk</a:t>
            </a:r>
            <a:r>
              <a:rPr lang="en-US" dirty="0"/>
              <a:t>: names of source registers</a:t>
            </a:r>
          </a:p>
          <a:p>
            <a:r>
              <a:rPr lang="en-US" dirty="0" err="1"/>
              <a:t>Qj</a:t>
            </a:r>
            <a:r>
              <a:rPr lang="en-US" dirty="0"/>
              <a:t>, </a:t>
            </a:r>
            <a:r>
              <a:rPr lang="en-US" dirty="0" err="1"/>
              <a:t>Qk</a:t>
            </a:r>
            <a:r>
              <a:rPr lang="en-US" dirty="0"/>
              <a:t>: functional units producing the sources Fj and </a:t>
            </a:r>
            <a:r>
              <a:rPr lang="en-US" dirty="0" err="1"/>
              <a:t>Fk</a:t>
            </a:r>
            <a:r>
              <a:rPr lang="en-US" dirty="0"/>
              <a:t>. </a:t>
            </a:r>
            <a:r>
              <a:rPr lang="en-US" i="1" dirty="0"/>
              <a:t>(other instructions)</a:t>
            </a:r>
          </a:p>
          <a:p>
            <a:r>
              <a:rPr lang="en-US" dirty="0" err="1"/>
              <a:t>Rj</a:t>
            </a:r>
            <a:r>
              <a:rPr lang="en-US" dirty="0"/>
              <a:t>, </a:t>
            </a:r>
            <a:r>
              <a:rPr lang="en-US" dirty="0" err="1"/>
              <a:t>Rk</a:t>
            </a:r>
            <a:r>
              <a:rPr lang="en-US" dirty="0"/>
              <a:t>: ready flags when Fj and </a:t>
            </a:r>
            <a:r>
              <a:rPr lang="en-US" dirty="0" err="1"/>
              <a:t>Fk</a:t>
            </a:r>
            <a:r>
              <a:rPr lang="en-US" dirty="0"/>
              <a:t> are ready and unread: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4786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For reference:</a:t>
            </a:r>
          </a:p>
          <a:p>
            <a:r>
              <a:rPr lang="en-US" dirty="0"/>
              <a:t>Fi: name of destination register</a:t>
            </a:r>
          </a:p>
          <a:p>
            <a:r>
              <a:rPr lang="en-US" dirty="0"/>
              <a:t>Fj, </a:t>
            </a:r>
            <a:r>
              <a:rPr lang="en-US" dirty="0" err="1"/>
              <a:t>Fk</a:t>
            </a:r>
            <a:r>
              <a:rPr lang="en-US" dirty="0"/>
              <a:t>: names of source registers</a:t>
            </a:r>
          </a:p>
          <a:p>
            <a:r>
              <a:rPr lang="en-US" dirty="0" err="1"/>
              <a:t>Qj</a:t>
            </a:r>
            <a:r>
              <a:rPr lang="en-US" dirty="0"/>
              <a:t>, </a:t>
            </a:r>
            <a:r>
              <a:rPr lang="en-US" dirty="0" err="1"/>
              <a:t>Qk</a:t>
            </a:r>
            <a:r>
              <a:rPr lang="en-US" dirty="0"/>
              <a:t>: functional units producing the sources Fj and </a:t>
            </a:r>
            <a:r>
              <a:rPr lang="en-US" dirty="0" err="1"/>
              <a:t>Fk</a:t>
            </a:r>
            <a:r>
              <a:rPr lang="en-US" dirty="0"/>
              <a:t>. </a:t>
            </a:r>
            <a:r>
              <a:rPr lang="en-US" i="1" dirty="0"/>
              <a:t>(other instructions)</a:t>
            </a:r>
          </a:p>
          <a:p>
            <a:r>
              <a:rPr lang="en-US" dirty="0" err="1"/>
              <a:t>Rj</a:t>
            </a:r>
            <a:r>
              <a:rPr lang="en-US" dirty="0"/>
              <a:t>, </a:t>
            </a:r>
            <a:r>
              <a:rPr lang="en-US" dirty="0" err="1"/>
              <a:t>Rk</a:t>
            </a:r>
            <a:r>
              <a:rPr lang="en-US" dirty="0"/>
              <a:t>: ready flags when Fj and </a:t>
            </a:r>
            <a:r>
              <a:rPr lang="en-US" dirty="0" err="1"/>
              <a:t>Fk</a:t>
            </a:r>
            <a:r>
              <a:rPr lang="en-US" dirty="0"/>
              <a:t> are ready and unread: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3333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none" dirty="0"/>
              <a:t>&gt;&gt;</a:t>
            </a:r>
          </a:p>
          <a:p>
            <a:r>
              <a:rPr lang="en-US" u="none" dirty="0"/>
              <a:t>RAW: S2-S6 on F2 </a:t>
            </a:r>
            <a:r>
              <a:rPr lang="en-US" i="1" u="none" dirty="0"/>
              <a:t>(Stall S6)</a:t>
            </a:r>
          </a:p>
          <a:p>
            <a:endParaRPr lang="en-US" u="none" dirty="0"/>
          </a:p>
          <a:p>
            <a:r>
              <a:rPr lang="en-US" u="sng" dirty="0"/>
              <a:t>For reference:</a:t>
            </a:r>
          </a:p>
          <a:p>
            <a:r>
              <a:rPr lang="en-US" dirty="0"/>
              <a:t>Fi: name of destination register</a:t>
            </a:r>
          </a:p>
          <a:p>
            <a:r>
              <a:rPr lang="en-US" dirty="0"/>
              <a:t>Fj, </a:t>
            </a:r>
            <a:r>
              <a:rPr lang="en-US" dirty="0" err="1"/>
              <a:t>Fk</a:t>
            </a:r>
            <a:r>
              <a:rPr lang="en-US" dirty="0"/>
              <a:t>: names of source registers</a:t>
            </a:r>
          </a:p>
          <a:p>
            <a:r>
              <a:rPr lang="en-US" dirty="0" err="1"/>
              <a:t>Qj</a:t>
            </a:r>
            <a:r>
              <a:rPr lang="en-US" dirty="0"/>
              <a:t>, </a:t>
            </a:r>
            <a:r>
              <a:rPr lang="en-US" dirty="0" err="1"/>
              <a:t>Qk</a:t>
            </a:r>
            <a:r>
              <a:rPr lang="en-US" dirty="0"/>
              <a:t>: functional units producing the sources Fj and </a:t>
            </a:r>
            <a:r>
              <a:rPr lang="en-US" dirty="0" err="1"/>
              <a:t>Fk</a:t>
            </a:r>
            <a:r>
              <a:rPr lang="en-US" dirty="0"/>
              <a:t>. </a:t>
            </a:r>
            <a:r>
              <a:rPr lang="en-US" i="1" dirty="0"/>
              <a:t>(other instructions)</a:t>
            </a:r>
          </a:p>
          <a:p>
            <a:r>
              <a:rPr lang="en-US" dirty="0" err="1"/>
              <a:t>Rj</a:t>
            </a:r>
            <a:r>
              <a:rPr lang="en-US" dirty="0"/>
              <a:t>, </a:t>
            </a:r>
            <a:r>
              <a:rPr lang="en-US" dirty="0" err="1"/>
              <a:t>Rk</a:t>
            </a:r>
            <a:r>
              <a:rPr lang="en-US" dirty="0"/>
              <a:t>: ready flags when Fj and </a:t>
            </a:r>
            <a:r>
              <a:rPr lang="en-US" dirty="0" err="1"/>
              <a:t>Fk</a:t>
            </a:r>
            <a:r>
              <a:rPr lang="en-US" dirty="0"/>
              <a:t> are ready and unread: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547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none" dirty="0"/>
              <a:t>&gt;&gt;</a:t>
            </a:r>
          </a:p>
          <a:p>
            <a:r>
              <a:rPr lang="en-US" u="none" dirty="0"/>
              <a:t>WAR: S3-S4 on F0 </a:t>
            </a:r>
            <a:r>
              <a:rPr lang="en-US" i="1" u="none" dirty="0"/>
              <a:t>(Stall S4)</a:t>
            </a:r>
          </a:p>
          <a:p>
            <a:r>
              <a:rPr lang="en-US" b="1" u="none" dirty="0"/>
              <a:t>S4 must stall due to WAR hazard with S3 on F0.</a:t>
            </a:r>
          </a:p>
          <a:p>
            <a:endParaRPr lang="en-US" u="sng" dirty="0"/>
          </a:p>
          <a:p>
            <a:r>
              <a:rPr lang="en-US" u="sng" dirty="0"/>
              <a:t>For reference:</a:t>
            </a:r>
          </a:p>
          <a:p>
            <a:r>
              <a:rPr lang="en-US" dirty="0"/>
              <a:t>Fi: name of destination register</a:t>
            </a:r>
          </a:p>
          <a:p>
            <a:r>
              <a:rPr lang="en-US" dirty="0"/>
              <a:t>Fj, </a:t>
            </a:r>
            <a:r>
              <a:rPr lang="en-US" dirty="0" err="1"/>
              <a:t>Fk</a:t>
            </a:r>
            <a:r>
              <a:rPr lang="en-US" dirty="0"/>
              <a:t>: names of source registers</a:t>
            </a:r>
          </a:p>
          <a:p>
            <a:r>
              <a:rPr lang="en-US" dirty="0" err="1"/>
              <a:t>Qj</a:t>
            </a:r>
            <a:r>
              <a:rPr lang="en-US" dirty="0"/>
              <a:t>, </a:t>
            </a:r>
            <a:r>
              <a:rPr lang="en-US" dirty="0" err="1"/>
              <a:t>Qk</a:t>
            </a:r>
            <a:r>
              <a:rPr lang="en-US" dirty="0"/>
              <a:t>: functional units producing the sources Fj and </a:t>
            </a:r>
            <a:r>
              <a:rPr lang="en-US" dirty="0" err="1"/>
              <a:t>Fk</a:t>
            </a:r>
            <a:r>
              <a:rPr lang="en-US" dirty="0"/>
              <a:t>. </a:t>
            </a:r>
            <a:r>
              <a:rPr lang="en-US" i="1" dirty="0"/>
              <a:t>(other instructions)</a:t>
            </a:r>
          </a:p>
          <a:p>
            <a:r>
              <a:rPr lang="en-US" dirty="0" err="1"/>
              <a:t>Rj</a:t>
            </a:r>
            <a:r>
              <a:rPr lang="en-US" dirty="0"/>
              <a:t>, </a:t>
            </a:r>
            <a:r>
              <a:rPr lang="en-US" dirty="0" err="1"/>
              <a:t>Rk</a:t>
            </a:r>
            <a:r>
              <a:rPr lang="en-US" dirty="0"/>
              <a:t>: ready flags when Fj and </a:t>
            </a:r>
            <a:r>
              <a:rPr lang="en-US" dirty="0" err="1"/>
              <a:t>Fk</a:t>
            </a:r>
            <a:r>
              <a:rPr lang="en-US" dirty="0"/>
              <a:t> are ready and unread: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84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none" dirty="0"/>
              <a:t>&gt;&gt;</a:t>
            </a:r>
          </a:p>
          <a:p>
            <a:r>
              <a:rPr lang="en-US" u="none" dirty="0"/>
              <a:t>RAW: S2-S6 on F2 </a:t>
            </a:r>
            <a:r>
              <a:rPr lang="en-US" i="1" u="none" dirty="0"/>
              <a:t>(Stall S6)</a:t>
            </a:r>
          </a:p>
          <a:p>
            <a:endParaRPr lang="en-US" u="sng" dirty="0"/>
          </a:p>
          <a:p>
            <a:r>
              <a:rPr lang="en-US" u="sng" dirty="0"/>
              <a:t>For reference:</a:t>
            </a:r>
          </a:p>
          <a:p>
            <a:r>
              <a:rPr lang="en-US" dirty="0"/>
              <a:t>Fi: name of destination register</a:t>
            </a:r>
          </a:p>
          <a:p>
            <a:r>
              <a:rPr lang="en-US" dirty="0"/>
              <a:t>Fj, </a:t>
            </a:r>
            <a:r>
              <a:rPr lang="en-US" dirty="0" err="1"/>
              <a:t>Fk</a:t>
            </a:r>
            <a:r>
              <a:rPr lang="en-US" dirty="0"/>
              <a:t>: names of source registers</a:t>
            </a:r>
          </a:p>
          <a:p>
            <a:r>
              <a:rPr lang="en-US" dirty="0" err="1"/>
              <a:t>Qj</a:t>
            </a:r>
            <a:r>
              <a:rPr lang="en-US" dirty="0"/>
              <a:t>, </a:t>
            </a:r>
            <a:r>
              <a:rPr lang="en-US" dirty="0" err="1"/>
              <a:t>Qk</a:t>
            </a:r>
            <a:r>
              <a:rPr lang="en-US" dirty="0"/>
              <a:t>: functional units producing the sources Fj and </a:t>
            </a:r>
            <a:r>
              <a:rPr lang="en-US" dirty="0" err="1"/>
              <a:t>Fk</a:t>
            </a:r>
            <a:r>
              <a:rPr lang="en-US" dirty="0"/>
              <a:t>. </a:t>
            </a:r>
            <a:r>
              <a:rPr lang="en-US" i="1" dirty="0"/>
              <a:t>(other instructions)</a:t>
            </a:r>
          </a:p>
          <a:p>
            <a:r>
              <a:rPr lang="en-US" dirty="0" err="1"/>
              <a:t>Rj</a:t>
            </a:r>
            <a:r>
              <a:rPr lang="en-US" dirty="0"/>
              <a:t>, </a:t>
            </a:r>
            <a:r>
              <a:rPr lang="en-US" dirty="0" err="1"/>
              <a:t>Rk</a:t>
            </a:r>
            <a:r>
              <a:rPr lang="en-US" dirty="0"/>
              <a:t>: ready flags when Fj and </a:t>
            </a:r>
            <a:r>
              <a:rPr lang="en-US" dirty="0" err="1"/>
              <a:t>Fk</a:t>
            </a:r>
            <a:r>
              <a:rPr lang="en-US" dirty="0"/>
              <a:t> are ready and unread: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4038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Example 2</a:t>
            </a:r>
          </a:p>
          <a:p>
            <a:endParaRPr lang="en-US" b="1" dirty="0"/>
          </a:p>
          <a:p>
            <a:r>
              <a:rPr lang="en-US" sz="1200" dirty="0">
                <a:latin typeface="Arial MT"/>
                <a:cs typeface="Arial MT"/>
              </a:rPr>
              <a:t>after</a:t>
            </a:r>
            <a:r>
              <a:rPr lang="en-US" sz="1200" spc="-13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first</a:t>
            </a:r>
            <a:r>
              <a:rPr lang="en-US" sz="1200" spc="-13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L.D</a:t>
            </a:r>
            <a:r>
              <a:rPr lang="en-US" sz="1200" spc="-9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write</a:t>
            </a:r>
            <a:r>
              <a:rPr lang="en-US" sz="1200" spc="-13" dirty="0">
                <a:latin typeface="Arial MT"/>
                <a:cs typeface="Arial MT"/>
              </a:rPr>
              <a:t> </a:t>
            </a:r>
            <a:r>
              <a:rPr lang="en-US" sz="1200" spc="-9" dirty="0">
                <a:latin typeface="Arial MT"/>
                <a:cs typeface="Arial MT"/>
              </a:rPr>
              <a:t>result</a:t>
            </a:r>
            <a:endParaRPr lang="en-US" b="1" dirty="0"/>
          </a:p>
          <a:p>
            <a:endParaRPr lang="en-US" u="sng" dirty="0"/>
          </a:p>
          <a:p>
            <a:r>
              <a:rPr lang="en-US" u="sng" dirty="0"/>
              <a:t>For reference:</a:t>
            </a:r>
          </a:p>
          <a:p>
            <a:r>
              <a:rPr lang="en-US" dirty="0"/>
              <a:t>Fi: name of destination register</a:t>
            </a:r>
          </a:p>
          <a:p>
            <a:r>
              <a:rPr lang="en-US" dirty="0"/>
              <a:t>Fj, </a:t>
            </a:r>
            <a:r>
              <a:rPr lang="en-US" dirty="0" err="1"/>
              <a:t>Fk</a:t>
            </a:r>
            <a:r>
              <a:rPr lang="en-US" dirty="0"/>
              <a:t>: names of source registers</a:t>
            </a:r>
          </a:p>
          <a:p>
            <a:r>
              <a:rPr lang="en-US" dirty="0" err="1"/>
              <a:t>Qj</a:t>
            </a:r>
            <a:r>
              <a:rPr lang="en-US" dirty="0"/>
              <a:t>, </a:t>
            </a:r>
            <a:r>
              <a:rPr lang="en-US" dirty="0" err="1"/>
              <a:t>Qk</a:t>
            </a:r>
            <a:r>
              <a:rPr lang="en-US" dirty="0"/>
              <a:t>: functional units producing the sources Fj and </a:t>
            </a:r>
            <a:r>
              <a:rPr lang="en-US" dirty="0" err="1"/>
              <a:t>Fk</a:t>
            </a:r>
            <a:r>
              <a:rPr lang="en-US" dirty="0"/>
              <a:t>. </a:t>
            </a:r>
            <a:r>
              <a:rPr lang="en-US" i="1" dirty="0"/>
              <a:t>(other instructions)</a:t>
            </a:r>
          </a:p>
          <a:p>
            <a:r>
              <a:rPr lang="en-US" dirty="0" err="1"/>
              <a:t>Rj</a:t>
            </a:r>
            <a:r>
              <a:rPr lang="en-US" dirty="0"/>
              <a:t>, </a:t>
            </a:r>
            <a:r>
              <a:rPr lang="en-US" dirty="0" err="1"/>
              <a:t>Rk</a:t>
            </a:r>
            <a:r>
              <a:rPr lang="en-US" dirty="0"/>
              <a:t>: ready flags when Fj and </a:t>
            </a:r>
            <a:r>
              <a:rPr lang="en-US" dirty="0" err="1"/>
              <a:t>Fk</a:t>
            </a:r>
            <a:r>
              <a:rPr lang="en-US" dirty="0"/>
              <a:t> are ready and unread: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16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Arial MT"/>
                <a:cs typeface="Arial MT"/>
              </a:rPr>
              <a:t>after</a:t>
            </a:r>
            <a:r>
              <a:rPr lang="en-US" sz="1200" spc="-18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2</a:t>
            </a:r>
            <a:r>
              <a:rPr lang="en-US" sz="1200" baseline="25641" dirty="0">
                <a:latin typeface="Arial MT"/>
                <a:cs typeface="Arial MT"/>
              </a:rPr>
              <a:t>nd</a:t>
            </a:r>
            <a:r>
              <a:rPr lang="en-US" sz="1200" spc="158" baseline="25641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L.D</a:t>
            </a:r>
            <a:r>
              <a:rPr lang="en-US" sz="1200" spc="-18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write</a:t>
            </a:r>
            <a:r>
              <a:rPr lang="en-US" sz="1200" spc="-18" dirty="0">
                <a:latin typeface="Arial MT"/>
                <a:cs typeface="Arial MT"/>
              </a:rPr>
              <a:t> </a:t>
            </a:r>
            <a:r>
              <a:rPr lang="en-US" sz="1200" spc="-9" dirty="0">
                <a:latin typeface="Arial MT"/>
                <a:cs typeface="Arial MT"/>
              </a:rPr>
              <a:t>result</a:t>
            </a:r>
          </a:p>
          <a:p>
            <a:endParaRPr lang="en-US" sz="1200" u="sng" spc="-9" dirty="0">
              <a:latin typeface="Arial MT"/>
            </a:endParaRPr>
          </a:p>
          <a:p>
            <a:r>
              <a:rPr lang="en-US" u="sng" dirty="0"/>
              <a:t>For reference:</a:t>
            </a:r>
          </a:p>
          <a:p>
            <a:r>
              <a:rPr lang="en-US" dirty="0"/>
              <a:t>Fi: name of destination register</a:t>
            </a:r>
          </a:p>
          <a:p>
            <a:r>
              <a:rPr lang="en-US" dirty="0"/>
              <a:t>Fj, </a:t>
            </a:r>
            <a:r>
              <a:rPr lang="en-US" dirty="0" err="1"/>
              <a:t>Fk</a:t>
            </a:r>
            <a:r>
              <a:rPr lang="en-US" dirty="0"/>
              <a:t>: names of source registers</a:t>
            </a:r>
          </a:p>
          <a:p>
            <a:r>
              <a:rPr lang="en-US" dirty="0" err="1"/>
              <a:t>Qj</a:t>
            </a:r>
            <a:r>
              <a:rPr lang="en-US" dirty="0"/>
              <a:t>, </a:t>
            </a:r>
            <a:r>
              <a:rPr lang="en-US" dirty="0" err="1"/>
              <a:t>Qk</a:t>
            </a:r>
            <a:r>
              <a:rPr lang="en-US" dirty="0"/>
              <a:t>: functional units producing the sources Fj and </a:t>
            </a:r>
            <a:r>
              <a:rPr lang="en-US" dirty="0" err="1"/>
              <a:t>Fk</a:t>
            </a:r>
            <a:r>
              <a:rPr lang="en-US" dirty="0"/>
              <a:t>. </a:t>
            </a:r>
            <a:r>
              <a:rPr lang="en-US" i="1" dirty="0"/>
              <a:t>(other instructions)</a:t>
            </a:r>
          </a:p>
          <a:p>
            <a:r>
              <a:rPr lang="en-US" dirty="0" err="1"/>
              <a:t>Rj</a:t>
            </a:r>
            <a:r>
              <a:rPr lang="en-US" dirty="0"/>
              <a:t>, </a:t>
            </a:r>
            <a:r>
              <a:rPr lang="en-US" dirty="0" err="1"/>
              <a:t>Rk</a:t>
            </a:r>
            <a:r>
              <a:rPr lang="en-US" dirty="0"/>
              <a:t>: ready flags when Fj and </a:t>
            </a:r>
            <a:r>
              <a:rPr lang="en-US" dirty="0" err="1"/>
              <a:t>Fk</a:t>
            </a:r>
            <a:r>
              <a:rPr lang="en-US" dirty="0"/>
              <a:t> are ready and unread: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654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sz="1200" dirty="0">
                <a:latin typeface="Arial MT"/>
                <a:cs typeface="Arial MT"/>
              </a:rPr>
              <a:t>after</a:t>
            </a:r>
            <a:r>
              <a:rPr lang="en-US" sz="1200" spc="-22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18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write</a:t>
            </a:r>
            <a:r>
              <a:rPr lang="en-US" sz="1200" spc="-22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result,</a:t>
            </a:r>
            <a:r>
              <a:rPr lang="en-US" sz="1200" spc="-22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MUL.D</a:t>
            </a:r>
            <a:r>
              <a:rPr lang="en-US" sz="1200" spc="-13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and</a:t>
            </a:r>
            <a:r>
              <a:rPr lang="en-US" sz="1200" spc="-22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SUB.D</a:t>
            </a:r>
            <a:r>
              <a:rPr lang="en-US" sz="1200" spc="-18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read</a:t>
            </a:r>
            <a:r>
              <a:rPr lang="en-US" sz="1200" spc="-18" dirty="0">
                <a:latin typeface="Arial MT"/>
                <a:cs typeface="Arial MT"/>
              </a:rPr>
              <a:t> </a:t>
            </a:r>
            <a:r>
              <a:rPr lang="en-US" sz="1200" spc="-9" dirty="0">
                <a:latin typeface="Arial MT"/>
                <a:cs typeface="Arial MT"/>
              </a:rPr>
              <a:t>operands</a:t>
            </a:r>
          </a:p>
          <a:p>
            <a:pPr marL="0" indent="0">
              <a:buFontTx/>
              <a:buNone/>
            </a:pPr>
            <a:endParaRPr lang="en-US" u="sng" dirty="0"/>
          </a:p>
          <a:p>
            <a:r>
              <a:rPr lang="en-US" u="sng" dirty="0"/>
              <a:t>For reference:</a:t>
            </a:r>
          </a:p>
          <a:p>
            <a:r>
              <a:rPr lang="en-US" dirty="0"/>
              <a:t>Fi: name of destination register</a:t>
            </a:r>
          </a:p>
          <a:p>
            <a:r>
              <a:rPr lang="en-US" dirty="0"/>
              <a:t>Fj, </a:t>
            </a:r>
            <a:r>
              <a:rPr lang="en-US" dirty="0" err="1"/>
              <a:t>Fk</a:t>
            </a:r>
            <a:r>
              <a:rPr lang="en-US" dirty="0"/>
              <a:t>: names of source registers</a:t>
            </a:r>
          </a:p>
          <a:p>
            <a:r>
              <a:rPr lang="en-US" dirty="0" err="1"/>
              <a:t>Qj</a:t>
            </a:r>
            <a:r>
              <a:rPr lang="en-US" dirty="0"/>
              <a:t>, </a:t>
            </a:r>
            <a:r>
              <a:rPr lang="en-US" dirty="0" err="1"/>
              <a:t>Qk</a:t>
            </a:r>
            <a:r>
              <a:rPr lang="en-US" dirty="0"/>
              <a:t>: functional units producing the sources Fj and </a:t>
            </a:r>
            <a:r>
              <a:rPr lang="en-US" dirty="0" err="1"/>
              <a:t>Fk</a:t>
            </a:r>
            <a:r>
              <a:rPr lang="en-US" dirty="0"/>
              <a:t>. </a:t>
            </a:r>
            <a:r>
              <a:rPr lang="en-US" i="1" dirty="0"/>
              <a:t>(other instructions)</a:t>
            </a:r>
          </a:p>
          <a:p>
            <a:r>
              <a:rPr lang="en-US" dirty="0" err="1"/>
              <a:t>Rj</a:t>
            </a:r>
            <a:r>
              <a:rPr lang="en-US" dirty="0"/>
              <a:t>, </a:t>
            </a:r>
            <a:r>
              <a:rPr lang="en-US" dirty="0" err="1"/>
              <a:t>Rk</a:t>
            </a:r>
            <a:r>
              <a:rPr lang="en-US" dirty="0"/>
              <a:t>: ready flags when Fj and </a:t>
            </a:r>
            <a:r>
              <a:rPr lang="en-US" dirty="0" err="1"/>
              <a:t>Fk</a:t>
            </a:r>
            <a:r>
              <a:rPr lang="en-US" dirty="0"/>
              <a:t> are ready and unread: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635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Arial MT"/>
                <a:cs typeface="Arial MT"/>
              </a:rPr>
              <a:t>after</a:t>
            </a:r>
            <a:r>
              <a:rPr lang="en-US" sz="1200" spc="-13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SUB.D</a:t>
            </a:r>
            <a:r>
              <a:rPr lang="en-US" sz="1200" spc="-9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write</a:t>
            </a:r>
            <a:r>
              <a:rPr lang="en-US" sz="1200" spc="-13" dirty="0">
                <a:latin typeface="Arial MT"/>
                <a:cs typeface="Arial MT"/>
              </a:rPr>
              <a:t> </a:t>
            </a:r>
            <a:r>
              <a:rPr lang="en-US" sz="1200" spc="-9" dirty="0">
                <a:latin typeface="Arial MT"/>
                <a:cs typeface="Arial MT"/>
              </a:rPr>
              <a:t>result</a:t>
            </a:r>
            <a:endParaRPr lang="en-US" b="1" u="none" dirty="0"/>
          </a:p>
          <a:p>
            <a:r>
              <a:rPr lang="en-US" b="1" u="none" dirty="0"/>
              <a:t>(MUL.D is still executing)</a:t>
            </a:r>
          </a:p>
          <a:p>
            <a:endParaRPr lang="en-US" u="sng" dirty="0"/>
          </a:p>
          <a:p>
            <a:r>
              <a:rPr lang="en-US" u="sng" dirty="0"/>
              <a:t>For reference:</a:t>
            </a:r>
          </a:p>
          <a:p>
            <a:r>
              <a:rPr lang="en-US" dirty="0"/>
              <a:t>Fi: name of destination register</a:t>
            </a:r>
          </a:p>
          <a:p>
            <a:r>
              <a:rPr lang="en-US" dirty="0"/>
              <a:t>Fj, </a:t>
            </a:r>
            <a:r>
              <a:rPr lang="en-US" dirty="0" err="1"/>
              <a:t>Fk</a:t>
            </a:r>
            <a:r>
              <a:rPr lang="en-US" dirty="0"/>
              <a:t>: names of source registers</a:t>
            </a:r>
          </a:p>
          <a:p>
            <a:r>
              <a:rPr lang="en-US" dirty="0" err="1"/>
              <a:t>Qj</a:t>
            </a:r>
            <a:r>
              <a:rPr lang="en-US" dirty="0"/>
              <a:t>, </a:t>
            </a:r>
            <a:r>
              <a:rPr lang="en-US" dirty="0" err="1"/>
              <a:t>Qk</a:t>
            </a:r>
            <a:r>
              <a:rPr lang="en-US" dirty="0"/>
              <a:t>: functional units producing the sources Fj and </a:t>
            </a:r>
            <a:r>
              <a:rPr lang="en-US" dirty="0" err="1"/>
              <a:t>Fk</a:t>
            </a:r>
            <a:r>
              <a:rPr lang="en-US" dirty="0"/>
              <a:t>. </a:t>
            </a:r>
            <a:r>
              <a:rPr lang="en-US" i="1" dirty="0"/>
              <a:t>(other instructions)</a:t>
            </a:r>
          </a:p>
          <a:p>
            <a:r>
              <a:rPr lang="en-US" dirty="0" err="1"/>
              <a:t>Rj</a:t>
            </a:r>
            <a:r>
              <a:rPr lang="en-US" dirty="0"/>
              <a:t>, </a:t>
            </a:r>
            <a:r>
              <a:rPr lang="en-US" dirty="0" err="1"/>
              <a:t>Rk</a:t>
            </a:r>
            <a:r>
              <a:rPr lang="en-US" dirty="0"/>
              <a:t>: ready flags when Fj and </a:t>
            </a:r>
            <a:r>
              <a:rPr lang="en-US" dirty="0" err="1"/>
              <a:t>Fk</a:t>
            </a:r>
            <a:r>
              <a:rPr lang="en-US" dirty="0"/>
              <a:t> are ready and unread: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757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Arial MT"/>
                <a:cs typeface="Arial MT"/>
              </a:rPr>
              <a:t>after</a:t>
            </a:r>
            <a:r>
              <a:rPr lang="en-US" sz="1200" spc="-13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-18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write</a:t>
            </a:r>
            <a:r>
              <a:rPr lang="en-US" sz="1200" spc="-13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result,</a:t>
            </a:r>
            <a:r>
              <a:rPr lang="en-US" sz="1200" spc="-18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ADD.D</a:t>
            </a:r>
            <a:r>
              <a:rPr lang="en-US" sz="1200" spc="-9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is</a:t>
            </a:r>
            <a:r>
              <a:rPr lang="en-US" sz="1200" spc="-18" dirty="0">
                <a:latin typeface="Arial MT"/>
                <a:cs typeface="Arial MT"/>
              </a:rPr>
              <a:t> </a:t>
            </a:r>
            <a:r>
              <a:rPr lang="en-US" sz="1200" spc="-9" dirty="0">
                <a:latin typeface="Arial MT"/>
                <a:cs typeface="Arial MT"/>
              </a:rPr>
              <a:t>issued</a:t>
            </a:r>
          </a:p>
          <a:p>
            <a:endParaRPr lang="en-US" u="sng" dirty="0"/>
          </a:p>
          <a:p>
            <a:r>
              <a:rPr lang="en-US" u="sng" dirty="0"/>
              <a:t>For reference:</a:t>
            </a:r>
          </a:p>
          <a:p>
            <a:r>
              <a:rPr lang="en-US" dirty="0"/>
              <a:t>Fi: name of destination register</a:t>
            </a:r>
          </a:p>
          <a:p>
            <a:r>
              <a:rPr lang="en-US" dirty="0"/>
              <a:t>Fj, </a:t>
            </a:r>
            <a:r>
              <a:rPr lang="en-US" dirty="0" err="1"/>
              <a:t>Fk</a:t>
            </a:r>
            <a:r>
              <a:rPr lang="en-US" dirty="0"/>
              <a:t>: names of source registers</a:t>
            </a:r>
          </a:p>
          <a:p>
            <a:r>
              <a:rPr lang="en-US" dirty="0" err="1"/>
              <a:t>Qj</a:t>
            </a:r>
            <a:r>
              <a:rPr lang="en-US" dirty="0"/>
              <a:t>, </a:t>
            </a:r>
            <a:r>
              <a:rPr lang="en-US" dirty="0" err="1"/>
              <a:t>Qk</a:t>
            </a:r>
            <a:r>
              <a:rPr lang="en-US" dirty="0"/>
              <a:t>: functional units producing the sources Fj and </a:t>
            </a:r>
            <a:r>
              <a:rPr lang="en-US" dirty="0" err="1"/>
              <a:t>Fk</a:t>
            </a:r>
            <a:r>
              <a:rPr lang="en-US" dirty="0"/>
              <a:t>. </a:t>
            </a:r>
            <a:r>
              <a:rPr lang="en-US" i="1" dirty="0"/>
              <a:t>(other instructions)</a:t>
            </a:r>
          </a:p>
          <a:p>
            <a:r>
              <a:rPr lang="en-US" dirty="0" err="1"/>
              <a:t>Rj</a:t>
            </a:r>
            <a:r>
              <a:rPr lang="en-US" dirty="0"/>
              <a:t>, </a:t>
            </a:r>
            <a:r>
              <a:rPr lang="en-US" dirty="0" err="1"/>
              <a:t>Rk</a:t>
            </a:r>
            <a:r>
              <a:rPr lang="en-US" dirty="0"/>
              <a:t>: ready flags when Fj and </a:t>
            </a:r>
            <a:r>
              <a:rPr lang="en-US" dirty="0" err="1"/>
              <a:t>Fk</a:t>
            </a:r>
            <a:r>
              <a:rPr lang="en-US" dirty="0"/>
              <a:t> are ready and unread: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5882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Arial MT"/>
                <a:cs typeface="Arial MT"/>
              </a:rPr>
              <a:t>Just</a:t>
            </a:r>
            <a:r>
              <a:rPr lang="en-US" sz="1200" spc="-22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before</a:t>
            </a:r>
            <a:r>
              <a:rPr lang="en-US" sz="1200" spc="-18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MUL.D</a:t>
            </a:r>
            <a:r>
              <a:rPr lang="en-US" sz="1200" spc="-22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goes</a:t>
            </a:r>
            <a:r>
              <a:rPr lang="en-US" sz="1200" spc="-22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to</a:t>
            </a:r>
            <a:r>
              <a:rPr lang="en-US" sz="1200" spc="-18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write</a:t>
            </a:r>
            <a:r>
              <a:rPr lang="en-US" sz="1200" spc="-22" dirty="0">
                <a:latin typeface="Arial MT"/>
                <a:cs typeface="Arial MT"/>
              </a:rPr>
              <a:t> </a:t>
            </a:r>
            <a:r>
              <a:rPr lang="en-US" sz="1200" spc="-9" dirty="0">
                <a:latin typeface="Arial MT"/>
                <a:cs typeface="Arial MT"/>
              </a:rPr>
              <a:t>result</a:t>
            </a:r>
            <a:endParaRPr lang="en-US" b="1" u="none" dirty="0"/>
          </a:p>
          <a:p>
            <a:r>
              <a:rPr lang="en-US" b="1" u="none" dirty="0"/>
              <a:t>WAR hazard occurs between ADD.D and DIV.D on F6</a:t>
            </a:r>
          </a:p>
          <a:p>
            <a:endParaRPr lang="en-US" u="sng" dirty="0"/>
          </a:p>
          <a:p>
            <a:r>
              <a:rPr lang="en-US" u="sng" dirty="0"/>
              <a:t>For reference:</a:t>
            </a:r>
          </a:p>
          <a:p>
            <a:r>
              <a:rPr lang="en-US" dirty="0"/>
              <a:t>Fi: name of destination register</a:t>
            </a:r>
          </a:p>
          <a:p>
            <a:r>
              <a:rPr lang="en-US" dirty="0"/>
              <a:t>Fj, </a:t>
            </a:r>
            <a:r>
              <a:rPr lang="en-US" dirty="0" err="1"/>
              <a:t>Fk</a:t>
            </a:r>
            <a:r>
              <a:rPr lang="en-US" dirty="0"/>
              <a:t>: names of source registers</a:t>
            </a:r>
          </a:p>
          <a:p>
            <a:r>
              <a:rPr lang="en-US" dirty="0" err="1"/>
              <a:t>Qj</a:t>
            </a:r>
            <a:r>
              <a:rPr lang="en-US" dirty="0"/>
              <a:t>, </a:t>
            </a:r>
            <a:r>
              <a:rPr lang="en-US" dirty="0" err="1"/>
              <a:t>Qk</a:t>
            </a:r>
            <a:r>
              <a:rPr lang="en-US" dirty="0"/>
              <a:t>: functional units producing the sources Fj and </a:t>
            </a:r>
            <a:r>
              <a:rPr lang="en-US" dirty="0" err="1"/>
              <a:t>Fk</a:t>
            </a:r>
            <a:r>
              <a:rPr lang="en-US" dirty="0"/>
              <a:t>. </a:t>
            </a:r>
            <a:r>
              <a:rPr lang="en-US" i="1" dirty="0"/>
              <a:t>(other instructions)</a:t>
            </a:r>
          </a:p>
          <a:p>
            <a:r>
              <a:rPr lang="en-US" dirty="0" err="1"/>
              <a:t>Rj</a:t>
            </a:r>
            <a:r>
              <a:rPr lang="en-US" dirty="0"/>
              <a:t>, </a:t>
            </a:r>
            <a:r>
              <a:rPr lang="en-US" dirty="0" err="1"/>
              <a:t>Rk</a:t>
            </a:r>
            <a:r>
              <a:rPr lang="en-US" dirty="0"/>
              <a:t>: ready flags when Fj and </a:t>
            </a:r>
            <a:r>
              <a:rPr lang="en-US" dirty="0" err="1"/>
              <a:t>Fk</a:t>
            </a:r>
            <a:r>
              <a:rPr lang="en-US" dirty="0"/>
              <a:t> are ready and unread: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429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Arial MT"/>
                <a:cs typeface="Arial MT"/>
              </a:rPr>
              <a:t>Just</a:t>
            </a:r>
            <a:r>
              <a:rPr lang="en-US" sz="1200" spc="-18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before</a:t>
            </a:r>
            <a:r>
              <a:rPr lang="en-US" sz="1200" spc="-18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DIV.D</a:t>
            </a:r>
            <a:r>
              <a:rPr lang="en-US" sz="1200" spc="-18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goes</a:t>
            </a:r>
            <a:r>
              <a:rPr lang="en-US" sz="1200" spc="-18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to</a:t>
            </a:r>
            <a:r>
              <a:rPr lang="en-US" sz="1200" spc="-18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write</a:t>
            </a:r>
            <a:r>
              <a:rPr lang="en-US" sz="1200" spc="-13" dirty="0">
                <a:latin typeface="Arial MT"/>
                <a:cs typeface="Arial MT"/>
              </a:rPr>
              <a:t> </a:t>
            </a:r>
            <a:r>
              <a:rPr lang="en-US" sz="1200" spc="-9" dirty="0">
                <a:latin typeface="Arial MT"/>
                <a:cs typeface="Arial MT"/>
              </a:rPr>
              <a:t>result</a:t>
            </a:r>
          </a:p>
          <a:p>
            <a:endParaRPr lang="en-US" u="sng" dirty="0"/>
          </a:p>
          <a:p>
            <a:r>
              <a:rPr lang="en-US" u="sng" dirty="0"/>
              <a:t>For reference:</a:t>
            </a:r>
          </a:p>
          <a:p>
            <a:r>
              <a:rPr lang="en-US" dirty="0"/>
              <a:t>Fi: name of destination register</a:t>
            </a:r>
          </a:p>
          <a:p>
            <a:r>
              <a:rPr lang="en-US" dirty="0"/>
              <a:t>Fj, </a:t>
            </a:r>
            <a:r>
              <a:rPr lang="en-US" dirty="0" err="1"/>
              <a:t>Fk</a:t>
            </a:r>
            <a:r>
              <a:rPr lang="en-US" dirty="0"/>
              <a:t>: names of source registers</a:t>
            </a:r>
          </a:p>
          <a:p>
            <a:r>
              <a:rPr lang="en-US" dirty="0" err="1"/>
              <a:t>Qj</a:t>
            </a:r>
            <a:r>
              <a:rPr lang="en-US" dirty="0"/>
              <a:t>, </a:t>
            </a:r>
            <a:r>
              <a:rPr lang="en-US" dirty="0" err="1"/>
              <a:t>Qk</a:t>
            </a:r>
            <a:r>
              <a:rPr lang="en-US" dirty="0"/>
              <a:t>: functional units producing the sources Fj and </a:t>
            </a:r>
            <a:r>
              <a:rPr lang="en-US" dirty="0" err="1"/>
              <a:t>Fk</a:t>
            </a:r>
            <a:r>
              <a:rPr lang="en-US" dirty="0"/>
              <a:t>. </a:t>
            </a:r>
            <a:r>
              <a:rPr lang="en-US" i="1" dirty="0"/>
              <a:t>(other instructions)</a:t>
            </a:r>
          </a:p>
          <a:p>
            <a:r>
              <a:rPr lang="en-US" dirty="0" err="1"/>
              <a:t>Rj</a:t>
            </a:r>
            <a:r>
              <a:rPr lang="en-US" dirty="0"/>
              <a:t>, </a:t>
            </a:r>
            <a:r>
              <a:rPr lang="en-US" dirty="0" err="1"/>
              <a:t>Rk</a:t>
            </a:r>
            <a:r>
              <a:rPr lang="en-US" dirty="0"/>
              <a:t>: ready flags when Fj and </a:t>
            </a:r>
            <a:r>
              <a:rPr lang="en-US" dirty="0" err="1"/>
              <a:t>Fk</a:t>
            </a:r>
            <a:r>
              <a:rPr lang="en-US" dirty="0"/>
              <a:t> are ready and unread: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199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b="1" dirty="0"/>
              <a:t>Parallelism:</a:t>
            </a:r>
            <a:r>
              <a:rPr lang="en-US" dirty="0"/>
              <a:t> </a:t>
            </a:r>
          </a:p>
          <a:p>
            <a:r>
              <a:rPr lang="en-US" dirty="0"/>
              <a:t>Limited by the number of independent instructions found in the program.</a:t>
            </a:r>
          </a:p>
          <a:p>
            <a:endParaRPr lang="en-US" dirty="0"/>
          </a:p>
          <a:p>
            <a:r>
              <a:rPr lang="en-US" b="1" dirty="0"/>
              <a:t>Scoreboard Size:</a:t>
            </a:r>
            <a:r>
              <a:rPr lang="en-US" dirty="0"/>
              <a:t> </a:t>
            </a:r>
          </a:p>
          <a:p>
            <a:r>
              <a:rPr lang="en-US" dirty="0"/>
              <a:t>The number of entries determines the instruction window size (how far ahead the pipeline can look).</a:t>
            </a:r>
          </a:p>
          <a:p>
            <a:endParaRPr lang="en-US" dirty="0"/>
          </a:p>
          <a:p>
            <a:r>
              <a:rPr lang="en-US" b="1" dirty="0"/>
              <a:t>Functional Units:</a:t>
            </a:r>
            <a:r>
              <a:rPr lang="en-US" dirty="0"/>
              <a:t> </a:t>
            </a:r>
          </a:p>
          <a:p>
            <a:r>
              <a:rPr lang="en-US" dirty="0"/>
              <a:t>Limited by the number and types of FUs (structural hazards).</a:t>
            </a:r>
          </a:p>
          <a:p>
            <a:endParaRPr lang="en-US" dirty="0"/>
          </a:p>
          <a:p>
            <a:r>
              <a:rPr lang="en-US" b="1" dirty="0"/>
              <a:t>Dependencies:</a:t>
            </a:r>
            <a:r>
              <a:rPr lang="en-US" dirty="0"/>
              <a:t> </a:t>
            </a:r>
          </a:p>
          <a:p>
            <a:r>
              <a:rPr lang="en-US" dirty="0"/>
              <a:t>Output (WAW) and anti-dependences (WAR) can cause stalls.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14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b="1" dirty="0"/>
              <a:t>Answer B. False.</a:t>
            </a:r>
          </a:p>
          <a:p>
            <a:endParaRPr lang="en-US" dirty="0"/>
          </a:p>
          <a:p>
            <a:r>
              <a:rPr lang="en-US" dirty="0"/>
              <a:t>With Scoreboard,</a:t>
            </a:r>
          </a:p>
          <a:p>
            <a:r>
              <a:rPr lang="en-US" dirty="0"/>
              <a:t>WAR and WAW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 require stalling instructions when such hazards are detected.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The scoreboard stalls instructions (at Issue or Read Operands) </a:t>
            </a:r>
          </a:p>
          <a:p>
            <a:r>
              <a:rPr lang="en-US" dirty="0"/>
              <a:t>to </a:t>
            </a:r>
            <a:r>
              <a:rPr lang="en-US" i="1" dirty="0"/>
              <a:t>avoid</a:t>
            </a:r>
            <a:r>
              <a:rPr lang="en-US" dirty="0"/>
              <a:t> the hazards during execution, </a:t>
            </a:r>
          </a:p>
          <a:p>
            <a:r>
              <a:rPr lang="en-US" dirty="0"/>
              <a:t>but it does not remove the dependencies from the program.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524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b="1" dirty="0"/>
              <a:t>Answer A. True.</a:t>
            </a:r>
          </a:p>
          <a:p>
            <a:r>
              <a:rPr lang="en-US" dirty="0"/>
              <a:t>Assuming no structural hazard exists.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55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EF516-07C5-44C2-B684-B686D6272CD5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68030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F5A5F-4D81-4062-9F50-DCD803809D85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173531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ECCAE-1332-4E33-8441-6216EBFD33DD}" type="datetime1">
              <a:rPr lang="en-US" smtClean="0"/>
              <a:t>11/17/2025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04384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9052F-3AA5-4739-B420-600756BBFADF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125613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0362" y="1671388"/>
            <a:ext cx="5164606" cy="43811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E8F89-E567-4EED-8CB0-CD3B1F0F9ADB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21203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Hennessy_cover-v2 (Final)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79512" y="1412776"/>
            <a:ext cx="1872208" cy="2309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0647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GB" sz="24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40649" name="Rectangle 9"/>
          <p:cNvSpPr>
            <a:spLocks noChangeArrowheads="1"/>
          </p:cNvSpPr>
          <p:nvPr userDrawn="1"/>
        </p:nvSpPr>
        <p:spPr bwMode="auto">
          <a:xfrm>
            <a:off x="0" y="76517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40657" name="Picture 17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50" y="50800"/>
            <a:ext cx="1228725" cy="714375"/>
          </a:xfrm>
          <a:prstGeom prst="rect">
            <a:avLst/>
          </a:prstGeom>
          <a:noFill/>
        </p:spPr>
      </p:pic>
      <p:sp>
        <p:nvSpPr>
          <p:cNvPr id="240659" name="Rectangle 19"/>
          <p:cNvSpPr>
            <a:spLocks noChangeArrowheads="1"/>
          </p:cNvSpPr>
          <p:nvPr userDrawn="1"/>
        </p:nvSpPr>
        <p:spPr bwMode="auto">
          <a:xfrm>
            <a:off x="2197100" y="765175"/>
            <a:ext cx="46038" cy="5732463"/>
          </a:xfrm>
          <a:prstGeom prst="rect">
            <a:avLst/>
          </a:prstGeom>
          <a:gradFill rotWithShape="1">
            <a:gsLst>
              <a:gs pos="0">
                <a:srgbClr val="808080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0" name="Rectangle 20"/>
          <p:cNvSpPr>
            <a:spLocks noChangeArrowheads="1"/>
          </p:cNvSpPr>
          <p:nvPr userDrawn="1"/>
        </p:nvSpPr>
        <p:spPr bwMode="auto">
          <a:xfrm>
            <a:off x="2559050" y="1195388"/>
            <a:ext cx="46038" cy="3816350"/>
          </a:xfrm>
          <a:prstGeom prst="rect">
            <a:avLst/>
          </a:prstGeom>
          <a:gradFill rotWithShape="1">
            <a:gsLst>
              <a:gs pos="0">
                <a:srgbClr val="767D79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1" name="Rectangle 21"/>
          <p:cNvSpPr>
            <a:spLocks noChangeArrowheads="1"/>
          </p:cNvSpPr>
          <p:nvPr userDrawn="1"/>
        </p:nvSpPr>
        <p:spPr bwMode="auto">
          <a:xfrm>
            <a:off x="2341563" y="1916113"/>
            <a:ext cx="6623050" cy="4603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8" name="Rectangle 38"/>
          <p:cNvSpPr>
            <a:spLocks noChangeArrowheads="1"/>
          </p:cNvSpPr>
          <p:nvPr userDrawn="1"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9" name="Rectangle 39"/>
          <p:cNvSpPr>
            <a:spLocks noChangeArrowheads="1"/>
          </p:cNvSpPr>
          <p:nvPr userDrawn="1"/>
        </p:nvSpPr>
        <p:spPr bwMode="auto">
          <a:xfrm>
            <a:off x="0" y="630872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80" name="Rectangle 4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dirty="0"/>
          </a:p>
        </p:txBody>
      </p:sp>
      <p:pic>
        <p:nvPicPr>
          <p:cNvPr id="240681" name="Picture 41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6381750"/>
            <a:ext cx="792162" cy="460375"/>
          </a:xfrm>
          <a:prstGeom prst="rect">
            <a:avLst/>
          </a:prstGeom>
          <a:noFill/>
        </p:spPr>
      </p:pic>
      <p:sp>
        <p:nvSpPr>
          <p:cNvPr id="240682" name="Text Box 42"/>
          <p:cNvSpPr txBox="1">
            <a:spLocks noChangeArrowheads="1"/>
          </p:cNvSpPr>
          <p:nvPr userDrawn="1"/>
        </p:nvSpPr>
        <p:spPr bwMode="auto">
          <a:xfrm>
            <a:off x="8388350" y="6497638"/>
            <a:ext cx="5762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fld id="{63BBFCE6-A6C8-4251-973B-1D0917AA6A4E}" type="slidenum">
              <a:rPr lang="en-AU" sz="1200" b="1">
                <a:latin typeface="Arial" charset="0"/>
              </a:rPr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t>‹#›</a:t>
            </a:fld>
            <a:endParaRPr lang="en-GB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5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2308" y="3058065"/>
            <a:ext cx="64515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57E36-A4D3-4216-9467-98056BDF6F20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68187" y="6346231"/>
            <a:ext cx="299796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2204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80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83" name="Rectangle 11"/>
          <p:cNvSpPr>
            <a:spLocks noChangeArrowheads="1"/>
          </p:cNvSpPr>
          <p:nvPr/>
        </p:nvSpPr>
        <p:spPr bwMode="auto">
          <a:xfrm>
            <a:off x="2843213" y="1254125"/>
            <a:ext cx="3798476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srgbClr val="000099"/>
                </a:solidFill>
                <a:latin typeface="Arial" charset="0"/>
              </a:rPr>
              <a:t>Chapter 3 and Appendix C</a:t>
            </a:r>
            <a:endParaRPr lang="en-GB" sz="2400" dirty="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233484" name="Rectangle 12"/>
          <p:cNvSpPr>
            <a:spLocks noChangeArrowheads="1"/>
          </p:cNvSpPr>
          <p:nvPr/>
        </p:nvSpPr>
        <p:spPr bwMode="auto">
          <a:xfrm>
            <a:off x="2843213" y="2060575"/>
            <a:ext cx="5832475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rgbClr val="0332B7"/>
                </a:solidFill>
                <a:latin typeface="Arial MT"/>
                <a:cs typeface="Arial MT"/>
              </a:rPr>
              <a:t>Dynamic Scheduling</a:t>
            </a:r>
            <a:endParaRPr lang="en-US" sz="2800" dirty="0">
              <a:latin typeface="Arial MT"/>
              <a:cs typeface="Arial MT"/>
            </a:endParaRPr>
          </a:p>
        </p:txBody>
      </p:sp>
      <p:sp>
        <p:nvSpPr>
          <p:cNvPr id="233485" name="Text Box 13"/>
          <p:cNvSpPr txBox="1">
            <a:spLocks noChangeArrowheads="1"/>
          </p:cNvSpPr>
          <p:nvPr/>
        </p:nvSpPr>
        <p:spPr bwMode="auto">
          <a:xfrm>
            <a:off x="3299585" y="-100013"/>
            <a:ext cx="3481466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</a:rPr>
              <a:t>Computer Architecture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rial" charset="0"/>
              </a:rPr>
              <a:t>A Quantitative Approach</a:t>
            </a:r>
            <a:endParaRPr lang="en-GB" sz="2000" dirty="0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3" name="Picture 2" descr="A book cover of a computer architecture&#10;&#10;AI-generated content may be incorrect.">
            <a:extLst>
              <a:ext uri="{FF2B5EF4-FFF2-40B4-BE49-F238E27FC236}">
                <a16:creationId xmlns:a16="http://schemas.microsoft.com/office/drawing/2014/main" id="{C8AD8ECF-BB96-6B99-D501-645D3AF2C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806512"/>
            <a:ext cx="1894513" cy="23155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562831"/>
            <a:ext cx="5183740" cy="578891"/>
          </a:xfrm>
          <a:prstGeom prst="rect">
            <a:avLst/>
          </a:prstGeom>
        </p:spPr>
        <p:txBody>
          <a:bodyPr vert="horz" wrap="square" lIns="0" tIns="116092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Review</a:t>
            </a:r>
            <a:r>
              <a:rPr spc="-44" dirty="0"/>
              <a:t> </a:t>
            </a:r>
            <a:r>
              <a:rPr spc="-9" dirty="0"/>
              <a:t>Question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196270"/>
            <a:ext cx="7489787" cy="4932648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Suppose</a:t>
            </a:r>
            <a:r>
              <a:rPr sz="2400" spc="101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that</a:t>
            </a:r>
            <a:endParaRPr sz="2400" dirty="0">
              <a:latin typeface="Calibri"/>
              <a:cs typeface="Calibri"/>
            </a:endParaRPr>
          </a:p>
          <a:p>
            <a:pPr marL="651657" marR="253827" lvl="1" indent="-212363">
              <a:lnSpc>
                <a:spcPts val="1782"/>
              </a:lnSpc>
              <a:spcBef>
                <a:spcPts val="675"/>
              </a:spcBef>
              <a:buChar char="–"/>
              <a:tabLst>
                <a:tab pos="653338" algn="l"/>
              </a:tabLst>
            </a:pPr>
            <a:r>
              <a:rPr dirty="0">
                <a:latin typeface="Calibri"/>
                <a:cs typeface="Calibri"/>
              </a:rPr>
              <a:t>Suppose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we have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memory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hierarchy</a:t>
            </a:r>
            <a:r>
              <a:rPr spc="-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 2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levels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cache and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also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22" dirty="0">
                <a:latin typeface="Calibri"/>
                <a:cs typeface="Calibri"/>
              </a:rPr>
              <a:t>for </a:t>
            </a:r>
            <a:r>
              <a:rPr dirty="0">
                <a:latin typeface="Calibri"/>
                <a:cs typeface="Calibri"/>
              </a:rPr>
              <a:t>simplicity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suppose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all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memory</a:t>
            </a:r>
            <a:r>
              <a:rPr spc="-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accesses</a:t>
            </a:r>
            <a:r>
              <a:rPr spc="-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READ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9" dirty="0">
                <a:latin typeface="Calibri"/>
                <a:cs typeface="Calibri"/>
              </a:rPr>
              <a:t>accesses.</a:t>
            </a:r>
            <a:endParaRPr dirty="0">
              <a:latin typeface="Calibri"/>
              <a:cs typeface="Calibri"/>
            </a:endParaRPr>
          </a:p>
          <a:p>
            <a:pPr marL="651657" lvl="1" indent="-212363">
              <a:spcBef>
                <a:spcPts val="419"/>
              </a:spcBef>
              <a:buChar char="–"/>
              <a:tabLst>
                <a:tab pos="651657" algn="l"/>
              </a:tabLst>
            </a:pPr>
            <a:r>
              <a:rPr dirty="0">
                <a:latin typeface="Calibri"/>
                <a:cs typeface="Calibri"/>
              </a:rPr>
              <a:t>L1 cache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hit time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 2 </a:t>
            </a:r>
            <a:r>
              <a:rPr spc="-22" dirty="0">
                <a:latin typeface="Calibri"/>
                <a:cs typeface="Calibri"/>
              </a:rPr>
              <a:t>ns</a:t>
            </a:r>
            <a:endParaRPr dirty="0">
              <a:latin typeface="Calibri"/>
              <a:cs typeface="Calibri"/>
            </a:endParaRPr>
          </a:p>
          <a:p>
            <a:pPr marL="651657" lvl="1" indent="-212363">
              <a:spcBef>
                <a:spcPts val="379"/>
              </a:spcBef>
              <a:buChar char="–"/>
              <a:tabLst>
                <a:tab pos="651657" algn="l"/>
              </a:tabLst>
            </a:pPr>
            <a:r>
              <a:rPr dirty="0">
                <a:latin typeface="Calibri"/>
                <a:cs typeface="Calibri"/>
              </a:rPr>
              <a:t>L2 cache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hit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time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 10 </a:t>
            </a:r>
            <a:r>
              <a:rPr spc="-22" dirty="0">
                <a:latin typeface="Calibri"/>
                <a:cs typeface="Calibri"/>
              </a:rPr>
              <a:t>ns</a:t>
            </a:r>
            <a:endParaRPr dirty="0">
              <a:latin typeface="Calibri"/>
              <a:cs typeface="Calibri"/>
            </a:endParaRPr>
          </a:p>
          <a:p>
            <a:pPr marL="651657" lvl="1" indent="-212363">
              <a:spcBef>
                <a:spcPts val="361"/>
              </a:spcBef>
              <a:buChar char="–"/>
              <a:tabLst>
                <a:tab pos="651657" algn="l"/>
              </a:tabLst>
            </a:pPr>
            <a:r>
              <a:rPr dirty="0">
                <a:latin typeface="Calibri"/>
                <a:cs typeface="Calibri"/>
              </a:rPr>
              <a:t>Memory access time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 100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22" dirty="0">
                <a:latin typeface="Calibri"/>
                <a:cs typeface="Calibri"/>
              </a:rPr>
              <a:t>ns</a:t>
            </a:r>
            <a:endParaRPr dirty="0">
              <a:latin typeface="Calibri"/>
              <a:cs typeface="Calibri"/>
            </a:endParaRPr>
          </a:p>
          <a:p>
            <a:pPr marL="651657" lvl="1" indent="-212363">
              <a:spcBef>
                <a:spcPts val="468"/>
              </a:spcBef>
              <a:buChar char="–"/>
              <a:tabLst>
                <a:tab pos="651657" algn="l"/>
              </a:tabLst>
            </a:pPr>
            <a:r>
              <a:rPr dirty="0">
                <a:latin typeface="Calibri"/>
                <a:cs typeface="Calibri"/>
              </a:rPr>
              <a:t>L1 cache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miss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rate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22" dirty="0">
                <a:latin typeface="Calibri"/>
                <a:cs typeface="Calibri"/>
              </a:rPr>
              <a:t>8%</a:t>
            </a:r>
            <a:endParaRPr dirty="0">
              <a:latin typeface="Calibri"/>
              <a:cs typeface="Calibri"/>
            </a:endParaRPr>
          </a:p>
          <a:p>
            <a:pPr marL="651657" lvl="1" indent="-212363">
              <a:spcBef>
                <a:spcPts val="379"/>
              </a:spcBef>
              <a:spcAft>
                <a:spcPts val="2400"/>
              </a:spcAft>
              <a:buChar char="–"/>
              <a:tabLst>
                <a:tab pos="651657" algn="l"/>
              </a:tabLst>
            </a:pPr>
            <a:r>
              <a:rPr dirty="0">
                <a:latin typeface="Calibri"/>
                <a:cs typeface="Calibri"/>
              </a:rPr>
              <a:t>L2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cache miss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rate is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1% of the instructions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-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have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L1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cache </a:t>
            </a:r>
            <a:r>
              <a:rPr spc="-18" dirty="0">
                <a:latin typeface="Calibri"/>
                <a:cs typeface="Calibri"/>
              </a:rPr>
              <a:t>miss</a:t>
            </a:r>
            <a:endParaRPr dirty="0">
              <a:latin typeface="Calibri"/>
              <a:cs typeface="Calibri"/>
            </a:endParaRPr>
          </a:p>
          <a:p>
            <a:pPr marL="278481" marR="4483" indent="-267835">
              <a:lnSpc>
                <a:spcPts val="2480"/>
              </a:lnSpc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Choose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range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AMAT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(average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time)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system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above.</a:t>
            </a:r>
            <a:endParaRPr sz="2400" dirty="0">
              <a:latin typeface="Calibri"/>
              <a:cs typeface="Calibri"/>
            </a:endParaRPr>
          </a:p>
          <a:p>
            <a:pPr marL="759799" indent="-320505">
              <a:spcBef>
                <a:spcPts val="366"/>
              </a:spcBef>
              <a:buAutoNum type="alphaUcPeriod"/>
              <a:tabLst>
                <a:tab pos="759799" algn="l"/>
              </a:tabLst>
            </a:pPr>
            <a:r>
              <a:rPr dirty="0">
                <a:latin typeface="Calibri"/>
                <a:cs typeface="Calibri"/>
              </a:rPr>
              <a:t>[2,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22" dirty="0">
                <a:latin typeface="Calibri"/>
                <a:cs typeface="Calibri"/>
              </a:rPr>
              <a:t>3)</a:t>
            </a:r>
            <a:endParaRPr dirty="0">
              <a:latin typeface="Calibri"/>
              <a:cs typeface="Calibri"/>
            </a:endParaRPr>
          </a:p>
          <a:p>
            <a:pPr marL="759799" indent="-320505">
              <a:spcBef>
                <a:spcPts val="383"/>
              </a:spcBef>
              <a:buAutoNum type="alphaUcPeriod"/>
              <a:tabLst>
                <a:tab pos="759799" algn="l"/>
              </a:tabLst>
            </a:pPr>
            <a:r>
              <a:rPr dirty="0">
                <a:latin typeface="Calibri"/>
                <a:cs typeface="Calibri"/>
              </a:rPr>
              <a:t>[3,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22" dirty="0">
                <a:latin typeface="Calibri"/>
                <a:cs typeface="Calibri"/>
              </a:rPr>
              <a:t>6)</a:t>
            </a:r>
            <a:endParaRPr dirty="0">
              <a:latin typeface="Calibri"/>
              <a:cs typeface="Calibri"/>
            </a:endParaRPr>
          </a:p>
          <a:p>
            <a:pPr marL="759799" indent="-320505">
              <a:spcBef>
                <a:spcPts val="357"/>
              </a:spcBef>
              <a:buAutoNum type="alphaUcPeriod"/>
              <a:tabLst>
                <a:tab pos="759799" algn="l"/>
              </a:tabLst>
            </a:pPr>
            <a:r>
              <a:rPr dirty="0">
                <a:latin typeface="Calibri"/>
                <a:cs typeface="Calibri"/>
              </a:rPr>
              <a:t>[6,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spc="-22" dirty="0">
                <a:latin typeface="Calibri"/>
                <a:cs typeface="Calibri"/>
              </a:rPr>
              <a:t>10)</a:t>
            </a:r>
            <a:endParaRPr dirty="0">
              <a:latin typeface="Calibri"/>
              <a:cs typeface="Calibri"/>
            </a:endParaRPr>
          </a:p>
          <a:p>
            <a:pPr marL="759799" indent="-320505">
              <a:spcBef>
                <a:spcPts val="468"/>
              </a:spcBef>
              <a:buAutoNum type="alphaUcPeriod"/>
              <a:tabLst>
                <a:tab pos="759799" algn="l"/>
              </a:tabLst>
            </a:pPr>
            <a:r>
              <a:rPr dirty="0">
                <a:latin typeface="Calibri"/>
                <a:cs typeface="Calibri"/>
              </a:rPr>
              <a:t>None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spc="-18" dirty="0">
                <a:latin typeface="Calibri"/>
                <a:cs typeface="Calibri"/>
              </a:rPr>
              <a:t>above</a:t>
            </a:r>
            <a:endParaRPr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1353" y="6221956"/>
            <a:ext cx="8561294" cy="412376"/>
            <a:chOff x="177800" y="7051550"/>
            <a:chExt cx="9702800" cy="46735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9815" y="7051550"/>
              <a:ext cx="620785" cy="4668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7800" y="7075008"/>
              <a:ext cx="9702800" cy="443865"/>
            </a:xfrm>
            <a:custGeom>
              <a:avLst/>
              <a:gdLst/>
              <a:ahLst/>
              <a:cxnLst/>
              <a:rect l="l" t="t" r="r" b="b"/>
              <a:pathLst>
                <a:path w="9702800" h="443865">
                  <a:moveTo>
                    <a:pt x="0" y="443391"/>
                  </a:moveTo>
                  <a:lnTo>
                    <a:pt x="0" y="0"/>
                  </a:lnTo>
                  <a:lnTo>
                    <a:pt x="9702800" y="0"/>
                  </a:lnTo>
                  <a:lnTo>
                    <a:pt x="9702800" y="443391"/>
                  </a:lnTo>
                  <a:lnTo>
                    <a:pt x="0" y="443391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539077" y="5926364"/>
            <a:ext cx="264526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2</a:t>
            </a:fld>
            <a:endParaRPr spc="-2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565171"/>
            <a:ext cx="5183740" cy="578891"/>
          </a:xfrm>
          <a:prstGeom prst="rect">
            <a:avLst/>
          </a:prstGeom>
        </p:spPr>
        <p:txBody>
          <a:bodyPr vert="horz" wrap="square" lIns="0" tIns="116092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Review</a:t>
            </a:r>
            <a:r>
              <a:rPr spc="-44" dirty="0"/>
              <a:t> </a:t>
            </a:r>
            <a:r>
              <a:rPr spc="-9" dirty="0"/>
              <a:t>Question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2" y="1195490"/>
            <a:ext cx="7402720" cy="4719769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Suppose</a:t>
            </a:r>
            <a:r>
              <a:rPr sz="2400" spc="101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that</a:t>
            </a:r>
            <a:endParaRPr sz="2400" dirty="0">
              <a:latin typeface="Calibri"/>
              <a:cs typeface="Calibri"/>
            </a:endParaRPr>
          </a:p>
          <a:p>
            <a:pPr marL="651657" marR="4483" lvl="1" indent="-212363">
              <a:spcBef>
                <a:spcPts val="675"/>
              </a:spcBef>
              <a:buChar char="–"/>
              <a:tabLst>
                <a:tab pos="653338" algn="l"/>
              </a:tabLst>
            </a:pPr>
            <a:r>
              <a:rPr lang="en-US" sz="2000" dirty="0">
                <a:latin typeface="Calibri"/>
                <a:cs typeface="Calibri"/>
              </a:rPr>
              <a:t>W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 a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processor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 a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128KB,</a:t>
            </a:r>
            <a:r>
              <a:rPr sz="2000" spc="-4" dirty="0">
                <a:latin typeface="Calibri"/>
                <a:cs typeface="Calibri"/>
              </a:rPr>
              <a:t> </a:t>
            </a:r>
            <a:br>
              <a:rPr lang="en-US" sz="2000" spc="-4" dirty="0">
                <a:latin typeface="Calibri"/>
                <a:cs typeface="Calibri"/>
              </a:rPr>
            </a:br>
            <a:r>
              <a:rPr sz="2000" spc="-9" dirty="0">
                <a:latin typeface="Calibri"/>
                <a:cs typeface="Calibri"/>
              </a:rPr>
              <a:t>2-</a:t>
            </a:r>
            <a:r>
              <a:rPr sz="2000" dirty="0">
                <a:latin typeface="Calibri"/>
                <a:cs typeface="Calibri"/>
              </a:rPr>
              <a:t>way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set-</a:t>
            </a:r>
            <a:r>
              <a:rPr sz="2000" dirty="0">
                <a:latin typeface="Calibri"/>
                <a:cs typeface="Calibri"/>
              </a:rPr>
              <a:t>associative cache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 64-</a:t>
            </a:r>
            <a:r>
              <a:rPr sz="2000" spc="-18" dirty="0">
                <a:latin typeface="Calibri"/>
                <a:cs typeface="Calibri"/>
              </a:rPr>
              <a:t>byte </a:t>
            </a:r>
            <a:r>
              <a:rPr sz="2000" dirty="0">
                <a:latin typeface="Calibri"/>
                <a:cs typeface="Calibri"/>
              </a:rPr>
              <a:t>block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size</a:t>
            </a:r>
            <a:endParaRPr sz="2000" dirty="0">
              <a:latin typeface="Calibri"/>
              <a:cs typeface="Calibri"/>
            </a:endParaRPr>
          </a:p>
          <a:p>
            <a:pPr marL="651657" marR="104220" lvl="1" indent="-212363">
              <a:spcBef>
                <a:spcPts val="671"/>
              </a:spcBef>
              <a:buChar char="–"/>
              <a:tabLst>
                <a:tab pos="653338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program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repeatedly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lots</a:t>
            </a:r>
            <a:r>
              <a:rPr sz="2000" u="sng" spc="-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000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iterations</a:t>
            </a:r>
            <a:r>
              <a:rPr sz="2000" dirty="0">
                <a:latin typeface="Calibri"/>
                <a:cs typeface="Calibri"/>
              </a:rPr>
              <a:t>) accesses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elements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22" dirty="0">
                <a:latin typeface="Calibri"/>
                <a:cs typeface="Calibri"/>
              </a:rPr>
              <a:t>two </a:t>
            </a:r>
            <a:r>
              <a:rPr sz="2000" dirty="0">
                <a:latin typeface="Calibri"/>
                <a:cs typeface="Calibri"/>
              </a:rPr>
              <a:t>cache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blocks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b="1" spc="-22" dirty="0">
                <a:latin typeface="Calibri"/>
                <a:cs typeface="Calibri"/>
              </a:rPr>
              <a:t>B</a:t>
            </a:r>
            <a:r>
              <a:rPr sz="2000" spc="-22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51657" lvl="1" indent="-212363">
              <a:spcBef>
                <a:spcPts val="335"/>
              </a:spcBef>
              <a:buChar char="–"/>
              <a:tabLst>
                <a:tab pos="651657" algn="l"/>
              </a:tabLst>
            </a:pPr>
            <a:r>
              <a:rPr sz="2000" dirty="0">
                <a:latin typeface="Calibri"/>
                <a:cs typeface="Calibri"/>
              </a:rPr>
              <a:t>Assume 1 cycle hit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time</a:t>
            </a:r>
            <a:endParaRPr sz="2000" dirty="0">
              <a:latin typeface="Calibri"/>
              <a:cs typeface="Calibri"/>
            </a:endParaRPr>
          </a:p>
          <a:p>
            <a:pPr marL="651657" lvl="1" indent="-212363">
              <a:spcBef>
                <a:spcPts val="463"/>
              </a:spcBef>
              <a:spcAft>
                <a:spcPts val="1200"/>
              </a:spcAft>
              <a:buChar char="–"/>
              <a:tabLst>
                <a:tab pos="651657" algn="l"/>
              </a:tabLst>
            </a:pPr>
            <a:r>
              <a:rPr sz="2000" dirty="0">
                <a:latin typeface="Calibri"/>
                <a:cs typeface="Calibri"/>
              </a:rPr>
              <a:t>Assume memory access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takes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200 </a:t>
            </a:r>
            <a:r>
              <a:rPr sz="2000" spc="-9" dirty="0">
                <a:latin typeface="Calibri"/>
                <a:cs typeface="Calibri"/>
              </a:rPr>
              <a:t>cycles</a:t>
            </a:r>
            <a:endParaRPr sz="2000" dirty="0">
              <a:latin typeface="Calibri"/>
              <a:cs typeface="Calibri"/>
            </a:endParaRPr>
          </a:p>
          <a:p>
            <a:pPr marL="278481" indent="-267275">
              <a:spcBef>
                <a:spcPts val="552"/>
              </a:spcBef>
              <a:spcAft>
                <a:spcPts val="6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Compute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AMAT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program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running.</a:t>
            </a:r>
            <a:endParaRPr sz="2206" dirty="0">
              <a:latin typeface="Calibri"/>
              <a:cs typeface="Calibri"/>
            </a:endParaRPr>
          </a:p>
          <a:p>
            <a:pPr marL="759799" indent="-320505">
              <a:buAutoNum type="alphaUcPeriod"/>
              <a:tabLst>
                <a:tab pos="759799" algn="l"/>
              </a:tabLst>
            </a:pPr>
            <a:r>
              <a:rPr sz="2000" spc="-44" dirty="0">
                <a:latin typeface="Calibri"/>
                <a:cs typeface="Calibri"/>
              </a:rPr>
              <a:t>1</a:t>
            </a:r>
            <a:endParaRPr sz="2000" dirty="0">
              <a:latin typeface="Calibri"/>
              <a:cs typeface="Calibri"/>
            </a:endParaRPr>
          </a:p>
          <a:p>
            <a:pPr marL="759799" indent="-320505">
              <a:spcBef>
                <a:spcPts val="383"/>
              </a:spcBef>
              <a:buAutoNum type="alphaUcPeriod"/>
              <a:tabLst>
                <a:tab pos="759799" algn="l"/>
              </a:tabLst>
            </a:pPr>
            <a:r>
              <a:rPr sz="2000" spc="-22" dirty="0">
                <a:latin typeface="Calibri"/>
                <a:cs typeface="Calibri"/>
              </a:rPr>
              <a:t>2.5</a:t>
            </a:r>
            <a:endParaRPr sz="2000" dirty="0">
              <a:latin typeface="Calibri"/>
              <a:cs typeface="Calibri"/>
            </a:endParaRPr>
          </a:p>
          <a:p>
            <a:pPr marL="759799" indent="-320505">
              <a:spcBef>
                <a:spcPts val="441"/>
              </a:spcBef>
              <a:buAutoNum type="alphaUcPeriod"/>
              <a:tabLst>
                <a:tab pos="759799" algn="l"/>
              </a:tabLst>
            </a:pPr>
            <a:r>
              <a:rPr sz="2000" spc="-44" dirty="0">
                <a:latin typeface="Calibri"/>
                <a:cs typeface="Calibri"/>
              </a:rPr>
              <a:t>5</a:t>
            </a:r>
            <a:endParaRPr sz="2000" dirty="0">
              <a:latin typeface="Calibri"/>
              <a:cs typeface="Calibri"/>
            </a:endParaRPr>
          </a:p>
          <a:p>
            <a:pPr marL="759799" indent="-320505">
              <a:spcBef>
                <a:spcPts val="383"/>
              </a:spcBef>
              <a:buAutoNum type="alphaUcPeriod"/>
              <a:tabLst>
                <a:tab pos="759799" algn="l"/>
              </a:tabLst>
            </a:pPr>
            <a:r>
              <a:rPr sz="2000" spc="-44" dirty="0">
                <a:latin typeface="Calibri"/>
                <a:cs typeface="Calibri"/>
              </a:rPr>
              <a:t>6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1353" y="6221956"/>
            <a:ext cx="8561294" cy="412376"/>
            <a:chOff x="177800" y="7051550"/>
            <a:chExt cx="9702800" cy="46735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9815" y="7051550"/>
              <a:ext cx="620785" cy="4668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7800" y="7075008"/>
              <a:ext cx="9702800" cy="443865"/>
            </a:xfrm>
            <a:custGeom>
              <a:avLst/>
              <a:gdLst/>
              <a:ahLst/>
              <a:cxnLst/>
              <a:rect l="l" t="t" r="r" b="b"/>
              <a:pathLst>
                <a:path w="9702800" h="443865">
                  <a:moveTo>
                    <a:pt x="0" y="443391"/>
                  </a:moveTo>
                  <a:lnTo>
                    <a:pt x="0" y="0"/>
                  </a:lnTo>
                  <a:lnTo>
                    <a:pt x="9702800" y="0"/>
                  </a:lnTo>
                  <a:lnTo>
                    <a:pt x="9702800" y="443391"/>
                  </a:lnTo>
                  <a:lnTo>
                    <a:pt x="0" y="443391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527190" y="5928083"/>
            <a:ext cx="264526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3</a:t>
            </a:fld>
            <a:endParaRPr spc="-2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403807"/>
            <a:ext cx="5183740" cy="578891"/>
          </a:xfrm>
          <a:prstGeom prst="rect">
            <a:avLst/>
          </a:prstGeom>
        </p:spPr>
        <p:txBody>
          <a:bodyPr vert="horz" wrap="square" lIns="0" tIns="116092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342" y="1252817"/>
            <a:ext cx="6399679" cy="3282135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206" dirty="0">
                <a:solidFill>
                  <a:srgbClr val="919191"/>
                </a:solidFill>
                <a:latin typeface="Calibri"/>
                <a:cs typeface="Calibri"/>
              </a:rPr>
              <a:t>ILP</a:t>
            </a:r>
            <a:r>
              <a:rPr sz="2206" spc="62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919191"/>
                </a:solidFill>
                <a:latin typeface="Calibri"/>
                <a:cs typeface="Calibri"/>
              </a:rPr>
              <a:t>–</a:t>
            </a:r>
            <a:r>
              <a:rPr sz="2206" spc="71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919191"/>
                </a:solidFill>
                <a:latin typeface="Calibri"/>
                <a:cs typeface="Calibri"/>
              </a:rPr>
              <a:t>Instruction</a:t>
            </a:r>
            <a:r>
              <a:rPr sz="2206" spc="66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919191"/>
                </a:solidFill>
                <a:latin typeface="Calibri"/>
                <a:cs typeface="Calibri"/>
              </a:rPr>
              <a:t>Level</a:t>
            </a:r>
            <a:r>
              <a:rPr sz="2206" spc="49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919191"/>
                </a:solidFill>
                <a:latin typeface="Calibri"/>
                <a:cs typeface="Calibri"/>
              </a:rPr>
              <a:t>Parallelism</a:t>
            </a:r>
            <a:endParaRPr sz="2206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206" dirty="0">
                <a:solidFill>
                  <a:srgbClr val="919191"/>
                </a:solidFill>
                <a:latin typeface="Calibri"/>
                <a:cs typeface="Calibri"/>
              </a:rPr>
              <a:t>Compiler</a:t>
            </a:r>
            <a:r>
              <a:rPr sz="2206" spc="75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919191"/>
                </a:solidFill>
                <a:latin typeface="Calibri"/>
                <a:cs typeface="Calibri"/>
              </a:rPr>
              <a:t>techniques</a:t>
            </a:r>
            <a:r>
              <a:rPr sz="2206" spc="75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919191"/>
                </a:solidFill>
                <a:latin typeface="Calibri"/>
                <a:cs typeface="Calibri"/>
              </a:rPr>
              <a:t>to</a:t>
            </a:r>
            <a:r>
              <a:rPr sz="2206" spc="79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919191"/>
                </a:solidFill>
                <a:latin typeface="Calibri"/>
                <a:cs typeface="Calibri"/>
              </a:rPr>
              <a:t>increase</a:t>
            </a:r>
            <a:r>
              <a:rPr sz="2206" spc="84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206" spc="-22" dirty="0">
                <a:solidFill>
                  <a:srgbClr val="919191"/>
                </a:solidFill>
                <a:latin typeface="Calibri"/>
                <a:cs typeface="Calibri"/>
              </a:rPr>
              <a:t>ILP</a:t>
            </a:r>
            <a:endParaRPr sz="2206">
              <a:latin typeface="Calibri"/>
              <a:cs typeface="Calibri"/>
            </a:endParaRPr>
          </a:p>
          <a:p>
            <a:pPr marL="27848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206" dirty="0">
                <a:solidFill>
                  <a:srgbClr val="919191"/>
                </a:solidFill>
                <a:latin typeface="Calibri"/>
                <a:cs typeface="Calibri"/>
              </a:rPr>
              <a:t>Loop</a:t>
            </a:r>
            <a:r>
              <a:rPr sz="2206" spc="71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919191"/>
                </a:solidFill>
                <a:latin typeface="Calibri"/>
                <a:cs typeface="Calibri"/>
              </a:rPr>
              <a:t>Unrolling</a:t>
            </a:r>
            <a:endParaRPr sz="2206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206" dirty="0">
                <a:solidFill>
                  <a:srgbClr val="919191"/>
                </a:solidFill>
                <a:latin typeface="Calibri"/>
                <a:cs typeface="Calibri"/>
              </a:rPr>
              <a:t>Static</a:t>
            </a:r>
            <a:r>
              <a:rPr sz="2206" spc="40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919191"/>
                </a:solidFill>
                <a:latin typeface="Calibri"/>
                <a:cs typeface="Calibri"/>
              </a:rPr>
              <a:t>Branch</a:t>
            </a:r>
            <a:r>
              <a:rPr sz="2206" spc="49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919191"/>
                </a:solidFill>
                <a:latin typeface="Calibri"/>
                <a:cs typeface="Calibri"/>
              </a:rPr>
              <a:t>Prediction</a:t>
            </a:r>
            <a:endParaRPr sz="2206">
              <a:latin typeface="Calibri"/>
              <a:cs typeface="Calibri"/>
            </a:endParaRPr>
          </a:p>
          <a:p>
            <a:pPr marL="27848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206" dirty="0">
                <a:solidFill>
                  <a:srgbClr val="919191"/>
                </a:solidFill>
                <a:latin typeface="Calibri"/>
                <a:cs typeface="Calibri"/>
              </a:rPr>
              <a:t>Dynamic</a:t>
            </a:r>
            <a:r>
              <a:rPr sz="2206" spc="49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919191"/>
                </a:solidFill>
                <a:latin typeface="Calibri"/>
                <a:cs typeface="Calibri"/>
              </a:rPr>
              <a:t>Branch</a:t>
            </a:r>
            <a:r>
              <a:rPr sz="2206" spc="57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919191"/>
                </a:solidFill>
                <a:latin typeface="Calibri"/>
                <a:cs typeface="Calibri"/>
              </a:rPr>
              <a:t>Prediction</a:t>
            </a:r>
            <a:endParaRPr sz="2206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Font typeface="Calibri"/>
              <a:buChar char="•"/>
              <a:tabLst>
                <a:tab pos="278481" algn="l"/>
              </a:tabLst>
            </a:pPr>
            <a:r>
              <a:rPr sz="2206" b="1" dirty="0">
                <a:latin typeface="Calibri"/>
                <a:cs typeface="Calibri"/>
              </a:rPr>
              <a:t>Overcoming</a:t>
            </a:r>
            <a:r>
              <a:rPr sz="2206" b="1" spc="88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Data</a:t>
            </a:r>
            <a:r>
              <a:rPr sz="2206" b="1" spc="88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Hazards</a:t>
            </a:r>
            <a:r>
              <a:rPr sz="2206" b="1" spc="88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with</a:t>
            </a:r>
            <a:r>
              <a:rPr sz="2206" b="1" spc="88" dirty="0">
                <a:latin typeface="Calibri"/>
                <a:cs typeface="Calibri"/>
              </a:rPr>
              <a:t> </a:t>
            </a:r>
            <a:r>
              <a:rPr sz="2206" b="1" dirty="0">
                <a:latin typeface="Calibri"/>
                <a:cs typeface="Calibri"/>
              </a:rPr>
              <a:t>Dynamic</a:t>
            </a:r>
            <a:r>
              <a:rPr sz="2206" b="1" spc="79" dirty="0">
                <a:latin typeface="Calibri"/>
                <a:cs typeface="Calibri"/>
              </a:rPr>
              <a:t> </a:t>
            </a:r>
            <a:r>
              <a:rPr sz="2206" b="1" spc="-9" dirty="0">
                <a:latin typeface="Calibri"/>
                <a:cs typeface="Calibri"/>
              </a:rPr>
              <a:t>Scheduling</a:t>
            </a:r>
            <a:endParaRPr sz="2206">
              <a:latin typeface="Calibri"/>
              <a:cs typeface="Calibri"/>
            </a:endParaRPr>
          </a:p>
          <a:p>
            <a:pPr marL="27848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206" dirty="0">
                <a:latin typeface="Calibri"/>
                <a:cs typeface="Calibri"/>
              </a:rPr>
              <a:t>(Start)</a:t>
            </a:r>
            <a:r>
              <a:rPr sz="2206" spc="66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Tomasulo</a:t>
            </a:r>
            <a:r>
              <a:rPr sz="2206" spc="75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Algorithm</a:t>
            </a:r>
            <a:endParaRPr sz="2206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206" spc="-9" dirty="0">
                <a:latin typeface="Calibri"/>
                <a:cs typeface="Calibri"/>
              </a:rPr>
              <a:t>Conclusion</a:t>
            </a:r>
            <a:endParaRPr sz="2206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3F058D-7313-6E40-E2A3-9E47EDDBFF4E}"/>
              </a:ext>
            </a:extLst>
          </p:cNvPr>
          <p:cNvSpPr txBox="1">
            <a:spLocks/>
          </p:cNvSpPr>
          <p:nvPr/>
        </p:nvSpPr>
        <p:spPr>
          <a:xfrm>
            <a:off x="8485094" y="6346231"/>
            <a:ext cx="382889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500" b="0" i="0" kern="1200">
                <a:solidFill>
                  <a:schemeClr val="tx1"/>
                </a:solidFill>
                <a:latin typeface="Arial MT"/>
                <a:ea typeface="+mn-ea"/>
                <a:cs typeface="Arial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</a:t>
            </a:fld>
            <a:endParaRPr lang="en-US" spc="-4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451" y="665180"/>
            <a:ext cx="7157197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Dynamically</a:t>
            </a:r>
            <a:r>
              <a:rPr spc="-9" dirty="0"/>
              <a:t> </a:t>
            </a:r>
            <a:r>
              <a:rPr dirty="0"/>
              <a:t>Scheduled</a:t>
            </a:r>
            <a:r>
              <a:rPr spc="-9" dirty="0"/>
              <a:t> </a:t>
            </a:r>
            <a:r>
              <a:rPr dirty="0"/>
              <a:t>Pipelines</a:t>
            </a:r>
            <a:r>
              <a:rPr spc="-13" dirty="0"/>
              <a:t> </a:t>
            </a:r>
            <a:r>
              <a:rPr spc="-9" dirty="0"/>
              <a:t>(Scoreboard)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3375" y="1360393"/>
            <a:ext cx="7766189" cy="4148911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483" indent="-267835">
              <a:spcBef>
                <a:spcPts val="393"/>
              </a:spcBef>
              <a:spcAft>
                <a:spcPts val="18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hardware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technique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good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job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scheduling,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since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lang="en-US" sz="2400" spc="71" dirty="0">
                <a:latin typeface="Calibri"/>
                <a:cs typeface="Calibri"/>
              </a:rPr>
              <a:t>"</a:t>
            </a:r>
            <a:r>
              <a:rPr sz="2400" dirty="0">
                <a:latin typeface="Calibri"/>
                <a:cs typeface="Calibri"/>
              </a:rPr>
              <a:t>perfect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information</a:t>
            </a:r>
            <a:r>
              <a:rPr lang="en-US" sz="2400" dirty="0">
                <a:latin typeface="Calibri"/>
                <a:cs typeface="Calibri"/>
              </a:rPr>
              <a:t>"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hazards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buFont typeface="Calibri"/>
              <a:buChar char="•"/>
              <a:tabLst>
                <a:tab pos="278481" algn="l"/>
              </a:tabLst>
            </a:pPr>
            <a:r>
              <a:rPr sz="2400" b="1" dirty="0">
                <a:solidFill>
                  <a:srgbClr val="114FFB"/>
                </a:solidFill>
                <a:latin typeface="Calibri"/>
                <a:cs typeface="Calibri"/>
              </a:rPr>
              <a:t>Basic</a:t>
            </a:r>
            <a:r>
              <a:rPr sz="2400" b="1" spc="35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14FFB"/>
                </a:solidFill>
                <a:latin typeface="Calibri"/>
                <a:cs typeface="Calibri"/>
              </a:rPr>
              <a:t>idea</a:t>
            </a:r>
            <a:r>
              <a:rPr sz="2400" b="1" spc="57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14FFB"/>
                </a:solidFill>
                <a:latin typeface="Calibri"/>
                <a:cs typeface="Calibri"/>
              </a:rPr>
              <a:t>is</a:t>
            </a:r>
            <a:r>
              <a:rPr sz="2400" b="1" spc="4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14FFB"/>
                </a:solidFill>
                <a:latin typeface="Calibri"/>
                <a:cs typeface="Calibri"/>
              </a:rPr>
              <a:t>to</a:t>
            </a:r>
            <a:r>
              <a:rPr sz="2400" b="1" spc="4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14FFB"/>
                </a:solidFill>
                <a:latin typeface="Calibri"/>
                <a:cs typeface="Calibri"/>
              </a:rPr>
              <a:t>start</a:t>
            </a:r>
            <a:r>
              <a:rPr sz="2400" b="1" spc="4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14FFB"/>
                </a:solidFill>
                <a:latin typeface="Calibri"/>
                <a:cs typeface="Calibri"/>
              </a:rPr>
              <a:t>each</a:t>
            </a:r>
            <a:r>
              <a:rPr sz="2400" b="1" spc="4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14FFB"/>
                </a:solidFill>
                <a:latin typeface="Calibri"/>
                <a:cs typeface="Calibri"/>
              </a:rPr>
              <a:t>instruction</a:t>
            </a:r>
            <a:r>
              <a:rPr sz="2400" b="1" spc="4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14FFB"/>
                </a:solidFill>
                <a:latin typeface="Calibri"/>
                <a:cs typeface="Calibri"/>
              </a:rPr>
              <a:t>as</a:t>
            </a:r>
            <a:r>
              <a:rPr sz="2400" b="1" spc="4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14FFB"/>
                </a:solidFill>
                <a:latin typeface="Calibri"/>
                <a:cs typeface="Calibri"/>
              </a:rPr>
              <a:t>early</a:t>
            </a:r>
            <a:r>
              <a:rPr sz="2400" b="1" spc="4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14FFB"/>
                </a:solidFill>
                <a:latin typeface="Calibri"/>
                <a:cs typeface="Calibri"/>
              </a:rPr>
              <a:t>as</a:t>
            </a:r>
            <a:r>
              <a:rPr sz="2400" b="1" spc="4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b="1" spc="-9" dirty="0">
                <a:solidFill>
                  <a:srgbClr val="114FFB"/>
                </a:solidFill>
                <a:latin typeface="Calibri"/>
                <a:cs typeface="Calibri"/>
              </a:rPr>
              <a:t>possible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46"/>
              </a:spcBef>
              <a:spcAft>
                <a:spcPts val="600"/>
              </a:spcAft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Analogy:</a:t>
            </a:r>
            <a:r>
              <a:rPr sz="2200" spc="3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waiting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table at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restaurant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379"/>
              </a:spcBef>
              <a:spcAft>
                <a:spcPts val="1800"/>
              </a:spcAft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Must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deal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 instructions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complete </a:t>
            </a:r>
            <a:r>
              <a:rPr sz="2200" spc="-9" dirty="0">
                <a:latin typeface="Calibri"/>
                <a:cs typeface="Calibri"/>
              </a:rPr>
              <a:t>out-of-order</a:t>
            </a:r>
            <a:endParaRPr sz="2400" dirty="0">
              <a:latin typeface="Calibri"/>
              <a:cs typeface="Calibri"/>
            </a:endParaRPr>
          </a:p>
          <a:p>
            <a:pPr marL="278481" marR="225250" indent="-267835">
              <a:spcAft>
                <a:spcPts val="6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There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lot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keep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of,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schemes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bookkeeping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10"/>
              </a:spcBef>
              <a:spcAft>
                <a:spcPts val="600"/>
              </a:spcAft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Scoreboard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method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(App.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C.7)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361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Tomasulo's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method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(Ch</a:t>
            </a:r>
            <a:r>
              <a:rPr sz="2200" spc="13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3)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F911A-D382-9B26-94C5-B96AF31984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</a:t>
            </a:fld>
            <a:endParaRPr lang="en-US" spc="-4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565171"/>
            <a:ext cx="5183740" cy="578891"/>
          </a:xfrm>
          <a:prstGeom prst="rect">
            <a:avLst/>
          </a:prstGeom>
        </p:spPr>
        <p:txBody>
          <a:bodyPr vert="horz" wrap="square" lIns="0" tIns="116092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CDC6600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0444" y="1330637"/>
            <a:ext cx="6563658" cy="456721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7694636" y="5599616"/>
            <a:ext cx="264526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6</a:t>
            </a:fld>
            <a:endParaRPr spc="-22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8B4E5C-CDB2-3CFF-B427-BBB769BF78DC}"/>
              </a:ext>
            </a:extLst>
          </p:cNvPr>
          <p:cNvSpPr txBox="1">
            <a:spLocks/>
          </p:cNvSpPr>
          <p:nvPr/>
        </p:nvSpPr>
        <p:spPr>
          <a:xfrm>
            <a:off x="8485094" y="6346231"/>
            <a:ext cx="382889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500" b="0" i="0" kern="1200">
                <a:solidFill>
                  <a:schemeClr val="tx1"/>
                </a:solidFill>
                <a:latin typeface="Arial MT"/>
                <a:ea typeface="+mn-ea"/>
                <a:cs typeface="Arial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6</a:t>
            </a:fld>
            <a:endParaRPr lang="en-US" spc="-4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451" y="665180"/>
            <a:ext cx="310515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Scoreboard</a:t>
            </a:r>
            <a:r>
              <a:rPr spc="-101" dirty="0"/>
              <a:t> </a:t>
            </a:r>
            <a:r>
              <a:rPr spc="-9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850" y="1212476"/>
            <a:ext cx="8309315" cy="5470426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Origins: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CDC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6600,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late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1960s</a:t>
            </a:r>
            <a:endParaRPr sz="2400" dirty="0">
              <a:latin typeface="Calibri"/>
              <a:cs typeface="Calibri"/>
            </a:endParaRPr>
          </a:p>
          <a:p>
            <a:pPr marL="278481" marR="234776" indent="-267835">
              <a:spcBef>
                <a:spcPts val="772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Scoreboard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controls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progress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ensure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hazards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RAW,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etc.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avoided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485"/>
              </a:spcBef>
              <a:buChar char="•"/>
              <a:tabLst>
                <a:tab pos="278481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ID</a:t>
            </a:r>
            <a:r>
              <a:rPr sz="2400" u="sng" spc="5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basic</a:t>
            </a:r>
            <a:r>
              <a:rPr sz="2400" u="sng" spc="4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pipeline</a:t>
            </a:r>
            <a:r>
              <a:rPr sz="2400" u="sng" spc="5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stage</a:t>
            </a:r>
            <a:r>
              <a:rPr sz="2400" u="sng" spc="5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split</a:t>
            </a:r>
            <a:r>
              <a:rPr sz="2400" u="sng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into</a:t>
            </a:r>
            <a:r>
              <a:rPr sz="2400" u="sng" spc="5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2</a:t>
            </a:r>
            <a:r>
              <a:rPr sz="2400" u="sng" spc="4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stages</a:t>
            </a:r>
            <a:endParaRPr sz="2400" u="sng" dirty="0">
              <a:latin typeface="Calibri"/>
              <a:cs typeface="Calibri"/>
            </a:endParaRPr>
          </a:p>
          <a:p>
            <a:pPr marL="651657" lvl="1" indent="-212363">
              <a:spcBef>
                <a:spcPts val="441"/>
              </a:spcBef>
              <a:buFont typeface="Calibri"/>
              <a:buChar char="–"/>
              <a:tabLst>
                <a:tab pos="651657" algn="l"/>
              </a:tabLst>
            </a:pP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Issue</a:t>
            </a:r>
            <a:r>
              <a:rPr lang="en-US" sz="2000" b="1" dirty="0">
                <a:solidFill>
                  <a:srgbClr val="0070C0"/>
                </a:solidFill>
                <a:latin typeface="Calibri"/>
                <a:cs typeface="Calibri"/>
              </a:rPr>
              <a:t> (IS)</a:t>
            </a:r>
            <a:r>
              <a:rPr sz="2000" b="1" spc="-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decode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instructions,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check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structural</a:t>
            </a:r>
            <a:r>
              <a:rPr sz="2000" b="1" spc="-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WAW</a:t>
            </a:r>
            <a:r>
              <a:rPr sz="2000" b="1" spc="-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hazards</a:t>
            </a:r>
            <a:endParaRPr sz="2000" dirty="0">
              <a:latin typeface="Calibri"/>
              <a:cs typeface="Calibri"/>
            </a:endParaRPr>
          </a:p>
          <a:p>
            <a:pPr marL="651657" lvl="1" indent="-212363">
              <a:spcBef>
                <a:spcPts val="383"/>
              </a:spcBef>
              <a:buFont typeface="Calibri"/>
              <a:buChar char="–"/>
              <a:tabLst>
                <a:tab pos="651657" algn="l"/>
              </a:tabLst>
            </a:pP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Read</a:t>
            </a:r>
            <a:r>
              <a:rPr sz="2000" b="1" spc="-18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libri"/>
                <a:cs typeface="Calibri"/>
              </a:rPr>
              <a:t>operands</a:t>
            </a:r>
            <a:r>
              <a:rPr lang="en-US" sz="2000" b="1" dirty="0">
                <a:solidFill>
                  <a:srgbClr val="0070C0"/>
                </a:solidFill>
                <a:latin typeface="Calibri"/>
                <a:cs typeface="Calibri"/>
              </a:rPr>
              <a:t> (RO)</a:t>
            </a:r>
            <a:r>
              <a:rPr sz="2000" b="1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wait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until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hazards,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reads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operands</a:t>
            </a:r>
            <a:endParaRPr sz="2000" dirty="0">
              <a:latin typeface="Calibri"/>
              <a:cs typeface="Calibri"/>
            </a:endParaRPr>
          </a:p>
          <a:p>
            <a:pPr marL="278481" indent="-267275">
              <a:spcBef>
                <a:spcPts val="552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Distinguish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begins</a:t>
            </a:r>
            <a:r>
              <a:rPr sz="2400" b="1" spc="7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execution</a:t>
            </a:r>
            <a:r>
              <a:rPr sz="2400" b="1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when</a:t>
            </a:r>
            <a:endParaRPr sz="2400" dirty="0">
              <a:latin typeface="Calibri"/>
              <a:cs typeface="Calibri"/>
            </a:endParaRPr>
          </a:p>
          <a:p>
            <a:pPr marL="278481"/>
            <a:r>
              <a:rPr sz="2400" b="1" dirty="0">
                <a:latin typeface="Calibri"/>
                <a:cs typeface="Calibri"/>
              </a:rPr>
              <a:t>completes</a:t>
            </a:r>
            <a:r>
              <a:rPr sz="2400" b="1" spc="4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execution</a:t>
            </a:r>
            <a:r>
              <a:rPr sz="2400" b="1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execution</a:t>
            </a:r>
            <a:endParaRPr sz="2400" dirty="0">
              <a:latin typeface="Calibri"/>
              <a:cs typeface="Calibri"/>
            </a:endParaRPr>
          </a:p>
          <a:p>
            <a:pPr marL="278481" marR="4483" indent="-267835">
              <a:spcBef>
                <a:spcPts val="821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All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pass</a:t>
            </a:r>
            <a:r>
              <a:rPr sz="2400" u="sng" spc="5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through</a:t>
            </a:r>
            <a:r>
              <a:rPr sz="2400" u="sng" spc="6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issue</a:t>
            </a:r>
            <a:r>
              <a:rPr sz="2400" u="sng" spc="6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stage</a:t>
            </a:r>
            <a:r>
              <a:rPr sz="2400" u="sng" spc="6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2400" b="1" u="sng" spc="7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order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can </a:t>
            </a:r>
            <a:r>
              <a:rPr sz="2400" dirty="0">
                <a:latin typeface="Calibri"/>
                <a:cs typeface="Calibri"/>
              </a:rPr>
              <a:t>stall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bypass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second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stage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388"/>
              </a:spcBef>
              <a:buChar char="–"/>
              <a:tabLst>
                <a:tab pos="651657" algn="l"/>
              </a:tabLst>
            </a:pPr>
            <a:r>
              <a:rPr lang="en-US" sz="2000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get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WAR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hazards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 instructions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execute out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9" dirty="0">
                <a:latin typeface="Calibri"/>
                <a:cs typeface="Calibri"/>
              </a:rPr>
              <a:t> order</a:t>
            </a:r>
            <a:endParaRPr sz="2000" dirty="0">
              <a:latin typeface="Calibri"/>
              <a:cs typeface="Calibri"/>
            </a:endParaRPr>
          </a:p>
          <a:p>
            <a:pPr marL="651657" marR="8965" lvl="1" indent="-212363">
              <a:spcBef>
                <a:spcPts val="666"/>
              </a:spcBef>
              <a:buChar char="–"/>
              <a:tabLst>
                <a:tab pos="653338" algn="l"/>
              </a:tabLst>
            </a:pPr>
            <a:r>
              <a:rPr lang="en-US" sz="2000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multiple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instructions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stage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simultaneously,</a:t>
            </a:r>
            <a:r>
              <a:rPr sz="2000" spc="-13" dirty="0">
                <a:latin typeface="Calibri"/>
                <a:cs typeface="Calibri"/>
              </a:rPr>
              <a:t> </a:t>
            </a:r>
            <a:br>
              <a:rPr lang="en-US" sz="2000" spc="-13" dirty="0">
                <a:latin typeface="Calibri"/>
                <a:cs typeface="Calibri"/>
              </a:rPr>
            </a:br>
            <a:r>
              <a:rPr sz="2000" dirty="0">
                <a:latin typeface="Calibri"/>
                <a:cs typeface="Calibri"/>
              </a:rPr>
              <a:t>use</a:t>
            </a:r>
            <a:r>
              <a:rPr sz="2000" spc="-9" dirty="0">
                <a:latin typeface="Calibri"/>
                <a:cs typeface="Calibri"/>
              </a:rPr>
              <a:t> multiple </a:t>
            </a:r>
            <a:r>
              <a:rPr sz="2000" dirty="0">
                <a:latin typeface="Calibri"/>
                <a:cs typeface="Calibri"/>
              </a:rPr>
              <a:t>functional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units,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pipelined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units,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both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4" dirty="0">
                <a:latin typeface="Calibri"/>
                <a:cs typeface="Calibri"/>
              </a:rPr>
              <a:t> </a:t>
            </a:r>
            <a:br>
              <a:rPr lang="en-US" sz="2000" spc="-4" dirty="0">
                <a:latin typeface="Calibri"/>
                <a:cs typeface="Calibri"/>
              </a:rPr>
            </a:br>
            <a:r>
              <a:rPr sz="2000" dirty="0">
                <a:latin typeface="Calibri"/>
                <a:cs typeface="Calibri"/>
              </a:rPr>
              <a:t>equivalent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purposes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of</a:t>
            </a:r>
            <a:r>
              <a:rPr lang="en-US" sz="2000" spc="-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pipeline</a:t>
            </a:r>
            <a:r>
              <a:rPr sz="2000" spc="-26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control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13873" y="621886"/>
            <a:ext cx="2578798" cy="971550"/>
            <a:chOff x="6662691" y="704805"/>
            <a:chExt cx="2712720" cy="110109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7744" y="709859"/>
              <a:ext cx="2579340" cy="10905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662691" y="704805"/>
              <a:ext cx="2712720" cy="1101090"/>
            </a:xfrm>
            <a:custGeom>
              <a:avLst/>
              <a:gdLst/>
              <a:ahLst/>
              <a:cxnLst/>
              <a:rect l="l" t="t" r="r" b="b"/>
              <a:pathLst>
                <a:path w="2712720" h="1101089">
                  <a:moveTo>
                    <a:pt x="0" y="0"/>
                  </a:moveTo>
                  <a:lnTo>
                    <a:pt x="2712674" y="0"/>
                  </a:lnTo>
                  <a:lnTo>
                    <a:pt x="2712674" y="1100617"/>
                  </a:lnTo>
                  <a:lnTo>
                    <a:pt x="0" y="1100617"/>
                  </a:lnTo>
                  <a:lnTo>
                    <a:pt x="0" y="0"/>
                  </a:lnTo>
                  <a:close/>
                </a:path>
              </a:pathLst>
            </a:custGeom>
            <a:ln w="10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92182" y="320487"/>
            <a:ext cx="109033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latin typeface="Arial"/>
                <a:cs typeface="Arial"/>
              </a:rPr>
              <a:t>An</a:t>
            </a:r>
            <a:r>
              <a:rPr sz="1500" b="1" spc="-9" dirty="0">
                <a:latin typeface="Arial"/>
                <a:cs typeface="Arial"/>
              </a:rPr>
              <a:t> example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8E5995C-83A8-0D9A-2E23-3EB86E65C66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7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565171"/>
            <a:ext cx="5183740" cy="578891"/>
          </a:xfrm>
          <a:prstGeom prst="rect">
            <a:avLst/>
          </a:prstGeom>
        </p:spPr>
        <p:txBody>
          <a:bodyPr vert="horz" wrap="square" lIns="0" tIns="116092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An</a:t>
            </a:r>
            <a:r>
              <a:rPr spc="-18" dirty="0"/>
              <a:t> </a:t>
            </a:r>
            <a:r>
              <a:rPr spc="-9" dirty="0"/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2091" y="3242221"/>
            <a:ext cx="7451980" cy="2670942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3145" indent="-267835">
              <a:lnSpc>
                <a:spcPct val="110000"/>
              </a:lnSpc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Second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MUL.D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cannot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issued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structural </a:t>
            </a:r>
            <a:r>
              <a:rPr sz="2400" dirty="0">
                <a:latin typeface="Calibri"/>
                <a:cs typeface="Calibri"/>
              </a:rPr>
              <a:t>hazard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(assuming</a:t>
            </a:r>
            <a:r>
              <a:rPr sz="2400" b="1" spc="5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only</a:t>
            </a:r>
            <a:r>
              <a:rPr sz="2400" b="1" spc="62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</a:t>
            </a:r>
            <a:r>
              <a:rPr sz="2400" b="1" spc="5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multiply</a:t>
            </a:r>
            <a:r>
              <a:rPr sz="2400" b="1" spc="62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unit)</a:t>
            </a:r>
            <a:endParaRPr sz="2400" b="1" dirty="0">
              <a:latin typeface="Calibri"/>
              <a:cs typeface="Calibri"/>
            </a:endParaRPr>
          </a:p>
          <a:p>
            <a:pPr marL="278481" marR="4483" indent="-267835">
              <a:lnSpc>
                <a:spcPct val="110000"/>
              </a:lnSpc>
              <a:spcBef>
                <a:spcPts val="909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ADD.D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F1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before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MUL.D </a:t>
            </a:r>
            <a:r>
              <a:rPr sz="2400" dirty="0">
                <a:latin typeface="Calibri"/>
                <a:cs typeface="Calibri"/>
              </a:rPr>
              <a:t>read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F1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ADD.D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lang="en-US" sz="2400" spc="40" dirty="0">
                <a:latin typeface="Calibri"/>
                <a:cs typeface="Calibri"/>
              </a:rPr>
              <a:t>to </a:t>
            </a:r>
            <a:r>
              <a:rPr sz="2400" spc="-9" dirty="0">
                <a:latin typeface="Calibri"/>
                <a:cs typeface="Calibri"/>
              </a:rPr>
              <a:t>continue</a:t>
            </a:r>
            <a:endParaRPr sz="2400" dirty="0">
              <a:latin typeface="Calibri"/>
              <a:cs typeface="Calibri"/>
            </a:endParaRPr>
          </a:p>
          <a:p>
            <a:pPr marL="653338" marR="80126" indent="-214044">
              <a:lnSpc>
                <a:spcPct val="110000"/>
              </a:lnSpc>
              <a:spcBef>
                <a:spcPts val="609"/>
              </a:spcBef>
            </a:pPr>
            <a:r>
              <a:rPr lang="en-US" sz="2200" b="1" dirty="0">
                <a:latin typeface="Calibri"/>
                <a:cs typeface="Calibri"/>
              </a:rPr>
              <a:t>Q.</a:t>
            </a:r>
            <a:r>
              <a:rPr lang="en-US" sz="2200" dirty="0">
                <a:latin typeface="Calibri"/>
                <a:cs typeface="Calibri"/>
              </a:rPr>
              <a:t> B</a:t>
            </a:r>
            <a:r>
              <a:rPr sz="2200" dirty="0">
                <a:latin typeface="Calibri"/>
                <a:cs typeface="Calibri"/>
              </a:rPr>
              <a:t>ut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what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ADD.D write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into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F6? </a:t>
            </a:r>
            <a:endParaRPr lang="en-US" sz="2200" dirty="0">
              <a:latin typeface="Calibri"/>
              <a:cs typeface="Calibri"/>
            </a:endParaRPr>
          </a:p>
          <a:p>
            <a:pPr marL="653338" marR="80126" indent="-214044">
              <a:lnSpc>
                <a:spcPct val="110000"/>
              </a:lnSpc>
              <a:spcBef>
                <a:spcPts val="609"/>
              </a:spcBef>
            </a:pPr>
            <a:r>
              <a:rPr lang="en-US" sz="2200" b="1" dirty="0">
                <a:latin typeface="Calibri"/>
                <a:cs typeface="Calibri"/>
              </a:rPr>
              <a:t>A.</a:t>
            </a:r>
            <a:r>
              <a:rPr lang="en-US" sz="22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 continue before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 </a:t>
            </a:r>
            <a:r>
              <a:rPr sz="2200" spc="-9" dirty="0">
                <a:latin typeface="Calibri"/>
                <a:cs typeface="Calibri"/>
              </a:rPr>
              <a:t>second MUL.D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88713" y="1576396"/>
            <a:ext cx="3366574" cy="1233490"/>
            <a:chOff x="2670529" y="1722952"/>
            <a:chExt cx="4201795" cy="17018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71678" y="1899590"/>
              <a:ext cx="3759519" cy="12500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70529" y="1722952"/>
              <a:ext cx="4201795" cy="1701800"/>
            </a:xfrm>
            <a:custGeom>
              <a:avLst/>
              <a:gdLst/>
              <a:ahLst/>
              <a:cxnLst/>
              <a:rect l="l" t="t" r="r" b="b"/>
              <a:pathLst>
                <a:path w="4201795" h="1701800">
                  <a:moveTo>
                    <a:pt x="0" y="0"/>
                  </a:moveTo>
                  <a:lnTo>
                    <a:pt x="4201612" y="0"/>
                  </a:lnTo>
                  <a:lnTo>
                    <a:pt x="4201612" y="1701417"/>
                  </a:lnTo>
                  <a:lnTo>
                    <a:pt x="0" y="1701417"/>
                  </a:lnTo>
                  <a:lnTo>
                    <a:pt x="0" y="0"/>
                  </a:lnTo>
                  <a:close/>
                </a:path>
              </a:pathLst>
            </a:custGeom>
            <a:ln w="10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FD4C5184-4D50-23C1-A73E-23BD708B7D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8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565171"/>
            <a:ext cx="7047071" cy="578891"/>
          </a:xfrm>
          <a:prstGeom prst="rect">
            <a:avLst/>
          </a:prstGeom>
        </p:spPr>
        <p:txBody>
          <a:bodyPr vert="horz" wrap="square" lIns="0" tIns="116092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Functional</a:t>
            </a:r>
            <a:r>
              <a:rPr spc="-35" dirty="0"/>
              <a:t> </a:t>
            </a:r>
            <a:r>
              <a:rPr dirty="0"/>
              <a:t>Units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spc="-9" dirty="0"/>
              <a:t>Scoreboarding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0" y="1249278"/>
            <a:ext cx="7478875" cy="4347872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342358" indent="-331151">
              <a:spcBef>
                <a:spcPts val="644"/>
              </a:spcBef>
              <a:buChar char="•"/>
              <a:tabLst>
                <a:tab pos="342358" algn="l"/>
              </a:tabLst>
            </a:pPr>
            <a:r>
              <a:rPr sz="2400" dirty="0">
                <a:latin typeface="Calibri"/>
                <a:cs typeface="Calibri"/>
              </a:rPr>
              <a:t>Assume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processor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various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functional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units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24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1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 ALU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(for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memory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ref, branch,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integer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ops),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379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2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FP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multiply</a:t>
            </a:r>
            <a:r>
              <a:rPr sz="2200" spc="-9" dirty="0">
                <a:latin typeface="Calibri"/>
                <a:cs typeface="Calibri"/>
              </a:rPr>
              <a:t> units,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361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1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FP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adder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unit,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and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468"/>
              </a:spcBef>
              <a:spcAft>
                <a:spcPts val="600"/>
              </a:spcAft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1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FP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divide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unit</a:t>
            </a:r>
            <a:endParaRPr sz="2200" dirty="0">
              <a:latin typeface="Calibri"/>
              <a:cs typeface="Calibri"/>
            </a:endParaRPr>
          </a:p>
          <a:p>
            <a:pPr marL="278481" indent="-267275">
              <a:spcBef>
                <a:spcPts val="547"/>
              </a:spcBef>
              <a:spcAft>
                <a:spcPts val="18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Idea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try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keep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units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busy</a:t>
            </a:r>
            <a:endParaRPr sz="2206" dirty="0">
              <a:latin typeface="Calibri"/>
              <a:cs typeface="Calibri"/>
            </a:endParaRPr>
          </a:p>
          <a:p>
            <a:pPr marL="278481" indent="-267275">
              <a:buChar char="•"/>
              <a:tabLst>
                <a:tab pos="278481" algn="l"/>
              </a:tabLst>
            </a:pPr>
            <a:r>
              <a:rPr sz="2400" spc="-9" dirty="0">
                <a:latin typeface="Calibri"/>
                <a:cs typeface="Calibri"/>
              </a:rPr>
              <a:t>CDC6600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46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4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FP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units,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5 memory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units, 7 </a:t>
            </a:r>
            <a:r>
              <a:rPr sz="2200" spc="-22" dirty="0">
                <a:latin typeface="Calibri"/>
                <a:cs typeface="Calibri"/>
              </a:rPr>
              <a:t>ALU</a:t>
            </a:r>
            <a:endParaRPr sz="2200" dirty="0">
              <a:latin typeface="Calibri"/>
              <a:cs typeface="Calibri"/>
            </a:endParaRPr>
          </a:p>
          <a:p>
            <a:pPr marL="278481" indent="-267275">
              <a:spcBef>
                <a:spcPts val="468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On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MIPS,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24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Scoreboard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makes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sense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primarily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FP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unit.</a:t>
            </a:r>
            <a:r>
              <a:rPr sz="2200" spc="-18" dirty="0">
                <a:latin typeface="Calibri"/>
                <a:cs typeface="Calibri"/>
              </a:rPr>
              <a:t> Why?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1417C1-41DE-D282-1D9D-EE479D18FA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9</a:t>
            </a:fld>
            <a:endParaRPr lang="en-US" spc="-4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451" y="665180"/>
            <a:ext cx="6122894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Basic</a:t>
            </a:r>
            <a:r>
              <a:rPr spc="-44" dirty="0"/>
              <a:t> </a:t>
            </a:r>
            <a:r>
              <a:rPr dirty="0"/>
              <a:t>MIPS</a:t>
            </a:r>
            <a:r>
              <a:rPr spc="-35" dirty="0"/>
              <a:t> </a:t>
            </a:r>
            <a:r>
              <a:rPr dirty="0"/>
              <a:t>Structure</a:t>
            </a:r>
            <a:r>
              <a:rPr spc="-49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9" dirty="0"/>
              <a:t>Scoreboard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8504" y="1325707"/>
            <a:ext cx="5746992" cy="553229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BBF877-87F6-2DFB-1D9D-6657EA83E0C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10</a:t>
            </a:fld>
            <a:endParaRPr lang="en-US" spc="-4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565171"/>
            <a:ext cx="5881801" cy="578891"/>
          </a:xfrm>
          <a:prstGeom prst="rect">
            <a:avLst/>
          </a:prstGeom>
        </p:spPr>
        <p:txBody>
          <a:bodyPr vert="horz" wrap="square" lIns="0" tIns="116092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Scoreboard</a:t>
            </a:r>
            <a:r>
              <a:rPr lang="en-US" spc="-9" dirty="0"/>
              <a:t>: Instruction Status Table</a:t>
            </a:r>
            <a:endParaRPr spc="-9" dirty="0"/>
          </a:p>
        </p:txBody>
      </p:sp>
      <p:sp>
        <p:nvSpPr>
          <p:cNvPr id="3" name="object 3"/>
          <p:cNvSpPr txBox="1"/>
          <p:nvPr/>
        </p:nvSpPr>
        <p:spPr>
          <a:xfrm>
            <a:off x="1020342" y="1320052"/>
            <a:ext cx="6975101" cy="789017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483" indent="-267835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One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segment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scoreboard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keeps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pipe </a:t>
            </a:r>
            <a:r>
              <a:rPr sz="2400" dirty="0">
                <a:latin typeface="Calibri"/>
                <a:cs typeface="Calibri"/>
              </a:rPr>
              <a:t>stage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Fig.</a:t>
            </a:r>
            <a:r>
              <a:rPr sz="2400" spc="26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C.55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330804"/>
              </p:ext>
            </p:extLst>
          </p:nvPr>
        </p:nvGraphicFramePr>
        <p:xfrm>
          <a:off x="537882" y="2299517"/>
          <a:ext cx="8068236" cy="39147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6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2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6104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Instruction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417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Issue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41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835" marR="322580" indent="208279">
                        <a:lnSpc>
                          <a:spcPct val="102899"/>
                        </a:lnSpc>
                        <a:spcBef>
                          <a:spcPts val="229"/>
                        </a:spcBef>
                      </a:pP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Read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operands</a:t>
                      </a: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215" marR="264160" indent="-53340">
                        <a:lnSpc>
                          <a:spcPct val="102899"/>
                        </a:lnSpc>
                        <a:spcBef>
                          <a:spcPts val="229"/>
                        </a:spcBef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Execution complete</a:t>
                      </a: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9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41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36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L.D</a:t>
                      </a:r>
                      <a:r>
                        <a:rPr sz="1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F6,34(R2)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61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61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61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61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61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48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L.D</a:t>
                      </a:r>
                      <a:r>
                        <a:rPr sz="1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F2,</a:t>
                      </a:r>
                      <a:r>
                        <a:rPr sz="19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45(R3)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48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MUL.D</a:t>
                      </a:r>
                      <a:r>
                        <a:rPr sz="19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F0,F2,F4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61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61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48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SUB.D</a:t>
                      </a:r>
                      <a:r>
                        <a:rPr sz="19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F8,F6,F2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36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DIV.D</a:t>
                      </a:r>
                      <a:r>
                        <a:rPr sz="19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F10,F0,F6</a:t>
                      </a: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2497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249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48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ADD.D</a:t>
                      </a:r>
                      <a:r>
                        <a:rPr sz="19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F6,F8,F2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F36F369A-309C-1875-4E1B-1159E13B27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11</a:t>
            </a:fld>
            <a:endParaRPr lang="en-US" spc="-4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D05983-09A5-C8C8-EC7B-3B70AB619FF6}"/>
              </a:ext>
            </a:extLst>
          </p:cNvPr>
          <p:cNvSpPr txBox="1"/>
          <p:nvPr/>
        </p:nvSpPr>
        <p:spPr>
          <a:xfrm>
            <a:off x="2221892" y="628074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Instruction Status Table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565171"/>
            <a:ext cx="5878674" cy="578891"/>
          </a:xfrm>
          <a:prstGeom prst="rect">
            <a:avLst/>
          </a:prstGeom>
        </p:spPr>
        <p:txBody>
          <a:bodyPr vert="horz" wrap="square" lIns="0" tIns="116092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dirty="0"/>
              <a:t>Scoreboard: </a:t>
            </a:r>
            <a:r>
              <a:rPr dirty="0"/>
              <a:t>Functional</a:t>
            </a:r>
            <a:r>
              <a:rPr spc="-75" dirty="0"/>
              <a:t> </a:t>
            </a:r>
            <a:r>
              <a:rPr spc="-9" dirty="0"/>
              <a:t>Unit</a:t>
            </a:r>
            <a:r>
              <a:rPr lang="en-US" spc="-9" dirty="0"/>
              <a:t> Status</a:t>
            </a:r>
            <a:endParaRPr spc="-9" dirty="0"/>
          </a:p>
        </p:txBody>
      </p:sp>
      <p:sp>
        <p:nvSpPr>
          <p:cNvPr id="3" name="object 3"/>
          <p:cNvSpPr txBox="1"/>
          <p:nvPr/>
        </p:nvSpPr>
        <p:spPr>
          <a:xfrm>
            <a:off x="912091" y="1320052"/>
            <a:ext cx="7478874" cy="4767029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483" indent="-267835">
              <a:spcBef>
                <a:spcPts val="393"/>
              </a:spcBef>
              <a:spcAft>
                <a:spcPts val="6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One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segment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scoreboard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keeps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of,</a:t>
            </a:r>
            <a:r>
              <a:rPr sz="2400" spc="53" dirty="0">
                <a:latin typeface="Calibri"/>
                <a:cs typeface="Calibri"/>
              </a:rPr>
              <a:t> </a:t>
            </a:r>
            <a:br>
              <a:rPr lang="en-US" sz="2400" spc="53" dirty="0">
                <a:latin typeface="Calibri"/>
                <a:cs typeface="Calibri"/>
              </a:rPr>
            </a:br>
            <a:r>
              <a:rPr sz="2400" dirty="0">
                <a:latin typeface="Calibri"/>
                <a:cs typeface="Calibri"/>
              </a:rPr>
              <a:t>for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each </a:t>
            </a:r>
            <a:r>
              <a:rPr sz="2400" dirty="0">
                <a:latin typeface="Calibri"/>
                <a:cs typeface="Calibri"/>
              </a:rPr>
              <a:t>functional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unit: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10"/>
              </a:spcBef>
              <a:buChar char="–"/>
              <a:tabLst>
                <a:tab pos="651657" algn="l"/>
              </a:tabLst>
            </a:pPr>
            <a:r>
              <a:rPr sz="2200" b="1" dirty="0">
                <a:latin typeface="Calibri"/>
                <a:cs typeface="Calibri"/>
              </a:rPr>
              <a:t>Busy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(yes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no)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361"/>
              </a:spcBef>
              <a:spcAft>
                <a:spcPts val="2400"/>
              </a:spcAft>
              <a:buChar char="–"/>
              <a:tabLst>
                <a:tab pos="651657" algn="l"/>
              </a:tabLst>
            </a:pPr>
            <a:r>
              <a:rPr sz="2200" b="1" dirty="0">
                <a:latin typeface="Calibri"/>
                <a:cs typeface="Calibri"/>
              </a:rPr>
              <a:t>Op: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operation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9" dirty="0">
                <a:latin typeface="Calibri"/>
                <a:cs typeface="Calibri"/>
              </a:rPr>
              <a:t> perform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buChar char="–"/>
              <a:tabLst>
                <a:tab pos="651657" algn="l"/>
              </a:tabLst>
            </a:pPr>
            <a:r>
              <a:rPr sz="2200" b="1" dirty="0">
                <a:latin typeface="Calibri"/>
                <a:cs typeface="Calibri"/>
              </a:rPr>
              <a:t>Fi: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name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destination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register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446"/>
              </a:spcBef>
              <a:spcAft>
                <a:spcPts val="2400"/>
              </a:spcAft>
              <a:buChar char="–"/>
              <a:tabLst>
                <a:tab pos="651657" algn="l"/>
              </a:tabLst>
            </a:pPr>
            <a:r>
              <a:rPr sz="2200" b="1" dirty="0">
                <a:latin typeface="Calibri"/>
                <a:cs typeface="Calibri"/>
              </a:rPr>
              <a:t>Fj, Fk: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names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 source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registers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Aft>
                <a:spcPts val="2400"/>
              </a:spcAft>
              <a:buChar char="–"/>
              <a:tabLst>
                <a:tab pos="651657" algn="l"/>
              </a:tabLst>
            </a:pPr>
            <a:r>
              <a:rPr sz="2200" b="1" dirty="0">
                <a:latin typeface="Calibri"/>
                <a:cs typeface="Calibri"/>
              </a:rPr>
              <a:t>Qj,</a:t>
            </a:r>
            <a:r>
              <a:rPr sz="2200" b="1" spc="-9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Qk:</a:t>
            </a:r>
            <a:r>
              <a:rPr sz="2200" dirty="0">
                <a:latin typeface="Calibri"/>
                <a:cs typeface="Calibri"/>
              </a:rPr>
              <a:t> functional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units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producing the </a:t>
            </a:r>
            <a:r>
              <a:rPr sz="2200" spc="-9" dirty="0">
                <a:latin typeface="Calibri"/>
                <a:cs typeface="Calibri"/>
              </a:rPr>
              <a:t>sources</a:t>
            </a:r>
            <a:r>
              <a:rPr lang="en-US" sz="2200" spc="-9" dirty="0">
                <a:latin typeface="Calibri"/>
                <a:cs typeface="Calibri"/>
              </a:rPr>
              <a:t> </a:t>
            </a:r>
            <a:r>
              <a:rPr lang="en-US" sz="2200" b="1" spc="-9" dirty="0">
                <a:latin typeface="Calibri"/>
                <a:cs typeface="Calibri"/>
              </a:rPr>
              <a:t>Fj</a:t>
            </a:r>
            <a:r>
              <a:rPr lang="en-US" sz="2200" spc="-9" dirty="0">
                <a:latin typeface="Calibri"/>
                <a:cs typeface="Calibri"/>
              </a:rPr>
              <a:t> and </a:t>
            </a:r>
            <a:r>
              <a:rPr lang="en-US" sz="2200" b="1" spc="-9" dirty="0" err="1">
                <a:latin typeface="Calibri"/>
                <a:cs typeface="Calibri"/>
              </a:rPr>
              <a:t>Fk</a:t>
            </a:r>
            <a:r>
              <a:rPr lang="en-US" sz="2200" spc="-9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buChar char="–"/>
              <a:tabLst>
                <a:tab pos="651657" algn="l"/>
              </a:tabLst>
            </a:pPr>
            <a:r>
              <a:rPr sz="2200" b="1" dirty="0">
                <a:latin typeface="Calibri"/>
                <a:cs typeface="Calibri"/>
              </a:rPr>
              <a:t>Rj,</a:t>
            </a:r>
            <a:r>
              <a:rPr sz="2200" b="1" spc="-4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Rk:</a:t>
            </a:r>
            <a:r>
              <a:rPr sz="2200" dirty="0">
                <a:latin typeface="Calibri"/>
                <a:cs typeface="Calibri"/>
              </a:rPr>
              <a:t> ready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flags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when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Fj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 </a:t>
            </a:r>
            <a:r>
              <a:rPr sz="2200" b="1" spc="-22" dirty="0" err="1">
                <a:latin typeface="Calibri"/>
                <a:cs typeface="Calibri"/>
              </a:rPr>
              <a:t>Fk</a:t>
            </a:r>
            <a:r>
              <a:rPr lang="en-US" sz="2200" spc="-22" dirty="0">
                <a:latin typeface="Calibri"/>
                <a:cs typeface="Calibri"/>
              </a:rPr>
              <a:t> are ready and unread</a:t>
            </a:r>
            <a:r>
              <a:rPr sz="2200" spc="-22" dirty="0">
                <a:latin typeface="Calibri"/>
                <a:cs typeface="Calibri"/>
              </a:rPr>
              <a:t>:</a:t>
            </a:r>
            <a:endParaRPr sz="2200" dirty="0">
              <a:latin typeface="Calibri"/>
              <a:cs typeface="Calibri"/>
            </a:endParaRPr>
          </a:p>
          <a:p>
            <a:pPr marL="867382">
              <a:spcBef>
                <a:spcPts val="379"/>
              </a:spcBef>
            </a:pPr>
            <a:r>
              <a:rPr sz="2200" dirty="0">
                <a:latin typeface="Calibri"/>
                <a:cs typeface="Calibri"/>
              </a:rPr>
              <a:t>»</a:t>
            </a:r>
            <a:r>
              <a:rPr sz="2200" spc="4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"yes" if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source is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ready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 still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need </a:t>
            </a:r>
            <a:r>
              <a:rPr sz="2200" spc="-22" dirty="0">
                <a:latin typeface="Calibri"/>
                <a:cs typeface="Calibri"/>
              </a:rPr>
              <a:t>it</a:t>
            </a:r>
            <a:endParaRPr sz="2200" dirty="0">
              <a:latin typeface="Calibri"/>
              <a:cs typeface="Calibri"/>
            </a:endParaRPr>
          </a:p>
          <a:p>
            <a:pPr marL="867382">
              <a:spcBef>
                <a:spcPts val="468"/>
              </a:spcBef>
            </a:pPr>
            <a:r>
              <a:rPr sz="2200" dirty="0">
                <a:latin typeface="Calibri"/>
                <a:cs typeface="Calibri"/>
              </a:rPr>
              <a:t>»</a:t>
            </a:r>
            <a:r>
              <a:rPr sz="2200" spc="41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"no"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 the source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ready, or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 no longer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need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it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C3F2BA-9756-9C8E-41B2-CD49EE4284C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12</a:t>
            </a:fld>
            <a:endParaRPr lang="en-US" spc="-4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565171"/>
            <a:ext cx="5838333" cy="578891"/>
          </a:xfrm>
          <a:prstGeom prst="rect">
            <a:avLst/>
          </a:prstGeom>
        </p:spPr>
        <p:txBody>
          <a:bodyPr vert="horz" wrap="square" lIns="0" tIns="116092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dirty="0"/>
              <a:t>Scoreboard: Functional</a:t>
            </a:r>
            <a:r>
              <a:rPr lang="en-US" spc="-75" dirty="0"/>
              <a:t> </a:t>
            </a:r>
            <a:r>
              <a:rPr lang="en-US" spc="-9" dirty="0"/>
              <a:t>Unit Status</a:t>
            </a:r>
            <a:endParaRPr spc="-9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286667"/>
              </p:ext>
            </p:extLst>
          </p:nvPr>
        </p:nvGraphicFramePr>
        <p:xfrm>
          <a:off x="777385" y="1363577"/>
          <a:ext cx="7705161" cy="38032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98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92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8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55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98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34253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417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Busy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41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Op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41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Fi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41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Fj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41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Fk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41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Qj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41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Qk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41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Rj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41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Rk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41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132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Integer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Load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R3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spc="-25" dirty="0">
                          <a:solidFill>
                            <a:srgbClr val="0099FF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37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253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Mult1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Mult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Integer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253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Mult2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132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Add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Sub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F8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F6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Integer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305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4253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Divide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Div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F10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F6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900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Mult1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900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93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B87443-E3AA-5AA9-1433-86317CBFA810}"/>
              </a:ext>
            </a:extLst>
          </p:cNvPr>
          <p:cNvSpPr txBox="1"/>
          <p:nvPr/>
        </p:nvSpPr>
        <p:spPr>
          <a:xfrm>
            <a:off x="777385" y="5386368"/>
            <a:ext cx="60593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Fi:</a:t>
            </a:r>
            <a:r>
              <a:rPr lang="en-US" sz="2000" dirty="0"/>
              <a:t> name of destination register</a:t>
            </a:r>
          </a:p>
          <a:p>
            <a:r>
              <a:rPr lang="en-US" sz="2000" b="1" dirty="0"/>
              <a:t>Fj, </a:t>
            </a:r>
            <a:r>
              <a:rPr lang="en-US" sz="2000" b="1" dirty="0" err="1"/>
              <a:t>Fk</a:t>
            </a:r>
            <a:r>
              <a:rPr lang="en-US" sz="2000" b="1" dirty="0"/>
              <a:t>:</a:t>
            </a:r>
            <a:r>
              <a:rPr lang="en-US" sz="2000" dirty="0"/>
              <a:t> names of source registers</a:t>
            </a:r>
          </a:p>
          <a:p>
            <a:r>
              <a:rPr lang="en-US" sz="2000" b="1" dirty="0" err="1"/>
              <a:t>Qj</a:t>
            </a:r>
            <a:r>
              <a:rPr lang="en-US" sz="2000" b="1" dirty="0"/>
              <a:t>, </a:t>
            </a:r>
            <a:r>
              <a:rPr lang="en-US" sz="2000" b="1" dirty="0" err="1"/>
              <a:t>Qk</a:t>
            </a:r>
            <a:r>
              <a:rPr lang="en-US" sz="2000" b="1" dirty="0"/>
              <a:t>:</a:t>
            </a:r>
            <a:r>
              <a:rPr lang="en-US" sz="2000" dirty="0"/>
              <a:t> functional units producing the sources Fj and </a:t>
            </a:r>
            <a:r>
              <a:rPr lang="en-US" sz="2000" dirty="0" err="1"/>
              <a:t>Fk</a:t>
            </a:r>
            <a:endParaRPr lang="en-US" sz="2000" dirty="0"/>
          </a:p>
          <a:p>
            <a:r>
              <a:rPr lang="en-US" sz="2000" b="1" dirty="0" err="1"/>
              <a:t>Rj</a:t>
            </a:r>
            <a:r>
              <a:rPr lang="en-US" sz="2000" b="1" dirty="0"/>
              <a:t>, </a:t>
            </a:r>
            <a:r>
              <a:rPr lang="en-US" sz="2000" b="1" dirty="0" err="1"/>
              <a:t>Rk</a:t>
            </a:r>
            <a:r>
              <a:rPr lang="en-US" sz="2000" b="1" dirty="0"/>
              <a:t>:</a:t>
            </a:r>
            <a:r>
              <a:rPr lang="en-US" sz="2000" dirty="0"/>
              <a:t> ready flags when Fj and </a:t>
            </a:r>
            <a:r>
              <a:rPr lang="en-US" sz="2000" dirty="0" err="1"/>
              <a:t>Fk</a:t>
            </a:r>
            <a:r>
              <a:rPr lang="en-US" sz="2000" dirty="0"/>
              <a:t> are ready and unread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CDB4F18-AA84-ED75-69E2-03EE0B9E655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13</a:t>
            </a:fld>
            <a:endParaRPr lang="en-US" spc="-4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5212" y="228602"/>
            <a:ext cx="5477434" cy="298037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2091" y="565171"/>
            <a:ext cx="5183740" cy="578891"/>
          </a:xfrm>
          <a:prstGeom prst="rect">
            <a:avLst/>
          </a:prstGeom>
        </p:spPr>
        <p:txBody>
          <a:bodyPr vert="horz" wrap="square" lIns="0" tIns="116092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Register</a:t>
            </a:r>
            <a:r>
              <a:rPr spc="-40" dirty="0"/>
              <a:t> </a:t>
            </a:r>
            <a:r>
              <a:rPr spc="-9" dirty="0"/>
              <a:t>Status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1963" y="3428548"/>
            <a:ext cx="7714495" cy="778268"/>
          </a:xfrm>
          <a:prstGeom prst="rect">
            <a:avLst/>
          </a:prstGeom>
        </p:spPr>
        <p:txBody>
          <a:bodyPr vert="horz" wrap="square" lIns="0" tIns="39221" rIns="0" bIns="0" rtlCol="0">
            <a:spAutoFit/>
          </a:bodyPr>
          <a:lstStyle/>
          <a:p>
            <a:pPr marL="278481" marR="4483" indent="-267835">
              <a:spcBef>
                <a:spcPts val="309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One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segment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scoreboard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keeps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which </a:t>
            </a:r>
            <a:r>
              <a:rPr sz="2400" dirty="0">
                <a:latin typeface="Calibri"/>
                <a:cs typeface="Calibri"/>
              </a:rPr>
              <a:t>registers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expecting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functional units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1964" y="5477884"/>
            <a:ext cx="7504986" cy="38064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78481" indent="-267275">
              <a:spcBef>
                <a:spcPts val="88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Next,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scoreboard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method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153878"/>
              </p:ext>
            </p:extLst>
          </p:nvPr>
        </p:nvGraphicFramePr>
        <p:xfrm>
          <a:off x="931964" y="4426384"/>
          <a:ext cx="7416609" cy="8903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2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3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12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12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75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66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12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12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749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F6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F8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F10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F12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F30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393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FU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Mult1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Integer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Add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Divide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193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57FE4E12-0BFB-5A98-3DF9-5E25F36A8A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14</a:t>
            </a:fld>
            <a:endParaRPr lang="en-US" spc="-4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551724"/>
            <a:ext cx="5183740" cy="589755"/>
          </a:xfrm>
          <a:prstGeom prst="rect">
            <a:avLst/>
          </a:prstGeom>
        </p:spPr>
        <p:txBody>
          <a:bodyPr vert="horz" wrap="square" lIns="0" tIns="126851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Scoreboard</a:t>
            </a:r>
            <a:r>
              <a:rPr spc="-97" dirty="0">
                <a:latin typeface="Arial MT"/>
                <a:cs typeface="Arial MT"/>
              </a:rPr>
              <a:t> </a:t>
            </a:r>
            <a:r>
              <a:rPr spc="-9" dirty="0">
                <a:latin typeface="Arial MT"/>
                <a:cs typeface="Arial MT"/>
              </a:rPr>
              <a:t>Bookkeeping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96057" y="3646608"/>
            <a:ext cx="4308960" cy="68842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00" b="1" dirty="0">
                <a:latin typeface="Arial"/>
                <a:cs typeface="Arial"/>
              </a:rPr>
              <a:t>And</a:t>
            </a:r>
            <a:r>
              <a:rPr sz="2200" b="1" spc="-44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we’ll</a:t>
            </a:r>
            <a:r>
              <a:rPr sz="2200" b="1" spc="-31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assume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these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initial</a:t>
            </a:r>
            <a:r>
              <a:rPr sz="2200" b="1" spc="-31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register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contents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and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spc="-9" dirty="0">
                <a:latin typeface="Arial"/>
                <a:cs typeface="Arial"/>
              </a:rPr>
              <a:t>flags:</a:t>
            </a:r>
            <a:endParaRPr sz="22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075837"/>
              </p:ext>
            </p:extLst>
          </p:nvPr>
        </p:nvGraphicFramePr>
        <p:xfrm>
          <a:off x="2017394" y="4503506"/>
          <a:ext cx="5373647" cy="14714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1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7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1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17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17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17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04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F0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907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F2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907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F4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07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F6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07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F8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07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F10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07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F12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07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F14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07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4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020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020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020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6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9020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020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020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020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14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020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4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506501"/>
              </p:ext>
            </p:extLst>
          </p:nvPr>
        </p:nvGraphicFramePr>
        <p:xfrm>
          <a:off x="2057399" y="1869202"/>
          <a:ext cx="3684494" cy="4904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5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05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0494"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b="1" spc="-20" dirty="0">
                          <a:latin typeface="Arial"/>
                          <a:cs typeface="Arial"/>
                        </a:rPr>
                        <a:t>Unit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907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Opn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907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Fj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907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Fk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07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Qj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907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Qk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907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017394" y="3043886"/>
            <a:ext cx="922695" cy="457200"/>
          </a:xfrm>
          <a:prstGeom prst="rect">
            <a:avLst/>
          </a:prstGeom>
          <a:solidFill>
            <a:srgbClr val="FF00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marL="258309">
              <a:spcBef>
                <a:spcPts val="715"/>
              </a:spcBef>
            </a:pPr>
            <a:r>
              <a:rPr b="1" spc="-18" dirty="0">
                <a:latin typeface="Arial"/>
                <a:cs typeface="Arial"/>
              </a:rPr>
              <a:t>Inst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40089" y="3041461"/>
            <a:ext cx="922695" cy="457200"/>
          </a:xfrm>
          <a:prstGeom prst="rect">
            <a:avLst/>
          </a:prstGeom>
          <a:solidFill>
            <a:srgbClr val="FF00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marL="169218">
              <a:spcBef>
                <a:spcPts val="715"/>
              </a:spcBef>
            </a:pPr>
            <a:r>
              <a:rPr b="1" spc="-9" dirty="0">
                <a:latin typeface="Arial"/>
                <a:cs typeface="Arial"/>
              </a:rPr>
              <a:t>Stage</a:t>
            </a:r>
            <a:endParaRPr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6057" y="1363980"/>
            <a:ext cx="5738459" cy="34987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00" b="1" dirty="0">
                <a:latin typeface="Arial"/>
                <a:cs typeface="Arial"/>
              </a:rPr>
              <a:t>Each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functional</a:t>
            </a:r>
            <a:r>
              <a:rPr sz="2200" b="1" spc="-31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unit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keeps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track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spc="-22" dirty="0">
                <a:latin typeface="Arial"/>
                <a:cs typeface="Arial"/>
              </a:rPr>
              <a:t>of: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6058" y="2576905"/>
            <a:ext cx="5738458" cy="34987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00" b="1" dirty="0">
                <a:latin typeface="Arial"/>
                <a:cs typeface="Arial"/>
              </a:rPr>
              <a:t>For</a:t>
            </a:r>
            <a:r>
              <a:rPr sz="2200" b="1" spc="-18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our</a:t>
            </a:r>
            <a:r>
              <a:rPr sz="2200" b="1" spc="-18" dirty="0">
                <a:latin typeface="Arial"/>
                <a:cs typeface="Arial"/>
              </a:rPr>
              <a:t> </a:t>
            </a:r>
            <a:r>
              <a:rPr sz="2200" b="1" spc="-9" dirty="0">
                <a:latin typeface="Arial"/>
                <a:cs typeface="Arial"/>
              </a:rPr>
              <a:t>convenience,</a:t>
            </a:r>
            <a:r>
              <a:rPr sz="2200" b="1" spc="-18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we’ll</a:t>
            </a:r>
            <a:r>
              <a:rPr sz="2200" b="1" spc="-13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also</a:t>
            </a:r>
            <a:r>
              <a:rPr sz="2200" b="1" spc="-22" dirty="0">
                <a:latin typeface="Arial"/>
                <a:cs typeface="Arial"/>
              </a:rPr>
              <a:t> </a:t>
            </a:r>
            <a:r>
              <a:rPr sz="2200" b="1" spc="-9" dirty="0">
                <a:latin typeface="Arial"/>
                <a:cs typeface="Arial"/>
              </a:rPr>
              <a:t>indicate: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37E8E3E2-D9E1-D370-C681-C8BFC446F9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15</a:t>
            </a:fld>
            <a:endParaRPr lang="en-US" spc="-4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565171"/>
            <a:ext cx="5183740" cy="578891"/>
          </a:xfrm>
          <a:prstGeom prst="rect">
            <a:avLst/>
          </a:prstGeom>
        </p:spPr>
        <p:txBody>
          <a:bodyPr vert="horz" wrap="square" lIns="0" tIns="116092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Scoreboard</a:t>
            </a:r>
            <a:r>
              <a:rPr spc="-26" dirty="0"/>
              <a:t> </a:t>
            </a:r>
            <a:r>
              <a:rPr dirty="0"/>
              <a:t>–</a:t>
            </a:r>
            <a:r>
              <a:rPr spc="-22" dirty="0"/>
              <a:t> </a:t>
            </a:r>
            <a:r>
              <a:rPr dirty="0"/>
              <a:t>Initial</a:t>
            </a:r>
            <a:r>
              <a:rPr spc="-22" dirty="0"/>
              <a:t> </a:t>
            </a:r>
            <a:r>
              <a:rPr spc="-9" dirty="0"/>
              <a:t>State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72271" y="2206089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352326" y="2206089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72271" y="3418938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0" dirty="0">
                          <a:latin typeface="Arial"/>
                          <a:cs typeface="Arial"/>
                        </a:rPr>
                        <a:t>Add1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352326" y="3418938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0" dirty="0">
                          <a:latin typeface="Arial"/>
                          <a:cs typeface="Arial"/>
                        </a:rPr>
                        <a:t>Add2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76729" y="2709955"/>
            <a:ext cx="856129" cy="321920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2858" y="2709955"/>
            <a:ext cx="856129" cy="321920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6784" y="2709955"/>
            <a:ext cx="856129" cy="321920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12914" y="2709955"/>
            <a:ext cx="856129" cy="321920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6729" y="3922806"/>
            <a:ext cx="856129" cy="322487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32858" y="3922806"/>
            <a:ext cx="856129" cy="322487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6784" y="3922806"/>
            <a:ext cx="856129" cy="322487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12914" y="3922806"/>
            <a:ext cx="856129" cy="322487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141841" y="4489099"/>
          <a:ext cx="5136775" cy="1283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2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AD050E-4110-4FC3-5F2F-C556211B64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16</a:t>
            </a:fld>
            <a:endParaRPr lang="en-US" spc="-4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551724"/>
            <a:ext cx="5183740" cy="589755"/>
          </a:xfrm>
          <a:prstGeom prst="rect">
            <a:avLst/>
          </a:prstGeom>
        </p:spPr>
        <p:txBody>
          <a:bodyPr vert="horz" wrap="square" lIns="0" tIns="126851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Time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spc="-44" dirty="0">
                <a:latin typeface="Arial MT"/>
                <a:cs typeface="Arial MT"/>
              </a:rPr>
              <a:t>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794" y="1568450"/>
            <a:ext cx="3995457" cy="355867"/>
          </a:xfrm>
          <a:prstGeom prst="rect">
            <a:avLst/>
          </a:prstGeom>
          <a:solidFill>
            <a:srgbClr val="00FF00"/>
          </a:solidFill>
          <a:ln w="10107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1033237">
              <a:spcBef>
                <a:spcPts val="975"/>
              </a:spcBef>
            </a:pPr>
            <a:r>
              <a:rPr sz="1500" b="1" dirty="0">
                <a:latin typeface="Arial"/>
                <a:cs typeface="Arial"/>
              </a:rPr>
              <a:t>S1:</a:t>
            </a:r>
            <a:r>
              <a:rPr sz="1500" b="1" spc="3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ADD.D</a:t>
            </a:r>
            <a:r>
              <a:rPr sz="1500" b="1" spc="-22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F0,</a:t>
            </a:r>
            <a:r>
              <a:rPr sz="1500" b="1" spc="-1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F2,</a:t>
            </a:r>
            <a:r>
              <a:rPr sz="1500" b="1" spc="-9" dirty="0">
                <a:latin typeface="Arial"/>
                <a:cs typeface="Arial"/>
              </a:rPr>
              <a:t> </a:t>
            </a:r>
            <a:r>
              <a:rPr sz="1500" b="1" spc="-22" dirty="0">
                <a:latin typeface="Arial"/>
                <a:cs typeface="Arial"/>
              </a:rPr>
              <a:t>F4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87673" y="1627541"/>
            <a:ext cx="184056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latin typeface="Arial"/>
                <a:cs typeface="Arial"/>
              </a:rPr>
              <a:t>Assume</a:t>
            </a:r>
            <a:r>
              <a:rPr sz="1500" b="1" spc="-4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2</a:t>
            </a:r>
            <a:r>
              <a:rPr sz="1500" b="1" spc="-4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cycle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spc="-22" dirty="0">
                <a:latin typeface="Arial"/>
                <a:cs typeface="Arial"/>
              </a:rPr>
              <a:t>add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72271" y="2206089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352326" y="2206089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72271" y="3418938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0" dirty="0">
                          <a:latin typeface="Arial"/>
                          <a:cs typeface="Arial"/>
                        </a:rPr>
                        <a:t>Add1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Add.d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352326" y="3418938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0" dirty="0">
                          <a:latin typeface="Arial"/>
                          <a:cs typeface="Arial"/>
                        </a:rPr>
                        <a:t>Add2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576729" y="2709955"/>
            <a:ext cx="856129" cy="321920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2858" y="2709955"/>
            <a:ext cx="856129" cy="321920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6784" y="2709955"/>
            <a:ext cx="856129" cy="321920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12914" y="2709955"/>
            <a:ext cx="856129" cy="321920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6729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22" dirty="0">
                <a:latin typeface="Arial"/>
                <a:cs typeface="Arial"/>
              </a:rPr>
              <a:t>S1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32858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marL="184907">
              <a:spcBef>
                <a:spcPts val="715"/>
              </a:spcBef>
            </a:pPr>
            <a:r>
              <a:rPr sz="1500" b="1" spc="-9" dirty="0">
                <a:latin typeface="Arial"/>
                <a:cs typeface="Arial"/>
              </a:rPr>
              <a:t>Issue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56784" y="3922806"/>
            <a:ext cx="856129" cy="322487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12914" y="3922806"/>
            <a:ext cx="856129" cy="322487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141841" y="4489099"/>
          <a:ext cx="5136775" cy="1283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2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a1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6801266" y="255942"/>
            <a:ext cx="1952065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latin typeface="Arial"/>
                <a:cs typeface="Arial"/>
              </a:rPr>
              <a:t>S1:</a:t>
            </a:r>
            <a:r>
              <a:rPr sz="1500" b="1" spc="3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ADD.D</a:t>
            </a:r>
            <a:r>
              <a:rPr sz="1500" b="1" spc="-22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F0,</a:t>
            </a:r>
            <a:r>
              <a:rPr sz="1500" b="1" spc="-1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F2,</a:t>
            </a:r>
            <a:r>
              <a:rPr sz="1500" b="1" spc="-9" dirty="0">
                <a:latin typeface="Arial"/>
                <a:cs typeface="Arial"/>
              </a:rPr>
              <a:t> </a:t>
            </a:r>
            <a:r>
              <a:rPr sz="1500" b="1" spc="-22" dirty="0">
                <a:latin typeface="Arial"/>
                <a:cs typeface="Arial"/>
              </a:rPr>
              <a:t>F4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E4090100-441B-BC7C-9CFF-16A62006B3A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17</a:t>
            </a:fld>
            <a:endParaRPr lang="en-US" spc="-4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8452" y="675938"/>
            <a:ext cx="1183901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000" dirty="0">
                <a:solidFill>
                  <a:srgbClr val="0332B7"/>
                </a:solidFill>
                <a:latin typeface="Arial MT"/>
                <a:cs typeface="Arial MT"/>
              </a:rPr>
              <a:t>Time</a:t>
            </a:r>
            <a:r>
              <a:rPr sz="3000" spc="-75" dirty="0">
                <a:solidFill>
                  <a:srgbClr val="0332B7"/>
                </a:solidFill>
                <a:latin typeface="Arial MT"/>
                <a:cs typeface="Arial MT"/>
              </a:rPr>
              <a:t> </a:t>
            </a:r>
            <a:r>
              <a:rPr sz="3000" spc="-44" dirty="0">
                <a:solidFill>
                  <a:srgbClr val="0332B7"/>
                </a:solidFill>
                <a:latin typeface="Arial MT"/>
                <a:cs typeface="Arial MT"/>
              </a:rPr>
              <a:t>1</a:t>
            </a:r>
            <a:endParaRPr sz="30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794" y="1568450"/>
            <a:ext cx="3995457" cy="355867"/>
          </a:xfrm>
          <a:prstGeom prst="rect">
            <a:avLst/>
          </a:prstGeom>
          <a:solidFill>
            <a:srgbClr val="00FF00"/>
          </a:solidFill>
          <a:ln w="10107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962076">
              <a:spcBef>
                <a:spcPts val="975"/>
              </a:spcBef>
            </a:pPr>
            <a:r>
              <a:rPr sz="1500" b="1" dirty="0">
                <a:latin typeface="Arial"/>
                <a:cs typeface="Arial"/>
              </a:rPr>
              <a:t>S2:</a:t>
            </a:r>
            <a:r>
              <a:rPr sz="1500" b="1" spc="322" dirty="0">
                <a:latin typeface="Arial"/>
                <a:cs typeface="Arial"/>
              </a:rPr>
              <a:t> </a:t>
            </a:r>
            <a:r>
              <a:rPr sz="1500" b="1" spc="-9" dirty="0">
                <a:latin typeface="Arial"/>
                <a:cs typeface="Arial"/>
              </a:rPr>
              <a:t>MULT.D</a:t>
            </a:r>
            <a:r>
              <a:rPr sz="1500" b="1" spc="31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F2,</a:t>
            </a:r>
            <a:r>
              <a:rPr sz="1500" b="1" spc="-4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F6,</a:t>
            </a:r>
            <a:r>
              <a:rPr sz="1500" b="1" spc="-44" dirty="0">
                <a:latin typeface="Arial"/>
                <a:cs typeface="Arial"/>
              </a:rPr>
              <a:t> </a:t>
            </a:r>
            <a:r>
              <a:rPr sz="1500" b="1" spc="-22" dirty="0">
                <a:latin typeface="Arial"/>
                <a:cs typeface="Arial"/>
              </a:rPr>
              <a:t>F8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44985" y="1627541"/>
            <a:ext cx="1905560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latin typeface="Arial"/>
                <a:cs typeface="Arial"/>
              </a:rPr>
              <a:t>Assume</a:t>
            </a:r>
            <a:r>
              <a:rPr sz="1500" b="1" spc="-4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4</a:t>
            </a:r>
            <a:r>
              <a:rPr sz="1500" b="1" spc="-4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cycle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spc="-18" dirty="0">
                <a:latin typeface="Arial"/>
                <a:cs typeface="Arial"/>
              </a:rPr>
              <a:t>mult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72271" y="2206089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352326" y="2206089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72271" y="3418938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0" dirty="0">
                          <a:latin typeface="Arial"/>
                          <a:cs typeface="Arial"/>
                        </a:rPr>
                        <a:t>Add1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Add.d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352326" y="3418938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0" dirty="0">
                          <a:latin typeface="Arial"/>
                          <a:cs typeface="Arial"/>
                        </a:rPr>
                        <a:t>Add2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576729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22" dirty="0">
                <a:latin typeface="Arial"/>
                <a:cs typeface="Arial"/>
              </a:rPr>
              <a:t>S2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2858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marL="184907">
              <a:spcBef>
                <a:spcPts val="710"/>
              </a:spcBef>
            </a:pPr>
            <a:r>
              <a:rPr sz="1500" b="1" spc="-9" dirty="0">
                <a:latin typeface="Arial"/>
                <a:cs typeface="Arial"/>
              </a:rPr>
              <a:t>Issue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6784" y="2709955"/>
            <a:ext cx="856129" cy="321920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12914" y="2709955"/>
            <a:ext cx="856129" cy="321920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6729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22" dirty="0">
                <a:latin typeface="Arial"/>
                <a:cs typeface="Arial"/>
              </a:rPr>
              <a:t>S1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32858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marL="153529">
              <a:spcBef>
                <a:spcPts val="715"/>
              </a:spcBef>
            </a:pPr>
            <a:r>
              <a:rPr sz="1500" b="1" spc="-9" dirty="0">
                <a:latin typeface="Arial"/>
                <a:cs typeface="Arial"/>
              </a:rPr>
              <a:t>Exec1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56784" y="3922806"/>
            <a:ext cx="856129" cy="322487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12914" y="3922806"/>
            <a:ext cx="856129" cy="322487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141841" y="4489099"/>
          <a:ext cx="5136775" cy="1283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2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a1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m1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6715386" y="134919"/>
            <a:ext cx="2094940" cy="67316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52900"/>
              </a:lnSpc>
              <a:spcBef>
                <a:spcPts val="88"/>
              </a:spcBef>
            </a:pPr>
            <a:r>
              <a:rPr sz="1500" b="1" dirty="0">
                <a:solidFill>
                  <a:srgbClr val="000000"/>
                </a:solidFill>
                <a:latin typeface="Arial"/>
                <a:cs typeface="Arial"/>
              </a:rPr>
              <a:t>S1:</a:t>
            </a:r>
            <a:r>
              <a:rPr sz="1500" b="1" spc="3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00"/>
                </a:solidFill>
                <a:latin typeface="Arial"/>
                <a:cs typeface="Arial"/>
              </a:rPr>
              <a:t>ADD.D</a:t>
            </a:r>
            <a:r>
              <a:rPr sz="1500" b="1" spc="-2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00"/>
                </a:solidFill>
                <a:latin typeface="Arial"/>
                <a:cs typeface="Arial"/>
              </a:rPr>
              <a:t>F0,</a:t>
            </a:r>
            <a:r>
              <a:rPr sz="1500" b="1" spc="-1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00"/>
                </a:solidFill>
                <a:latin typeface="Arial"/>
                <a:cs typeface="Arial"/>
              </a:rPr>
              <a:t>F2,</a:t>
            </a:r>
            <a:r>
              <a:rPr sz="1500" b="1" spc="-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500" b="1" spc="-22" dirty="0">
                <a:solidFill>
                  <a:srgbClr val="000000"/>
                </a:solidFill>
                <a:latin typeface="Arial"/>
                <a:cs typeface="Arial"/>
              </a:rPr>
              <a:t>F4 </a:t>
            </a:r>
            <a:r>
              <a:rPr sz="1500" b="1" dirty="0">
                <a:solidFill>
                  <a:srgbClr val="000000"/>
                </a:solidFill>
                <a:latin typeface="Arial"/>
                <a:cs typeface="Arial"/>
              </a:rPr>
              <a:t>S2:</a:t>
            </a:r>
            <a:r>
              <a:rPr sz="1500" b="1" spc="32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000000"/>
                </a:solidFill>
                <a:latin typeface="Arial"/>
                <a:cs typeface="Arial"/>
              </a:rPr>
              <a:t>MULT.D</a:t>
            </a:r>
            <a:r>
              <a:rPr sz="1500" b="1" spc="31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00"/>
                </a:solidFill>
                <a:latin typeface="Arial"/>
                <a:cs typeface="Arial"/>
              </a:rPr>
              <a:t>F2,</a:t>
            </a:r>
            <a:r>
              <a:rPr sz="1500" b="1" spc="-4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00"/>
                </a:solidFill>
                <a:latin typeface="Arial"/>
                <a:cs typeface="Arial"/>
              </a:rPr>
              <a:t>F6,</a:t>
            </a:r>
            <a:r>
              <a:rPr sz="1500" b="1" spc="-4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500" b="1" spc="-22" dirty="0">
                <a:solidFill>
                  <a:srgbClr val="000000"/>
                </a:solidFill>
                <a:latin typeface="Arial"/>
                <a:cs typeface="Arial"/>
              </a:rPr>
              <a:t>F8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1AC107B8-8287-1AFB-00C4-8B5B78881C7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18</a:t>
            </a:fld>
            <a:endParaRPr lang="en-US" spc="-4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07ACE79A-88CB-12AE-F04A-9C47327FD403}"/>
              </a:ext>
            </a:extLst>
          </p:cNvPr>
          <p:cNvSpPr txBox="1"/>
          <p:nvPr/>
        </p:nvSpPr>
        <p:spPr>
          <a:xfrm>
            <a:off x="1008452" y="675938"/>
            <a:ext cx="1183901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000" dirty="0">
                <a:solidFill>
                  <a:srgbClr val="0332B7"/>
                </a:solidFill>
                <a:latin typeface="Arial MT"/>
                <a:cs typeface="Arial MT"/>
              </a:rPr>
              <a:t>Time</a:t>
            </a:r>
            <a:r>
              <a:rPr sz="3000" spc="-75" dirty="0">
                <a:solidFill>
                  <a:srgbClr val="0332B7"/>
                </a:solidFill>
                <a:latin typeface="Arial MT"/>
                <a:cs typeface="Arial MT"/>
              </a:rPr>
              <a:t> </a:t>
            </a:r>
            <a:r>
              <a:rPr sz="3000" spc="-44" dirty="0">
                <a:solidFill>
                  <a:srgbClr val="0332B7"/>
                </a:solidFill>
                <a:latin typeface="Arial MT"/>
                <a:cs typeface="Arial MT"/>
              </a:rPr>
              <a:t>2</a:t>
            </a:r>
            <a:endParaRPr sz="3000" dirty="0">
              <a:latin typeface="Arial MT"/>
              <a:cs typeface="Arial MT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F2F6638E-8FC8-6C26-34FA-AE23185BD486}"/>
              </a:ext>
            </a:extLst>
          </p:cNvPr>
          <p:cNvSpPr txBox="1"/>
          <p:nvPr/>
        </p:nvSpPr>
        <p:spPr>
          <a:xfrm>
            <a:off x="1004794" y="1568450"/>
            <a:ext cx="3995457" cy="355867"/>
          </a:xfrm>
          <a:prstGeom prst="rect">
            <a:avLst/>
          </a:prstGeom>
          <a:solidFill>
            <a:srgbClr val="00FF00"/>
          </a:solidFill>
          <a:ln w="10107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909406">
              <a:spcBef>
                <a:spcPts val="975"/>
              </a:spcBef>
            </a:pPr>
            <a:r>
              <a:rPr sz="1500" b="1" dirty="0">
                <a:latin typeface="Arial"/>
                <a:cs typeface="Arial"/>
              </a:rPr>
              <a:t>S3:</a:t>
            </a:r>
            <a:r>
              <a:rPr sz="1500" b="1" spc="318" dirty="0">
                <a:latin typeface="Arial"/>
                <a:cs typeface="Arial"/>
              </a:rPr>
              <a:t> </a:t>
            </a:r>
            <a:r>
              <a:rPr sz="1500" b="1" spc="-9" dirty="0">
                <a:latin typeface="Arial"/>
                <a:cs typeface="Arial"/>
              </a:rPr>
              <a:t>MULT.D</a:t>
            </a:r>
            <a:r>
              <a:rPr sz="1500" b="1" spc="309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F10,</a:t>
            </a:r>
            <a:r>
              <a:rPr sz="1500" b="1" spc="-4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F0,</a:t>
            </a:r>
            <a:r>
              <a:rPr sz="1500" b="1" spc="-49" dirty="0">
                <a:latin typeface="Arial"/>
                <a:cs typeface="Arial"/>
              </a:rPr>
              <a:t> </a:t>
            </a:r>
            <a:r>
              <a:rPr sz="1500" b="1" spc="-22" dirty="0">
                <a:latin typeface="Arial"/>
                <a:cs typeface="Arial"/>
              </a:rPr>
              <a:t>F2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3A8BBAA2-36C3-551B-66B3-2A3DB92A9C82}"/>
              </a:ext>
            </a:extLst>
          </p:cNvPr>
          <p:cNvGraphicFramePr>
            <a:graphicFrameLocks noGrp="1"/>
          </p:cNvGraphicFramePr>
          <p:nvPr/>
        </p:nvGraphicFramePr>
        <p:xfrm>
          <a:off x="572271" y="2206089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128CED13-4675-AA76-E432-1DAFD04E512C}"/>
              </a:ext>
            </a:extLst>
          </p:cNvPr>
          <p:cNvGraphicFramePr>
            <a:graphicFrameLocks noGrp="1"/>
          </p:cNvGraphicFramePr>
          <p:nvPr/>
        </p:nvGraphicFramePr>
        <p:xfrm>
          <a:off x="5352326" y="2206089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a1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m1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48763A08-2885-BF35-28A1-A0073506B696}"/>
              </a:ext>
            </a:extLst>
          </p:cNvPr>
          <p:cNvGraphicFramePr>
            <a:graphicFrameLocks noGrp="1"/>
          </p:cNvGraphicFramePr>
          <p:nvPr/>
        </p:nvGraphicFramePr>
        <p:xfrm>
          <a:off x="572271" y="3418938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0" dirty="0">
                          <a:latin typeface="Arial"/>
                          <a:cs typeface="Arial"/>
                        </a:rPr>
                        <a:t>Add1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Add.d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346F1C95-ECB1-540F-A0D0-5728DDDDE78D}"/>
              </a:ext>
            </a:extLst>
          </p:cNvPr>
          <p:cNvGraphicFramePr>
            <a:graphicFrameLocks noGrp="1"/>
          </p:cNvGraphicFramePr>
          <p:nvPr/>
        </p:nvGraphicFramePr>
        <p:xfrm>
          <a:off x="5352326" y="3418938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0" dirty="0">
                          <a:latin typeface="Arial"/>
                          <a:cs typeface="Arial"/>
                        </a:rPr>
                        <a:t>Add2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8">
            <a:extLst>
              <a:ext uri="{FF2B5EF4-FFF2-40B4-BE49-F238E27FC236}">
                <a16:creationId xmlns:a16="http://schemas.microsoft.com/office/drawing/2014/main" id="{24F25AA7-258E-D05B-D275-7A1F6D93A8AF}"/>
              </a:ext>
            </a:extLst>
          </p:cNvPr>
          <p:cNvSpPr txBox="1"/>
          <p:nvPr/>
        </p:nvSpPr>
        <p:spPr>
          <a:xfrm>
            <a:off x="576729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22" dirty="0">
                <a:latin typeface="Arial"/>
                <a:cs typeface="Arial"/>
              </a:rPr>
              <a:t>S2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24D48383-85D3-0A41-13C3-600E63EEDE58}"/>
              </a:ext>
            </a:extLst>
          </p:cNvPr>
          <p:cNvSpPr txBox="1"/>
          <p:nvPr/>
        </p:nvSpPr>
        <p:spPr>
          <a:xfrm>
            <a:off x="1432858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marL="153529">
              <a:spcBef>
                <a:spcPts val="710"/>
              </a:spcBef>
            </a:pPr>
            <a:r>
              <a:rPr sz="1500" b="1" spc="-9" dirty="0">
                <a:latin typeface="Arial"/>
                <a:cs typeface="Arial"/>
              </a:rPr>
              <a:t>Exec1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5327601E-CF7F-3EB2-0C3A-70E4D19F1D04}"/>
              </a:ext>
            </a:extLst>
          </p:cNvPr>
          <p:cNvSpPr txBox="1"/>
          <p:nvPr/>
        </p:nvSpPr>
        <p:spPr>
          <a:xfrm>
            <a:off x="5356784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22" dirty="0">
                <a:latin typeface="Arial"/>
                <a:cs typeface="Arial"/>
              </a:rPr>
              <a:t>S3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525E49D2-2D09-F7D9-F3BE-49F621479789}"/>
              </a:ext>
            </a:extLst>
          </p:cNvPr>
          <p:cNvSpPr txBox="1"/>
          <p:nvPr/>
        </p:nvSpPr>
        <p:spPr>
          <a:xfrm>
            <a:off x="6212914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marL="184907">
              <a:spcBef>
                <a:spcPts val="710"/>
              </a:spcBef>
            </a:pPr>
            <a:r>
              <a:rPr sz="1500" b="1" spc="-9" dirty="0">
                <a:latin typeface="Arial"/>
                <a:cs typeface="Arial"/>
              </a:rPr>
              <a:t>Issue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A07B424A-8B50-65F1-B590-E928C8EF3E6A}"/>
              </a:ext>
            </a:extLst>
          </p:cNvPr>
          <p:cNvSpPr txBox="1"/>
          <p:nvPr/>
        </p:nvSpPr>
        <p:spPr>
          <a:xfrm>
            <a:off x="576729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22" dirty="0">
                <a:latin typeface="Arial"/>
                <a:cs typeface="Arial"/>
              </a:rPr>
              <a:t>S1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3E1D2CCF-3CFB-C544-60BA-41F474E50047}"/>
              </a:ext>
            </a:extLst>
          </p:cNvPr>
          <p:cNvSpPr txBox="1"/>
          <p:nvPr/>
        </p:nvSpPr>
        <p:spPr>
          <a:xfrm>
            <a:off x="1432858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marL="153529">
              <a:spcBef>
                <a:spcPts val="715"/>
              </a:spcBef>
            </a:pPr>
            <a:r>
              <a:rPr sz="1500" b="1" spc="-9" dirty="0">
                <a:latin typeface="Arial"/>
                <a:cs typeface="Arial"/>
              </a:rPr>
              <a:t>Exec2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E5913FCE-7D6E-EFCA-342D-28682F84E4BA}"/>
              </a:ext>
            </a:extLst>
          </p:cNvPr>
          <p:cNvSpPr txBox="1"/>
          <p:nvPr/>
        </p:nvSpPr>
        <p:spPr>
          <a:xfrm>
            <a:off x="5356784" y="3922806"/>
            <a:ext cx="856129" cy="322487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ACE5036E-69E0-CBE2-C5F4-DFEE9A5559CB}"/>
              </a:ext>
            </a:extLst>
          </p:cNvPr>
          <p:cNvSpPr txBox="1"/>
          <p:nvPr/>
        </p:nvSpPr>
        <p:spPr>
          <a:xfrm>
            <a:off x="6212914" y="3922806"/>
            <a:ext cx="856129" cy="322487"/>
          </a:xfrm>
          <a:prstGeom prst="rect">
            <a:avLst/>
          </a:prstGeom>
          <a:solidFill>
            <a:srgbClr val="618FFD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19" name="object 16">
            <a:extLst>
              <a:ext uri="{FF2B5EF4-FFF2-40B4-BE49-F238E27FC236}">
                <a16:creationId xmlns:a16="http://schemas.microsoft.com/office/drawing/2014/main" id="{B03DBC0D-0682-4A0C-3264-849377D43BD6}"/>
              </a:ext>
            </a:extLst>
          </p:cNvPr>
          <p:cNvGraphicFramePr>
            <a:graphicFrameLocks noGrp="1"/>
          </p:cNvGraphicFramePr>
          <p:nvPr/>
        </p:nvGraphicFramePr>
        <p:xfrm>
          <a:off x="2141841" y="4489099"/>
          <a:ext cx="5136775" cy="1283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2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a1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m1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m2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object 17">
            <a:extLst>
              <a:ext uri="{FF2B5EF4-FFF2-40B4-BE49-F238E27FC236}">
                <a16:creationId xmlns:a16="http://schemas.microsoft.com/office/drawing/2014/main" id="{52C55DED-A1E9-ADE3-6F59-BEC6592BDFB9}"/>
              </a:ext>
            </a:extLst>
          </p:cNvPr>
          <p:cNvSpPr txBox="1"/>
          <p:nvPr/>
        </p:nvSpPr>
        <p:spPr>
          <a:xfrm>
            <a:off x="6715386" y="256838"/>
            <a:ext cx="170609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latin typeface="Arial"/>
                <a:cs typeface="Arial"/>
              </a:rPr>
              <a:t>S1:</a:t>
            </a:r>
            <a:r>
              <a:rPr sz="1324" b="1" spc="22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ADD.D</a:t>
            </a:r>
            <a:r>
              <a:rPr sz="1324" b="1" spc="-49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F0,</a:t>
            </a:r>
            <a:r>
              <a:rPr sz="1324" b="1" spc="-49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F2,</a:t>
            </a:r>
            <a:r>
              <a:rPr sz="1324" b="1" spc="-44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F4</a:t>
            </a:r>
            <a:endParaRPr sz="1324">
              <a:latin typeface="Arial"/>
              <a:cs typeface="Arial"/>
            </a:endParaRPr>
          </a:p>
        </p:txBody>
      </p:sp>
      <p:sp>
        <p:nvSpPr>
          <p:cNvPr id="21" name="object 18">
            <a:extLst>
              <a:ext uri="{FF2B5EF4-FFF2-40B4-BE49-F238E27FC236}">
                <a16:creationId xmlns:a16="http://schemas.microsoft.com/office/drawing/2014/main" id="{E6762514-E2D6-10AB-46E5-5661A21DFB27}"/>
              </a:ext>
            </a:extLst>
          </p:cNvPr>
          <p:cNvSpPr txBox="1"/>
          <p:nvPr/>
        </p:nvSpPr>
        <p:spPr>
          <a:xfrm>
            <a:off x="6715387" y="461233"/>
            <a:ext cx="1917887" cy="58134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49300"/>
              </a:lnSpc>
              <a:spcBef>
                <a:spcPts val="88"/>
              </a:spcBef>
            </a:pPr>
            <a:r>
              <a:rPr sz="1324" b="1" dirty="0">
                <a:latin typeface="Arial"/>
                <a:cs typeface="Arial"/>
              </a:rPr>
              <a:t>S2:</a:t>
            </a:r>
            <a:r>
              <a:rPr sz="1324" b="1" spc="238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MULT.D</a:t>
            </a:r>
            <a:r>
              <a:rPr sz="1324" b="1" spc="243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F2,</a:t>
            </a:r>
            <a:r>
              <a:rPr sz="1324" b="1" spc="-62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F6,</a:t>
            </a:r>
            <a:r>
              <a:rPr sz="1324" b="1" spc="-66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F8 </a:t>
            </a:r>
            <a:r>
              <a:rPr sz="1324" b="1" dirty="0">
                <a:latin typeface="Arial"/>
                <a:cs typeface="Arial"/>
              </a:rPr>
              <a:t>S3:</a:t>
            </a:r>
            <a:r>
              <a:rPr sz="1324" b="1" spc="234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MULT.D</a:t>
            </a:r>
            <a:r>
              <a:rPr sz="1324" b="1" spc="238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F10,</a:t>
            </a:r>
            <a:r>
              <a:rPr sz="1324" b="1" spc="-62" dirty="0">
                <a:latin typeface="Arial"/>
                <a:cs typeface="Arial"/>
              </a:rPr>
              <a:t> </a:t>
            </a:r>
            <a:r>
              <a:rPr sz="1324" b="1" dirty="0">
                <a:solidFill>
                  <a:srgbClr val="FF0000"/>
                </a:solidFill>
                <a:latin typeface="Arial"/>
                <a:cs typeface="Arial"/>
              </a:rPr>
              <a:t>F0,</a:t>
            </a:r>
            <a:r>
              <a:rPr sz="1324" b="1" spc="-6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24" b="1" spc="-22" dirty="0">
                <a:solidFill>
                  <a:srgbClr val="FF0000"/>
                </a:solidFill>
                <a:latin typeface="Arial"/>
                <a:cs typeface="Arial"/>
              </a:rPr>
              <a:t>F2</a:t>
            </a:r>
            <a:endParaRPr sz="1324">
              <a:latin typeface="Arial"/>
              <a:cs typeface="Arial"/>
            </a:endParaRP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69DD4C9B-019C-8025-DF4F-B2CFFEC3AD0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19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537847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F889ABC1-34E3-1CD6-096D-CC4E54A687CE}"/>
              </a:ext>
            </a:extLst>
          </p:cNvPr>
          <p:cNvSpPr txBox="1"/>
          <p:nvPr/>
        </p:nvSpPr>
        <p:spPr>
          <a:xfrm>
            <a:off x="1008452" y="675938"/>
            <a:ext cx="1183901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000" dirty="0">
                <a:solidFill>
                  <a:srgbClr val="0332B7"/>
                </a:solidFill>
                <a:latin typeface="Arial MT"/>
                <a:cs typeface="Arial MT"/>
              </a:rPr>
              <a:t>Time</a:t>
            </a:r>
            <a:r>
              <a:rPr sz="3000" spc="-75" dirty="0">
                <a:solidFill>
                  <a:srgbClr val="0332B7"/>
                </a:solidFill>
                <a:latin typeface="Arial MT"/>
                <a:cs typeface="Arial MT"/>
              </a:rPr>
              <a:t> </a:t>
            </a:r>
            <a:r>
              <a:rPr sz="3000" spc="-44" dirty="0">
                <a:solidFill>
                  <a:srgbClr val="0332B7"/>
                </a:solidFill>
                <a:latin typeface="Arial MT"/>
                <a:cs typeface="Arial MT"/>
              </a:rPr>
              <a:t>3</a:t>
            </a:r>
            <a:endParaRPr sz="3000" dirty="0">
              <a:latin typeface="Arial MT"/>
              <a:cs typeface="Arial MT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DBBA751C-5D00-51DE-2314-D84E52F58DA2}"/>
              </a:ext>
            </a:extLst>
          </p:cNvPr>
          <p:cNvSpPr txBox="1"/>
          <p:nvPr/>
        </p:nvSpPr>
        <p:spPr>
          <a:xfrm>
            <a:off x="1004794" y="1568450"/>
            <a:ext cx="3995457" cy="355867"/>
          </a:xfrm>
          <a:prstGeom prst="rect">
            <a:avLst/>
          </a:prstGeom>
          <a:solidFill>
            <a:srgbClr val="00FF00"/>
          </a:solidFill>
          <a:ln w="10107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1006342">
              <a:spcBef>
                <a:spcPts val="975"/>
              </a:spcBef>
            </a:pPr>
            <a:r>
              <a:rPr sz="1500" b="1" dirty="0">
                <a:latin typeface="Arial"/>
                <a:cs typeface="Arial"/>
              </a:rPr>
              <a:t>S4:</a:t>
            </a:r>
            <a:r>
              <a:rPr sz="1500" b="1" spc="34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ADD.D</a:t>
            </a:r>
            <a:r>
              <a:rPr sz="1500" b="1" spc="38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F0,</a:t>
            </a:r>
            <a:r>
              <a:rPr sz="1500" b="1" spc="-9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F8,</a:t>
            </a:r>
            <a:r>
              <a:rPr sz="1500" b="1" spc="-4" dirty="0">
                <a:latin typeface="Arial"/>
                <a:cs typeface="Arial"/>
              </a:rPr>
              <a:t> </a:t>
            </a:r>
            <a:r>
              <a:rPr sz="1500" b="1" spc="-22" dirty="0">
                <a:latin typeface="Arial"/>
                <a:cs typeface="Arial"/>
              </a:rPr>
              <a:t>F6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3511E123-AA7A-5BF3-6871-9772D7182D19}"/>
              </a:ext>
            </a:extLst>
          </p:cNvPr>
          <p:cNvGraphicFramePr>
            <a:graphicFrameLocks noGrp="1"/>
          </p:cNvGraphicFramePr>
          <p:nvPr/>
        </p:nvGraphicFramePr>
        <p:xfrm>
          <a:off x="572271" y="2206089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F832F4CE-AE32-33F7-7611-294A1F2B605D}"/>
              </a:ext>
            </a:extLst>
          </p:cNvPr>
          <p:cNvGraphicFramePr>
            <a:graphicFrameLocks noGrp="1"/>
          </p:cNvGraphicFramePr>
          <p:nvPr/>
        </p:nvGraphicFramePr>
        <p:xfrm>
          <a:off x="5352326" y="2206089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m1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CE031AA0-A716-F5D8-D065-2DFD42242DDA}"/>
              </a:ext>
            </a:extLst>
          </p:cNvPr>
          <p:cNvGraphicFramePr>
            <a:graphicFrameLocks noGrp="1"/>
          </p:cNvGraphicFramePr>
          <p:nvPr/>
        </p:nvGraphicFramePr>
        <p:xfrm>
          <a:off x="572271" y="3418938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0" dirty="0">
                          <a:latin typeface="Arial"/>
                          <a:cs typeface="Arial"/>
                        </a:rPr>
                        <a:t>Add1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Add.d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object 7">
            <a:extLst>
              <a:ext uri="{FF2B5EF4-FFF2-40B4-BE49-F238E27FC236}">
                <a16:creationId xmlns:a16="http://schemas.microsoft.com/office/drawing/2014/main" id="{3115CB58-E0BF-08EB-F541-04C6509C2FA7}"/>
              </a:ext>
            </a:extLst>
          </p:cNvPr>
          <p:cNvGraphicFramePr>
            <a:graphicFrameLocks noGrp="1"/>
          </p:cNvGraphicFramePr>
          <p:nvPr/>
        </p:nvGraphicFramePr>
        <p:xfrm>
          <a:off x="5352326" y="3418938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0" dirty="0">
                          <a:latin typeface="Arial"/>
                          <a:cs typeface="Arial"/>
                        </a:rPr>
                        <a:t>Add2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Add.d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8">
            <a:extLst>
              <a:ext uri="{FF2B5EF4-FFF2-40B4-BE49-F238E27FC236}">
                <a16:creationId xmlns:a16="http://schemas.microsoft.com/office/drawing/2014/main" id="{9AD8B9D0-4276-95E1-8213-4B5812D89021}"/>
              </a:ext>
            </a:extLst>
          </p:cNvPr>
          <p:cNvSpPr txBox="1"/>
          <p:nvPr/>
        </p:nvSpPr>
        <p:spPr>
          <a:xfrm>
            <a:off x="576729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22" dirty="0">
                <a:latin typeface="Arial"/>
                <a:cs typeface="Arial"/>
              </a:rPr>
              <a:t>S2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3CAAC917-C95D-7F13-F835-86CBDA01363E}"/>
              </a:ext>
            </a:extLst>
          </p:cNvPr>
          <p:cNvSpPr txBox="1"/>
          <p:nvPr/>
        </p:nvSpPr>
        <p:spPr>
          <a:xfrm>
            <a:off x="1432858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marL="153529">
              <a:spcBef>
                <a:spcPts val="710"/>
              </a:spcBef>
            </a:pPr>
            <a:r>
              <a:rPr sz="1500" b="1" spc="-9" dirty="0">
                <a:latin typeface="Arial"/>
                <a:cs typeface="Arial"/>
              </a:rPr>
              <a:t>Exec2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41992FBE-11C2-99F3-9C28-B7CD8D6955D0}"/>
              </a:ext>
            </a:extLst>
          </p:cNvPr>
          <p:cNvSpPr txBox="1"/>
          <p:nvPr/>
        </p:nvSpPr>
        <p:spPr>
          <a:xfrm>
            <a:off x="5356784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22" dirty="0">
                <a:latin typeface="Arial"/>
                <a:cs typeface="Arial"/>
              </a:rPr>
              <a:t>S3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5A35AF0C-F846-9ED2-512C-6726D3719AAA}"/>
              </a:ext>
            </a:extLst>
          </p:cNvPr>
          <p:cNvSpPr txBox="1"/>
          <p:nvPr/>
        </p:nvSpPr>
        <p:spPr>
          <a:xfrm>
            <a:off x="6212914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marL="184907">
              <a:spcBef>
                <a:spcPts val="710"/>
              </a:spcBef>
            </a:pPr>
            <a:r>
              <a:rPr sz="1500" b="1" spc="-9" dirty="0">
                <a:latin typeface="Arial"/>
                <a:cs typeface="Arial"/>
              </a:rPr>
              <a:t>Issue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698CA90C-BBEF-D361-E517-ECEABCA3E231}"/>
              </a:ext>
            </a:extLst>
          </p:cNvPr>
          <p:cNvSpPr txBox="1"/>
          <p:nvPr/>
        </p:nvSpPr>
        <p:spPr>
          <a:xfrm>
            <a:off x="576729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22" dirty="0">
                <a:latin typeface="Arial"/>
                <a:cs typeface="Arial"/>
              </a:rPr>
              <a:t>S1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9AC22ECC-8E7C-6130-1C28-E5A26485C232}"/>
              </a:ext>
            </a:extLst>
          </p:cNvPr>
          <p:cNvSpPr txBox="1"/>
          <p:nvPr/>
        </p:nvSpPr>
        <p:spPr>
          <a:xfrm>
            <a:off x="1432858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marL="191070">
              <a:spcBef>
                <a:spcPts val="715"/>
              </a:spcBef>
            </a:pPr>
            <a:r>
              <a:rPr sz="1500" b="1" spc="-9" dirty="0">
                <a:latin typeface="Arial"/>
                <a:cs typeface="Arial"/>
              </a:rPr>
              <a:t>Write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32C26992-834B-A7EA-D86D-4075A4A0F8C1}"/>
              </a:ext>
            </a:extLst>
          </p:cNvPr>
          <p:cNvSpPr txBox="1"/>
          <p:nvPr/>
        </p:nvSpPr>
        <p:spPr>
          <a:xfrm>
            <a:off x="5356784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22" dirty="0">
                <a:latin typeface="Arial"/>
                <a:cs typeface="Arial"/>
              </a:rPr>
              <a:t>S4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E818702E-AE38-2BDD-1961-02CE3F3D346A}"/>
              </a:ext>
            </a:extLst>
          </p:cNvPr>
          <p:cNvSpPr txBox="1"/>
          <p:nvPr/>
        </p:nvSpPr>
        <p:spPr>
          <a:xfrm>
            <a:off x="6212914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marL="184907">
              <a:spcBef>
                <a:spcPts val="715"/>
              </a:spcBef>
            </a:pPr>
            <a:r>
              <a:rPr sz="1500" b="1" spc="-9" dirty="0">
                <a:latin typeface="Arial"/>
                <a:cs typeface="Arial"/>
              </a:rPr>
              <a:t>Issue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20" name="object 16">
            <a:extLst>
              <a:ext uri="{FF2B5EF4-FFF2-40B4-BE49-F238E27FC236}">
                <a16:creationId xmlns:a16="http://schemas.microsoft.com/office/drawing/2014/main" id="{DEBE4054-9144-1BF7-3A86-D94ACB0487B8}"/>
              </a:ext>
            </a:extLst>
          </p:cNvPr>
          <p:cNvGraphicFramePr>
            <a:graphicFrameLocks noGrp="1"/>
          </p:cNvGraphicFramePr>
          <p:nvPr/>
        </p:nvGraphicFramePr>
        <p:xfrm>
          <a:off x="2141841" y="4489099"/>
          <a:ext cx="5136775" cy="1283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2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7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a2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m1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m2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object 17">
            <a:extLst>
              <a:ext uri="{FF2B5EF4-FFF2-40B4-BE49-F238E27FC236}">
                <a16:creationId xmlns:a16="http://schemas.microsoft.com/office/drawing/2014/main" id="{B9B2E65A-B2EB-E7A3-84C9-DA65EEEF4E91}"/>
              </a:ext>
            </a:extLst>
          </p:cNvPr>
          <p:cNvSpPr txBox="1"/>
          <p:nvPr/>
        </p:nvSpPr>
        <p:spPr>
          <a:xfrm>
            <a:off x="871114" y="4728434"/>
            <a:ext cx="954181" cy="69454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1206" marR="4483">
              <a:lnSpc>
                <a:spcPct val="100600"/>
              </a:lnSpc>
              <a:spcBef>
                <a:spcPts val="75"/>
              </a:spcBef>
            </a:pPr>
            <a:r>
              <a:rPr sz="1500" b="1" spc="-18" dirty="0">
                <a:latin typeface="Arial"/>
                <a:cs typeface="Arial"/>
              </a:rPr>
              <a:t>To</a:t>
            </a:r>
            <a:r>
              <a:rPr sz="1500" b="1" spc="-93" dirty="0">
                <a:latin typeface="Arial"/>
                <a:cs typeface="Arial"/>
              </a:rPr>
              <a:t> </a:t>
            </a:r>
            <a:r>
              <a:rPr sz="1500" b="1" spc="-22" dirty="0">
                <a:latin typeface="Arial"/>
                <a:cs typeface="Arial"/>
              </a:rPr>
              <a:t>m2,</a:t>
            </a:r>
            <a:r>
              <a:rPr sz="1500" b="1" spc="441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but</a:t>
            </a:r>
            <a:r>
              <a:rPr sz="1500" b="1" spc="-1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F0</a:t>
            </a:r>
            <a:r>
              <a:rPr sz="1500" b="1" spc="-13" dirty="0">
                <a:latin typeface="Arial"/>
                <a:cs typeface="Arial"/>
              </a:rPr>
              <a:t> </a:t>
            </a:r>
            <a:r>
              <a:rPr sz="1500" b="1" spc="-22" dirty="0">
                <a:latin typeface="Arial"/>
                <a:cs typeface="Arial"/>
              </a:rPr>
              <a:t>not </a:t>
            </a:r>
            <a:r>
              <a:rPr sz="1500" b="1" dirty="0">
                <a:latin typeface="Arial"/>
                <a:cs typeface="Arial"/>
              </a:rPr>
              <a:t>really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spc="-18" dirty="0">
                <a:latin typeface="Arial"/>
                <a:cs typeface="Arial"/>
              </a:rPr>
              <a:t>nec.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18">
            <a:extLst>
              <a:ext uri="{FF2B5EF4-FFF2-40B4-BE49-F238E27FC236}">
                <a16:creationId xmlns:a16="http://schemas.microsoft.com/office/drawing/2014/main" id="{01187DF3-1DEA-801D-2353-083741C2CD70}"/>
              </a:ext>
            </a:extLst>
          </p:cNvPr>
          <p:cNvSpPr txBox="1"/>
          <p:nvPr/>
        </p:nvSpPr>
        <p:spPr>
          <a:xfrm>
            <a:off x="7214795" y="3937746"/>
            <a:ext cx="1451162" cy="462698"/>
          </a:xfrm>
          <a:prstGeom prst="rect">
            <a:avLst/>
          </a:prstGeom>
        </p:spPr>
        <p:txBody>
          <a:bodyPr vert="horz" wrap="square" lIns="0" tIns="2801" rIns="0" bIns="0" rtlCol="0">
            <a:spAutoFit/>
          </a:bodyPr>
          <a:lstStyle/>
          <a:p>
            <a:pPr marL="11206" marR="4483">
              <a:lnSpc>
                <a:spcPct val="103499"/>
              </a:lnSpc>
              <a:spcBef>
                <a:spcPts val="22"/>
              </a:spcBef>
            </a:pPr>
            <a:r>
              <a:rPr sz="1500" b="1" dirty="0">
                <a:latin typeface="Arial"/>
                <a:cs typeface="Arial"/>
              </a:rPr>
              <a:t>No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structural</a:t>
            </a:r>
            <a:r>
              <a:rPr sz="1500" b="1" spc="-26" dirty="0">
                <a:latin typeface="Arial"/>
                <a:cs typeface="Arial"/>
              </a:rPr>
              <a:t> </a:t>
            </a:r>
            <a:r>
              <a:rPr sz="1500" b="1" spc="-22" dirty="0">
                <a:latin typeface="Arial"/>
                <a:cs typeface="Arial"/>
              </a:rPr>
              <a:t>or </a:t>
            </a:r>
            <a:r>
              <a:rPr sz="1500" b="1" spc="-40" dirty="0">
                <a:latin typeface="Arial"/>
                <a:cs typeface="Arial"/>
              </a:rPr>
              <a:t>WAW</a:t>
            </a:r>
            <a:r>
              <a:rPr sz="1500" b="1" spc="-53" dirty="0">
                <a:latin typeface="Arial"/>
                <a:cs typeface="Arial"/>
              </a:rPr>
              <a:t> </a:t>
            </a:r>
            <a:r>
              <a:rPr sz="1500" b="1" spc="-9" dirty="0">
                <a:latin typeface="Arial"/>
                <a:cs typeface="Arial"/>
              </a:rPr>
              <a:t>hazard!</a:t>
            </a:r>
            <a:endParaRPr sz="1500">
              <a:latin typeface="Arial"/>
              <a:cs typeface="Arial"/>
            </a:endParaRPr>
          </a:p>
        </p:txBody>
      </p:sp>
      <p:sp>
        <p:nvSpPr>
          <p:cNvPr id="23" name="object 19">
            <a:extLst>
              <a:ext uri="{FF2B5EF4-FFF2-40B4-BE49-F238E27FC236}">
                <a16:creationId xmlns:a16="http://schemas.microsoft.com/office/drawing/2014/main" id="{4CD1971B-C1C2-AE45-141E-C72180F34D85}"/>
              </a:ext>
            </a:extLst>
          </p:cNvPr>
          <p:cNvSpPr txBox="1"/>
          <p:nvPr/>
        </p:nvSpPr>
        <p:spPr>
          <a:xfrm>
            <a:off x="6715386" y="256838"/>
            <a:ext cx="170609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latin typeface="Arial"/>
                <a:cs typeface="Arial"/>
              </a:rPr>
              <a:t>S1:</a:t>
            </a:r>
            <a:r>
              <a:rPr sz="1324" b="1" spc="22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ADD.D</a:t>
            </a:r>
            <a:r>
              <a:rPr sz="1324" b="1" spc="-49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F0,</a:t>
            </a:r>
            <a:r>
              <a:rPr sz="1324" b="1" spc="-49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F2,</a:t>
            </a:r>
            <a:r>
              <a:rPr sz="1324" b="1" spc="-44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F4</a:t>
            </a:r>
            <a:endParaRPr sz="1324">
              <a:latin typeface="Arial"/>
              <a:cs typeface="Arial"/>
            </a:endParaRPr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73FB7152-6262-560C-91C7-06C4CD747738}"/>
              </a:ext>
            </a:extLst>
          </p:cNvPr>
          <p:cNvSpPr txBox="1"/>
          <p:nvPr/>
        </p:nvSpPr>
        <p:spPr>
          <a:xfrm>
            <a:off x="6715387" y="461233"/>
            <a:ext cx="1917887" cy="58134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49300"/>
              </a:lnSpc>
              <a:spcBef>
                <a:spcPts val="88"/>
              </a:spcBef>
            </a:pPr>
            <a:r>
              <a:rPr sz="1324" b="1" dirty="0">
                <a:latin typeface="Arial"/>
                <a:cs typeface="Arial"/>
              </a:rPr>
              <a:t>S2:</a:t>
            </a:r>
            <a:r>
              <a:rPr sz="1324" b="1" spc="238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MULT.D</a:t>
            </a:r>
            <a:r>
              <a:rPr sz="1324" b="1" spc="243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F2,</a:t>
            </a:r>
            <a:r>
              <a:rPr sz="1324" b="1" spc="-62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F6,</a:t>
            </a:r>
            <a:r>
              <a:rPr sz="1324" b="1" spc="-66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F8 </a:t>
            </a:r>
            <a:r>
              <a:rPr sz="1324" b="1" dirty="0">
                <a:latin typeface="Arial"/>
                <a:cs typeface="Arial"/>
              </a:rPr>
              <a:t>S3:</a:t>
            </a:r>
            <a:r>
              <a:rPr sz="1324" b="1" spc="234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MULT.D</a:t>
            </a:r>
            <a:r>
              <a:rPr sz="1324" b="1" spc="238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F10,</a:t>
            </a:r>
            <a:r>
              <a:rPr sz="1324" b="1" spc="-62" dirty="0">
                <a:latin typeface="Arial"/>
                <a:cs typeface="Arial"/>
              </a:rPr>
              <a:t> </a:t>
            </a:r>
            <a:r>
              <a:rPr sz="1324" b="1" dirty="0">
                <a:solidFill>
                  <a:srgbClr val="FF0000"/>
                </a:solidFill>
                <a:latin typeface="Arial"/>
                <a:cs typeface="Arial"/>
              </a:rPr>
              <a:t>F0,</a:t>
            </a:r>
            <a:r>
              <a:rPr sz="1324" b="1" spc="-6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24" b="1" spc="-22" dirty="0">
                <a:solidFill>
                  <a:srgbClr val="FF0000"/>
                </a:solidFill>
                <a:latin typeface="Arial"/>
                <a:cs typeface="Arial"/>
              </a:rPr>
              <a:t>F2</a:t>
            </a:r>
            <a:endParaRPr sz="1324">
              <a:latin typeface="Arial"/>
              <a:cs typeface="Arial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83E6A776-3A34-1B8E-CC75-60D14FDBE2DB}"/>
              </a:ext>
            </a:extLst>
          </p:cNvPr>
          <p:cNvSpPr txBox="1"/>
          <p:nvPr/>
        </p:nvSpPr>
        <p:spPr>
          <a:xfrm>
            <a:off x="6715386" y="1152412"/>
            <a:ext cx="1752040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latin typeface="Arial"/>
                <a:cs typeface="Arial"/>
              </a:rPr>
              <a:t>S4:</a:t>
            </a:r>
            <a:r>
              <a:rPr sz="1324" b="1" spc="23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ADD.D</a:t>
            </a:r>
            <a:r>
              <a:rPr sz="1324" b="1" spc="287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F0,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F8,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F6</a:t>
            </a:r>
            <a:endParaRPr sz="1324">
              <a:latin typeface="Arial"/>
              <a:cs typeface="Arial"/>
            </a:endParaRPr>
          </a:p>
        </p:txBody>
      </p:sp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7F8B8431-8F61-CF3B-01A4-BC2B0DAAFE0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20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1643984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551724"/>
            <a:ext cx="5183740" cy="589755"/>
          </a:xfrm>
          <a:prstGeom prst="rect">
            <a:avLst/>
          </a:prstGeom>
        </p:spPr>
        <p:txBody>
          <a:bodyPr vert="horz" wrap="square" lIns="0" tIns="126851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Time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spc="-44" dirty="0">
                <a:latin typeface="Arial MT"/>
                <a:cs typeface="Arial MT"/>
              </a:rPr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794" y="1568450"/>
            <a:ext cx="3995457" cy="355867"/>
          </a:xfrm>
          <a:prstGeom prst="rect">
            <a:avLst/>
          </a:prstGeom>
          <a:solidFill>
            <a:srgbClr val="00FF00"/>
          </a:solidFill>
          <a:ln w="10107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1006342">
              <a:spcBef>
                <a:spcPts val="975"/>
              </a:spcBef>
            </a:pPr>
            <a:r>
              <a:rPr sz="1500" b="1" dirty="0">
                <a:latin typeface="Arial"/>
                <a:cs typeface="Arial"/>
              </a:rPr>
              <a:t>S5:</a:t>
            </a:r>
            <a:r>
              <a:rPr sz="1500" b="1" spc="34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ADD.D</a:t>
            </a:r>
            <a:r>
              <a:rPr sz="1500" b="1" spc="38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F4,</a:t>
            </a:r>
            <a:r>
              <a:rPr sz="1500" b="1" spc="-9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F6,</a:t>
            </a:r>
            <a:r>
              <a:rPr sz="1500" b="1" spc="-4" dirty="0">
                <a:latin typeface="Arial"/>
                <a:cs typeface="Arial"/>
              </a:rPr>
              <a:t> </a:t>
            </a:r>
            <a:r>
              <a:rPr sz="1500" b="1" spc="-22" dirty="0">
                <a:latin typeface="Arial"/>
                <a:cs typeface="Arial"/>
              </a:rPr>
              <a:t>F6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2271" y="2206089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352326" y="2206089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m1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72271" y="3418938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0" dirty="0">
                          <a:latin typeface="Arial"/>
                          <a:cs typeface="Arial"/>
                        </a:rPr>
                        <a:t>Add1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Add.d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352326" y="3418938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0" dirty="0">
                          <a:latin typeface="Arial"/>
                          <a:cs typeface="Arial"/>
                        </a:rPr>
                        <a:t>Add2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Add.d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576729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22" dirty="0">
                <a:latin typeface="Arial"/>
                <a:cs typeface="Arial"/>
              </a:rPr>
              <a:t>S2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2858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marL="153529">
              <a:spcBef>
                <a:spcPts val="710"/>
              </a:spcBef>
            </a:pPr>
            <a:r>
              <a:rPr sz="1500" b="1" spc="-9" dirty="0">
                <a:latin typeface="Arial"/>
                <a:cs typeface="Arial"/>
              </a:rPr>
              <a:t>Exec3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6784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22" dirty="0">
                <a:latin typeface="Arial"/>
                <a:cs typeface="Arial"/>
              </a:rPr>
              <a:t>S3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12914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marL="184907">
              <a:spcBef>
                <a:spcPts val="710"/>
              </a:spcBef>
            </a:pPr>
            <a:r>
              <a:rPr sz="1500" b="1" spc="-9" dirty="0">
                <a:latin typeface="Arial"/>
                <a:cs typeface="Arial"/>
              </a:rPr>
              <a:t>Issue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6729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22" dirty="0">
                <a:latin typeface="Arial"/>
                <a:cs typeface="Arial"/>
              </a:rPr>
              <a:t>S5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32858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marL="184907">
              <a:spcBef>
                <a:spcPts val="715"/>
              </a:spcBef>
            </a:pPr>
            <a:r>
              <a:rPr sz="1500" b="1" spc="-9" dirty="0">
                <a:latin typeface="Arial"/>
                <a:cs typeface="Arial"/>
              </a:rPr>
              <a:t>Issue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56784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22" dirty="0">
                <a:latin typeface="Arial"/>
                <a:cs typeface="Arial"/>
              </a:rPr>
              <a:t>S4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12914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marL="153529">
              <a:spcBef>
                <a:spcPts val="715"/>
              </a:spcBef>
            </a:pPr>
            <a:r>
              <a:rPr sz="1500" b="1" spc="-9" dirty="0">
                <a:latin typeface="Arial"/>
                <a:cs typeface="Arial"/>
              </a:rPr>
              <a:t>Exec1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141841" y="4489099"/>
          <a:ext cx="5136775" cy="1283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2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7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a2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m1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a1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m2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6715387" y="203050"/>
            <a:ext cx="1917887" cy="1013060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11206" marR="4483">
              <a:lnSpc>
                <a:spcPct val="98300"/>
              </a:lnSpc>
              <a:spcBef>
                <a:spcPts val="115"/>
              </a:spcBef>
            </a:pPr>
            <a:r>
              <a:rPr sz="1324" b="1" dirty="0">
                <a:latin typeface="Arial"/>
                <a:cs typeface="Arial"/>
              </a:rPr>
              <a:t>S1:</a:t>
            </a:r>
            <a:r>
              <a:rPr sz="1324" b="1" spc="22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ADD.D</a:t>
            </a:r>
            <a:r>
              <a:rPr sz="1324" b="1" spc="-49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F0,</a:t>
            </a:r>
            <a:r>
              <a:rPr sz="1324" b="1" spc="-49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F2,</a:t>
            </a:r>
            <a:r>
              <a:rPr sz="1324" b="1" spc="-44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F4 </a:t>
            </a:r>
            <a:r>
              <a:rPr sz="1324" b="1" dirty="0">
                <a:latin typeface="Arial"/>
                <a:cs typeface="Arial"/>
              </a:rPr>
              <a:t>S2:</a:t>
            </a:r>
            <a:r>
              <a:rPr sz="1324" b="1" spc="238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MULT.D</a:t>
            </a:r>
            <a:r>
              <a:rPr sz="1324" b="1" spc="243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F2,</a:t>
            </a:r>
            <a:r>
              <a:rPr sz="1324" b="1" spc="-62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F6,</a:t>
            </a:r>
            <a:r>
              <a:rPr sz="1324" b="1" spc="-66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F8 </a:t>
            </a:r>
            <a:r>
              <a:rPr sz="1324" b="1" dirty="0">
                <a:latin typeface="Arial"/>
                <a:cs typeface="Arial"/>
              </a:rPr>
              <a:t>S3:</a:t>
            </a:r>
            <a:r>
              <a:rPr sz="1324" b="1" spc="234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MULT.D</a:t>
            </a:r>
            <a:r>
              <a:rPr sz="1324" b="1" spc="238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F10,</a:t>
            </a:r>
            <a:r>
              <a:rPr sz="1324" b="1" spc="-62" dirty="0">
                <a:latin typeface="Arial"/>
                <a:cs typeface="Arial"/>
              </a:rPr>
              <a:t> </a:t>
            </a:r>
            <a:r>
              <a:rPr sz="1324" b="1" dirty="0">
                <a:solidFill>
                  <a:srgbClr val="FF0000"/>
                </a:solidFill>
                <a:latin typeface="Arial"/>
                <a:cs typeface="Arial"/>
              </a:rPr>
              <a:t>F0,</a:t>
            </a:r>
            <a:r>
              <a:rPr sz="1324" b="1" spc="-6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24" b="1" spc="-22" dirty="0">
                <a:solidFill>
                  <a:srgbClr val="FF0000"/>
                </a:solidFill>
                <a:latin typeface="Arial"/>
                <a:cs typeface="Arial"/>
              </a:rPr>
              <a:t>F2 </a:t>
            </a:r>
            <a:r>
              <a:rPr sz="1324" b="1" dirty="0">
                <a:latin typeface="Arial"/>
                <a:cs typeface="Arial"/>
              </a:rPr>
              <a:t>S4:</a:t>
            </a:r>
            <a:r>
              <a:rPr sz="1324" b="1" spc="23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ADD.D</a:t>
            </a:r>
            <a:r>
              <a:rPr sz="1324" b="1" spc="287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F0,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F8,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F6 </a:t>
            </a:r>
            <a:r>
              <a:rPr sz="1324" b="1" dirty="0">
                <a:latin typeface="Arial"/>
                <a:cs typeface="Arial"/>
              </a:rPr>
              <a:t>S5:</a:t>
            </a:r>
            <a:r>
              <a:rPr sz="1324" b="1" spc="23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ADD.D</a:t>
            </a:r>
            <a:r>
              <a:rPr sz="1324" b="1" spc="287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F4,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F6,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F6</a:t>
            </a:r>
            <a:endParaRPr sz="1324">
              <a:latin typeface="Arial"/>
              <a:cs typeface="Arial"/>
            </a:endParaRP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BF0A4D98-6147-1FD4-6555-20312F9577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21</a:t>
            </a:fld>
            <a:endParaRPr lang="en-US" spc="-4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551724"/>
            <a:ext cx="5183740" cy="589755"/>
          </a:xfrm>
          <a:prstGeom prst="rect">
            <a:avLst/>
          </a:prstGeom>
        </p:spPr>
        <p:txBody>
          <a:bodyPr vert="horz" wrap="square" lIns="0" tIns="126851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Time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spc="-44" dirty="0">
                <a:latin typeface="Arial MT"/>
                <a:cs typeface="Arial MT"/>
              </a:rPr>
              <a:t>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794" y="1568450"/>
            <a:ext cx="3995457" cy="355867"/>
          </a:xfrm>
          <a:prstGeom prst="rect">
            <a:avLst/>
          </a:prstGeom>
          <a:solidFill>
            <a:srgbClr val="00FF00"/>
          </a:solidFill>
          <a:ln w="10107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1006342">
              <a:spcBef>
                <a:spcPts val="975"/>
              </a:spcBef>
            </a:pPr>
            <a:r>
              <a:rPr sz="1500" b="1" dirty="0">
                <a:latin typeface="Arial"/>
                <a:cs typeface="Arial"/>
              </a:rPr>
              <a:t>S6:</a:t>
            </a:r>
            <a:r>
              <a:rPr sz="1500" b="1" spc="34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ADD.D</a:t>
            </a:r>
            <a:r>
              <a:rPr sz="1500" b="1" spc="38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F2,</a:t>
            </a:r>
            <a:r>
              <a:rPr sz="1500" b="1" spc="-9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F2,</a:t>
            </a:r>
            <a:r>
              <a:rPr sz="1500" b="1" spc="-4" dirty="0">
                <a:latin typeface="Arial"/>
                <a:cs typeface="Arial"/>
              </a:rPr>
              <a:t> </a:t>
            </a:r>
            <a:r>
              <a:rPr sz="1500" b="1" spc="-22" dirty="0">
                <a:latin typeface="Arial"/>
                <a:cs typeface="Arial"/>
              </a:rPr>
              <a:t>F6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5814" y="1627541"/>
            <a:ext cx="62640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9" dirty="0">
                <a:latin typeface="Arial"/>
                <a:cs typeface="Arial"/>
              </a:rPr>
              <a:t>stalled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72271" y="2206089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352326" y="2206089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m1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72271" y="3418938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0" dirty="0">
                          <a:latin typeface="Arial"/>
                          <a:cs typeface="Arial"/>
                        </a:rPr>
                        <a:t>Add1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Add.d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352326" y="3418938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0" dirty="0">
                          <a:latin typeface="Arial"/>
                          <a:cs typeface="Arial"/>
                        </a:rPr>
                        <a:t>Add2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Add.d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576729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22" dirty="0">
                <a:latin typeface="Arial"/>
                <a:cs typeface="Arial"/>
              </a:rPr>
              <a:t>S2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2858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marL="153529">
              <a:spcBef>
                <a:spcPts val="710"/>
              </a:spcBef>
            </a:pPr>
            <a:r>
              <a:rPr sz="1500" b="1" spc="-9" dirty="0">
                <a:latin typeface="Arial"/>
                <a:cs typeface="Arial"/>
              </a:rPr>
              <a:t>Exec4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6784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22" dirty="0">
                <a:latin typeface="Arial"/>
                <a:cs typeface="Arial"/>
              </a:rPr>
              <a:t>S3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12914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marL="184907">
              <a:spcBef>
                <a:spcPts val="710"/>
              </a:spcBef>
            </a:pPr>
            <a:r>
              <a:rPr sz="1500" b="1" spc="-9" dirty="0">
                <a:latin typeface="Arial"/>
                <a:cs typeface="Arial"/>
              </a:rPr>
              <a:t>Issue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6729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22" dirty="0">
                <a:latin typeface="Arial"/>
                <a:cs typeface="Arial"/>
              </a:rPr>
              <a:t>S5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32858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marL="153529">
              <a:spcBef>
                <a:spcPts val="715"/>
              </a:spcBef>
            </a:pPr>
            <a:r>
              <a:rPr sz="1500" b="1" spc="-9" dirty="0">
                <a:latin typeface="Arial"/>
                <a:cs typeface="Arial"/>
              </a:rPr>
              <a:t>Exec1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56784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22" dirty="0">
                <a:latin typeface="Arial"/>
                <a:cs typeface="Arial"/>
              </a:rPr>
              <a:t>S4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12914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marL="153529">
              <a:spcBef>
                <a:spcPts val="715"/>
              </a:spcBef>
            </a:pPr>
            <a:r>
              <a:rPr sz="1500" b="1" spc="-9" dirty="0">
                <a:latin typeface="Arial"/>
                <a:cs typeface="Arial"/>
              </a:rPr>
              <a:t>Exec2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141841" y="4489099"/>
          <a:ext cx="5136775" cy="1283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2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solidFill>
                            <a:srgbClr val="FC0128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a2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m1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a1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m2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6715387" y="203050"/>
            <a:ext cx="1917887" cy="1013060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11206" marR="4483">
              <a:lnSpc>
                <a:spcPct val="98300"/>
              </a:lnSpc>
              <a:spcBef>
                <a:spcPts val="115"/>
              </a:spcBef>
            </a:pPr>
            <a:r>
              <a:rPr sz="1324" b="1" dirty="0">
                <a:latin typeface="Arial"/>
                <a:cs typeface="Arial"/>
              </a:rPr>
              <a:t>S1:</a:t>
            </a:r>
            <a:r>
              <a:rPr sz="1324" b="1" spc="22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ADD.D</a:t>
            </a:r>
            <a:r>
              <a:rPr sz="1324" b="1" spc="-49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F0,</a:t>
            </a:r>
            <a:r>
              <a:rPr sz="1324" b="1" spc="-49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F2,</a:t>
            </a:r>
            <a:r>
              <a:rPr sz="1324" b="1" spc="-44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F4 </a:t>
            </a:r>
            <a:r>
              <a:rPr sz="1324" b="1" dirty="0">
                <a:latin typeface="Arial"/>
                <a:cs typeface="Arial"/>
              </a:rPr>
              <a:t>S2:</a:t>
            </a:r>
            <a:r>
              <a:rPr sz="1324" b="1" spc="238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MULT.D</a:t>
            </a:r>
            <a:r>
              <a:rPr sz="1324" b="1" spc="243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F2,</a:t>
            </a:r>
            <a:r>
              <a:rPr sz="1324" b="1" spc="-62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F6,</a:t>
            </a:r>
            <a:r>
              <a:rPr sz="1324" b="1" spc="-66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F8 </a:t>
            </a:r>
            <a:r>
              <a:rPr sz="1324" b="1" dirty="0">
                <a:latin typeface="Arial"/>
                <a:cs typeface="Arial"/>
              </a:rPr>
              <a:t>S3:</a:t>
            </a:r>
            <a:r>
              <a:rPr sz="1324" b="1" spc="234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MULT.D</a:t>
            </a:r>
            <a:r>
              <a:rPr sz="1324" b="1" spc="238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F10,</a:t>
            </a:r>
            <a:r>
              <a:rPr sz="1324" b="1" spc="-62" dirty="0">
                <a:latin typeface="Arial"/>
                <a:cs typeface="Arial"/>
              </a:rPr>
              <a:t> </a:t>
            </a:r>
            <a:r>
              <a:rPr sz="1324" b="1" dirty="0">
                <a:solidFill>
                  <a:srgbClr val="FF0000"/>
                </a:solidFill>
                <a:latin typeface="Arial"/>
                <a:cs typeface="Arial"/>
              </a:rPr>
              <a:t>F0,</a:t>
            </a:r>
            <a:r>
              <a:rPr sz="1324" b="1" spc="-6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24" b="1" spc="-22" dirty="0">
                <a:solidFill>
                  <a:srgbClr val="FF0000"/>
                </a:solidFill>
                <a:latin typeface="Arial"/>
                <a:cs typeface="Arial"/>
              </a:rPr>
              <a:t>F2 </a:t>
            </a:r>
            <a:r>
              <a:rPr sz="1324" b="1" dirty="0">
                <a:latin typeface="Arial"/>
                <a:cs typeface="Arial"/>
              </a:rPr>
              <a:t>S4:</a:t>
            </a:r>
            <a:r>
              <a:rPr sz="1324" b="1" spc="23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ADD.D</a:t>
            </a:r>
            <a:r>
              <a:rPr sz="1324" b="1" spc="287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F0,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F8,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F6 </a:t>
            </a:r>
            <a:r>
              <a:rPr sz="1324" b="1" dirty="0">
                <a:latin typeface="Arial"/>
                <a:cs typeface="Arial"/>
              </a:rPr>
              <a:t>S5:</a:t>
            </a:r>
            <a:r>
              <a:rPr sz="1324" b="1" spc="23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ADD.D</a:t>
            </a:r>
            <a:r>
              <a:rPr sz="1324" b="1" spc="287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F4,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F6,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F6</a:t>
            </a:r>
            <a:endParaRPr sz="1324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15386" y="1198133"/>
            <a:ext cx="1752040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latin typeface="Arial"/>
                <a:cs typeface="Arial"/>
              </a:rPr>
              <a:t>S6:</a:t>
            </a:r>
            <a:r>
              <a:rPr sz="1324" b="1" spc="23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ADD.D</a:t>
            </a:r>
            <a:r>
              <a:rPr sz="1324" b="1" spc="287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F2,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F2,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F6</a:t>
            </a:r>
            <a:endParaRPr sz="1324">
              <a:latin typeface="Arial"/>
              <a:cs typeface="Arial"/>
            </a:endParaRPr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1CD4764A-5C09-1FA7-F977-8039572945E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22</a:t>
            </a:fld>
            <a:endParaRPr lang="en-US" spc="-44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551724"/>
            <a:ext cx="5183740" cy="589755"/>
          </a:xfrm>
          <a:prstGeom prst="rect">
            <a:avLst/>
          </a:prstGeom>
        </p:spPr>
        <p:txBody>
          <a:bodyPr vert="horz" wrap="square" lIns="0" tIns="126851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Time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spc="-44" dirty="0">
                <a:latin typeface="Arial MT"/>
                <a:cs typeface="Arial MT"/>
              </a:rPr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794" y="1568450"/>
            <a:ext cx="3995457" cy="355867"/>
          </a:xfrm>
          <a:prstGeom prst="rect">
            <a:avLst/>
          </a:prstGeom>
          <a:solidFill>
            <a:srgbClr val="00FF00"/>
          </a:solidFill>
          <a:ln w="10107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1006342">
              <a:spcBef>
                <a:spcPts val="975"/>
              </a:spcBef>
            </a:pPr>
            <a:r>
              <a:rPr sz="1500" b="1" dirty="0">
                <a:latin typeface="Arial"/>
                <a:cs typeface="Arial"/>
              </a:rPr>
              <a:t>S6:</a:t>
            </a:r>
            <a:r>
              <a:rPr sz="1500" b="1" spc="34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ADD.D</a:t>
            </a:r>
            <a:r>
              <a:rPr sz="1500" b="1" spc="38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F2,</a:t>
            </a:r>
            <a:r>
              <a:rPr sz="1500" b="1" spc="-9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F2,</a:t>
            </a:r>
            <a:r>
              <a:rPr sz="1500" b="1" spc="-4" dirty="0">
                <a:latin typeface="Arial"/>
                <a:cs typeface="Arial"/>
              </a:rPr>
              <a:t> </a:t>
            </a:r>
            <a:r>
              <a:rPr sz="1500" b="1" spc="-22" dirty="0">
                <a:latin typeface="Arial"/>
                <a:cs typeface="Arial"/>
              </a:rPr>
              <a:t>F6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5816" y="1627541"/>
            <a:ext cx="62640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9" dirty="0">
                <a:latin typeface="Arial"/>
                <a:cs typeface="Arial"/>
              </a:rPr>
              <a:t>stalled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72271" y="2206089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352327" y="2206089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7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48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72271" y="3418938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0" dirty="0">
                          <a:latin typeface="Arial"/>
                          <a:cs typeface="Arial"/>
                        </a:rPr>
                        <a:t>Add1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Add.d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352327" y="3418938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0" dirty="0">
                          <a:latin typeface="Arial"/>
                          <a:cs typeface="Arial"/>
                        </a:rPr>
                        <a:t>Add2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Add.d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576729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22" dirty="0">
                <a:latin typeface="Arial"/>
                <a:cs typeface="Arial"/>
              </a:rPr>
              <a:t>S2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2858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marL="191070">
              <a:spcBef>
                <a:spcPts val="710"/>
              </a:spcBef>
            </a:pPr>
            <a:r>
              <a:rPr sz="1500" b="1" spc="-9" dirty="0">
                <a:latin typeface="Arial"/>
                <a:cs typeface="Arial"/>
              </a:rPr>
              <a:t>Write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6786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22" dirty="0">
                <a:latin typeface="Arial"/>
                <a:cs typeface="Arial"/>
              </a:rPr>
              <a:t>S3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12916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marL="184907">
              <a:spcBef>
                <a:spcPts val="710"/>
              </a:spcBef>
            </a:pPr>
            <a:r>
              <a:rPr sz="1500" b="1" spc="-9" dirty="0">
                <a:latin typeface="Arial"/>
                <a:cs typeface="Arial"/>
              </a:rPr>
              <a:t>Issue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6729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22" dirty="0">
                <a:latin typeface="Arial"/>
                <a:cs typeface="Arial"/>
              </a:rPr>
              <a:t>S5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32858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marL="153529">
              <a:spcBef>
                <a:spcPts val="715"/>
              </a:spcBef>
            </a:pPr>
            <a:r>
              <a:rPr sz="1500" b="1" spc="-9" dirty="0">
                <a:latin typeface="Arial"/>
                <a:cs typeface="Arial"/>
              </a:rPr>
              <a:t>Exec2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56786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22" dirty="0">
                <a:latin typeface="Arial"/>
                <a:cs typeface="Arial"/>
              </a:rPr>
              <a:t>S4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12916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marL="191070">
              <a:spcBef>
                <a:spcPts val="715"/>
              </a:spcBef>
            </a:pPr>
            <a:r>
              <a:rPr sz="1500" b="1" spc="-9" dirty="0">
                <a:latin typeface="Arial"/>
                <a:cs typeface="Arial"/>
              </a:rPr>
              <a:t>Write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141841" y="4489099"/>
          <a:ext cx="5136775" cy="1283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2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7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48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a2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a1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m2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7320209" y="3793745"/>
            <a:ext cx="1485340" cy="1533855"/>
          </a:xfrm>
          <a:prstGeom prst="rect">
            <a:avLst/>
          </a:prstGeom>
        </p:spPr>
        <p:txBody>
          <a:bodyPr vert="horz" wrap="square" lIns="0" tIns="128307" rIns="0" bIns="0" rtlCol="0">
            <a:spAutoFit/>
          </a:bodyPr>
          <a:lstStyle/>
          <a:p>
            <a:pPr marL="33619">
              <a:spcBef>
                <a:spcPts val="1010"/>
              </a:spcBef>
            </a:pPr>
            <a:r>
              <a:rPr sz="1500" b="1" spc="-9" dirty="0">
                <a:latin typeface="Arial"/>
                <a:cs typeface="Arial"/>
              </a:rPr>
              <a:t>Stalled</a:t>
            </a:r>
            <a:endParaRPr sz="1500">
              <a:latin typeface="Arial"/>
              <a:cs typeface="Arial"/>
            </a:endParaRPr>
          </a:p>
          <a:p>
            <a:pPr marL="33619" marR="26896">
              <a:lnSpc>
                <a:spcPct val="149500"/>
              </a:lnSpc>
              <a:spcBef>
                <a:spcPts val="35"/>
              </a:spcBef>
            </a:pPr>
            <a:r>
              <a:rPr sz="1677" b="1" dirty="0">
                <a:latin typeface="Arial"/>
                <a:cs typeface="Arial"/>
              </a:rPr>
              <a:t>WAR</a:t>
            </a:r>
            <a:r>
              <a:rPr sz="1677" b="1" spc="-93" dirty="0">
                <a:latin typeface="Arial"/>
                <a:cs typeface="Arial"/>
              </a:rPr>
              <a:t> </a:t>
            </a:r>
            <a:r>
              <a:rPr sz="1677" b="1" spc="-9" dirty="0">
                <a:latin typeface="Arial"/>
                <a:cs typeface="Arial"/>
              </a:rPr>
              <a:t>check! </a:t>
            </a:r>
            <a:r>
              <a:rPr sz="1677" b="1" dirty="0">
                <a:latin typeface="Arial"/>
                <a:cs typeface="Arial"/>
              </a:rPr>
              <a:t>F</a:t>
            </a:r>
            <a:r>
              <a:rPr sz="1721" b="1" baseline="-17094" dirty="0">
                <a:latin typeface="Arial"/>
                <a:cs typeface="Arial"/>
              </a:rPr>
              <a:t>j</a:t>
            </a:r>
            <a:r>
              <a:rPr sz="1677" b="1" dirty="0">
                <a:latin typeface="Arial"/>
                <a:cs typeface="Arial"/>
              </a:rPr>
              <a:t>[m2]</a:t>
            </a:r>
            <a:r>
              <a:rPr sz="1677" b="1" spc="-26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=</a:t>
            </a:r>
            <a:r>
              <a:rPr sz="1677" b="1" spc="-22" dirty="0">
                <a:latin typeface="Arial"/>
                <a:cs typeface="Arial"/>
              </a:rPr>
              <a:t> </a:t>
            </a:r>
            <a:r>
              <a:rPr sz="1677" b="1" spc="-9" dirty="0">
                <a:latin typeface="Arial"/>
                <a:cs typeface="Arial"/>
              </a:rPr>
              <a:t>F</a:t>
            </a:r>
            <a:r>
              <a:rPr sz="1721" b="1" spc="-13" baseline="-17094" dirty="0">
                <a:latin typeface="Arial"/>
                <a:cs typeface="Arial"/>
              </a:rPr>
              <a:t>i</a:t>
            </a:r>
            <a:r>
              <a:rPr sz="1677" b="1" spc="-9" dirty="0">
                <a:latin typeface="Arial"/>
                <a:cs typeface="Arial"/>
              </a:rPr>
              <a:t>[a2]</a:t>
            </a:r>
            <a:endParaRPr sz="1677">
              <a:latin typeface="Arial"/>
              <a:cs typeface="Arial"/>
            </a:endParaRPr>
          </a:p>
          <a:p>
            <a:pPr marL="33619">
              <a:spcBef>
                <a:spcPts val="1077"/>
              </a:spcBef>
            </a:pPr>
            <a:r>
              <a:rPr sz="1677" b="1" dirty="0">
                <a:latin typeface="Arial"/>
                <a:cs typeface="Arial"/>
              </a:rPr>
              <a:t>&amp;</a:t>
            </a:r>
            <a:r>
              <a:rPr sz="1677" b="1" spc="-4" dirty="0">
                <a:latin typeface="Arial"/>
                <a:cs typeface="Arial"/>
              </a:rPr>
              <a:t> </a:t>
            </a:r>
            <a:r>
              <a:rPr sz="1677" b="1" spc="-9" dirty="0">
                <a:latin typeface="Arial"/>
                <a:cs typeface="Arial"/>
              </a:rPr>
              <a:t>R</a:t>
            </a:r>
            <a:r>
              <a:rPr sz="1721" b="1" spc="-13" baseline="-17094" dirty="0">
                <a:latin typeface="Arial"/>
                <a:cs typeface="Arial"/>
              </a:rPr>
              <a:t>j</a:t>
            </a:r>
            <a:r>
              <a:rPr sz="1677" b="1" spc="-9" dirty="0">
                <a:latin typeface="Arial"/>
                <a:cs typeface="Arial"/>
              </a:rPr>
              <a:t>[m2]=Yes</a:t>
            </a:r>
            <a:endParaRPr sz="1677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02936" y="2730201"/>
            <a:ext cx="2094940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latin typeface="Arial"/>
                <a:cs typeface="Arial"/>
              </a:rPr>
              <a:t>S2:</a:t>
            </a:r>
            <a:r>
              <a:rPr sz="1500" b="1" spc="322" dirty="0">
                <a:latin typeface="Arial"/>
                <a:cs typeface="Arial"/>
              </a:rPr>
              <a:t> </a:t>
            </a:r>
            <a:r>
              <a:rPr sz="1500" b="1" spc="-9" dirty="0">
                <a:latin typeface="Arial"/>
                <a:cs typeface="Arial"/>
              </a:rPr>
              <a:t>MULT.D</a:t>
            </a:r>
            <a:r>
              <a:rPr sz="1500" b="1" spc="31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F2,</a:t>
            </a:r>
            <a:r>
              <a:rPr sz="1500" b="1" spc="-4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F6,</a:t>
            </a:r>
            <a:r>
              <a:rPr sz="1500" b="1" spc="-44" dirty="0">
                <a:latin typeface="Arial"/>
                <a:cs typeface="Arial"/>
              </a:rPr>
              <a:t> </a:t>
            </a:r>
            <a:r>
              <a:rPr sz="1500" b="1" spc="-22" dirty="0">
                <a:latin typeface="Arial"/>
                <a:cs typeface="Arial"/>
              </a:rPr>
              <a:t>F8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39023" y="3160507"/>
            <a:ext cx="200473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latin typeface="Arial"/>
                <a:cs typeface="Arial"/>
              </a:rPr>
              <a:t>S4:</a:t>
            </a:r>
            <a:r>
              <a:rPr sz="1500" b="1" spc="3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ADD.D</a:t>
            </a:r>
            <a:r>
              <a:rPr sz="1500" b="1" spc="379" dirty="0"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F0</a:t>
            </a:r>
            <a:r>
              <a:rPr sz="1500" b="1" dirty="0">
                <a:latin typeface="Arial"/>
                <a:cs typeface="Arial"/>
              </a:rPr>
              <a:t>,</a:t>
            </a:r>
            <a:r>
              <a:rPr sz="1500" b="1" spc="-9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F8,</a:t>
            </a:r>
            <a:r>
              <a:rPr sz="1500" b="1" spc="-9" dirty="0">
                <a:latin typeface="Arial"/>
                <a:cs typeface="Arial"/>
              </a:rPr>
              <a:t> </a:t>
            </a:r>
            <a:r>
              <a:rPr sz="1500" b="1" spc="-22" dirty="0">
                <a:latin typeface="Arial"/>
                <a:cs typeface="Arial"/>
              </a:rPr>
              <a:t>F6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286622" y="2433828"/>
            <a:ext cx="927847" cy="124385"/>
          </a:xfrm>
          <a:custGeom>
            <a:avLst/>
            <a:gdLst/>
            <a:ahLst/>
            <a:cxnLst/>
            <a:rect l="l" t="t" r="r" b="b"/>
            <a:pathLst>
              <a:path w="1051560" h="140969">
                <a:moveTo>
                  <a:pt x="991030" y="70376"/>
                </a:moveTo>
                <a:lnTo>
                  <a:pt x="915283" y="114561"/>
                </a:lnTo>
                <a:lnTo>
                  <a:pt x="912840" y="123845"/>
                </a:lnTo>
                <a:lnTo>
                  <a:pt x="921278" y="138309"/>
                </a:lnTo>
                <a:lnTo>
                  <a:pt x="930562" y="140752"/>
                </a:lnTo>
                <a:lnTo>
                  <a:pt x="1025216" y="85537"/>
                </a:lnTo>
                <a:lnTo>
                  <a:pt x="1021119" y="85537"/>
                </a:lnTo>
                <a:lnTo>
                  <a:pt x="1021119" y="83472"/>
                </a:lnTo>
                <a:lnTo>
                  <a:pt x="1013480" y="83472"/>
                </a:lnTo>
                <a:lnTo>
                  <a:pt x="991030" y="70376"/>
                </a:lnTo>
                <a:close/>
              </a:path>
              <a:path w="1051560" h="140969">
                <a:moveTo>
                  <a:pt x="965041" y="55215"/>
                </a:moveTo>
                <a:lnTo>
                  <a:pt x="0" y="55215"/>
                </a:lnTo>
                <a:lnTo>
                  <a:pt x="0" y="85537"/>
                </a:lnTo>
                <a:lnTo>
                  <a:pt x="965040" y="85537"/>
                </a:lnTo>
                <a:lnTo>
                  <a:pt x="991030" y="70376"/>
                </a:lnTo>
                <a:lnTo>
                  <a:pt x="965041" y="55215"/>
                </a:lnTo>
                <a:close/>
              </a:path>
              <a:path w="1051560" h="140969">
                <a:moveTo>
                  <a:pt x="1025218" y="55215"/>
                </a:moveTo>
                <a:lnTo>
                  <a:pt x="1021119" y="55215"/>
                </a:lnTo>
                <a:lnTo>
                  <a:pt x="1021119" y="85537"/>
                </a:lnTo>
                <a:lnTo>
                  <a:pt x="1025216" y="85537"/>
                </a:lnTo>
                <a:lnTo>
                  <a:pt x="1051206" y="70376"/>
                </a:lnTo>
                <a:lnTo>
                  <a:pt x="1025218" y="55215"/>
                </a:lnTo>
                <a:close/>
              </a:path>
              <a:path w="1051560" h="140969">
                <a:moveTo>
                  <a:pt x="1013480" y="57280"/>
                </a:moveTo>
                <a:lnTo>
                  <a:pt x="991030" y="70376"/>
                </a:lnTo>
                <a:lnTo>
                  <a:pt x="1013480" y="83472"/>
                </a:lnTo>
                <a:lnTo>
                  <a:pt x="1013480" y="57280"/>
                </a:lnTo>
                <a:close/>
              </a:path>
              <a:path w="1051560" h="140969">
                <a:moveTo>
                  <a:pt x="1021119" y="57280"/>
                </a:moveTo>
                <a:lnTo>
                  <a:pt x="1013480" y="57280"/>
                </a:lnTo>
                <a:lnTo>
                  <a:pt x="1013480" y="83472"/>
                </a:lnTo>
                <a:lnTo>
                  <a:pt x="1021119" y="83472"/>
                </a:lnTo>
                <a:lnTo>
                  <a:pt x="1021119" y="57280"/>
                </a:lnTo>
                <a:close/>
              </a:path>
              <a:path w="1051560" h="140969">
                <a:moveTo>
                  <a:pt x="930562" y="0"/>
                </a:moveTo>
                <a:lnTo>
                  <a:pt x="921278" y="2442"/>
                </a:lnTo>
                <a:lnTo>
                  <a:pt x="912840" y="16907"/>
                </a:lnTo>
                <a:lnTo>
                  <a:pt x="915283" y="26189"/>
                </a:lnTo>
                <a:lnTo>
                  <a:pt x="991030" y="70376"/>
                </a:lnTo>
                <a:lnTo>
                  <a:pt x="1013480" y="57280"/>
                </a:lnTo>
                <a:lnTo>
                  <a:pt x="1021119" y="57280"/>
                </a:lnTo>
                <a:lnTo>
                  <a:pt x="1021119" y="55215"/>
                </a:lnTo>
                <a:lnTo>
                  <a:pt x="1025218" y="55215"/>
                </a:lnTo>
                <a:lnTo>
                  <a:pt x="9305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object 22"/>
          <p:cNvSpPr txBox="1"/>
          <p:nvPr/>
        </p:nvSpPr>
        <p:spPr>
          <a:xfrm>
            <a:off x="6644613" y="1874968"/>
            <a:ext cx="2199715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latin typeface="Arial"/>
                <a:cs typeface="Arial"/>
              </a:rPr>
              <a:t>S3:</a:t>
            </a:r>
            <a:r>
              <a:rPr sz="1500" b="1" spc="313" dirty="0">
                <a:latin typeface="Arial"/>
                <a:cs typeface="Arial"/>
              </a:rPr>
              <a:t> </a:t>
            </a:r>
            <a:r>
              <a:rPr sz="1500" b="1" spc="-9" dirty="0">
                <a:latin typeface="Arial"/>
                <a:cs typeface="Arial"/>
              </a:rPr>
              <a:t>MULT.D</a:t>
            </a:r>
            <a:r>
              <a:rPr sz="1500" b="1" spc="309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F10,</a:t>
            </a:r>
            <a:r>
              <a:rPr sz="1500" b="1" spc="-57" dirty="0"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/>
                <a:cs typeface="Arial"/>
              </a:rPr>
              <a:t>F0</a:t>
            </a:r>
            <a:r>
              <a:rPr sz="1500" b="1" dirty="0">
                <a:latin typeface="Arial"/>
                <a:cs typeface="Arial"/>
              </a:rPr>
              <a:t>,</a:t>
            </a:r>
            <a:r>
              <a:rPr sz="1500" b="1" spc="-49" dirty="0">
                <a:latin typeface="Arial"/>
                <a:cs typeface="Arial"/>
              </a:rPr>
              <a:t> </a:t>
            </a:r>
            <a:r>
              <a:rPr sz="1500" b="1" spc="-22" dirty="0">
                <a:latin typeface="Arial"/>
                <a:cs typeface="Arial"/>
              </a:rPr>
              <a:t>F2</a:t>
            </a:r>
            <a:endParaRPr sz="15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02189" y="3160507"/>
            <a:ext cx="200585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latin typeface="Arial"/>
                <a:cs typeface="Arial"/>
              </a:rPr>
              <a:t>S5:</a:t>
            </a:r>
            <a:r>
              <a:rPr sz="1500" b="1" spc="34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ADD.D</a:t>
            </a:r>
            <a:r>
              <a:rPr sz="1500" b="1" spc="38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F4,</a:t>
            </a:r>
            <a:r>
              <a:rPr sz="1500" b="1" spc="-9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F6,</a:t>
            </a:r>
            <a:r>
              <a:rPr sz="1500" b="1" spc="-4" dirty="0">
                <a:latin typeface="Arial"/>
                <a:cs typeface="Arial"/>
              </a:rPr>
              <a:t> </a:t>
            </a:r>
            <a:r>
              <a:rPr sz="1500" b="1" spc="-22" dirty="0">
                <a:latin typeface="Arial"/>
                <a:cs typeface="Arial"/>
              </a:rPr>
              <a:t>F6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15387" y="203050"/>
            <a:ext cx="1917887" cy="1013060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11206" marR="4483">
              <a:lnSpc>
                <a:spcPct val="98300"/>
              </a:lnSpc>
              <a:spcBef>
                <a:spcPts val="115"/>
              </a:spcBef>
            </a:pPr>
            <a:r>
              <a:rPr sz="1324" b="1" dirty="0">
                <a:latin typeface="Arial"/>
                <a:cs typeface="Arial"/>
              </a:rPr>
              <a:t>S1:</a:t>
            </a:r>
            <a:r>
              <a:rPr sz="1324" b="1" spc="22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ADD.D</a:t>
            </a:r>
            <a:r>
              <a:rPr sz="1324" b="1" spc="-49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F0,</a:t>
            </a:r>
            <a:r>
              <a:rPr sz="1324" b="1" spc="-49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F2,</a:t>
            </a:r>
            <a:r>
              <a:rPr sz="1324" b="1" spc="-44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F4 </a:t>
            </a:r>
            <a:r>
              <a:rPr sz="1324" b="1" dirty="0">
                <a:latin typeface="Arial"/>
                <a:cs typeface="Arial"/>
              </a:rPr>
              <a:t>S2:</a:t>
            </a:r>
            <a:r>
              <a:rPr sz="1324" b="1" spc="238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MULT.D</a:t>
            </a:r>
            <a:r>
              <a:rPr sz="1324" b="1" spc="243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F2,</a:t>
            </a:r>
            <a:r>
              <a:rPr sz="1324" b="1" spc="-62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F6,</a:t>
            </a:r>
            <a:r>
              <a:rPr sz="1324" b="1" spc="-66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F8 </a:t>
            </a:r>
            <a:r>
              <a:rPr sz="1324" b="1" dirty="0">
                <a:latin typeface="Arial"/>
                <a:cs typeface="Arial"/>
              </a:rPr>
              <a:t>S3:</a:t>
            </a:r>
            <a:r>
              <a:rPr sz="1324" b="1" spc="234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MULT.D</a:t>
            </a:r>
            <a:r>
              <a:rPr sz="1324" b="1" spc="238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F10,</a:t>
            </a:r>
            <a:r>
              <a:rPr sz="1324" b="1" spc="-62" dirty="0">
                <a:latin typeface="Arial"/>
                <a:cs typeface="Arial"/>
              </a:rPr>
              <a:t> </a:t>
            </a:r>
            <a:r>
              <a:rPr sz="1324" b="1" dirty="0">
                <a:solidFill>
                  <a:srgbClr val="FF0000"/>
                </a:solidFill>
                <a:latin typeface="Arial"/>
                <a:cs typeface="Arial"/>
              </a:rPr>
              <a:t>F0,</a:t>
            </a:r>
            <a:r>
              <a:rPr sz="1324" b="1" spc="-6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24" b="1" spc="-22" dirty="0">
                <a:solidFill>
                  <a:srgbClr val="FF0000"/>
                </a:solidFill>
                <a:latin typeface="Arial"/>
                <a:cs typeface="Arial"/>
              </a:rPr>
              <a:t>F2 </a:t>
            </a:r>
            <a:r>
              <a:rPr sz="1324" b="1" dirty="0">
                <a:latin typeface="Arial"/>
                <a:cs typeface="Arial"/>
              </a:rPr>
              <a:t>S4:</a:t>
            </a:r>
            <a:r>
              <a:rPr sz="1324" b="1" spc="23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ADD.D</a:t>
            </a:r>
            <a:r>
              <a:rPr sz="1324" b="1" spc="287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F0,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F8,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F6 </a:t>
            </a:r>
            <a:r>
              <a:rPr sz="1324" b="1" dirty="0">
                <a:latin typeface="Arial"/>
                <a:cs typeface="Arial"/>
              </a:rPr>
              <a:t>S5:</a:t>
            </a:r>
            <a:r>
              <a:rPr sz="1324" b="1" spc="23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ADD.D</a:t>
            </a:r>
            <a:r>
              <a:rPr sz="1324" b="1" spc="287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F4,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F6,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F6</a:t>
            </a:r>
            <a:endParaRPr sz="1324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15386" y="1198133"/>
            <a:ext cx="1752040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latin typeface="Arial"/>
                <a:cs typeface="Arial"/>
              </a:rPr>
              <a:t>S6:</a:t>
            </a:r>
            <a:r>
              <a:rPr sz="1324" b="1" spc="23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ADD.D</a:t>
            </a:r>
            <a:r>
              <a:rPr sz="1324" b="1" spc="287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F2,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F2,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F6</a:t>
            </a:r>
            <a:endParaRPr sz="1324">
              <a:latin typeface="Arial"/>
              <a:cs typeface="Arial"/>
            </a:endParaRPr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42BDBEE9-645C-F098-3FA7-53BF1EFD288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23</a:t>
            </a:fld>
            <a:endParaRPr lang="en-US" spc="-4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551724"/>
            <a:ext cx="5183740" cy="589755"/>
          </a:xfrm>
          <a:prstGeom prst="rect">
            <a:avLst/>
          </a:prstGeom>
        </p:spPr>
        <p:txBody>
          <a:bodyPr vert="horz" wrap="square" lIns="0" tIns="126851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Time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spc="-44" dirty="0">
                <a:latin typeface="Arial MT"/>
                <a:cs typeface="Arial MT"/>
              </a:rPr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794" y="1568450"/>
            <a:ext cx="3995457" cy="355867"/>
          </a:xfrm>
          <a:prstGeom prst="rect">
            <a:avLst/>
          </a:prstGeom>
          <a:solidFill>
            <a:srgbClr val="00FF00"/>
          </a:solidFill>
          <a:ln w="10107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1006342">
              <a:spcBef>
                <a:spcPts val="975"/>
              </a:spcBef>
            </a:pPr>
            <a:r>
              <a:rPr sz="1500" b="1" dirty="0">
                <a:latin typeface="Arial"/>
                <a:cs typeface="Arial"/>
              </a:rPr>
              <a:t>S6:</a:t>
            </a:r>
            <a:r>
              <a:rPr sz="1500" b="1" spc="34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ADD.D</a:t>
            </a:r>
            <a:r>
              <a:rPr sz="1500" b="1" spc="38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F2,</a:t>
            </a:r>
            <a:r>
              <a:rPr sz="1500" b="1" spc="-9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F2,</a:t>
            </a:r>
            <a:r>
              <a:rPr sz="1500" b="1" spc="-4" dirty="0">
                <a:latin typeface="Arial"/>
                <a:cs typeface="Arial"/>
              </a:rPr>
              <a:t> </a:t>
            </a:r>
            <a:r>
              <a:rPr sz="1500" b="1" spc="-22" dirty="0">
                <a:latin typeface="Arial"/>
                <a:cs typeface="Arial"/>
              </a:rPr>
              <a:t>F6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2271" y="2206089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352326" y="2206089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Mult.d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7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48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72271" y="3418938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0" dirty="0">
                          <a:latin typeface="Arial"/>
                          <a:cs typeface="Arial"/>
                        </a:rPr>
                        <a:t>Add1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Add.d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352326" y="3418938"/>
          <a:ext cx="3424514" cy="427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0" dirty="0">
                          <a:latin typeface="Arial"/>
                          <a:cs typeface="Arial"/>
                        </a:rPr>
                        <a:t>Add2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10" dirty="0">
                          <a:latin typeface="Arial"/>
                          <a:cs typeface="Arial"/>
                        </a:rPr>
                        <a:t>Add.d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576729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2858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44" dirty="0">
                <a:latin typeface="Arial"/>
                <a:cs typeface="Arial"/>
              </a:rPr>
              <a:t>x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6784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algn="ctr">
              <a:spcBef>
                <a:spcPts val="710"/>
              </a:spcBef>
            </a:pPr>
            <a:r>
              <a:rPr sz="1500" b="1" spc="-22" dirty="0">
                <a:latin typeface="Arial"/>
                <a:cs typeface="Arial"/>
              </a:rPr>
              <a:t>S3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12914" y="2709955"/>
            <a:ext cx="856129" cy="321920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207" rIns="0" bIns="0" rtlCol="0">
            <a:spAutoFit/>
          </a:bodyPr>
          <a:lstStyle/>
          <a:p>
            <a:pPr marL="153529">
              <a:spcBef>
                <a:spcPts val="710"/>
              </a:spcBef>
            </a:pPr>
            <a:r>
              <a:rPr sz="1500" b="1" spc="-9" dirty="0">
                <a:latin typeface="Arial"/>
                <a:cs typeface="Arial"/>
              </a:rPr>
              <a:t>Exec1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6729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22" dirty="0">
                <a:latin typeface="Arial"/>
                <a:cs typeface="Arial"/>
              </a:rPr>
              <a:t>S5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32858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marL="191070">
              <a:spcBef>
                <a:spcPts val="715"/>
              </a:spcBef>
            </a:pPr>
            <a:r>
              <a:rPr sz="1500" b="1" spc="-9" dirty="0">
                <a:latin typeface="Arial"/>
                <a:cs typeface="Arial"/>
              </a:rPr>
              <a:t>Write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56784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algn="ctr">
              <a:spcBef>
                <a:spcPts val="715"/>
              </a:spcBef>
            </a:pPr>
            <a:r>
              <a:rPr sz="1500" b="1" spc="-22" dirty="0">
                <a:latin typeface="Arial"/>
                <a:cs typeface="Arial"/>
              </a:rPr>
              <a:t>S4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12914" y="3922806"/>
            <a:ext cx="856129" cy="322487"/>
          </a:xfrm>
          <a:prstGeom prst="rect">
            <a:avLst/>
          </a:prstGeom>
          <a:solidFill>
            <a:srgbClr val="00CC00"/>
          </a:solidFill>
          <a:ln w="10107">
            <a:solidFill>
              <a:srgbClr val="000000"/>
            </a:solidFill>
          </a:ln>
        </p:spPr>
        <p:txBody>
          <a:bodyPr vert="horz" wrap="square" lIns="0" tIns="90768" rIns="0" bIns="0" rtlCol="0">
            <a:spAutoFit/>
          </a:bodyPr>
          <a:lstStyle/>
          <a:p>
            <a:pPr marL="191070">
              <a:spcBef>
                <a:spcPts val="715"/>
              </a:spcBef>
            </a:pPr>
            <a:r>
              <a:rPr sz="1500" b="1" spc="-9" dirty="0">
                <a:latin typeface="Arial"/>
                <a:cs typeface="Arial"/>
              </a:rPr>
              <a:t>Write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141841" y="4489099"/>
          <a:ext cx="5136775" cy="1283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2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7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F14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0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48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64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E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a1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25" dirty="0">
                          <a:latin typeface="Arial"/>
                          <a:cs typeface="Arial"/>
                        </a:rPr>
                        <a:t>m2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908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2419875" y="3910853"/>
            <a:ext cx="62640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9" dirty="0">
                <a:latin typeface="Arial"/>
                <a:cs typeface="Arial"/>
              </a:rPr>
              <a:t>stalled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39023" y="3160507"/>
            <a:ext cx="200473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S4:</a:t>
            </a:r>
            <a:r>
              <a:rPr sz="1500" b="1" spc="340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ADD.D</a:t>
            </a:r>
            <a:r>
              <a:rPr sz="1500" b="1" spc="379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99FF"/>
                </a:solidFill>
                <a:latin typeface="Arial"/>
                <a:cs typeface="Arial"/>
              </a:rPr>
              <a:t>F0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,</a:t>
            </a:r>
            <a:r>
              <a:rPr sz="1500" b="1" spc="-9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F8,</a:t>
            </a:r>
            <a:r>
              <a:rPr sz="1500" b="1" spc="-9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spc="-22" dirty="0">
                <a:solidFill>
                  <a:srgbClr val="FC0128"/>
                </a:solidFill>
                <a:latin typeface="Arial"/>
                <a:cs typeface="Arial"/>
              </a:rPr>
              <a:t>F6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22838" y="3160507"/>
            <a:ext cx="200473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S5:</a:t>
            </a:r>
            <a:r>
              <a:rPr sz="1500" b="1" spc="340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ADD.D</a:t>
            </a:r>
            <a:r>
              <a:rPr sz="1500" b="1" spc="379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99FF"/>
                </a:solidFill>
                <a:latin typeface="Arial"/>
                <a:cs typeface="Arial"/>
              </a:rPr>
              <a:t>F4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,</a:t>
            </a:r>
            <a:r>
              <a:rPr sz="1500" b="1" spc="-9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F6,</a:t>
            </a:r>
            <a:r>
              <a:rPr sz="1500" b="1" spc="-9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spc="-22" dirty="0">
                <a:solidFill>
                  <a:srgbClr val="FC0128"/>
                </a:solidFill>
                <a:latin typeface="Arial"/>
                <a:cs typeface="Arial"/>
              </a:rPr>
              <a:t>F6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15387" y="203050"/>
            <a:ext cx="1917887" cy="1013060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11206" marR="4483">
              <a:lnSpc>
                <a:spcPct val="98300"/>
              </a:lnSpc>
              <a:spcBef>
                <a:spcPts val="115"/>
              </a:spcBef>
            </a:pPr>
            <a:r>
              <a:rPr sz="1324" b="1" dirty="0">
                <a:latin typeface="Arial"/>
                <a:cs typeface="Arial"/>
              </a:rPr>
              <a:t>S1:</a:t>
            </a:r>
            <a:r>
              <a:rPr sz="1324" b="1" spc="22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ADD.D</a:t>
            </a:r>
            <a:r>
              <a:rPr sz="1324" b="1" spc="-49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F0,</a:t>
            </a:r>
            <a:r>
              <a:rPr sz="1324" b="1" spc="-49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F2,</a:t>
            </a:r>
            <a:r>
              <a:rPr sz="1324" b="1" spc="-44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F4 </a:t>
            </a:r>
            <a:r>
              <a:rPr sz="1324" b="1" dirty="0">
                <a:latin typeface="Arial"/>
                <a:cs typeface="Arial"/>
              </a:rPr>
              <a:t>S2:</a:t>
            </a:r>
            <a:r>
              <a:rPr sz="1324" b="1" spc="238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MULT.D</a:t>
            </a:r>
            <a:r>
              <a:rPr sz="1324" b="1" spc="243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F2,</a:t>
            </a:r>
            <a:r>
              <a:rPr sz="1324" b="1" spc="-62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F6,</a:t>
            </a:r>
            <a:r>
              <a:rPr sz="1324" b="1" spc="-66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F8 </a:t>
            </a:r>
            <a:r>
              <a:rPr sz="1324" b="1" dirty="0">
                <a:latin typeface="Arial"/>
                <a:cs typeface="Arial"/>
              </a:rPr>
              <a:t>S3:</a:t>
            </a:r>
            <a:r>
              <a:rPr sz="1324" b="1" spc="234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MULT.D</a:t>
            </a:r>
            <a:r>
              <a:rPr sz="1324" b="1" spc="238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F10,</a:t>
            </a:r>
            <a:r>
              <a:rPr sz="1324" b="1" spc="-62" dirty="0">
                <a:latin typeface="Arial"/>
                <a:cs typeface="Arial"/>
              </a:rPr>
              <a:t> </a:t>
            </a:r>
            <a:r>
              <a:rPr sz="1324" b="1" dirty="0">
                <a:solidFill>
                  <a:srgbClr val="FF0000"/>
                </a:solidFill>
                <a:latin typeface="Arial"/>
                <a:cs typeface="Arial"/>
              </a:rPr>
              <a:t>F0,</a:t>
            </a:r>
            <a:r>
              <a:rPr sz="1324" b="1" spc="-6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24" b="1" spc="-22" dirty="0">
                <a:solidFill>
                  <a:srgbClr val="FF0000"/>
                </a:solidFill>
                <a:latin typeface="Arial"/>
                <a:cs typeface="Arial"/>
              </a:rPr>
              <a:t>F2 </a:t>
            </a:r>
            <a:r>
              <a:rPr sz="1324" b="1" dirty="0">
                <a:latin typeface="Arial"/>
                <a:cs typeface="Arial"/>
              </a:rPr>
              <a:t>S4:</a:t>
            </a:r>
            <a:r>
              <a:rPr sz="1324" b="1" spc="23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ADD.D</a:t>
            </a:r>
            <a:r>
              <a:rPr sz="1324" b="1" spc="287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F0,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F8,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F6 </a:t>
            </a:r>
            <a:r>
              <a:rPr sz="1324" b="1" dirty="0">
                <a:latin typeface="Arial"/>
                <a:cs typeface="Arial"/>
              </a:rPr>
              <a:t>S5:</a:t>
            </a:r>
            <a:r>
              <a:rPr sz="1324" b="1" spc="23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ADD.D</a:t>
            </a:r>
            <a:r>
              <a:rPr sz="1324" b="1" spc="287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F4,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F6,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F6</a:t>
            </a:r>
            <a:endParaRPr sz="1324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15386" y="1198133"/>
            <a:ext cx="1752040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latin typeface="Arial"/>
                <a:cs typeface="Arial"/>
              </a:rPr>
              <a:t>S6:</a:t>
            </a:r>
            <a:r>
              <a:rPr sz="1324" b="1" spc="234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ADD.D</a:t>
            </a:r>
            <a:r>
              <a:rPr sz="1324" b="1" spc="287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F2,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dirty="0">
                <a:latin typeface="Arial"/>
                <a:cs typeface="Arial"/>
              </a:rPr>
              <a:t>F2,</a:t>
            </a:r>
            <a:r>
              <a:rPr sz="1324" b="1" spc="-40" dirty="0">
                <a:latin typeface="Arial"/>
                <a:cs typeface="Arial"/>
              </a:rPr>
              <a:t> </a:t>
            </a:r>
            <a:r>
              <a:rPr sz="1324" b="1" spc="-22" dirty="0">
                <a:latin typeface="Arial"/>
                <a:cs typeface="Arial"/>
              </a:rPr>
              <a:t>F6</a:t>
            </a:r>
            <a:endParaRPr sz="1324">
              <a:latin typeface="Arial"/>
              <a:cs typeface="Arial"/>
            </a:endParaRPr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929CE9CD-CB02-2C3D-C0B9-C76D4E09B9C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24</a:t>
            </a:fld>
            <a:endParaRPr lang="en-US" spc="-44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451" y="665180"/>
            <a:ext cx="6301067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Again…</a:t>
            </a:r>
            <a:r>
              <a:rPr spc="-66" dirty="0"/>
              <a:t> </a:t>
            </a:r>
            <a:r>
              <a:rPr dirty="0"/>
              <a:t>Scoreboard</a:t>
            </a:r>
            <a:r>
              <a:rPr spc="-66" dirty="0"/>
              <a:t> </a:t>
            </a:r>
            <a:r>
              <a:rPr dirty="0"/>
              <a:t>Working</a:t>
            </a:r>
            <a:r>
              <a:rPr spc="-57" dirty="0"/>
              <a:t> </a:t>
            </a:r>
            <a:r>
              <a:rPr spc="-9" dirty="0"/>
              <a:t>Mechanism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873" y="1585043"/>
            <a:ext cx="8922253" cy="47611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A51FDE-70A9-DC19-4ECF-4A92729B26E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25</a:t>
            </a:fld>
            <a:endParaRPr lang="en-US" spc="-44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322" y="398929"/>
            <a:ext cx="5893174" cy="70381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3521"/>
              </a:lnSpc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Scoreboard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Example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#2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spc="-9" dirty="0">
                <a:latin typeface="Arial MT"/>
                <a:cs typeface="Arial MT"/>
              </a:rPr>
              <a:t>(Fig.C.55)</a:t>
            </a:r>
          </a:p>
          <a:p>
            <a:pPr marL="11206">
              <a:lnSpc>
                <a:spcPts val="1932"/>
              </a:lnSpc>
            </a:pPr>
            <a:r>
              <a:rPr sz="1677" dirty="0">
                <a:latin typeface="Arial MT"/>
                <a:cs typeface="Arial MT"/>
              </a:rPr>
              <a:t>-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after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first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L.D</a:t>
            </a:r>
            <a:r>
              <a:rPr sz="1677" spc="-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write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result</a:t>
            </a:r>
            <a:endParaRPr sz="1677" dirty="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1664" y="1358165"/>
          <a:ext cx="7942728" cy="19374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6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8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9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Inst.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issue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Read</a:t>
                      </a:r>
                      <a:r>
                        <a:rPr sz="1000" b="1" spc="-1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operands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Execution</a:t>
                      </a:r>
                      <a:r>
                        <a:rPr sz="1000" b="1" spc="114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complete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Write</a:t>
                      </a:r>
                      <a:r>
                        <a:rPr sz="1000" b="1" spc="-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result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462280" algn="l"/>
                        </a:tabLst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L.D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34(R2)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462280" algn="l"/>
                        </a:tabLst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L.D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F2,</a:t>
                      </a:r>
                      <a:r>
                        <a:rPr sz="1000" b="1" spc="-1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45(R3)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MUL.D</a:t>
                      </a:r>
                      <a:r>
                        <a:rPr sz="1000" b="1" spc="-1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F0,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F2,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SUB.D</a:t>
                      </a:r>
                      <a:r>
                        <a:rPr sz="1000" b="1" spc="-1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F8,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DIV.D</a:t>
                      </a:r>
                      <a:r>
                        <a:rPr sz="1000" b="1" spc="-114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65" dirty="0">
                          <a:latin typeface="Comic Sans MS"/>
                          <a:cs typeface="Comic Sans MS"/>
                        </a:rPr>
                        <a:t>F10,F0,</a:t>
                      </a:r>
                      <a:r>
                        <a:rPr sz="1000" b="1" spc="-10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ADD.D</a:t>
                      </a:r>
                      <a:r>
                        <a:rPr sz="1000" b="1" spc="-1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F8,</a:t>
                      </a:r>
                      <a:r>
                        <a:rPr sz="1000" b="1" spc="-1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34696" y="3552708"/>
          <a:ext cx="7918072" cy="1652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4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Name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Busy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Op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Fi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Qj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Qk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Rj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Rk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Integer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Load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R3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Mult1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MUL.D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Integer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Add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SUB.D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F8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Integer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Divide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DIV.D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Mult1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4696" y="5433339"/>
          <a:ext cx="7918073" cy="511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0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F8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..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F30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FU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Mult1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Integer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Add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Divide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7F1FE96-8F6C-9C1E-AF8C-31F4ECC5EA8F}"/>
              </a:ext>
            </a:extLst>
          </p:cNvPr>
          <p:cNvSpPr txBox="1">
            <a:spLocks/>
          </p:cNvSpPr>
          <p:nvPr/>
        </p:nvSpPr>
        <p:spPr>
          <a:xfrm>
            <a:off x="8485094" y="6346231"/>
            <a:ext cx="382889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500" b="0" i="0" kern="1200">
                <a:solidFill>
                  <a:schemeClr val="tx1"/>
                </a:solidFill>
                <a:latin typeface="Arial MT"/>
                <a:ea typeface="+mn-ea"/>
                <a:cs typeface="Arial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26</a:t>
            </a:fld>
            <a:endParaRPr lang="en-US" spc="-44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7E05DC-53C7-BA10-5F35-C5A956A3BE7D}"/>
              </a:ext>
            </a:extLst>
          </p:cNvPr>
          <p:cNvSpPr txBox="1"/>
          <p:nvPr/>
        </p:nvSpPr>
        <p:spPr>
          <a:xfrm>
            <a:off x="520394" y="5165290"/>
            <a:ext cx="1250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Register</a:t>
            </a:r>
            <a:r>
              <a:rPr lang="en-US" sz="1400" spc="-40" dirty="0"/>
              <a:t> </a:t>
            </a:r>
            <a:r>
              <a:rPr lang="en-US" sz="1400" spc="-9" dirty="0"/>
              <a:t>Status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2D3F97-9E6D-A021-1055-9D75E264D644}"/>
              </a:ext>
            </a:extLst>
          </p:cNvPr>
          <p:cNvSpPr txBox="1"/>
          <p:nvPr/>
        </p:nvSpPr>
        <p:spPr>
          <a:xfrm>
            <a:off x="520394" y="3284659"/>
            <a:ext cx="19464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Functional Unit Status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0F5011-406D-6CEA-1F89-955BF43C935F}"/>
              </a:ext>
            </a:extLst>
          </p:cNvPr>
          <p:cNvSpPr txBox="1"/>
          <p:nvPr/>
        </p:nvSpPr>
        <p:spPr>
          <a:xfrm>
            <a:off x="520394" y="1110687"/>
            <a:ext cx="2195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Instruction Status Table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403807"/>
            <a:ext cx="7047071" cy="70381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3521"/>
              </a:lnSpc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Scoreboard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Example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#2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spc="-9" dirty="0">
                <a:latin typeface="Arial MT"/>
                <a:cs typeface="Arial MT"/>
              </a:rPr>
              <a:t>(cont.)</a:t>
            </a:r>
          </a:p>
          <a:p>
            <a:pPr marL="11206">
              <a:lnSpc>
                <a:spcPts val="1932"/>
              </a:lnSpc>
            </a:pPr>
            <a:r>
              <a:rPr sz="1677" dirty="0">
                <a:latin typeface="Arial MT"/>
                <a:cs typeface="Arial MT"/>
              </a:rPr>
              <a:t>-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after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2</a:t>
            </a:r>
            <a:r>
              <a:rPr sz="1721" baseline="25641" dirty="0">
                <a:latin typeface="Arial MT"/>
                <a:cs typeface="Arial MT"/>
              </a:rPr>
              <a:t>nd</a:t>
            </a:r>
            <a:r>
              <a:rPr sz="1721" spc="158" baseline="25641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L.D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write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result</a:t>
            </a:r>
            <a:endParaRPr sz="1677" dirty="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1664" y="1358165"/>
          <a:ext cx="7942728" cy="19374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6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8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9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Inst.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issue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Read</a:t>
                      </a:r>
                      <a:r>
                        <a:rPr sz="1000" b="1" spc="-1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operands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Execution</a:t>
                      </a:r>
                      <a:r>
                        <a:rPr sz="1000" b="1" spc="114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complete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Write</a:t>
                      </a:r>
                      <a:r>
                        <a:rPr sz="1000" b="1" spc="-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result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462280" algn="l"/>
                        </a:tabLst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L.D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34(R2)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462280" algn="l"/>
                        </a:tabLst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L.D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000" b="1" spc="-4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F2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sz="1000" b="1" spc="-1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45(R3)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0B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MUL.D</a:t>
                      </a:r>
                      <a:r>
                        <a:rPr sz="1000" b="1" spc="-1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F0,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F2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SUB.D</a:t>
                      </a:r>
                      <a:r>
                        <a:rPr sz="1000" b="1" spc="-1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F8,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DIV.D</a:t>
                      </a:r>
                      <a:r>
                        <a:rPr sz="1000" b="1" spc="-114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65" dirty="0">
                          <a:latin typeface="Comic Sans MS"/>
                          <a:cs typeface="Comic Sans MS"/>
                        </a:rPr>
                        <a:t>F10,F0,</a:t>
                      </a:r>
                      <a:r>
                        <a:rPr sz="1000" b="1" spc="-10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ADD.D</a:t>
                      </a:r>
                      <a:r>
                        <a:rPr sz="1000" b="1" spc="-1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F8,</a:t>
                      </a:r>
                      <a:r>
                        <a:rPr sz="1000" b="1" spc="-1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34696" y="3552708"/>
          <a:ext cx="7918072" cy="1652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4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Name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Busy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Op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Fi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Qj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Qk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Rj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Rk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Integer</a:t>
                      </a:r>
                      <a:r>
                        <a:rPr sz="1000" b="1" spc="-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75" dirty="0">
                          <a:latin typeface="Comic Sans MS"/>
                          <a:cs typeface="Comic Sans MS"/>
                        </a:rPr>
                        <a:t>(1</a:t>
                      </a:r>
                      <a:r>
                        <a:rPr sz="1000" b="1" spc="-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0B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trike="sngStrike" spc="-20" dirty="0">
                          <a:latin typeface="Comic Sans MS"/>
                          <a:cs typeface="Comic Sans MS"/>
                        </a:rPr>
                        <a:t>Load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trike="sngStrike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trike="sngStrike" spc="-25" dirty="0">
                          <a:latin typeface="Comic Sans MS"/>
                          <a:cs typeface="Comic Sans MS"/>
                        </a:rPr>
                        <a:t>R3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trike="sngStrike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Mult1</a:t>
                      </a:r>
                      <a:r>
                        <a:rPr sz="1000" b="1" spc="-1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(10</a:t>
                      </a:r>
                      <a:r>
                        <a:rPr sz="1000" b="1" spc="-1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MUL.D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Integer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0B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Mult2</a:t>
                      </a:r>
                      <a:r>
                        <a:rPr sz="1000" b="1" spc="-8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(10</a:t>
                      </a:r>
                      <a:r>
                        <a:rPr sz="1000" b="1" spc="-7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Add</a:t>
                      </a:r>
                      <a:r>
                        <a:rPr sz="1000" b="1" spc="27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(2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SUB.D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F8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Integer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0B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Divide</a:t>
                      </a: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(40</a:t>
                      </a:r>
                      <a:r>
                        <a:rPr sz="1000" b="1" spc="-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DIV.D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Mult1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4696" y="5433339"/>
          <a:ext cx="7918073" cy="511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0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F8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..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F30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FU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Mult1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0B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Add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Divide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9C6ED5A-1B81-52FD-052C-E0B6D09BA806}"/>
              </a:ext>
            </a:extLst>
          </p:cNvPr>
          <p:cNvSpPr txBox="1">
            <a:spLocks/>
          </p:cNvSpPr>
          <p:nvPr/>
        </p:nvSpPr>
        <p:spPr>
          <a:xfrm>
            <a:off x="8485094" y="6346231"/>
            <a:ext cx="382889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500" b="0" i="0" kern="1200">
                <a:solidFill>
                  <a:schemeClr val="tx1"/>
                </a:solidFill>
                <a:latin typeface="Arial MT"/>
                <a:ea typeface="+mn-ea"/>
                <a:cs typeface="Arial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27</a:t>
            </a:fld>
            <a:endParaRPr lang="en-US" spc="-44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0C7C5E-1B91-D9DE-4168-471A9F5C5A15}"/>
              </a:ext>
            </a:extLst>
          </p:cNvPr>
          <p:cNvSpPr txBox="1"/>
          <p:nvPr/>
        </p:nvSpPr>
        <p:spPr>
          <a:xfrm>
            <a:off x="520394" y="5165290"/>
            <a:ext cx="1250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Register</a:t>
            </a:r>
            <a:r>
              <a:rPr lang="en-US" sz="1400" spc="-40" dirty="0"/>
              <a:t> </a:t>
            </a:r>
            <a:r>
              <a:rPr lang="en-US" sz="1400" spc="-9" dirty="0"/>
              <a:t>Status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BE818-FB0C-CEAD-FC03-FC52FCF51B56}"/>
              </a:ext>
            </a:extLst>
          </p:cNvPr>
          <p:cNvSpPr txBox="1"/>
          <p:nvPr/>
        </p:nvSpPr>
        <p:spPr>
          <a:xfrm>
            <a:off x="520394" y="3284659"/>
            <a:ext cx="19464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Functional Unit Status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8C5010-531C-2C8C-97E1-D57898D91789}"/>
              </a:ext>
            </a:extLst>
          </p:cNvPr>
          <p:cNvSpPr txBox="1"/>
          <p:nvPr/>
        </p:nvSpPr>
        <p:spPr>
          <a:xfrm>
            <a:off x="520394" y="1110687"/>
            <a:ext cx="2195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Instruction Status Table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11664" y="1358165"/>
          <a:ext cx="7942728" cy="19374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6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8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9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Inst.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issue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Read</a:t>
                      </a:r>
                      <a:r>
                        <a:rPr sz="1000" b="1" spc="-1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operands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Execution</a:t>
                      </a:r>
                      <a:r>
                        <a:rPr sz="1000" b="1" spc="114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complete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Write</a:t>
                      </a:r>
                      <a:r>
                        <a:rPr sz="1000" b="1" spc="-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result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462280" algn="l"/>
                        </a:tabLst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L.D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34(R2)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462280" algn="l"/>
                        </a:tabLst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L.D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000" b="1" spc="-4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F2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sz="1000" b="1" spc="-1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45(R3)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MUL.D</a:t>
                      </a:r>
                      <a:r>
                        <a:rPr sz="1000" b="1" spc="-1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F0,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F2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SUB.D</a:t>
                      </a:r>
                      <a:r>
                        <a:rPr sz="1000" b="1" spc="-1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F8,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DIV.D</a:t>
                      </a:r>
                      <a:r>
                        <a:rPr sz="1000" b="1" spc="-114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65" dirty="0">
                          <a:latin typeface="Comic Sans MS"/>
                          <a:cs typeface="Comic Sans MS"/>
                        </a:rPr>
                        <a:t>F10,F0,</a:t>
                      </a:r>
                      <a:r>
                        <a:rPr sz="1000" b="1" spc="-10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ADD.D</a:t>
                      </a:r>
                      <a:r>
                        <a:rPr sz="1000" b="1" spc="-1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F8,</a:t>
                      </a:r>
                      <a:r>
                        <a:rPr sz="1000" b="1" spc="-1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34696" y="3552708"/>
          <a:ext cx="7918072" cy="1652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4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Name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Busy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Op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Fi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Qj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Qk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Rj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Rk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Integer</a:t>
                      </a:r>
                      <a:r>
                        <a:rPr sz="1000" b="1" spc="-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75" dirty="0">
                          <a:latin typeface="Comic Sans MS"/>
                          <a:cs typeface="Comic Sans MS"/>
                        </a:rPr>
                        <a:t>(1</a:t>
                      </a:r>
                      <a:r>
                        <a:rPr sz="1000" b="1" spc="-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trike="sngStrike" spc="-20" dirty="0">
                          <a:latin typeface="Comic Sans MS"/>
                          <a:cs typeface="Comic Sans MS"/>
                        </a:rPr>
                        <a:t>Load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trike="sngStrike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trike="sngStrike" spc="-25" dirty="0">
                          <a:latin typeface="Comic Sans MS"/>
                          <a:cs typeface="Comic Sans MS"/>
                        </a:rPr>
                        <a:t>R3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trike="sngStrike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Mult1</a:t>
                      </a:r>
                      <a:r>
                        <a:rPr sz="1000" b="1" spc="-1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(10</a:t>
                      </a:r>
                      <a:r>
                        <a:rPr sz="1000" b="1" spc="-1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MUL.D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Mult2</a:t>
                      </a:r>
                      <a:r>
                        <a:rPr sz="1000" b="1" spc="-8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(10</a:t>
                      </a:r>
                      <a:r>
                        <a:rPr sz="1000" b="1" spc="-7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Add</a:t>
                      </a:r>
                      <a:r>
                        <a:rPr sz="1000" b="1" spc="27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(2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SUB.D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F8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Divide</a:t>
                      </a: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(40</a:t>
                      </a:r>
                      <a:r>
                        <a:rPr sz="1000" b="1" spc="-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DIV.D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Mult1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34696" y="5433339"/>
          <a:ext cx="7918073" cy="511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0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F8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..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F30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FU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Mult1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Add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Divide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2090" y="403807"/>
            <a:ext cx="7209933" cy="70381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3521"/>
              </a:lnSpc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Scoreboard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Example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#2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spc="-9" dirty="0">
                <a:latin typeface="Arial MT"/>
                <a:cs typeface="Arial MT"/>
              </a:rPr>
              <a:t>(cont.)</a:t>
            </a:r>
          </a:p>
          <a:p>
            <a:pPr marL="11206">
              <a:lnSpc>
                <a:spcPts val="1932"/>
              </a:lnSpc>
            </a:pPr>
            <a:r>
              <a:rPr sz="1677" dirty="0">
                <a:latin typeface="Arial MT"/>
                <a:cs typeface="Arial MT"/>
              </a:rPr>
              <a:t>-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after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write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result,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MUL.D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and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SUB.D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read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operands</a:t>
            </a:r>
            <a:endParaRPr sz="1677" dirty="0">
              <a:latin typeface="Arial MT"/>
              <a:cs typeface="Arial MT"/>
            </a:endParaRP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7A65E64-F6A9-107E-9841-A2555D0EFE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28</a:t>
            </a:fld>
            <a:endParaRPr lang="en-US" spc="-44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D980D6-2A56-D697-ED64-9A417BE25059}"/>
              </a:ext>
            </a:extLst>
          </p:cNvPr>
          <p:cNvSpPr txBox="1"/>
          <p:nvPr/>
        </p:nvSpPr>
        <p:spPr>
          <a:xfrm>
            <a:off x="520394" y="5165290"/>
            <a:ext cx="1250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Register</a:t>
            </a:r>
            <a:r>
              <a:rPr lang="en-US" sz="1400" spc="-40" dirty="0"/>
              <a:t> </a:t>
            </a:r>
            <a:r>
              <a:rPr lang="en-US" sz="1400" spc="-9" dirty="0"/>
              <a:t>Status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1CBF6D-1B15-0432-C247-22E12649F0DB}"/>
              </a:ext>
            </a:extLst>
          </p:cNvPr>
          <p:cNvSpPr txBox="1"/>
          <p:nvPr/>
        </p:nvSpPr>
        <p:spPr>
          <a:xfrm>
            <a:off x="520394" y="3284659"/>
            <a:ext cx="19464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Functional Unit Status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CF978-5D26-13FA-2740-2E1D40FEE855}"/>
              </a:ext>
            </a:extLst>
          </p:cNvPr>
          <p:cNvSpPr txBox="1"/>
          <p:nvPr/>
        </p:nvSpPr>
        <p:spPr>
          <a:xfrm>
            <a:off x="520394" y="1110687"/>
            <a:ext cx="2195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Instruction Status Table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11664" y="1358165"/>
          <a:ext cx="7942728" cy="19374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6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8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9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Inst.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issue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Read</a:t>
                      </a:r>
                      <a:r>
                        <a:rPr sz="1000" b="1" spc="-1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operands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Execution</a:t>
                      </a:r>
                      <a:r>
                        <a:rPr sz="1000" b="1" spc="114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complete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Write</a:t>
                      </a:r>
                      <a:r>
                        <a:rPr sz="1000" b="1" spc="-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result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462280" algn="l"/>
                        </a:tabLst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L.D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34(R2)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462280" algn="l"/>
                        </a:tabLst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L.D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F2,</a:t>
                      </a:r>
                      <a:r>
                        <a:rPr sz="1000" b="1" spc="-1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45(R3)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MUL.D</a:t>
                      </a:r>
                      <a:r>
                        <a:rPr sz="1000" b="1" spc="-1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F0,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F2,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SUB.D</a:t>
                      </a:r>
                      <a:r>
                        <a:rPr sz="1000" b="1" spc="-1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F8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DIV.D</a:t>
                      </a:r>
                      <a:r>
                        <a:rPr sz="1000" b="1" spc="-114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65" dirty="0">
                          <a:latin typeface="Comic Sans MS"/>
                          <a:cs typeface="Comic Sans MS"/>
                        </a:rPr>
                        <a:t>F10,F0,</a:t>
                      </a:r>
                      <a:r>
                        <a:rPr sz="1000" b="1" spc="-10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ADD.D</a:t>
                      </a:r>
                      <a:r>
                        <a:rPr sz="1000" b="1" spc="-1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F8,</a:t>
                      </a:r>
                      <a:r>
                        <a:rPr sz="1000" b="1" spc="-1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34696" y="3552708"/>
          <a:ext cx="7918072" cy="1652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4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Name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Busy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Op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Fi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Qj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Qk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Rj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Rk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Integer</a:t>
                      </a:r>
                      <a:r>
                        <a:rPr sz="1000" b="1" spc="-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75" dirty="0">
                          <a:latin typeface="Comic Sans MS"/>
                          <a:cs typeface="Comic Sans MS"/>
                        </a:rPr>
                        <a:t>(1</a:t>
                      </a:r>
                      <a:r>
                        <a:rPr sz="1000" b="1" spc="-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trike="sngStrike" spc="-20" dirty="0">
                          <a:latin typeface="Comic Sans MS"/>
                          <a:cs typeface="Comic Sans MS"/>
                        </a:rPr>
                        <a:t>Load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trike="sngStrike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trike="sngStrike" spc="-25" dirty="0">
                          <a:latin typeface="Comic Sans MS"/>
                          <a:cs typeface="Comic Sans MS"/>
                        </a:rPr>
                        <a:t>R3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trike="sngStrike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Mult1</a:t>
                      </a:r>
                      <a:r>
                        <a:rPr sz="1000" b="1" spc="-1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(10</a:t>
                      </a:r>
                      <a:r>
                        <a:rPr sz="1000" b="1" spc="-1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MUL.D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Mult2</a:t>
                      </a:r>
                      <a:r>
                        <a:rPr sz="1000" b="1" spc="-8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(10</a:t>
                      </a:r>
                      <a:r>
                        <a:rPr sz="1000" b="1" spc="-7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Add</a:t>
                      </a:r>
                      <a:r>
                        <a:rPr sz="1000" b="1" spc="27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(2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trike="sngStrike" spc="-10" dirty="0">
                          <a:latin typeface="Comic Sans MS"/>
                          <a:cs typeface="Comic Sans MS"/>
                        </a:rPr>
                        <a:t>SUB.D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trike="sngStrike" spc="-25" dirty="0">
                          <a:latin typeface="Comic Sans MS"/>
                          <a:cs typeface="Comic Sans MS"/>
                        </a:rPr>
                        <a:t>F8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trike="sngStrike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trike="sngStrike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trike="sngStrike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trike="sngStrike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trike="sngStrike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trike="sngStrike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Divide</a:t>
                      </a: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(40</a:t>
                      </a:r>
                      <a:r>
                        <a:rPr sz="1000" b="1" spc="-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DIV.D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Mult1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34696" y="5433339"/>
          <a:ext cx="7918073" cy="511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0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F8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..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F30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FU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Mult1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Divide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2090" y="403807"/>
            <a:ext cx="7047071" cy="70381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3521"/>
              </a:lnSpc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Scoreboard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Example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#2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spc="-9" dirty="0">
                <a:latin typeface="Arial MT"/>
                <a:cs typeface="Arial MT"/>
              </a:rPr>
              <a:t>(cont.)</a:t>
            </a:r>
          </a:p>
          <a:p>
            <a:pPr marL="11206">
              <a:lnSpc>
                <a:spcPts val="1932"/>
              </a:lnSpc>
            </a:pPr>
            <a:r>
              <a:rPr sz="1677" dirty="0">
                <a:latin typeface="Arial MT"/>
                <a:cs typeface="Arial MT"/>
              </a:rPr>
              <a:t>-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after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SUB.D</a:t>
            </a:r>
            <a:r>
              <a:rPr sz="1677" spc="-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write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result</a:t>
            </a:r>
            <a:endParaRPr sz="1677" dirty="0">
              <a:latin typeface="Arial MT"/>
              <a:cs typeface="Arial MT"/>
            </a:endParaRP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C7A6F43-0059-5238-B973-E996E6B8E4D1}"/>
              </a:ext>
            </a:extLst>
          </p:cNvPr>
          <p:cNvSpPr txBox="1">
            <a:spLocks/>
          </p:cNvSpPr>
          <p:nvPr/>
        </p:nvSpPr>
        <p:spPr>
          <a:xfrm>
            <a:off x="8485094" y="6346231"/>
            <a:ext cx="382889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500" b="0" i="0" kern="1200">
                <a:solidFill>
                  <a:schemeClr val="tx1"/>
                </a:solidFill>
                <a:latin typeface="Arial MT"/>
                <a:ea typeface="+mn-ea"/>
                <a:cs typeface="Arial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29</a:t>
            </a:fld>
            <a:endParaRPr lang="en-US" spc="-44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0C5359-B033-27ED-581D-67F474D0A70E}"/>
              </a:ext>
            </a:extLst>
          </p:cNvPr>
          <p:cNvSpPr txBox="1"/>
          <p:nvPr/>
        </p:nvSpPr>
        <p:spPr>
          <a:xfrm>
            <a:off x="520394" y="5165290"/>
            <a:ext cx="1250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Register</a:t>
            </a:r>
            <a:r>
              <a:rPr lang="en-US" sz="1400" spc="-40" dirty="0"/>
              <a:t> </a:t>
            </a:r>
            <a:r>
              <a:rPr lang="en-US" sz="1400" spc="-9" dirty="0"/>
              <a:t>Status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765C29-00C1-4C6C-5F29-B47BED030B6A}"/>
              </a:ext>
            </a:extLst>
          </p:cNvPr>
          <p:cNvSpPr txBox="1"/>
          <p:nvPr/>
        </p:nvSpPr>
        <p:spPr>
          <a:xfrm>
            <a:off x="520394" y="3284659"/>
            <a:ext cx="19464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Functional Unit Status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1077F2-1516-0CAD-FC77-390AFEF014C1}"/>
              </a:ext>
            </a:extLst>
          </p:cNvPr>
          <p:cNvSpPr txBox="1"/>
          <p:nvPr/>
        </p:nvSpPr>
        <p:spPr>
          <a:xfrm>
            <a:off x="520394" y="1110687"/>
            <a:ext cx="2195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Instruction Status Table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11664" y="1358165"/>
          <a:ext cx="7942728" cy="19374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6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8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9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Inst.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issue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Read</a:t>
                      </a:r>
                      <a:r>
                        <a:rPr sz="1000" b="1" spc="-1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operands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Execution</a:t>
                      </a:r>
                      <a:r>
                        <a:rPr sz="1000" b="1" spc="114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complete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Write</a:t>
                      </a:r>
                      <a:r>
                        <a:rPr sz="1000" b="1" spc="-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result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462280" algn="l"/>
                        </a:tabLst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L.D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34(R2)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462280" algn="l"/>
                        </a:tabLst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L.D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F2,</a:t>
                      </a:r>
                      <a:r>
                        <a:rPr sz="1000" b="1" spc="-1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45(R3)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MUL.D</a:t>
                      </a:r>
                      <a:r>
                        <a:rPr sz="1000" b="1" spc="-1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F0,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F2,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SUB.D</a:t>
                      </a:r>
                      <a:r>
                        <a:rPr sz="1000" b="1" spc="-1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F8,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DIV.D</a:t>
                      </a:r>
                      <a:r>
                        <a:rPr sz="1000" b="1" spc="-114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65" dirty="0">
                          <a:latin typeface="Comic Sans MS"/>
                          <a:cs typeface="Comic Sans MS"/>
                        </a:rPr>
                        <a:t>F10,F0,</a:t>
                      </a:r>
                      <a:r>
                        <a:rPr sz="1000" b="1" spc="-10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ADD.D</a:t>
                      </a:r>
                      <a:r>
                        <a:rPr sz="1000" b="1" spc="-1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F8,</a:t>
                      </a:r>
                      <a:r>
                        <a:rPr sz="1000" b="1" spc="-1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34696" y="3552708"/>
          <a:ext cx="7918072" cy="1652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4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Name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Busy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Op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Fi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Qj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Qk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Rj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Rk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Integer</a:t>
                      </a:r>
                      <a:r>
                        <a:rPr sz="1000" b="1" spc="-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75" dirty="0">
                          <a:latin typeface="Comic Sans MS"/>
                          <a:cs typeface="Comic Sans MS"/>
                        </a:rPr>
                        <a:t>(1</a:t>
                      </a:r>
                      <a:r>
                        <a:rPr sz="1000" b="1" spc="-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trike="sngStrike" spc="-20" dirty="0">
                          <a:latin typeface="Comic Sans MS"/>
                          <a:cs typeface="Comic Sans MS"/>
                        </a:rPr>
                        <a:t>Load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trike="sngStrike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trike="sngStrike" spc="-25" dirty="0">
                          <a:latin typeface="Comic Sans MS"/>
                          <a:cs typeface="Comic Sans MS"/>
                        </a:rPr>
                        <a:t>R3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trike="sngStrike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Mult1</a:t>
                      </a:r>
                      <a:r>
                        <a:rPr sz="1000" b="1" spc="-1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(10</a:t>
                      </a:r>
                      <a:r>
                        <a:rPr sz="1000" b="1" spc="-1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MUL.D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Mult2</a:t>
                      </a:r>
                      <a:r>
                        <a:rPr sz="1000" b="1" spc="-8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(10</a:t>
                      </a:r>
                      <a:r>
                        <a:rPr sz="1000" b="1" spc="-7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Add</a:t>
                      </a:r>
                      <a:r>
                        <a:rPr sz="1000" b="1" spc="27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(2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ADD.D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F8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Divide</a:t>
                      </a: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(40</a:t>
                      </a:r>
                      <a:r>
                        <a:rPr sz="1000" b="1" spc="-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DIV.D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Mult1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34696" y="5433339"/>
          <a:ext cx="7918073" cy="511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0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F8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..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F30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FU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Mult1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Add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Divide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2091" y="403807"/>
            <a:ext cx="7398192" cy="70381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3521"/>
              </a:lnSpc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Scoreboard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Example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#2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spc="-9" dirty="0">
                <a:latin typeface="Arial MT"/>
                <a:cs typeface="Arial MT"/>
              </a:rPr>
              <a:t>(cont.)</a:t>
            </a:r>
          </a:p>
          <a:p>
            <a:pPr marL="11206">
              <a:lnSpc>
                <a:spcPts val="1932"/>
              </a:lnSpc>
            </a:pPr>
            <a:r>
              <a:rPr sz="1677" dirty="0">
                <a:latin typeface="Arial MT"/>
                <a:cs typeface="Arial MT"/>
              </a:rPr>
              <a:t>-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after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the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write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result,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ADD.D</a:t>
            </a:r>
            <a:r>
              <a:rPr sz="1677" spc="-9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is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issued</a:t>
            </a:r>
            <a:endParaRPr sz="1677" dirty="0">
              <a:latin typeface="Arial MT"/>
              <a:cs typeface="Arial MT"/>
            </a:endParaRP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AECD36F-F17C-1F5A-BA9D-8E4F4315DA1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30</a:t>
            </a:fld>
            <a:endParaRPr lang="en-US" spc="-44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334755-AF2D-F75C-3944-FD20B632BA68}"/>
              </a:ext>
            </a:extLst>
          </p:cNvPr>
          <p:cNvSpPr txBox="1"/>
          <p:nvPr/>
        </p:nvSpPr>
        <p:spPr>
          <a:xfrm>
            <a:off x="520394" y="5165290"/>
            <a:ext cx="1250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Register</a:t>
            </a:r>
            <a:r>
              <a:rPr lang="en-US" sz="1400" spc="-40" dirty="0"/>
              <a:t> </a:t>
            </a:r>
            <a:r>
              <a:rPr lang="en-US" sz="1400" spc="-9" dirty="0"/>
              <a:t>Status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00B26E-1AF9-2B66-3ED1-06492333FE6E}"/>
              </a:ext>
            </a:extLst>
          </p:cNvPr>
          <p:cNvSpPr txBox="1"/>
          <p:nvPr/>
        </p:nvSpPr>
        <p:spPr>
          <a:xfrm>
            <a:off x="520394" y="3284659"/>
            <a:ext cx="19464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Functional Unit Status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1DF64B-95E7-522F-BDAA-0F41986DC4EC}"/>
              </a:ext>
            </a:extLst>
          </p:cNvPr>
          <p:cNvSpPr txBox="1"/>
          <p:nvPr/>
        </p:nvSpPr>
        <p:spPr>
          <a:xfrm>
            <a:off x="520394" y="1110687"/>
            <a:ext cx="2195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Instruction Status Table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11664" y="1358165"/>
          <a:ext cx="7942728" cy="19374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6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8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9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Inst.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issue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Read</a:t>
                      </a:r>
                      <a:r>
                        <a:rPr sz="1000" b="1" spc="-1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operands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Execution</a:t>
                      </a:r>
                      <a:r>
                        <a:rPr sz="1000" b="1" spc="114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complete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Write</a:t>
                      </a:r>
                      <a:r>
                        <a:rPr sz="1000" b="1" spc="-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result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462280" algn="l"/>
                        </a:tabLst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L.D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34(R2)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462280" algn="l"/>
                        </a:tabLst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L.D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F2,</a:t>
                      </a:r>
                      <a:r>
                        <a:rPr sz="1000" b="1" spc="-1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45(R3)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MUL.D</a:t>
                      </a:r>
                      <a:r>
                        <a:rPr sz="1000" b="1" spc="-13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F0,</a:t>
                      </a:r>
                      <a:r>
                        <a:rPr sz="1000" b="1" spc="-12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F2,</a:t>
                      </a:r>
                      <a:r>
                        <a:rPr sz="1000" b="1" spc="-12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SUB.D</a:t>
                      </a:r>
                      <a:r>
                        <a:rPr sz="1000" b="1" spc="-1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F8,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DIV.D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65" dirty="0">
                          <a:latin typeface="Comic Sans MS"/>
                          <a:cs typeface="Comic Sans MS"/>
                        </a:rPr>
                        <a:t>F10,F0,</a:t>
                      </a:r>
                      <a:r>
                        <a:rPr sz="1000" b="1" spc="-9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ADD.D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F6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sz="1000" b="1" spc="-10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F8,</a:t>
                      </a:r>
                      <a:r>
                        <a:rPr sz="1000" b="1" spc="-10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F2</a:t>
                      </a:r>
                      <a:r>
                        <a:rPr sz="1000" b="1" spc="-114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(WAR</a:t>
                      </a:r>
                      <a:r>
                        <a:rPr sz="1000" b="1" spc="-1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on</a:t>
                      </a:r>
                      <a:r>
                        <a:rPr sz="1000" b="1" spc="-10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F6)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34696" y="3552708"/>
          <a:ext cx="7918072" cy="1652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4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Name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Busy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Op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Fi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Qj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Qk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Rj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Rk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Integer</a:t>
                      </a:r>
                      <a:r>
                        <a:rPr sz="1000" b="1" spc="-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75" dirty="0">
                          <a:latin typeface="Comic Sans MS"/>
                          <a:cs typeface="Comic Sans MS"/>
                        </a:rPr>
                        <a:t>(1</a:t>
                      </a:r>
                      <a:r>
                        <a:rPr sz="1000" b="1" spc="-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Mult1</a:t>
                      </a:r>
                      <a:r>
                        <a:rPr sz="1000" b="1" spc="-1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(10</a:t>
                      </a:r>
                      <a:r>
                        <a:rPr sz="1000" b="1" spc="-1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MUL.D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Mult2</a:t>
                      </a:r>
                      <a:r>
                        <a:rPr sz="1000" b="1" spc="-8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(10</a:t>
                      </a:r>
                      <a:r>
                        <a:rPr sz="1000" b="1" spc="-7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Add</a:t>
                      </a:r>
                      <a:r>
                        <a:rPr sz="1000" b="1" spc="27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(2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ADD.D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F8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Divide</a:t>
                      </a: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(40</a:t>
                      </a:r>
                      <a:r>
                        <a:rPr sz="1000" b="1" spc="-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DIV.D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Mult1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34696" y="5433339"/>
          <a:ext cx="7918073" cy="511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0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F8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..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F30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FU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Mult1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Add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Divide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2091" y="403807"/>
            <a:ext cx="7451980" cy="70381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3521"/>
              </a:lnSpc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Scoreboard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Example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#2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spc="-9" dirty="0">
                <a:latin typeface="Arial MT"/>
                <a:cs typeface="Arial MT"/>
              </a:rPr>
              <a:t>(cont.)</a:t>
            </a:r>
          </a:p>
          <a:p>
            <a:pPr marL="11206">
              <a:lnSpc>
                <a:spcPts val="1932"/>
              </a:lnSpc>
            </a:pPr>
            <a:r>
              <a:rPr sz="1677" dirty="0">
                <a:latin typeface="Arial MT"/>
                <a:cs typeface="Arial MT"/>
              </a:rPr>
              <a:t>-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Just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before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MUL.D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goes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write</a:t>
            </a:r>
            <a:r>
              <a:rPr sz="1677" spc="-22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result</a:t>
            </a:r>
            <a:endParaRPr sz="1677" dirty="0">
              <a:latin typeface="Arial MT"/>
              <a:cs typeface="Arial MT"/>
            </a:endParaRP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DC4F39B-6738-7D83-0EA2-4B8DAF562F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31</a:t>
            </a:fld>
            <a:endParaRPr lang="en-US" spc="-44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4B1761-5EE7-90E6-AF0C-8806938DA6AC}"/>
              </a:ext>
            </a:extLst>
          </p:cNvPr>
          <p:cNvSpPr txBox="1"/>
          <p:nvPr/>
        </p:nvSpPr>
        <p:spPr>
          <a:xfrm>
            <a:off x="520394" y="5165290"/>
            <a:ext cx="1250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Register</a:t>
            </a:r>
            <a:r>
              <a:rPr lang="en-US" sz="1400" spc="-40" dirty="0"/>
              <a:t> </a:t>
            </a:r>
            <a:r>
              <a:rPr lang="en-US" sz="1400" spc="-9" dirty="0"/>
              <a:t>Status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47EEFF-F8DA-7A0D-7EC9-F7D6E720E80C}"/>
              </a:ext>
            </a:extLst>
          </p:cNvPr>
          <p:cNvSpPr txBox="1"/>
          <p:nvPr/>
        </p:nvSpPr>
        <p:spPr>
          <a:xfrm>
            <a:off x="520394" y="3284659"/>
            <a:ext cx="19464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Functional Unit Status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97DDEB-24E0-2AA4-468E-E505828DF297}"/>
              </a:ext>
            </a:extLst>
          </p:cNvPr>
          <p:cNvSpPr txBox="1"/>
          <p:nvPr/>
        </p:nvSpPr>
        <p:spPr>
          <a:xfrm>
            <a:off x="520394" y="1110687"/>
            <a:ext cx="2195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Instruction Status Table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11664" y="1358165"/>
          <a:ext cx="7942728" cy="19374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6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8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9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Inst.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issue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Read</a:t>
                      </a:r>
                      <a:r>
                        <a:rPr sz="1000" b="1" spc="-1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operands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Execution</a:t>
                      </a:r>
                      <a:r>
                        <a:rPr sz="1000" b="1" spc="114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complete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Write</a:t>
                      </a:r>
                      <a:r>
                        <a:rPr sz="1000" b="1" spc="-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result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21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462280" algn="l"/>
                        </a:tabLst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L.D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34(R2)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462280" algn="l"/>
                        </a:tabLst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L.D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F2,</a:t>
                      </a:r>
                      <a:r>
                        <a:rPr sz="1000" b="1" spc="-1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45(R3)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MUL.D</a:t>
                      </a:r>
                      <a:r>
                        <a:rPr sz="1000" b="1" spc="-1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F0,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F2,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SUB.D</a:t>
                      </a:r>
                      <a:r>
                        <a:rPr sz="1000" b="1" spc="-1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F8,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DIV.D</a:t>
                      </a:r>
                      <a:r>
                        <a:rPr sz="1000" b="1" spc="-114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6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F10,F0,</a:t>
                      </a:r>
                      <a:r>
                        <a:rPr sz="1000" b="1" spc="-10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ADD.D</a:t>
                      </a:r>
                      <a:r>
                        <a:rPr sz="1000" b="1" spc="-1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F6,</a:t>
                      </a:r>
                      <a:r>
                        <a:rPr sz="1000" b="1" spc="-1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F8,</a:t>
                      </a:r>
                      <a:r>
                        <a:rPr sz="1000" b="1" spc="-1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O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34696" y="3552708"/>
          <a:ext cx="7918072" cy="1652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4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Name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0" dirty="0">
                          <a:latin typeface="Comic Sans MS"/>
                          <a:cs typeface="Comic Sans MS"/>
                        </a:rPr>
                        <a:t>Busy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Op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Fi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Qj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Qk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Rj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Rk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577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Integer</a:t>
                      </a:r>
                      <a:r>
                        <a:rPr sz="1000" b="1" spc="-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75" dirty="0">
                          <a:latin typeface="Comic Sans MS"/>
                          <a:cs typeface="Comic Sans MS"/>
                        </a:rPr>
                        <a:t>(1</a:t>
                      </a:r>
                      <a:r>
                        <a:rPr sz="1000" b="1" spc="-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434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Mult1</a:t>
                      </a:r>
                      <a:r>
                        <a:rPr sz="1000" b="1" spc="-1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(10</a:t>
                      </a:r>
                      <a:r>
                        <a:rPr sz="1000" b="1" spc="-1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Mult2</a:t>
                      </a:r>
                      <a:r>
                        <a:rPr sz="1000" b="1" spc="-8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45" dirty="0">
                          <a:latin typeface="Comic Sans MS"/>
                          <a:cs typeface="Comic Sans MS"/>
                        </a:rPr>
                        <a:t>(10</a:t>
                      </a:r>
                      <a:r>
                        <a:rPr sz="1000" b="1" spc="-7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78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Add</a:t>
                      </a:r>
                      <a:r>
                        <a:rPr sz="1000" b="1" spc="27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(2</a:t>
                      </a:r>
                      <a:r>
                        <a:rPr sz="1000" b="1" spc="-1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dirty="0">
                          <a:latin typeface="Comic Sans MS"/>
                          <a:cs typeface="Comic Sans MS"/>
                        </a:rPr>
                        <a:t>Divide</a:t>
                      </a: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dirty="0">
                          <a:latin typeface="Comic Sans MS"/>
                          <a:cs typeface="Comic Sans MS"/>
                        </a:rPr>
                        <a:t>(40</a:t>
                      </a:r>
                      <a:r>
                        <a:rPr sz="1000" b="1" spc="-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cc)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Y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DIV.D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00" b="1" spc="-50" dirty="0">
                          <a:latin typeface="Comic Sans MS"/>
                          <a:cs typeface="Comic Sans MS"/>
                        </a:rPr>
                        <a:t>N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266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34696" y="5433339"/>
          <a:ext cx="7918073" cy="511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0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63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F4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F6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F8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F12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..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F30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2465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25" dirty="0">
                          <a:latin typeface="Comic Sans MS"/>
                          <a:cs typeface="Comic Sans MS"/>
                        </a:rPr>
                        <a:t>FU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Divide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322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2090" y="403807"/>
            <a:ext cx="7371297" cy="70381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3521"/>
              </a:lnSpc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Scoreboard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Example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#2</a:t>
            </a:r>
            <a:r>
              <a:rPr spc="-62" dirty="0">
                <a:latin typeface="Arial MT"/>
                <a:cs typeface="Arial MT"/>
              </a:rPr>
              <a:t> </a:t>
            </a:r>
            <a:r>
              <a:rPr spc="-9" dirty="0">
                <a:latin typeface="Arial MT"/>
                <a:cs typeface="Arial MT"/>
              </a:rPr>
              <a:t>(cont.)</a:t>
            </a:r>
          </a:p>
          <a:p>
            <a:pPr marL="11206">
              <a:lnSpc>
                <a:spcPts val="1932"/>
              </a:lnSpc>
            </a:pPr>
            <a:r>
              <a:rPr sz="1677" dirty="0">
                <a:latin typeface="Arial MT"/>
                <a:cs typeface="Arial MT"/>
              </a:rPr>
              <a:t>-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Just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before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DIV.D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goes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to</a:t>
            </a:r>
            <a:r>
              <a:rPr sz="1677" spc="-18" dirty="0">
                <a:latin typeface="Arial MT"/>
                <a:cs typeface="Arial MT"/>
              </a:rPr>
              <a:t> </a:t>
            </a:r>
            <a:r>
              <a:rPr sz="1677" dirty="0">
                <a:latin typeface="Arial MT"/>
                <a:cs typeface="Arial MT"/>
              </a:rPr>
              <a:t>write</a:t>
            </a:r>
            <a:r>
              <a:rPr sz="1677" spc="-13" dirty="0">
                <a:latin typeface="Arial MT"/>
                <a:cs typeface="Arial MT"/>
              </a:rPr>
              <a:t> </a:t>
            </a:r>
            <a:r>
              <a:rPr sz="1677" spc="-9" dirty="0">
                <a:latin typeface="Arial MT"/>
                <a:cs typeface="Arial MT"/>
              </a:rPr>
              <a:t>result</a:t>
            </a:r>
            <a:endParaRPr sz="1677" dirty="0">
              <a:latin typeface="Arial MT"/>
              <a:cs typeface="Arial MT"/>
            </a:endParaRP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3AD1EC7-08B0-E67D-4BDD-D328F04BD5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32</a:t>
            </a:fld>
            <a:endParaRPr lang="en-US" spc="-44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FD2F0A-D185-5065-F4A6-46F74D344B42}"/>
              </a:ext>
            </a:extLst>
          </p:cNvPr>
          <p:cNvSpPr txBox="1"/>
          <p:nvPr/>
        </p:nvSpPr>
        <p:spPr>
          <a:xfrm>
            <a:off x="520394" y="5165290"/>
            <a:ext cx="1250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Register</a:t>
            </a:r>
            <a:r>
              <a:rPr lang="en-US" sz="1400" spc="-40" dirty="0"/>
              <a:t> </a:t>
            </a:r>
            <a:r>
              <a:rPr lang="en-US" sz="1400" spc="-9" dirty="0"/>
              <a:t>Status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FEDED1-0A75-5608-5163-E773023356E3}"/>
              </a:ext>
            </a:extLst>
          </p:cNvPr>
          <p:cNvSpPr txBox="1"/>
          <p:nvPr/>
        </p:nvSpPr>
        <p:spPr>
          <a:xfrm>
            <a:off x="520394" y="3284659"/>
            <a:ext cx="19464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Functional Unit Status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EF0B0B-9529-F341-F038-C38CEA3B4E26}"/>
              </a:ext>
            </a:extLst>
          </p:cNvPr>
          <p:cNvSpPr txBox="1"/>
          <p:nvPr/>
        </p:nvSpPr>
        <p:spPr>
          <a:xfrm>
            <a:off x="520394" y="1110687"/>
            <a:ext cx="2195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Instruction Status Table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565171"/>
            <a:ext cx="5183740" cy="578891"/>
          </a:xfrm>
          <a:prstGeom prst="rect">
            <a:avLst/>
          </a:prstGeom>
        </p:spPr>
        <p:txBody>
          <a:bodyPr vert="horz" wrap="square" lIns="0" tIns="116092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Limits</a:t>
            </a:r>
            <a:r>
              <a:rPr spc="-22" dirty="0"/>
              <a:t> </a:t>
            </a:r>
            <a:r>
              <a:rPr dirty="0"/>
              <a:t>to</a:t>
            </a:r>
            <a:r>
              <a:rPr spc="-18" dirty="0"/>
              <a:t> </a:t>
            </a:r>
            <a:r>
              <a:rPr dirty="0"/>
              <a:t>the</a:t>
            </a:r>
            <a:r>
              <a:rPr spc="-22" dirty="0"/>
              <a:t> </a:t>
            </a:r>
            <a:r>
              <a:rPr dirty="0"/>
              <a:t>Scoreboard</a:t>
            </a:r>
            <a:r>
              <a:rPr spc="-18" dirty="0"/>
              <a:t> </a:t>
            </a:r>
            <a:r>
              <a:rPr spc="-9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249278"/>
            <a:ext cx="7694027" cy="4876222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Parallelism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available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program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24"/>
              </a:spcBef>
              <a:spcAft>
                <a:spcPts val="1200"/>
              </a:spcAft>
              <a:buChar char="–"/>
              <a:tabLst>
                <a:tab pos="651657" algn="l"/>
              </a:tabLst>
            </a:pPr>
            <a:r>
              <a:rPr lang="en-US" sz="2400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independent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instructions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execute</a:t>
            </a:r>
            <a:endParaRPr sz="2400" dirty="0">
              <a:latin typeface="Calibri"/>
              <a:cs typeface="Calibri"/>
            </a:endParaRPr>
          </a:p>
          <a:p>
            <a:pPr marL="278481" marR="265594" indent="-267835"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entries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(instructions)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scoreboard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table </a:t>
            </a:r>
            <a:r>
              <a:rPr sz="2400" dirty="0">
                <a:latin typeface="Calibri"/>
                <a:cs typeface="Calibri"/>
              </a:rPr>
              <a:t>(how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issued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simultaneously)</a:t>
            </a:r>
            <a:endParaRPr sz="2400" dirty="0">
              <a:latin typeface="Calibri"/>
              <a:cs typeface="Calibri"/>
            </a:endParaRPr>
          </a:p>
          <a:p>
            <a:pPr marL="651657" marR="4483" lvl="1" indent="-212363">
              <a:spcBef>
                <a:spcPts val="609"/>
              </a:spcBef>
              <a:buChar char="–"/>
              <a:tabLst>
                <a:tab pos="653338" algn="l"/>
              </a:tabLst>
            </a:pPr>
            <a:r>
              <a:rPr lang="en-US" sz="2400" dirty="0">
                <a:latin typeface="Calibri"/>
                <a:cs typeface="Calibri"/>
              </a:rPr>
              <a:t>D</a:t>
            </a:r>
            <a:r>
              <a:rPr sz="2400" dirty="0">
                <a:latin typeface="Calibri"/>
                <a:cs typeface="Calibri"/>
              </a:rPr>
              <a:t>etermines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ahead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pipeline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look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independent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instructions </a:t>
            </a:r>
            <a:r>
              <a:rPr sz="2400" dirty="0">
                <a:latin typeface="Calibri"/>
                <a:cs typeface="Calibri"/>
              </a:rPr>
              <a:t>(the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window)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349"/>
              </a:spcBef>
              <a:spcAft>
                <a:spcPts val="1200"/>
              </a:spcAft>
              <a:buChar char="–"/>
              <a:tabLst>
                <a:tab pos="651657" algn="l"/>
              </a:tabLst>
            </a:pPr>
            <a:r>
              <a:rPr lang="en-US" sz="2400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discussions,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never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goes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beyond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branch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functional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units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24"/>
              </a:spcBef>
              <a:spcAft>
                <a:spcPts val="1200"/>
              </a:spcAft>
              <a:buChar char="–"/>
              <a:tabLst>
                <a:tab pos="651657" algn="l"/>
              </a:tabLst>
            </a:pPr>
            <a:r>
              <a:rPr lang="en-US" sz="2400" dirty="0">
                <a:latin typeface="Calibri"/>
                <a:cs typeface="Calibri"/>
              </a:rPr>
              <a:t>F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structural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hazards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11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dependences</a:t>
            </a:r>
            <a:r>
              <a:rPr sz="2400" spc="12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3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anti-</a:t>
            </a:r>
            <a:r>
              <a:rPr sz="2400" spc="-9" dirty="0">
                <a:latin typeface="Calibri"/>
                <a:cs typeface="Calibri"/>
              </a:rPr>
              <a:t>dependences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41"/>
              </a:spcBef>
              <a:buChar char="–"/>
              <a:tabLst>
                <a:tab pos="651657" algn="l"/>
              </a:tabLst>
            </a:pPr>
            <a:r>
              <a:rPr lang="en-US" sz="2400" dirty="0">
                <a:latin typeface="Calibri"/>
                <a:cs typeface="Calibri"/>
              </a:rPr>
              <a:t>L</a:t>
            </a:r>
            <a:r>
              <a:rPr sz="2400" dirty="0">
                <a:latin typeface="Calibri"/>
                <a:cs typeface="Calibri"/>
              </a:rPr>
              <a:t>ead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WAW and WAR</a:t>
            </a:r>
            <a:r>
              <a:rPr sz="2400" spc="-9" dirty="0">
                <a:latin typeface="Calibri"/>
                <a:cs typeface="Calibri"/>
              </a:rPr>
              <a:t> stalls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5CCA9-FC88-5374-EAC9-4568EA5D02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5094" y="6346231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33</a:t>
            </a:fld>
            <a:endParaRPr lang="en-US" spc="-44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565171"/>
            <a:ext cx="5183740" cy="578891"/>
          </a:xfrm>
          <a:prstGeom prst="rect">
            <a:avLst/>
          </a:prstGeom>
        </p:spPr>
        <p:txBody>
          <a:bodyPr vert="horz" wrap="square" lIns="0" tIns="116092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Review</a:t>
            </a:r>
            <a:r>
              <a:rPr spc="-44" dirty="0"/>
              <a:t> </a:t>
            </a:r>
            <a:r>
              <a:rPr spc="-9" dirty="0"/>
              <a:t>Question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2" y="1320052"/>
            <a:ext cx="7465426" cy="2207354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483" indent="-267835">
              <a:spcBef>
                <a:spcPts val="393"/>
              </a:spcBef>
              <a:spcAft>
                <a:spcPts val="18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Scoreboard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eliminates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WAR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WAW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hazard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happening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instead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avoiding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those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during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execution.</a:t>
            </a:r>
            <a:endParaRPr sz="2400" dirty="0">
              <a:latin typeface="Calibri"/>
              <a:cs typeface="Calibri"/>
            </a:endParaRPr>
          </a:p>
          <a:p>
            <a:pPr marL="759799" lvl="1" indent="-320505">
              <a:spcAft>
                <a:spcPts val="600"/>
              </a:spcAft>
              <a:buAutoNum type="alphaUcPeriod"/>
              <a:tabLst>
                <a:tab pos="759799" algn="l"/>
              </a:tabLst>
            </a:pPr>
            <a:r>
              <a:rPr sz="2200" spc="-18" dirty="0">
                <a:latin typeface="Calibri"/>
                <a:cs typeface="Calibri"/>
              </a:rPr>
              <a:t>True</a:t>
            </a:r>
            <a:endParaRPr sz="2200" dirty="0">
              <a:latin typeface="Calibri"/>
              <a:cs typeface="Calibri"/>
            </a:endParaRPr>
          </a:p>
          <a:p>
            <a:pPr marL="759799" lvl="1" indent="-320505">
              <a:spcBef>
                <a:spcPts val="468"/>
              </a:spcBef>
              <a:buAutoNum type="alphaUcPeriod"/>
              <a:tabLst>
                <a:tab pos="759799" algn="l"/>
              </a:tabLst>
            </a:pPr>
            <a:r>
              <a:rPr sz="2200" spc="-9" dirty="0">
                <a:latin typeface="Calibri"/>
                <a:cs typeface="Calibri"/>
              </a:rPr>
              <a:t>False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1353" y="6221956"/>
            <a:ext cx="8561294" cy="412376"/>
            <a:chOff x="177800" y="7051550"/>
            <a:chExt cx="9702800" cy="46735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9815" y="7051550"/>
              <a:ext cx="620785" cy="4668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7800" y="7075008"/>
              <a:ext cx="9702800" cy="443865"/>
            </a:xfrm>
            <a:custGeom>
              <a:avLst/>
              <a:gdLst/>
              <a:ahLst/>
              <a:cxnLst/>
              <a:rect l="l" t="t" r="r" b="b"/>
              <a:pathLst>
                <a:path w="9702800" h="443865">
                  <a:moveTo>
                    <a:pt x="0" y="443391"/>
                  </a:moveTo>
                  <a:lnTo>
                    <a:pt x="0" y="0"/>
                  </a:lnTo>
                  <a:lnTo>
                    <a:pt x="9702800" y="0"/>
                  </a:lnTo>
                  <a:lnTo>
                    <a:pt x="9702800" y="443391"/>
                  </a:lnTo>
                  <a:lnTo>
                    <a:pt x="0" y="443391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39F9A9C-A8FD-A089-EDCF-57740AA1DD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377518" y="5956268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34</a:t>
            </a:fld>
            <a:endParaRPr lang="en-US" spc="-44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565171"/>
            <a:ext cx="5183740" cy="578891"/>
          </a:xfrm>
          <a:prstGeom prst="rect">
            <a:avLst/>
          </a:prstGeom>
        </p:spPr>
        <p:txBody>
          <a:bodyPr vert="horz" wrap="square" lIns="0" tIns="116092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Review</a:t>
            </a:r>
            <a:r>
              <a:rPr spc="-44" dirty="0"/>
              <a:t> </a:t>
            </a:r>
            <a:r>
              <a:rPr spc="-9" dirty="0"/>
              <a:t>Question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2" y="1320052"/>
            <a:ext cx="7667132" cy="3397461"/>
          </a:xfrm>
          <a:prstGeom prst="rect">
            <a:avLst/>
          </a:prstGeom>
        </p:spPr>
        <p:txBody>
          <a:bodyPr vert="horz" wrap="square" lIns="0" tIns="44824" rIns="0" bIns="0" rtlCol="0">
            <a:spAutoFit/>
          </a:bodyPr>
          <a:lstStyle/>
          <a:p>
            <a:pPr marL="278481" marR="4483" indent="-267835">
              <a:spcBef>
                <a:spcPts val="35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issued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waiting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reading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operands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Scoreboard.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Assume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no </a:t>
            </a:r>
            <a:r>
              <a:rPr sz="2400" dirty="0">
                <a:latin typeface="Calibri"/>
                <a:cs typeface="Calibri"/>
              </a:rPr>
              <a:t>structural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hazard.</a:t>
            </a:r>
            <a:endParaRPr sz="2400" dirty="0">
              <a:latin typeface="Calibri"/>
              <a:cs typeface="Calibri"/>
            </a:endParaRPr>
          </a:p>
          <a:p>
            <a:pPr marL="439294" marR="5302906">
              <a:spcBef>
                <a:spcPts val="2519"/>
              </a:spcBef>
            </a:pPr>
            <a:r>
              <a:rPr sz="2200" dirty="0">
                <a:latin typeface="Calibri"/>
                <a:cs typeface="Calibri"/>
              </a:rPr>
              <a:t>ADD.D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F1,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F2,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F3</a:t>
            </a:r>
            <a:br>
              <a:rPr lang="en-US" sz="2200" spc="-22" dirty="0">
                <a:latin typeface="Calibri"/>
                <a:cs typeface="Calibri"/>
              </a:rPr>
            </a:br>
            <a:r>
              <a:rPr sz="2200" dirty="0">
                <a:latin typeface="Calibri"/>
                <a:cs typeface="Calibri"/>
              </a:rPr>
              <a:t>MUL.D F1,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F4,</a:t>
            </a:r>
            <a:r>
              <a:rPr lang="en-US" sz="2200" spc="-9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F3</a:t>
            </a:r>
            <a:endParaRPr sz="2200" dirty="0">
              <a:latin typeface="Calibri"/>
              <a:cs typeface="Calibri"/>
            </a:endParaRPr>
          </a:p>
          <a:p>
            <a:pPr>
              <a:spcBef>
                <a:spcPts val="789"/>
              </a:spcBef>
            </a:pPr>
            <a:endParaRPr sz="2200" dirty="0">
              <a:latin typeface="Calibri"/>
              <a:cs typeface="Calibri"/>
            </a:endParaRPr>
          </a:p>
          <a:p>
            <a:pPr marL="759799" lvl="1" indent="-320505">
              <a:spcAft>
                <a:spcPts val="600"/>
              </a:spcAft>
              <a:buAutoNum type="alphaUcPeriod"/>
              <a:tabLst>
                <a:tab pos="759799" algn="l"/>
              </a:tabLst>
            </a:pPr>
            <a:r>
              <a:rPr sz="2200" spc="-18" dirty="0">
                <a:latin typeface="Calibri"/>
                <a:cs typeface="Calibri"/>
              </a:rPr>
              <a:t>True</a:t>
            </a:r>
            <a:endParaRPr sz="2200" dirty="0">
              <a:latin typeface="Calibri"/>
              <a:cs typeface="Calibri"/>
            </a:endParaRPr>
          </a:p>
          <a:p>
            <a:pPr marL="759799" lvl="1" indent="-320505">
              <a:spcBef>
                <a:spcPts val="361"/>
              </a:spcBef>
              <a:buAutoNum type="alphaUcPeriod"/>
              <a:tabLst>
                <a:tab pos="759799" algn="l"/>
              </a:tabLst>
            </a:pPr>
            <a:r>
              <a:rPr sz="2200" spc="-9" dirty="0">
                <a:latin typeface="Calibri"/>
                <a:cs typeface="Calibri"/>
              </a:rPr>
              <a:t>False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1353" y="6221956"/>
            <a:ext cx="8561294" cy="412376"/>
            <a:chOff x="177800" y="7051550"/>
            <a:chExt cx="9702800" cy="46735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9815" y="7051550"/>
              <a:ext cx="620785" cy="4668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7800" y="7075008"/>
              <a:ext cx="9702800" cy="443865"/>
            </a:xfrm>
            <a:custGeom>
              <a:avLst/>
              <a:gdLst/>
              <a:ahLst/>
              <a:cxnLst/>
              <a:rect l="l" t="t" r="r" b="b"/>
              <a:pathLst>
                <a:path w="9702800" h="443865">
                  <a:moveTo>
                    <a:pt x="0" y="443391"/>
                  </a:moveTo>
                  <a:lnTo>
                    <a:pt x="0" y="0"/>
                  </a:lnTo>
                  <a:lnTo>
                    <a:pt x="9702800" y="0"/>
                  </a:lnTo>
                  <a:lnTo>
                    <a:pt x="9702800" y="443391"/>
                  </a:lnTo>
                  <a:lnTo>
                    <a:pt x="0" y="443391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4BCACF69-7433-7C8C-C521-754742EC1B3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377518" y="5956268"/>
            <a:ext cx="382889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35</a:t>
            </a:fld>
            <a:endParaRPr lang="en-US" spc="-4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1220</TotalTime>
  <Words>5791</Words>
  <Application>Microsoft Office PowerPoint</Application>
  <PresentationFormat>On-screen Show (4:3)</PresentationFormat>
  <Paragraphs>1783</Paragraphs>
  <Slides>35</Slides>
  <Notes>33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Aptos</vt:lpstr>
      <vt:lpstr>Arial</vt:lpstr>
      <vt:lpstr>Arial MT</vt:lpstr>
      <vt:lpstr>Calibri</vt:lpstr>
      <vt:lpstr>Comic Sans MS</vt:lpstr>
      <vt:lpstr>Times New Roman</vt:lpstr>
      <vt:lpstr>1_Office Theme</vt:lpstr>
      <vt:lpstr>PowerPoint Presentation</vt:lpstr>
      <vt:lpstr>Review Question</vt:lpstr>
      <vt:lpstr>Review Question</vt:lpstr>
      <vt:lpstr>Outline</vt:lpstr>
      <vt:lpstr>Dynamically Scheduled Pipelines (Scoreboard)</vt:lpstr>
      <vt:lpstr>CDC6600</vt:lpstr>
      <vt:lpstr>Scoreboard method</vt:lpstr>
      <vt:lpstr>An example</vt:lpstr>
      <vt:lpstr>Functional Units in Scoreboarding</vt:lpstr>
      <vt:lpstr>Basic MIPS Structure with a Scoreboard</vt:lpstr>
      <vt:lpstr>Scoreboard: Instruction Status Table</vt:lpstr>
      <vt:lpstr>Scoreboard: Functional Unit Status</vt:lpstr>
      <vt:lpstr>Scoreboard: Functional Unit Status</vt:lpstr>
      <vt:lpstr>Register Status</vt:lpstr>
      <vt:lpstr>Scoreboard Bookkeeping</vt:lpstr>
      <vt:lpstr>Scoreboard – Initial State</vt:lpstr>
      <vt:lpstr>Time 0</vt:lpstr>
      <vt:lpstr>S1: ADD.D F0, F2, F4 S2: MULT.D F2, F6, F8</vt:lpstr>
      <vt:lpstr>PowerPoint Presentation</vt:lpstr>
      <vt:lpstr>PowerPoint Presentation</vt:lpstr>
      <vt:lpstr>Time 4</vt:lpstr>
      <vt:lpstr>Time 5</vt:lpstr>
      <vt:lpstr>Time 6</vt:lpstr>
      <vt:lpstr>Time 7</vt:lpstr>
      <vt:lpstr>Again… Scoreboard Working Mechanism</vt:lpstr>
      <vt:lpstr>Scoreboard Example #2 (Fig.C.55) - after first L.D write result</vt:lpstr>
      <vt:lpstr>Scoreboard Example #2 (cont.) - after 2nd L.D write result</vt:lpstr>
      <vt:lpstr>Scoreboard Example #2 (cont.) - after the write result, MUL.D and SUB.D read operands</vt:lpstr>
      <vt:lpstr>Scoreboard Example #2 (cont.) - after SUB.D write result</vt:lpstr>
      <vt:lpstr>Scoreboard Example #2 (cont.) - after the write result, ADD.D is issued</vt:lpstr>
      <vt:lpstr>Scoreboard Example #2 (cont.) - Just before MUL.D goes to write result</vt:lpstr>
      <vt:lpstr>Scoreboard Example #2 (cont.) - Just before DIV.D goes to write result</vt:lpstr>
      <vt:lpstr>Limits to the Scoreboard Method</vt:lpstr>
      <vt:lpstr>Review Question</vt:lpstr>
      <vt:lpstr>Review 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Johnson</dc:creator>
  <cp:lastModifiedBy>Richard Johnson</cp:lastModifiedBy>
  <cp:revision>695</cp:revision>
  <dcterms:created xsi:type="dcterms:W3CDTF">2025-09-07T23:26:05Z</dcterms:created>
  <dcterms:modified xsi:type="dcterms:W3CDTF">2025-11-17T16:38:33Z</dcterms:modified>
</cp:coreProperties>
</file>