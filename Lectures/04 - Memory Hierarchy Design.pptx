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63"/>
  </p:notesMasterIdLst>
  <p:sldIdLst>
    <p:sldId id="348" r:id="rId2"/>
    <p:sldId id="272" r:id="rId3"/>
    <p:sldId id="271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354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380" r:id="rId33"/>
    <p:sldId id="350" r:id="rId34"/>
    <p:sldId id="351" r:id="rId35"/>
    <p:sldId id="352" r:id="rId36"/>
    <p:sldId id="353" r:id="rId37"/>
    <p:sldId id="355" r:id="rId38"/>
    <p:sldId id="379" r:id="rId39"/>
    <p:sldId id="357" r:id="rId40"/>
    <p:sldId id="358" r:id="rId41"/>
    <p:sldId id="359" r:id="rId42"/>
    <p:sldId id="360" r:id="rId43"/>
    <p:sldId id="361" r:id="rId44"/>
    <p:sldId id="362" r:id="rId45"/>
    <p:sldId id="363" r:id="rId46"/>
    <p:sldId id="364" r:id="rId47"/>
    <p:sldId id="365" r:id="rId48"/>
    <p:sldId id="366" r:id="rId49"/>
    <p:sldId id="367" r:id="rId50"/>
    <p:sldId id="368" r:id="rId51"/>
    <p:sldId id="381" r:id="rId52"/>
    <p:sldId id="369" r:id="rId53"/>
    <p:sldId id="370" r:id="rId54"/>
    <p:sldId id="371" r:id="rId55"/>
    <p:sldId id="372" r:id="rId56"/>
    <p:sldId id="373" r:id="rId57"/>
    <p:sldId id="374" r:id="rId58"/>
    <p:sldId id="375" r:id="rId59"/>
    <p:sldId id="376" r:id="rId60"/>
    <p:sldId id="377" r:id="rId61"/>
    <p:sldId id="378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66FF"/>
    <a:srgbClr val="0033CC"/>
    <a:srgbClr val="033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065" autoAdjust="0"/>
  </p:normalViewPr>
  <p:slideViewPr>
    <p:cSldViewPr snapToGrid="0">
      <p:cViewPr varScale="1">
        <p:scale>
          <a:sx n="58" d="100"/>
          <a:sy n="58" d="100"/>
        </p:scale>
        <p:origin x="2098" y="62"/>
      </p:cViewPr>
      <p:guideLst/>
    </p:cSldViewPr>
  </p:slideViewPr>
  <p:notesTextViewPr>
    <p:cViewPr>
      <p:scale>
        <a:sx n="1" d="1"/>
        <a:sy n="1" d="1"/>
      </p:scale>
      <p:origin x="0" y="-72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7FD1-F16B-4674-8E3F-229D935503A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FFC65-791B-4559-8ED4-77406F77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0CBAE93-06AC-4832-A6F6-170F7BEDB2E9}" type="datetime3">
              <a:rPr lang="en-US" smtClean="0"/>
              <a:t>15 October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CEACC0-B677-4A29-B1E6-BCE98563D55B}" type="slidenum">
              <a:rPr lang="en-US"/>
              <a:pPr/>
              <a:t>1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1A72EC6-03E2-4D61-A0EB-E6D7003922C0}" type="datetime3">
              <a:rPr lang="en-US" smtClean="0"/>
              <a:t>15 October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3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4886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1976 &amp; 1977,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DRAM in the Apple I and Apple II computers operated faster than the microprocessor,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situation that was common at the time.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Apple I’s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had a cycle time of 1000 nanoseconds (~1 MHz clock speed MOS 6502),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its DRAM had an access time of 400 or 500 nanoseconds,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 the DRAM significantly faster than the CPU.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period when memory was faster than microprocessors was brief,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Apple II's design reflects the shift toward optimizing memory bandwidth for computation.</a:t>
            </a:r>
          </a:p>
          <a:p>
            <a:endParaRPr lang="en-US" b="0" dirty="0"/>
          </a:p>
          <a:p>
            <a:r>
              <a:rPr lang="en-US" b="0" u="sng" dirty="0"/>
              <a:t>Optional: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Apple II's architecture,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 the integration of DRAM refresh into the video refresh cycle,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 a direct consequence of the period when memory was faster than the microprocessor.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25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06">
              <a:spcBef>
                <a:spcPts val="446"/>
              </a:spcBef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pPr marL="11206">
              <a:spcBef>
                <a:spcPts val="446"/>
              </a:spcBef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1980, the performance of CPUs has significantly outpaced that of DRAM, </a:t>
            </a:r>
          </a:p>
          <a:p>
            <a:pPr marL="11206">
              <a:spcBef>
                <a:spcPts val="446"/>
              </a:spcBef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leading to a growing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processor-memory performance gap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marL="11206">
              <a:spcBef>
                <a:spcPts val="446"/>
              </a:spcBef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1206">
              <a:spcBef>
                <a:spcPts val="446"/>
              </a:spcBef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gap has been increasing at a rate of approximately 50% per year, </a:t>
            </a:r>
          </a:p>
          <a:p>
            <a:pPr marL="11206">
              <a:spcBef>
                <a:spcPts val="446"/>
              </a:spcBef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primarily due to better CPU speed improvements,</a:t>
            </a:r>
          </a:p>
          <a:p>
            <a:pPr marL="11206">
              <a:spcBef>
                <a:spcPts val="446"/>
              </a:spcBef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marginal improvements in DRAM access times,</a:t>
            </a:r>
          </a:p>
          <a:p>
            <a:pPr marL="11206">
              <a:spcBef>
                <a:spcPts val="446"/>
              </a:spcBef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(with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limited advancements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latency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being a major factor.)</a:t>
            </a:r>
            <a:endParaRPr lang="en-US" sz="1200" b="0" dirty="0">
              <a:solidFill>
                <a:srgbClr val="053DE8"/>
              </a:solidFill>
              <a:latin typeface="Calibri"/>
              <a:cs typeface="Calibri"/>
            </a:endParaRPr>
          </a:p>
          <a:p>
            <a:pPr marL="11206">
              <a:spcBef>
                <a:spcPts val="446"/>
              </a:spcBef>
            </a:pPr>
            <a:endParaRPr lang="en-US" sz="1200" b="0" dirty="0">
              <a:solidFill>
                <a:srgbClr val="053DE8"/>
              </a:solidFill>
              <a:latin typeface="Calibri"/>
              <a:cs typeface="Calibri"/>
            </a:endParaRPr>
          </a:p>
          <a:p>
            <a:pPr marL="11206">
              <a:spcBef>
                <a:spcPts val="446"/>
              </a:spcBef>
            </a:pPr>
            <a:r>
              <a:rPr lang="en-US" sz="1200" b="1" dirty="0">
                <a:solidFill>
                  <a:srgbClr val="053DE8"/>
                </a:solidFill>
                <a:latin typeface="Calibri"/>
                <a:cs typeface="Calibri"/>
              </a:rPr>
              <a:t>Q.</a:t>
            </a:r>
            <a:r>
              <a:rPr lang="en-US" sz="1200" b="1" spc="2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How</a:t>
            </a:r>
            <a:r>
              <a:rPr lang="en-US" sz="1200" spc="4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do</a:t>
            </a:r>
            <a:r>
              <a:rPr lang="en-US" sz="1200" spc="40" dirty="0">
                <a:solidFill>
                  <a:srgbClr val="053DE8"/>
                </a:solidFill>
                <a:latin typeface="Calibri"/>
                <a:cs typeface="Calibri"/>
              </a:rPr>
              <a:t> computer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architects</a:t>
            </a:r>
            <a:r>
              <a:rPr lang="en-US" sz="1200" spc="3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address</a:t>
            </a:r>
            <a:r>
              <a:rPr lang="en-US" sz="1200" spc="3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this</a:t>
            </a:r>
            <a:r>
              <a:rPr lang="en-US" sz="1200" spc="3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spc="-18" dirty="0">
                <a:solidFill>
                  <a:srgbClr val="053DE8"/>
                </a:solidFill>
                <a:latin typeface="Calibri"/>
                <a:cs typeface="Calibri"/>
              </a:rPr>
              <a:t>gap?</a:t>
            </a:r>
          </a:p>
          <a:p>
            <a:pPr marL="11206">
              <a:spcBef>
                <a:spcPts val="446"/>
              </a:spcBef>
            </a:pPr>
            <a:endParaRPr lang="en-US" sz="1200" dirty="0">
              <a:latin typeface="Calibri"/>
              <a:cs typeface="Calibri"/>
            </a:endParaRPr>
          </a:p>
          <a:p>
            <a:pPr marL="16249" marR="4483">
              <a:lnSpc>
                <a:spcPts val="2559"/>
              </a:lnSpc>
              <a:spcBef>
                <a:spcPts val="521"/>
              </a:spcBef>
              <a:tabLst>
                <a:tab pos="1455722" algn="l"/>
              </a:tabLst>
            </a:pPr>
            <a:r>
              <a:rPr lang="en-US" sz="1200" b="1" dirty="0">
                <a:solidFill>
                  <a:srgbClr val="053DE8"/>
                </a:solidFill>
                <a:latin typeface="Calibri"/>
                <a:cs typeface="Calibri"/>
              </a:rPr>
              <a:t>A.</a:t>
            </a:r>
            <a:r>
              <a:rPr lang="en-US" sz="1200" b="1" spc="1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Put</a:t>
            </a:r>
            <a:r>
              <a:rPr lang="en-US" sz="1200" spc="2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spc="-9" dirty="0">
                <a:solidFill>
                  <a:srgbClr val="053DE8"/>
                </a:solidFill>
                <a:latin typeface="Calibri"/>
                <a:cs typeface="Calibri"/>
              </a:rPr>
              <a:t>smaller,</a:t>
            </a:r>
            <a:r>
              <a:rPr lang="en-US" sz="1200" spc="3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faster</a:t>
            </a:r>
            <a:r>
              <a:rPr lang="en-US" sz="1200" spc="3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MS PGothic"/>
                <a:cs typeface="MS PGothic"/>
              </a:rPr>
              <a:t>“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cache</a:t>
            </a:r>
            <a:r>
              <a:rPr lang="en-US" sz="1200" dirty="0">
                <a:solidFill>
                  <a:srgbClr val="053DE8"/>
                </a:solidFill>
                <a:latin typeface="MS PGothic"/>
                <a:cs typeface="MS PGothic"/>
              </a:rPr>
              <a:t>”</a:t>
            </a:r>
            <a:r>
              <a:rPr lang="en-US" sz="1200" spc="-132" dirty="0">
                <a:solidFill>
                  <a:srgbClr val="053DE8"/>
                </a:solidFill>
                <a:latin typeface="MS PGothic"/>
                <a:cs typeface="MS PGothic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memories</a:t>
            </a:r>
            <a:r>
              <a:rPr lang="en-US" sz="1200" spc="3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between</a:t>
            </a:r>
            <a:r>
              <a:rPr lang="en-US" sz="1200" spc="40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spc="-22" dirty="0">
                <a:solidFill>
                  <a:srgbClr val="053DE8"/>
                </a:solidFill>
                <a:latin typeface="Calibri"/>
                <a:cs typeface="Calibri"/>
              </a:rPr>
              <a:t>CPU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and</a:t>
            </a:r>
            <a:r>
              <a:rPr lang="en-US" sz="1200" spc="40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spc="-9" dirty="0">
                <a:solidFill>
                  <a:srgbClr val="053DE8"/>
                </a:solidFill>
                <a:latin typeface="Calibri"/>
                <a:cs typeface="Calibri"/>
              </a:rPr>
              <a:t>DRAM. </a:t>
            </a:r>
          </a:p>
          <a:p>
            <a:pPr marL="16249" marR="4483">
              <a:lnSpc>
                <a:spcPts val="2559"/>
              </a:lnSpc>
              <a:spcBef>
                <a:spcPts val="521"/>
              </a:spcBef>
              <a:tabLst>
                <a:tab pos="1455722" algn="l"/>
              </a:tabLst>
            </a:pP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Create</a:t>
            </a:r>
            <a:r>
              <a:rPr lang="en-US" sz="1200" spc="3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a</a:t>
            </a:r>
            <a:r>
              <a:rPr lang="en-US" sz="1200" spc="3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MS PGothic"/>
                <a:cs typeface="MS PGothic"/>
              </a:rPr>
              <a:t>“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memory</a:t>
            </a:r>
            <a:r>
              <a:rPr lang="en-US" sz="1200" spc="2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spc="-9" dirty="0">
                <a:solidFill>
                  <a:srgbClr val="053DE8"/>
                </a:solidFill>
                <a:latin typeface="Calibri"/>
                <a:cs typeface="Calibri"/>
              </a:rPr>
              <a:t>hierarchy</a:t>
            </a:r>
            <a:r>
              <a:rPr lang="en-US" sz="1200" spc="-9" dirty="0">
                <a:solidFill>
                  <a:srgbClr val="053DE8"/>
                </a:solidFill>
                <a:latin typeface="MS PGothic"/>
                <a:cs typeface="MS PGothic"/>
              </a:rPr>
              <a:t>”</a:t>
            </a:r>
            <a:r>
              <a:rPr lang="en-US" sz="1200" spc="-9" dirty="0">
                <a:solidFill>
                  <a:srgbClr val="053DE8"/>
                </a:solidFill>
                <a:latin typeface="Calibri"/>
                <a:cs typeface="Calibri"/>
              </a:rPr>
              <a:t>.</a:t>
            </a:r>
            <a:endParaRPr lang="en-US" sz="12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15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dirty="0">
                <a:solidFill>
                  <a:srgbClr val="000066"/>
                </a:solidFill>
                <a:latin typeface="Calibri"/>
                <a:cs typeface="Calibri"/>
              </a:rPr>
              <a:t>Four</a:t>
            </a:r>
            <a:r>
              <a:rPr lang="en-US" sz="1200" u="sng" spc="-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lang="en-US" sz="1200" u="sng" dirty="0">
                <a:solidFill>
                  <a:srgbClr val="000066"/>
                </a:solidFill>
                <a:latin typeface="Calibri"/>
                <a:cs typeface="Calibri"/>
              </a:rPr>
              <a:t>cores and</a:t>
            </a:r>
            <a:r>
              <a:rPr lang="en-US" sz="1200" u="sng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lang="en-US" sz="1200" u="sng" dirty="0">
                <a:solidFill>
                  <a:srgbClr val="000066"/>
                </a:solidFill>
                <a:latin typeface="Calibri"/>
                <a:cs typeface="Calibri"/>
              </a:rPr>
              <a:t>42.2</a:t>
            </a:r>
            <a:r>
              <a:rPr lang="en-US" sz="1200" u="sng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lang="en-US" sz="1200" u="sng" dirty="0">
                <a:solidFill>
                  <a:srgbClr val="000066"/>
                </a:solidFill>
                <a:latin typeface="Calibri"/>
                <a:cs typeface="Calibri"/>
              </a:rPr>
              <a:t>GHz</a:t>
            </a:r>
            <a:r>
              <a:rPr lang="en-US" sz="1200" u="sng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lang="en-US" sz="1200" u="sng" spc="-18" dirty="0">
                <a:solidFill>
                  <a:srgbClr val="000066"/>
                </a:solidFill>
                <a:latin typeface="Calibri"/>
                <a:cs typeface="Calibri"/>
              </a:rPr>
              <a:t>clock:</a:t>
            </a:r>
            <a:endParaRPr lang="en-US" u="sng" dirty="0"/>
          </a:p>
          <a:p>
            <a:r>
              <a:rPr lang="en-US" dirty="0"/>
              <a:t>BW = (25.6 * 10^9 * 8 bytes)/s + (12.8 * 10^9 * 16 bytes)/s</a:t>
            </a:r>
          </a:p>
          <a:p>
            <a:r>
              <a:rPr lang="en-US" dirty="0"/>
              <a:t>BW = (204.8 + 204.8) * 10^9 bytes/s</a:t>
            </a:r>
          </a:p>
          <a:p>
            <a:r>
              <a:rPr lang="en-US" dirty="0"/>
              <a:t>BW = 409.6 GB/s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u="sng" dirty="0"/>
              <a:t>For reference: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 Core i7-6700 generating two references per core per clock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relates to memory-level parallelism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memory bandwidth utilization in multi-core processors.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2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00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typical memory hierarchy in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 mobile device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(PMD),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 as a cell phone or tablet,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consists of multiple levels organized by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speed, size, and cost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faster and smaller memory closer to the processor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slower, larger, and cheaper memory farther away.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hierarchy typically includes: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(L1, L2, and sometimes L3)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memory (RAM)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secondary storage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in PMDs is Flash memory built from EEPROM technology rather than traditional hard disk drives.</a:t>
            </a:r>
            <a:endParaRPr lang="en-US" dirty="0"/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EEPROM: electrically erasable programmable read-only memory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01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typical memory hierarchy for a laptop or desktop computer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consists of multiple levels, ordered from fastest and smallest to slowest and largest.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 divided into three primary levels: L1, L2, and L3.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cache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fastest and smallest, located directly on the CPU core,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is used to store the most frequently accessed data and instructions.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L2 cache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larger than L1 but slightly slower, and it acts as a secondary buffer,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 located on the CPU chip or nearby.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L3 cache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largest of the three, shared among multiple CPU cores in a multicore processor,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is slower than L1 and L2 but helps reduce latency when data is not found in the faster caches. 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(Recent advancements have even introduced L4-level cache in some high-end processors.)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Below the cache levels 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memory (RAM)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is significantly larger than cache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used to store data and programs currently in use.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 is volatile,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 data is lost when power is turned off,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is slower than cache but faster than secondary storage.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Solid-state drives (SSDs) are now standard in modern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laptops and desktops, serving as the primary secondary storage.</a:t>
            </a:r>
          </a:p>
          <a:p>
            <a:endParaRPr lang="en-US" dirty="0"/>
          </a:p>
          <a:p>
            <a:r>
              <a:rPr lang="en-US" dirty="0"/>
              <a:t>In many desktops, the primary storage system is SSD, </a:t>
            </a:r>
          </a:p>
          <a:p>
            <a:r>
              <a:rPr lang="en-US" dirty="0"/>
              <a:t>and expansion disks are typically hard disk drives (HDDs).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0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 is a typical memory hierarchy for a server. 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servers often use a tiered or hybrid approach to storage,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mixing SSDs and HDDs to optimize performance and cost.</a:t>
            </a:r>
          </a:p>
          <a:p>
            <a:endParaRPr lang="en-US" dirty="0"/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SSDs can be used as a high-speed cache for HDDs,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accelerating both reads and writes by storing frequently accessed ("hot") data,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less frequently accessed ("cold") data resides on HDDs.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9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0.9</a:t>
            </a:r>
            <a:r>
              <a:rPr lang="en-US" dirty="0"/>
              <a:t> to </a:t>
            </a:r>
            <a:r>
              <a:rPr lang="en-US" b="1" dirty="0"/>
              <a:t>1.3 ns </a:t>
            </a:r>
            <a:r>
              <a:rPr lang="en-US" dirty="0"/>
              <a:t>latency for </a:t>
            </a:r>
            <a:r>
              <a:rPr lang="en-US" b="1" dirty="0"/>
              <a:t>L1</a:t>
            </a:r>
            <a:r>
              <a:rPr lang="en-US" dirty="0"/>
              <a:t> Cache (2017)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50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2.6</a:t>
            </a:r>
            <a:r>
              <a:rPr lang="en-US" dirty="0"/>
              <a:t> to </a:t>
            </a:r>
            <a:r>
              <a:rPr lang="en-US" b="1" dirty="0"/>
              <a:t>5.6 ns </a:t>
            </a:r>
            <a:r>
              <a:rPr lang="en-US" dirty="0"/>
              <a:t>latency for </a:t>
            </a:r>
            <a:r>
              <a:rPr lang="en-US" b="1" dirty="0"/>
              <a:t>L2</a:t>
            </a:r>
            <a:r>
              <a:rPr lang="en-US" dirty="0"/>
              <a:t> Cache (2017)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58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11.0 </a:t>
            </a:r>
            <a:r>
              <a:rPr lang="en-US" dirty="0"/>
              <a:t>to </a:t>
            </a:r>
            <a:r>
              <a:rPr lang="en-US" b="1" dirty="0"/>
              <a:t>21.2 ns </a:t>
            </a:r>
            <a:r>
              <a:rPr lang="en-US" dirty="0"/>
              <a:t>latency for </a:t>
            </a:r>
            <a:r>
              <a:rPr lang="en-US" b="1" dirty="0"/>
              <a:t>L3</a:t>
            </a:r>
            <a:r>
              <a:rPr lang="en-US" dirty="0"/>
              <a:t> Cache (2017)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05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53.2</a:t>
            </a:r>
            <a:r>
              <a:rPr lang="en-US" dirty="0"/>
              <a:t> to </a:t>
            </a:r>
            <a:r>
              <a:rPr lang="en-US" b="1" dirty="0"/>
              <a:t>83.7 ns </a:t>
            </a:r>
            <a:r>
              <a:rPr lang="en-US" dirty="0"/>
              <a:t>latency for </a:t>
            </a:r>
            <a:r>
              <a:rPr lang="en-US" b="1" dirty="0"/>
              <a:t>DRAM</a:t>
            </a:r>
            <a:r>
              <a:rPr lang="en-US" dirty="0"/>
              <a:t> Main Memory (2017)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16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053DE8"/>
                </a:solidFill>
                <a:latin typeface="Calibri"/>
                <a:cs typeface="Calibri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rgbClr val="053DE8"/>
              </a:solidFill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u="none" dirty="0">
                <a:solidFill>
                  <a:srgbClr val="053DE8"/>
                </a:solidFill>
                <a:latin typeface="Calibri"/>
                <a:cs typeface="Calibri"/>
              </a:rPr>
              <a:t>The </a:t>
            </a:r>
            <a:r>
              <a:rPr lang="en-US" sz="1200" b="0" u="sng" dirty="0">
                <a:solidFill>
                  <a:srgbClr val="053DE8"/>
                </a:solidFill>
                <a:latin typeface="Calibri"/>
                <a:cs typeface="Calibri"/>
              </a:rPr>
              <a:t>goal</a:t>
            </a:r>
            <a:r>
              <a:rPr lang="en-US" sz="1200" b="0" u="none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b="0" dirty="0">
                <a:solidFill>
                  <a:srgbClr val="053DE8"/>
                </a:solidFill>
                <a:latin typeface="Calibri"/>
                <a:cs typeface="Calibri"/>
              </a:rPr>
              <a:t>is to create an i</a:t>
            </a:r>
            <a:r>
              <a:rPr lang="en-US" sz="1200" b="0" spc="-9" dirty="0">
                <a:solidFill>
                  <a:srgbClr val="053DE8"/>
                </a:solidFill>
                <a:latin typeface="Calibri"/>
                <a:cs typeface="Calibri"/>
              </a:rPr>
              <a:t>llusion</a:t>
            </a:r>
            <a:r>
              <a:rPr lang="en-US" sz="1200" b="0" spc="-10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b="0" dirty="0">
                <a:solidFill>
                  <a:srgbClr val="053DE8"/>
                </a:solidFill>
                <a:latin typeface="Calibri"/>
                <a:cs typeface="Calibri"/>
              </a:rPr>
              <a:t>of</a:t>
            </a:r>
            <a:r>
              <a:rPr lang="en-US" sz="1200" b="0" spc="-10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b="0" spc="-18" dirty="0">
                <a:solidFill>
                  <a:srgbClr val="053DE8"/>
                </a:solidFill>
                <a:latin typeface="Calibri"/>
                <a:cs typeface="Calibri"/>
              </a:rPr>
              <a:t>large,</a:t>
            </a:r>
            <a:r>
              <a:rPr lang="en-US" sz="1200" b="0" spc="-9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b="0" spc="-9" dirty="0">
                <a:solidFill>
                  <a:srgbClr val="053DE8"/>
                </a:solidFill>
                <a:latin typeface="Calibri"/>
                <a:cs typeface="Calibri"/>
              </a:rPr>
              <a:t>fast,</a:t>
            </a:r>
            <a:r>
              <a:rPr lang="en-US" sz="1200" b="0" spc="-97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b="0" dirty="0">
                <a:solidFill>
                  <a:srgbClr val="053DE8"/>
                </a:solidFill>
                <a:latin typeface="Calibri"/>
                <a:cs typeface="Calibri"/>
              </a:rPr>
              <a:t>cheap</a:t>
            </a:r>
            <a:r>
              <a:rPr lang="en-US" sz="1200" b="0" spc="-10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b="0" spc="-9" dirty="0">
                <a:solidFill>
                  <a:srgbClr val="053DE8"/>
                </a:solidFill>
                <a:latin typeface="Calibri"/>
                <a:cs typeface="Calibri"/>
              </a:rPr>
              <a:t>memory.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85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PowerPC 970 (G5) used in the iMac G5 features on-chip caches,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specifically,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 KB L1 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instruction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cache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 KB L1 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located on the processor die.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processor also includes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512 KB L2 cache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is on-chip.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no L3 cache present in the 970 (G5) processor.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all primary caches (L1 and L2) are on-chip.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60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Principle of Locality (also known as locality of reference) states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 programs access a relatively small portion of their address space at any instant of time.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principle is fundamental to computer system design,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it enables the creation of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hierarchical memory systems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 performance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leveraging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predictable access patterns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r>
              <a:rPr lang="en-US" dirty="0"/>
              <a:t>There are two different types of locality:</a:t>
            </a:r>
          </a:p>
          <a:p>
            <a:r>
              <a:rPr lang="en-US" b="1" dirty="0"/>
              <a:t>Temporal Locality: </a:t>
            </a:r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 Locality: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…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principle is observed in straight-line code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 processes data structures like arrays in a loop,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elements are accessed in order,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 as in a for loop iterating through an array.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(Array access: accessing consecutive memory locations in a sequential manner)</a:t>
            </a:r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Straightline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code: emphasizes that related code and data should be grouped together to improve readability and ease of navigation.)</a:t>
            </a:r>
          </a:p>
          <a:p>
            <a:endParaRPr lang="en-US" b="0" dirty="0"/>
          </a:p>
          <a:p>
            <a:r>
              <a:rPr lang="en-US" b="0" dirty="0"/>
              <a:t>…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040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When talking about cache memory,</a:t>
            </a:r>
          </a:p>
          <a:p>
            <a:r>
              <a:rPr lang="en-US" dirty="0"/>
              <a:t>Let’s first look at main memory.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562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07" indent="0">
              <a:spcBef>
                <a:spcPts val="596"/>
              </a:spcBef>
              <a:spcAft>
                <a:spcPts val="600"/>
              </a:spcAft>
              <a:buNone/>
              <a:tabLst>
                <a:tab pos="279602" algn="l"/>
              </a:tabLst>
            </a:pPr>
            <a:r>
              <a:rPr lang="en-US" sz="1200" b="0" spc="-9" dirty="0">
                <a:latin typeface="Calibri"/>
                <a:cs typeface="Calibri"/>
              </a:rPr>
              <a:t>&gt;&gt;</a:t>
            </a:r>
          </a:p>
          <a:p>
            <a:pPr marL="11207" indent="0">
              <a:spcBef>
                <a:spcPts val="596"/>
              </a:spcBef>
              <a:spcAft>
                <a:spcPts val="600"/>
              </a:spcAft>
              <a:buNone/>
              <a:tabLst>
                <a:tab pos="279602" algn="l"/>
              </a:tabLst>
            </a:pPr>
            <a:r>
              <a:rPr lang="en-US" sz="1200" b="1" spc="-9" dirty="0">
                <a:latin typeface="Calibri"/>
                <a:cs typeface="Calibri"/>
              </a:rPr>
              <a:t>Q. </a:t>
            </a:r>
            <a:r>
              <a:rPr lang="en-US" sz="1200" spc="-9" dirty="0">
                <a:latin typeface="Calibri"/>
                <a:cs typeface="Calibri"/>
              </a:rPr>
              <a:t>How</a:t>
            </a:r>
            <a:r>
              <a:rPr lang="en-US" sz="1200" spc="-9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big</a:t>
            </a:r>
            <a:r>
              <a:rPr lang="en-US" sz="1200" spc="-84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should</a:t>
            </a:r>
            <a:r>
              <a:rPr lang="en-US" sz="1200" spc="-8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the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fastest</a:t>
            </a:r>
            <a:r>
              <a:rPr lang="en-US" sz="1200" spc="-84" dirty="0">
                <a:latin typeface="Calibri"/>
                <a:cs typeface="Calibri"/>
              </a:rPr>
              <a:t> </a:t>
            </a:r>
            <a:r>
              <a:rPr lang="en-US" sz="1200" spc="-18" dirty="0">
                <a:latin typeface="Calibri"/>
                <a:cs typeface="Calibri"/>
              </a:rPr>
              <a:t>memory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spc="-18" dirty="0">
                <a:latin typeface="Calibri"/>
                <a:cs typeface="Calibri"/>
              </a:rPr>
              <a:t>(cache)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spc="-22" dirty="0">
                <a:latin typeface="Calibri"/>
                <a:cs typeface="Calibri"/>
              </a:rPr>
              <a:t>be?</a:t>
            </a:r>
          </a:p>
          <a:p>
            <a:pPr marL="11207" indent="0">
              <a:spcBef>
                <a:spcPts val="596"/>
              </a:spcBef>
              <a:spcAft>
                <a:spcPts val="600"/>
              </a:spcAft>
              <a:buNone/>
              <a:tabLst>
                <a:tab pos="279602" algn="l"/>
              </a:tabLst>
            </a:pPr>
            <a:r>
              <a:rPr lang="en-US" sz="1200" b="1" dirty="0">
                <a:latin typeface="Calibri"/>
                <a:cs typeface="Calibri"/>
              </a:rPr>
              <a:t>A. </a:t>
            </a:r>
            <a:r>
              <a:rPr lang="en-US" sz="1200" i="1" dirty="0">
                <a:latin typeface="Calibri"/>
                <a:cs typeface="Calibri"/>
              </a:rPr>
              <a:t>Depends on the cost.</a:t>
            </a:r>
          </a:p>
          <a:p>
            <a:pPr marL="11207" indent="0">
              <a:spcBef>
                <a:spcPts val="596"/>
              </a:spcBef>
              <a:spcAft>
                <a:spcPts val="600"/>
              </a:spcAft>
              <a:buNone/>
              <a:tabLst>
                <a:tab pos="279602" algn="l"/>
              </a:tabLst>
            </a:pPr>
            <a:endParaRPr lang="en-US" sz="1200" dirty="0">
              <a:latin typeface="Calibri"/>
              <a:cs typeface="Calibri"/>
            </a:endParaRPr>
          </a:p>
          <a:p>
            <a:pPr marL="11207" indent="0">
              <a:spcBef>
                <a:spcPts val="507"/>
              </a:spcBef>
              <a:spcAft>
                <a:spcPts val="600"/>
              </a:spcAft>
              <a:buNone/>
              <a:tabLst>
                <a:tab pos="279602" algn="l"/>
              </a:tabLst>
            </a:pPr>
            <a:r>
              <a:rPr lang="en-US" sz="1200" b="1" spc="-9" dirty="0">
                <a:latin typeface="Calibri"/>
                <a:cs typeface="Calibri"/>
              </a:rPr>
              <a:t>Q. </a:t>
            </a:r>
            <a:r>
              <a:rPr lang="en-US" sz="1200" spc="-9" dirty="0">
                <a:latin typeface="Calibri"/>
                <a:cs typeface="Calibri"/>
              </a:rPr>
              <a:t>How</a:t>
            </a:r>
            <a:r>
              <a:rPr lang="en-US" sz="1200" spc="-9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do</a:t>
            </a:r>
            <a:r>
              <a:rPr lang="en-US" sz="1200" spc="-9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we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decide</a:t>
            </a:r>
            <a:r>
              <a:rPr lang="en-US" sz="1200" spc="-84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what</a:t>
            </a:r>
            <a:r>
              <a:rPr lang="en-US" sz="1200" spc="-8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to</a:t>
            </a:r>
            <a:r>
              <a:rPr lang="en-US" sz="1200" spc="-93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put</a:t>
            </a:r>
            <a:r>
              <a:rPr lang="en-US" sz="1200" spc="-8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in</a:t>
            </a:r>
            <a:r>
              <a:rPr lang="en-US" sz="1200" spc="-88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cache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memory?</a:t>
            </a:r>
            <a:endParaRPr lang="en-US" sz="1200" dirty="0">
              <a:latin typeface="Calibri"/>
              <a:cs typeface="Calibri"/>
            </a:endParaRPr>
          </a:p>
          <a:p>
            <a:pPr marL="11207" indent="0">
              <a:spcBef>
                <a:spcPts val="507"/>
              </a:spcBef>
              <a:spcAft>
                <a:spcPts val="600"/>
              </a:spcAft>
              <a:buNone/>
              <a:tabLst>
                <a:tab pos="279602" algn="l"/>
              </a:tabLst>
            </a:pPr>
            <a:r>
              <a:rPr lang="en-US" sz="1200" b="1" dirty="0">
                <a:latin typeface="Calibri"/>
                <a:cs typeface="Calibri"/>
              </a:rPr>
              <a:t>A. </a:t>
            </a:r>
            <a:r>
              <a:rPr lang="en-US" sz="1200" b="0" i="1" dirty="0">
                <a:latin typeface="Calibri"/>
                <a:cs typeface="Calibri"/>
              </a:rPr>
              <a:t>Frequently accessed memory objects</a:t>
            </a:r>
          </a:p>
          <a:p>
            <a:pPr marL="11207" indent="0">
              <a:spcBef>
                <a:spcPts val="507"/>
              </a:spcBef>
              <a:spcAft>
                <a:spcPts val="600"/>
              </a:spcAft>
              <a:buNone/>
              <a:tabLst>
                <a:tab pos="279602" algn="l"/>
              </a:tabLst>
            </a:pPr>
            <a:endParaRPr lang="en-US" sz="1200" b="1" spc="-9" dirty="0">
              <a:latin typeface="Calibri"/>
              <a:cs typeface="Calibri"/>
            </a:endParaRPr>
          </a:p>
          <a:p>
            <a:pPr marL="11207" indent="0">
              <a:spcBef>
                <a:spcPts val="507"/>
              </a:spcBef>
              <a:spcAft>
                <a:spcPts val="600"/>
              </a:spcAft>
              <a:buNone/>
              <a:tabLst>
                <a:tab pos="279602" algn="l"/>
              </a:tabLst>
            </a:pPr>
            <a:r>
              <a:rPr lang="en-US" sz="1200" b="1" spc="-9" dirty="0">
                <a:latin typeface="Calibri"/>
                <a:cs typeface="Calibri"/>
              </a:rPr>
              <a:t>Q. </a:t>
            </a:r>
            <a:r>
              <a:rPr lang="en-US" sz="1200" dirty="0">
                <a:latin typeface="Calibri"/>
                <a:cs typeface="Calibri"/>
              </a:rPr>
              <a:t>If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the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cache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is</a:t>
            </a:r>
            <a:r>
              <a:rPr lang="en-US" sz="1200" spc="-8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full,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how</a:t>
            </a:r>
            <a:r>
              <a:rPr lang="en-US" sz="1200" spc="-9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do</a:t>
            </a:r>
            <a:r>
              <a:rPr lang="en-US" sz="1200" spc="-88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we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decide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what</a:t>
            </a:r>
            <a:r>
              <a:rPr lang="en-US" sz="1200" spc="-8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to</a:t>
            </a:r>
            <a:r>
              <a:rPr lang="en-US" sz="1200" spc="-88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remove?</a:t>
            </a:r>
            <a:endParaRPr lang="en-US" sz="1200" dirty="0">
              <a:latin typeface="Calibri"/>
              <a:cs typeface="Calibri"/>
            </a:endParaRPr>
          </a:p>
          <a:p>
            <a:pPr marL="11207" indent="0">
              <a:spcBef>
                <a:spcPts val="529"/>
              </a:spcBef>
              <a:spcAft>
                <a:spcPts val="600"/>
              </a:spcAft>
              <a:buNone/>
              <a:tabLst>
                <a:tab pos="279602" algn="l"/>
              </a:tabLst>
            </a:pPr>
            <a:r>
              <a:rPr lang="en-US" sz="1200" b="1" dirty="0">
                <a:latin typeface="Calibri"/>
                <a:cs typeface="Calibri"/>
              </a:rPr>
              <a:t>A. </a:t>
            </a:r>
            <a:r>
              <a:rPr lang="en-US" sz="1200" b="0" i="1" dirty="0">
                <a:latin typeface="Calibri"/>
                <a:cs typeface="Calibri"/>
              </a:rPr>
              <a:t>Cache replacement policies</a:t>
            </a:r>
            <a:endParaRPr lang="en-US" sz="1200" b="0" i="1" spc="-9" dirty="0">
              <a:latin typeface="Calibri"/>
              <a:cs typeface="Calibri"/>
            </a:endParaRPr>
          </a:p>
          <a:p>
            <a:pPr marL="11207" indent="0">
              <a:spcBef>
                <a:spcPts val="529"/>
              </a:spcBef>
              <a:spcAft>
                <a:spcPts val="600"/>
              </a:spcAft>
              <a:buNone/>
              <a:tabLst>
                <a:tab pos="279602" algn="l"/>
              </a:tabLst>
            </a:pPr>
            <a:endParaRPr lang="en-US" sz="1200" b="1" spc="-9" dirty="0">
              <a:latin typeface="Calibri"/>
              <a:cs typeface="Calibri"/>
            </a:endParaRPr>
          </a:p>
          <a:p>
            <a:pPr marL="11207" indent="0">
              <a:spcBef>
                <a:spcPts val="529"/>
              </a:spcBef>
              <a:spcAft>
                <a:spcPts val="600"/>
              </a:spcAft>
              <a:buNone/>
              <a:tabLst>
                <a:tab pos="279602" algn="l"/>
              </a:tabLst>
            </a:pPr>
            <a:r>
              <a:rPr lang="en-US" sz="1200" b="1" spc="-9" dirty="0">
                <a:latin typeface="Calibri"/>
                <a:cs typeface="Calibri"/>
              </a:rPr>
              <a:t>Q. </a:t>
            </a:r>
            <a:r>
              <a:rPr lang="en-US" sz="1200" spc="-9" dirty="0">
                <a:latin typeface="Calibri"/>
                <a:cs typeface="Calibri"/>
              </a:rPr>
              <a:t>How</a:t>
            </a:r>
            <a:r>
              <a:rPr lang="en-US" sz="1200" spc="-8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do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we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find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18" dirty="0">
                <a:latin typeface="Calibri"/>
                <a:cs typeface="Calibri"/>
              </a:rPr>
              <a:t>something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in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cache?</a:t>
            </a:r>
            <a:endParaRPr lang="en-US" sz="1200" dirty="0">
              <a:latin typeface="Calibri"/>
              <a:cs typeface="Calibri"/>
            </a:endParaRPr>
          </a:p>
          <a:p>
            <a:pPr marL="11207" indent="0">
              <a:spcBef>
                <a:spcPts val="507"/>
              </a:spcBef>
              <a:spcAft>
                <a:spcPts val="600"/>
              </a:spcAft>
              <a:buNone/>
              <a:tabLst>
                <a:tab pos="279602" algn="l"/>
              </a:tabLst>
            </a:pPr>
            <a:r>
              <a:rPr lang="en-US" sz="1200" b="1" dirty="0">
                <a:latin typeface="Calibri"/>
                <a:cs typeface="Calibri"/>
              </a:rPr>
              <a:t>A. </a:t>
            </a:r>
            <a:r>
              <a:rPr lang="en-US" sz="1200" b="0" i="1" dirty="0">
                <a:latin typeface="Calibri"/>
                <a:cs typeface="Calibri"/>
              </a:rPr>
              <a:t>Depends on how it is organized</a:t>
            </a:r>
            <a:endParaRPr lang="en-US" sz="1200" b="0" i="1" spc="-9" dirty="0">
              <a:latin typeface="Calibri"/>
              <a:cs typeface="Calibri"/>
            </a:endParaRPr>
          </a:p>
          <a:p>
            <a:pPr marL="11207" indent="0">
              <a:spcBef>
                <a:spcPts val="507"/>
              </a:spcBef>
              <a:spcAft>
                <a:spcPts val="600"/>
              </a:spcAft>
              <a:buNone/>
              <a:tabLst>
                <a:tab pos="279602" algn="l"/>
              </a:tabLst>
            </a:pPr>
            <a:endParaRPr lang="en-US" sz="1200" b="1" spc="-9" dirty="0">
              <a:latin typeface="Calibri"/>
              <a:cs typeface="Calibri"/>
            </a:endParaRPr>
          </a:p>
          <a:p>
            <a:pPr marL="11207" indent="0">
              <a:spcBef>
                <a:spcPts val="507"/>
              </a:spcBef>
              <a:spcAft>
                <a:spcPts val="600"/>
              </a:spcAft>
              <a:buNone/>
              <a:tabLst>
                <a:tab pos="279602" algn="l"/>
              </a:tabLst>
            </a:pPr>
            <a:r>
              <a:rPr lang="en-US" sz="1200" b="1" spc="-9" dirty="0">
                <a:latin typeface="Calibri"/>
                <a:cs typeface="Calibri"/>
              </a:rPr>
              <a:t>Q. </a:t>
            </a:r>
            <a:r>
              <a:rPr lang="en-US" sz="1200" spc="-9" dirty="0">
                <a:latin typeface="Calibri"/>
                <a:cs typeface="Calibri"/>
              </a:rPr>
              <a:t>How</a:t>
            </a:r>
            <a:r>
              <a:rPr lang="en-US" sz="1200" spc="-9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do</a:t>
            </a:r>
            <a:r>
              <a:rPr lang="en-US" sz="1200" spc="-88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we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handle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writes?</a:t>
            </a:r>
            <a:endParaRPr lang="en-US" sz="1200" dirty="0">
              <a:latin typeface="Calibri"/>
              <a:cs typeface="Calibri"/>
            </a:endParaRPr>
          </a:p>
          <a:p>
            <a:r>
              <a:rPr lang="en-US" sz="1200" b="1" dirty="0">
                <a:latin typeface="Calibri"/>
                <a:cs typeface="Calibri"/>
              </a:rPr>
              <a:t>A. </a:t>
            </a:r>
            <a:r>
              <a:rPr lang="en-US" sz="1200" b="0" i="1" dirty="0">
                <a:latin typeface="Calibri"/>
                <a:cs typeface="Calibri"/>
              </a:rPr>
              <a:t>Cache write policies</a:t>
            </a:r>
          </a:p>
          <a:p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40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i="1" dirty="0"/>
              <a:t>Direct-mapped cache: </a:t>
            </a:r>
            <a:r>
              <a:rPr lang="en-US" sz="2400" dirty="0"/>
              <a:t>one block per set</a:t>
            </a:r>
            <a:endParaRPr lang="en-US" sz="2400" i="1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dirty="0"/>
              <a:t>Set associative: n</a:t>
            </a:r>
            <a:r>
              <a:rPr lang="en-US" sz="2400" dirty="0"/>
              <a:t> sets =&gt; </a:t>
            </a:r>
            <a:r>
              <a:rPr lang="en-US" sz="2400" i="1" dirty="0"/>
              <a:t>n-way set associative</a:t>
            </a:r>
          </a:p>
          <a:p>
            <a:pPr>
              <a:lnSpc>
                <a:spcPct val="90000"/>
              </a:lnSpc>
            </a:pPr>
            <a:r>
              <a:rPr lang="en-US" sz="2400" i="1" dirty="0"/>
              <a:t>Fully associative: </a:t>
            </a:r>
            <a:r>
              <a:rPr lang="en-US" sz="2400" dirty="0"/>
              <a:t>one set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463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32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/>
              <a:t>(</a:t>
            </a:r>
            <a:r>
              <a:rPr lang="en-US" sz="1200" b="0" i="0" dirty="0"/>
              <a:t>Direct-mapped cache: one block per set)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Memory address: 14 (octal) = 1100 (binary)</a:t>
            </a:r>
          </a:p>
          <a:p>
            <a:r>
              <a:rPr lang="en-US" dirty="0"/>
              <a:t>1100 &amp; 111 (or mod 7) = 100 (binary) = block number 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54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0" dirty="0"/>
              <a:t>(n sets =&gt; n-way set associative)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14 (octal) = 1100 (binary)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/>
              <a:t>2-way set associative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dirty="0"/>
              <a:t>Index size: 2 bits (for 4 sets 0 through 3)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1100 &amp; 11 = 0 = Set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77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0" dirty="0"/>
              <a:t>(n sets =&gt; n-way set associative)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14 (octal) = 1100 (binary)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/>
              <a:t>2-way set associative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dirty="0"/>
              <a:t>Index size: 2 bits (for 4 sets 0 through 3)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1100 &amp; 11 = 0 = Set 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012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15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(</a:t>
            </a:r>
            <a:r>
              <a:rPr lang="en-US" sz="1200" i="0" dirty="0"/>
              <a:t>Fully associative: one set</a:t>
            </a:r>
            <a:r>
              <a:rPr lang="en-US" i="0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994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size: 32 bytes</a:t>
            </a:r>
          </a:p>
          <a:p>
            <a:r>
              <a:rPr lang="en-US" dirty="0"/>
              <a:t>Block offset: log2(32) bits = log2(2^5) bits = 5 bits</a:t>
            </a:r>
          </a:p>
          <a:p>
            <a:endParaRPr lang="en-US" dirty="0"/>
          </a:p>
          <a:p>
            <a:r>
              <a:rPr lang="en-US" dirty="0"/>
              <a:t>Number of blocks: 1K blocks = 1024 blocks</a:t>
            </a:r>
          </a:p>
          <a:p>
            <a:r>
              <a:rPr lang="en-US" dirty="0"/>
              <a:t>2-way set associative cache</a:t>
            </a:r>
          </a:p>
          <a:p>
            <a:r>
              <a:rPr lang="en-US" dirty="0"/>
              <a:t>Number of sets: 1024 / 2 = 512 sets</a:t>
            </a:r>
          </a:p>
          <a:p>
            <a:r>
              <a:rPr lang="en-US" dirty="0"/>
              <a:t>Index size: log2(512) bits = log2(2^9) bits = 9 bits</a:t>
            </a:r>
          </a:p>
          <a:p>
            <a:endParaRPr lang="en-US" dirty="0"/>
          </a:p>
          <a:p>
            <a:r>
              <a:rPr lang="en-US" dirty="0"/>
              <a:t>Physical memory address: 40 bits</a:t>
            </a:r>
          </a:p>
          <a:p>
            <a:r>
              <a:rPr lang="en-US" dirty="0"/>
              <a:t>Tag size: 40 – 9 – 5 = 26 bits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284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Immediately update lower levels of hierarchy.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657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298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 rate fallacy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refers to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misconception that a lower cache miss rate alone guarantees better overall system performance,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 to how higher instructions per second is often incorrectly assumed to directly equate to superior CPU performance.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(MIPS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Millions of Instructions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 Second)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271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spc="-9" dirty="0">
                <a:latin typeface="Calibri"/>
                <a:cs typeface="Calibri"/>
              </a:rPr>
              <a:t>AMAT</a:t>
            </a:r>
            <a:r>
              <a:rPr lang="en-US" sz="1200" b="1" spc="-84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=</a:t>
            </a:r>
            <a:r>
              <a:rPr lang="en-US" sz="1200" b="1" spc="-79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Hit</a:t>
            </a:r>
            <a:r>
              <a:rPr lang="en-US" sz="1200" b="1" spc="-75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time</a:t>
            </a:r>
            <a:r>
              <a:rPr lang="en-US" sz="1200" b="1" spc="-79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+</a:t>
            </a:r>
            <a:r>
              <a:rPr lang="en-US" sz="1200" b="1" spc="-79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Miss</a:t>
            </a:r>
            <a:r>
              <a:rPr lang="en-US" sz="1200" b="1" spc="-75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rate</a:t>
            </a:r>
            <a:r>
              <a:rPr lang="en-US" sz="1200" b="1" spc="-79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x</a:t>
            </a:r>
            <a:r>
              <a:rPr lang="en-US" sz="1200" b="1" spc="-88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Miss</a:t>
            </a:r>
            <a:r>
              <a:rPr lang="en-US" sz="1200" b="1" spc="-75" dirty="0">
                <a:latin typeface="Calibri"/>
                <a:cs typeface="Calibri"/>
              </a:rPr>
              <a:t> </a:t>
            </a:r>
            <a:r>
              <a:rPr lang="en-US" sz="1200" b="1" spc="-18" dirty="0">
                <a:latin typeface="Calibri"/>
                <a:cs typeface="Calibri"/>
              </a:rPr>
              <a:t>penalty</a:t>
            </a:r>
            <a:r>
              <a:rPr lang="en-US" sz="1200" b="1" spc="-79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(ns</a:t>
            </a:r>
            <a:r>
              <a:rPr lang="en-US" sz="1200" b="1" spc="-75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or</a:t>
            </a:r>
            <a:r>
              <a:rPr lang="en-US" sz="1200" b="1" spc="-84" dirty="0">
                <a:latin typeface="Calibri"/>
                <a:cs typeface="Calibri"/>
              </a:rPr>
              <a:t> </a:t>
            </a:r>
            <a:r>
              <a:rPr lang="en-US" sz="1200" b="1" spc="-9" dirty="0">
                <a:latin typeface="Calibri"/>
                <a:cs typeface="Calibri"/>
              </a:rPr>
              <a:t>clocks)</a:t>
            </a:r>
            <a:endParaRPr lang="en-US" sz="1200" dirty="0">
              <a:latin typeface="Calibri"/>
              <a:cs typeface="Calibri"/>
            </a:endParaRPr>
          </a:p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Calibri"/>
              <a:cs typeface="Calibri"/>
            </a:endParaRPr>
          </a:p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2 cycles per instruction</a:t>
            </a:r>
          </a:p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1.33 memory references per instruction</a:t>
            </a:r>
          </a:p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50 cycles memory access time</a:t>
            </a:r>
          </a:p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2% miss rate</a:t>
            </a:r>
          </a:p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98% hit rate</a:t>
            </a:r>
          </a:p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0 cycle hit time</a:t>
            </a:r>
          </a:p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Calibri"/>
              <a:cs typeface="Calibri"/>
            </a:endParaRPr>
          </a:p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Then</a:t>
            </a:r>
            <a:r>
              <a:rPr lang="en-US" sz="1200" spc="-8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each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spc="-18" dirty="0">
                <a:latin typeface="Calibri"/>
                <a:cs typeface="Calibri"/>
              </a:rPr>
              <a:t>instruction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takes,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on</a:t>
            </a:r>
            <a:r>
              <a:rPr lang="en-US" sz="1200" spc="-84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average:</a:t>
            </a:r>
            <a:endParaRPr lang="en-US" sz="1200" b="0" dirty="0">
              <a:latin typeface="Arial"/>
              <a:cs typeface="Arial"/>
            </a:endParaRPr>
          </a:p>
          <a:p>
            <a:pPr marL="11206"/>
            <a:r>
              <a:rPr lang="en-US" sz="1200" b="0" dirty="0">
                <a:latin typeface="Arial"/>
                <a:cs typeface="Arial"/>
              </a:rPr>
              <a:t>2</a:t>
            </a:r>
            <a:r>
              <a:rPr lang="en-US" sz="1200" b="0" spc="-4" dirty="0">
                <a:latin typeface="Arial"/>
                <a:cs typeface="Arial"/>
              </a:rPr>
              <a:t> + </a:t>
            </a:r>
            <a:r>
              <a:rPr lang="en-US" sz="1200" b="0" dirty="0">
                <a:latin typeface="Arial"/>
                <a:cs typeface="Arial"/>
              </a:rPr>
              <a:t>(0 </a:t>
            </a:r>
            <a:r>
              <a:rPr lang="en-US" sz="1200" b="0" dirty="0">
                <a:latin typeface="Symbol"/>
                <a:cs typeface="Arial"/>
              </a:rPr>
              <a:t>*</a:t>
            </a:r>
            <a:r>
              <a:rPr lang="en-US" sz="1200" b="0" spc="84" dirty="0">
                <a:latin typeface="Times New Roman"/>
                <a:cs typeface="Times New Roman"/>
              </a:rPr>
              <a:t> </a:t>
            </a:r>
            <a:r>
              <a:rPr lang="en-US" sz="1200" b="0" dirty="0">
                <a:latin typeface="Arial"/>
                <a:cs typeface="Arial"/>
              </a:rPr>
              <a:t>.98)</a:t>
            </a:r>
            <a:r>
              <a:rPr lang="en-US" sz="1200" b="0" spc="9" dirty="0">
                <a:latin typeface="Arial"/>
                <a:cs typeface="Arial"/>
              </a:rPr>
              <a:t> </a:t>
            </a:r>
            <a:r>
              <a:rPr lang="en-US" sz="1200" b="0" dirty="0">
                <a:latin typeface="Arial"/>
                <a:cs typeface="Arial"/>
              </a:rPr>
              <a:t>+</a:t>
            </a:r>
            <a:r>
              <a:rPr lang="en-US" sz="1200" b="0" spc="9" dirty="0">
                <a:latin typeface="Arial"/>
                <a:cs typeface="Arial"/>
              </a:rPr>
              <a:t> </a:t>
            </a:r>
            <a:r>
              <a:rPr lang="en-US" sz="1200" b="0" dirty="0">
                <a:latin typeface="Arial"/>
                <a:cs typeface="Arial"/>
              </a:rPr>
              <a:t>(1.33</a:t>
            </a:r>
            <a:r>
              <a:rPr lang="en-US" sz="1200" b="0" spc="4" dirty="0">
                <a:latin typeface="Arial"/>
                <a:cs typeface="Arial"/>
              </a:rPr>
              <a:t> </a:t>
            </a:r>
            <a:r>
              <a:rPr lang="en-US" sz="1200" b="0" spc="4" dirty="0">
                <a:latin typeface="Symbol"/>
                <a:cs typeface="Arial"/>
              </a:rPr>
              <a:t>*</a:t>
            </a:r>
            <a:r>
              <a:rPr lang="en-US" sz="1200" b="0" spc="88" dirty="0">
                <a:latin typeface="Times New Roman"/>
                <a:cs typeface="Times New Roman"/>
              </a:rPr>
              <a:t> </a:t>
            </a:r>
            <a:r>
              <a:rPr lang="en-US" sz="1200" b="0" dirty="0">
                <a:latin typeface="Arial"/>
                <a:cs typeface="Arial"/>
              </a:rPr>
              <a:t>.02 </a:t>
            </a:r>
            <a:r>
              <a:rPr lang="en-US" sz="1200" b="0" dirty="0">
                <a:latin typeface="Symbol"/>
                <a:cs typeface="Arial"/>
              </a:rPr>
              <a:t>*</a:t>
            </a:r>
            <a:r>
              <a:rPr lang="en-US" sz="1200" b="0" spc="88" dirty="0">
                <a:latin typeface="Times New Roman"/>
                <a:cs typeface="Times New Roman"/>
              </a:rPr>
              <a:t> </a:t>
            </a:r>
            <a:r>
              <a:rPr lang="en-US" sz="1200" b="0" dirty="0">
                <a:latin typeface="Arial"/>
                <a:cs typeface="Arial"/>
              </a:rPr>
              <a:t>50)</a:t>
            </a:r>
            <a:r>
              <a:rPr lang="en-US" sz="1200" b="0" spc="9" dirty="0">
                <a:latin typeface="Arial"/>
                <a:cs typeface="Arial"/>
              </a:rPr>
              <a:t> </a:t>
            </a:r>
            <a:r>
              <a:rPr lang="en-US" sz="1200" b="0" dirty="0">
                <a:latin typeface="Arial"/>
                <a:cs typeface="Arial"/>
              </a:rPr>
              <a:t>=</a:t>
            </a:r>
            <a:r>
              <a:rPr lang="en-US" sz="1200" b="0" spc="9" dirty="0">
                <a:latin typeface="Arial"/>
                <a:cs typeface="Arial"/>
              </a:rPr>
              <a:t> </a:t>
            </a:r>
            <a:r>
              <a:rPr lang="en-US" sz="1200" b="0" dirty="0">
                <a:latin typeface="Arial"/>
                <a:cs typeface="Arial"/>
              </a:rPr>
              <a:t>3.33 clock</a:t>
            </a:r>
            <a:r>
              <a:rPr lang="en-US" sz="1200" b="0" spc="-4" dirty="0">
                <a:latin typeface="Arial"/>
                <a:cs typeface="Arial"/>
              </a:rPr>
              <a:t> </a:t>
            </a:r>
            <a:r>
              <a:rPr lang="en-US" sz="1200" b="0" spc="-9" dirty="0">
                <a:latin typeface="Arial"/>
                <a:cs typeface="Arial"/>
              </a:rPr>
              <a:t>cycles</a:t>
            </a:r>
            <a:endParaRPr lang="en-US" sz="1200" b="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609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execTime</a:t>
            </a:r>
            <a:endParaRPr lang="en-US" dirty="0"/>
          </a:p>
          <a:p>
            <a:r>
              <a:rPr lang="en-US" dirty="0"/>
              <a:t> = (</a:t>
            </a:r>
            <a:r>
              <a:rPr lang="en-US" dirty="0" err="1"/>
              <a:t>CPUcc</a:t>
            </a:r>
            <a:r>
              <a:rPr lang="en-US" dirty="0"/>
              <a:t> + </a:t>
            </a:r>
            <a:r>
              <a:rPr lang="en-US" dirty="0" err="1"/>
              <a:t>MemStallcc</a:t>
            </a:r>
            <a:r>
              <a:rPr lang="en-US" dirty="0"/>
              <a:t>) * </a:t>
            </a:r>
            <a:r>
              <a:rPr lang="en-US" dirty="0" err="1"/>
              <a:t>cct</a:t>
            </a:r>
            <a:endParaRPr lang="en-US" dirty="0"/>
          </a:p>
          <a:p>
            <a:r>
              <a:rPr lang="en-US" dirty="0"/>
              <a:t> = (IC * CPI + </a:t>
            </a:r>
            <a:r>
              <a:rPr lang="en-US" dirty="0" err="1"/>
              <a:t>MemStallcc</a:t>
            </a:r>
            <a:r>
              <a:rPr lang="en-US" dirty="0"/>
              <a:t>) * </a:t>
            </a:r>
            <a:r>
              <a:rPr lang="en-US" dirty="0" err="1"/>
              <a:t>cct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/>
              <a:t>For computer B: </a:t>
            </a:r>
          </a:p>
          <a:p>
            <a:endParaRPr lang="en-US" dirty="0"/>
          </a:p>
          <a:p>
            <a:r>
              <a:rPr lang="en-US" dirty="0" err="1"/>
              <a:t>execTimeB</a:t>
            </a: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= (IC * CPI + </a:t>
            </a:r>
            <a:r>
              <a:rPr lang="en-US" dirty="0" err="1"/>
              <a:t>MemStallcc</a:t>
            </a:r>
            <a:r>
              <a:rPr lang="en-US" dirty="0"/>
              <a:t>) * </a:t>
            </a:r>
            <a:r>
              <a:rPr lang="en-US" dirty="0" err="1"/>
              <a:t>cct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= (IC * 1.0 + 0) * </a:t>
            </a:r>
            <a:r>
              <a:rPr lang="en-US" dirty="0" err="1"/>
              <a:t>cct</a:t>
            </a:r>
            <a:endParaRPr lang="en-US" dirty="0"/>
          </a:p>
          <a:p>
            <a:r>
              <a:rPr lang="en-US" dirty="0"/>
              <a:t> = IC * 1.0 * </a:t>
            </a:r>
            <a:r>
              <a:rPr lang="en-US" dirty="0" err="1"/>
              <a:t>cct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/>
              <a:t>For computer A: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 err="1"/>
              <a:t>MemStallcc</a:t>
            </a:r>
            <a:r>
              <a:rPr lang="en-US" dirty="0"/>
              <a:t> </a:t>
            </a:r>
          </a:p>
          <a:p>
            <a:r>
              <a:rPr lang="en-US" dirty="0"/>
              <a:t> = IC * (</a:t>
            </a:r>
            <a:r>
              <a:rPr lang="en-US" dirty="0" err="1"/>
              <a:t>MemAccess</a:t>
            </a:r>
            <a:r>
              <a:rPr lang="en-US" dirty="0"/>
              <a:t> / Inst) * </a:t>
            </a:r>
            <a:r>
              <a:rPr lang="en-US" dirty="0" err="1"/>
              <a:t>MissRate</a:t>
            </a:r>
            <a:r>
              <a:rPr lang="en-US" dirty="0"/>
              <a:t> * </a:t>
            </a:r>
            <a:r>
              <a:rPr lang="en-US" dirty="0" err="1"/>
              <a:t>MissPenalty</a:t>
            </a:r>
            <a:endParaRPr lang="en-US" dirty="0"/>
          </a:p>
          <a:p>
            <a:r>
              <a:rPr lang="en-US" dirty="0"/>
              <a:t> = IC * (1 + 0.5) * 0.02 * 25 = IC * 0.75</a:t>
            </a:r>
          </a:p>
          <a:p>
            <a:endParaRPr lang="en-US" dirty="0"/>
          </a:p>
          <a:p>
            <a:r>
              <a:rPr lang="en-US" dirty="0" err="1"/>
              <a:t>execTimeA</a:t>
            </a:r>
            <a:r>
              <a:rPr lang="en-US" dirty="0"/>
              <a:t> </a:t>
            </a:r>
          </a:p>
          <a:p>
            <a:r>
              <a:rPr lang="en-US" dirty="0"/>
              <a:t> = (IC * CPI + IC * 0.75) * </a:t>
            </a:r>
            <a:r>
              <a:rPr lang="en-US" dirty="0" err="1"/>
              <a:t>cct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= IC * 1.75 * </a:t>
            </a:r>
            <a:r>
              <a:rPr lang="en-US" dirty="0" err="1"/>
              <a:t>cct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266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execTime</a:t>
            </a:r>
            <a:endParaRPr lang="en-US" dirty="0"/>
          </a:p>
          <a:p>
            <a:r>
              <a:rPr lang="en-US" dirty="0"/>
              <a:t> = (</a:t>
            </a:r>
            <a:r>
              <a:rPr lang="en-US" dirty="0" err="1"/>
              <a:t>CPUcc</a:t>
            </a:r>
            <a:r>
              <a:rPr lang="en-US" dirty="0"/>
              <a:t> + </a:t>
            </a:r>
            <a:r>
              <a:rPr lang="en-US" dirty="0" err="1"/>
              <a:t>MemStallcc</a:t>
            </a:r>
            <a:r>
              <a:rPr lang="en-US" dirty="0"/>
              <a:t>) * </a:t>
            </a:r>
            <a:r>
              <a:rPr lang="en-US" dirty="0" err="1"/>
              <a:t>cct</a:t>
            </a:r>
            <a:endParaRPr lang="en-US" dirty="0"/>
          </a:p>
          <a:p>
            <a:r>
              <a:rPr lang="en-US" dirty="0"/>
              <a:t> = (IC * CPI + </a:t>
            </a:r>
            <a:r>
              <a:rPr lang="en-US" dirty="0" err="1"/>
              <a:t>MemStallcc</a:t>
            </a:r>
            <a:r>
              <a:rPr lang="en-US" dirty="0"/>
              <a:t>) * </a:t>
            </a:r>
            <a:r>
              <a:rPr lang="en-US" dirty="0" err="1"/>
              <a:t>cct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MemStallcc</a:t>
            </a:r>
            <a:r>
              <a:rPr lang="en-US" dirty="0"/>
              <a:t> </a:t>
            </a:r>
          </a:p>
          <a:p>
            <a:r>
              <a:rPr lang="en-US" dirty="0"/>
              <a:t> = IC * (</a:t>
            </a:r>
            <a:r>
              <a:rPr lang="en-US" dirty="0" err="1"/>
              <a:t>MemAccess</a:t>
            </a:r>
            <a:r>
              <a:rPr lang="en-US" dirty="0"/>
              <a:t> / Inst) * </a:t>
            </a:r>
            <a:r>
              <a:rPr lang="en-US" dirty="0" err="1"/>
              <a:t>MissRate</a:t>
            </a:r>
            <a:r>
              <a:rPr lang="en-US" dirty="0"/>
              <a:t> * </a:t>
            </a:r>
            <a:r>
              <a:rPr lang="en-US" dirty="0" err="1"/>
              <a:t>MissPenalty</a:t>
            </a:r>
            <a:endParaRPr lang="en-US" dirty="0"/>
          </a:p>
          <a:p>
            <a:r>
              <a:rPr lang="en-US" dirty="0"/>
              <a:t> = IC * (1 + 0.5) * 0.02 * 25 = IC * 0.75</a:t>
            </a:r>
          </a:p>
          <a:p>
            <a:endParaRPr lang="en-US" dirty="0"/>
          </a:p>
          <a:p>
            <a:r>
              <a:rPr lang="en-US" dirty="0" err="1"/>
              <a:t>execTimeA</a:t>
            </a:r>
            <a:r>
              <a:rPr lang="en-US" dirty="0"/>
              <a:t> </a:t>
            </a:r>
          </a:p>
          <a:p>
            <a:r>
              <a:rPr lang="en-US" dirty="0"/>
              <a:t> = (IC * CPI + IC * 0.75) * </a:t>
            </a:r>
            <a:r>
              <a:rPr lang="en-US" dirty="0" err="1"/>
              <a:t>cct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= IC * 1.75 * </a:t>
            </a:r>
            <a:r>
              <a:rPr lang="en-US" dirty="0" err="1"/>
              <a:t>cct</a:t>
            </a:r>
            <a:endParaRPr lang="en-US" dirty="0"/>
          </a:p>
          <a:p>
            <a:endParaRPr lang="en-US" dirty="0"/>
          </a:p>
          <a:p>
            <a:r>
              <a:rPr lang="en-US" dirty="0"/>
              <a:t>Speedup = </a:t>
            </a:r>
            <a:r>
              <a:rPr lang="en-US" dirty="0" err="1"/>
              <a:t>execTimeA</a:t>
            </a:r>
            <a:r>
              <a:rPr lang="en-US" dirty="0"/>
              <a:t> / </a:t>
            </a:r>
            <a:r>
              <a:rPr lang="en-US" dirty="0" err="1"/>
              <a:t>execTimeB</a:t>
            </a:r>
            <a:r>
              <a:rPr lang="en-US" dirty="0"/>
              <a:t> = 1.75 / 1.0 = 1.75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104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Write-through and write-back are two distinct cache write strategies used to manage data consistency between a cache and a backing store.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write-through caching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write operation is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synchronously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written to both the cache and the backing store immediately,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ensuring data consistency but at the cost of higher write latency.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Write-back caching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(also known as write-behind)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writes data only to the cache initially,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deferring the update to the backing store until the cache line is evicted or replaced.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approach uses a write to queue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asynchronous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writes to the backing store,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allowing the system to continue processing without waiting for the slower storage operation.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Write-back cache significantly reduces write latency,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introduces a risk of data loss if a failure occurs before the data is written to the backing store.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write-miss strategies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decision to allocate a cache line on a write miss is governed by write-allocate and no-write-allocate policies.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Write-allocate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means that when a write miss occurs,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fetches the corresponding block from main memory into the cache before performing the write operation.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(This is often used in conjunction with write-back policies.)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No-write-allocate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(also known as write-around)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 that on a write miss, the data is written directly to main memory without being loaded into the cache.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822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2-way set associative cache</a:t>
            </a:r>
          </a:p>
          <a:p>
            <a:r>
              <a:rPr lang="en-US" dirty="0"/>
              <a:t>Cache size: 2KB</a:t>
            </a:r>
          </a:p>
          <a:p>
            <a:r>
              <a:rPr lang="en-US" dirty="0"/>
              <a:t>Physical memory address: 32 bits</a:t>
            </a:r>
          </a:p>
          <a:p>
            <a:endParaRPr lang="en-US" dirty="0"/>
          </a:p>
          <a:p>
            <a:r>
              <a:rPr lang="en-US" dirty="0"/>
              <a:t>Block size: 32 bytes</a:t>
            </a:r>
          </a:p>
          <a:p>
            <a:r>
              <a:rPr lang="en-US" dirty="0"/>
              <a:t>Block offset: log2(32) bits = log2(2^5) bits = 5 bits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209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2-way set associative cache</a:t>
            </a:r>
          </a:p>
          <a:p>
            <a:r>
              <a:rPr lang="en-US" dirty="0"/>
              <a:t>Cache size: 2KB</a:t>
            </a:r>
          </a:p>
          <a:p>
            <a:r>
              <a:rPr lang="en-US" dirty="0"/>
              <a:t>Physical memory address: 32 bits</a:t>
            </a:r>
          </a:p>
          <a:p>
            <a:endParaRPr lang="en-US" dirty="0"/>
          </a:p>
          <a:p>
            <a:r>
              <a:rPr lang="en-US" dirty="0"/>
              <a:t>Block size: 32 bytes</a:t>
            </a:r>
          </a:p>
          <a:p>
            <a:r>
              <a:rPr lang="en-US" dirty="0"/>
              <a:t>Block offset: log2(32) bits = log2(2^5) bits = 5 bits</a:t>
            </a:r>
          </a:p>
          <a:p>
            <a:endParaRPr lang="en-US" dirty="0"/>
          </a:p>
          <a:p>
            <a:r>
              <a:rPr lang="en-US" dirty="0"/>
              <a:t>Number of blocks</a:t>
            </a:r>
          </a:p>
          <a:p>
            <a:r>
              <a:rPr lang="en-US" dirty="0"/>
              <a:t> = cache size / block size</a:t>
            </a:r>
          </a:p>
          <a:p>
            <a:r>
              <a:rPr lang="en-US" dirty="0"/>
              <a:t> = 2KB / 32 bytes</a:t>
            </a:r>
            <a:br>
              <a:rPr lang="en-US" dirty="0"/>
            </a:br>
            <a:r>
              <a:rPr lang="en-US" dirty="0"/>
              <a:t> = 64 blocks</a:t>
            </a:r>
          </a:p>
          <a:p>
            <a:endParaRPr lang="en-US" dirty="0"/>
          </a:p>
          <a:p>
            <a:r>
              <a:rPr lang="en-US" dirty="0"/>
              <a:t>Direct-mapped: </a:t>
            </a:r>
          </a:p>
          <a:p>
            <a:r>
              <a:rPr lang="en-US" dirty="0"/>
              <a:t>Index size: log2(64) bits = log2(2^6) bits = 6 bits</a:t>
            </a:r>
          </a:p>
          <a:p>
            <a:endParaRPr lang="en-US" dirty="0"/>
          </a:p>
          <a:p>
            <a:r>
              <a:rPr lang="en-US" dirty="0"/>
              <a:t>2-way set associative: </a:t>
            </a:r>
          </a:p>
          <a:p>
            <a:r>
              <a:rPr lang="en-US" dirty="0"/>
              <a:t>Index size: 5 bits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316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Physical memory address: 32 bits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Block offset: 5 bits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Index size: 5 bits</a:t>
            </a:r>
          </a:p>
          <a:p>
            <a:endParaRPr lang="en-US" dirty="0"/>
          </a:p>
          <a:p>
            <a:r>
              <a:rPr lang="en-US" dirty="0"/>
              <a:t>Tag size: 32 – 5 – 5 = 22 bits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96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size: 64 bytes</a:t>
            </a:r>
          </a:p>
          <a:p>
            <a:r>
              <a:rPr lang="en-US" dirty="0"/>
              <a:t>Block offset: 6 bits</a:t>
            </a:r>
          </a:p>
          <a:p>
            <a:endParaRPr lang="en-US" dirty="0"/>
          </a:p>
          <a:p>
            <a:r>
              <a:rPr lang="en-US" dirty="0"/>
              <a:t>Number of blocks: 16KB / 64 bytes = 256 blocks</a:t>
            </a:r>
          </a:p>
          <a:p>
            <a:r>
              <a:rPr lang="en-US" dirty="0"/>
              <a:t>Index size = 8 bits</a:t>
            </a:r>
          </a:p>
          <a:p>
            <a:endParaRPr lang="en-US" dirty="0"/>
          </a:p>
          <a:p>
            <a:r>
              <a:rPr lang="en-US" dirty="0"/>
              <a:t>Tag size: 32 – 8 – 6 = 18 bits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76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offset: 6 bits</a:t>
            </a:r>
          </a:p>
          <a:p>
            <a:r>
              <a:rPr lang="en-US" dirty="0"/>
              <a:t>Block size = 2^6 bytes = 64 bytes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039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 size: 9 bits</a:t>
            </a:r>
          </a:p>
          <a:p>
            <a:r>
              <a:rPr lang="en-US" dirty="0"/>
              <a:t>Number of sets: 2^9 sets = 512 sets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49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of blocks = 512 * 2 = 1024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075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Figure B.5 from Appendix B (page B-13)</a:t>
            </a:r>
          </a:p>
          <a:p>
            <a:endParaRPr lang="en-US" dirty="0"/>
          </a:p>
          <a:p>
            <a:r>
              <a:rPr lang="en-US" dirty="0"/>
              <a:t>&gt;&gt;</a:t>
            </a:r>
          </a:p>
          <a:p>
            <a:r>
              <a:rPr lang="en-US" dirty="0"/>
              <a:t>Here is an example of data cache organization in the Opteron microprocessor.</a:t>
            </a:r>
          </a:p>
          <a:p>
            <a:endParaRPr lang="en-US" dirty="0"/>
          </a:p>
          <a:p>
            <a:r>
              <a:rPr lang="en-US" dirty="0"/>
              <a:t>The 64 KB cache is two-way set associative with 64-byte blocks. </a:t>
            </a:r>
          </a:p>
          <a:p>
            <a:endParaRPr lang="en-US" dirty="0"/>
          </a:p>
          <a:p>
            <a:r>
              <a:rPr lang="en-US" dirty="0"/>
              <a:t>Block size:  64 bytes</a:t>
            </a:r>
          </a:p>
          <a:p>
            <a:r>
              <a:rPr lang="en-US" dirty="0"/>
              <a:t>Block index: 6 bits</a:t>
            </a:r>
          </a:p>
          <a:p>
            <a:r>
              <a:rPr lang="en-US" dirty="0"/>
              <a:t>3 bits: 8 bytes / word, 3 bits: 8 words / block</a:t>
            </a:r>
          </a:p>
          <a:p>
            <a:endParaRPr lang="en-US" dirty="0"/>
          </a:p>
          <a:p>
            <a:r>
              <a:rPr lang="en-US" dirty="0"/>
              <a:t>Cache size: 64KB</a:t>
            </a:r>
          </a:p>
          <a:p>
            <a:r>
              <a:rPr lang="en-US" dirty="0"/>
              <a:t>Number of blocks = 1024 or 2^10 blocks</a:t>
            </a:r>
          </a:p>
          <a:p>
            <a:endParaRPr lang="en-US" dirty="0"/>
          </a:p>
          <a:p>
            <a:r>
              <a:rPr lang="en-US" dirty="0"/>
              <a:t>A 9-bit index selects among 512 sets. </a:t>
            </a:r>
          </a:p>
          <a:p>
            <a:endParaRPr lang="en-US" dirty="0"/>
          </a:p>
          <a:p>
            <a:r>
              <a:rPr lang="en-US" dirty="0"/>
              <a:t>3 bits of the block offset join the index to supply the </a:t>
            </a:r>
          </a:p>
          <a:p>
            <a:r>
              <a:rPr lang="en-US" dirty="0"/>
              <a:t>RAM address to select the proper 8 bytes. </a:t>
            </a:r>
          </a:p>
          <a:p>
            <a:endParaRPr lang="en-US" dirty="0"/>
          </a:p>
          <a:p>
            <a:r>
              <a:rPr lang="en-US" dirty="0"/>
              <a:t>Thus, the cache holds two groups of 4096 64-bit words, </a:t>
            </a:r>
          </a:p>
          <a:p>
            <a:r>
              <a:rPr lang="en-US" dirty="0"/>
              <a:t>with each group containing half of the 512 sets. </a:t>
            </a:r>
          </a:p>
          <a:p>
            <a:endParaRPr lang="en-US" dirty="0"/>
          </a:p>
          <a:p>
            <a:r>
              <a:rPr lang="en-US" dirty="0"/>
              <a:t>The line from lower-level memory to the</a:t>
            </a:r>
          </a:p>
          <a:p>
            <a:r>
              <a:rPr lang="en-US" dirty="0"/>
              <a:t>cache is used on a miss to load the cache. </a:t>
            </a:r>
          </a:p>
          <a:p>
            <a:endParaRPr lang="en-US" dirty="0"/>
          </a:p>
          <a:p>
            <a:r>
              <a:rPr lang="en-US" dirty="0"/>
              <a:t>The size of address leaving the processor is 40 bits </a:t>
            </a:r>
          </a:p>
          <a:p>
            <a:r>
              <a:rPr lang="en-US" dirty="0"/>
              <a:t>because it is a physical address and not a virtual address.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38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EF516-07C5-44C2-B684-B686D6272CD5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6803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F5A5F-4D81-4062-9F50-DCD803809D85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73531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ECCAE-1332-4E33-8441-6216EBFD33DD}" type="datetime1">
              <a:rPr lang="en-US" smtClean="0"/>
              <a:t>10/15/2025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0438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9052F-3AA5-4739-B420-600756BBFADF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1256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362" y="1671388"/>
            <a:ext cx="5164606" cy="4381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E8F89-E567-4EED-8CB0-CD3B1F0F9ADB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21203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1872208" cy="2309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308" y="3058065"/>
            <a:ext cx="6451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57E36-A4D3-4216-9467-98056BDF6F20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20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80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10" Type="http://schemas.openxmlformats.org/officeDocument/2006/relationships/image" Target="../media/image12.png"/><Relationship Id="rId4" Type="http://schemas.openxmlformats.org/officeDocument/2006/relationships/image" Target="../media/image6.jp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843213" y="1254125"/>
            <a:ext cx="378084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srgbClr val="000099"/>
                </a:solidFill>
                <a:latin typeface="Arial" charset="0"/>
              </a:rPr>
              <a:t>Chapter 2 and Appendix B</a:t>
            </a:r>
            <a:endParaRPr lang="en-GB" sz="2400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2843213" y="2060575"/>
            <a:ext cx="583247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332B7"/>
                </a:solidFill>
                <a:latin typeface="Arial MT"/>
                <a:cs typeface="Arial MT"/>
              </a:rPr>
              <a:t>Memory Hierarchy Design</a:t>
            </a:r>
            <a:endParaRPr lang="en-US" sz="2800" dirty="0">
              <a:latin typeface="Arial MT"/>
              <a:cs typeface="Arial MT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299585" y="-100013"/>
            <a:ext cx="348146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Computer Architecture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charset="0"/>
              </a:rPr>
              <a:t>A Quantitative Approach</a:t>
            </a:r>
            <a:endParaRPr lang="en-GB" sz="20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3" name="Picture 2" descr="A book cover of a computer architecture&#10;&#10;AI-generated content may be incorrect.">
            <a:extLst>
              <a:ext uri="{FF2B5EF4-FFF2-40B4-BE49-F238E27FC236}">
                <a16:creationId xmlns:a16="http://schemas.microsoft.com/office/drawing/2014/main" id="{C8AD8ECF-BB96-6B99-D501-645D3AF2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806512"/>
            <a:ext cx="1894513" cy="2315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39588" y="1875865"/>
            <a:ext cx="6858000" cy="8577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4377"/>
              </a:lnSpc>
              <a:spcBef>
                <a:spcPts val="88"/>
              </a:spcBef>
            </a:pPr>
            <a:r>
              <a:rPr sz="3706" b="1" dirty="0">
                <a:latin typeface="Arial"/>
                <a:cs typeface="Arial"/>
              </a:rPr>
              <a:t>MEMORY</a:t>
            </a:r>
            <a:r>
              <a:rPr sz="3706" b="1" spc="150" dirty="0">
                <a:latin typeface="Arial"/>
                <a:cs typeface="Arial"/>
              </a:rPr>
              <a:t> </a:t>
            </a:r>
            <a:r>
              <a:rPr sz="3706" b="1" spc="-9" dirty="0">
                <a:latin typeface="Arial"/>
                <a:cs typeface="Arial"/>
              </a:rPr>
              <a:t>HIERARCHY</a:t>
            </a:r>
            <a:r>
              <a:rPr lang="en-US" sz="3706" b="1" spc="-9" dirty="0">
                <a:latin typeface="Arial"/>
                <a:cs typeface="Arial"/>
              </a:rPr>
              <a:t> INTRO</a:t>
            </a:r>
            <a:endParaRPr sz="3706" dirty="0">
              <a:latin typeface="Arial"/>
              <a:cs typeface="Arial"/>
            </a:endParaRPr>
          </a:p>
          <a:p>
            <a:pPr marL="11206">
              <a:lnSpc>
                <a:spcPts val="2153"/>
              </a:lnSpc>
            </a:pPr>
            <a:r>
              <a:rPr lang="en-US" sz="1853" b="1" dirty="0">
                <a:latin typeface="Arial"/>
                <a:cs typeface="Arial"/>
              </a:rPr>
              <a:t>-</a:t>
            </a:r>
            <a:r>
              <a:rPr lang="en-US" sz="1853" b="1" spc="40" dirty="0">
                <a:latin typeface="Arial"/>
                <a:cs typeface="Arial"/>
              </a:rPr>
              <a:t> </a:t>
            </a:r>
            <a:r>
              <a:rPr lang="en-US" sz="1853" b="1" spc="-44" dirty="0">
                <a:latin typeface="Arial"/>
                <a:cs typeface="Arial"/>
              </a:rPr>
              <a:t>Chapter 2 and Appendix B</a:t>
            </a:r>
            <a:endParaRPr sz="1853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</a:t>
            </a:fld>
            <a:endParaRPr spc="-2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1303" y="694716"/>
            <a:ext cx="5874905" cy="461665"/>
          </a:xfrm>
        </p:spPr>
        <p:txBody>
          <a:bodyPr/>
          <a:lstStyle/>
          <a:p>
            <a:r>
              <a:rPr lang="en-US" dirty="0"/>
              <a:t>Motivation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711" y="1391315"/>
            <a:ext cx="7213599" cy="4739759"/>
          </a:xfrm>
        </p:spPr>
        <p:txBody>
          <a:bodyPr/>
          <a:lstStyle/>
          <a:p>
            <a:pPr marL="342900" indent="-342900">
              <a:buSzPct val="110000"/>
              <a:buFont typeface="Arial" panose="020B0604020202020204" pitchFamily="34" charset="0"/>
              <a:buChar char="•"/>
            </a:pPr>
            <a:r>
              <a:rPr lang="en-US" sz="2400" dirty="0"/>
              <a:t>Programmers want unlimited amounts of memory with low latency</a:t>
            </a:r>
          </a:p>
          <a:p>
            <a:pPr marL="342900" indent="-342900">
              <a:buSzPct val="110000"/>
              <a:buFont typeface="Arial" panose="020B0604020202020204" pitchFamily="34" charset="0"/>
              <a:buChar char="•"/>
            </a:pPr>
            <a:r>
              <a:rPr lang="en-US" sz="2400" dirty="0"/>
              <a:t>Fast memory technology is more expensive per bit than slower memory</a:t>
            </a:r>
          </a:p>
          <a:p>
            <a:pPr marL="342900" indent="-342900">
              <a:buSzPct val="110000"/>
              <a:buFont typeface="Arial" panose="020B0604020202020204" pitchFamily="34" charset="0"/>
              <a:buChar char="•"/>
            </a:pPr>
            <a:r>
              <a:rPr lang="en-US" sz="2400" dirty="0"/>
              <a:t>Solution: organize memory system into a hierarchy</a:t>
            </a:r>
          </a:p>
          <a:p>
            <a:pPr marL="746333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Entire addressable memory space available in largest, </a:t>
            </a:r>
            <a:br>
              <a:rPr lang="en-US" sz="2000" dirty="0"/>
            </a:br>
            <a:r>
              <a:rPr lang="en-US" sz="2000" dirty="0"/>
              <a:t>slowest memory</a:t>
            </a:r>
          </a:p>
          <a:p>
            <a:pPr marL="746333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Incrementally smaller and faster memories, each containing a subset of the memory below it, proceed in steps up toward the processor</a:t>
            </a:r>
          </a:p>
          <a:p>
            <a:pPr marL="342900" indent="-342900">
              <a:buSzPct val="110000"/>
              <a:buFont typeface="Arial" panose="020B0604020202020204" pitchFamily="34" charset="0"/>
              <a:buChar char="•"/>
            </a:pPr>
            <a:r>
              <a:rPr lang="en-US" sz="2400" dirty="0"/>
              <a:t>Temporal and spatial locality ensures that nearly all references can be found in smaller memories</a:t>
            </a:r>
          </a:p>
          <a:p>
            <a:pPr marL="746333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Gives the allusion of a large, fast memory being presented to the processor</a:t>
            </a:r>
            <a:endParaRPr lang="en-US" sz="2400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3AF364D-CA0A-34F1-E12F-0A2808F68B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450" y="697445"/>
            <a:ext cx="7663632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197</a:t>
            </a:r>
            <a:r>
              <a:rPr lang="en-US" dirty="0"/>
              <a:t>7</a:t>
            </a:r>
            <a:r>
              <a:rPr dirty="0"/>
              <a:t>:</a:t>
            </a:r>
            <a:r>
              <a:rPr spc="-40" dirty="0"/>
              <a:t> </a:t>
            </a:r>
            <a:r>
              <a:rPr dirty="0"/>
              <a:t>DRAM</a:t>
            </a:r>
            <a:r>
              <a:rPr spc="-49" dirty="0"/>
              <a:t> </a:t>
            </a:r>
            <a:r>
              <a:rPr dirty="0"/>
              <a:t>faster</a:t>
            </a:r>
            <a:r>
              <a:rPr spc="-49" dirty="0"/>
              <a:t> </a:t>
            </a:r>
            <a:r>
              <a:rPr dirty="0"/>
              <a:t>than</a:t>
            </a:r>
            <a:r>
              <a:rPr spc="-40" dirty="0"/>
              <a:t> </a:t>
            </a:r>
            <a:r>
              <a:rPr spc="-9" dirty="0"/>
              <a:t>microprocessors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6729" y="2553929"/>
            <a:ext cx="8276104" cy="4027954"/>
            <a:chOff x="501226" y="2894452"/>
            <a:chExt cx="9379585" cy="45650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226" y="2894452"/>
              <a:ext cx="6715191" cy="36536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4225" y="6049504"/>
              <a:ext cx="4817745" cy="600075"/>
            </a:xfrm>
            <a:custGeom>
              <a:avLst/>
              <a:gdLst/>
              <a:ahLst/>
              <a:cxnLst/>
              <a:rect l="l" t="t" r="r" b="b"/>
              <a:pathLst>
                <a:path w="4817745" h="600075">
                  <a:moveTo>
                    <a:pt x="4817709" y="0"/>
                  </a:moveTo>
                  <a:lnTo>
                    <a:pt x="0" y="0"/>
                  </a:lnTo>
                  <a:lnTo>
                    <a:pt x="0" y="599686"/>
                  </a:lnTo>
                  <a:lnTo>
                    <a:pt x="4817709" y="599686"/>
                  </a:lnTo>
                  <a:lnTo>
                    <a:pt x="48177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784225" y="6049504"/>
              <a:ext cx="4817745" cy="600075"/>
            </a:xfrm>
            <a:custGeom>
              <a:avLst/>
              <a:gdLst/>
              <a:ahLst/>
              <a:cxnLst/>
              <a:rect l="l" t="t" r="r" b="b"/>
              <a:pathLst>
                <a:path w="4817745" h="600075">
                  <a:moveTo>
                    <a:pt x="0" y="0"/>
                  </a:moveTo>
                  <a:lnTo>
                    <a:pt x="4817709" y="0"/>
                  </a:lnTo>
                  <a:lnTo>
                    <a:pt x="4817709" y="599686"/>
                  </a:lnTo>
                  <a:lnTo>
                    <a:pt x="0" y="599686"/>
                  </a:lnTo>
                  <a:lnTo>
                    <a:pt x="0" y="0"/>
                  </a:lnTo>
                  <a:close/>
                </a:path>
              </a:pathLst>
            </a:custGeom>
            <a:ln w="101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3834" y="3075348"/>
              <a:ext cx="3016765" cy="413548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1855" y="6014717"/>
              <a:ext cx="3920949" cy="1444136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3450" y="1282188"/>
            <a:ext cx="4253045" cy="108976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332296" y="5239871"/>
            <a:ext cx="42918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Steve</a:t>
            </a:r>
            <a:endParaRPr sz="1412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98228" y="5409304"/>
            <a:ext cx="697006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Wozniak</a:t>
            </a:r>
            <a:endParaRPr sz="1412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4574" y="5390029"/>
            <a:ext cx="87405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solidFill>
                  <a:srgbClr val="053DE8"/>
                </a:solidFill>
                <a:latin typeface="Times New Roman"/>
                <a:cs typeface="Times New Roman"/>
              </a:rPr>
              <a:t>Steve</a:t>
            </a:r>
            <a:r>
              <a:rPr sz="1500" b="1" spc="-22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500" b="1" spc="-18" dirty="0">
                <a:solidFill>
                  <a:srgbClr val="053DE8"/>
                </a:solidFill>
                <a:latin typeface="Times New Roman"/>
                <a:cs typeface="Times New Roman"/>
              </a:rPr>
              <a:t>Jobs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21703" y="3588123"/>
            <a:ext cx="3435724" cy="3045759"/>
            <a:chOff x="5312197" y="4066540"/>
            <a:chExt cx="3893820" cy="34518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25673" y="6596971"/>
              <a:ext cx="1622187" cy="66201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2197" y="7226979"/>
              <a:ext cx="1650823" cy="2914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56295" y="4679188"/>
              <a:ext cx="1249679" cy="13350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87176" y="4719181"/>
              <a:ext cx="1085215" cy="1170305"/>
            </a:xfrm>
            <a:custGeom>
              <a:avLst/>
              <a:gdLst/>
              <a:ahLst/>
              <a:cxnLst/>
              <a:rect l="l" t="t" r="r" b="b"/>
              <a:pathLst>
                <a:path w="1085215" h="1170304">
                  <a:moveTo>
                    <a:pt x="926020" y="170972"/>
                  </a:moveTo>
                  <a:lnTo>
                    <a:pt x="956204" y="206292"/>
                  </a:lnTo>
                  <a:lnTo>
                    <a:pt x="983212" y="243530"/>
                  </a:lnTo>
                  <a:lnTo>
                    <a:pt x="1007042" y="282474"/>
                  </a:lnTo>
                  <a:lnTo>
                    <a:pt x="1027694" y="322910"/>
                  </a:lnTo>
                  <a:lnTo>
                    <a:pt x="1045170" y="364625"/>
                  </a:lnTo>
                  <a:lnTo>
                    <a:pt x="1059468" y="407406"/>
                  </a:lnTo>
                  <a:lnTo>
                    <a:pt x="1070588" y="451040"/>
                  </a:lnTo>
                  <a:lnTo>
                    <a:pt x="1078531" y="495313"/>
                  </a:lnTo>
                  <a:lnTo>
                    <a:pt x="1083297" y="540013"/>
                  </a:lnTo>
                  <a:lnTo>
                    <a:pt x="1084886" y="584925"/>
                  </a:lnTo>
                  <a:lnTo>
                    <a:pt x="1083297" y="629838"/>
                  </a:lnTo>
                  <a:lnTo>
                    <a:pt x="1078531" y="674538"/>
                  </a:lnTo>
                  <a:lnTo>
                    <a:pt x="1070588" y="718811"/>
                  </a:lnTo>
                  <a:lnTo>
                    <a:pt x="1059468" y="762445"/>
                  </a:lnTo>
                  <a:lnTo>
                    <a:pt x="1045170" y="805226"/>
                  </a:lnTo>
                  <a:lnTo>
                    <a:pt x="1027694" y="846941"/>
                  </a:lnTo>
                  <a:lnTo>
                    <a:pt x="1007042" y="887377"/>
                  </a:lnTo>
                  <a:lnTo>
                    <a:pt x="983212" y="926321"/>
                  </a:lnTo>
                  <a:lnTo>
                    <a:pt x="956204" y="963559"/>
                  </a:lnTo>
                  <a:lnTo>
                    <a:pt x="926020" y="998879"/>
                  </a:lnTo>
                  <a:lnTo>
                    <a:pt x="891518" y="1033074"/>
                  </a:lnTo>
                  <a:lnTo>
                    <a:pt x="855058" y="1063469"/>
                  </a:lnTo>
                  <a:lnTo>
                    <a:pt x="816871" y="1090064"/>
                  </a:lnTo>
                  <a:lnTo>
                    <a:pt x="777185" y="1112861"/>
                  </a:lnTo>
                  <a:lnTo>
                    <a:pt x="736233" y="1131858"/>
                  </a:lnTo>
                  <a:lnTo>
                    <a:pt x="694243" y="1147055"/>
                  </a:lnTo>
                  <a:lnTo>
                    <a:pt x="651448" y="1158453"/>
                  </a:lnTo>
                  <a:lnTo>
                    <a:pt x="608076" y="1166052"/>
                  </a:lnTo>
                  <a:lnTo>
                    <a:pt x="564359" y="1169851"/>
                  </a:lnTo>
                  <a:lnTo>
                    <a:pt x="520526" y="1169851"/>
                  </a:lnTo>
                  <a:lnTo>
                    <a:pt x="476809" y="1166052"/>
                  </a:lnTo>
                  <a:lnTo>
                    <a:pt x="433438" y="1158453"/>
                  </a:lnTo>
                  <a:lnTo>
                    <a:pt x="390642" y="1147055"/>
                  </a:lnTo>
                  <a:lnTo>
                    <a:pt x="348653" y="1131858"/>
                  </a:lnTo>
                  <a:lnTo>
                    <a:pt x="307700" y="1112861"/>
                  </a:lnTo>
                  <a:lnTo>
                    <a:pt x="268015" y="1090064"/>
                  </a:lnTo>
                  <a:lnTo>
                    <a:pt x="229827" y="1063469"/>
                  </a:lnTo>
                  <a:lnTo>
                    <a:pt x="193367" y="1033074"/>
                  </a:lnTo>
                  <a:lnTo>
                    <a:pt x="158866" y="998879"/>
                  </a:lnTo>
                  <a:lnTo>
                    <a:pt x="128681" y="963559"/>
                  </a:lnTo>
                  <a:lnTo>
                    <a:pt x="101674" y="926321"/>
                  </a:lnTo>
                  <a:lnTo>
                    <a:pt x="77844" y="887377"/>
                  </a:lnTo>
                  <a:lnTo>
                    <a:pt x="57191" y="846941"/>
                  </a:lnTo>
                  <a:lnTo>
                    <a:pt x="39716" y="805226"/>
                  </a:lnTo>
                  <a:lnTo>
                    <a:pt x="25418" y="762445"/>
                  </a:lnTo>
                  <a:lnTo>
                    <a:pt x="14297" y="718811"/>
                  </a:lnTo>
                  <a:lnTo>
                    <a:pt x="6354" y="674538"/>
                  </a:lnTo>
                  <a:lnTo>
                    <a:pt x="1588" y="629838"/>
                  </a:lnTo>
                  <a:lnTo>
                    <a:pt x="0" y="584925"/>
                  </a:lnTo>
                  <a:lnTo>
                    <a:pt x="1588" y="540013"/>
                  </a:lnTo>
                  <a:lnTo>
                    <a:pt x="6354" y="495313"/>
                  </a:lnTo>
                  <a:lnTo>
                    <a:pt x="14297" y="451040"/>
                  </a:lnTo>
                  <a:lnTo>
                    <a:pt x="25418" y="407406"/>
                  </a:lnTo>
                  <a:lnTo>
                    <a:pt x="39716" y="364625"/>
                  </a:lnTo>
                  <a:lnTo>
                    <a:pt x="57191" y="322910"/>
                  </a:lnTo>
                  <a:lnTo>
                    <a:pt x="77844" y="282474"/>
                  </a:lnTo>
                  <a:lnTo>
                    <a:pt x="101674" y="243530"/>
                  </a:lnTo>
                  <a:lnTo>
                    <a:pt x="128681" y="206292"/>
                  </a:lnTo>
                  <a:lnTo>
                    <a:pt x="158866" y="170972"/>
                  </a:lnTo>
                  <a:lnTo>
                    <a:pt x="193367" y="136777"/>
                  </a:lnTo>
                  <a:lnTo>
                    <a:pt x="229827" y="106382"/>
                  </a:lnTo>
                  <a:lnTo>
                    <a:pt x="268015" y="79787"/>
                  </a:lnTo>
                  <a:lnTo>
                    <a:pt x="307700" y="56990"/>
                  </a:lnTo>
                  <a:lnTo>
                    <a:pt x="348653" y="37993"/>
                  </a:lnTo>
                  <a:lnTo>
                    <a:pt x="390642" y="22796"/>
                  </a:lnTo>
                  <a:lnTo>
                    <a:pt x="433438" y="11398"/>
                  </a:lnTo>
                  <a:lnTo>
                    <a:pt x="476809" y="3799"/>
                  </a:lnTo>
                  <a:lnTo>
                    <a:pt x="520526" y="0"/>
                  </a:lnTo>
                  <a:lnTo>
                    <a:pt x="564359" y="0"/>
                  </a:lnTo>
                  <a:lnTo>
                    <a:pt x="608076" y="3799"/>
                  </a:lnTo>
                  <a:lnTo>
                    <a:pt x="651448" y="11398"/>
                  </a:lnTo>
                  <a:lnTo>
                    <a:pt x="694243" y="22796"/>
                  </a:lnTo>
                  <a:lnTo>
                    <a:pt x="736233" y="37993"/>
                  </a:lnTo>
                  <a:lnTo>
                    <a:pt x="777185" y="56990"/>
                  </a:lnTo>
                  <a:lnTo>
                    <a:pt x="816871" y="79787"/>
                  </a:lnTo>
                  <a:lnTo>
                    <a:pt x="855058" y="106382"/>
                  </a:lnTo>
                  <a:lnTo>
                    <a:pt x="891518" y="136777"/>
                  </a:lnTo>
                  <a:lnTo>
                    <a:pt x="926020" y="170972"/>
                  </a:lnTo>
                  <a:close/>
                </a:path>
              </a:pathLst>
            </a:custGeom>
            <a:ln w="26952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94623" y="4066540"/>
              <a:ext cx="713231" cy="56083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325405" y="4108275"/>
              <a:ext cx="548005" cy="393065"/>
            </a:xfrm>
            <a:custGeom>
              <a:avLst/>
              <a:gdLst/>
              <a:ahLst/>
              <a:cxnLst/>
              <a:rect l="l" t="t" r="r" b="b"/>
              <a:pathLst>
                <a:path w="548004" h="393064">
                  <a:moveTo>
                    <a:pt x="467323" y="57012"/>
                  </a:moveTo>
                  <a:lnTo>
                    <a:pt x="502399" y="87930"/>
                  </a:lnTo>
                  <a:lnTo>
                    <a:pt x="527453" y="122213"/>
                  </a:lnTo>
                  <a:lnTo>
                    <a:pt x="542485" y="158739"/>
                  </a:lnTo>
                  <a:lnTo>
                    <a:pt x="547496" y="196386"/>
                  </a:lnTo>
                  <a:lnTo>
                    <a:pt x="542485" y="234033"/>
                  </a:lnTo>
                  <a:lnTo>
                    <a:pt x="527453" y="270559"/>
                  </a:lnTo>
                  <a:lnTo>
                    <a:pt x="502399" y="304842"/>
                  </a:lnTo>
                  <a:lnTo>
                    <a:pt x="467323" y="335760"/>
                  </a:lnTo>
                  <a:lnTo>
                    <a:pt x="429411" y="358565"/>
                  </a:lnTo>
                  <a:lnTo>
                    <a:pt x="387671" y="375668"/>
                  </a:lnTo>
                  <a:lnTo>
                    <a:pt x="343196" y="387071"/>
                  </a:lnTo>
                  <a:lnTo>
                    <a:pt x="297079" y="392772"/>
                  </a:lnTo>
                  <a:lnTo>
                    <a:pt x="250416" y="392772"/>
                  </a:lnTo>
                  <a:lnTo>
                    <a:pt x="204300" y="387071"/>
                  </a:lnTo>
                  <a:lnTo>
                    <a:pt x="159825" y="375668"/>
                  </a:lnTo>
                  <a:lnTo>
                    <a:pt x="118084" y="358565"/>
                  </a:lnTo>
                  <a:lnTo>
                    <a:pt x="80173" y="335760"/>
                  </a:lnTo>
                  <a:lnTo>
                    <a:pt x="45097" y="304842"/>
                  </a:lnTo>
                  <a:lnTo>
                    <a:pt x="20043" y="270559"/>
                  </a:lnTo>
                  <a:lnTo>
                    <a:pt x="5010" y="234033"/>
                  </a:lnTo>
                  <a:lnTo>
                    <a:pt x="0" y="196386"/>
                  </a:lnTo>
                  <a:lnTo>
                    <a:pt x="5010" y="158739"/>
                  </a:lnTo>
                  <a:lnTo>
                    <a:pt x="20043" y="122213"/>
                  </a:lnTo>
                  <a:lnTo>
                    <a:pt x="45097" y="87930"/>
                  </a:lnTo>
                  <a:lnTo>
                    <a:pt x="80173" y="57012"/>
                  </a:lnTo>
                  <a:lnTo>
                    <a:pt x="118084" y="34207"/>
                  </a:lnTo>
                  <a:lnTo>
                    <a:pt x="159825" y="17103"/>
                  </a:lnTo>
                  <a:lnTo>
                    <a:pt x="204300" y="5701"/>
                  </a:lnTo>
                  <a:lnTo>
                    <a:pt x="250416" y="0"/>
                  </a:lnTo>
                  <a:lnTo>
                    <a:pt x="297079" y="0"/>
                  </a:lnTo>
                  <a:lnTo>
                    <a:pt x="343196" y="5701"/>
                  </a:lnTo>
                  <a:lnTo>
                    <a:pt x="387671" y="17103"/>
                  </a:lnTo>
                  <a:lnTo>
                    <a:pt x="429411" y="34207"/>
                  </a:lnTo>
                  <a:lnTo>
                    <a:pt x="467323" y="57012"/>
                  </a:lnTo>
                  <a:close/>
                </a:path>
              </a:pathLst>
            </a:custGeom>
            <a:ln w="26952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286429" y="1178411"/>
            <a:ext cx="2566217" cy="1374003"/>
          </a:xfrm>
          <a:prstGeom prst="rect">
            <a:avLst/>
          </a:prstGeom>
        </p:spPr>
        <p:txBody>
          <a:bodyPr vert="horz" wrap="square" lIns="0" tIns="99732" rIns="0" bIns="0" rtlCol="0">
            <a:spAutoFit/>
          </a:bodyPr>
          <a:lstStyle/>
          <a:p>
            <a:pPr marL="572651" marR="102539" indent="-318824">
              <a:lnSpc>
                <a:spcPct val="77200"/>
              </a:lnSpc>
              <a:spcBef>
                <a:spcPts val="785"/>
              </a:spcBef>
            </a:pPr>
            <a:r>
              <a:rPr lang="en-US" sz="2559" b="1" dirty="0">
                <a:latin typeface="Calibri"/>
                <a:cs typeface="Calibri"/>
              </a:rPr>
              <a:t> </a:t>
            </a:r>
            <a:r>
              <a:rPr sz="2559" b="1" dirty="0">
                <a:latin typeface="Calibri"/>
                <a:cs typeface="Calibri"/>
              </a:rPr>
              <a:t>Apple</a:t>
            </a:r>
            <a:r>
              <a:rPr sz="2559" b="1" spc="-71" dirty="0">
                <a:latin typeface="Calibri"/>
                <a:cs typeface="Calibri"/>
              </a:rPr>
              <a:t> </a:t>
            </a:r>
            <a:r>
              <a:rPr lang="en-US" sz="2559" b="1" dirty="0">
                <a:latin typeface="Calibri"/>
                <a:cs typeface="Calibri"/>
              </a:rPr>
              <a:t>II (1977)</a:t>
            </a:r>
            <a:r>
              <a:rPr lang="en-US" sz="2559" b="1" spc="-57" dirty="0">
                <a:latin typeface="Calibri"/>
                <a:cs typeface="Calibri"/>
              </a:rPr>
              <a:t> </a:t>
            </a:r>
            <a:r>
              <a:rPr sz="2559" b="1" spc="-9" dirty="0">
                <a:solidFill>
                  <a:srgbClr val="0000FF"/>
                </a:solidFill>
                <a:latin typeface="Calibri"/>
                <a:cs typeface="Calibri"/>
              </a:rPr>
              <a:t>Latencies</a:t>
            </a:r>
            <a:endParaRPr lang="en-US" sz="2559" dirty="0">
              <a:latin typeface="Calibri"/>
              <a:cs typeface="Calibri"/>
            </a:endParaRPr>
          </a:p>
          <a:p>
            <a:pPr marL="45720">
              <a:lnSpc>
                <a:spcPts val="2330"/>
              </a:lnSpc>
            </a:pPr>
            <a:r>
              <a:rPr lang="en-US" sz="2559" b="1" spc="-13" dirty="0">
                <a:solidFill>
                  <a:srgbClr val="053DE8"/>
                </a:solidFill>
                <a:latin typeface="Calibri"/>
                <a:cs typeface="Calibri"/>
              </a:rPr>
              <a:t>CPU</a:t>
            </a:r>
            <a:r>
              <a:rPr lang="en-US" sz="2559" b="1" spc="-26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147" b="1" dirty="0">
                <a:solidFill>
                  <a:srgbClr val="053DE8"/>
                </a:solidFill>
                <a:latin typeface="Calibri"/>
                <a:cs typeface="Calibri"/>
              </a:rPr>
              <a:t>clock</a:t>
            </a:r>
            <a:r>
              <a:rPr lang="en-US" sz="2559" b="1" dirty="0">
                <a:solidFill>
                  <a:srgbClr val="053DE8"/>
                </a:solidFill>
                <a:latin typeface="Calibri"/>
                <a:cs typeface="Calibri"/>
              </a:rPr>
              <a:t>:</a:t>
            </a:r>
            <a:r>
              <a:rPr lang="en-US" sz="2559" b="1" spc="-119" dirty="0">
                <a:solidFill>
                  <a:srgbClr val="053DE8"/>
                </a:solidFill>
                <a:latin typeface="Calibri"/>
                <a:cs typeface="Calibri"/>
              </a:rPr>
              <a:t> ~</a:t>
            </a:r>
            <a:r>
              <a:rPr lang="en-US" sz="2559" b="1" spc="-9" dirty="0">
                <a:solidFill>
                  <a:srgbClr val="053DE8"/>
                </a:solidFill>
                <a:latin typeface="Calibri"/>
                <a:cs typeface="Calibri"/>
              </a:rPr>
              <a:t>1000</a:t>
            </a:r>
            <a:r>
              <a:rPr lang="en-US" sz="2559" b="1" spc="-9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2559" b="1" spc="-22" dirty="0">
                <a:solidFill>
                  <a:srgbClr val="053DE8"/>
                </a:solidFill>
                <a:latin typeface="Calibri"/>
                <a:cs typeface="Calibri"/>
              </a:rPr>
              <a:t>ns</a:t>
            </a:r>
            <a:endParaRPr lang="en-US" sz="2559" dirty="0">
              <a:latin typeface="Calibri"/>
              <a:cs typeface="Calibri"/>
            </a:endParaRPr>
          </a:p>
          <a:p>
            <a:pPr marL="11206">
              <a:lnSpc>
                <a:spcPts val="2921"/>
              </a:lnSpc>
            </a:pPr>
            <a:r>
              <a:rPr sz="2559" b="1" spc="-40" dirty="0">
                <a:solidFill>
                  <a:srgbClr val="053DE8"/>
                </a:solidFill>
                <a:latin typeface="Calibri"/>
                <a:cs typeface="Calibri"/>
              </a:rPr>
              <a:t>DRAM</a:t>
            </a:r>
            <a:r>
              <a:rPr sz="2559" b="1" spc="-34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147" b="1" dirty="0">
                <a:solidFill>
                  <a:srgbClr val="053DE8"/>
                </a:solidFill>
                <a:latin typeface="Calibri"/>
                <a:cs typeface="Calibri"/>
              </a:rPr>
              <a:t>access</a:t>
            </a:r>
            <a:r>
              <a:rPr sz="2559" b="1" dirty="0">
                <a:solidFill>
                  <a:srgbClr val="053DE8"/>
                </a:solidFill>
                <a:latin typeface="Calibri"/>
                <a:cs typeface="Calibri"/>
              </a:rPr>
              <a:t>:</a:t>
            </a:r>
            <a:r>
              <a:rPr sz="2559" b="1" spc="-10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559" b="1" dirty="0">
                <a:solidFill>
                  <a:srgbClr val="053DE8"/>
                </a:solidFill>
                <a:latin typeface="Calibri"/>
                <a:cs typeface="Calibri"/>
              </a:rPr>
              <a:t>400</a:t>
            </a:r>
            <a:r>
              <a:rPr sz="2559" b="1" spc="-8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559" b="1" spc="-22" dirty="0">
                <a:solidFill>
                  <a:srgbClr val="053DE8"/>
                </a:solidFill>
                <a:latin typeface="Calibri"/>
                <a:cs typeface="Calibri"/>
              </a:rPr>
              <a:t>ns</a:t>
            </a:r>
            <a:endParaRPr sz="2559" dirty="0">
              <a:latin typeface="Calibri"/>
              <a:cs typeface="Calibri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D035AF8-A8F5-969C-53B5-66B71BCEB4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</a:t>
            </a:fld>
            <a:endParaRPr lang="en-US" spc="-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565" y="571896"/>
            <a:ext cx="6177822" cy="603332"/>
          </a:xfrm>
          <a:prstGeom prst="rect">
            <a:avLst/>
          </a:prstGeom>
        </p:spPr>
        <p:txBody>
          <a:bodyPr vert="horz" wrap="square" lIns="0" tIns="140297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Since</a:t>
            </a:r>
            <a:r>
              <a:rPr spc="-44" dirty="0"/>
              <a:t> </a:t>
            </a:r>
            <a:r>
              <a:rPr dirty="0"/>
              <a:t>1980,</a:t>
            </a:r>
            <a:r>
              <a:rPr spc="-35" dirty="0"/>
              <a:t> </a:t>
            </a:r>
            <a:r>
              <a:rPr dirty="0"/>
              <a:t>CPU</a:t>
            </a:r>
            <a:r>
              <a:rPr spc="-40" dirty="0"/>
              <a:t> </a:t>
            </a:r>
            <a:r>
              <a:rPr dirty="0"/>
              <a:t>has</a:t>
            </a:r>
            <a:r>
              <a:rPr spc="-40" dirty="0"/>
              <a:t> </a:t>
            </a:r>
            <a:r>
              <a:rPr dirty="0"/>
              <a:t>outpaced</a:t>
            </a:r>
            <a:r>
              <a:rPr spc="-31" dirty="0"/>
              <a:t> </a:t>
            </a:r>
            <a:r>
              <a:rPr dirty="0"/>
              <a:t>DRAM</a:t>
            </a:r>
            <a:r>
              <a:rPr spc="-40" dirty="0"/>
              <a:t> </a:t>
            </a:r>
            <a:r>
              <a:rPr spc="-22" dirty="0"/>
              <a:t>...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294" y="2502266"/>
            <a:ext cx="7943756" cy="38393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4904" y="1340835"/>
            <a:ext cx="6284258" cy="1127564"/>
          </a:xfrm>
          <a:prstGeom prst="rect">
            <a:avLst/>
          </a:prstGeom>
        </p:spPr>
        <p:txBody>
          <a:bodyPr vert="horz" wrap="square" lIns="0" tIns="56590" rIns="0" bIns="0" rtlCol="0">
            <a:spAutoFit/>
          </a:bodyPr>
          <a:lstStyle/>
          <a:p>
            <a:pPr marL="11206">
              <a:spcBef>
                <a:spcPts val="446"/>
              </a:spcBef>
            </a:pP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Q.</a:t>
            </a:r>
            <a:r>
              <a:rPr sz="2206" spc="2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How</a:t>
            </a:r>
            <a:r>
              <a:rPr sz="2206" spc="4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do</a:t>
            </a:r>
            <a:r>
              <a:rPr sz="2206" spc="40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2206" spc="40" dirty="0">
                <a:solidFill>
                  <a:srgbClr val="053DE8"/>
                </a:solidFill>
                <a:latin typeface="Calibri"/>
                <a:cs typeface="Calibri"/>
              </a:rPr>
              <a:t>computer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architects</a:t>
            </a:r>
            <a:r>
              <a:rPr sz="2206" spc="3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address</a:t>
            </a:r>
            <a:r>
              <a:rPr sz="2206" spc="3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this</a:t>
            </a:r>
            <a:r>
              <a:rPr sz="2206" spc="3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spc="-18" dirty="0">
                <a:solidFill>
                  <a:srgbClr val="053DE8"/>
                </a:solidFill>
                <a:latin typeface="Calibri"/>
                <a:cs typeface="Calibri"/>
              </a:rPr>
              <a:t>gap?</a:t>
            </a:r>
            <a:endParaRPr sz="2206" dirty="0">
              <a:latin typeface="Calibri"/>
              <a:cs typeface="Calibri"/>
            </a:endParaRPr>
          </a:p>
          <a:p>
            <a:pPr marL="16249" marR="4483">
              <a:lnSpc>
                <a:spcPts val="2559"/>
              </a:lnSpc>
              <a:spcBef>
                <a:spcPts val="521"/>
              </a:spcBef>
              <a:tabLst>
                <a:tab pos="1455722" algn="l"/>
              </a:tabLst>
            </a:pP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A.</a:t>
            </a:r>
            <a:r>
              <a:rPr sz="2206" spc="1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Put</a:t>
            </a:r>
            <a:r>
              <a:rPr sz="2206" spc="2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053DE8"/>
                </a:solidFill>
                <a:latin typeface="Calibri"/>
                <a:cs typeface="Calibri"/>
              </a:rPr>
              <a:t>smaller,</a:t>
            </a:r>
            <a:r>
              <a:rPr sz="2206" spc="3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faster</a:t>
            </a:r>
            <a:r>
              <a:rPr sz="2206" spc="3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MS PGothic"/>
                <a:cs typeface="MS PGothic"/>
              </a:rPr>
              <a:t>“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cache</a:t>
            </a:r>
            <a:r>
              <a:rPr sz="2206" dirty="0">
                <a:solidFill>
                  <a:srgbClr val="053DE8"/>
                </a:solidFill>
                <a:latin typeface="MS PGothic"/>
                <a:cs typeface="MS PGothic"/>
              </a:rPr>
              <a:t>”</a:t>
            </a:r>
            <a:r>
              <a:rPr sz="2206" spc="-132" dirty="0">
                <a:solidFill>
                  <a:srgbClr val="053DE8"/>
                </a:solidFill>
                <a:latin typeface="MS PGothic"/>
                <a:cs typeface="MS PGothic"/>
              </a:rPr>
              <a:t>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memories</a:t>
            </a:r>
            <a:r>
              <a:rPr sz="2206" spc="3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between</a:t>
            </a:r>
            <a:r>
              <a:rPr sz="2206" spc="40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spc="-22" dirty="0">
                <a:solidFill>
                  <a:srgbClr val="053DE8"/>
                </a:solidFill>
                <a:latin typeface="Calibri"/>
                <a:cs typeface="Calibri"/>
              </a:rPr>
              <a:t>CPU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and</a:t>
            </a:r>
            <a:r>
              <a:rPr sz="2206" spc="40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053DE8"/>
                </a:solidFill>
                <a:latin typeface="Calibri"/>
                <a:cs typeface="Calibri"/>
              </a:rPr>
              <a:t>DRAM.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	Create</a:t>
            </a:r>
            <a:r>
              <a:rPr sz="2206" spc="3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a</a:t>
            </a:r>
            <a:r>
              <a:rPr sz="2206" spc="3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MS PGothic"/>
                <a:cs typeface="MS PGothic"/>
              </a:rPr>
              <a:t>“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memory</a:t>
            </a:r>
            <a:r>
              <a:rPr sz="2206" spc="2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053DE8"/>
                </a:solidFill>
                <a:latin typeface="Calibri"/>
                <a:cs typeface="Calibri"/>
              </a:rPr>
              <a:t>hierarchy</a:t>
            </a:r>
            <a:r>
              <a:rPr sz="2206" spc="-9" dirty="0">
                <a:solidFill>
                  <a:srgbClr val="053DE8"/>
                </a:solidFill>
                <a:latin typeface="MS PGothic"/>
                <a:cs typeface="MS PGothic"/>
              </a:rPr>
              <a:t>”</a:t>
            </a:r>
            <a:r>
              <a:rPr sz="2206" spc="-9" dirty="0">
                <a:solidFill>
                  <a:srgbClr val="053DE8"/>
                </a:solidFill>
                <a:latin typeface="Calibri"/>
                <a:cs typeface="Calibri"/>
              </a:rPr>
              <a:t>.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2578" y="3830845"/>
            <a:ext cx="2026584" cy="680805"/>
          </a:xfrm>
          <a:prstGeom prst="rect">
            <a:avLst/>
          </a:prstGeom>
        </p:spPr>
        <p:txBody>
          <a:bodyPr vert="horz" wrap="square" lIns="0" tIns="39221" rIns="0" bIns="0" rtlCol="0">
            <a:spAutoFit/>
          </a:bodyPr>
          <a:lstStyle/>
          <a:p>
            <a:pPr marL="255508" marR="4483" indent="-244862">
              <a:lnSpc>
                <a:spcPts val="2480"/>
              </a:lnSpc>
              <a:spcBef>
                <a:spcPts val="309"/>
              </a:spcBef>
            </a:pP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Latency</a:t>
            </a:r>
            <a:r>
              <a:rPr sz="2206" spc="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gap</a:t>
            </a:r>
            <a:r>
              <a:rPr sz="2206" spc="18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spc="-18" dirty="0">
                <a:solidFill>
                  <a:srgbClr val="053DE8"/>
                </a:solidFill>
                <a:latin typeface="Calibri"/>
                <a:cs typeface="Calibri"/>
              </a:rPr>
              <a:t>grew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50%</a:t>
            </a:r>
            <a:r>
              <a:rPr sz="2206" spc="5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53DE8"/>
                </a:solidFill>
                <a:latin typeface="Calibri"/>
                <a:cs typeface="Calibri"/>
              </a:rPr>
              <a:t>per</a:t>
            </a:r>
            <a:r>
              <a:rPr sz="2206" spc="4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206" spc="-18" dirty="0">
                <a:solidFill>
                  <a:srgbClr val="053DE8"/>
                </a:solidFill>
                <a:latin typeface="Calibri"/>
                <a:cs typeface="Calibri"/>
              </a:rPr>
              <a:t>year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7694636" y="5599616"/>
            <a:ext cx="264526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r>
              <a:rPr spc="-22" dirty="0"/>
              <a:t>25</a:t>
            </a:r>
          </a:p>
        </p:txBody>
      </p:sp>
      <p:sp>
        <p:nvSpPr>
          <p:cNvPr id="9" name="Slide Number Placeholder 21">
            <a:extLst>
              <a:ext uri="{FF2B5EF4-FFF2-40B4-BE49-F238E27FC236}">
                <a16:creationId xmlns:a16="http://schemas.microsoft.com/office/drawing/2014/main" id="{56C228A6-903F-0775-D8C5-483D27F4E21F}"/>
              </a:ext>
            </a:extLst>
          </p:cNvPr>
          <p:cNvSpPr txBox="1">
            <a:spLocks/>
          </p:cNvSpPr>
          <p:nvPr/>
        </p:nvSpPr>
        <p:spPr>
          <a:xfrm>
            <a:off x="8568187" y="6346231"/>
            <a:ext cx="299796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66644"/>
            <a:ext cx="5183740" cy="603332"/>
          </a:xfrm>
          <a:prstGeom prst="rect">
            <a:avLst/>
          </a:prstGeom>
        </p:spPr>
        <p:txBody>
          <a:bodyPr vert="horz" wrap="square" lIns="0" tIns="140297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Memory</a:t>
            </a:r>
            <a:r>
              <a:rPr spc="-62" dirty="0"/>
              <a:t> </a:t>
            </a:r>
            <a:r>
              <a:rPr dirty="0"/>
              <a:t>Hierarchy</a:t>
            </a:r>
            <a:r>
              <a:rPr spc="-62" dirty="0"/>
              <a:t> </a:t>
            </a:r>
            <a:r>
              <a:rPr spc="-9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229740"/>
            <a:ext cx="7847641" cy="5300508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01191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hierarchy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becomes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crucial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with </a:t>
            </a:r>
            <a:r>
              <a:rPr sz="2400" dirty="0">
                <a:latin typeface="Calibri"/>
                <a:cs typeface="Calibri"/>
              </a:rPr>
              <a:t>recent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multi-core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processors: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10"/>
              </a:spcBef>
              <a:buChar char="–"/>
              <a:tabLst>
                <a:tab pos="651657" algn="l"/>
              </a:tabLst>
            </a:pP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Aggregate</a:t>
            </a:r>
            <a:r>
              <a:rPr sz="2200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peak</a:t>
            </a:r>
            <a:r>
              <a:rPr sz="2200" spc="-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bandwidth</a:t>
            </a:r>
            <a:r>
              <a:rPr sz="2200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grows</a:t>
            </a:r>
            <a:r>
              <a:rPr sz="2200" spc="-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with</a:t>
            </a:r>
            <a:r>
              <a:rPr sz="2200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#</a:t>
            </a:r>
            <a:r>
              <a:rPr sz="2200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200" spc="-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Calibri"/>
                <a:cs typeface="Calibri"/>
              </a:rPr>
              <a:t>cores:</a:t>
            </a:r>
            <a:endParaRPr sz="22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1139825" marR="4483" indent="-271463">
              <a:spcBef>
                <a:spcPts val="547"/>
              </a:spcBef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sz="2200" spc="419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Intel</a:t>
            </a:r>
            <a:r>
              <a:rPr sz="2200" spc="-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Core i7 6700 (Released</a:t>
            </a:r>
            <a:r>
              <a:rPr sz="22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in 2015)</a:t>
            </a:r>
            <a:r>
              <a:rPr sz="22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br>
              <a:rPr lang="en-US" sz="2200" spc="4" dirty="0">
                <a:solidFill>
                  <a:srgbClr val="000066"/>
                </a:solidFill>
                <a:latin typeface="Calibri"/>
                <a:cs typeface="Calibri"/>
              </a:rPr>
            </a:b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can</a:t>
            </a:r>
            <a:r>
              <a:rPr sz="22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generate</a:t>
            </a:r>
            <a:r>
              <a:rPr sz="22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two</a:t>
            </a:r>
            <a:r>
              <a:rPr lang="en-US" sz="2200" spc="-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lang="en-US" sz="2200" u="sng" spc="-4" dirty="0">
                <a:solidFill>
                  <a:srgbClr val="000066"/>
                </a:solidFill>
                <a:latin typeface="Calibri"/>
                <a:cs typeface="Calibri"/>
              </a:rPr>
              <a:t>memory</a:t>
            </a:r>
            <a:r>
              <a:rPr lang="en-US" sz="2200" spc="-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0066"/>
                </a:solidFill>
                <a:latin typeface="Calibri"/>
                <a:cs typeface="Calibri"/>
              </a:rPr>
              <a:t>references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per</a:t>
            </a:r>
            <a:r>
              <a:rPr sz="2200" spc="-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core per</a:t>
            </a:r>
            <a:r>
              <a:rPr sz="2200" spc="-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0066"/>
                </a:solidFill>
                <a:latin typeface="Calibri"/>
                <a:cs typeface="Calibri"/>
              </a:rPr>
              <a:t>clock</a:t>
            </a:r>
            <a:endParaRPr sz="2200" dirty="0">
              <a:solidFill>
                <a:srgbClr val="000066"/>
              </a:solidFill>
              <a:latin typeface="Calibri"/>
              <a:cs typeface="Calibri"/>
            </a:endParaRPr>
          </a:p>
          <a:p>
            <a:pPr marL="867382">
              <a:spcBef>
                <a:spcPts val="326"/>
              </a:spcBef>
            </a:pP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»</a:t>
            </a:r>
            <a:r>
              <a:rPr sz="2200" spc="427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Four</a:t>
            </a:r>
            <a:r>
              <a:rPr sz="2200" spc="-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cores and</a:t>
            </a:r>
            <a:r>
              <a:rPr sz="22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42.2</a:t>
            </a:r>
            <a:r>
              <a:rPr sz="22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GHz</a:t>
            </a:r>
            <a:r>
              <a:rPr sz="22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spc="-18" dirty="0">
                <a:solidFill>
                  <a:srgbClr val="000066"/>
                </a:solidFill>
                <a:latin typeface="Calibri"/>
                <a:cs typeface="Calibri"/>
              </a:rPr>
              <a:t>clock</a:t>
            </a:r>
            <a:endParaRPr sz="2200" dirty="0">
              <a:solidFill>
                <a:srgbClr val="000066"/>
              </a:solidFill>
              <a:latin typeface="Calibri"/>
              <a:cs typeface="Calibri"/>
            </a:endParaRPr>
          </a:p>
          <a:p>
            <a:pPr marL="1638369" lvl="2" indent="-342900">
              <a:spcBef>
                <a:spcPts val="375"/>
              </a:spcBef>
              <a:buFont typeface="Wingdings" panose="05000000000000000000" pitchFamily="2" charset="2"/>
              <a:buChar char="§"/>
              <a:tabLst>
                <a:tab pos="1455161" algn="l"/>
              </a:tabLst>
            </a:pP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25.6</a:t>
            </a:r>
            <a:r>
              <a:rPr sz="2200" spc="-49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billion</a:t>
            </a:r>
            <a:r>
              <a:rPr sz="2200" spc="-44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18" dirty="0">
                <a:solidFill>
                  <a:srgbClr val="0066FF"/>
                </a:solidFill>
                <a:latin typeface="Calibri"/>
                <a:cs typeface="Calibri"/>
              </a:rPr>
              <a:t>64-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bit</a:t>
            </a:r>
            <a:r>
              <a:rPr sz="2200" spc="-40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0066FF"/>
                </a:solidFill>
                <a:latin typeface="Calibri"/>
                <a:cs typeface="Calibri"/>
              </a:rPr>
              <a:t>data</a:t>
            </a:r>
            <a:r>
              <a:rPr sz="2200" spc="-40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66FF"/>
                </a:solidFill>
                <a:latin typeface="Calibri"/>
                <a:cs typeface="Calibri"/>
              </a:rPr>
              <a:t>memory</a:t>
            </a:r>
            <a:r>
              <a:rPr sz="2200" spc="-44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66FF"/>
                </a:solidFill>
                <a:latin typeface="Calibri"/>
                <a:cs typeface="Calibri"/>
              </a:rPr>
              <a:t>references</a:t>
            </a:r>
            <a:r>
              <a:rPr lang="en-US" sz="2200" spc="-9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66FF"/>
                </a:solidFill>
                <a:latin typeface="Calibri"/>
                <a:cs typeface="Calibri"/>
              </a:rPr>
              <a:t>/</a:t>
            </a:r>
            <a:r>
              <a:rPr lang="en-US" sz="2200" spc="-9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66FF"/>
                </a:solidFill>
                <a:latin typeface="Calibri"/>
                <a:cs typeface="Calibri"/>
              </a:rPr>
              <a:t>second</a:t>
            </a:r>
            <a:r>
              <a:rPr sz="2200" spc="-44" dirty="0">
                <a:solidFill>
                  <a:srgbClr val="0066FF"/>
                </a:solidFill>
                <a:latin typeface="Calibri"/>
                <a:cs typeface="Calibri"/>
              </a:rPr>
              <a:t> +</a:t>
            </a:r>
            <a:endParaRPr sz="2200" dirty="0">
              <a:solidFill>
                <a:srgbClr val="0066FF"/>
              </a:solidFill>
              <a:latin typeface="Calibri"/>
              <a:cs typeface="Calibri"/>
            </a:endParaRPr>
          </a:p>
          <a:p>
            <a:pPr marL="1638369" lvl="2" indent="-342900">
              <a:spcBef>
                <a:spcPts val="274"/>
              </a:spcBef>
              <a:buFont typeface="Wingdings" panose="05000000000000000000" pitchFamily="2" charset="2"/>
              <a:buChar char="§"/>
              <a:tabLst>
                <a:tab pos="1455161" algn="l"/>
              </a:tabLst>
            </a:pP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12.8</a:t>
            </a:r>
            <a:r>
              <a:rPr sz="2200" spc="-35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billion</a:t>
            </a:r>
            <a:r>
              <a:rPr sz="2200" spc="-35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18" dirty="0">
                <a:solidFill>
                  <a:srgbClr val="0066FF"/>
                </a:solidFill>
                <a:latin typeface="Calibri"/>
                <a:cs typeface="Calibri"/>
              </a:rPr>
              <a:t>128-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bit</a:t>
            </a:r>
            <a:r>
              <a:rPr sz="2200" spc="-31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u="sng" spc="-9" dirty="0">
                <a:solidFill>
                  <a:srgbClr val="0066FF"/>
                </a:solidFill>
                <a:latin typeface="Calibri"/>
                <a:cs typeface="Calibri"/>
              </a:rPr>
              <a:t>instruction</a:t>
            </a:r>
            <a:r>
              <a:rPr sz="2200" spc="-35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66FF"/>
                </a:solidFill>
                <a:latin typeface="Calibri"/>
                <a:cs typeface="Calibri"/>
              </a:rPr>
              <a:t>references</a:t>
            </a:r>
            <a:r>
              <a:rPr lang="en-US" sz="2200" spc="-9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66FF"/>
                </a:solidFill>
                <a:latin typeface="Calibri"/>
                <a:cs typeface="Calibri"/>
              </a:rPr>
              <a:t>/</a:t>
            </a:r>
            <a:r>
              <a:rPr lang="en-US" sz="2200" spc="-9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66FF"/>
                </a:solidFill>
                <a:latin typeface="Calibri"/>
                <a:cs typeface="Calibri"/>
              </a:rPr>
              <a:t>second</a:t>
            </a:r>
            <a:endParaRPr sz="2200" dirty="0">
              <a:solidFill>
                <a:srgbClr val="0066FF"/>
              </a:solidFill>
              <a:latin typeface="Calibri"/>
              <a:cs typeface="Calibri"/>
            </a:endParaRPr>
          </a:p>
          <a:p>
            <a:pPr marL="1638369" indent="-342900">
              <a:spcBef>
                <a:spcPts val="256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66FF"/>
                </a:solidFill>
                <a:latin typeface="Calibri"/>
                <a:cs typeface="Calibri"/>
              </a:rPr>
              <a:t>Results in a bandwidth of</a:t>
            </a:r>
            <a:r>
              <a:rPr sz="2200" spc="-31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409.6</a:t>
            </a:r>
            <a:r>
              <a:rPr sz="2200" spc="-26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18" dirty="0">
                <a:solidFill>
                  <a:srgbClr val="0066FF"/>
                </a:solidFill>
                <a:latin typeface="Calibri"/>
                <a:cs typeface="Calibri"/>
              </a:rPr>
              <a:t>GB/s!</a:t>
            </a:r>
            <a:endParaRPr sz="2200" dirty="0">
              <a:solidFill>
                <a:srgbClr val="0066FF"/>
              </a:solidFill>
              <a:latin typeface="Calibri"/>
              <a:cs typeface="Calibri"/>
            </a:endParaRPr>
          </a:p>
          <a:p>
            <a:pPr marL="867382">
              <a:spcBef>
                <a:spcPts val="449"/>
              </a:spcBef>
            </a:pP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»</a:t>
            </a:r>
            <a:r>
              <a:rPr sz="2200" spc="410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Achieved </a:t>
            </a:r>
            <a:r>
              <a:rPr sz="2200" spc="-22" dirty="0">
                <a:solidFill>
                  <a:srgbClr val="000066"/>
                </a:solidFill>
                <a:latin typeface="Calibri"/>
                <a:cs typeface="Calibri"/>
              </a:rPr>
              <a:t>by</a:t>
            </a:r>
            <a:endParaRPr sz="2200" dirty="0">
              <a:solidFill>
                <a:srgbClr val="000066"/>
              </a:solidFill>
              <a:latin typeface="Calibri"/>
              <a:cs typeface="Calibri"/>
            </a:endParaRPr>
          </a:p>
          <a:p>
            <a:pPr marL="1638369" lvl="2" indent="-342900">
              <a:spcBef>
                <a:spcPts val="269"/>
              </a:spcBef>
              <a:buFont typeface="Wingdings" panose="05000000000000000000" pitchFamily="2" charset="2"/>
              <a:buChar char="§"/>
              <a:tabLst>
                <a:tab pos="1455161" algn="l"/>
              </a:tabLst>
            </a:pPr>
            <a:r>
              <a:rPr sz="2200" spc="-18" dirty="0">
                <a:solidFill>
                  <a:srgbClr val="0066FF"/>
                </a:solidFill>
                <a:latin typeface="Calibri"/>
                <a:cs typeface="Calibri"/>
              </a:rPr>
              <a:t>Multi-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port,</a:t>
            </a:r>
            <a:r>
              <a:rPr sz="2200" spc="-9" dirty="0">
                <a:solidFill>
                  <a:srgbClr val="0066FF"/>
                </a:solidFill>
                <a:latin typeface="Calibri"/>
                <a:cs typeface="Calibri"/>
              </a:rPr>
              <a:t> pipelined</a:t>
            </a:r>
            <a:r>
              <a:rPr sz="2200" spc="-4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66FF"/>
                </a:solidFill>
                <a:latin typeface="Calibri"/>
                <a:cs typeface="Calibri"/>
              </a:rPr>
              <a:t>caches</a:t>
            </a:r>
            <a:endParaRPr sz="2200" dirty="0">
              <a:solidFill>
                <a:srgbClr val="0066FF"/>
              </a:solidFill>
              <a:latin typeface="Calibri"/>
              <a:cs typeface="Calibri"/>
            </a:endParaRPr>
          </a:p>
          <a:p>
            <a:pPr marL="1638369" lvl="2" indent="-342900">
              <a:spcBef>
                <a:spcPts val="274"/>
              </a:spcBef>
              <a:buFont typeface="Wingdings" panose="05000000000000000000" pitchFamily="2" charset="2"/>
              <a:buChar char="§"/>
              <a:tabLst>
                <a:tab pos="1455161" algn="l"/>
              </a:tabLst>
            </a:pP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Two</a:t>
            </a:r>
            <a:r>
              <a:rPr sz="2200" spc="-53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levels</a:t>
            </a:r>
            <a:r>
              <a:rPr sz="2200" spc="-44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of</a:t>
            </a:r>
            <a:r>
              <a:rPr sz="2200" spc="-44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cache</a:t>
            </a:r>
            <a:r>
              <a:rPr sz="2200" spc="-49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per</a:t>
            </a:r>
            <a:r>
              <a:rPr sz="2200" spc="-44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18" dirty="0">
                <a:solidFill>
                  <a:srgbClr val="0066FF"/>
                </a:solidFill>
                <a:latin typeface="Calibri"/>
                <a:cs typeface="Calibri"/>
              </a:rPr>
              <a:t>core</a:t>
            </a:r>
            <a:endParaRPr sz="2200" dirty="0">
              <a:solidFill>
                <a:srgbClr val="0066FF"/>
              </a:solidFill>
              <a:latin typeface="Calibri"/>
              <a:cs typeface="Calibri"/>
            </a:endParaRPr>
          </a:p>
          <a:p>
            <a:pPr marL="1638369" lvl="2" indent="-342900">
              <a:spcBef>
                <a:spcPts val="256"/>
              </a:spcBef>
              <a:buFont typeface="Wingdings" panose="05000000000000000000" pitchFamily="2" charset="2"/>
              <a:buChar char="§"/>
              <a:tabLst>
                <a:tab pos="1455161" algn="l"/>
              </a:tabLst>
            </a:pP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Shared</a:t>
            </a:r>
            <a:r>
              <a:rPr sz="2200" spc="-53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66FF"/>
                </a:solidFill>
                <a:latin typeface="Calibri"/>
                <a:cs typeface="Calibri"/>
              </a:rPr>
              <a:t>third-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level</a:t>
            </a:r>
            <a:r>
              <a:rPr sz="2200" spc="-49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cache</a:t>
            </a:r>
            <a:r>
              <a:rPr sz="2200" spc="-49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6FF"/>
                </a:solidFill>
                <a:latin typeface="Calibri"/>
                <a:cs typeface="Calibri"/>
              </a:rPr>
              <a:t>on</a:t>
            </a:r>
            <a:r>
              <a:rPr sz="2200" spc="-53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spc="-18" dirty="0">
                <a:solidFill>
                  <a:srgbClr val="0066FF"/>
                </a:solidFill>
                <a:latin typeface="Calibri"/>
                <a:cs typeface="Calibri"/>
              </a:rPr>
              <a:t>chip</a:t>
            </a:r>
            <a:endParaRPr sz="2200" dirty="0">
              <a:solidFill>
                <a:srgbClr val="0066FF"/>
              </a:solidFill>
              <a:latin typeface="Calibri"/>
              <a:cs typeface="Calibri"/>
            </a:endParaRPr>
          </a:p>
          <a:p>
            <a:pPr marL="867382">
              <a:spcBef>
                <a:spcPts val="4"/>
              </a:spcBef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sz="2200" spc="410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DRAM</a:t>
            </a:r>
            <a:r>
              <a:rPr sz="2200" spc="-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bandwidth is</a:t>
            </a:r>
            <a:r>
              <a:rPr sz="2200" spc="-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only</a:t>
            </a:r>
            <a:r>
              <a:rPr sz="2200" spc="-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8% of this</a:t>
            </a:r>
            <a:r>
              <a:rPr sz="2200" spc="-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(34.1</a:t>
            </a:r>
            <a:r>
              <a:rPr sz="2200" spc="-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0066"/>
                </a:solidFill>
                <a:latin typeface="Calibri"/>
                <a:cs typeface="Calibri"/>
              </a:rPr>
              <a:t>GB/s)</a:t>
            </a:r>
            <a:endParaRPr sz="2200" dirty="0">
              <a:solidFill>
                <a:srgbClr val="000066"/>
              </a:solidFill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31FFD-EA05-8AE4-4875-CA0B6CCEAA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6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66644"/>
            <a:ext cx="5183740" cy="603332"/>
          </a:xfrm>
          <a:prstGeom prst="rect">
            <a:avLst/>
          </a:prstGeom>
        </p:spPr>
        <p:txBody>
          <a:bodyPr vert="horz" wrap="square" lIns="0" tIns="140297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Performance</a:t>
            </a:r>
            <a:r>
              <a:rPr spc="-79" dirty="0"/>
              <a:t> </a:t>
            </a:r>
            <a:r>
              <a:rPr dirty="0"/>
              <a:t>and</a:t>
            </a:r>
            <a:r>
              <a:rPr spc="-71" dirty="0"/>
              <a:t> </a:t>
            </a:r>
            <a:r>
              <a:rPr spc="-9" dirty="0"/>
              <a:t>Power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249278"/>
            <a:ext cx="7299569" cy="841784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High-end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microprocessors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&gt;10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MB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on-chip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endParaRPr sz="2400" dirty="0">
              <a:latin typeface="Calibri"/>
              <a:cs typeface="Calibri"/>
            </a:endParaRPr>
          </a:p>
          <a:p>
            <a:pPr marL="439294">
              <a:spcBef>
                <a:spcPts val="424"/>
              </a:spcBef>
            </a:pPr>
            <a:r>
              <a:rPr sz="1677" dirty="0">
                <a:solidFill>
                  <a:srgbClr val="000066"/>
                </a:solidFill>
                <a:latin typeface="Calibri"/>
                <a:cs typeface="Calibri"/>
              </a:rPr>
              <a:t>–</a:t>
            </a:r>
            <a:r>
              <a:rPr sz="1677" spc="437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Consumes</a:t>
            </a:r>
            <a:r>
              <a:rPr sz="2200" spc="-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large amount</a:t>
            </a:r>
            <a:r>
              <a:rPr sz="2200" spc="-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of area</a:t>
            </a:r>
            <a:r>
              <a:rPr sz="2200" spc="-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and</a:t>
            </a:r>
            <a:r>
              <a:rPr sz="22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66"/>
                </a:solidFill>
                <a:latin typeface="Calibri"/>
                <a:cs typeface="Calibri"/>
              </a:rPr>
              <a:t>power</a:t>
            </a:r>
            <a:r>
              <a:rPr sz="2200" spc="-9" dirty="0">
                <a:solidFill>
                  <a:srgbClr val="000066"/>
                </a:solidFill>
                <a:latin typeface="Calibri"/>
                <a:cs typeface="Calibri"/>
              </a:rPr>
              <a:t> budget</a:t>
            </a:r>
            <a:endParaRPr sz="2200" dirty="0">
              <a:solidFill>
                <a:srgbClr val="000066"/>
              </a:solidFill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D0884-112A-16B4-F86C-F822AD9BF1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7</a:t>
            </a:fld>
            <a:endParaRPr lang="en-US" spc="-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566645"/>
            <a:ext cx="6143465" cy="603332"/>
          </a:xfrm>
          <a:prstGeom prst="rect">
            <a:avLst/>
          </a:prstGeom>
        </p:spPr>
        <p:txBody>
          <a:bodyPr vert="horz" wrap="square" lIns="0" tIns="140297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Memory</a:t>
            </a:r>
            <a:r>
              <a:rPr spc="-62" dirty="0"/>
              <a:t> </a:t>
            </a:r>
            <a:r>
              <a:rPr dirty="0"/>
              <a:t>Hierarchy</a:t>
            </a:r>
            <a:r>
              <a:rPr spc="-62" dirty="0"/>
              <a:t> </a:t>
            </a:r>
            <a:r>
              <a:rPr dirty="0"/>
              <a:t>in</a:t>
            </a:r>
            <a:r>
              <a:rPr spc="-62" dirty="0"/>
              <a:t> </a:t>
            </a:r>
            <a:r>
              <a:rPr dirty="0"/>
              <a:t>Modern</a:t>
            </a:r>
            <a:r>
              <a:rPr spc="-62" dirty="0"/>
              <a:t> </a:t>
            </a:r>
            <a:r>
              <a:rPr spc="-9" dirty="0"/>
              <a:t>Systems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133" y="1952978"/>
            <a:ext cx="6265334" cy="291253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D9057-6D53-D684-4158-DD5902E3B5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8</a:t>
            </a:fld>
            <a:endParaRPr lang="en-US" spc="-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554119"/>
            <a:ext cx="7261065" cy="603332"/>
          </a:xfrm>
          <a:prstGeom prst="rect">
            <a:avLst/>
          </a:prstGeom>
        </p:spPr>
        <p:txBody>
          <a:bodyPr vert="horz" wrap="square" lIns="0" tIns="140297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Memory</a:t>
            </a:r>
            <a:r>
              <a:rPr spc="-62" dirty="0"/>
              <a:t> </a:t>
            </a:r>
            <a:r>
              <a:rPr dirty="0"/>
              <a:t>Hierarchy</a:t>
            </a:r>
            <a:r>
              <a:rPr spc="-62" dirty="0"/>
              <a:t> </a:t>
            </a:r>
            <a:r>
              <a:rPr dirty="0"/>
              <a:t>in</a:t>
            </a:r>
            <a:r>
              <a:rPr spc="-62" dirty="0"/>
              <a:t> </a:t>
            </a:r>
            <a:r>
              <a:rPr dirty="0"/>
              <a:t>Modern</a:t>
            </a:r>
            <a:r>
              <a:rPr spc="-62" dirty="0"/>
              <a:t> </a:t>
            </a:r>
            <a:r>
              <a:rPr spc="-9" dirty="0"/>
              <a:t>Systems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214488" y="1627029"/>
            <a:ext cx="8467162" cy="4100657"/>
            <a:chOff x="688473" y="2556353"/>
            <a:chExt cx="7973059" cy="34728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9667" y="2556353"/>
              <a:ext cx="7481394" cy="30598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8473" y="5194834"/>
              <a:ext cx="919480" cy="834390"/>
            </a:xfrm>
            <a:custGeom>
              <a:avLst/>
              <a:gdLst/>
              <a:ahLst/>
              <a:cxnLst/>
              <a:rect l="l" t="t" r="r" b="b"/>
              <a:pathLst>
                <a:path w="919480" h="834389">
                  <a:moveTo>
                    <a:pt x="919213" y="0"/>
                  </a:moveTo>
                  <a:lnTo>
                    <a:pt x="0" y="0"/>
                  </a:lnTo>
                  <a:lnTo>
                    <a:pt x="0" y="834100"/>
                  </a:lnTo>
                  <a:lnTo>
                    <a:pt x="919213" y="834100"/>
                  </a:lnTo>
                  <a:lnTo>
                    <a:pt x="9192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F8A1D-0AE0-46CF-8966-6FD0AB5175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9</a:t>
            </a:fld>
            <a:endParaRPr lang="en-US" spc="-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554119"/>
            <a:ext cx="6645267" cy="603332"/>
          </a:xfrm>
          <a:prstGeom prst="rect">
            <a:avLst/>
          </a:prstGeom>
        </p:spPr>
        <p:txBody>
          <a:bodyPr vert="horz" wrap="square" lIns="0" tIns="140297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Memory</a:t>
            </a:r>
            <a:r>
              <a:rPr spc="-62" dirty="0"/>
              <a:t> </a:t>
            </a:r>
            <a:r>
              <a:rPr dirty="0"/>
              <a:t>Hierarchy</a:t>
            </a:r>
            <a:r>
              <a:rPr spc="-62" dirty="0"/>
              <a:t> </a:t>
            </a:r>
            <a:r>
              <a:rPr dirty="0"/>
              <a:t>in</a:t>
            </a:r>
            <a:r>
              <a:rPr spc="-62" dirty="0"/>
              <a:t> </a:t>
            </a:r>
            <a:r>
              <a:rPr dirty="0"/>
              <a:t>Modern</a:t>
            </a:r>
            <a:r>
              <a:rPr spc="-62" dirty="0"/>
              <a:t> </a:t>
            </a:r>
            <a:r>
              <a:rPr spc="-9" dirty="0"/>
              <a:t>Systems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45157" y="1851378"/>
            <a:ext cx="8703733" cy="3702756"/>
            <a:chOff x="688473" y="2964995"/>
            <a:chExt cx="7955915" cy="30645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862" y="2964995"/>
              <a:ext cx="7531303" cy="248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8473" y="5194834"/>
              <a:ext cx="919480" cy="834390"/>
            </a:xfrm>
            <a:custGeom>
              <a:avLst/>
              <a:gdLst/>
              <a:ahLst/>
              <a:cxnLst/>
              <a:rect l="l" t="t" r="r" b="b"/>
              <a:pathLst>
                <a:path w="919480" h="834389">
                  <a:moveTo>
                    <a:pt x="919213" y="0"/>
                  </a:moveTo>
                  <a:lnTo>
                    <a:pt x="0" y="0"/>
                  </a:lnTo>
                  <a:lnTo>
                    <a:pt x="0" y="834100"/>
                  </a:lnTo>
                  <a:lnTo>
                    <a:pt x="919213" y="834100"/>
                  </a:lnTo>
                  <a:lnTo>
                    <a:pt x="9192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13EAE-0524-120D-38B0-488EAF680E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23111" y="6346231"/>
            <a:ext cx="3448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10</a:t>
            </a:fld>
            <a:endParaRPr lang="en-US" spc="-4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455407"/>
            <a:ext cx="2678766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L1 Cache</a:t>
            </a:r>
            <a:r>
              <a:rPr spc="-9" dirty="0"/>
              <a:t> Latency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8451" y="768795"/>
            <a:ext cx="5879166" cy="913701"/>
          </a:xfrm>
          <a:prstGeom prst="rect">
            <a:avLst/>
          </a:prstGeom>
        </p:spPr>
        <p:txBody>
          <a:bodyPr vert="horz" wrap="square" lIns="0" tIns="133910" rIns="0" bIns="0" rtlCol="0">
            <a:spAutoFit/>
          </a:bodyPr>
          <a:lstStyle/>
          <a:p>
            <a:pPr marL="11206">
              <a:spcBef>
                <a:spcPts val="1054"/>
              </a:spcBef>
            </a:pP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(Intel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8th</a:t>
            </a:r>
            <a:r>
              <a:rPr sz="1853" spc="1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Gen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Core</a:t>
            </a:r>
            <a:r>
              <a:rPr sz="1853" spc="18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CPUs</a:t>
            </a:r>
            <a:r>
              <a:rPr sz="1853" spc="1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–</a:t>
            </a:r>
            <a:r>
              <a:rPr sz="1853" spc="18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Coffee</a:t>
            </a:r>
            <a:r>
              <a:rPr sz="1853" spc="1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Lake,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announced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on</a:t>
            </a:r>
            <a:r>
              <a:rPr sz="1853" spc="1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spc="-18" dirty="0">
                <a:solidFill>
                  <a:srgbClr val="0332B7"/>
                </a:solidFill>
                <a:latin typeface="Calibri"/>
                <a:cs typeface="Calibri"/>
              </a:rPr>
              <a:t>2017)</a:t>
            </a:r>
            <a:endParaRPr sz="1853">
              <a:latin typeface="Calibri"/>
              <a:cs typeface="Calibri"/>
            </a:endParaRPr>
          </a:p>
          <a:p>
            <a:pPr marL="290248" indent="-267275">
              <a:spcBef>
                <a:spcPts val="1152"/>
              </a:spcBef>
              <a:buChar char="•"/>
              <a:tabLst>
                <a:tab pos="290248" algn="l"/>
              </a:tabLst>
            </a:pPr>
            <a:r>
              <a:rPr sz="2206" dirty="0">
                <a:latin typeface="Calibri"/>
                <a:cs typeface="Calibri"/>
              </a:rPr>
              <a:t>Data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from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https://lanoc.org</a:t>
            </a:r>
            <a:endParaRPr sz="2206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869" y="2004513"/>
            <a:ext cx="8462801" cy="393970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A0CB9-67E3-DACB-2AD0-9513A6128B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0534" y="6346231"/>
            <a:ext cx="42389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11</a:t>
            </a:fld>
            <a:endParaRPr lang="en-US" spc="-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455407"/>
            <a:ext cx="2678766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L2 Cache</a:t>
            </a:r>
            <a:r>
              <a:rPr spc="-9" dirty="0"/>
              <a:t> Latency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8451" y="768795"/>
            <a:ext cx="3843618" cy="913701"/>
          </a:xfrm>
          <a:prstGeom prst="rect">
            <a:avLst/>
          </a:prstGeom>
        </p:spPr>
        <p:txBody>
          <a:bodyPr vert="horz" wrap="square" lIns="0" tIns="133910" rIns="0" bIns="0" rtlCol="0">
            <a:spAutoFit/>
          </a:bodyPr>
          <a:lstStyle/>
          <a:p>
            <a:pPr marL="11206">
              <a:spcBef>
                <a:spcPts val="1054"/>
              </a:spcBef>
            </a:pP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(Intel</a:t>
            </a:r>
            <a:r>
              <a:rPr sz="1853" spc="4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8th</a:t>
            </a:r>
            <a:r>
              <a:rPr sz="1853" spc="4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Gen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Core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CPUs</a:t>
            </a:r>
            <a:r>
              <a:rPr sz="1853" spc="1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–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Coffee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0332B7"/>
                </a:solidFill>
                <a:latin typeface="Calibri"/>
                <a:cs typeface="Calibri"/>
              </a:rPr>
              <a:t>Lake)</a:t>
            </a:r>
            <a:endParaRPr sz="1853" dirty="0">
              <a:latin typeface="Calibri"/>
              <a:cs typeface="Calibri"/>
            </a:endParaRPr>
          </a:p>
          <a:p>
            <a:pPr marL="290248" indent="-267275">
              <a:spcBef>
                <a:spcPts val="1152"/>
              </a:spcBef>
              <a:buChar char="•"/>
              <a:tabLst>
                <a:tab pos="290248" algn="l"/>
              </a:tabLst>
            </a:pPr>
            <a:r>
              <a:rPr sz="2206" dirty="0">
                <a:latin typeface="Calibri"/>
                <a:cs typeface="Calibri"/>
              </a:rPr>
              <a:t>Data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from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https://lanoc.org</a:t>
            </a:r>
            <a:endParaRPr sz="2206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986" y="2023135"/>
            <a:ext cx="8455318" cy="392108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A8527-6E97-0FA9-8252-3085FE666D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77956" y="6346231"/>
            <a:ext cx="390027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12</a:t>
            </a:fld>
            <a:endParaRPr lang="en-US" spc="-4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455407"/>
            <a:ext cx="2678766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L3 Cache</a:t>
            </a:r>
            <a:r>
              <a:rPr spc="-9" dirty="0"/>
              <a:t> Latency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8451" y="768795"/>
            <a:ext cx="3843618" cy="913701"/>
          </a:xfrm>
          <a:prstGeom prst="rect">
            <a:avLst/>
          </a:prstGeom>
        </p:spPr>
        <p:txBody>
          <a:bodyPr vert="horz" wrap="square" lIns="0" tIns="133910" rIns="0" bIns="0" rtlCol="0">
            <a:spAutoFit/>
          </a:bodyPr>
          <a:lstStyle/>
          <a:p>
            <a:pPr marL="11206">
              <a:spcBef>
                <a:spcPts val="1054"/>
              </a:spcBef>
            </a:pP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(Intel</a:t>
            </a:r>
            <a:r>
              <a:rPr sz="1853" spc="4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8th</a:t>
            </a:r>
            <a:r>
              <a:rPr sz="1853" spc="4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Gen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Core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CPUs</a:t>
            </a:r>
            <a:r>
              <a:rPr sz="1853" spc="1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–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Coffee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0332B7"/>
                </a:solidFill>
                <a:latin typeface="Calibri"/>
                <a:cs typeface="Calibri"/>
              </a:rPr>
              <a:t>Lake)</a:t>
            </a:r>
            <a:endParaRPr sz="1853">
              <a:latin typeface="Calibri"/>
              <a:cs typeface="Calibri"/>
            </a:endParaRPr>
          </a:p>
          <a:p>
            <a:pPr marL="290248" indent="-267275">
              <a:spcBef>
                <a:spcPts val="1152"/>
              </a:spcBef>
              <a:buChar char="•"/>
              <a:tabLst>
                <a:tab pos="290248" algn="l"/>
              </a:tabLst>
            </a:pPr>
            <a:r>
              <a:rPr sz="2206" dirty="0">
                <a:latin typeface="Calibri"/>
                <a:cs typeface="Calibri"/>
              </a:rPr>
              <a:t>Data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from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https://lanoc.org</a:t>
            </a:r>
            <a:endParaRPr sz="2206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5476" y="2031355"/>
            <a:ext cx="8470297" cy="39128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6B6B-F706-1A6C-E226-8C45226C9F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77956" y="6346231"/>
            <a:ext cx="390027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13</a:t>
            </a:fld>
            <a:endParaRPr lang="en-US" spc="-4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455407"/>
            <a:ext cx="262665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Memory</a:t>
            </a:r>
            <a:r>
              <a:rPr spc="-66" dirty="0"/>
              <a:t> </a:t>
            </a:r>
            <a:r>
              <a:rPr spc="-9" dirty="0"/>
              <a:t>Latency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8451" y="768795"/>
            <a:ext cx="3843618" cy="913701"/>
          </a:xfrm>
          <a:prstGeom prst="rect">
            <a:avLst/>
          </a:prstGeom>
        </p:spPr>
        <p:txBody>
          <a:bodyPr vert="horz" wrap="square" lIns="0" tIns="133910" rIns="0" bIns="0" rtlCol="0">
            <a:spAutoFit/>
          </a:bodyPr>
          <a:lstStyle/>
          <a:p>
            <a:pPr marL="11206">
              <a:spcBef>
                <a:spcPts val="1054"/>
              </a:spcBef>
            </a:pP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(Intel</a:t>
            </a:r>
            <a:r>
              <a:rPr sz="1853" spc="4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8th</a:t>
            </a:r>
            <a:r>
              <a:rPr sz="1853" spc="4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Gen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Core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CPUs</a:t>
            </a:r>
            <a:r>
              <a:rPr sz="1853" spc="1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–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0332B7"/>
                </a:solidFill>
                <a:latin typeface="Calibri"/>
                <a:cs typeface="Calibri"/>
              </a:rPr>
              <a:t>Coffee</a:t>
            </a:r>
            <a:r>
              <a:rPr sz="1853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0332B7"/>
                </a:solidFill>
                <a:latin typeface="Calibri"/>
                <a:cs typeface="Calibri"/>
              </a:rPr>
              <a:t>Lake)</a:t>
            </a:r>
            <a:endParaRPr sz="1853">
              <a:latin typeface="Calibri"/>
              <a:cs typeface="Calibri"/>
            </a:endParaRPr>
          </a:p>
          <a:p>
            <a:pPr marL="290248" indent="-267275">
              <a:spcBef>
                <a:spcPts val="1152"/>
              </a:spcBef>
              <a:buChar char="•"/>
              <a:tabLst>
                <a:tab pos="290248" algn="l"/>
              </a:tabLst>
            </a:pPr>
            <a:r>
              <a:rPr sz="2206" dirty="0">
                <a:latin typeface="Calibri"/>
                <a:cs typeface="Calibri"/>
              </a:rPr>
              <a:t>Data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from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https://lanoc.org</a:t>
            </a:r>
            <a:endParaRPr sz="2206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556" y="2026919"/>
            <a:ext cx="8455318" cy="391730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29A53-D8E0-8DB1-9491-16CCA7AB67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77955" y="6346231"/>
            <a:ext cx="3561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14</a:t>
            </a:fld>
            <a:endParaRPr lang="en-US" spc="-4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91" y="554119"/>
            <a:ext cx="7023234" cy="603332"/>
          </a:xfrm>
          <a:prstGeom prst="rect">
            <a:avLst/>
          </a:prstGeom>
        </p:spPr>
        <p:txBody>
          <a:bodyPr vert="horz" wrap="square" lIns="0" tIns="140297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Memory</a:t>
            </a:r>
            <a:r>
              <a:rPr spc="-49" dirty="0"/>
              <a:t> </a:t>
            </a:r>
            <a:r>
              <a:rPr dirty="0"/>
              <a:t>Hierarchy:</a:t>
            </a:r>
            <a:r>
              <a:rPr spc="-40" dirty="0"/>
              <a:t> </a:t>
            </a:r>
            <a:r>
              <a:rPr dirty="0"/>
              <a:t>Apple</a:t>
            </a:r>
            <a:r>
              <a:rPr spc="-57" dirty="0"/>
              <a:t> </a:t>
            </a:r>
            <a:r>
              <a:rPr dirty="0"/>
              <a:t>iMac</a:t>
            </a:r>
            <a:r>
              <a:rPr spc="-49" dirty="0"/>
              <a:t> </a:t>
            </a:r>
            <a:r>
              <a:rPr dirty="0"/>
              <a:t>G5</a:t>
            </a:r>
            <a:r>
              <a:rPr spc="-49" dirty="0"/>
              <a:t> </a:t>
            </a:r>
            <a:r>
              <a:rPr spc="-18" dirty="0"/>
              <a:t>(2004-</a:t>
            </a:r>
            <a:r>
              <a:rPr spc="-22" dirty="0"/>
              <a:t>5)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1235" y="3428551"/>
            <a:ext cx="1330138" cy="94746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52968">
              <a:lnSpc>
                <a:spcPts val="2427"/>
              </a:lnSpc>
              <a:spcBef>
                <a:spcPts val="88"/>
              </a:spcBef>
            </a:pPr>
            <a:r>
              <a:rPr sz="2206" b="1" dirty="0">
                <a:latin typeface="Times New Roman"/>
                <a:cs typeface="Times New Roman"/>
              </a:rPr>
              <a:t>iMac</a:t>
            </a:r>
            <a:r>
              <a:rPr sz="2206" b="1" spc="44" dirty="0">
                <a:latin typeface="Times New Roman"/>
                <a:cs typeface="Times New Roman"/>
              </a:rPr>
              <a:t> </a:t>
            </a:r>
            <a:r>
              <a:rPr sz="2206" b="1" spc="-22" dirty="0">
                <a:latin typeface="Times New Roman"/>
                <a:cs typeface="Times New Roman"/>
              </a:rPr>
              <a:t>G5</a:t>
            </a:r>
            <a:endParaRPr sz="2206">
              <a:latin typeface="Times New Roman"/>
              <a:cs typeface="Times New Roman"/>
            </a:endParaRPr>
          </a:p>
          <a:p>
            <a:pPr marL="144564">
              <a:lnSpc>
                <a:spcPts val="2241"/>
              </a:lnSpc>
            </a:pPr>
            <a:r>
              <a:rPr sz="2206" b="1" dirty="0">
                <a:latin typeface="Times New Roman"/>
                <a:cs typeface="Times New Roman"/>
              </a:rPr>
              <a:t>1.6</a:t>
            </a:r>
            <a:r>
              <a:rPr sz="2206" b="1" spc="53" dirty="0">
                <a:latin typeface="Times New Roman"/>
                <a:cs typeface="Times New Roman"/>
              </a:rPr>
              <a:t> </a:t>
            </a:r>
            <a:r>
              <a:rPr sz="2206" b="1" spc="-22" dirty="0">
                <a:latin typeface="Times New Roman"/>
                <a:cs typeface="Times New Roman"/>
              </a:rPr>
              <a:t>GHz</a:t>
            </a:r>
            <a:endParaRPr sz="2206">
              <a:latin typeface="Times New Roman"/>
              <a:cs typeface="Times New Roman"/>
            </a:endParaRPr>
          </a:p>
          <a:p>
            <a:pPr marL="344599" marR="4483" indent="-333953">
              <a:lnSpc>
                <a:spcPts val="1332"/>
              </a:lnSpc>
              <a:spcBef>
                <a:spcPts val="75"/>
              </a:spcBef>
            </a:pPr>
            <a:r>
              <a:rPr sz="1324" b="1" dirty="0">
                <a:latin typeface="Times New Roman"/>
                <a:cs typeface="Times New Roman"/>
              </a:rPr>
              <a:t>1600x</a:t>
            </a:r>
            <a:r>
              <a:rPr sz="1324" b="1" spc="-66" dirty="0">
                <a:latin typeface="Times New Roman"/>
                <a:cs typeface="Times New Roman"/>
              </a:rPr>
              <a:t> </a:t>
            </a:r>
            <a:r>
              <a:rPr sz="1324" b="1" dirty="0">
                <a:latin typeface="Times New Roman"/>
                <a:cs typeface="Times New Roman"/>
              </a:rPr>
              <a:t>(mem:</a:t>
            </a:r>
            <a:r>
              <a:rPr sz="1324" b="1" spc="-66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latin typeface="Times New Roman"/>
                <a:cs typeface="Times New Roman"/>
              </a:rPr>
              <a:t>7.3x) </a:t>
            </a:r>
            <a:r>
              <a:rPr sz="1324" b="1" dirty="0">
                <a:latin typeface="Times New Roman"/>
                <a:cs typeface="Times New Roman"/>
              </a:rPr>
              <a:t>Apple</a:t>
            </a:r>
            <a:r>
              <a:rPr sz="1324" b="1" spc="-75" dirty="0">
                <a:latin typeface="Times New Roman"/>
                <a:cs typeface="Times New Roman"/>
              </a:rPr>
              <a:t> </a:t>
            </a:r>
            <a:r>
              <a:rPr sz="1324" b="1" spc="-22" dirty="0">
                <a:latin typeface="Times New Roman"/>
                <a:cs typeface="Times New Roman"/>
              </a:rPr>
              <a:t>II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8126" y="1211730"/>
            <a:ext cx="8137151" cy="3264274"/>
            <a:chOff x="434809" y="1373294"/>
            <a:chExt cx="9222105" cy="36995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2697" y="1373294"/>
              <a:ext cx="994061" cy="25430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1796" y="3007945"/>
              <a:ext cx="7830184" cy="2037714"/>
            </a:xfrm>
            <a:custGeom>
              <a:avLst/>
              <a:gdLst/>
              <a:ahLst/>
              <a:cxnLst/>
              <a:rect l="l" t="t" r="r" b="b"/>
              <a:pathLst>
                <a:path w="7830184" h="2037714">
                  <a:moveTo>
                    <a:pt x="1320658" y="0"/>
                  </a:moveTo>
                  <a:lnTo>
                    <a:pt x="1320658" y="2037587"/>
                  </a:lnTo>
                </a:path>
                <a:path w="7830184" h="2037714">
                  <a:moveTo>
                    <a:pt x="2385271" y="0"/>
                  </a:moveTo>
                  <a:lnTo>
                    <a:pt x="2385271" y="2037587"/>
                  </a:lnTo>
                </a:path>
                <a:path w="7830184" h="2037714">
                  <a:moveTo>
                    <a:pt x="3463360" y="0"/>
                  </a:moveTo>
                  <a:lnTo>
                    <a:pt x="3463360" y="2037587"/>
                  </a:lnTo>
                </a:path>
                <a:path w="7830184" h="2037714">
                  <a:moveTo>
                    <a:pt x="4622305" y="0"/>
                  </a:moveTo>
                  <a:lnTo>
                    <a:pt x="4622305" y="2037587"/>
                  </a:lnTo>
                </a:path>
                <a:path w="7830184" h="2037714">
                  <a:moveTo>
                    <a:pt x="5781251" y="0"/>
                  </a:moveTo>
                  <a:lnTo>
                    <a:pt x="5781251" y="2037587"/>
                  </a:lnTo>
                </a:path>
                <a:path w="7830184" h="2037714">
                  <a:moveTo>
                    <a:pt x="6738054" y="0"/>
                  </a:moveTo>
                  <a:lnTo>
                    <a:pt x="6738054" y="2037587"/>
                  </a:lnTo>
                </a:path>
                <a:path w="7830184" h="2037714">
                  <a:moveTo>
                    <a:pt x="0" y="606424"/>
                  </a:moveTo>
                  <a:lnTo>
                    <a:pt x="7829619" y="606424"/>
                  </a:lnTo>
                </a:path>
                <a:path w="7830184" h="2037714">
                  <a:moveTo>
                    <a:pt x="0" y="1051136"/>
                  </a:moveTo>
                  <a:lnTo>
                    <a:pt x="7829619" y="1051136"/>
                  </a:lnTo>
                </a:path>
                <a:path w="7830184" h="2037714">
                  <a:moveTo>
                    <a:pt x="26952" y="0"/>
                  </a:moveTo>
                  <a:lnTo>
                    <a:pt x="26952" y="2037587"/>
                  </a:lnTo>
                </a:path>
                <a:path w="7830184" h="2037714">
                  <a:moveTo>
                    <a:pt x="7802667" y="0"/>
                  </a:moveTo>
                  <a:lnTo>
                    <a:pt x="7802667" y="2037587"/>
                  </a:lnTo>
                </a:path>
                <a:path w="7830184" h="2037714">
                  <a:moveTo>
                    <a:pt x="0" y="26952"/>
                  </a:moveTo>
                  <a:lnTo>
                    <a:pt x="7829619" y="26952"/>
                  </a:lnTo>
                </a:path>
                <a:path w="7830184" h="2037714">
                  <a:moveTo>
                    <a:pt x="0" y="2010635"/>
                  </a:moveTo>
                  <a:lnTo>
                    <a:pt x="7829619" y="2010635"/>
                  </a:lnTo>
                </a:path>
              </a:pathLst>
            </a:custGeom>
            <a:ln w="53904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8349" y="2797436"/>
            <a:ext cx="85556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9" dirty="0">
                <a:latin typeface="Calibri"/>
                <a:cs typeface="Calibri"/>
              </a:rPr>
              <a:t>1977+27yr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5564" y="2750820"/>
            <a:ext cx="342340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22" dirty="0">
                <a:latin typeface="Calibri"/>
                <a:cs typeface="Calibri"/>
              </a:rPr>
              <a:t>Reg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7566" y="2750820"/>
            <a:ext cx="589990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Calibri"/>
                <a:cs typeface="Calibri"/>
              </a:rPr>
              <a:t>L1 </a:t>
            </a:r>
            <a:r>
              <a:rPr sz="1677" spc="-18" dirty="0">
                <a:latin typeface="Calibri"/>
                <a:cs typeface="Calibri"/>
              </a:rPr>
              <a:t>Inst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71747" y="2750820"/>
            <a:ext cx="67515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Calibri"/>
                <a:cs typeface="Calibri"/>
              </a:rPr>
              <a:t>L1 </a:t>
            </a:r>
            <a:r>
              <a:rPr sz="1677" spc="-18" dirty="0">
                <a:latin typeface="Calibri"/>
                <a:cs typeface="Calibri"/>
              </a:rPr>
              <a:t>Data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20952" y="2750820"/>
            <a:ext cx="22243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22" dirty="0">
                <a:latin typeface="Calibri"/>
                <a:cs typeface="Calibri"/>
              </a:rPr>
              <a:t>L2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76754" y="2750820"/>
            <a:ext cx="576543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Calibri"/>
                <a:cs typeface="Calibri"/>
              </a:rPr>
              <a:t>DRAM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65167" y="2750820"/>
            <a:ext cx="383801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Calibri"/>
                <a:cs typeface="Calibri"/>
              </a:rPr>
              <a:t>Disk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654" y="3202641"/>
            <a:ext cx="86061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Calibri"/>
                <a:cs typeface="Calibri"/>
              </a:rPr>
              <a:t>Size</a:t>
            </a:r>
            <a:r>
              <a:rPr sz="1677" spc="-44" dirty="0">
                <a:latin typeface="Calibri"/>
                <a:cs typeface="Calibri"/>
              </a:rPr>
              <a:t> </a:t>
            </a:r>
            <a:r>
              <a:rPr sz="1147" dirty="0">
                <a:latin typeface="Calibri"/>
                <a:cs typeface="Calibri"/>
              </a:rPr>
              <a:t>in</a:t>
            </a:r>
            <a:r>
              <a:rPr sz="1147" spc="-49" dirty="0">
                <a:latin typeface="Calibri"/>
                <a:cs typeface="Calibri"/>
              </a:rPr>
              <a:t> </a:t>
            </a:r>
            <a:r>
              <a:rPr sz="1147" spc="-9" dirty="0">
                <a:latin typeface="Calibri"/>
                <a:cs typeface="Calibri"/>
              </a:rPr>
              <a:t>Bytes</a:t>
            </a:r>
            <a:endParaRPr sz="1147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49767" y="3215639"/>
            <a:ext cx="254374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-22" dirty="0">
                <a:solidFill>
                  <a:srgbClr val="053DE8"/>
                </a:solidFill>
                <a:latin typeface="Calibri"/>
                <a:cs typeface="Calibri"/>
              </a:rPr>
              <a:t>1K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37853" y="3215639"/>
            <a:ext cx="369234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-22" dirty="0">
                <a:solidFill>
                  <a:srgbClr val="053DE8"/>
                </a:solidFill>
                <a:latin typeface="Calibri"/>
                <a:cs typeface="Calibri"/>
              </a:rPr>
              <a:t>64K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24779" y="3215639"/>
            <a:ext cx="369234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-22" dirty="0">
                <a:solidFill>
                  <a:srgbClr val="053DE8"/>
                </a:solidFill>
                <a:latin typeface="Calibri"/>
                <a:cs typeface="Calibri"/>
              </a:rPr>
              <a:t>32K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90154" y="3215639"/>
            <a:ext cx="2263588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906604" algn="l"/>
                <a:tab pos="1881008" algn="l"/>
              </a:tabLst>
            </a:pPr>
            <a:r>
              <a:rPr sz="1765" spc="-18" dirty="0">
                <a:solidFill>
                  <a:srgbClr val="053DE8"/>
                </a:solidFill>
                <a:latin typeface="Calibri"/>
                <a:cs typeface="Calibri"/>
              </a:rPr>
              <a:t>512K</a:t>
            </a: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	</a:t>
            </a:r>
            <a:r>
              <a:rPr sz="1765" spc="-18" dirty="0">
                <a:solidFill>
                  <a:srgbClr val="053DE8"/>
                </a:solidFill>
                <a:latin typeface="Calibri"/>
                <a:cs typeface="Calibri"/>
              </a:rPr>
              <a:t>256M</a:t>
            </a: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	</a:t>
            </a:r>
            <a:r>
              <a:rPr sz="1765" spc="-22" dirty="0">
                <a:solidFill>
                  <a:srgbClr val="053DE8"/>
                </a:solidFill>
                <a:latin typeface="Calibri"/>
                <a:cs typeface="Calibri"/>
              </a:rPr>
              <a:t>80G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5964" y="3552264"/>
            <a:ext cx="900392" cy="817894"/>
          </a:xfrm>
          <a:prstGeom prst="rect">
            <a:avLst/>
          </a:prstGeom>
        </p:spPr>
        <p:txBody>
          <a:bodyPr vert="horz" wrap="square" lIns="0" tIns="29696" rIns="0" bIns="0" rtlCol="0">
            <a:spAutoFit/>
          </a:bodyPr>
          <a:lstStyle/>
          <a:p>
            <a:pPr marL="11206" marR="4483" algn="ctr">
              <a:lnSpc>
                <a:spcPct val="103200"/>
              </a:lnSpc>
              <a:spcBef>
                <a:spcPts val="234"/>
              </a:spcBef>
            </a:pPr>
            <a:r>
              <a:rPr sz="1677" dirty="0">
                <a:latin typeface="Calibri"/>
                <a:cs typeface="Calibri"/>
              </a:rPr>
              <a:t>Latency</a:t>
            </a:r>
            <a:r>
              <a:rPr sz="1677" spc="-35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in </a:t>
            </a:r>
            <a:r>
              <a:rPr sz="1677" spc="-9" dirty="0">
                <a:latin typeface="Calibri"/>
                <a:cs typeface="Calibri"/>
              </a:rPr>
              <a:t>Cycles, </a:t>
            </a:r>
            <a:r>
              <a:rPr sz="1677" spc="-18" dirty="0">
                <a:latin typeface="Calibri"/>
                <a:cs typeface="Calibri"/>
              </a:rPr>
              <a:t>Time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94445" y="3812690"/>
            <a:ext cx="565337" cy="52427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6335">
              <a:lnSpc>
                <a:spcPts val="1981"/>
              </a:lnSpc>
              <a:spcBef>
                <a:spcPts val="88"/>
              </a:spcBef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1</a:t>
            </a:r>
            <a:r>
              <a:rPr sz="1765" spc="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765" spc="-18" dirty="0">
                <a:solidFill>
                  <a:srgbClr val="053DE8"/>
                </a:solidFill>
                <a:latin typeface="Calibri"/>
                <a:cs typeface="Calibri"/>
              </a:rPr>
              <a:t>cyc,</a:t>
            </a:r>
            <a:endParaRPr sz="1765">
              <a:latin typeface="Calibri"/>
              <a:cs typeface="Calibri"/>
            </a:endParaRPr>
          </a:p>
          <a:p>
            <a:pPr marL="11206">
              <a:lnSpc>
                <a:spcPts val="1981"/>
              </a:lnSpc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0.6</a:t>
            </a:r>
            <a:r>
              <a:rPr sz="1765" spc="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765" spc="-22" dirty="0">
                <a:solidFill>
                  <a:srgbClr val="053DE8"/>
                </a:solidFill>
                <a:latin typeface="Calibri"/>
                <a:cs typeface="Calibri"/>
              </a:rPr>
              <a:t>ns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39754" y="3812690"/>
            <a:ext cx="565337" cy="52427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6335">
              <a:lnSpc>
                <a:spcPts val="1981"/>
              </a:lnSpc>
              <a:spcBef>
                <a:spcPts val="88"/>
              </a:spcBef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3</a:t>
            </a:r>
            <a:r>
              <a:rPr sz="1765" spc="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765" spc="-18" dirty="0">
                <a:solidFill>
                  <a:srgbClr val="053DE8"/>
                </a:solidFill>
                <a:latin typeface="Calibri"/>
                <a:cs typeface="Calibri"/>
              </a:rPr>
              <a:t>cyc,</a:t>
            </a:r>
            <a:endParaRPr sz="1765">
              <a:latin typeface="Calibri"/>
              <a:cs typeface="Calibri"/>
            </a:endParaRPr>
          </a:p>
          <a:p>
            <a:pPr marL="11206">
              <a:lnSpc>
                <a:spcPts val="1981"/>
              </a:lnSpc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1.9</a:t>
            </a:r>
            <a:r>
              <a:rPr sz="1765" spc="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765" spc="-22" dirty="0">
                <a:solidFill>
                  <a:srgbClr val="053DE8"/>
                </a:solidFill>
                <a:latin typeface="Calibri"/>
                <a:cs typeface="Calibri"/>
              </a:rPr>
              <a:t>ns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26682" y="3812690"/>
            <a:ext cx="565337" cy="52427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6335">
              <a:lnSpc>
                <a:spcPts val="1981"/>
              </a:lnSpc>
              <a:spcBef>
                <a:spcPts val="88"/>
              </a:spcBef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3</a:t>
            </a:r>
            <a:r>
              <a:rPr sz="1765" spc="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765" spc="-18" dirty="0">
                <a:solidFill>
                  <a:srgbClr val="053DE8"/>
                </a:solidFill>
                <a:latin typeface="Calibri"/>
                <a:cs typeface="Calibri"/>
              </a:rPr>
              <a:t>cyc,</a:t>
            </a:r>
            <a:endParaRPr sz="1765">
              <a:latin typeface="Calibri"/>
              <a:cs typeface="Calibri"/>
            </a:endParaRPr>
          </a:p>
          <a:p>
            <a:pPr marL="11206">
              <a:lnSpc>
                <a:spcPts val="1981"/>
              </a:lnSpc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1.9</a:t>
            </a:r>
            <a:r>
              <a:rPr sz="1765" spc="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765" spc="-22" dirty="0">
                <a:solidFill>
                  <a:srgbClr val="053DE8"/>
                </a:solidFill>
                <a:latin typeface="Calibri"/>
                <a:cs typeface="Calibri"/>
              </a:rPr>
              <a:t>ns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07604" y="3812690"/>
            <a:ext cx="648260" cy="52427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981"/>
              </a:lnSpc>
              <a:spcBef>
                <a:spcPts val="88"/>
              </a:spcBef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11</a:t>
            </a:r>
            <a:r>
              <a:rPr sz="1765" spc="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765" spc="-18" dirty="0">
                <a:solidFill>
                  <a:srgbClr val="053DE8"/>
                </a:solidFill>
                <a:latin typeface="Calibri"/>
                <a:cs typeface="Calibri"/>
              </a:rPr>
              <a:t>cyc,</a:t>
            </a:r>
            <a:endParaRPr sz="1765">
              <a:latin typeface="Calibri"/>
              <a:cs typeface="Calibri"/>
            </a:endParaRPr>
          </a:p>
          <a:p>
            <a:pPr marL="52670">
              <a:lnSpc>
                <a:spcPts val="1981"/>
              </a:lnSpc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6.9</a:t>
            </a:r>
            <a:r>
              <a:rPr sz="1765" spc="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765" spc="-22" dirty="0">
                <a:solidFill>
                  <a:srgbClr val="053DE8"/>
                </a:solidFill>
                <a:latin typeface="Calibri"/>
                <a:cs typeface="Calibri"/>
              </a:rPr>
              <a:t>ns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41022" y="3812690"/>
            <a:ext cx="648260" cy="52427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981"/>
              </a:lnSpc>
              <a:spcBef>
                <a:spcPts val="88"/>
              </a:spcBef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88</a:t>
            </a:r>
            <a:r>
              <a:rPr sz="1765" spc="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765" spc="-18" dirty="0">
                <a:solidFill>
                  <a:srgbClr val="053DE8"/>
                </a:solidFill>
                <a:latin typeface="Calibri"/>
                <a:cs typeface="Calibri"/>
              </a:rPr>
              <a:t>cyc,</a:t>
            </a:r>
            <a:endParaRPr sz="1765">
              <a:latin typeface="Calibri"/>
              <a:cs typeface="Calibri"/>
            </a:endParaRPr>
          </a:p>
          <a:p>
            <a:pPr marL="80687">
              <a:lnSpc>
                <a:spcPts val="1981"/>
              </a:lnSpc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55</a:t>
            </a:r>
            <a:r>
              <a:rPr sz="1765" spc="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765" spc="-22" dirty="0">
                <a:solidFill>
                  <a:srgbClr val="053DE8"/>
                </a:solidFill>
                <a:latin typeface="Calibri"/>
                <a:cs typeface="Calibri"/>
              </a:rPr>
              <a:t>ns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03516" y="3812690"/>
            <a:ext cx="706531" cy="52427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lnSpc>
                <a:spcPts val="1981"/>
              </a:lnSpc>
              <a:spcBef>
                <a:spcPts val="88"/>
              </a:spcBef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10</a:t>
            </a:r>
            <a:r>
              <a:rPr sz="1721" b="1" baseline="25641" dirty="0">
                <a:solidFill>
                  <a:srgbClr val="053DE8"/>
                </a:solidFill>
                <a:latin typeface="Calibri"/>
                <a:cs typeface="Calibri"/>
              </a:rPr>
              <a:t>7</a:t>
            </a:r>
            <a:r>
              <a:rPr sz="1721" b="1" spc="33" baseline="2564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500" spc="-18" dirty="0">
                <a:solidFill>
                  <a:srgbClr val="053DE8"/>
                </a:solidFill>
                <a:latin typeface="Calibri"/>
                <a:cs typeface="Calibri"/>
              </a:rPr>
              <a:t>cyc</a:t>
            </a:r>
            <a:r>
              <a:rPr sz="1765" spc="-18" dirty="0">
                <a:solidFill>
                  <a:srgbClr val="053DE8"/>
                </a:solidFill>
                <a:latin typeface="Calibri"/>
                <a:cs typeface="Calibri"/>
              </a:rPr>
              <a:t>,</a:t>
            </a:r>
            <a:endParaRPr sz="1765">
              <a:latin typeface="Calibri"/>
              <a:cs typeface="Calibri"/>
            </a:endParaRPr>
          </a:p>
          <a:p>
            <a:pPr marL="79566">
              <a:lnSpc>
                <a:spcPts val="1981"/>
              </a:lnSpc>
            </a:pPr>
            <a:r>
              <a:rPr sz="1765" dirty="0">
                <a:solidFill>
                  <a:srgbClr val="053DE8"/>
                </a:solidFill>
                <a:latin typeface="Calibri"/>
                <a:cs typeface="Calibri"/>
              </a:rPr>
              <a:t>12</a:t>
            </a:r>
            <a:r>
              <a:rPr sz="1765" spc="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1765" spc="-22" dirty="0">
                <a:solidFill>
                  <a:srgbClr val="053DE8"/>
                </a:solidFill>
                <a:latin typeface="Calibri"/>
                <a:cs typeface="Calibri"/>
              </a:rPr>
              <a:t>ms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365116" y="2024618"/>
            <a:ext cx="627529" cy="756957"/>
          </a:xfrm>
          <a:custGeom>
            <a:avLst/>
            <a:gdLst/>
            <a:ahLst/>
            <a:cxnLst/>
            <a:rect l="l" t="t" r="r" b="b"/>
            <a:pathLst>
              <a:path w="711200" h="857885">
                <a:moveTo>
                  <a:pt x="660724" y="817651"/>
                </a:moveTo>
                <a:lnTo>
                  <a:pt x="628501" y="820950"/>
                </a:lnTo>
                <a:lnTo>
                  <a:pt x="711150" y="857573"/>
                </a:lnTo>
                <a:lnTo>
                  <a:pt x="703551" y="824581"/>
                </a:lnTo>
                <a:lnTo>
                  <a:pt x="666445" y="824581"/>
                </a:lnTo>
                <a:lnTo>
                  <a:pt x="660724" y="817651"/>
                </a:lnTo>
                <a:close/>
              </a:path>
              <a:path w="711200" h="857885">
                <a:moveTo>
                  <a:pt x="676834" y="816006"/>
                </a:moveTo>
                <a:lnTo>
                  <a:pt x="660724" y="817651"/>
                </a:lnTo>
                <a:lnTo>
                  <a:pt x="666445" y="824581"/>
                </a:lnTo>
                <a:lnTo>
                  <a:pt x="676834" y="816006"/>
                </a:lnTo>
                <a:close/>
              </a:path>
              <a:path w="711200" h="857885">
                <a:moveTo>
                  <a:pt x="690859" y="769480"/>
                </a:moveTo>
                <a:lnTo>
                  <a:pt x="681510" y="800494"/>
                </a:lnTo>
                <a:lnTo>
                  <a:pt x="687231" y="807425"/>
                </a:lnTo>
                <a:lnTo>
                  <a:pt x="666445" y="824581"/>
                </a:lnTo>
                <a:lnTo>
                  <a:pt x="703551" y="824581"/>
                </a:lnTo>
                <a:lnTo>
                  <a:pt x="690859" y="769480"/>
                </a:lnTo>
                <a:close/>
              </a:path>
              <a:path w="711200" h="857885">
                <a:moveTo>
                  <a:pt x="20786" y="0"/>
                </a:moveTo>
                <a:lnTo>
                  <a:pt x="0" y="17157"/>
                </a:lnTo>
                <a:lnTo>
                  <a:pt x="660724" y="817651"/>
                </a:lnTo>
                <a:lnTo>
                  <a:pt x="676791" y="816006"/>
                </a:lnTo>
                <a:lnTo>
                  <a:pt x="679421" y="807425"/>
                </a:lnTo>
                <a:lnTo>
                  <a:pt x="681510" y="800494"/>
                </a:lnTo>
                <a:lnTo>
                  <a:pt x="20786" y="0"/>
                </a:lnTo>
                <a:close/>
              </a:path>
              <a:path w="711200" h="857885">
                <a:moveTo>
                  <a:pt x="681510" y="800494"/>
                </a:moveTo>
                <a:lnTo>
                  <a:pt x="676834" y="816006"/>
                </a:lnTo>
                <a:lnTo>
                  <a:pt x="687231" y="807425"/>
                </a:lnTo>
                <a:lnTo>
                  <a:pt x="681510" y="800494"/>
                </a:lnTo>
                <a:close/>
              </a:path>
            </a:pathLst>
          </a:custGeom>
          <a:solidFill>
            <a:srgbClr val="053DE8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 txBox="1"/>
          <p:nvPr/>
        </p:nvSpPr>
        <p:spPr>
          <a:xfrm>
            <a:off x="749698" y="1432112"/>
            <a:ext cx="1182221" cy="586888"/>
          </a:xfrm>
          <a:prstGeom prst="rect">
            <a:avLst/>
          </a:prstGeom>
        </p:spPr>
        <p:txBody>
          <a:bodyPr vert="horz" wrap="square" lIns="0" tIns="22412" rIns="0" bIns="0" rtlCol="0">
            <a:spAutoFit/>
          </a:bodyPr>
          <a:lstStyle/>
          <a:p>
            <a:pPr marL="11206" marR="4483" indent="205639">
              <a:lnSpc>
                <a:spcPts val="2206"/>
              </a:lnSpc>
              <a:spcBef>
                <a:spcPts val="176"/>
              </a:spcBef>
            </a:pPr>
            <a:r>
              <a:rPr sz="1853" b="1" spc="-9" dirty="0">
                <a:latin typeface="Calibri"/>
                <a:cs typeface="Calibri"/>
              </a:rPr>
              <a:t>Utilized </a:t>
            </a:r>
            <a:r>
              <a:rPr sz="1853" b="1" dirty="0">
                <a:latin typeface="Calibri"/>
                <a:cs typeface="Calibri"/>
              </a:rPr>
              <a:t>by</a:t>
            </a:r>
            <a:r>
              <a:rPr sz="1853" b="1" spc="-13" dirty="0">
                <a:latin typeface="Calibri"/>
                <a:cs typeface="Calibri"/>
              </a:rPr>
              <a:t> </a:t>
            </a:r>
            <a:r>
              <a:rPr sz="1853" b="1" spc="-9" dirty="0">
                <a:latin typeface="Calibri"/>
                <a:cs typeface="Calibri"/>
              </a:rPr>
              <a:t>compiler</a:t>
            </a:r>
            <a:endParaRPr sz="1853" dirty="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003299" y="2081896"/>
            <a:ext cx="1460687" cy="699807"/>
          </a:xfrm>
          <a:custGeom>
            <a:avLst/>
            <a:gdLst/>
            <a:ahLst/>
            <a:cxnLst/>
            <a:rect l="l" t="t" r="r" b="b"/>
            <a:pathLst>
              <a:path w="1655445" h="793114">
                <a:moveTo>
                  <a:pt x="1126248" y="22098"/>
                </a:moveTo>
                <a:lnTo>
                  <a:pt x="1110805" y="0"/>
                </a:lnTo>
                <a:lnTo>
                  <a:pt x="51904" y="739965"/>
                </a:lnTo>
                <a:lnTo>
                  <a:pt x="51904" y="772833"/>
                </a:lnTo>
                <a:lnTo>
                  <a:pt x="36474" y="750735"/>
                </a:lnTo>
                <a:lnTo>
                  <a:pt x="44196" y="761784"/>
                </a:lnTo>
                <a:lnTo>
                  <a:pt x="51904" y="772833"/>
                </a:lnTo>
                <a:lnTo>
                  <a:pt x="51904" y="739965"/>
                </a:lnTo>
                <a:lnTo>
                  <a:pt x="43840" y="745591"/>
                </a:lnTo>
                <a:lnTo>
                  <a:pt x="43129" y="713206"/>
                </a:lnTo>
                <a:lnTo>
                  <a:pt x="0" y="792657"/>
                </a:lnTo>
                <a:lnTo>
                  <a:pt x="89446" y="779487"/>
                </a:lnTo>
                <a:lnTo>
                  <a:pt x="72428" y="772833"/>
                </a:lnTo>
                <a:lnTo>
                  <a:pt x="59270" y="767689"/>
                </a:lnTo>
                <a:lnTo>
                  <a:pt x="1126248" y="22098"/>
                </a:lnTo>
                <a:close/>
              </a:path>
              <a:path w="1655445" h="793114">
                <a:moveTo>
                  <a:pt x="1655000" y="18948"/>
                </a:moveTo>
                <a:lnTo>
                  <a:pt x="1633181" y="3149"/>
                </a:lnTo>
                <a:lnTo>
                  <a:pt x="1104061" y="733818"/>
                </a:lnTo>
                <a:lnTo>
                  <a:pt x="1092771" y="703465"/>
                </a:lnTo>
                <a:lnTo>
                  <a:pt x="1078090" y="792657"/>
                </a:lnTo>
                <a:lnTo>
                  <a:pt x="1146708" y="756907"/>
                </a:lnTo>
                <a:lnTo>
                  <a:pt x="1158265" y="750887"/>
                </a:lnTo>
                <a:lnTo>
                  <a:pt x="1125893" y="749630"/>
                </a:lnTo>
                <a:lnTo>
                  <a:pt x="1655000" y="18948"/>
                </a:lnTo>
                <a:close/>
              </a:path>
            </a:pathLst>
          </a:custGeom>
          <a:solidFill>
            <a:srgbClr val="053DE8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 txBox="1"/>
          <p:nvPr/>
        </p:nvSpPr>
        <p:spPr>
          <a:xfrm>
            <a:off x="3766960" y="1355015"/>
            <a:ext cx="1508312" cy="6902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186587">
              <a:spcBef>
                <a:spcPts val="88"/>
              </a:spcBef>
            </a:pPr>
            <a:r>
              <a:rPr sz="2206" b="1" spc="-9" dirty="0">
                <a:latin typeface="Calibri"/>
                <a:cs typeface="Calibri"/>
              </a:rPr>
              <a:t>Managed </a:t>
            </a:r>
            <a:r>
              <a:rPr sz="2206" b="1" dirty="0">
                <a:latin typeface="Calibri"/>
                <a:cs typeface="Calibri"/>
              </a:rPr>
              <a:t>by</a:t>
            </a:r>
            <a:r>
              <a:rPr sz="2206" b="1" spc="31" dirty="0">
                <a:latin typeface="Calibri"/>
                <a:cs typeface="Calibri"/>
              </a:rPr>
              <a:t> </a:t>
            </a:r>
            <a:r>
              <a:rPr sz="2206" b="1" spc="-9" dirty="0">
                <a:latin typeface="Calibri"/>
                <a:cs typeface="Calibri"/>
              </a:rPr>
              <a:t>hardware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45545" y="2034540"/>
            <a:ext cx="2365001" cy="746872"/>
          </a:xfrm>
          <a:custGeom>
            <a:avLst/>
            <a:gdLst/>
            <a:ahLst/>
            <a:cxnLst/>
            <a:rect l="l" t="t" r="r" b="b"/>
            <a:pathLst>
              <a:path w="2680334" h="846455">
                <a:moveTo>
                  <a:pt x="416255" y="846328"/>
                </a:moveTo>
                <a:lnTo>
                  <a:pt x="415683" y="804646"/>
                </a:lnTo>
                <a:lnTo>
                  <a:pt x="415023" y="755942"/>
                </a:lnTo>
                <a:lnTo>
                  <a:pt x="399338" y="784288"/>
                </a:lnTo>
                <a:lnTo>
                  <a:pt x="23939" y="58521"/>
                </a:lnTo>
                <a:lnTo>
                  <a:pt x="0" y="70904"/>
                </a:lnTo>
                <a:lnTo>
                  <a:pt x="375399" y="796671"/>
                </a:lnTo>
                <a:lnTo>
                  <a:pt x="343204" y="793089"/>
                </a:lnTo>
                <a:lnTo>
                  <a:pt x="416255" y="846328"/>
                </a:lnTo>
                <a:close/>
              </a:path>
              <a:path w="2680334" h="846455">
                <a:moveTo>
                  <a:pt x="1398028" y="784504"/>
                </a:moveTo>
                <a:lnTo>
                  <a:pt x="343446" y="0"/>
                </a:lnTo>
                <a:lnTo>
                  <a:pt x="327355" y="21628"/>
                </a:lnTo>
                <a:lnTo>
                  <a:pt x="1381937" y="806132"/>
                </a:lnTo>
                <a:lnTo>
                  <a:pt x="1397177" y="800696"/>
                </a:lnTo>
                <a:lnTo>
                  <a:pt x="1398028" y="784504"/>
                </a:lnTo>
                <a:close/>
              </a:path>
              <a:path w="2680334" h="846455">
                <a:moveTo>
                  <a:pt x="1440446" y="832853"/>
                </a:moveTo>
                <a:lnTo>
                  <a:pt x="1429664" y="811504"/>
                </a:lnTo>
                <a:lnTo>
                  <a:pt x="1399692" y="752157"/>
                </a:lnTo>
                <a:lnTo>
                  <a:pt x="1398028" y="784504"/>
                </a:lnTo>
                <a:lnTo>
                  <a:pt x="1397190" y="800696"/>
                </a:lnTo>
                <a:lnTo>
                  <a:pt x="1381937" y="806132"/>
                </a:lnTo>
                <a:lnTo>
                  <a:pt x="1351432" y="817029"/>
                </a:lnTo>
                <a:lnTo>
                  <a:pt x="1440446" y="832853"/>
                </a:lnTo>
                <a:close/>
              </a:path>
              <a:path w="2680334" h="846455">
                <a:moveTo>
                  <a:pt x="2680246" y="765479"/>
                </a:moveTo>
                <a:lnTo>
                  <a:pt x="2653296" y="783450"/>
                </a:lnTo>
                <a:lnTo>
                  <a:pt x="2653296" y="468998"/>
                </a:lnTo>
                <a:lnTo>
                  <a:pt x="2626347" y="468998"/>
                </a:lnTo>
                <a:lnTo>
                  <a:pt x="2626347" y="783450"/>
                </a:lnTo>
                <a:lnTo>
                  <a:pt x="2599385" y="765479"/>
                </a:lnTo>
                <a:lnTo>
                  <a:pt x="2639822" y="846328"/>
                </a:lnTo>
                <a:lnTo>
                  <a:pt x="2666771" y="792429"/>
                </a:lnTo>
                <a:lnTo>
                  <a:pt x="2680246" y="765479"/>
                </a:lnTo>
                <a:close/>
              </a:path>
            </a:pathLst>
          </a:custGeom>
          <a:solidFill>
            <a:srgbClr val="053DE8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 txBox="1"/>
          <p:nvPr/>
        </p:nvSpPr>
        <p:spPr>
          <a:xfrm>
            <a:off x="5982700" y="1330810"/>
            <a:ext cx="1952625" cy="1032542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 marR="4483" algn="ctr">
              <a:lnSpc>
                <a:spcPct val="101600"/>
              </a:lnSpc>
              <a:spcBef>
                <a:spcPts val="44"/>
              </a:spcBef>
            </a:pPr>
            <a:r>
              <a:rPr sz="2206" b="1" dirty="0">
                <a:latin typeface="Calibri"/>
                <a:cs typeface="Calibri"/>
              </a:rPr>
              <a:t>Managed</a:t>
            </a:r>
            <a:r>
              <a:rPr sz="2206" b="1" spc="44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by</a:t>
            </a:r>
            <a:r>
              <a:rPr sz="2206" b="1" spc="44" dirty="0">
                <a:latin typeface="Calibri"/>
                <a:cs typeface="Calibri"/>
              </a:rPr>
              <a:t> </a:t>
            </a:r>
            <a:r>
              <a:rPr sz="2206" b="1" spc="-22" dirty="0">
                <a:latin typeface="Calibri"/>
                <a:cs typeface="Calibri"/>
              </a:rPr>
              <a:t>OS, </a:t>
            </a:r>
            <a:r>
              <a:rPr sz="2206" b="1" spc="-9" dirty="0">
                <a:latin typeface="Calibri"/>
                <a:cs typeface="Calibri"/>
              </a:rPr>
              <a:t>hardware, application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5524" y="4448915"/>
            <a:ext cx="7887164" cy="1244722"/>
          </a:xfrm>
          <a:prstGeom prst="rect">
            <a:avLst/>
          </a:prstGeom>
        </p:spPr>
        <p:txBody>
          <a:bodyPr vert="horz" wrap="square" lIns="0" tIns="94129" rIns="0" bIns="0" rtlCol="0">
            <a:spAutoFit/>
          </a:bodyPr>
          <a:lstStyle/>
          <a:p>
            <a:pPr marL="1248962">
              <a:spcBef>
                <a:spcPts val="741"/>
              </a:spcBef>
            </a:pPr>
            <a:r>
              <a:rPr sz="2559" b="1" dirty="0">
                <a:solidFill>
                  <a:srgbClr val="053DE8"/>
                </a:solidFill>
                <a:latin typeface="Calibri"/>
                <a:cs typeface="Calibri"/>
              </a:rPr>
              <a:t>Goal:</a:t>
            </a:r>
            <a:r>
              <a:rPr sz="2559" b="1" spc="-97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559" b="1" spc="-9" dirty="0">
                <a:solidFill>
                  <a:srgbClr val="053DE8"/>
                </a:solidFill>
                <a:latin typeface="Calibri"/>
                <a:cs typeface="Calibri"/>
              </a:rPr>
              <a:t>Illusion</a:t>
            </a:r>
            <a:r>
              <a:rPr sz="2559" b="1" spc="-10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559" b="1" dirty="0">
                <a:solidFill>
                  <a:srgbClr val="053DE8"/>
                </a:solidFill>
                <a:latin typeface="Calibri"/>
                <a:cs typeface="Calibri"/>
              </a:rPr>
              <a:t>of</a:t>
            </a:r>
            <a:r>
              <a:rPr sz="2559" b="1" spc="-10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559" b="1" spc="-18" dirty="0">
                <a:solidFill>
                  <a:srgbClr val="053DE8"/>
                </a:solidFill>
                <a:latin typeface="Calibri"/>
                <a:cs typeface="Calibri"/>
              </a:rPr>
              <a:t>large,</a:t>
            </a:r>
            <a:r>
              <a:rPr sz="2559" b="1" spc="-9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559" b="1" spc="-9" dirty="0">
                <a:solidFill>
                  <a:srgbClr val="053DE8"/>
                </a:solidFill>
                <a:latin typeface="Calibri"/>
                <a:cs typeface="Calibri"/>
              </a:rPr>
              <a:t>fast,</a:t>
            </a:r>
            <a:r>
              <a:rPr sz="2559" b="1" spc="-97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559" b="1" dirty="0">
                <a:solidFill>
                  <a:srgbClr val="053DE8"/>
                </a:solidFill>
                <a:latin typeface="Calibri"/>
                <a:cs typeface="Calibri"/>
              </a:rPr>
              <a:t>cheap</a:t>
            </a:r>
            <a:r>
              <a:rPr sz="2559" b="1" spc="-106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559" b="1" spc="-9" dirty="0">
                <a:solidFill>
                  <a:srgbClr val="053DE8"/>
                </a:solidFill>
                <a:latin typeface="Calibri"/>
                <a:cs typeface="Calibri"/>
              </a:rPr>
              <a:t>memory</a:t>
            </a:r>
            <a:endParaRPr sz="2559" dirty="0">
              <a:latin typeface="Calibri"/>
              <a:cs typeface="Calibri"/>
            </a:endParaRPr>
          </a:p>
          <a:p>
            <a:pPr marL="11206" marR="4483">
              <a:spcBef>
                <a:spcPts val="565"/>
              </a:spcBef>
            </a:pP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Let</a:t>
            </a:r>
            <a:r>
              <a:rPr sz="2206" b="1" spc="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programs</a:t>
            </a:r>
            <a:r>
              <a:rPr sz="2206" b="1" spc="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address</a:t>
            </a:r>
            <a:r>
              <a:rPr sz="2206" b="1" spc="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2206" b="1" spc="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memory</a:t>
            </a:r>
            <a:r>
              <a:rPr sz="2206" b="1" spc="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space</a:t>
            </a:r>
            <a:r>
              <a:rPr sz="2206" b="1" spc="44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that</a:t>
            </a:r>
            <a:r>
              <a:rPr sz="2206" b="1" spc="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scales</a:t>
            </a:r>
            <a:r>
              <a:rPr sz="2206" b="1" spc="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2206" b="1" spc="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2206" b="1" spc="44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disk</a:t>
            </a:r>
            <a:r>
              <a:rPr sz="2206" b="1" spc="26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size,</a:t>
            </a:r>
            <a:r>
              <a:rPr sz="2206" b="1" spc="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spc="-22" dirty="0">
                <a:solidFill>
                  <a:srgbClr val="008000"/>
                </a:solidFill>
                <a:latin typeface="Calibri"/>
                <a:cs typeface="Calibri"/>
              </a:rPr>
              <a:t>at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2206" b="1" spc="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speed</a:t>
            </a:r>
            <a:r>
              <a:rPr sz="2206" b="1" spc="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that</a:t>
            </a:r>
            <a:r>
              <a:rPr sz="2206" b="1" spc="31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is</a:t>
            </a:r>
            <a:r>
              <a:rPr sz="2206" b="1" spc="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usually</a:t>
            </a:r>
            <a:r>
              <a:rPr sz="2206" b="1" spc="31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nearly</a:t>
            </a:r>
            <a:r>
              <a:rPr sz="2206" b="1" spc="31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as</a:t>
            </a:r>
            <a:r>
              <a:rPr sz="2206" b="1" spc="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fast</a:t>
            </a:r>
            <a:r>
              <a:rPr sz="2206" b="1" spc="31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as</a:t>
            </a:r>
            <a:r>
              <a:rPr sz="2206" b="1" spc="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008000"/>
                </a:solidFill>
                <a:latin typeface="Calibri"/>
                <a:cs typeface="Calibri"/>
              </a:rPr>
              <a:t>register</a:t>
            </a:r>
            <a:r>
              <a:rPr sz="2206" b="1" spc="22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206" b="1" spc="-9" dirty="0">
                <a:solidFill>
                  <a:srgbClr val="008000"/>
                </a:solidFill>
                <a:latin typeface="Calibri"/>
                <a:cs typeface="Calibri"/>
              </a:rPr>
              <a:t>access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17934" y="5975424"/>
            <a:ext cx="6046694" cy="52144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59955" marR="4483" indent="-49309">
              <a:lnSpc>
                <a:spcPct val="101099"/>
              </a:lnSpc>
              <a:spcBef>
                <a:spcPts val="66"/>
              </a:spcBef>
            </a:pPr>
            <a:r>
              <a:rPr sz="1677" b="1" dirty="0">
                <a:latin typeface="Calibri"/>
                <a:cs typeface="Calibri"/>
              </a:rPr>
              <a:t>iMac</a:t>
            </a:r>
            <a:r>
              <a:rPr sz="1677" b="1" spc="-13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G5</a:t>
            </a:r>
            <a:r>
              <a:rPr sz="1677" b="1" spc="-9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1.6</a:t>
            </a:r>
            <a:r>
              <a:rPr sz="1677" b="1" spc="-9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GHz</a:t>
            </a:r>
            <a:r>
              <a:rPr sz="1677" b="1" spc="-9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clock,</a:t>
            </a:r>
            <a:r>
              <a:rPr sz="1677" b="1" spc="-13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55</a:t>
            </a:r>
            <a:r>
              <a:rPr sz="1677" b="1" spc="-9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ns</a:t>
            </a:r>
            <a:r>
              <a:rPr sz="1677" b="1" spc="-9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DRAM</a:t>
            </a:r>
            <a:r>
              <a:rPr sz="1677" b="1" spc="-4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vs.</a:t>
            </a:r>
            <a:r>
              <a:rPr sz="1677" b="1" spc="-18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Apple</a:t>
            </a:r>
            <a:r>
              <a:rPr sz="1677" b="1" spc="-13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II</a:t>
            </a:r>
            <a:r>
              <a:rPr sz="1677" b="1" spc="-9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1</a:t>
            </a:r>
            <a:r>
              <a:rPr sz="1677" b="1" spc="-9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MHz,</a:t>
            </a:r>
            <a:r>
              <a:rPr sz="1677" b="1" spc="-13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400ns</a:t>
            </a:r>
            <a:r>
              <a:rPr sz="1677" b="1" spc="-9" dirty="0">
                <a:latin typeface="Calibri"/>
                <a:cs typeface="Calibri"/>
              </a:rPr>
              <a:t> </a:t>
            </a:r>
            <a:r>
              <a:rPr sz="1677" b="1" spc="-18" dirty="0">
                <a:latin typeface="Calibri"/>
                <a:cs typeface="Calibri"/>
              </a:rPr>
              <a:t>DRAM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Perform:</a:t>
            </a:r>
            <a:r>
              <a:rPr sz="1677" b="1" spc="-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CPU</a:t>
            </a:r>
            <a:r>
              <a:rPr sz="1677" b="1" spc="-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1600</a:t>
            </a:r>
            <a:r>
              <a:rPr sz="1677" b="1" spc="-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X,</a:t>
            </a:r>
            <a:r>
              <a:rPr sz="1677" b="1" spc="-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DRAM</a:t>
            </a:r>
            <a:r>
              <a:rPr sz="1677" b="1" spc="-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7.3</a:t>
            </a:r>
            <a:r>
              <a:rPr sz="1677" b="1" spc="-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X</a:t>
            </a:r>
            <a:r>
              <a:rPr sz="1677" b="1" spc="-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faster</a:t>
            </a:r>
            <a:r>
              <a:rPr sz="1677" b="1" spc="-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in</a:t>
            </a:r>
            <a:r>
              <a:rPr sz="1677" b="1" spc="-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27</a:t>
            </a:r>
            <a:r>
              <a:rPr sz="1677" b="1" spc="-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yrs</a:t>
            </a:r>
            <a:r>
              <a:rPr sz="1677" b="1" spc="-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=&gt;</a:t>
            </a:r>
            <a:r>
              <a:rPr sz="1677" b="1" spc="-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3366FF"/>
                </a:solidFill>
                <a:latin typeface="Calibri"/>
                <a:cs typeface="Calibri"/>
              </a:rPr>
              <a:t>2X/</a:t>
            </a:r>
            <a:r>
              <a:rPr sz="1677" b="1" spc="-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b="1" spc="-9" dirty="0">
                <a:solidFill>
                  <a:srgbClr val="3366FF"/>
                </a:solidFill>
                <a:latin typeface="Calibri"/>
                <a:cs typeface="Calibri"/>
              </a:rPr>
              <a:t>2.5y,</a:t>
            </a:r>
            <a:r>
              <a:rPr sz="1677" b="1" spc="-18" dirty="0">
                <a:solidFill>
                  <a:srgbClr val="3366FF"/>
                </a:solidFill>
                <a:latin typeface="Calibri"/>
                <a:cs typeface="Calibri"/>
              </a:rPr>
              <a:t> 9.3y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626D5B10-EC9A-9F20-770F-B738D8592D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52687" y="6346231"/>
            <a:ext cx="415296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15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4575" y="220454"/>
            <a:ext cx="878073" cy="9912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91" y="554119"/>
            <a:ext cx="7000622" cy="603332"/>
          </a:xfrm>
          <a:prstGeom prst="rect">
            <a:avLst/>
          </a:prstGeom>
        </p:spPr>
        <p:txBody>
          <a:bodyPr vert="horz" wrap="square" lIns="0" tIns="140297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iMac’s</a:t>
            </a:r>
            <a:r>
              <a:rPr spc="-53" dirty="0"/>
              <a:t> </a:t>
            </a:r>
            <a:r>
              <a:rPr dirty="0"/>
              <a:t>PowerPC</a:t>
            </a:r>
            <a:r>
              <a:rPr spc="-44" dirty="0"/>
              <a:t> </a:t>
            </a:r>
            <a:r>
              <a:rPr dirty="0"/>
              <a:t>970</a:t>
            </a:r>
            <a:r>
              <a:rPr spc="-44" dirty="0"/>
              <a:t> </a:t>
            </a:r>
            <a:r>
              <a:rPr dirty="0"/>
              <a:t>(G5):</a:t>
            </a:r>
            <a:r>
              <a:rPr spc="-44" dirty="0"/>
              <a:t> </a:t>
            </a:r>
            <a:r>
              <a:rPr dirty="0"/>
              <a:t>All</a:t>
            </a:r>
            <a:r>
              <a:rPr spc="-44" dirty="0"/>
              <a:t> </a:t>
            </a:r>
            <a:r>
              <a:rPr dirty="0"/>
              <a:t>caches</a:t>
            </a:r>
            <a:r>
              <a:rPr spc="-49" dirty="0"/>
              <a:t> </a:t>
            </a:r>
            <a:r>
              <a:rPr spc="-9" dirty="0"/>
              <a:t>on-</a:t>
            </a:r>
            <a:r>
              <a:rPr spc="-18" dirty="0"/>
              <a:t>chip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18236" y="1663138"/>
            <a:ext cx="5992905" cy="4328832"/>
            <a:chOff x="1794934" y="1884890"/>
            <a:chExt cx="6791959" cy="490601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4934" y="1884890"/>
              <a:ext cx="6791959" cy="49057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2946" y="2666999"/>
              <a:ext cx="1270635" cy="791845"/>
            </a:xfrm>
            <a:custGeom>
              <a:avLst/>
              <a:gdLst/>
              <a:ahLst/>
              <a:cxnLst/>
              <a:rect l="l" t="t" r="r" b="b"/>
              <a:pathLst>
                <a:path w="1270635" h="791845">
                  <a:moveTo>
                    <a:pt x="0" y="0"/>
                  </a:moveTo>
                  <a:lnTo>
                    <a:pt x="1270123" y="0"/>
                  </a:lnTo>
                  <a:lnTo>
                    <a:pt x="1270123" y="791721"/>
                  </a:lnTo>
                  <a:lnTo>
                    <a:pt x="0" y="791721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FBB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1819158" y="5335270"/>
              <a:ext cx="1270635" cy="791845"/>
            </a:xfrm>
            <a:custGeom>
              <a:avLst/>
              <a:gdLst/>
              <a:ahLst/>
              <a:cxnLst/>
              <a:rect l="l" t="t" r="r" b="b"/>
              <a:pathLst>
                <a:path w="1270635" h="791845">
                  <a:moveTo>
                    <a:pt x="0" y="0"/>
                  </a:moveTo>
                  <a:lnTo>
                    <a:pt x="1270123" y="0"/>
                  </a:lnTo>
                  <a:lnTo>
                    <a:pt x="1270123" y="791721"/>
                  </a:lnTo>
                  <a:lnTo>
                    <a:pt x="0" y="791721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FBB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71981" y="2359959"/>
            <a:ext cx="1024778" cy="54992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algn="ctr">
              <a:lnSpc>
                <a:spcPts val="2074"/>
              </a:lnSpc>
              <a:spcBef>
                <a:spcPts val="88"/>
              </a:spcBef>
            </a:pPr>
            <a:r>
              <a:rPr sz="1853" b="1" dirty="0">
                <a:solidFill>
                  <a:srgbClr val="053DE8"/>
                </a:solidFill>
                <a:latin typeface="Arial"/>
                <a:cs typeface="Arial"/>
              </a:rPr>
              <a:t>1/2</a:t>
            </a:r>
            <a:r>
              <a:rPr sz="1853" b="1" spc="18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853" b="1" spc="-22" dirty="0">
                <a:solidFill>
                  <a:srgbClr val="053DE8"/>
                </a:solidFill>
                <a:latin typeface="Arial"/>
                <a:cs typeface="Arial"/>
              </a:rPr>
              <a:t>KB</a:t>
            </a:r>
            <a:endParaRPr sz="1853">
              <a:latin typeface="Arial"/>
              <a:cs typeface="Arial"/>
            </a:endParaRPr>
          </a:p>
          <a:p>
            <a:pPr algn="ctr">
              <a:lnSpc>
                <a:spcPts val="2074"/>
              </a:lnSpc>
            </a:pPr>
            <a:r>
              <a:rPr sz="1853" b="1" spc="-9" dirty="0">
                <a:solidFill>
                  <a:srgbClr val="053DE8"/>
                </a:solidFill>
                <a:latin typeface="Arial"/>
                <a:cs typeface="Arial"/>
              </a:rPr>
              <a:t>registers</a:t>
            </a:r>
            <a:endParaRPr sz="185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639" y="4713194"/>
            <a:ext cx="1024778" cy="54992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algn="ctr">
              <a:lnSpc>
                <a:spcPts val="2087"/>
              </a:lnSpc>
              <a:spcBef>
                <a:spcPts val="88"/>
              </a:spcBef>
            </a:pPr>
            <a:r>
              <a:rPr sz="1853" b="1" dirty="0">
                <a:solidFill>
                  <a:srgbClr val="053DE8"/>
                </a:solidFill>
                <a:latin typeface="Arial"/>
                <a:cs typeface="Arial"/>
              </a:rPr>
              <a:t>1/2</a:t>
            </a:r>
            <a:r>
              <a:rPr sz="1853" b="1" spc="18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853" b="1" spc="-22" dirty="0">
                <a:solidFill>
                  <a:srgbClr val="053DE8"/>
                </a:solidFill>
                <a:latin typeface="Arial"/>
                <a:cs typeface="Arial"/>
              </a:rPr>
              <a:t>KB</a:t>
            </a:r>
            <a:endParaRPr sz="1853">
              <a:latin typeface="Arial"/>
              <a:cs typeface="Arial"/>
            </a:endParaRPr>
          </a:p>
          <a:p>
            <a:pPr algn="ctr">
              <a:lnSpc>
                <a:spcPts val="2087"/>
              </a:lnSpc>
            </a:pPr>
            <a:r>
              <a:rPr sz="1853" b="1" spc="-9" dirty="0">
                <a:solidFill>
                  <a:srgbClr val="053DE8"/>
                </a:solidFill>
                <a:latin typeface="Arial"/>
                <a:cs typeface="Arial"/>
              </a:rPr>
              <a:t>registers</a:t>
            </a:r>
            <a:endParaRPr sz="1853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516" y="5977218"/>
            <a:ext cx="1923490" cy="3778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382" b="1" dirty="0">
                <a:solidFill>
                  <a:srgbClr val="053DE8"/>
                </a:solidFill>
                <a:latin typeface="Arial"/>
                <a:cs typeface="Arial"/>
              </a:rPr>
              <a:t>L1</a:t>
            </a:r>
            <a:r>
              <a:rPr sz="2382" b="1" spc="-97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2382" b="1" dirty="0">
                <a:solidFill>
                  <a:srgbClr val="053DE8"/>
                </a:solidFill>
                <a:latin typeface="Arial"/>
                <a:cs typeface="Arial"/>
              </a:rPr>
              <a:t>(32K</a:t>
            </a:r>
            <a:r>
              <a:rPr sz="2382" b="1" spc="-110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2382" b="1" spc="-18" dirty="0">
                <a:solidFill>
                  <a:srgbClr val="053DE8"/>
                </a:solidFill>
                <a:latin typeface="Arial"/>
                <a:cs typeface="Arial"/>
              </a:rPr>
              <a:t>Data)</a:t>
            </a:r>
            <a:endParaRPr sz="2382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17521" y="1888013"/>
            <a:ext cx="3054163" cy="3908051"/>
            <a:chOff x="5307457" y="2139747"/>
            <a:chExt cx="3461385" cy="4429125"/>
          </a:xfrm>
        </p:grpSpPr>
        <p:sp>
          <p:nvSpPr>
            <p:cNvPr id="12" name="object 12"/>
            <p:cNvSpPr/>
            <p:nvPr/>
          </p:nvSpPr>
          <p:spPr>
            <a:xfrm>
              <a:off x="5327671" y="5058324"/>
              <a:ext cx="1029335" cy="1235075"/>
            </a:xfrm>
            <a:custGeom>
              <a:avLst/>
              <a:gdLst/>
              <a:ahLst/>
              <a:cxnLst/>
              <a:rect l="l" t="t" r="r" b="b"/>
              <a:pathLst>
                <a:path w="1029335" h="1235075">
                  <a:moveTo>
                    <a:pt x="0" y="0"/>
                  </a:moveTo>
                  <a:lnTo>
                    <a:pt x="1029237" y="0"/>
                  </a:lnTo>
                  <a:lnTo>
                    <a:pt x="1029237" y="1234748"/>
                  </a:lnTo>
                  <a:lnTo>
                    <a:pt x="0" y="1234748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FBB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5327671" y="2159961"/>
              <a:ext cx="1156970" cy="1477645"/>
            </a:xfrm>
            <a:custGeom>
              <a:avLst/>
              <a:gdLst/>
              <a:ahLst/>
              <a:cxnLst/>
              <a:rect l="l" t="t" r="r" b="b"/>
              <a:pathLst>
                <a:path w="1156970" h="1477645">
                  <a:moveTo>
                    <a:pt x="0" y="0"/>
                  </a:moveTo>
                  <a:lnTo>
                    <a:pt x="1156948" y="0"/>
                  </a:lnTo>
                  <a:lnTo>
                    <a:pt x="1156948" y="1477318"/>
                  </a:lnTo>
                  <a:lnTo>
                    <a:pt x="0" y="1477318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FBB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7268231" y="2181860"/>
              <a:ext cx="1480820" cy="4366260"/>
            </a:xfrm>
            <a:custGeom>
              <a:avLst/>
              <a:gdLst/>
              <a:ahLst/>
              <a:cxnLst/>
              <a:rect l="l" t="t" r="r" b="b"/>
              <a:pathLst>
                <a:path w="1480820" h="4366259">
                  <a:moveTo>
                    <a:pt x="0" y="0"/>
                  </a:moveTo>
                  <a:lnTo>
                    <a:pt x="1480375" y="0"/>
                  </a:lnTo>
                  <a:lnTo>
                    <a:pt x="1480375" y="4366259"/>
                  </a:lnTo>
                  <a:lnTo>
                    <a:pt x="0" y="4366259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FBB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26875" y="1233096"/>
            <a:ext cx="2813237" cy="3778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382" b="1" dirty="0">
                <a:solidFill>
                  <a:srgbClr val="053DE8"/>
                </a:solidFill>
                <a:latin typeface="Arial"/>
                <a:cs typeface="Arial"/>
              </a:rPr>
              <a:t>L1</a:t>
            </a:r>
            <a:r>
              <a:rPr sz="2382" b="1" spc="-97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2382" b="1" dirty="0">
                <a:solidFill>
                  <a:srgbClr val="053DE8"/>
                </a:solidFill>
                <a:latin typeface="Arial"/>
                <a:cs typeface="Arial"/>
              </a:rPr>
              <a:t>(64K</a:t>
            </a:r>
            <a:r>
              <a:rPr sz="2382" b="1" spc="-110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2382" b="1" spc="-18" dirty="0">
                <a:solidFill>
                  <a:srgbClr val="053DE8"/>
                </a:solidFill>
                <a:latin typeface="Arial"/>
                <a:cs typeface="Arial"/>
              </a:rPr>
              <a:t>Instruction)</a:t>
            </a:r>
            <a:endParaRPr sz="2382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12713" y="3403516"/>
            <a:ext cx="939935" cy="863841"/>
          </a:xfrm>
          <a:prstGeom prst="rect">
            <a:avLst/>
          </a:prstGeom>
        </p:spPr>
        <p:txBody>
          <a:bodyPr vert="horz" wrap="square" lIns="0" tIns="129428" rIns="0" bIns="0" rtlCol="0">
            <a:spAutoFit/>
          </a:bodyPr>
          <a:lstStyle/>
          <a:p>
            <a:pPr marL="11206" marR="4483" indent="180984">
              <a:spcBef>
                <a:spcPts val="1019"/>
              </a:spcBef>
            </a:pPr>
            <a:r>
              <a:rPr sz="2382" b="1" spc="-22" dirty="0">
                <a:solidFill>
                  <a:srgbClr val="053DE8"/>
                </a:solidFill>
                <a:latin typeface="Arial"/>
                <a:cs typeface="Arial"/>
              </a:rPr>
              <a:t>L2 </a:t>
            </a:r>
            <a:r>
              <a:rPr sz="2382" b="1" spc="-40" dirty="0">
                <a:solidFill>
                  <a:srgbClr val="053DE8"/>
                </a:solidFill>
                <a:latin typeface="Arial"/>
                <a:cs typeface="Arial"/>
              </a:rPr>
              <a:t>512K</a:t>
            </a:r>
            <a:endParaRPr sz="2382" dirty="0">
              <a:latin typeface="Arial"/>
              <a:cs typeface="Arial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9583FBD-B7FC-9551-1742-04B84477E1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0533" y="6346231"/>
            <a:ext cx="36745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16</a:t>
            </a:fld>
            <a:endParaRPr lang="en-US" spc="-4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794" y="1211728"/>
            <a:ext cx="7193864" cy="53466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092519" y="1006287"/>
            <a:ext cx="4108637" cy="16071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971" i="1" dirty="0">
                <a:latin typeface="Arial"/>
                <a:cs typeface="Arial"/>
              </a:rPr>
              <a:t>Source:</a:t>
            </a:r>
            <a:r>
              <a:rPr sz="971" i="1" spc="224" dirty="0">
                <a:latin typeface="Arial"/>
                <a:cs typeface="Arial"/>
              </a:rPr>
              <a:t> </a:t>
            </a:r>
            <a:r>
              <a:rPr sz="971" i="1" dirty="0">
                <a:latin typeface="Arial"/>
                <a:cs typeface="Arial"/>
              </a:rPr>
              <a:t>https://locuza.substack.com/p/info-snack-alder-lake-m-raptor-</a:t>
            </a:r>
            <a:r>
              <a:rPr sz="971" i="1" spc="-18" dirty="0">
                <a:latin typeface="Arial"/>
                <a:cs typeface="Arial"/>
              </a:rPr>
              <a:t>lake</a:t>
            </a:r>
            <a:endParaRPr sz="97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7489" y="282835"/>
            <a:ext cx="4419040" cy="5378824"/>
            <a:chOff x="196087" y="320547"/>
            <a:chExt cx="5008245" cy="6096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2791" y="323595"/>
              <a:ext cx="1658112" cy="16367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07628" y="363035"/>
              <a:ext cx="1534795" cy="1514475"/>
            </a:xfrm>
            <a:custGeom>
              <a:avLst/>
              <a:gdLst/>
              <a:ahLst/>
              <a:cxnLst/>
              <a:rect l="l" t="t" r="r" b="b"/>
              <a:pathLst>
                <a:path w="1534795" h="1514475">
                  <a:moveTo>
                    <a:pt x="1534396" y="1514202"/>
                  </a:moveTo>
                  <a:lnTo>
                    <a:pt x="0" y="0"/>
                  </a:lnTo>
                </a:path>
              </a:pathLst>
            </a:custGeom>
            <a:ln w="40428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2791" y="3978147"/>
              <a:ext cx="1661160" cy="24384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607628" y="4009595"/>
              <a:ext cx="1534795" cy="2318385"/>
            </a:xfrm>
            <a:custGeom>
              <a:avLst/>
              <a:gdLst/>
              <a:ahLst/>
              <a:cxnLst/>
              <a:rect l="l" t="t" r="r" b="b"/>
              <a:pathLst>
                <a:path w="1534795" h="2318385">
                  <a:moveTo>
                    <a:pt x="1534396" y="0"/>
                  </a:moveTo>
                  <a:lnTo>
                    <a:pt x="0" y="2318132"/>
                  </a:lnTo>
                </a:path>
              </a:pathLst>
            </a:custGeom>
            <a:ln w="40428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087" y="320547"/>
              <a:ext cx="3867912" cy="16062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1309" y="360147"/>
              <a:ext cx="3751579" cy="1481455"/>
            </a:xfrm>
            <a:custGeom>
              <a:avLst/>
              <a:gdLst/>
              <a:ahLst/>
              <a:cxnLst/>
              <a:rect l="l" t="t" r="r" b="b"/>
              <a:pathLst>
                <a:path w="3751579" h="1481455">
                  <a:moveTo>
                    <a:pt x="3750987" y="1480880"/>
                  </a:moveTo>
                  <a:lnTo>
                    <a:pt x="0" y="0"/>
                  </a:lnTo>
                </a:path>
              </a:pathLst>
            </a:custGeom>
            <a:ln w="40428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6087" y="3935476"/>
              <a:ext cx="3870960" cy="24810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1309" y="3973385"/>
              <a:ext cx="3751579" cy="2354580"/>
            </a:xfrm>
            <a:custGeom>
              <a:avLst/>
              <a:gdLst/>
              <a:ahLst/>
              <a:cxnLst/>
              <a:rect l="l" t="t" r="r" b="b"/>
              <a:pathLst>
                <a:path w="3751579" h="2354579">
                  <a:moveTo>
                    <a:pt x="3750987" y="0"/>
                  </a:moveTo>
                  <a:lnTo>
                    <a:pt x="0" y="2354343"/>
                  </a:lnTo>
                </a:path>
              </a:pathLst>
            </a:custGeom>
            <a:ln w="40428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1309" y="363035"/>
              <a:ext cx="3346317" cy="6023371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602411" y="203274"/>
            <a:ext cx="4174191" cy="799050"/>
          </a:xfrm>
          <a:prstGeom prst="rect">
            <a:avLst/>
          </a:prstGeom>
        </p:spPr>
        <p:txBody>
          <a:bodyPr vert="horz" wrap="square" lIns="0" tIns="42022" rIns="0" bIns="0" rtlCol="0">
            <a:spAutoFit/>
          </a:bodyPr>
          <a:lstStyle/>
          <a:p>
            <a:pPr marL="2097293">
              <a:spcBef>
                <a:spcPts val="331"/>
              </a:spcBef>
            </a:pPr>
            <a:r>
              <a:rPr sz="1500" i="1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1500" i="1" spc="-10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i="1" dirty="0">
                <a:solidFill>
                  <a:srgbClr val="000000"/>
                </a:solidFill>
                <a:latin typeface="Arial"/>
                <a:cs typeface="Arial"/>
              </a:rPr>
              <a:t>floorplan</a:t>
            </a:r>
            <a:r>
              <a:rPr sz="1500" i="1" spc="-4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i="1" spc="-9" dirty="0">
                <a:solidFill>
                  <a:srgbClr val="000000"/>
                </a:solidFill>
                <a:latin typeface="Arial"/>
                <a:cs typeface="Arial"/>
              </a:rPr>
              <a:t>interpretation</a:t>
            </a:r>
            <a:endParaRPr sz="1500">
              <a:latin typeface="Arial"/>
              <a:cs typeface="Arial"/>
            </a:endParaRPr>
          </a:p>
          <a:p>
            <a:pPr marL="11206">
              <a:spcBef>
                <a:spcPts val="494"/>
              </a:spcBef>
            </a:pPr>
            <a:r>
              <a:rPr dirty="0"/>
              <a:t>Intel</a:t>
            </a:r>
            <a:r>
              <a:rPr spc="-22" dirty="0"/>
              <a:t> </a:t>
            </a:r>
            <a:r>
              <a:rPr dirty="0"/>
              <a:t>Alder</a:t>
            </a:r>
            <a:r>
              <a:rPr spc="-26" dirty="0"/>
              <a:t> </a:t>
            </a:r>
            <a:r>
              <a:rPr dirty="0"/>
              <a:t>Lake</a:t>
            </a:r>
            <a:r>
              <a:rPr spc="-26" dirty="0"/>
              <a:t> </a:t>
            </a:r>
            <a:r>
              <a:rPr spc="-9" dirty="0"/>
              <a:t>(2022)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D161319-50E0-E19C-485E-C2A57295E9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11822" y="6346231"/>
            <a:ext cx="3561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17</a:t>
            </a:fld>
            <a:endParaRPr lang="en-US" spc="-4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FA457-8E4E-657B-A65C-6ED036685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33CBCD-63FE-38AA-B6F6-9EE11D75A1C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9588" y="1875865"/>
            <a:ext cx="6858000" cy="8577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4377"/>
              </a:lnSpc>
              <a:spcBef>
                <a:spcPts val="88"/>
              </a:spcBef>
            </a:pPr>
            <a:r>
              <a:rPr sz="3706" b="1" dirty="0">
                <a:latin typeface="Arial"/>
                <a:cs typeface="Arial"/>
              </a:rPr>
              <a:t>MEMORY</a:t>
            </a:r>
            <a:r>
              <a:rPr sz="3706" b="1" spc="150" dirty="0">
                <a:latin typeface="Arial"/>
                <a:cs typeface="Arial"/>
              </a:rPr>
              <a:t> </a:t>
            </a:r>
            <a:r>
              <a:rPr sz="3706" b="1" spc="-9" dirty="0">
                <a:latin typeface="Arial"/>
                <a:cs typeface="Arial"/>
              </a:rPr>
              <a:t>HIERARCHY</a:t>
            </a:r>
            <a:endParaRPr sz="3706" dirty="0">
              <a:latin typeface="Arial"/>
              <a:cs typeface="Arial"/>
            </a:endParaRPr>
          </a:p>
          <a:p>
            <a:pPr marL="11206">
              <a:lnSpc>
                <a:spcPts val="2153"/>
              </a:lnSpc>
            </a:pPr>
            <a:r>
              <a:rPr lang="en-US" sz="1853" b="1" dirty="0">
                <a:latin typeface="Arial"/>
                <a:cs typeface="Arial"/>
              </a:rPr>
              <a:t>-</a:t>
            </a:r>
            <a:r>
              <a:rPr lang="en-US" sz="1853" b="1" spc="40" dirty="0">
                <a:latin typeface="Arial"/>
                <a:cs typeface="Arial"/>
              </a:rPr>
              <a:t> </a:t>
            </a:r>
            <a:r>
              <a:rPr lang="en-US" sz="1853" b="1" spc="-44" dirty="0">
                <a:latin typeface="Arial"/>
                <a:cs typeface="Arial"/>
              </a:rPr>
              <a:t>Chapter 2 and Appendix B</a:t>
            </a:r>
            <a:endParaRPr sz="1853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9B7DCF4-29F0-2B0A-210F-C0780E8FEC3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394548" y="6265661"/>
            <a:ext cx="264526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18</a:t>
            </a:fld>
            <a:endParaRPr spc="-22" dirty="0"/>
          </a:p>
        </p:txBody>
      </p:sp>
    </p:spTree>
    <p:extLst>
      <p:ext uri="{BB962C8B-B14F-4D97-AF65-F5344CB8AC3E}">
        <p14:creationId xmlns:p14="http://schemas.microsoft.com/office/powerpoint/2010/main" val="2027624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937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The</a:t>
            </a:r>
            <a:r>
              <a:rPr spc="-9" dirty="0"/>
              <a:t> </a:t>
            </a:r>
            <a:r>
              <a:rPr dirty="0"/>
              <a:t>Principle</a:t>
            </a:r>
            <a:r>
              <a:rPr spc="-9" dirty="0"/>
              <a:t> </a:t>
            </a:r>
            <a:r>
              <a:rPr dirty="0"/>
              <a:t>of</a:t>
            </a:r>
            <a:r>
              <a:rPr spc="-4" dirty="0"/>
              <a:t> </a:t>
            </a:r>
            <a:r>
              <a:rPr spc="-9" dirty="0"/>
              <a:t>Locality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191346" y="6425995"/>
            <a:ext cx="478520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spc="-44" dirty="0"/>
              <a:pPr marL="139521">
                <a:lnSpc>
                  <a:spcPts val="1747"/>
                </a:lnSpc>
              </a:pPr>
              <a:t>19</a:t>
            </a:fld>
            <a:endParaRPr spc="-44" dirty="0"/>
          </a:p>
        </p:txBody>
      </p:sp>
      <p:sp>
        <p:nvSpPr>
          <p:cNvPr id="3" name="object 3"/>
          <p:cNvSpPr txBox="1"/>
          <p:nvPr/>
        </p:nvSpPr>
        <p:spPr>
          <a:xfrm>
            <a:off x="824089" y="1226112"/>
            <a:ext cx="8161867" cy="5156616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279602" indent="-268395">
              <a:spcBef>
                <a:spcPts val="671"/>
              </a:spcBef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Principle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Locality</a:t>
            </a:r>
            <a:endParaRPr sz="2400" dirty="0">
              <a:latin typeface="Calibri"/>
              <a:cs typeface="Calibri"/>
            </a:endParaRPr>
          </a:p>
          <a:p>
            <a:pPr marL="654458" marR="304256" lvl="1" indent="-213483">
              <a:spcBef>
                <a:spcPts val="613"/>
              </a:spcBef>
              <a:spcAft>
                <a:spcPts val="600"/>
              </a:spcAft>
              <a:buChar char="–"/>
              <a:tabLst>
                <a:tab pos="656139" algn="l"/>
              </a:tabLst>
            </a:pP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Program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access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a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relatively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small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portion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of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the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address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space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at</a:t>
            </a:r>
            <a:r>
              <a:rPr sz="21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spc="-22" dirty="0">
                <a:solidFill>
                  <a:srgbClr val="000066"/>
                </a:solidFill>
                <a:latin typeface="Calibri"/>
                <a:cs typeface="Calibri"/>
              </a:rPr>
              <a:t>any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instant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of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spc="-18" dirty="0">
                <a:solidFill>
                  <a:srgbClr val="000066"/>
                </a:solidFill>
                <a:latin typeface="Calibri"/>
                <a:cs typeface="Calibri"/>
              </a:rPr>
              <a:t>time.</a:t>
            </a:r>
            <a:endParaRPr sz="2100" dirty="0">
              <a:solidFill>
                <a:srgbClr val="000066"/>
              </a:solidFill>
              <a:latin typeface="Calibri"/>
              <a:cs typeface="Calibri"/>
            </a:endParaRPr>
          </a:p>
          <a:p>
            <a:pPr marL="279602" indent="-268395">
              <a:spcBef>
                <a:spcPts val="405"/>
              </a:spcBef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Two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Different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Locality</a:t>
            </a:r>
            <a:endParaRPr sz="2400" dirty="0">
              <a:latin typeface="Calibri"/>
              <a:cs typeface="Calibri"/>
            </a:endParaRPr>
          </a:p>
          <a:p>
            <a:pPr marL="654458" marR="17370" lvl="1" indent="-213483">
              <a:spcBef>
                <a:spcPts val="702"/>
              </a:spcBef>
              <a:spcAft>
                <a:spcPts val="600"/>
              </a:spcAft>
              <a:buFont typeface="Calibri"/>
              <a:buChar char="–"/>
              <a:tabLst>
                <a:tab pos="656139" algn="l"/>
              </a:tabLst>
            </a:pPr>
            <a:r>
              <a:rPr sz="2100" b="1" dirty="0">
                <a:solidFill>
                  <a:srgbClr val="FF0000"/>
                </a:solidFill>
                <a:latin typeface="Calibri"/>
                <a:cs typeface="Calibri"/>
              </a:rPr>
              <a:t>Temporal</a:t>
            </a:r>
            <a:r>
              <a:rPr sz="2100" b="1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FF0000"/>
                </a:solidFill>
                <a:latin typeface="Calibri"/>
                <a:cs typeface="Calibri"/>
              </a:rPr>
              <a:t>Locality</a:t>
            </a:r>
            <a:r>
              <a:rPr sz="2100" b="1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(Locality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in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Time):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If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an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item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is</a:t>
            </a:r>
            <a:r>
              <a:rPr sz="21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referenced,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it</a:t>
            </a:r>
            <a:r>
              <a:rPr sz="21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will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spc="-18" dirty="0">
                <a:solidFill>
                  <a:srgbClr val="000066"/>
                </a:solidFill>
                <a:latin typeface="Calibri"/>
                <a:cs typeface="Calibri"/>
              </a:rPr>
              <a:t>tend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to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be</a:t>
            </a:r>
            <a:r>
              <a:rPr sz="2100" spc="26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referenced</a:t>
            </a:r>
            <a:r>
              <a:rPr sz="2100" spc="26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again</a:t>
            </a:r>
            <a:r>
              <a:rPr sz="2100" spc="26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soon</a:t>
            </a:r>
            <a:r>
              <a:rPr sz="2100" spc="26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(e.g.,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loops,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spc="-9" dirty="0">
                <a:solidFill>
                  <a:srgbClr val="000066"/>
                </a:solidFill>
                <a:latin typeface="Calibri"/>
                <a:cs typeface="Calibri"/>
              </a:rPr>
              <a:t>reuse)</a:t>
            </a:r>
            <a:endParaRPr sz="2100" dirty="0">
              <a:solidFill>
                <a:srgbClr val="000066"/>
              </a:solidFill>
              <a:latin typeface="Calibri"/>
              <a:cs typeface="Calibri"/>
            </a:endParaRPr>
          </a:p>
          <a:p>
            <a:pPr marL="654458" marR="4483" lvl="1" indent="-213483">
              <a:spcBef>
                <a:spcPts val="512"/>
              </a:spcBef>
              <a:buFont typeface="Calibri"/>
              <a:buChar char="–"/>
              <a:tabLst>
                <a:tab pos="656139" algn="l"/>
              </a:tabLst>
            </a:pPr>
            <a:r>
              <a:rPr sz="2100" b="1" dirty="0">
                <a:solidFill>
                  <a:srgbClr val="FF0000"/>
                </a:solidFill>
                <a:latin typeface="Calibri"/>
                <a:cs typeface="Calibri"/>
              </a:rPr>
              <a:t>Spatial Locality</a:t>
            </a:r>
            <a:r>
              <a:rPr sz="2100" b="1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(Locality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in</a:t>
            </a:r>
            <a:r>
              <a:rPr sz="2100" spc="22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Space):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If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an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item</a:t>
            </a:r>
            <a:r>
              <a:rPr sz="2100" spc="22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is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referenced,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items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spc="-9" dirty="0">
                <a:solidFill>
                  <a:srgbClr val="000066"/>
                </a:solidFill>
                <a:latin typeface="Calibri"/>
                <a:cs typeface="Calibri"/>
              </a:rPr>
              <a:t>whose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addresses are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close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by</a:t>
            </a:r>
            <a:r>
              <a:rPr sz="21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tend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to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be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referenced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spc="-18" dirty="0">
                <a:solidFill>
                  <a:srgbClr val="000066"/>
                </a:solidFill>
                <a:latin typeface="Calibri"/>
                <a:cs typeface="Calibri"/>
              </a:rPr>
              <a:t>soon</a:t>
            </a:r>
            <a:endParaRPr sz="2100" dirty="0">
              <a:solidFill>
                <a:srgbClr val="000066"/>
              </a:solidFill>
              <a:latin typeface="Calibri"/>
              <a:cs typeface="Calibri"/>
            </a:endParaRPr>
          </a:p>
          <a:p>
            <a:pPr marL="656139">
              <a:spcAft>
                <a:spcPts val="1800"/>
              </a:spcAft>
            </a:pP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(e.g.,</a:t>
            </a:r>
            <a:r>
              <a:rPr sz="21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straightline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code,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array</a:t>
            </a:r>
            <a:r>
              <a:rPr sz="21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spc="-9" dirty="0">
                <a:solidFill>
                  <a:srgbClr val="000066"/>
                </a:solidFill>
                <a:latin typeface="Calibri"/>
                <a:cs typeface="Calibri"/>
              </a:rPr>
              <a:t>access)</a:t>
            </a:r>
            <a:endParaRPr sz="2100" dirty="0">
              <a:solidFill>
                <a:srgbClr val="000066"/>
              </a:solidFill>
              <a:latin typeface="Calibri"/>
              <a:cs typeface="Calibri"/>
            </a:endParaRPr>
          </a:p>
          <a:p>
            <a:pPr marL="280162" marR="228052" indent="-268956">
              <a:buChar char="•"/>
              <a:tabLst>
                <a:tab pos="280162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property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programs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exploited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machine design.</a:t>
            </a:r>
            <a:endParaRPr sz="2400" dirty="0">
              <a:latin typeface="Calibri"/>
              <a:cs typeface="Calibri"/>
            </a:endParaRPr>
          </a:p>
          <a:p>
            <a:pPr marL="654458" marR="230293" lvl="1" indent="-213483">
              <a:spcBef>
                <a:spcPts val="547"/>
              </a:spcBef>
              <a:buChar char="–"/>
              <a:tabLst>
                <a:tab pos="656139" algn="l"/>
              </a:tabLst>
            </a:pP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For</a:t>
            </a:r>
            <a:r>
              <a:rPr sz="21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last</a:t>
            </a:r>
            <a:r>
              <a:rPr sz="21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3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decades,</a:t>
            </a:r>
            <a:r>
              <a:rPr sz="21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HW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has</a:t>
            </a:r>
            <a:r>
              <a:rPr sz="21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relied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on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locality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for</a:t>
            </a:r>
            <a:r>
              <a:rPr sz="2100" spc="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speed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by</a:t>
            </a:r>
            <a:r>
              <a:rPr sz="2100" spc="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using</a:t>
            </a:r>
            <a:r>
              <a:rPr sz="2100" spc="1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spc="-18" dirty="0">
                <a:solidFill>
                  <a:srgbClr val="000066"/>
                </a:solidFill>
                <a:latin typeface="Calibri"/>
                <a:cs typeface="Calibri"/>
              </a:rPr>
              <a:t>fast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cache</a:t>
            </a:r>
            <a:r>
              <a:rPr sz="2100" spc="26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copies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of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memory</a:t>
            </a:r>
            <a:r>
              <a:rPr sz="2100" spc="22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parts</a:t>
            </a:r>
            <a:r>
              <a:rPr sz="2100" spc="18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to</a:t>
            </a:r>
            <a:r>
              <a:rPr sz="2100" spc="22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lower</a:t>
            </a:r>
            <a:r>
              <a:rPr lang="en-US" sz="2100" spc="18" dirty="0">
                <a:solidFill>
                  <a:srgbClr val="000066"/>
                </a:solidFill>
                <a:latin typeface="Calibri"/>
                <a:cs typeface="Calibri"/>
              </a:rPr>
              <a:t> the </a:t>
            </a:r>
            <a:br>
              <a:rPr lang="en-US" sz="2100" spc="18" dirty="0">
                <a:solidFill>
                  <a:srgbClr val="000066"/>
                </a:solidFill>
                <a:latin typeface="Calibri"/>
                <a:cs typeface="Calibri"/>
              </a:rPr>
            </a:br>
            <a:r>
              <a:rPr sz="2100" b="1" dirty="0">
                <a:solidFill>
                  <a:srgbClr val="0066FF"/>
                </a:solidFill>
                <a:latin typeface="Calibri"/>
                <a:cs typeface="Calibri"/>
              </a:rPr>
              <a:t>Average</a:t>
            </a:r>
            <a:r>
              <a:rPr sz="2100" b="1" spc="31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66FF"/>
                </a:solidFill>
                <a:latin typeface="Calibri"/>
                <a:cs typeface="Calibri"/>
              </a:rPr>
              <a:t>Memory</a:t>
            </a:r>
            <a:r>
              <a:rPr sz="2100" b="1" spc="18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66FF"/>
                </a:solidFill>
                <a:latin typeface="Calibri"/>
                <a:cs typeface="Calibri"/>
              </a:rPr>
              <a:t>Access</a:t>
            </a:r>
            <a:r>
              <a:rPr sz="2100" b="1" spc="18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100" b="1" spc="-18" dirty="0">
                <a:solidFill>
                  <a:srgbClr val="0066FF"/>
                </a:solidFill>
                <a:latin typeface="Calibri"/>
                <a:cs typeface="Calibri"/>
              </a:rPr>
              <a:t>Time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66FF"/>
                </a:solidFill>
                <a:latin typeface="Calibri"/>
                <a:cs typeface="Calibri"/>
              </a:rPr>
              <a:t>(AMAT)</a:t>
            </a:r>
            <a:r>
              <a:rPr sz="2100" b="1" spc="22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66"/>
                </a:solidFill>
                <a:latin typeface="Calibri"/>
                <a:cs typeface="Calibri"/>
              </a:rPr>
              <a:t>for</a:t>
            </a:r>
            <a:r>
              <a:rPr sz="2100" spc="22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100" spc="-9" dirty="0">
                <a:solidFill>
                  <a:srgbClr val="000066"/>
                </a:solidFill>
                <a:latin typeface="Calibri"/>
                <a:cs typeface="Calibri"/>
              </a:rPr>
              <a:t>programs</a:t>
            </a:r>
            <a:endParaRPr sz="2100" dirty="0">
              <a:solidFill>
                <a:srgbClr val="00006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79378"/>
            <a:ext cx="704707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What</a:t>
            </a:r>
            <a:r>
              <a:rPr spc="4" dirty="0"/>
              <a:t> </a:t>
            </a:r>
            <a:r>
              <a:rPr dirty="0"/>
              <a:t>is</a:t>
            </a:r>
            <a:r>
              <a:rPr spc="4" dirty="0"/>
              <a:t> </a:t>
            </a:r>
            <a:r>
              <a:rPr dirty="0"/>
              <a:t>cache</a:t>
            </a:r>
            <a:r>
              <a:rPr spc="4" dirty="0"/>
              <a:t> </a:t>
            </a:r>
            <a:r>
              <a:rPr dirty="0"/>
              <a:t>memory?</a:t>
            </a:r>
            <a:r>
              <a:rPr spc="13" dirty="0"/>
              <a:t> </a:t>
            </a:r>
            <a:r>
              <a:rPr dirty="0"/>
              <a:t>Main</a:t>
            </a:r>
            <a:r>
              <a:rPr spc="9" dirty="0"/>
              <a:t> </a:t>
            </a:r>
            <a:r>
              <a:rPr dirty="0"/>
              <a:t>memory</a:t>
            </a:r>
            <a:r>
              <a:rPr spc="9" dirty="0"/>
              <a:t> </a:t>
            </a:r>
            <a:r>
              <a:rPr spc="-9" dirty="0"/>
              <a:t>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235785"/>
            <a:ext cx="7329394" cy="879163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279602" indent="-268395">
              <a:spcBef>
                <a:spcPts val="596"/>
              </a:spcBef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Main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memory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divided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small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blocks</a:t>
            </a: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507"/>
              </a:spcBef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contains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words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(32-</a:t>
            </a:r>
            <a:r>
              <a:rPr sz="2400" dirty="0">
                <a:latin typeface="Calibri"/>
                <a:cs typeface="Calibri"/>
              </a:rPr>
              <a:t>256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common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now)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8590" y="3214613"/>
          <a:ext cx="8175802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BC454-1EFF-8BC7-FD1A-6E2093373B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23111" y="6346231"/>
            <a:ext cx="3448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20</a:t>
            </a:fld>
            <a:endParaRPr lang="en-US" spc="-4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937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Main</a:t>
            </a:r>
            <a:r>
              <a:rPr spc="-9" dirty="0"/>
              <a:t> memory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7694636" y="5599616"/>
            <a:ext cx="264526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r>
              <a:rPr spc="-22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300331"/>
            <a:ext cx="7069231" cy="692120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4483" indent="-268956">
              <a:lnSpc>
                <a:spcPts val="2480"/>
              </a:lnSpc>
              <a:spcBef>
                <a:spcPts val="397"/>
              </a:spcBef>
              <a:buChar char="•"/>
              <a:tabLst>
                <a:tab pos="280162" algn="l"/>
                <a:tab pos="6039172" algn="l"/>
              </a:tabLst>
            </a:pPr>
            <a:r>
              <a:rPr sz="2400" spc="-18" dirty="0">
                <a:latin typeface="Calibri"/>
                <a:cs typeface="Calibri"/>
              </a:rPr>
              <a:t>Blocks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grouped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frames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(physical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pages),</a:t>
            </a:r>
            <a:r>
              <a:rPr sz="2400" dirty="0">
                <a:latin typeface="Calibri"/>
                <a:cs typeface="Calibri"/>
              </a:rPr>
              <a:t>	</a:t>
            </a:r>
            <a:br>
              <a:rPr lang="en-US" sz="2400" dirty="0">
                <a:latin typeface="Calibri"/>
                <a:cs typeface="Calibri"/>
              </a:rPr>
            </a:br>
            <a:r>
              <a:rPr sz="2400" dirty="0">
                <a:latin typeface="Calibri"/>
                <a:cs typeface="Calibri"/>
              </a:rPr>
              <a:t>3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frames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picture.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1806" y="3675081"/>
            <a:ext cx="6649571" cy="692120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4483" indent="-268956">
              <a:lnSpc>
                <a:spcPts val="2480"/>
              </a:lnSpc>
              <a:spcBef>
                <a:spcPts val="397"/>
              </a:spcBef>
              <a:buChar char="•"/>
              <a:tabLst>
                <a:tab pos="280162" algn="l"/>
              </a:tabLst>
            </a:pPr>
            <a:r>
              <a:rPr sz="2400" spc="-18" dirty="0">
                <a:latin typeface="Calibri"/>
                <a:cs typeface="Calibri"/>
              </a:rPr>
              <a:t>Blocks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addressed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frame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number,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their block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number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within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frame.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3046" y="2348753"/>
          <a:ext cx="8175802" cy="930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9306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046" y="5088544"/>
          <a:ext cx="8175802" cy="8460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8460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3046" y="4507668"/>
          <a:ext cx="8175802" cy="4846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484654"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905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ts val="2014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BAABE86-F0A2-9AF2-DDF3-821C00EC9DB5}"/>
              </a:ext>
            </a:extLst>
          </p:cNvPr>
          <p:cNvSpPr txBox="1">
            <a:spLocks/>
          </p:cNvSpPr>
          <p:nvPr/>
        </p:nvSpPr>
        <p:spPr>
          <a:xfrm>
            <a:off x="8523111" y="6346231"/>
            <a:ext cx="344872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21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937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Cache</a:t>
            </a:r>
            <a:r>
              <a:rPr spc="13" dirty="0"/>
              <a:t> </a:t>
            </a:r>
            <a:r>
              <a:rPr spc="-9" dirty="0"/>
              <a:t>memory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7694636" y="5599616"/>
            <a:ext cx="264526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r>
              <a:rPr spc="-22" dirty="0"/>
              <a:t>8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39235" y="3457388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39235" y="5035176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639235" y="5647765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639235" y="2238187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639235" y="2883647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solidFill>
                            <a:srgbClr val="7F7F7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solidFill>
                            <a:srgbClr val="7F7F7F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solidFill>
                            <a:srgbClr val="7F7F7F"/>
                          </a:solidFill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solidFill>
                            <a:srgbClr val="7F7F7F"/>
                          </a:solidFill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solidFill>
                            <a:srgbClr val="7F7F7F"/>
                          </a:solidFill>
                          <a:latin typeface="Times New Roman"/>
                          <a:cs typeface="Times New Roman"/>
                        </a:rPr>
                        <a:t>74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solidFill>
                            <a:srgbClr val="7F7F7F"/>
                          </a:solidFill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solidFill>
                            <a:srgbClr val="7F7F7F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solidFill>
                            <a:srgbClr val="7F7F7F"/>
                          </a:solidFill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008201" y="1442870"/>
            <a:ext cx="5631516" cy="4613970"/>
          </a:xfrm>
          <a:prstGeom prst="rect">
            <a:avLst/>
          </a:prstGeom>
        </p:spPr>
        <p:txBody>
          <a:bodyPr vert="horz" wrap="square" lIns="0" tIns="24652" rIns="0" bIns="0" rtlCol="0">
            <a:spAutoFit/>
          </a:bodyPr>
          <a:lstStyle/>
          <a:p>
            <a:pPr marL="99738" marR="4483">
              <a:lnSpc>
                <a:spcPts val="2735"/>
              </a:lnSpc>
              <a:spcBef>
                <a:spcPts val="193"/>
              </a:spcBef>
            </a:pPr>
            <a:r>
              <a:rPr sz="2294" spc="-9" dirty="0">
                <a:solidFill>
                  <a:srgbClr val="000090"/>
                </a:solidFill>
                <a:latin typeface="Calibri"/>
                <a:cs typeface="Calibri"/>
              </a:rPr>
              <a:t>Cache</a:t>
            </a:r>
            <a:r>
              <a:rPr sz="2294" spc="-11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0090"/>
                </a:solidFill>
                <a:latin typeface="Calibri"/>
                <a:cs typeface="Calibri"/>
              </a:rPr>
              <a:t>has</a:t>
            </a:r>
            <a:r>
              <a:rPr sz="2294" spc="-97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spc="-57" dirty="0">
                <a:solidFill>
                  <a:srgbClr val="000090"/>
                </a:solidFill>
                <a:latin typeface="Calibri"/>
                <a:cs typeface="Calibri"/>
              </a:rPr>
              <a:t>many,</a:t>
            </a:r>
            <a:r>
              <a:rPr sz="2294" spc="-71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000090"/>
                </a:solidFill>
                <a:latin typeface="Calibri"/>
                <a:cs typeface="Calibri"/>
              </a:rPr>
              <a:t>MANY</a:t>
            </a:r>
            <a:r>
              <a:rPr sz="2294" spc="-88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26" dirty="0">
                <a:solidFill>
                  <a:srgbClr val="000090"/>
                </a:solidFill>
                <a:latin typeface="Calibri"/>
                <a:cs typeface="Calibri"/>
              </a:rPr>
              <a:t>fewer</a:t>
            </a:r>
            <a:r>
              <a:rPr sz="2294" b="1" spc="-97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000090"/>
                </a:solidFill>
                <a:latin typeface="Calibri"/>
                <a:cs typeface="Calibri"/>
              </a:rPr>
              <a:t>blocks</a:t>
            </a:r>
            <a:r>
              <a:rPr sz="2294" spc="-93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0090"/>
                </a:solidFill>
                <a:latin typeface="Calibri"/>
                <a:cs typeface="Calibri"/>
              </a:rPr>
              <a:t>than</a:t>
            </a:r>
            <a:r>
              <a:rPr sz="2294" spc="-97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000090"/>
                </a:solidFill>
                <a:latin typeface="Calibri"/>
                <a:cs typeface="Calibri"/>
              </a:rPr>
              <a:t>main </a:t>
            </a:r>
            <a:r>
              <a:rPr sz="2294" spc="-40" dirty="0">
                <a:solidFill>
                  <a:srgbClr val="000090"/>
                </a:solidFill>
                <a:latin typeface="Calibri"/>
                <a:cs typeface="Calibri"/>
              </a:rPr>
              <a:t>memory,</a:t>
            </a:r>
            <a:r>
              <a:rPr sz="2294" spc="-88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0090"/>
                </a:solidFill>
                <a:latin typeface="Calibri"/>
                <a:cs typeface="Calibri"/>
              </a:rPr>
              <a:t>each</a:t>
            </a:r>
            <a:r>
              <a:rPr sz="2294" spc="-97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000090"/>
                </a:solidFill>
                <a:latin typeface="Calibri"/>
                <a:cs typeface="Calibri"/>
              </a:rPr>
              <a:t>with</a:t>
            </a:r>
            <a:endParaRPr sz="2294" dirty="0">
              <a:latin typeface="Calibri"/>
              <a:cs typeface="Calibri"/>
            </a:endParaRPr>
          </a:p>
          <a:p>
            <a:pPr marL="1633905">
              <a:spcBef>
                <a:spcPts val="582"/>
              </a:spcBef>
            </a:pPr>
            <a:r>
              <a:rPr sz="2294" dirty="0">
                <a:solidFill>
                  <a:srgbClr val="000090"/>
                </a:solidFill>
                <a:latin typeface="Calibri"/>
                <a:cs typeface="Calibri"/>
              </a:rPr>
              <a:t>a</a:t>
            </a:r>
            <a:r>
              <a:rPr sz="2294" spc="-7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9" dirty="0">
                <a:solidFill>
                  <a:srgbClr val="000090"/>
                </a:solidFill>
                <a:latin typeface="Calibri"/>
                <a:cs typeface="Calibri"/>
              </a:rPr>
              <a:t>block</a:t>
            </a:r>
            <a:r>
              <a:rPr sz="2294" b="1" spc="-79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9" dirty="0">
                <a:solidFill>
                  <a:srgbClr val="000090"/>
                </a:solidFill>
                <a:latin typeface="Calibri"/>
                <a:cs typeface="Calibri"/>
              </a:rPr>
              <a:t>number</a:t>
            </a:r>
            <a:r>
              <a:rPr sz="2294" spc="-9" dirty="0">
                <a:solidFill>
                  <a:srgbClr val="000090"/>
                </a:solidFill>
                <a:latin typeface="Calibri"/>
                <a:cs typeface="Calibri"/>
              </a:rPr>
              <a:t>,</a:t>
            </a:r>
            <a:endParaRPr sz="2294" dirty="0">
              <a:latin typeface="Calibri"/>
              <a:cs typeface="Calibri"/>
            </a:endParaRPr>
          </a:p>
          <a:p>
            <a:pPr marR="2075440" algn="r">
              <a:spcBef>
                <a:spcPts val="2713"/>
              </a:spcBef>
            </a:pPr>
            <a:r>
              <a:rPr sz="2294" dirty="0">
                <a:solidFill>
                  <a:srgbClr val="000090"/>
                </a:solidFill>
                <a:latin typeface="Calibri"/>
                <a:cs typeface="Calibri"/>
              </a:rPr>
              <a:t>a</a:t>
            </a:r>
            <a:r>
              <a:rPr sz="2294" spc="-7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18" dirty="0">
                <a:solidFill>
                  <a:srgbClr val="000090"/>
                </a:solidFill>
                <a:latin typeface="Calibri"/>
                <a:cs typeface="Calibri"/>
              </a:rPr>
              <a:t>memory</a:t>
            </a:r>
            <a:r>
              <a:rPr sz="2294" b="1" spc="-71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22" dirty="0">
                <a:solidFill>
                  <a:srgbClr val="000090"/>
                </a:solidFill>
                <a:latin typeface="Calibri"/>
                <a:cs typeface="Calibri"/>
              </a:rPr>
              <a:t>address</a:t>
            </a:r>
            <a:r>
              <a:rPr sz="2294" b="1" spc="-66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000090"/>
                </a:solidFill>
                <a:latin typeface="Calibri"/>
                <a:cs typeface="Calibri"/>
              </a:rPr>
              <a:t>(octal,</a:t>
            </a:r>
            <a:r>
              <a:rPr sz="1324" spc="-31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000090"/>
                </a:solidFill>
                <a:latin typeface="Calibri"/>
                <a:cs typeface="Calibri"/>
              </a:rPr>
              <a:t>in</a:t>
            </a:r>
            <a:r>
              <a:rPr sz="1324" spc="-3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000090"/>
                </a:solidFill>
                <a:latin typeface="Calibri"/>
                <a:cs typeface="Calibri"/>
              </a:rPr>
              <a:t>this</a:t>
            </a:r>
            <a:r>
              <a:rPr sz="1324" spc="-31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000090"/>
                </a:solidFill>
                <a:latin typeface="Calibri"/>
                <a:cs typeface="Calibri"/>
              </a:rPr>
              <a:t>slide)</a:t>
            </a:r>
            <a:endParaRPr sz="1324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24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24" dirty="0">
              <a:latin typeface="Calibri"/>
              <a:cs typeface="Calibri"/>
            </a:endParaRPr>
          </a:p>
          <a:p>
            <a:pPr>
              <a:spcBef>
                <a:spcPts val="507"/>
              </a:spcBef>
            </a:pPr>
            <a:endParaRPr sz="1324" dirty="0">
              <a:latin typeface="Calibri"/>
              <a:cs typeface="Calibri"/>
            </a:endParaRPr>
          </a:p>
          <a:p>
            <a:pPr marR="2073759" algn="r">
              <a:spcBef>
                <a:spcPts val="4"/>
              </a:spcBef>
            </a:pPr>
            <a:r>
              <a:rPr sz="2294" b="1" spc="-18" dirty="0">
                <a:solidFill>
                  <a:srgbClr val="000090"/>
                </a:solidFill>
                <a:latin typeface="Calibri"/>
                <a:cs typeface="Calibri"/>
              </a:rPr>
              <a:t>data</a:t>
            </a:r>
            <a:endParaRPr sz="2294" dirty="0">
              <a:latin typeface="Calibri"/>
              <a:cs typeface="Calibri"/>
            </a:endParaRPr>
          </a:p>
          <a:p>
            <a:pPr>
              <a:spcBef>
                <a:spcPts val="2577"/>
              </a:spcBef>
            </a:pPr>
            <a:endParaRPr sz="2294" dirty="0">
              <a:latin typeface="Calibri"/>
              <a:cs typeface="Calibri"/>
            </a:endParaRPr>
          </a:p>
          <a:p>
            <a:pPr marR="2074319" algn="r"/>
            <a:r>
              <a:rPr sz="2294" dirty="0">
                <a:solidFill>
                  <a:srgbClr val="000090"/>
                </a:solidFill>
                <a:latin typeface="Calibri"/>
                <a:cs typeface="Calibri"/>
              </a:rPr>
              <a:t>a</a:t>
            </a:r>
            <a:r>
              <a:rPr sz="2294" spc="-7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9" dirty="0">
                <a:solidFill>
                  <a:srgbClr val="000090"/>
                </a:solidFill>
                <a:latin typeface="Calibri"/>
                <a:cs typeface="Calibri"/>
              </a:rPr>
              <a:t>valid</a:t>
            </a:r>
            <a:r>
              <a:rPr sz="2294" b="1" spc="-79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0090"/>
                </a:solidFill>
                <a:latin typeface="Calibri"/>
                <a:cs typeface="Calibri"/>
              </a:rPr>
              <a:t>bit,</a:t>
            </a:r>
            <a:r>
              <a:rPr sz="2294" spc="-62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spc="-26" dirty="0">
                <a:solidFill>
                  <a:srgbClr val="000090"/>
                </a:solidFill>
                <a:latin typeface="Calibri"/>
                <a:cs typeface="Calibri"/>
              </a:rPr>
              <a:t>(initially,</a:t>
            </a:r>
            <a:r>
              <a:rPr sz="2294" spc="-66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spc="-22" dirty="0">
                <a:solidFill>
                  <a:srgbClr val="000090"/>
                </a:solidFill>
                <a:latin typeface="Calibri"/>
                <a:cs typeface="Calibri"/>
              </a:rPr>
              <a:t>0)</a:t>
            </a:r>
            <a:endParaRPr sz="2294" dirty="0">
              <a:latin typeface="Calibri"/>
              <a:cs typeface="Calibri"/>
            </a:endParaRPr>
          </a:p>
          <a:p>
            <a:pPr marR="2073759" algn="r">
              <a:spcBef>
                <a:spcPts val="2713"/>
              </a:spcBef>
            </a:pPr>
            <a:r>
              <a:rPr sz="2294" dirty="0">
                <a:solidFill>
                  <a:srgbClr val="000090"/>
                </a:solidFill>
                <a:latin typeface="Calibri"/>
                <a:cs typeface="Calibri"/>
              </a:rPr>
              <a:t>a</a:t>
            </a:r>
            <a:r>
              <a:rPr sz="2294" spc="-66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9" dirty="0">
                <a:solidFill>
                  <a:srgbClr val="000090"/>
                </a:solidFill>
                <a:latin typeface="Calibri"/>
                <a:cs typeface="Calibri"/>
              </a:rPr>
              <a:t>dirty</a:t>
            </a:r>
            <a:r>
              <a:rPr sz="2294" b="1" spc="-62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spc="-22" dirty="0">
                <a:solidFill>
                  <a:srgbClr val="000090"/>
                </a:solidFill>
                <a:latin typeface="Calibri"/>
                <a:cs typeface="Calibri"/>
              </a:rPr>
              <a:t>bit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605D094-E1DB-08CB-9D38-ED1F1D8DCD2C}"/>
              </a:ext>
            </a:extLst>
          </p:cNvPr>
          <p:cNvSpPr txBox="1">
            <a:spLocks/>
          </p:cNvSpPr>
          <p:nvPr/>
        </p:nvSpPr>
        <p:spPr>
          <a:xfrm>
            <a:off x="8523111" y="6346231"/>
            <a:ext cx="344872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22</a:t>
            </a:fld>
            <a:endParaRPr lang="en-US" spc="-4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937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Issues to</a:t>
            </a:r>
            <a:r>
              <a:rPr spc="4" dirty="0"/>
              <a:t> </a:t>
            </a:r>
            <a:r>
              <a:rPr spc="-9" dirty="0"/>
              <a:t>consider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393831"/>
            <a:ext cx="6957356" cy="2487295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279602" indent="-268395">
              <a:spcBef>
                <a:spcPts val="596"/>
              </a:spcBef>
              <a:spcAft>
                <a:spcPts val="600"/>
              </a:spcAft>
              <a:buChar char="•"/>
              <a:tabLst>
                <a:tab pos="279602" algn="l"/>
              </a:tabLst>
            </a:pPr>
            <a:r>
              <a:rPr sz="2400" spc="-9" dirty="0">
                <a:latin typeface="Calibri"/>
                <a:cs typeface="Calibri"/>
              </a:rPr>
              <a:t>How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big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should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fastest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memory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(cache)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be?</a:t>
            </a: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507"/>
              </a:spcBef>
              <a:spcAft>
                <a:spcPts val="600"/>
              </a:spcAft>
              <a:buChar char="•"/>
              <a:tabLst>
                <a:tab pos="279602" algn="l"/>
              </a:tabLst>
            </a:pPr>
            <a:r>
              <a:rPr sz="2400" spc="-9" dirty="0">
                <a:latin typeface="Calibri"/>
                <a:cs typeface="Calibri"/>
              </a:rPr>
              <a:t>How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what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memory?</a:t>
            </a: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507"/>
              </a:spcBef>
              <a:spcAft>
                <a:spcPts val="600"/>
              </a:spcAft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full,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what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remove?</a:t>
            </a: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529"/>
              </a:spcBef>
              <a:spcAft>
                <a:spcPts val="600"/>
              </a:spcAft>
              <a:buChar char="•"/>
              <a:tabLst>
                <a:tab pos="279602" algn="l"/>
              </a:tabLst>
            </a:pPr>
            <a:r>
              <a:rPr sz="2400" spc="-9" dirty="0">
                <a:latin typeface="Calibri"/>
                <a:cs typeface="Calibri"/>
              </a:rPr>
              <a:t>How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something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cache?</a:t>
            </a: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507"/>
              </a:spcBef>
              <a:spcAft>
                <a:spcPts val="600"/>
              </a:spcAft>
              <a:buChar char="•"/>
              <a:tabLst>
                <a:tab pos="279602" algn="l"/>
              </a:tabLst>
            </a:pPr>
            <a:r>
              <a:rPr sz="2400" spc="-9" dirty="0">
                <a:latin typeface="Calibri"/>
                <a:cs typeface="Calibri"/>
              </a:rPr>
              <a:t>How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handle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writes?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9182A-6205-476A-CCBF-F14CDC0EA6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0533" y="6346231"/>
            <a:ext cx="36745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23</a:t>
            </a:fld>
            <a:endParaRPr lang="en-US" spc="-4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937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How</a:t>
            </a:r>
            <a:r>
              <a:rPr spc="13" dirty="0"/>
              <a:t> </a:t>
            </a:r>
            <a:r>
              <a:rPr dirty="0"/>
              <a:t>does</a:t>
            </a:r>
            <a:r>
              <a:rPr spc="9" dirty="0"/>
              <a:t> </a:t>
            </a:r>
            <a:r>
              <a:rPr dirty="0"/>
              <a:t>cache</a:t>
            </a:r>
            <a:r>
              <a:rPr spc="9" dirty="0"/>
              <a:t> </a:t>
            </a:r>
            <a:r>
              <a:rPr dirty="0"/>
              <a:t>memory</a:t>
            </a:r>
            <a:r>
              <a:rPr spc="13" dirty="0"/>
              <a:t> </a:t>
            </a:r>
            <a:r>
              <a:rPr spc="-9" dirty="0"/>
              <a:t>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226113"/>
            <a:ext cx="7476150" cy="2832903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279602" indent="-268395">
              <a:spcBef>
                <a:spcPts val="671"/>
              </a:spcBef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following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slides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discuss:</a:t>
            </a:r>
            <a:endParaRPr sz="2400" dirty="0">
              <a:latin typeface="Calibri"/>
              <a:cs typeface="Calibri"/>
            </a:endParaRPr>
          </a:p>
          <a:p>
            <a:pPr marL="654458" lvl="1" indent="-213483">
              <a:spcBef>
                <a:spcPts val="427"/>
              </a:spcBef>
              <a:buChar char="–"/>
              <a:tabLst>
                <a:tab pos="654458" algn="l"/>
              </a:tabLst>
            </a:pPr>
            <a:r>
              <a:rPr lang="en-US" sz="2200" dirty="0">
                <a:latin typeface="Calibri"/>
                <a:cs typeface="Calibri"/>
              </a:rPr>
              <a:t>W</a:t>
            </a:r>
            <a:r>
              <a:rPr sz="2200" dirty="0">
                <a:latin typeface="Calibri"/>
                <a:cs typeface="Calibri"/>
              </a:rPr>
              <a:t>hat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is</a:t>
            </a:r>
            <a:endParaRPr sz="2200" dirty="0">
              <a:latin typeface="Calibri"/>
              <a:cs typeface="Calibri"/>
            </a:endParaRPr>
          </a:p>
          <a:p>
            <a:pPr marL="654458" lvl="1" indent="-213483">
              <a:spcBef>
                <a:spcPts val="468"/>
              </a:spcBef>
              <a:buChar char="–"/>
              <a:tabLst>
                <a:tab pos="654458" algn="l"/>
              </a:tabLst>
            </a:pPr>
            <a:r>
              <a:rPr lang="en-US" sz="220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hree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organizations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memory</a:t>
            </a:r>
            <a:endParaRPr sz="2200" dirty="0">
              <a:latin typeface="Calibri"/>
              <a:cs typeface="Calibri"/>
            </a:endParaRPr>
          </a:p>
          <a:p>
            <a:pPr marL="871304">
              <a:spcBef>
                <a:spcPts val="441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»</a:t>
            </a:r>
            <a:r>
              <a:rPr sz="2200" spc="31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200" b="1" i="1" dirty="0">
                <a:solidFill>
                  <a:srgbClr val="FF0000"/>
                </a:solidFill>
                <a:latin typeface="Calibri"/>
                <a:cs typeface="Calibri"/>
              </a:rPr>
              <a:t>direct</a:t>
            </a:r>
            <a:r>
              <a:rPr sz="2200" b="1" i="1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i="1" spc="-9" dirty="0">
                <a:solidFill>
                  <a:srgbClr val="FF0000"/>
                </a:solidFill>
                <a:latin typeface="Calibri"/>
                <a:cs typeface="Calibri"/>
              </a:rPr>
              <a:t>mapped</a:t>
            </a:r>
            <a:endParaRPr sz="2200" dirty="0">
              <a:latin typeface="Calibri"/>
              <a:cs typeface="Calibri"/>
            </a:endParaRPr>
          </a:p>
          <a:p>
            <a:pPr marL="871304">
              <a:spcBef>
                <a:spcPts val="468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»</a:t>
            </a:r>
            <a:r>
              <a:rPr sz="2200" spc="31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200" b="1" i="1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2200" b="1" i="1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i="1" spc="-9" dirty="0">
                <a:solidFill>
                  <a:srgbClr val="FF0000"/>
                </a:solidFill>
                <a:latin typeface="Calibri"/>
                <a:cs typeface="Calibri"/>
              </a:rPr>
              <a:t>associative</a:t>
            </a:r>
            <a:endParaRPr sz="2200" dirty="0">
              <a:latin typeface="Calibri"/>
              <a:cs typeface="Calibri"/>
            </a:endParaRPr>
          </a:p>
          <a:p>
            <a:pPr marL="871304">
              <a:spcBef>
                <a:spcPts val="361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»</a:t>
            </a:r>
            <a:r>
              <a:rPr sz="2200" spc="4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200" b="1" i="1" dirty="0">
                <a:solidFill>
                  <a:srgbClr val="FF0000"/>
                </a:solidFill>
                <a:latin typeface="Calibri"/>
                <a:cs typeface="Calibri"/>
              </a:rPr>
              <a:t>fully</a:t>
            </a:r>
            <a:r>
              <a:rPr sz="2200" b="1" i="1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i="1" spc="-9" dirty="0">
                <a:solidFill>
                  <a:srgbClr val="FF0000"/>
                </a:solidFill>
                <a:latin typeface="Calibri"/>
                <a:cs typeface="Calibri"/>
              </a:rPr>
              <a:t>associative</a:t>
            </a:r>
            <a:endParaRPr sz="2200" dirty="0">
              <a:latin typeface="Calibri"/>
              <a:cs typeface="Calibri"/>
            </a:endParaRPr>
          </a:p>
          <a:p>
            <a:pPr marL="654458" lvl="1" indent="-213483">
              <a:spcBef>
                <a:spcPts val="463"/>
              </a:spcBef>
              <a:buChar char="–"/>
              <a:tabLst>
                <a:tab pos="654458" algn="l"/>
              </a:tabLst>
            </a:pPr>
            <a:r>
              <a:rPr lang="en-US" sz="2200" dirty="0">
                <a:latin typeface="Calibri"/>
                <a:cs typeface="Calibri"/>
              </a:rPr>
              <a:t>H</a:t>
            </a:r>
            <a:r>
              <a:rPr sz="2200" dirty="0">
                <a:latin typeface="Calibri"/>
                <a:cs typeface="Calibri"/>
              </a:rPr>
              <a:t>ow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bookkeeping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done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1807" y="4417170"/>
            <a:ext cx="7306816" cy="1575469"/>
          </a:xfrm>
          <a:prstGeom prst="rect">
            <a:avLst/>
          </a:prstGeom>
        </p:spPr>
        <p:txBody>
          <a:bodyPr vert="horz" wrap="square" lIns="0" tIns="99732" rIns="0" bIns="0" rtlCol="0">
            <a:spAutoFit/>
          </a:bodyPr>
          <a:lstStyle/>
          <a:p>
            <a:pPr marL="279602" indent="-268395">
              <a:spcBef>
                <a:spcPts val="785"/>
              </a:spcBef>
              <a:buChar char="•"/>
              <a:tabLst>
                <a:tab pos="279602" algn="l"/>
              </a:tabLst>
            </a:pPr>
            <a:r>
              <a:rPr sz="2400" spc="-18" dirty="0">
                <a:latin typeface="Calibri"/>
                <a:cs typeface="Calibri"/>
              </a:rPr>
              <a:t>Important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memory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representation</a:t>
            </a:r>
            <a:endParaRPr sz="2400" dirty="0">
              <a:latin typeface="Calibri"/>
              <a:cs typeface="Calibri"/>
            </a:endParaRPr>
          </a:p>
          <a:p>
            <a:pPr marL="656139" marR="4483" indent="-215164">
              <a:spcBef>
                <a:spcPts val="715"/>
              </a:spcBef>
            </a:pPr>
            <a:r>
              <a:rPr sz="1677" dirty="0">
                <a:latin typeface="Calibri"/>
                <a:cs typeface="Calibri"/>
              </a:rPr>
              <a:t>–</a:t>
            </a:r>
            <a:r>
              <a:rPr sz="1677" spc="44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addresses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octal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lecture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example.</a:t>
            </a:r>
            <a:r>
              <a:rPr sz="2200" spc="39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Addresses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in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book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usually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decimal.</a:t>
            </a:r>
            <a:r>
              <a:rPr sz="2200" spc="4" dirty="0">
                <a:latin typeface="Calibri"/>
                <a:cs typeface="Calibri"/>
              </a:rPr>
              <a:t> </a:t>
            </a:r>
            <a:br>
              <a:rPr lang="en-US" sz="2200" spc="4" dirty="0">
                <a:latin typeface="Calibri"/>
                <a:cs typeface="Calibri"/>
              </a:rPr>
            </a:br>
            <a:r>
              <a:rPr lang="en-US" sz="2200" dirty="0">
                <a:latin typeface="Calibri"/>
                <a:cs typeface="Calibri"/>
              </a:rPr>
              <a:t>In</a:t>
            </a:r>
            <a:r>
              <a:rPr lang="en-US" sz="2200" spc="13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reality,</a:t>
            </a:r>
            <a:r>
              <a:rPr lang="en-US" sz="2200" spc="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they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binary.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E72A2-3F31-E181-A3D6-DA7CC05956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77956" y="6346231"/>
            <a:ext cx="390027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24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79379"/>
            <a:ext cx="6154753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pc="-18" dirty="0"/>
              <a:t>Cache: Memory address partition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300331"/>
            <a:ext cx="6888816" cy="1859106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4483" indent="-268956">
              <a:lnSpc>
                <a:spcPts val="2480"/>
              </a:lnSpc>
              <a:spcBef>
                <a:spcPts val="397"/>
              </a:spcBef>
              <a:buChar char="•"/>
              <a:tabLst>
                <a:tab pos="280162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location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partitioned </a:t>
            </a:r>
            <a:r>
              <a:rPr sz="2400" spc="-18" dirty="0">
                <a:latin typeface="Calibri"/>
                <a:cs typeface="Calibri"/>
              </a:rPr>
              <a:t>into</a:t>
            </a:r>
            <a:endParaRPr lang="en-US" sz="2400" spc="-18" dirty="0">
              <a:latin typeface="Calibri"/>
              <a:cs typeface="Calibri"/>
            </a:endParaRPr>
          </a:p>
          <a:p>
            <a:pPr marL="811306" marR="4483" lvl="1" indent="-342900">
              <a:lnSpc>
                <a:spcPts val="2480"/>
              </a:lnSpc>
              <a:spcBef>
                <a:spcPts val="397"/>
              </a:spcBef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lang="en-US" sz="2200" spc="-18" dirty="0">
                <a:latin typeface="Calibri"/>
                <a:cs typeface="Calibri"/>
              </a:rPr>
              <a:t>Block address</a:t>
            </a:r>
          </a:p>
          <a:p>
            <a:pPr marL="925606" marR="4483" lvl="2">
              <a:lnSpc>
                <a:spcPts val="2480"/>
              </a:lnSpc>
              <a:spcBef>
                <a:spcPts val="397"/>
              </a:spcBef>
              <a:tabLst>
                <a:tab pos="280162" algn="l"/>
              </a:tabLst>
            </a:pPr>
            <a:r>
              <a:rPr lang="en-US" sz="2200" dirty="0">
                <a:cs typeface="Calibri"/>
              </a:rPr>
              <a:t>» Tag</a:t>
            </a:r>
          </a:p>
          <a:p>
            <a:pPr marL="925606" marR="4483" lvl="2">
              <a:lnSpc>
                <a:spcPts val="2480"/>
              </a:lnSpc>
              <a:spcBef>
                <a:spcPts val="397"/>
              </a:spcBef>
              <a:tabLst>
                <a:tab pos="280162" algn="l"/>
              </a:tabLst>
            </a:pPr>
            <a:r>
              <a:rPr lang="en-US" sz="2200" dirty="0">
                <a:cs typeface="Calibri"/>
              </a:rPr>
              <a:t>» Index</a:t>
            </a:r>
            <a:endParaRPr lang="en-US" sz="2200" spc="-18" dirty="0">
              <a:latin typeface="Calibri"/>
              <a:cs typeface="Calibri"/>
            </a:endParaRPr>
          </a:p>
          <a:p>
            <a:pPr marL="811306" marR="4483" lvl="1" indent="-342900">
              <a:lnSpc>
                <a:spcPts val="2480"/>
              </a:lnSpc>
              <a:spcBef>
                <a:spcPts val="397"/>
              </a:spcBef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lang="en-US" sz="2200" dirty="0">
                <a:latin typeface="Calibri"/>
                <a:cs typeface="Calibri"/>
              </a:rPr>
              <a:t>Block offset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0345" y="5509160"/>
            <a:ext cx="888066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2"/>
              </a:lnSpc>
            </a:pPr>
            <a:r>
              <a:rPr sz="2294" dirty="0">
                <a:latin typeface="Times New Roman"/>
                <a:cs typeface="Times New Roman"/>
              </a:rPr>
              <a:t>Fig.</a:t>
            </a:r>
            <a:r>
              <a:rPr sz="2294" spc="-93" dirty="0">
                <a:latin typeface="Times New Roman"/>
                <a:cs typeface="Times New Roman"/>
              </a:rPr>
              <a:t> </a:t>
            </a:r>
            <a:r>
              <a:rPr sz="2294" spc="-22" dirty="0">
                <a:latin typeface="Times New Roman"/>
                <a:cs typeface="Times New Roman"/>
              </a:rPr>
              <a:t>5.5</a:t>
            </a:r>
            <a:endParaRPr sz="2294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43106" y="5469963"/>
            <a:ext cx="1483659" cy="420221"/>
          </a:xfrm>
          <a:custGeom>
            <a:avLst/>
            <a:gdLst/>
            <a:ahLst/>
            <a:cxnLst/>
            <a:rect l="l" t="t" r="r" b="b"/>
            <a:pathLst>
              <a:path w="1681480" h="476250">
                <a:moveTo>
                  <a:pt x="1681480" y="0"/>
                </a:moveTo>
                <a:lnTo>
                  <a:pt x="0" y="0"/>
                </a:lnTo>
                <a:lnTo>
                  <a:pt x="0" y="475827"/>
                </a:lnTo>
                <a:lnTo>
                  <a:pt x="1681480" y="475827"/>
                </a:lnTo>
                <a:lnTo>
                  <a:pt x="16814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7211486" y="5104503"/>
            <a:ext cx="58382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latin typeface="Calibri"/>
                <a:cs typeface="Calibri"/>
              </a:rPr>
              <a:t>Fig.</a:t>
            </a:r>
            <a:r>
              <a:rPr sz="1500" spc="-4" dirty="0">
                <a:latin typeface="Calibri"/>
                <a:cs typeface="Calibri"/>
              </a:rPr>
              <a:t> </a:t>
            </a:r>
            <a:r>
              <a:rPr sz="1500" spc="-22" dirty="0">
                <a:latin typeface="Calibri"/>
                <a:cs typeface="Calibri"/>
              </a:rPr>
              <a:t>B.3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494" y="4114800"/>
            <a:ext cx="8125010" cy="86359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04E4B-66DF-E80A-4147-6FF0BB3DBC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9244" y="6346231"/>
            <a:ext cx="3561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25</a:t>
            </a:fld>
            <a:endParaRPr lang="en-US" spc="-4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937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Cache</a:t>
            </a:r>
            <a:r>
              <a:rPr spc="-2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memory</a:t>
            </a:r>
            <a:r>
              <a:rPr spc="-13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0973" y="2011366"/>
            <a:ext cx="2830606" cy="716826"/>
          </a:xfrm>
          <a:prstGeom prst="rect">
            <a:avLst/>
          </a:prstGeom>
        </p:spPr>
        <p:txBody>
          <a:bodyPr vert="horz" wrap="square" lIns="0" tIns="24093" rIns="0" bIns="0" rtlCol="0">
            <a:spAutoFit/>
          </a:bodyPr>
          <a:lstStyle/>
          <a:p>
            <a:pPr marL="11206" marR="4483">
              <a:lnSpc>
                <a:spcPts val="2735"/>
              </a:lnSpc>
              <a:spcBef>
                <a:spcPts val="190"/>
              </a:spcBef>
            </a:pPr>
            <a:r>
              <a:rPr sz="2400" spc="-31" dirty="0">
                <a:latin typeface="Calibri"/>
                <a:cs typeface="Calibri"/>
              </a:rPr>
              <a:t>Initially,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valid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bits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zero.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722260"/>
              </p:ext>
            </p:extLst>
          </p:nvPr>
        </p:nvGraphicFramePr>
        <p:xfrm>
          <a:off x="4560212" y="3277761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075390"/>
              </p:ext>
            </p:extLst>
          </p:nvPr>
        </p:nvGraphicFramePr>
        <p:xfrm>
          <a:off x="4560212" y="4855548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294360"/>
              </p:ext>
            </p:extLst>
          </p:nvPr>
        </p:nvGraphicFramePr>
        <p:xfrm>
          <a:off x="4560212" y="535757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018533"/>
              </p:ext>
            </p:extLst>
          </p:nvPr>
        </p:nvGraphicFramePr>
        <p:xfrm>
          <a:off x="4560212" y="2058561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147815"/>
              </p:ext>
            </p:extLst>
          </p:nvPr>
        </p:nvGraphicFramePr>
        <p:xfrm>
          <a:off x="4560212" y="2704019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2417144" y="2852254"/>
            <a:ext cx="2011456" cy="2226609"/>
          </a:xfrm>
          <a:custGeom>
            <a:avLst/>
            <a:gdLst/>
            <a:ahLst/>
            <a:cxnLst/>
            <a:rect l="l" t="t" r="r" b="b"/>
            <a:pathLst>
              <a:path w="2279650" h="2523490">
                <a:moveTo>
                  <a:pt x="2221358" y="2466171"/>
                </a:moveTo>
                <a:lnTo>
                  <a:pt x="2194968" y="2490007"/>
                </a:lnTo>
                <a:lnTo>
                  <a:pt x="2279609" y="2523084"/>
                </a:lnTo>
                <a:lnTo>
                  <a:pt x="2266594" y="2476230"/>
                </a:lnTo>
                <a:lnTo>
                  <a:pt x="2230443" y="2476230"/>
                </a:lnTo>
                <a:lnTo>
                  <a:pt x="2221358" y="2466171"/>
                </a:lnTo>
                <a:close/>
              </a:path>
              <a:path w="2279650" h="2523490">
                <a:moveTo>
                  <a:pt x="2228898" y="2459361"/>
                </a:moveTo>
                <a:lnTo>
                  <a:pt x="2221358" y="2466171"/>
                </a:lnTo>
                <a:lnTo>
                  <a:pt x="2230443" y="2476230"/>
                </a:lnTo>
                <a:lnTo>
                  <a:pt x="2237983" y="2469421"/>
                </a:lnTo>
                <a:lnTo>
                  <a:pt x="2228898" y="2459361"/>
                </a:lnTo>
                <a:close/>
              </a:path>
              <a:path w="2279650" h="2523490">
                <a:moveTo>
                  <a:pt x="2255287" y="2435525"/>
                </a:moveTo>
                <a:lnTo>
                  <a:pt x="2228898" y="2459361"/>
                </a:lnTo>
                <a:lnTo>
                  <a:pt x="2237983" y="2469421"/>
                </a:lnTo>
                <a:lnTo>
                  <a:pt x="2230443" y="2476230"/>
                </a:lnTo>
                <a:lnTo>
                  <a:pt x="2266594" y="2476230"/>
                </a:lnTo>
                <a:lnTo>
                  <a:pt x="2255287" y="2435525"/>
                </a:lnTo>
                <a:close/>
              </a:path>
              <a:path w="2279650" h="2523490">
                <a:moveTo>
                  <a:pt x="7538" y="0"/>
                </a:moveTo>
                <a:lnTo>
                  <a:pt x="0" y="6809"/>
                </a:lnTo>
                <a:lnTo>
                  <a:pt x="2221358" y="2466171"/>
                </a:lnTo>
                <a:lnTo>
                  <a:pt x="2228898" y="2459361"/>
                </a:lnTo>
                <a:lnTo>
                  <a:pt x="7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276E11D-212A-EF44-118E-63F8507E1E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9244" y="6346231"/>
            <a:ext cx="3448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26</a:t>
            </a:fld>
            <a:endParaRPr lang="en-US" spc="-4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937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Cache</a:t>
            </a:r>
            <a:r>
              <a:rPr spc="-2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memory</a:t>
            </a:r>
            <a:r>
              <a:rPr spc="-13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(cont.)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7694636" y="5599616"/>
            <a:ext cx="264526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r>
              <a:rPr spc="-22" dirty="0"/>
              <a:t>13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67518" y="3281082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67518" y="4858871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67518" y="536089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567518" y="206188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67518" y="2707341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89255" y="2002267"/>
            <a:ext cx="3221131" cy="3136250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 marR="4483">
              <a:lnSpc>
                <a:spcPct val="99600"/>
              </a:lnSpc>
              <a:spcBef>
                <a:spcPts val="97"/>
              </a:spcBef>
            </a:pPr>
            <a:r>
              <a:rPr sz="2294" spc="-9" dirty="0">
                <a:latin typeface="Calibri"/>
                <a:cs typeface="Calibri"/>
              </a:rPr>
              <a:t>Suppose</a:t>
            </a:r>
            <a:r>
              <a:rPr sz="2294" spc="-106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want</a:t>
            </a:r>
            <a:r>
              <a:rPr sz="2294" spc="-110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110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load</a:t>
            </a:r>
            <a:r>
              <a:rPr sz="2294" spc="-106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block </a:t>
            </a:r>
            <a:r>
              <a:rPr sz="2294" dirty="0">
                <a:latin typeface="Calibri"/>
                <a:cs typeface="Calibri"/>
              </a:rPr>
              <a:t>14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(octal)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from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memory into</a:t>
            </a:r>
            <a:r>
              <a:rPr sz="2294" spc="-110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cache.</a:t>
            </a:r>
            <a:endParaRPr sz="2294" dirty="0">
              <a:latin typeface="Calibri"/>
              <a:cs typeface="Calibri"/>
            </a:endParaRPr>
          </a:p>
          <a:p>
            <a:pPr marL="11206" marR="536790">
              <a:lnSpc>
                <a:spcPts val="2735"/>
              </a:lnSpc>
              <a:spcBef>
                <a:spcPts val="2731"/>
              </a:spcBef>
            </a:pPr>
            <a:r>
              <a:rPr sz="2294" dirty="0">
                <a:latin typeface="Calibri"/>
                <a:cs typeface="Calibri"/>
              </a:rPr>
              <a:t>Three</a:t>
            </a:r>
            <a:r>
              <a:rPr sz="2294" spc="-101" dirty="0">
                <a:latin typeface="Calibri"/>
                <a:cs typeface="Calibri"/>
              </a:rPr>
              <a:t> </a:t>
            </a:r>
            <a:r>
              <a:rPr sz="2294" spc="-35" dirty="0">
                <a:latin typeface="Calibri"/>
                <a:cs typeface="Calibri"/>
              </a:rPr>
              <a:t>ways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101" dirty="0">
                <a:latin typeface="Calibri"/>
                <a:cs typeface="Calibri"/>
              </a:rPr>
              <a:t> </a:t>
            </a:r>
            <a:r>
              <a:rPr sz="2294" spc="-31" dirty="0">
                <a:latin typeface="Calibri"/>
                <a:cs typeface="Calibri"/>
              </a:rPr>
              <a:t>organize </a:t>
            </a:r>
            <a:r>
              <a:rPr sz="2294" spc="-9" dirty="0">
                <a:latin typeface="Calibri"/>
                <a:cs typeface="Calibri"/>
              </a:rPr>
              <a:t>cache</a:t>
            </a:r>
            <a:endParaRPr sz="2294" dirty="0">
              <a:latin typeface="Calibri"/>
              <a:cs typeface="Calibri"/>
            </a:endParaRPr>
          </a:p>
          <a:p>
            <a:pPr marL="648855" indent="-207320">
              <a:lnSpc>
                <a:spcPts val="2630"/>
              </a:lnSpc>
              <a:buChar char="•"/>
              <a:tabLst>
                <a:tab pos="648855" algn="l"/>
              </a:tabLst>
            </a:pPr>
            <a:r>
              <a:rPr sz="2294" spc="-9" dirty="0">
                <a:latin typeface="Calibri"/>
                <a:cs typeface="Calibri"/>
              </a:rPr>
              <a:t>direct</a:t>
            </a:r>
            <a:r>
              <a:rPr sz="2294" spc="-110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mapped</a:t>
            </a:r>
            <a:endParaRPr sz="2294" dirty="0">
              <a:latin typeface="Calibri"/>
              <a:cs typeface="Calibri"/>
            </a:endParaRPr>
          </a:p>
          <a:p>
            <a:pPr marL="648855" indent="-207320">
              <a:lnSpc>
                <a:spcPts val="2691"/>
              </a:lnSpc>
              <a:buChar char="•"/>
              <a:tabLst>
                <a:tab pos="648855" algn="l"/>
              </a:tabLst>
            </a:pPr>
            <a:r>
              <a:rPr sz="2294" dirty="0">
                <a:latin typeface="Calibri"/>
                <a:cs typeface="Calibri"/>
              </a:rPr>
              <a:t>set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associative</a:t>
            </a:r>
            <a:endParaRPr sz="2294" dirty="0">
              <a:latin typeface="Calibri"/>
              <a:cs typeface="Calibri"/>
            </a:endParaRPr>
          </a:p>
          <a:p>
            <a:pPr marL="648855" indent="-207320">
              <a:lnSpc>
                <a:spcPts val="2700"/>
              </a:lnSpc>
              <a:buChar char="•"/>
              <a:tabLst>
                <a:tab pos="648855" algn="l"/>
              </a:tabLst>
            </a:pPr>
            <a:r>
              <a:rPr sz="2294" dirty="0">
                <a:latin typeface="Calibri"/>
                <a:cs typeface="Calibri"/>
              </a:rPr>
              <a:t>fully</a:t>
            </a:r>
            <a:r>
              <a:rPr sz="2294" spc="-97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associative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B5CD6B-D34B-3C63-9AB8-C42DE5DD3E75}"/>
              </a:ext>
            </a:extLst>
          </p:cNvPr>
          <p:cNvSpPr txBox="1">
            <a:spLocks/>
          </p:cNvSpPr>
          <p:nvPr/>
        </p:nvSpPr>
        <p:spPr>
          <a:xfrm>
            <a:off x="8489244" y="6346231"/>
            <a:ext cx="344872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27</a:t>
            </a:fld>
            <a:endParaRPr lang="en-US" spc="-4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937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Direct</a:t>
            </a:r>
            <a:r>
              <a:rPr spc="-13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mapped</a:t>
            </a:r>
            <a:r>
              <a:rPr spc="-13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cache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67518" y="3281082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3223" y="3285565"/>
            <a:ext cx="430305" cy="1362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3223" y="4863353"/>
            <a:ext cx="430305" cy="430306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567518" y="4858871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93223" y="5365376"/>
            <a:ext cx="430305" cy="430305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567518" y="536089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93223" y="2066364"/>
            <a:ext cx="430305" cy="430305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567518" y="206188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93223" y="2711824"/>
            <a:ext cx="430305" cy="430305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567518" y="2707341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7694636" y="5599616"/>
            <a:ext cx="264526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r>
              <a:rPr spc="-22" dirty="0"/>
              <a:t>14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19802" y="1992727"/>
            <a:ext cx="3135966" cy="2873449"/>
          </a:xfrm>
          <a:prstGeom prst="rect">
            <a:avLst/>
          </a:prstGeom>
        </p:spPr>
        <p:txBody>
          <a:bodyPr vert="horz" wrap="square" lIns="0" tIns="17369" rIns="0" bIns="0" rtlCol="0">
            <a:spAutoFit/>
          </a:bodyPr>
          <a:lstStyle/>
          <a:p>
            <a:pPr marL="11206" marR="8405">
              <a:lnSpc>
                <a:spcPct val="98200"/>
              </a:lnSpc>
              <a:spcBef>
                <a:spcPts val="137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b="1" spc="-18" dirty="0">
                <a:latin typeface="Calibri"/>
                <a:cs typeface="Calibri"/>
              </a:rPr>
              <a:t>direct</a:t>
            </a:r>
            <a:r>
              <a:rPr sz="2400" b="1" spc="-66" dirty="0">
                <a:latin typeface="Calibri"/>
                <a:cs typeface="Calibri"/>
              </a:rPr>
              <a:t> </a:t>
            </a:r>
            <a:r>
              <a:rPr sz="2400" b="1" spc="-18" dirty="0">
                <a:latin typeface="Calibri"/>
                <a:cs typeface="Calibri"/>
              </a:rPr>
              <a:t>mapped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cache, </a:t>
            </a:r>
            <a:r>
              <a:rPr sz="2400" spc="-9" dirty="0">
                <a:latin typeface="Calibri"/>
                <a:cs typeface="Calibri"/>
              </a:rPr>
              <a:t>block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with address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4.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31"/>
              </a:spcBef>
            </a:pPr>
            <a:endParaRPr sz="2400" dirty="0">
              <a:latin typeface="Calibri"/>
              <a:cs typeface="Calibri"/>
            </a:endParaRPr>
          </a:p>
          <a:p>
            <a:pPr marL="11206" marR="4483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longer </a:t>
            </a:r>
            <a:r>
              <a:rPr sz="2400" dirty="0">
                <a:latin typeface="Calibri"/>
                <a:cs typeface="Calibri"/>
              </a:rPr>
              <a:t>hold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with memory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address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74.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1188948-7DCE-4EDB-2606-E46348008028}"/>
              </a:ext>
            </a:extLst>
          </p:cNvPr>
          <p:cNvSpPr txBox="1">
            <a:spLocks/>
          </p:cNvSpPr>
          <p:nvPr/>
        </p:nvSpPr>
        <p:spPr>
          <a:xfrm>
            <a:off x="8477955" y="6346231"/>
            <a:ext cx="344872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28</a:t>
            </a:fld>
            <a:endParaRPr lang="en-US" spc="-4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937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Direct</a:t>
            </a:r>
            <a:r>
              <a:rPr spc="-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mapped</a:t>
            </a:r>
            <a:r>
              <a:rPr spc="-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cache</a:t>
            </a:r>
            <a:r>
              <a:rPr spc="-4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(cont.)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863179"/>
              </p:ext>
            </p:extLst>
          </p:nvPr>
        </p:nvGraphicFramePr>
        <p:xfrm>
          <a:off x="4567518" y="3288387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3223" y="3292869"/>
            <a:ext cx="430305" cy="13626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3223" y="4870658"/>
            <a:ext cx="430305" cy="430306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824503"/>
              </p:ext>
            </p:extLst>
          </p:nvPr>
        </p:nvGraphicFramePr>
        <p:xfrm>
          <a:off x="4567518" y="4866176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3223" y="5372681"/>
            <a:ext cx="430305" cy="430305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823014"/>
              </p:ext>
            </p:extLst>
          </p:nvPr>
        </p:nvGraphicFramePr>
        <p:xfrm>
          <a:off x="4567518" y="5368200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93223" y="2073671"/>
            <a:ext cx="430305" cy="430305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977721"/>
              </p:ext>
            </p:extLst>
          </p:nvPr>
        </p:nvGraphicFramePr>
        <p:xfrm>
          <a:off x="4567518" y="2069188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93223" y="2719129"/>
            <a:ext cx="430305" cy="430305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520145"/>
              </p:ext>
            </p:extLst>
          </p:nvPr>
        </p:nvGraphicFramePr>
        <p:xfrm>
          <a:off x="4567518" y="2714646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027105" y="2018437"/>
            <a:ext cx="2720805" cy="716826"/>
          </a:xfrm>
          <a:prstGeom prst="rect">
            <a:avLst/>
          </a:prstGeom>
        </p:spPr>
        <p:txBody>
          <a:bodyPr vert="horz" wrap="square" lIns="0" tIns="24093" rIns="0" bIns="0" rtlCol="0">
            <a:spAutoFit/>
          </a:bodyPr>
          <a:lstStyle/>
          <a:p>
            <a:pPr marL="11206" marR="4483">
              <a:lnSpc>
                <a:spcPts val="2735"/>
              </a:lnSpc>
              <a:spcBef>
                <a:spcPts val="190"/>
              </a:spcBef>
            </a:pPr>
            <a:r>
              <a:rPr sz="2400" spc="-9" dirty="0">
                <a:latin typeface="Calibri"/>
                <a:cs typeface="Calibri"/>
              </a:rPr>
              <a:t>After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load,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spc="-26" dirty="0">
                <a:latin typeface="Calibri"/>
                <a:cs typeface="Calibri"/>
              </a:rPr>
              <a:t>contents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look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like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this.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8944602-BAE0-3686-E1C1-308A194B0E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55377" y="6346231"/>
            <a:ext cx="3561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29</a:t>
            </a:fld>
            <a:endParaRPr lang="en-US" spc="-44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937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Set</a:t>
            </a:r>
            <a:r>
              <a:rPr spc="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associative</a:t>
            </a:r>
            <a:r>
              <a:rPr spc="4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cache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710952" y="3496236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715434" y="3500717"/>
            <a:ext cx="860612" cy="1362635"/>
            <a:chOff x="5191759" y="3967479"/>
            <a:chExt cx="975360" cy="15443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79439" y="3967479"/>
              <a:ext cx="487679" cy="1544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1759" y="3967479"/>
              <a:ext cx="487679" cy="154432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4715434" y="5078506"/>
            <a:ext cx="860612" cy="430306"/>
            <a:chOff x="5191759" y="5755640"/>
            <a:chExt cx="975360" cy="48768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1759" y="5755640"/>
              <a:ext cx="487679" cy="4876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9439" y="5755640"/>
              <a:ext cx="487679" cy="487680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710952" y="507402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4715434" y="5580529"/>
            <a:ext cx="860612" cy="430306"/>
            <a:chOff x="5191759" y="6324600"/>
            <a:chExt cx="975360" cy="48768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1759" y="6324600"/>
              <a:ext cx="487679" cy="4876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79439" y="6324600"/>
              <a:ext cx="487679" cy="487680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710952" y="5576047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4715434" y="2281518"/>
            <a:ext cx="860612" cy="430306"/>
            <a:chOff x="5191759" y="2585720"/>
            <a:chExt cx="975360" cy="48768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91759" y="2585720"/>
              <a:ext cx="487679" cy="4876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79439" y="2585720"/>
              <a:ext cx="487679" cy="487679"/>
            </a:xfrm>
            <a:prstGeom prst="rect">
              <a:avLst/>
            </a:prstGeom>
          </p:spPr>
        </p:pic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710952" y="2277035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4715434" y="2926976"/>
            <a:ext cx="860612" cy="430306"/>
            <a:chOff x="5191759" y="3317240"/>
            <a:chExt cx="975360" cy="487680"/>
          </a:xfrm>
        </p:grpSpPr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91759" y="3317240"/>
              <a:ext cx="487679" cy="48767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79439" y="3317240"/>
              <a:ext cx="487679" cy="487679"/>
            </a:xfrm>
            <a:prstGeom prst="rect">
              <a:avLst/>
            </a:prstGeom>
          </p:spPr>
        </p:pic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710952" y="292249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917537" y="1117451"/>
            <a:ext cx="7086040" cy="4832224"/>
          </a:xfrm>
          <a:prstGeom prst="rect">
            <a:avLst/>
          </a:prstGeom>
        </p:spPr>
        <p:txBody>
          <a:bodyPr vert="horz" wrap="square" lIns="0" tIns="177613" rIns="0" bIns="0" rtlCol="0">
            <a:spAutoFit/>
          </a:bodyPr>
          <a:lstStyle/>
          <a:p>
            <a:pPr marL="764282">
              <a:spcBef>
                <a:spcPts val="1399"/>
              </a:spcBef>
            </a:pPr>
            <a:r>
              <a:rPr sz="2294" b="1" spc="-22" dirty="0">
                <a:latin typeface="Calibri"/>
                <a:cs typeface="Calibri"/>
              </a:rPr>
              <a:t>Mapping</a:t>
            </a:r>
            <a:r>
              <a:rPr sz="2294" b="1" spc="-88" dirty="0">
                <a:latin typeface="Calibri"/>
                <a:cs typeface="Calibri"/>
              </a:rPr>
              <a:t> </a:t>
            </a:r>
            <a:r>
              <a:rPr sz="2294" b="1" dirty="0">
                <a:latin typeface="Calibri"/>
                <a:cs typeface="Calibri"/>
              </a:rPr>
              <a:t>Rule:</a:t>
            </a:r>
            <a:r>
              <a:rPr sz="2294" b="1" spc="-84" dirty="0">
                <a:latin typeface="Calibri"/>
                <a:cs typeface="Calibri"/>
              </a:rPr>
              <a:t> </a:t>
            </a:r>
            <a:r>
              <a:rPr sz="2294" b="1" spc="-9" dirty="0">
                <a:latin typeface="Calibri"/>
                <a:cs typeface="Calibri"/>
              </a:rPr>
              <a:t>Block</a:t>
            </a:r>
            <a:r>
              <a:rPr sz="2294" b="1" spc="-88" dirty="0">
                <a:latin typeface="Calibri"/>
                <a:cs typeface="Calibri"/>
              </a:rPr>
              <a:t> </a:t>
            </a:r>
            <a:r>
              <a:rPr sz="2294" b="1" spc="-22" dirty="0">
                <a:latin typeface="Calibri"/>
                <a:cs typeface="Calibri"/>
              </a:rPr>
              <a:t>Number</a:t>
            </a:r>
            <a:r>
              <a:rPr sz="2294" b="1" spc="-88" dirty="0">
                <a:latin typeface="Calibri"/>
                <a:cs typeface="Calibri"/>
              </a:rPr>
              <a:t> </a:t>
            </a:r>
            <a:r>
              <a:rPr sz="2294" b="1" dirty="0">
                <a:latin typeface="Calibri"/>
                <a:cs typeface="Calibri"/>
              </a:rPr>
              <a:t>%</a:t>
            </a:r>
            <a:r>
              <a:rPr sz="2294" b="1" spc="-93" dirty="0">
                <a:latin typeface="Calibri"/>
                <a:cs typeface="Calibri"/>
              </a:rPr>
              <a:t> </a:t>
            </a:r>
            <a:r>
              <a:rPr sz="2294" b="1" spc="-22" dirty="0">
                <a:latin typeface="Calibri"/>
                <a:cs typeface="Calibri"/>
              </a:rPr>
              <a:t>(Number</a:t>
            </a:r>
            <a:r>
              <a:rPr sz="2294" b="1" spc="-84" dirty="0">
                <a:latin typeface="Calibri"/>
                <a:cs typeface="Calibri"/>
              </a:rPr>
              <a:t> </a:t>
            </a:r>
            <a:r>
              <a:rPr sz="2294" b="1" dirty="0">
                <a:latin typeface="Calibri"/>
                <a:cs typeface="Calibri"/>
              </a:rPr>
              <a:t>of</a:t>
            </a:r>
            <a:r>
              <a:rPr sz="2294" b="1" spc="-79" dirty="0">
                <a:latin typeface="Calibri"/>
                <a:cs typeface="Calibri"/>
              </a:rPr>
              <a:t> </a:t>
            </a:r>
            <a:r>
              <a:rPr sz="2294" b="1" spc="-9" dirty="0">
                <a:latin typeface="Calibri"/>
                <a:cs typeface="Calibri"/>
              </a:rPr>
              <a:t>Sets)</a:t>
            </a:r>
            <a:endParaRPr sz="2294" dirty="0">
              <a:latin typeface="Calibri"/>
              <a:cs typeface="Calibri"/>
            </a:endParaRPr>
          </a:p>
          <a:p>
            <a:pPr marL="3884166">
              <a:lnSpc>
                <a:spcPts val="2457"/>
              </a:lnSpc>
              <a:spcBef>
                <a:spcPts val="1315"/>
              </a:spcBef>
              <a:tabLst>
                <a:tab pos="4752668" algn="l"/>
                <a:tab pos="5621731" algn="l"/>
                <a:tab pos="6490793" algn="l"/>
              </a:tabLst>
            </a:pPr>
            <a:r>
              <a:rPr sz="2294" dirty="0">
                <a:latin typeface="Times New Roman"/>
                <a:cs typeface="Times New Roman"/>
              </a:rPr>
              <a:t>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0</a:t>
            </a:r>
            <a:r>
              <a:rPr sz="2294" dirty="0">
                <a:latin typeface="Times New Roman"/>
                <a:cs typeface="Times New Roman"/>
              </a:rPr>
              <a:t>	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1</a:t>
            </a:r>
            <a:r>
              <a:rPr sz="2294" dirty="0">
                <a:latin typeface="Times New Roman"/>
                <a:cs typeface="Times New Roman"/>
              </a:rPr>
              <a:t>	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2</a:t>
            </a:r>
            <a:r>
              <a:rPr sz="2294" dirty="0">
                <a:latin typeface="Times New Roman"/>
                <a:cs typeface="Times New Roman"/>
              </a:rPr>
              <a:t>	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3</a:t>
            </a:r>
            <a:endParaRPr sz="2294" dirty="0">
              <a:latin typeface="Times New Roman"/>
              <a:cs typeface="Times New Roman"/>
            </a:endParaRPr>
          </a:p>
          <a:p>
            <a:pPr marL="11206" algn="just">
              <a:lnSpc>
                <a:spcPts val="2444"/>
              </a:lnSpc>
            </a:pPr>
            <a:r>
              <a:rPr sz="2294" b="1" i="1" dirty="0">
                <a:latin typeface="Calibri"/>
                <a:cs typeface="Calibri"/>
              </a:rPr>
              <a:t>Set</a:t>
            </a:r>
            <a:r>
              <a:rPr sz="2294" i="1" dirty="0">
                <a:latin typeface="Calibri"/>
                <a:cs typeface="Calibri"/>
              </a:rPr>
              <a:t>:</a:t>
            </a:r>
            <a:r>
              <a:rPr sz="2294" i="1" spc="-84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a</a:t>
            </a:r>
            <a:r>
              <a:rPr sz="2294" i="1" spc="-84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group</a:t>
            </a:r>
            <a:r>
              <a:rPr sz="2294" i="1" spc="-84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of</a:t>
            </a:r>
            <a:r>
              <a:rPr sz="2294" i="1" spc="-75" dirty="0">
                <a:latin typeface="Calibri"/>
                <a:cs typeface="Calibri"/>
              </a:rPr>
              <a:t> </a:t>
            </a:r>
            <a:r>
              <a:rPr sz="2294" i="1" spc="-18" dirty="0">
                <a:latin typeface="Calibri"/>
                <a:cs typeface="Calibri"/>
              </a:rPr>
              <a:t>blocks</a:t>
            </a:r>
            <a:r>
              <a:rPr sz="2294" i="1" spc="-79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in</a:t>
            </a:r>
            <a:r>
              <a:rPr sz="2294" i="1" spc="-84" dirty="0">
                <a:latin typeface="Calibri"/>
                <a:cs typeface="Calibri"/>
              </a:rPr>
              <a:t> </a:t>
            </a:r>
            <a:r>
              <a:rPr sz="2294" i="1" spc="-22" dirty="0">
                <a:latin typeface="Calibri"/>
                <a:cs typeface="Calibri"/>
              </a:rPr>
              <a:t>the</a:t>
            </a:r>
            <a:endParaRPr lang="en-US" sz="2294" dirty="0">
              <a:latin typeface="Calibri"/>
              <a:cs typeface="Calibri"/>
            </a:endParaRPr>
          </a:p>
          <a:p>
            <a:pPr marL="11206" marR="3633701" algn="just">
              <a:lnSpc>
                <a:spcPct val="98500"/>
              </a:lnSpc>
              <a:spcBef>
                <a:spcPts val="31"/>
              </a:spcBef>
            </a:pPr>
            <a:r>
              <a:rPr lang="en-US" sz="2294" i="1" spc="-18" dirty="0">
                <a:latin typeface="Calibri"/>
                <a:cs typeface="Calibri"/>
              </a:rPr>
              <a:t>cache.</a:t>
            </a:r>
            <a:r>
              <a:rPr lang="en-US" sz="2294" i="1" spc="-75" dirty="0">
                <a:latin typeface="Calibri"/>
                <a:cs typeface="Calibri"/>
              </a:rPr>
              <a:t> </a:t>
            </a:r>
            <a:r>
              <a:rPr lang="en-US" sz="2294" i="1" dirty="0">
                <a:latin typeface="Calibri"/>
                <a:cs typeface="Calibri"/>
              </a:rPr>
              <a:t>A</a:t>
            </a:r>
            <a:r>
              <a:rPr lang="en-US" sz="2294" i="1" spc="-84" dirty="0">
                <a:latin typeface="Calibri"/>
                <a:cs typeface="Calibri"/>
              </a:rPr>
              <a:t> </a:t>
            </a:r>
            <a:r>
              <a:rPr lang="en-US" sz="2294" i="1" spc="-9" dirty="0">
                <a:latin typeface="Calibri"/>
                <a:cs typeface="Calibri"/>
              </a:rPr>
              <a:t>block</a:t>
            </a:r>
            <a:r>
              <a:rPr lang="en-US" sz="2294" i="1" spc="-79" dirty="0">
                <a:latin typeface="Calibri"/>
                <a:cs typeface="Calibri"/>
              </a:rPr>
              <a:t> </a:t>
            </a:r>
            <a:r>
              <a:rPr lang="en-US" sz="2294" i="1" dirty="0">
                <a:latin typeface="Calibri"/>
                <a:cs typeface="Calibri"/>
              </a:rPr>
              <a:t>is</a:t>
            </a:r>
            <a:r>
              <a:rPr lang="en-US" sz="2294" i="1" spc="-71" dirty="0">
                <a:latin typeface="Calibri"/>
                <a:cs typeface="Calibri"/>
              </a:rPr>
              <a:t> </a:t>
            </a:r>
            <a:r>
              <a:rPr lang="en-US" sz="2294" i="1" dirty="0">
                <a:latin typeface="Calibri"/>
                <a:cs typeface="Calibri"/>
              </a:rPr>
              <a:t>first</a:t>
            </a:r>
            <a:r>
              <a:rPr lang="en-US" sz="2294" i="1" spc="-75" dirty="0">
                <a:latin typeface="Calibri"/>
                <a:cs typeface="Calibri"/>
              </a:rPr>
              <a:t> </a:t>
            </a:r>
            <a:r>
              <a:rPr lang="en-US" sz="2294" i="1" spc="-9" dirty="0">
                <a:latin typeface="Calibri"/>
                <a:cs typeface="Calibri"/>
              </a:rPr>
              <a:t>mapped </a:t>
            </a:r>
            <a:r>
              <a:rPr lang="en-US" sz="2294" i="1" spc="-18" dirty="0">
                <a:latin typeface="Calibri"/>
                <a:cs typeface="Calibri"/>
              </a:rPr>
              <a:t>onto</a:t>
            </a:r>
            <a:r>
              <a:rPr lang="en-US" sz="2294" i="1" spc="-88" dirty="0">
                <a:latin typeface="Calibri"/>
                <a:cs typeface="Calibri"/>
              </a:rPr>
              <a:t> </a:t>
            </a:r>
            <a:r>
              <a:rPr lang="en-US" sz="2294" i="1" dirty="0">
                <a:latin typeface="Calibri"/>
                <a:cs typeface="Calibri"/>
              </a:rPr>
              <a:t>a</a:t>
            </a:r>
            <a:r>
              <a:rPr lang="en-US" sz="2294" i="1" spc="-88" dirty="0">
                <a:latin typeface="Calibri"/>
                <a:cs typeface="Calibri"/>
              </a:rPr>
              <a:t> </a:t>
            </a:r>
            <a:r>
              <a:rPr lang="en-US" sz="2294" i="1" dirty="0">
                <a:latin typeface="Calibri"/>
                <a:cs typeface="Calibri"/>
              </a:rPr>
              <a:t>set</a:t>
            </a:r>
            <a:r>
              <a:rPr lang="en-US" sz="2294" i="1" spc="-84" dirty="0">
                <a:latin typeface="Calibri"/>
                <a:cs typeface="Calibri"/>
              </a:rPr>
              <a:t> </a:t>
            </a:r>
            <a:r>
              <a:rPr lang="en-US" sz="2294" i="1" dirty="0">
                <a:latin typeface="Calibri"/>
                <a:cs typeface="Calibri"/>
              </a:rPr>
              <a:t>and</a:t>
            </a:r>
            <a:r>
              <a:rPr lang="en-US" sz="2294" i="1" spc="-88" dirty="0">
                <a:latin typeface="Calibri"/>
                <a:cs typeface="Calibri"/>
              </a:rPr>
              <a:t> </a:t>
            </a:r>
            <a:r>
              <a:rPr lang="en-US" sz="2294" i="1" dirty="0">
                <a:latin typeface="Calibri"/>
                <a:cs typeface="Calibri"/>
              </a:rPr>
              <a:t>then</a:t>
            </a:r>
            <a:r>
              <a:rPr lang="en-US" sz="2294" i="1" spc="-88" dirty="0">
                <a:latin typeface="Calibri"/>
                <a:cs typeface="Calibri"/>
              </a:rPr>
              <a:t> </a:t>
            </a:r>
            <a:r>
              <a:rPr lang="en-US" sz="2294" i="1" dirty="0">
                <a:latin typeface="Calibri"/>
                <a:cs typeface="Calibri"/>
              </a:rPr>
              <a:t>it</a:t>
            </a:r>
            <a:r>
              <a:rPr lang="en-US" sz="2294" i="1" spc="-88" dirty="0">
                <a:latin typeface="Calibri"/>
                <a:cs typeface="Calibri"/>
              </a:rPr>
              <a:t> </a:t>
            </a:r>
            <a:r>
              <a:rPr lang="en-US" sz="2294" i="1" dirty="0">
                <a:latin typeface="Calibri"/>
                <a:cs typeface="Calibri"/>
              </a:rPr>
              <a:t>can</a:t>
            </a:r>
            <a:r>
              <a:rPr lang="en-US" sz="2294" i="1" spc="-88" dirty="0">
                <a:latin typeface="Calibri"/>
                <a:cs typeface="Calibri"/>
              </a:rPr>
              <a:t> </a:t>
            </a:r>
            <a:r>
              <a:rPr lang="en-US" sz="2294" i="1" spc="-22" dirty="0">
                <a:latin typeface="Calibri"/>
                <a:cs typeface="Calibri"/>
              </a:rPr>
              <a:t>be </a:t>
            </a:r>
            <a:r>
              <a:rPr lang="en-US" sz="2294" i="1" spc="-9" dirty="0">
                <a:latin typeface="Calibri"/>
                <a:cs typeface="Calibri"/>
              </a:rPr>
              <a:t>placed</a:t>
            </a:r>
            <a:r>
              <a:rPr lang="en-US" sz="2294" i="1" spc="-110" dirty="0">
                <a:latin typeface="Calibri"/>
                <a:cs typeface="Calibri"/>
              </a:rPr>
              <a:t> </a:t>
            </a:r>
            <a:r>
              <a:rPr lang="en-US" sz="2294" i="1" spc="-18" dirty="0">
                <a:latin typeface="Calibri"/>
                <a:cs typeface="Calibri"/>
              </a:rPr>
              <a:t>anywhere</a:t>
            </a:r>
            <a:r>
              <a:rPr lang="en-US" sz="2294" i="1" spc="-106" dirty="0">
                <a:latin typeface="Calibri"/>
                <a:cs typeface="Calibri"/>
              </a:rPr>
              <a:t> </a:t>
            </a:r>
            <a:r>
              <a:rPr lang="en-US" sz="2294" i="1" spc="-9" dirty="0">
                <a:latin typeface="Calibri"/>
                <a:cs typeface="Calibri"/>
              </a:rPr>
              <a:t>within</a:t>
            </a:r>
            <a:r>
              <a:rPr lang="en-US" sz="2294" i="1" spc="-110" dirty="0">
                <a:latin typeface="Calibri"/>
                <a:cs typeface="Calibri"/>
              </a:rPr>
              <a:t> </a:t>
            </a:r>
            <a:r>
              <a:rPr lang="en-US" sz="2294" i="1" spc="-18" dirty="0">
                <a:latin typeface="Calibri"/>
                <a:cs typeface="Calibri"/>
              </a:rPr>
              <a:t>that set.</a:t>
            </a:r>
            <a:endParaRPr lang="en-US" sz="2294" dirty="0">
              <a:latin typeface="Calibri"/>
              <a:cs typeface="Calibri"/>
            </a:endParaRPr>
          </a:p>
          <a:p>
            <a:pPr marL="11206" marR="3683570" algn="just">
              <a:lnSpc>
                <a:spcPct val="98500"/>
              </a:lnSpc>
              <a:spcBef>
                <a:spcPts val="2753"/>
              </a:spcBef>
            </a:pPr>
            <a:r>
              <a:rPr sz="2294" spc="-9" dirty="0">
                <a:latin typeface="Calibri"/>
                <a:cs typeface="Calibri"/>
              </a:rPr>
              <a:t>For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example,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if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divide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cache into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4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sets,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14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(octal) </a:t>
            </a:r>
            <a:r>
              <a:rPr sz="2294" dirty="0">
                <a:latin typeface="Calibri"/>
                <a:cs typeface="Calibri"/>
              </a:rPr>
              <a:t>can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be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put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in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any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in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Set </a:t>
            </a:r>
            <a:r>
              <a:rPr sz="2294" dirty="0">
                <a:latin typeface="Calibri"/>
                <a:cs typeface="Calibri"/>
              </a:rPr>
              <a:t>0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(</a:t>
            </a:r>
            <a:r>
              <a:rPr sz="2294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since</a:t>
            </a:r>
            <a:r>
              <a:rPr sz="2294" u="heavy" spc="-8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94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last</a:t>
            </a:r>
            <a:r>
              <a:rPr sz="2294" u="heavy" spc="-8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94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two</a:t>
            </a:r>
            <a:r>
              <a:rPr sz="2294" u="heavy" spc="-9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94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bits</a:t>
            </a:r>
            <a:r>
              <a:rPr sz="2294" u="heavy" spc="-8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94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294" u="heavy" spc="-7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94" u="heavy" spc="-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14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u="heavy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octal</a:t>
            </a:r>
            <a:r>
              <a:rPr sz="2294" u="heavy" spc="-9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94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are</a:t>
            </a:r>
            <a:r>
              <a:rPr sz="2294" u="heavy" spc="-9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94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zero</a:t>
            </a:r>
            <a:r>
              <a:rPr sz="2294" spc="-9" dirty="0">
                <a:latin typeface="Calibri"/>
                <a:cs typeface="Calibri"/>
              </a:rPr>
              <a:t>).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D73A144-8F57-D91B-C183-772FC45FAC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6666" y="6346231"/>
            <a:ext cx="3561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30</a:t>
            </a:fld>
            <a:endParaRPr lang="en-US" spc="-4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937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Set</a:t>
            </a:r>
            <a:r>
              <a:rPr spc="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associative</a:t>
            </a:r>
            <a:r>
              <a:rPr spc="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cache</a:t>
            </a:r>
            <a:r>
              <a:rPr spc="9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(cont.)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856"/>
              </p:ext>
            </p:extLst>
          </p:nvPr>
        </p:nvGraphicFramePr>
        <p:xfrm>
          <a:off x="4623963" y="3330222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8445" y="3334705"/>
            <a:ext cx="430305" cy="1362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8445" y="4912492"/>
            <a:ext cx="430305" cy="430306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534498"/>
              </p:ext>
            </p:extLst>
          </p:nvPr>
        </p:nvGraphicFramePr>
        <p:xfrm>
          <a:off x="4623963" y="4908010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28445" y="5414516"/>
            <a:ext cx="430305" cy="430305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955686"/>
              </p:ext>
            </p:extLst>
          </p:nvPr>
        </p:nvGraphicFramePr>
        <p:xfrm>
          <a:off x="4623963" y="541003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28445" y="2115505"/>
            <a:ext cx="430305" cy="430305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430066"/>
              </p:ext>
            </p:extLst>
          </p:nvPr>
        </p:nvGraphicFramePr>
        <p:xfrm>
          <a:off x="4623963" y="2111021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28445" y="2760963"/>
            <a:ext cx="430305" cy="430305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847766"/>
              </p:ext>
            </p:extLst>
          </p:nvPr>
        </p:nvGraphicFramePr>
        <p:xfrm>
          <a:off x="4623963" y="2756481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989254" y="2074881"/>
            <a:ext cx="3198923" cy="1062508"/>
          </a:xfrm>
          <a:prstGeom prst="rect">
            <a:avLst/>
          </a:prstGeom>
        </p:spPr>
        <p:txBody>
          <a:bodyPr vert="horz" wrap="square" lIns="0" tIns="23532" rIns="0" bIns="0" rtlCol="0">
            <a:spAutoFit/>
          </a:bodyPr>
          <a:lstStyle/>
          <a:p>
            <a:pPr marL="11206" marR="4483" algn="just">
              <a:lnSpc>
                <a:spcPts val="2735"/>
              </a:lnSpc>
              <a:spcBef>
                <a:spcPts val="185"/>
              </a:spcBef>
            </a:pPr>
            <a:r>
              <a:rPr sz="2294" dirty="0">
                <a:latin typeface="Calibri"/>
                <a:cs typeface="Calibri"/>
              </a:rPr>
              <a:t>So</a:t>
            </a:r>
            <a:r>
              <a:rPr lang="en-US" sz="2294" dirty="0">
                <a:latin typeface="Calibri"/>
                <a:cs typeface="Calibri"/>
              </a:rPr>
              <a:t>,</a:t>
            </a:r>
            <a:r>
              <a:rPr sz="2294" spc="-101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after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loading</a:t>
            </a:r>
            <a:r>
              <a:rPr sz="2294" spc="-97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the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block, cache</a:t>
            </a:r>
            <a:r>
              <a:rPr sz="2294" spc="-97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memory</a:t>
            </a:r>
            <a:r>
              <a:rPr sz="2294" spc="-97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might</a:t>
            </a:r>
            <a:r>
              <a:rPr sz="2294" spc="-97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look like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this.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03300" y="1632755"/>
            <a:ext cx="606238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dirty="0">
                <a:latin typeface="Times New Roman"/>
                <a:cs typeface="Times New Roman"/>
              </a:rPr>
              <a:t>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0</a:t>
            </a:r>
            <a:endParaRPr sz="2294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72290" y="1632755"/>
            <a:ext cx="606238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dirty="0">
                <a:latin typeface="Times New Roman"/>
                <a:cs typeface="Times New Roman"/>
              </a:rPr>
              <a:t>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1</a:t>
            </a:r>
            <a:endParaRPr sz="2294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1281" y="1632755"/>
            <a:ext cx="606238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dirty="0">
                <a:latin typeface="Times New Roman"/>
                <a:cs typeface="Times New Roman"/>
              </a:rPr>
              <a:t>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2</a:t>
            </a:r>
            <a:endParaRPr sz="2294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10271" y="1632755"/>
            <a:ext cx="606238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dirty="0">
                <a:latin typeface="Times New Roman"/>
                <a:cs typeface="Times New Roman"/>
              </a:rPr>
              <a:t>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3</a:t>
            </a:r>
            <a:endParaRPr sz="2294">
              <a:latin typeface="Times New Roman"/>
              <a:cs typeface="Times New Roman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179D2CD-749A-1D51-6A29-094CF2A5AE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6666" y="6346231"/>
            <a:ext cx="3561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31</a:t>
            </a:fld>
            <a:endParaRPr lang="en-US" spc="-4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2">
            <a:extLst>
              <a:ext uri="{FF2B5EF4-FFF2-40B4-BE49-F238E27FC236}">
                <a16:creationId xmlns:a16="http://schemas.microsoft.com/office/drawing/2014/main" id="{92CA78C6-A6F5-708E-42C8-C7B56D310AC0}"/>
              </a:ext>
            </a:extLst>
          </p:cNvPr>
          <p:cNvSpPr/>
          <p:nvPr/>
        </p:nvSpPr>
        <p:spPr>
          <a:xfrm>
            <a:off x="2168995" y="2214667"/>
            <a:ext cx="1710267" cy="404739"/>
          </a:xfrm>
          <a:custGeom>
            <a:avLst/>
            <a:gdLst/>
            <a:ahLst/>
            <a:cxnLst/>
            <a:rect l="l" t="t" r="r" b="b"/>
            <a:pathLst>
              <a:path w="1089025" h="596900">
                <a:moveTo>
                  <a:pt x="1088932" y="0"/>
                </a:moveTo>
                <a:lnTo>
                  <a:pt x="0" y="0"/>
                </a:lnTo>
                <a:lnTo>
                  <a:pt x="0" y="596900"/>
                </a:lnTo>
                <a:lnTo>
                  <a:pt x="1088932" y="596900"/>
                </a:lnTo>
                <a:lnTo>
                  <a:pt x="10889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19076-D234-0C1A-715C-A6EAB45619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55377" y="6346231"/>
            <a:ext cx="36745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32</a:t>
            </a:fld>
            <a:endParaRPr lang="en-US" spc="-44" dirty="0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A2546EE5-E2A0-A0B2-FACB-90FA15F0A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473329"/>
              </p:ext>
            </p:extLst>
          </p:nvPr>
        </p:nvGraphicFramePr>
        <p:xfrm>
          <a:off x="4621472" y="3320595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object 3">
            <a:extLst>
              <a:ext uri="{FF2B5EF4-FFF2-40B4-BE49-F238E27FC236}">
                <a16:creationId xmlns:a16="http://schemas.microsoft.com/office/drawing/2014/main" id="{850A78CB-350B-8217-6B58-4E621C83FBA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5954" y="3325076"/>
            <a:ext cx="430305" cy="1362635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50E5F25B-9CE2-FBA1-CF2A-DFD3C0F6B13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25954" y="4902865"/>
            <a:ext cx="430305" cy="430306"/>
          </a:xfrm>
          <a:prstGeom prst="rect">
            <a:avLst/>
          </a:prstGeom>
        </p:spPr>
      </p:pic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A15CEAA7-6DD4-1CE9-B779-DEAC69B68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762548"/>
              </p:ext>
            </p:extLst>
          </p:nvPr>
        </p:nvGraphicFramePr>
        <p:xfrm>
          <a:off x="4621472" y="489838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object 6">
            <a:extLst>
              <a:ext uri="{FF2B5EF4-FFF2-40B4-BE49-F238E27FC236}">
                <a16:creationId xmlns:a16="http://schemas.microsoft.com/office/drawing/2014/main" id="{EBDA5C39-A140-6F86-4EEE-424F8FD40FD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25954" y="5404888"/>
            <a:ext cx="430305" cy="430306"/>
          </a:xfrm>
          <a:prstGeom prst="rect">
            <a:avLst/>
          </a:prstGeom>
        </p:spPr>
      </p:pic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E2FAD316-DCC0-8E50-2795-73595DB3E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380540"/>
              </p:ext>
            </p:extLst>
          </p:nvPr>
        </p:nvGraphicFramePr>
        <p:xfrm>
          <a:off x="4621472" y="5400405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8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8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8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8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8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8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8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8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object 8">
            <a:extLst>
              <a:ext uri="{FF2B5EF4-FFF2-40B4-BE49-F238E27FC236}">
                <a16:creationId xmlns:a16="http://schemas.microsoft.com/office/drawing/2014/main" id="{341A2C12-D9EB-CD98-D567-B40C0C0BA02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25954" y="2105877"/>
            <a:ext cx="430305" cy="430305"/>
          </a:xfrm>
          <a:prstGeom prst="rect">
            <a:avLst/>
          </a:prstGeom>
        </p:spPr>
      </p:pic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345E3763-E41E-8A55-FB4E-EFB407301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415229"/>
              </p:ext>
            </p:extLst>
          </p:nvPr>
        </p:nvGraphicFramePr>
        <p:xfrm>
          <a:off x="4621472" y="2101395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object 10">
            <a:extLst>
              <a:ext uri="{FF2B5EF4-FFF2-40B4-BE49-F238E27FC236}">
                <a16:creationId xmlns:a16="http://schemas.microsoft.com/office/drawing/2014/main" id="{7CD98C3A-65A2-7AE9-0146-E04EBF12C8B3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25954" y="2751336"/>
            <a:ext cx="430305" cy="430305"/>
          </a:xfrm>
          <a:prstGeom prst="rect">
            <a:avLst/>
          </a:prstGeom>
        </p:spPr>
      </p:pic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D92DA918-8661-F340-7F3B-0646041B9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08142"/>
              </p:ext>
            </p:extLst>
          </p:nvPr>
        </p:nvGraphicFramePr>
        <p:xfrm>
          <a:off x="4621472" y="2746854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2">
            <a:extLst>
              <a:ext uri="{FF2B5EF4-FFF2-40B4-BE49-F238E27FC236}">
                <a16:creationId xmlns:a16="http://schemas.microsoft.com/office/drawing/2014/main" id="{CD1705D2-5BDD-D042-25D8-5E529C15A3C9}"/>
              </a:ext>
            </a:extLst>
          </p:cNvPr>
          <p:cNvSpPr/>
          <p:nvPr/>
        </p:nvSpPr>
        <p:spPr>
          <a:xfrm>
            <a:off x="1871898" y="3566834"/>
            <a:ext cx="749182" cy="404739"/>
          </a:xfrm>
          <a:custGeom>
            <a:avLst/>
            <a:gdLst/>
            <a:ahLst/>
            <a:cxnLst/>
            <a:rect l="l" t="t" r="r" b="b"/>
            <a:pathLst>
              <a:path w="1089025" h="596900">
                <a:moveTo>
                  <a:pt x="1088932" y="0"/>
                </a:moveTo>
                <a:lnTo>
                  <a:pt x="0" y="0"/>
                </a:lnTo>
                <a:lnTo>
                  <a:pt x="0" y="596900"/>
                </a:lnTo>
                <a:lnTo>
                  <a:pt x="1088932" y="596900"/>
                </a:lnTo>
                <a:lnTo>
                  <a:pt x="10889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6861F1BB-084D-6DF3-72CA-DE974C38D78F}"/>
              </a:ext>
            </a:extLst>
          </p:cNvPr>
          <p:cNvSpPr/>
          <p:nvPr/>
        </p:nvSpPr>
        <p:spPr>
          <a:xfrm>
            <a:off x="3589380" y="4422072"/>
            <a:ext cx="587292" cy="422730"/>
          </a:xfrm>
          <a:custGeom>
            <a:avLst/>
            <a:gdLst/>
            <a:ahLst/>
            <a:cxnLst/>
            <a:rect l="l" t="t" r="r" b="b"/>
            <a:pathLst>
              <a:path w="756285" h="660400">
                <a:moveTo>
                  <a:pt x="755902" y="0"/>
                </a:moveTo>
                <a:lnTo>
                  <a:pt x="0" y="0"/>
                </a:lnTo>
                <a:lnTo>
                  <a:pt x="0" y="660400"/>
                </a:lnTo>
                <a:lnTo>
                  <a:pt x="755902" y="660400"/>
                </a:lnTo>
                <a:lnTo>
                  <a:pt x="75590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FBE665C9-76AE-BD49-94F7-EF164FB04CA9}"/>
              </a:ext>
            </a:extLst>
          </p:cNvPr>
          <p:cNvSpPr txBox="1"/>
          <p:nvPr/>
        </p:nvSpPr>
        <p:spPr>
          <a:xfrm>
            <a:off x="771611" y="1892450"/>
            <a:ext cx="3473011" cy="2899851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>
              <a:lnSpc>
                <a:spcPct val="99700"/>
              </a:lnSpc>
              <a:spcBef>
                <a:spcPts val="93"/>
              </a:spcBef>
              <a:spcAft>
                <a:spcPts val="600"/>
              </a:spcAft>
            </a:pPr>
            <a:r>
              <a:rPr sz="2200" i="1" dirty="0">
                <a:latin typeface="Calibri"/>
                <a:cs typeface="Calibri"/>
              </a:rPr>
              <a:t>Note</a:t>
            </a:r>
            <a:r>
              <a:rPr sz="2200" i="1" spc="9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that the</a:t>
            </a:r>
            <a:r>
              <a:rPr sz="2200" i="1" spc="9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last two</a:t>
            </a:r>
            <a:r>
              <a:rPr sz="2200" i="1" spc="13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bits</a:t>
            </a:r>
            <a:r>
              <a:rPr sz="2200" i="1" spc="4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of</a:t>
            </a:r>
            <a:r>
              <a:rPr sz="2200" i="1" spc="4" dirty="0">
                <a:latin typeface="Calibri"/>
                <a:cs typeface="Calibri"/>
              </a:rPr>
              <a:t> </a:t>
            </a:r>
            <a:r>
              <a:rPr sz="2200" i="1" spc="-22" dirty="0">
                <a:latin typeface="Calibri"/>
                <a:cs typeface="Calibri"/>
              </a:rPr>
              <a:t>the </a:t>
            </a:r>
            <a:r>
              <a:rPr sz="2200" i="1" dirty="0">
                <a:latin typeface="Calibri"/>
                <a:cs typeface="Calibri"/>
              </a:rPr>
              <a:t>memory</a:t>
            </a:r>
            <a:r>
              <a:rPr sz="2200" i="1" spc="26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block</a:t>
            </a:r>
            <a:r>
              <a:rPr sz="2200" b="1" i="1" spc="31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address</a:t>
            </a:r>
            <a:r>
              <a:rPr sz="2200" b="1" i="1" spc="40" dirty="0">
                <a:latin typeface="Calibri"/>
                <a:cs typeface="Calibri"/>
              </a:rPr>
              <a:t> </a:t>
            </a:r>
            <a:r>
              <a:rPr sz="2200" i="1" spc="-9" dirty="0">
                <a:latin typeface="Calibri"/>
                <a:cs typeface="Calibri"/>
              </a:rPr>
              <a:t>always </a:t>
            </a:r>
            <a:r>
              <a:rPr sz="2200" i="1" dirty="0">
                <a:latin typeface="Calibri"/>
                <a:cs typeface="Calibri"/>
              </a:rPr>
              <a:t>match</a:t>
            </a:r>
            <a:r>
              <a:rPr sz="2200" i="1" spc="-4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the set</a:t>
            </a:r>
            <a:r>
              <a:rPr sz="2200" i="1" spc="-9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number,</a:t>
            </a:r>
            <a:r>
              <a:rPr sz="2200" i="1" spc="-4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so do</a:t>
            </a:r>
            <a:r>
              <a:rPr sz="2200" i="1" spc="-4" dirty="0">
                <a:latin typeface="Calibri"/>
                <a:cs typeface="Calibri"/>
              </a:rPr>
              <a:t> </a:t>
            </a:r>
            <a:r>
              <a:rPr sz="2200" i="1" spc="-22" dirty="0">
                <a:latin typeface="Calibri"/>
                <a:cs typeface="Calibri"/>
              </a:rPr>
              <a:t>not </a:t>
            </a:r>
            <a:r>
              <a:rPr sz="2200" i="1" dirty="0">
                <a:latin typeface="Calibri"/>
                <a:cs typeface="Calibri"/>
              </a:rPr>
              <a:t>need</a:t>
            </a:r>
            <a:r>
              <a:rPr sz="2200" i="1" spc="9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to</a:t>
            </a:r>
            <a:r>
              <a:rPr sz="2200" i="1" spc="9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be</a:t>
            </a:r>
            <a:r>
              <a:rPr sz="2200" i="1" spc="13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stored. This</a:t>
            </a:r>
            <a:r>
              <a:rPr sz="2200" i="1" spc="9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part</a:t>
            </a:r>
            <a:r>
              <a:rPr sz="2200" i="1" spc="4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of</a:t>
            </a:r>
            <a:r>
              <a:rPr sz="2200" i="1" spc="9" dirty="0">
                <a:latin typeface="Calibri"/>
                <a:cs typeface="Calibri"/>
              </a:rPr>
              <a:t> </a:t>
            </a:r>
            <a:r>
              <a:rPr sz="2200" i="1" spc="-22" dirty="0">
                <a:latin typeface="Calibri"/>
                <a:cs typeface="Calibri"/>
              </a:rPr>
              <a:t>the </a:t>
            </a:r>
            <a:r>
              <a:rPr sz="2200" i="1" dirty="0">
                <a:latin typeface="Calibri"/>
                <a:cs typeface="Calibri"/>
              </a:rPr>
              <a:t>address</a:t>
            </a:r>
            <a:r>
              <a:rPr sz="2200" i="1" spc="13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is</a:t>
            </a:r>
            <a:r>
              <a:rPr sz="2200" i="1" spc="18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called</a:t>
            </a:r>
            <a:r>
              <a:rPr sz="2200" i="1" spc="13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the</a:t>
            </a:r>
            <a:r>
              <a:rPr sz="2200" i="1" spc="22" dirty="0">
                <a:latin typeface="Calibri"/>
                <a:cs typeface="Calibri"/>
              </a:rPr>
              <a:t> </a:t>
            </a:r>
            <a:r>
              <a:rPr sz="2200" b="1" i="1" spc="-9" dirty="0">
                <a:latin typeface="Calibri"/>
                <a:cs typeface="Calibri"/>
              </a:rPr>
              <a:t>index</a:t>
            </a:r>
            <a:r>
              <a:rPr sz="2200" i="1" spc="-9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11206" marR="122711">
              <a:spcBef>
                <a:spcPts val="754"/>
              </a:spcBef>
              <a:spcAft>
                <a:spcPts val="600"/>
              </a:spcAf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order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bits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 </a:t>
            </a:r>
            <a:r>
              <a:rPr lang="en-US" sz="2200" spc="-9" dirty="0">
                <a:latin typeface="Calibri"/>
                <a:cs typeface="Calibri"/>
              </a:rPr>
              <a:t>stored and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b="1" i="1" spc="-18" dirty="0">
                <a:latin typeface="Calibri"/>
                <a:cs typeface="Calibri"/>
              </a:rPr>
              <a:t>tag</a:t>
            </a:r>
            <a:r>
              <a:rPr sz="2200" b="1" spc="-18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5650ADDA-E79B-4DB2-DEA1-7E931435C5F9}"/>
              </a:ext>
            </a:extLst>
          </p:cNvPr>
          <p:cNvSpPr txBox="1"/>
          <p:nvPr/>
        </p:nvSpPr>
        <p:spPr>
          <a:xfrm>
            <a:off x="910830" y="674362"/>
            <a:ext cx="7003116" cy="133898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dirty="0">
                <a:solidFill>
                  <a:srgbClr val="0332B7"/>
                </a:solidFill>
                <a:latin typeface="Arial MT"/>
                <a:cs typeface="Arial MT"/>
              </a:rPr>
              <a:t>Set</a:t>
            </a:r>
            <a:r>
              <a:rPr sz="3000" spc="9" dirty="0">
                <a:solidFill>
                  <a:srgbClr val="0332B7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332B7"/>
                </a:solidFill>
                <a:latin typeface="Arial MT"/>
                <a:cs typeface="Arial MT"/>
              </a:rPr>
              <a:t>associative</a:t>
            </a:r>
            <a:r>
              <a:rPr sz="3000" spc="4" dirty="0">
                <a:solidFill>
                  <a:srgbClr val="0332B7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332B7"/>
                </a:solidFill>
                <a:latin typeface="Arial MT"/>
                <a:cs typeface="Arial MT"/>
              </a:rPr>
              <a:t>cache</a:t>
            </a:r>
            <a:r>
              <a:rPr sz="3000" spc="9" dirty="0">
                <a:solidFill>
                  <a:srgbClr val="0332B7"/>
                </a:solidFill>
                <a:latin typeface="Arial MT"/>
                <a:cs typeface="Arial MT"/>
              </a:rPr>
              <a:t> </a:t>
            </a:r>
            <a:r>
              <a:rPr sz="3000" spc="-9" dirty="0">
                <a:solidFill>
                  <a:srgbClr val="0332B7"/>
                </a:solidFill>
                <a:latin typeface="Arial MT"/>
                <a:cs typeface="Arial MT"/>
              </a:rPr>
              <a:t>(cont.)</a:t>
            </a:r>
            <a:endParaRPr sz="3000" dirty="0">
              <a:latin typeface="Arial MT"/>
              <a:cs typeface="Arial MT"/>
            </a:endParaRPr>
          </a:p>
          <a:p>
            <a:pPr>
              <a:spcBef>
                <a:spcPts val="432"/>
              </a:spcBef>
            </a:pPr>
            <a:endParaRPr sz="3000" dirty="0">
              <a:latin typeface="Arial MT"/>
              <a:cs typeface="Arial MT"/>
            </a:endParaRPr>
          </a:p>
          <a:p>
            <a:pPr marL="3801238">
              <a:tabLst>
                <a:tab pos="4670301" algn="l"/>
                <a:tab pos="5539363" algn="l"/>
                <a:tab pos="6408426" algn="l"/>
              </a:tabLst>
            </a:pPr>
            <a:r>
              <a:rPr sz="2294" dirty="0">
                <a:latin typeface="Times New Roman"/>
                <a:cs typeface="Times New Roman"/>
              </a:rPr>
              <a:t>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0</a:t>
            </a:r>
            <a:r>
              <a:rPr sz="2294" dirty="0">
                <a:latin typeface="Times New Roman"/>
                <a:cs typeface="Times New Roman"/>
              </a:rPr>
              <a:t>	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1</a:t>
            </a:r>
            <a:r>
              <a:rPr sz="2294" dirty="0">
                <a:latin typeface="Times New Roman"/>
                <a:cs typeface="Times New Roman"/>
              </a:rPr>
              <a:t>	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2</a:t>
            </a:r>
            <a:r>
              <a:rPr sz="2294" dirty="0">
                <a:latin typeface="Times New Roman"/>
                <a:cs typeface="Times New Roman"/>
              </a:rPr>
              <a:t>	Set</a:t>
            </a:r>
            <a:r>
              <a:rPr sz="2294" spc="-71" dirty="0">
                <a:latin typeface="Times New Roman"/>
                <a:cs typeface="Times New Roman"/>
              </a:rPr>
              <a:t> </a:t>
            </a:r>
            <a:r>
              <a:rPr sz="2294" spc="-44" dirty="0">
                <a:latin typeface="Times New Roman"/>
                <a:cs typeface="Times New Roman"/>
              </a:rPr>
              <a:t>3</a:t>
            </a:r>
            <a:endParaRPr sz="2294" dirty="0">
              <a:latin typeface="Times New Roman"/>
              <a:cs typeface="Times New Roman"/>
            </a:endParaRPr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04F295EF-607D-94B1-A5EA-A62430952C40}"/>
              </a:ext>
            </a:extLst>
          </p:cNvPr>
          <p:cNvSpPr txBox="1"/>
          <p:nvPr/>
        </p:nvSpPr>
        <p:spPr>
          <a:xfrm>
            <a:off x="805478" y="5673017"/>
            <a:ext cx="1429722" cy="28831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1" i="1" spc="-9" dirty="0">
                <a:solidFill>
                  <a:srgbClr val="FC0128"/>
                </a:solidFill>
                <a:latin typeface="Arial"/>
                <a:cs typeface="Arial"/>
              </a:rPr>
              <a:t>Recall: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21" name="object 18">
            <a:extLst>
              <a:ext uri="{FF2B5EF4-FFF2-40B4-BE49-F238E27FC236}">
                <a16:creationId xmlns:a16="http://schemas.microsoft.com/office/drawing/2014/main" id="{965AB869-6DC8-F7A1-6444-45DFF3ED53C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5478" y="6015639"/>
            <a:ext cx="5057424" cy="584356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734C95-00A0-138F-07C5-32E998A3A514}"/>
              </a:ext>
            </a:extLst>
          </p:cNvPr>
          <p:cNvCxnSpPr>
            <a:cxnSpLocks/>
          </p:cNvCxnSpPr>
          <p:nvPr/>
        </p:nvCxnSpPr>
        <p:spPr>
          <a:xfrm>
            <a:off x="3879262" y="2540000"/>
            <a:ext cx="821233" cy="162550"/>
          </a:xfrm>
          <a:prstGeom prst="straightConnector1">
            <a:avLst/>
          </a:prstGeom>
          <a:ln w="19050">
            <a:headEnd w="med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43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74743"/>
            <a:ext cx="6549865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Set</a:t>
            </a:r>
            <a:r>
              <a:rPr spc="18" dirty="0"/>
              <a:t> </a:t>
            </a:r>
            <a:r>
              <a:rPr dirty="0"/>
              <a:t>associative</a:t>
            </a:r>
            <a:r>
              <a:rPr spc="13" dirty="0"/>
              <a:t> </a:t>
            </a:r>
            <a:r>
              <a:rPr dirty="0"/>
              <a:t>cache</a:t>
            </a:r>
            <a:r>
              <a:rPr spc="13" dirty="0"/>
              <a:t> </a:t>
            </a:r>
            <a:r>
              <a:rPr spc="-9" dirty="0"/>
              <a:t>replacement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5" y="1337386"/>
            <a:ext cx="7706021" cy="2759164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279602" indent="-268395">
              <a:spcBef>
                <a:spcPts val="596"/>
              </a:spcBef>
              <a:spcAft>
                <a:spcPts val="1200"/>
              </a:spcAft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entry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replace?</a:t>
            </a: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507"/>
              </a:spcBef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common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choices:</a:t>
            </a:r>
            <a:endParaRPr sz="2400" dirty="0">
              <a:latin typeface="Calibri"/>
              <a:cs typeface="Calibri"/>
            </a:endParaRPr>
          </a:p>
          <a:p>
            <a:pPr marL="654458" lvl="1" indent="-213483">
              <a:spcBef>
                <a:spcPts val="427"/>
              </a:spcBef>
              <a:spcAft>
                <a:spcPts val="600"/>
              </a:spcAft>
              <a:buChar char="–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Replace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eligible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random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block</a:t>
            </a:r>
            <a:endParaRPr sz="2200" dirty="0">
              <a:latin typeface="Calibri"/>
              <a:cs typeface="Calibri"/>
            </a:endParaRPr>
          </a:p>
          <a:p>
            <a:pPr marL="654458" lvl="1" indent="-213483">
              <a:spcBef>
                <a:spcPts val="463"/>
              </a:spcBef>
              <a:buChar char="–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Replace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least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recently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(LRU)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block</a:t>
            </a:r>
            <a:endParaRPr sz="2200" dirty="0">
              <a:latin typeface="Calibri"/>
              <a:cs typeface="Calibri"/>
            </a:endParaRPr>
          </a:p>
          <a:p>
            <a:pPr marL="871304">
              <a:spcBef>
                <a:spcPts val="446"/>
              </a:spcBef>
              <a:spcAft>
                <a:spcPts val="600"/>
              </a:spcAft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sz="2200" spc="31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hard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keep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track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of,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approximated</a:t>
            </a:r>
            <a:endParaRPr sz="2200" dirty="0">
              <a:latin typeface="Calibri"/>
              <a:cs typeface="Calibri"/>
            </a:endParaRPr>
          </a:p>
          <a:p>
            <a:pPr marL="654458" lvl="1" indent="-213483">
              <a:spcBef>
                <a:spcPts val="383"/>
              </a:spcBef>
              <a:buChar char="–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Replace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oldest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eligible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block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(First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In,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First Out,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FIFO)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AC7F0-B42E-9941-78DB-332ADF3620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6667" y="6346231"/>
            <a:ext cx="401316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33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Fully</a:t>
            </a:r>
            <a:r>
              <a:rPr spc="22" dirty="0"/>
              <a:t> </a:t>
            </a:r>
            <a:r>
              <a:rPr dirty="0"/>
              <a:t>associative</a:t>
            </a:r>
            <a:r>
              <a:rPr spc="18" dirty="0"/>
              <a:t> </a:t>
            </a:r>
            <a:r>
              <a:rPr spc="-9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7879" y="1961926"/>
            <a:ext cx="3342715" cy="3918907"/>
          </a:xfrm>
          <a:prstGeom prst="rect">
            <a:avLst/>
          </a:prstGeom>
        </p:spPr>
        <p:txBody>
          <a:bodyPr vert="horz" wrap="square" lIns="0" tIns="24652" rIns="0" bIns="0" rtlCol="0">
            <a:spAutoFit/>
          </a:bodyPr>
          <a:lstStyle/>
          <a:p>
            <a:pPr marL="11206" marR="339556">
              <a:lnSpc>
                <a:spcPts val="2735"/>
              </a:lnSpc>
              <a:spcBef>
                <a:spcPts val="193"/>
              </a:spcBef>
            </a:pPr>
            <a:r>
              <a:rPr sz="2294" dirty="0">
                <a:latin typeface="Calibri"/>
                <a:cs typeface="Calibri"/>
              </a:rPr>
              <a:t>In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b="1" dirty="0">
                <a:latin typeface="Calibri"/>
                <a:cs typeface="Calibri"/>
              </a:rPr>
              <a:t>fully</a:t>
            </a:r>
            <a:r>
              <a:rPr sz="2294" b="1" spc="-75" dirty="0">
                <a:latin typeface="Calibri"/>
                <a:cs typeface="Calibri"/>
              </a:rPr>
              <a:t> </a:t>
            </a:r>
            <a:r>
              <a:rPr sz="2294" b="1" spc="-22" dirty="0">
                <a:latin typeface="Calibri"/>
                <a:cs typeface="Calibri"/>
              </a:rPr>
              <a:t>associative</a:t>
            </a:r>
            <a:r>
              <a:rPr sz="2294" b="1" spc="-71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cache, </a:t>
            </a:r>
            <a:r>
              <a:rPr sz="2294" spc="-18" dirty="0">
                <a:latin typeface="Calibri"/>
                <a:cs typeface="Calibri"/>
              </a:rPr>
              <a:t>memory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blocks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may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be stored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anywhere.</a:t>
            </a:r>
            <a:endParaRPr sz="2294" dirty="0">
              <a:latin typeface="Calibri"/>
              <a:cs typeface="Calibri"/>
            </a:endParaRPr>
          </a:p>
          <a:p>
            <a:pPr marL="11206" marR="164735">
              <a:lnSpc>
                <a:spcPct val="99600"/>
              </a:lnSpc>
              <a:spcBef>
                <a:spcPts val="2541"/>
              </a:spcBef>
            </a:pPr>
            <a:r>
              <a:rPr sz="2294" dirty="0">
                <a:latin typeface="Calibri"/>
                <a:cs typeface="Calibri"/>
              </a:rPr>
              <a:t>So</a:t>
            </a:r>
            <a:r>
              <a:rPr lang="en-US" sz="2294" dirty="0">
                <a:latin typeface="Calibri"/>
                <a:cs typeface="Calibri"/>
              </a:rPr>
              <a:t>,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14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might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be</a:t>
            </a:r>
            <a:r>
              <a:rPr sz="2294" spc="-66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put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in </a:t>
            </a:r>
            <a:r>
              <a:rPr sz="2294" dirty="0">
                <a:latin typeface="Calibri"/>
                <a:cs typeface="Calibri"/>
              </a:rPr>
              <a:t>the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first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spc="-26" dirty="0">
                <a:latin typeface="Calibri"/>
                <a:cs typeface="Calibri"/>
              </a:rPr>
              <a:t>available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-</a:t>
            </a:r>
            <a:r>
              <a:rPr sz="2294" spc="-44" dirty="0">
                <a:latin typeface="Calibri"/>
                <a:cs typeface="Calibri"/>
              </a:rPr>
              <a:t>- </a:t>
            </a:r>
            <a:r>
              <a:rPr sz="2294" dirty="0">
                <a:latin typeface="Calibri"/>
                <a:cs typeface="Calibri"/>
              </a:rPr>
              <a:t>one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with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b="1" spc="-9" dirty="0">
                <a:latin typeface="Calibri"/>
                <a:cs typeface="Calibri"/>
              </a:rPr>
              <a:t>valid</a:t>
            </a:r>
            <a:r>
              <a:rPr sz="2294" b="1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=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0.</a:t>
            </a:r>
            <a:endParaRPr sz="2294" dirty="0">
              <a:latin typeface="Calibri"/>
              <a:cs typeface="Calibri"/>
            </a:endParaRPr>
          </a:p>
          <a:p>
            <a:pPr>
              <a:spcBef>
                <a:spcPts val="202"/>
              </a:spcBef>
            </a:pPr>
            <a:endParaRPr sz="2294" dirty="0">
              <a:latin typeface="Calibri"/>
              <a:cs typeface="Calibri"/>
            </a:endParaRPr>
          </a:p>
          <a:p>
            <a:pPr marL="323867" indent="-268956">
              <a:spcBef>
                <a:spcPts val="4"/>
              </a:spcBef>
              <a:buChar char="•"/>
              <a:tabLst>
                <a:tab pos="323867" algn="l"/>
              </a:tabLst>
            </a:pPr>
            <a:r>
              <a:rPr sz="2294" dirty="0">
                <a:latin typeface="Calibri"/>
                <a:cs typeface="Calibri"/>
              </a:rPr>
              <a:t>i.e.,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single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31" dirty="0">
                <a:latin typeface="Calibri"/>
                <a:cs typeface="Calibri"/>
              </a:rPr>
              <a:t>8-</a:t>
            </a:r>
            <a:r>
              <a:rPr sz="2294" dirty="0">
                <a:latin typeface="Calibri"/>
                <a:cs typeface="Calibri"/>
              </a:rPr>
              <a:t>way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set</a:t>
            </a:r>
            <a:endParaRPr sz="2294" dirty="0">
              <a:latin typeface="Calibri"/>
              <a:cs typeface="Calibri"/>
            </a:endParaRPr>
          </a:p>
          <a:p>
            <a:pPr marL="323867" marR="4483" indent="-268956">
              <a:lnSpc>
                <a:spcPts val="2480"/>
              </a:lnSpc>
              <a:spcBef>
                <a:spcPts val="816"/>
              </a:spcBef>
              <a:buChar char="•"/>
              <a:tabLst>
                <a:tab pos="323867" algn="l"/>
              </a:tabLst>
            </a:pPr>
            <a:r>
              <a:rPr sz="2294" dirty="0">
                <a:latin typeface="Calibri"/>
                <a:cs typeface="Calibri"/>
              </a:rPr>
              <a:t>eight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spc="-26" dirty="0">
                <a:latin typeface="Calibri"/>
                <a:cs typeface="Calibri"/>
              </a:rPr>
              <a:t>1-</a:t>
            </a:r>
            <a:r>
              <a:rPr sz="2294" dirty="0">
                <a:latin typeface="Calibri"/>
                <a:cs typeface="Calibri"/>
              </a:rPr>
              <a:t>way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sets,</a:t>
            </a:r>
            <a:r>
              <a:rPr sz="2294" spc="-88" dirty="0">
                <a:latin typeface="Calibri"/>
                <a:cs typeface="Calibri"/>
              </a:rPr>
              <a:t> </a:t>
            </a:r>
            <a:br>
              <a:rPr lang="en-US" sz="2294" spc="-88" dirty="0">
                <a:latin typeface="Calibri"/>
                <a:cs typeface="Calibri"/>
              </a:rPr>
            </a:br>
            <a:r>
              <a:rPr sz="2294" dirty="0">
                <a:latin typeface="Calibri"/>
                <a:cs typeface="Calibri"/>
              </a:rPr>
              <a:t>if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direct-mapped</a:t>
            </a:r>
            <a:r>
              <a:rPr sz="2294" spc="-119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cache</a:t>
            </a:r>
            <a:endParaRPr sz="2294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39236" y="3209364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3719" y="3213846"/>
            <a:ext cx="430305" cy="13626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3719" y="4791635"/>
            <a:ext cx="430305" cy="430306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639236" y="478715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3719" y="5293658"/>
            <a:ext cx="430305" cy="430305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639236" y="5289177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3719" y="1994648"/>
            <a:ext cx="430305" cy="430305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639236" y="1990165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43719" y="2640106"/>
            <a:ext cx="430305" cy="430305"/>
          </a:xfrm>
          <a:prstGeom prst="rect">
            <a:avLst/>
          </a:prstGeom>
        </p:spPr>
      </p:pic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639236" y="263562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4717268-1BA2-4E4A-71C6-AF106328AD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55377" y="6346231"/>
            <a:ext cx="3561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34</a:t>
            </a:fld>
            <a:endParaRPr lang="en-US" spc="-4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Fully</a:t>
            </a:r>
            <a:r>
              <a:rPr spc="22" dirty="0"/>
              <a:t> </a:t>
            </a:r>
            <a:r>
              <a:rPr dirty="0"/>
              <a:t>associative</a:t>
            </a:r>
            <a:r>
              <a:rPr spc="18" dirty="0"/>
              <a:t> </a:t>
            </a:r>
            <a:r>
              <a:rPr spc="-9" dirty="0"/>
              <a:t>cache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39236" y="3209364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3719" y="3213846"/>
            <a:ext cx="430305" cy="13626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3719" y="4791635"/>
            <a:ext cx="430305" cy="430306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227044"/>
              </p:ext>
            </p:extLst>
          </p:nvPr>
        </p:nvGraphicFramePr>
        <p:xfrm>
          <a:off x="4639236" y="478715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3719" y="5293658"/>
            <a:ext cx="430305" cy="430305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639236" y="5289177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3719" y="1994648"/>
            <a:ext cx="430305" cy="430305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639236" y="1990165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3719" y="2640106"/>
            <a:ext cx="430305" cy="430305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560618"/>
              </p:ext>
            </p:extLst>
          </p:nvPr>
        </p:nvGraphicFramePr>
        <p:xfrm>
          <a:off x="4639236" y="263562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957879" y="1961926"/>
            <a:ext cx="2123988" cy="3806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result.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55F6CD-BADE-C235-D9B6-D0C4F8B4EC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55378" y="6346231"/>
            <a:ext cx="412605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35</a:t>
            </a:fld>
            <a:endParaRPr lang="en-US" spc="-4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9" dirty="0"/>
              <a:t> </a:t>
            </a:r>
            <a:r>
              <a:rPr spc="-9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300331"/>
            <a:ext cx="7018243" cy="4034958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571530" indent="-268956">
              <a:lnSpc>
                <a:spcPts val="2480"/>
              </a:lnSpc>
              <a:spcBef>
                <a:spcPts val="397"/>
              </a:spcBef>
              <a:buChar char="•"/>
              <a:tabLst>
                <a:tab pos="280162" algn="l"/>
              </a:tabLst>
            </a:pPr>
            <a:r>
              <a:rPr sz="2400" spc="-9" dirty="0">
                <a:latin typeface="Calibri"/>
                <a:cs typeface="Calibri"/>
              </a:rPr>
              <a:t>How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memory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spc="-9" dirty="0">
                <a:latin typeface="Calibri"/>
                <a:cs typeface="Calibri"/>
              </a:rPr>
              <a:t>block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offset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field,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32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bytes?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1257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80162" marR="31938" indent="-268956">
              <a:lnSpc>
                <a:spcPct val="88100"/>
              </a:lnSpc>
              <a:buChar char="•"/>
              <a:tabLst>
                <a:tab pos="280162" algn="l"/>
              </a:tabLst>
            </a:pPr>
            <a:r>
              <a:rPr sz="2400" spc="-18" dirty="0">
                <a:latin typeface="Calibri"/>
                <a:cs typeface="Calibri"/>
              </a:rPr>
              <a:t>Continued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question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above,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contains </a:t>
            </a:r>
            <a:r>
              <a:rPr sz="2400" dirty="0">
                <a:latin typeface="Calibri"/>
                <a:cs typeface="Calibri"/>
              </a:rPr>
              <a:t>1K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it’s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2-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associative,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bits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index?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1319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80162" marR="4483" indent="-268956">
              <a:lnSpc>
                <a:spcPct val="88100"/>
              </a:lnSpc>
              <a:buChar char="•"/>
              <a:tabLst>
                <a:tab pos="280162" algn="l"/>
              </a:tabLst>
            </a:pPr>
            <a:r>
              <a:rPr sz="2400" spc="-18" dirty="0">
                <a:latin typeface="Calibri"/>
                <a:cs typeface="Calibri"/>
              </a:rPr>
              <a:t>Continued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question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above,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system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40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physical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address,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tag?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8941" y="6228763"/>
            <a:ext cx="8606118" cy="428065"/>
            <a:chOff x="152400" y="7059265"/>
            <a:chExt cx="9753600" cy="4851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1965" y="7059265"/>
              <a:ext cx="624035" cy="48453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2400" y="7082846"/>
              <a:ext cx="9753600" cy="461009"/>
            </a:xfrm>
            <a:custGeom>
              <a:avLst/>
              <a:gdLst/>
              <a:ahLst/>
              <a:cxnLst/>
              <a:rect l="l" t="t" r="r" b="b"/>
              <a:pathLst>
                <a:path w="9753600" h="461009">
                  <a:moveTo>
                    <a:pt x="9753600" y="0"/>
                  </a:moveTo>
                  <a:lnTo>
                    <a:pt x="0" y="0"/>
                  </a:lnTo>
                  <a:lnTo>
                    <a:pt x="0" y="460957"/>
                  </a:lnTo>
                  <a:lnTo>
                    <a:pt x="9753600" y="460957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184FFA-CD49-859E-9298-68AA8CB4AB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10379" y="5905965"/>
            <a:ext cx="37873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36</a:t>
            </a:fld>
            <a:endParaRPr lang="en-US" spc="-4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DCEAE7-3F8F-4AF7-D087-FFEBB2B69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D074B0-9548-42AC-0A87-9D49BF87B69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9588" y="1875865"/>
            <a:ext cx="6858000" cy="8577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4377"/>
              </a:lnSpc>
              <a:spcBef>
                <a:spcPts val="88"/>
              </a:spcBef>
            </a:pPr>
            <a:r>
              <a:rPr sz="3706" b="1" dirty="0">
                <a:latin typeface="Arial"/>
                <a:cs typeface="Arial"/>
              </a:rPr>
              <a:t>MEMORY</a:t>
            </a:r>
            <a:r>
              <a:rPr sz="3706" b="1" spc="150" dirty="0">
                <a:latin typeface="Arial"/>
                <a:cs typeface="Arial"/>
              </a:rPr>
              <a:t> </a:t>
            </a:r>
            <a:r>
              <a:rPr sz="3706" b="1" spc="-9" dirty="0">
                <a:latin typeface="Arial"/>
                <a:cs typeface="Arial"/>
              </a:rPr>
              <a:t>HIERARCHY</a:t>
            </a:r>
            <a:endParaRPr sz="3706" dirty="0">
              <a:latin typeface="Arial"/>
              <a:cs typeface="Arial"/>
            </a:endParaRPr>
          </a:p>
          <a:p>
            <a:pPr marL="11206">
              <a:lnSpc>
                <a:spcPts val="2153"/>
              </a:lnSpc>
            </a:pPr>
            <a:r>
              <a:rPr lang="en-US" sz="1853" b="1" dirty="0">
                <a:latin typeface="Arial"/>
                <a:cs typeface="Arial"/>
              </a:rPr>
              <a:t>-</a:t>
            </a:r>
            <a:r>
              <a:rPr lang="en-US" sz="1853" b="1" spc="40" dirty="0">
                <a:latin typeface="Arial"/>
                <a:cs typeface="Arial"/>
              </a:rPr>
              <a:t> </a:t>
            </a:r>
            <a:r>
              <a:rPr lang="en-US" sz="1853" b="1" spc="-44" dirty="0">
                <a:latin typeface="Arial"/>
                <a:cs typeface="Arial"/>
              </a:rPr>
              <a:t>Chapter 2 and Appendix B</a:t>
            </a:r>
            <a:endParaRPr sz="1853" dirty="0">
              <a:latin typeface="Arial"/>
              <a:cs typeface="Arial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CBA1518-F60C-D220-DCB1-0E5F156B68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23111" y="6346231"/>
            <a:ext cx="3448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37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48972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17689-4D77-71F2-B3D5-1D0E645E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CB57485-281C-D3DC-8983-F36DA7492A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6064442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pc="-18" dirty="0"/>
              <a:t>Cache: Memory address partition</a:t>
            </a:r>
            <a:endParaRPr spc="-18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71F6FF3-B158-506D-494B-82D7E18961F5}"/>
              </a:ext>
            </a:extLst>
          </p:cNvPr>
          <p:cNvSpPr txBox="1"/>
          <p:nvPr/>
        </p:nvSpPr>
        <p:spPr>
          <a:xfrm>
            <a:off x="1001806" y="1300331"/>
            <a:ext cx="6888816" cy="1859106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4483" indent="-268956">
              <a:lnSpc>
                <a:spcPts val="2480"/>
              </a:lnSpc>
              <a:spcBef>
                <a:spcPts val="397"/>
              </a:spcBef>
              <a:buChar char="•"/>
              <a:tabLst>
                <a:tab pos="280162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location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partitioned </a:t>
            </a:r>
            <a:r>
              <a:rPr sz="2400" spc="-18" dirty="0">
                <a:latin typeface="Calibri"/>
                <a:cs typeface="Calibri"/>
              </a:rPr>
              <a:t>into</a:t>
            </a:r>
            <a:endParaRPr lang="en-US" sz="2400" spc="-18" dirty="0">
              <a:latin typeface="Calibri"/>
              <a:cs typeface="Calibri"/>
            </a:endParaRPr>
          </a:p>
          <a:p>
            <a:pPr marL="811306" marR="4483" lvl="1" indent="-342900">
              <a:lnSpc>
                <a:spcPts val="2480"/>
              </a:lnSpc>
              <a:spcBef>
                <a:spcPts val="397"/>
              </a:spcBef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lang="en-US" sz="2200" spc="-18" dirty="0">
                <a:latin typeface="Calibri"/>
                <a:cs typeface="Calibri"/>
              </a:rPr>
              <a:t>Block address</a:t>
            </a:r>
          </a:p>
          <a:p>
            <a:pPr marL="925606" marR="4483" lvl="2">
              <a:lnSpc>
                <a:spcPts val="2480"/>
              </a:lnSpc>
              <a:spcBef>
                <a:spcPts val="397"/>
              </a:spcBef>
              <a:tabLst>
                <a:tab pos="280162" algn="l"/>
              </a:tabLst>
            </a:pPr>
            <a:r>
              <a:rPr lang="en-US" sz="2200" dirty="0">
                <a:cs typeface="Calibri"/>
              </a:rPr>
              <a:t>» Tag</a:t>
            </a:r>
          </a:p>
          <a:p>
            <a:pPr marL="925606" marR="4483" lvl="2">
              <a:lnSpc>
                <a:spcPts val="2480"/>
              </a:lnSpc>
              <a:spcBef>
                <a:spcPts val="397"/>
              </a:spcBef>
              <a:tabLst>
                <a:tab pos="280162" algn="l"/>
              </a:tabLst>
            </a:pPr>
            <a:r>
              <a:rPr lang="en-US" sz="2200" dirty="0">
                <a:cs typeface="Calibri"/>
              </a:rPr>
              <a:t>» Index</a:t>
            </a:r>
            <a:endParaRPr lang="en-US" sz="2200" spc="-18" dirty="0">
              <a:latin typeface="Calibri"/>
              <a:cs typeface="Calibri"/>
            </a:endParaRPr>
          </a:p>
          <a:p>
            <a:pPr marL="811306" marR="4483" lvl="1" indent="-342900">
              <a:lnSpc>
                <a:spcPts val="2480"/>
              </a:lnSpc>
              <a:spcBef>
                <a:spcPts val="397"/>
              </a:spcBef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lang="en-US" sz="2200" dirty="0">
                <a:latin typeface="Calibri"/>
                <a:cs typeface="Calibri"/>
              </a:rPr>
              <a:t>Block offset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5583630-14CD-226A-6D3C-9ED72E7BEA4D}"/>
              </a:ext>
            </a:extLst>
          </p:cNvPr>
          <p:cNvSpPr txBox="1"/>
          <p:nvPr/>
        </p:nvSpPr>
        <p:spPr>
          <a:xfrm>
            <a:off x="1680345" y="5509160"/>
            <a:ext cx="888066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2"/>
              </a:lnSpc>
            </a:pPr>
            <a:r>
              <a:rPr sz="2294" dirty="0">
                <a:latin typeface="Times New Roman"/>
                <a:cs typeface="Times New Roman"/>
              </a:rPr>
              <a:t>Fig.</a:t>
            </a:r>
            <a:r>
              <a:rPr sz="2294" spc="-93" dirty="0">
                <a:latin typeface="Times New Roman"/>
                <a:cs typeface="Times New Roman"/>
              </a:rPr>
              <a:t> </a:t>
            </a:r>
            <a:r>
              <a:rPr sz="2294" spc="-22" dirty="0">
                <a:latin typeface="Times New Roman"/>
                <a:cs typeface="Times New Roman"/>
              </a:rPr>
              <a:t>5.5</a:t>
            </a:r>
            <a:endParaRPr sz="2294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F8ED08E-15D3-2F1F-354E-3473FFA0B578}"/>
              </a:ext>
            </a:extLst>
          </p:cNvPr>
          <p:cNvSpPr/>
          <p:nvPr/>
        </p:nvSpPr>
        <p:spPr>
          <a:xfrm>
            <a:off x="1243106" y="5469963"/>
            <a:ext cx="1483659" cy="420221"/>
          </a:xfrm>
          <a:custGeom>
            <a:avLst/>
            <a:gdLst/>
            <a:ahLst/>
            <a:cxnLst/>
            <a:rect l="l" t="t" r="r" b="b"/>
            <a:pathLst>
              <a:path w="1681480" h="476250">
                <a:moveTo>
                  <a:pt x="1681480" y="0"/>
                </a:moveTo>
                <a:lnTo>
                  <a:pt x="0" y="0"/>
                </a:lnTo>
                <a:lnTo>
                  <a:pt x="0" y="475827"/>
                </a:lnTo>
                <a:lnTo>
                  <a:pt x="1681480" y="475827"/>
                </a:lnTo>
                <a:lnTo>
                  <a:pt x="16814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DFD5CF0-96DF-CFAC-F353-7F8C5CB10E77}"/>
              </a:ext>
            </a:extLst>
          </p:cNvPr>
          <p:cNvSpPr txBox="1"/>
          <p:nvPr/>
        </p:nvSpPr>
        <p:spPr>
          <a:xfrm>
            <a:off x="7211486" y="5104503"/>
            <a:ext cx="58382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latin typeface="Calibri"/>
                <a:cs typeface="Calibri"/>
              </a:rPr>
              <a:t>Fig.</a:t>
            </a:r>
            <a:r>
              <a:rPr sz="1500" spc="-4" dirty="0">
                <a:latin typeface="Calibri"/>
                <a:cs typeface="Calibri"/>
              </a:rPr>
              <a:t> </a:t>
            </a:r>
            <a:r>
              <a:rPr sz="1500" spc="-22" dirty="0">
                <a:latin typeface="Calibri"/>
                <a:cs typeface="Calibri"/>
              </a:rPr>
              <a:t>B.3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B408EE1F-D21D-7236-813E-AB5C8A2C295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494" y="4114800"/>
            <a:ext cx="8125010" cy="863599"/>
          </a:xfrm>
          <a:prstGeom prst="rect">
            <a:avLst/>
          </a:prstGeom>
        </p:spPr>
      </p:pic>
      <p:pic>
        <p:nvPicPr>
          <p:cNvPr id="9" name="object 8">
            <a:extLst>
              <a:ext uri="{FF2B5EF4-FFF2-40B4-BE49-F238E27FC236}">
                <a16:creationId xmlns:a16="http://schemas.microsoft.com/office/drawing/2014/main" id="{04247024-0DA1-2727-6635-61416C03BD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942" y="201705"/>
            <a:ext cx="8606117" cy="217254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5B0B2EB-B1D3-5FE8-AFD4-733072347D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11822" y="6346231"/>
            <a:ext cx="3561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38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7941865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Memory</a:t>
            </a:r>
            <a:r>
              <a:rPr spc="-9" dirty="0"/>
              <a:t> </a:t>
            </a:r>
            <a:r>
              <a:rPr dirty="0"/>
              <a:t>Hierarchy: </a:t>
            </a:r>
            <a:r>
              <a:rPr spc="-9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5" y="1220972"/>
            <a:ext cx="8051884" cy="3520232"/>
          </a:xfrm>
          <a:prstGeom prst="rect">
            <a:avLst/>
          </a:prstGeom>
        </p:spPr>
        <p:txBody>
          <a:bodyPr vert="horz" wrap="square" lIns="0" tIns="90207" rIns="0" bIns="0" rtlCol="0">
            <a:spAutoFit/>
          </a:bodyPr>
          <a:lstStyle/>
          <a:p>
            <a:pPr marL="279602" indent="-268395">
              <a:spcBef>
                <a:spcPts val="710"/>
              </a:spcBef>
              <a:buChar char="•"/>
              <a:tabLst>
                <a:tab pos="279602" algn="l"/>
              </a:tabLst>
            </a:pP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Hit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appears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upper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level</a:t>
            </a:r>
            <a:endParaRPr sz="2400" dirty="0">
              <a:latin typeface="Calibri"/>
              <a:cs typeface="Calibri"/>
            </a:endParaRPr>
          </a:p>
          <a:p>
            <a:pPr marL="655579" lvl="1" indent="-214603">
              <a:spcBef>
                <a:spcPts val="507"/>
              </a:spcBef>
              <a:buChar char="–"/>
              <a:tabLst>
                <a:tab pos="655579" algn="l"/>
              </a:tabLst>
            </a:pPr>
            <a:r>
              <a:rPr sz="2000" dirty="0">
                <a:latin typeface="Calibri"/>
                <a:cs typeface="Calibri"/>
              </a:rPr>
              <a:t>Hit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Rate: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fraction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accesses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found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upper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level</a:t>
            </a:r>
            <a:endParaRPr sz="2000" dirty="0">
              <a:latin typeface="Calibri"/>
              <a:cs typeface="Calibri"/>
            </a:endParaRPr>
          </a:p>
          <a:p>
            <a:pPr marL="655579" lvl="1" indent="-214603">
              <a:spcBef>
                <a:spcPts val="529"/>
              </a:spcBef>
              <a:buChar char="–"/>
              <a:tabLst>
                <a:tab pos="655579" algn="l"/>
              </a:tabLst>
            </a:pPr>
            <a:r>
              <a:rPr sz="2000" dirty="0">
                <a:latin typeface="Calibri"/>
                <a:cs typeface="Calibri"/>
              </a:rPr>
              <a:t>Hit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Time: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upper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consists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of</a:t>
            </a:r>
            <a:endParaRPr sz="2000" dirty="0">
              <a:latin typeface="Calibri"/>
              <a:cs typeface="Calibri"/>
            </a:endParaRPr>
          </a:p>
          <a:p>
            <a:pPr marL="871304">
              <a:spcBef>
                <a:spcPts val="409"/>
              </a:spcBef>
            </a:pPr>
            <a:r>
              <a:rPr sz="2000" dirty="0">
                <a:latin typeface="Calibri"/>
                <a:cs typeface="Calibri"/>
              </a:rPr>
              <a:t>»</a:t>
            </a:r>
            <a:r>
              <a:rPr sz="2000" spc="43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determine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hit/miss</a:t>
            </a:r>
            <a:endParaRPr sz="2000" dirty="0">
              <a:latin typeface="Calibri"/>
              <a:cs typeface="Calibri"/>
            </a:endParaRPr>
          </a:p>
          <a:p>
            <a:pPr marL="279602" indent="-268395">
              <a:spcBef>
                <a:spcPts val="459"/>
              </a:spcBef>
              <a:buChar char="•"/>
              <a:tabLst>
                <a:tab pos="279602" algn="l"/>
              </a:tabLst>
            </a:pPr>
            <a:r>
              <a:rPr sz="2400" spc="-9" dirty="0">
                <a:solidFill>
                  <a:srgbClr val="FF0000"/>
                </a:solidFill>
                <a:latin typeface="Calibri"/>
                <a:cs typeface="Calibri"/>
              </a:rPr>
              <a:t>Miss</a:t>
            </a:r>
            <a:r>
              <a:rPr sz="2400" spc="-9" dirty="0">
                <a:latin typeface="Calibri"/>
                <a:cs typeface="Calibri"/>
              </a:rPr>
              <a:t>: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delivered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lower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level</a:t>
            </a:r>
            <a:endParaRPr sz="2400" dirty="0">
              <a:latin typeface="Calibri"/>
              <a:cs typeface="Calibri"/>
            </a:endParaRPr>
          </a:p>
          <a:p>
            <a:pPr marL="655579" lvl="1" indent="-214603">
              <a:spcBef>
                <a:spcPts val="507"/>
              </a:spcBef>
              <a:buChar char="–"/>
              <a:tabLst>
                <a:tab pos="655579" algn="l"/>
              </a:tabLst>
            </a:pPr>
            <a:r>
              <a:rPr sz="2000" dirty="0">
                <a:latin typeface="Calibri"/>
                <a:cs typeface="Calibri"/>
              </a:rPr>
              <a:t>Miss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Rate</a:t>
            </a:r>
            <a:r>
              <a:rPr sz="2000" spc="22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(Hit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Rate)</a:t>
            </a:r>
            <a:endParaRPr sz="2000" dirty="0">
              <a:latin typeface="Calibri"/>
              <a:cs typeface="Calibri"/>
            </a:endParaRPr>
          </a:p>
          <a:p>
            <a:pPr marL="656139" marR="4483" lvl="1" indent="-215164">
              <a:spcBef>
                <a:spcPts val="759"/>
              </a:spcBef>
              <a:buChar char="–"/>
              <a:tabLst>
                <a:tab pos="656139" algn="l"/>
              </a:tabLst>
            </a:pPr>
            <a:r>
              <a:rPr sz="2000" dirty="0">
                <a:latin typeface="Calibri"/>
                <a:cs typeface="Calibri"/>
              </a:rPr>
              <a:t>Miss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Penalty: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replace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upper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26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deliver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upper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level</a:t>
            </a:r>
            <a:endParaRPr sz="2000" dirty="0">
              <a:latin typeface="Calibri"/>
              <a:cs typeface="Calibri"/>
            </a:endParaRPr>
          </a:p>
          <a:p>
            <a:pPr marL="279602" indent="-268395">
              <a:spcBef>
                <a:spcPts val="459"/>
              </a:spcBef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Hit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≪</a:t>
            </a:r>
            <a:r>
              <a:rPr sz="2400" spc="-84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Miss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Penalty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003EF8-A233-4347-3933-F64F1D7A43A2}"/>
              </a:ext>
            </a:extLst>
          </p:cNvPr>
          <p:cNvGrpSpPr/>
          <p:nvPr/>
        </p:nvGrpSpPr>
        <p:grpSpPr>
          <a:xfrm>
            <a:off x="1953311" y="4741204"/>
            <a:ext cx="4948891" cy="1709271"/>
            <a:chOff x="1885577" y="4648199"/>
            <a:chExt cx="4948891" cy="1709271"/>
          </a:xfrm>
        </p:grpSpPr>
        <p:sp>
          <p:nvSpPr>
            <p:cNvPr id="4" name="object 4"/>
            <p:cNvSpPr/>
            <p:nvPr/>
          </p:nvSpPr>
          <p:spPr>
            <a:xfrm>
              <a:off x="1885577" y="5174130"/>
              <a:ext cx="1745316" cy="71718"/>
            </a:xfrm>
            <a:custGeom>
              <a:avLst/>
              <a:gdLst/>
              <a:ahLst/>
              <a:cxnLst/>
              <a:rect l="l" t="t" r="r" b="b"/>
              <a:pathLst>
                <a:path w="1978025" h="81279">
                  <a:moveTo>
                    <a:pt x="81280" y="0"/>
                  </a:moveTo>
                  <a:lnTo>
                    <a:pt x="0" y="40640"/>
                  </a:lnTo>
                  <a:lnTo>
                    <a:pt x="81280" y="81280"/>
                  </a:lnTo>
                  <a:lnTo>
                    <a:pt x="81280" y="54187"/>
                  </a:lnTo>
                  <a:lnTo>
                    <a:pt x="67732" y="54187"/>
                  </a:lnTo>
                  <a:lnTo>
                    <a:pt x="67732" y="27092"/>
                  </a:lnTo>
                  <a:lnTo>
                    <a:pt x="81280" y="27092"/>
                  </a:lnTo>
                  <a:lnTo>
                    <a:pt x="81280" y="0"/>
                  </a:lnTo>
                  <a:close/>
                </a:path>
                <a:path w="1978025" h="81279">
                  <a:moveTo>
                    <a:pt x="81280" y="27092"/>
                  </a:moveTo>
                  <a:lnTo>
                    <a:pt x="67732" y="27092"/>
                  </a:lnTo>
                  <a:lnTo>
                    <a:pt x="67732" y="54187"/>
                  </a:lnTo>
                  <a:lnTo>
                    <a:pt x="81280" y="54187"/>
                  </a:lnTo>
                  <a:lnTo>
                    <a:pt x="81280" y="27092"/>
                  </a:lnTo>
                  <a:close/>
                </a:path>
                <a:path w="1978025" h="81279">
                  <a:moveTo>
                    <a:pt x="1977812" y="27092"/>
                  </a:moveTo>
                  <a:lnTo>
                    <a:pt x="81280" y="27092"/>
                  </a:lnTo>
                  <a:lnTo>
                    <a:pt x="81280" y="54187"/>
                  </a:lnTo>
                  <a:lnTo>
                    <a:pt x="1977812" y="54187"/>
                  </a:lnTo>
                  <a:lnTo>
                    <a:pt x="1977812" y="27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137336" y="4953896"/>
              <a:ext cx="1070162" cy="24214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500" b="1" spc="-66" dirty="0">
                  <a:latin typeface="Times New Roman"/>
                  <a:cs typeface="Times New Roman"/>
                </a:rPr>
                <a:t>To</a:t>
              </a:r>
              <a:r>
                <a:rPr sz="1500" b="1" spc="-22" dirty="0">
                  <a:latin typeface="Times New Roman"/>
                  <a:cs typeface="Times New Roman"/>
                </a:rPr>
                <a:t> </a:t>
              </a:r>
              <a:r>
                <a:rPr sz="1500" b="1" spc="-9" dirty="0">
                  <a:latin typeface="Times New Roman"/>
                  <a:cs typeface="Times New Roman"/>
                </a:rPr>
                <a:t>Processor</a:t>
              </a:r>
              <a:endParaRPr sz="1500" dirty="0">
                <a:latin typeface="Times New Roman"/>
                <a:cs typeface="Times New Roman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909482" y="5891306"/>
              <a:ext cx="1697691" cy="71718"/>
            </a:xfrm>
            <a:custGeom>
              <a:avLst/>
              <a:gdLst/>
              <a:ahLst/>
              <a:cxnLst/>
              <a:rect l="l" t="t" r="r" b="b"/>
              <a:pathLst>
                <a:path w="1924050" h="81279">
                  <a:moveTo>
                    <a:pt x="1842347" y="0"/>
                  </a:moveTo>
                  <a:lnTo>
                    <a:pt x="1842347" y="81279"/>
                  </a:lnTo>
                  <a:lnTo>
                    <a:pt x="1896533" y="54186"/>
                  </a:lnTo>
                  <a:lnTo>
                    <a:pt x="1855892" y="54186"/>
                  </a:lnTo>
                  <a:lnTo>
                    <a:pt x="1855892" y="27093"/>
                  </a:lnTo>
                  <a:lnTo>
                    <a:pt x="1896533" y="27093"/>
                  </a:lnTo>
                  <a:lnTo>
                    <a:pt x="1842347" y="0"/>
                  </a:lnTo>
                  <a:close/>
                </a:path>
                <a:path w="1924050" h="81279">
                  <a:moveTo>
                    <a:pt x="1842347" y="27093"/>
                  </a:moveTo>
                  <a:lnTo>
                    <a:pt x="0" y="27093"/>
                  </a:lnTo>
                  <a:lnTo>
                    <a:pt x="0" y="54186"/>
                  </a:lnTo>
                  <a:lnTo>
                    <a:pt x="1842347" y="54186"/>
                  </a:lnTo>
                  <a:lnTo>
                    <a:pt x="1842347" y="27093"/>
                  </a:lnTo>
                  <a:close/>
                </a:path>
                <a:path w="1924050" h="81279">
                  <a:moveTo>
                    <a:pt x="1896533" y="27093"/>
                  </a:moveTo>
                  <a:lnTo>
                    <a:pt x="1855892" y="27093"/>
                  </a:lnTo>
                  <a:lnTo>
                    <a:pt x="1855892" y="54186"/>
                  </a:lnTo>
                  <a:lnTo>
                    <a:pt x="1896533" y="54186"/>
                  </a:lnTo>
                  <a:lnTo>
                    <a:pt x="1923627" y="40639"/>
                  </a:lnTo>
                  <a:lnTo>
                    <a:pt x="1896533" y="270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028265" y="5669280"/>
              <a:ext cx="1317812" cy="24214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500" b="1" dirty="0">
                  <a:latin typeface="Times New Roman"/>
                  <a:cs typeface="Times New Roman"/>
                </a:rPr>
                <a:t>From</a:t>
              </a:r>
              <a:r>
                <a:rPr sz="1500" b="1" spc="-18" dirty="0">
                  <a:latin typeface="Times New Roman"/>
                  <a:cs typeface="Times New Roman"/>
                </a:rPr>
                <a:t> </a:t>
              </a:r>
              <a:r>
                <a:rPr sz="1500" b="1" spc="-9" dirty="0">
                  <a:latin typeface="Times New Roman"/>
                  <a:cs typeface="Times New Roman"/>
                </a:rPr>
                <a:t>Processor</a:t>
              </a:r>
              <a:endParaRPr sz="1500">
                <a:latin typeface="Times New Roman"/>
                <a:cs typeface="Times New Roman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849908" y="5461000"/>
              <a:ext cx="837079" cy="71718"/>
            </a:xfrm>
            <a:custGeom>
              <a:avLst/>
              <a:gdLst/>
              <a:ahLst/>
              <a:cxnLst/>
              <a:rect l="l" t="t" r="r" b="b"/>
              <a:pathLst>
                <a:path w="948689" h="81279">
                  <a:moveTo>
                    <a:pt x="81277" y="0"/>
                  </a:moveTo>
                  <a:lnTo>
                    <a:pt x="0" y="40640"/>
                  </a:lnTo>
                  <a:lnTo>
                    <a:pt x="81279" y="81280"/>
                  </a:lnTo>
                  <a:lnTo>
                    <a:pt x="81277" y="54187"/>
                  </a:lnTo>
                  <a:lnTo>
                    <a:pt x="67730" y="54187"/>
                  </a:lnTo>
                  <a:lnTo>
                    <a:pt x="67730" y="27092"/>
                  </a:lnTo>
                  <a:lnTo>
                    <a:pt x="81277" y="27092"/>
                  </a:lnTo>
                  <a:lnTo>
                    <a:pt x="81277" y="0"/>
                  </a:lnTo>
                  <a:close/>
                </a:path>
                <a:path w="948689" h="81279">
                  <a:moveTo>
                    <a:pt x="866984" y="0"/>
                  </a:moveTo>
                  <a:lnTo>
                    <a:pt x="866984" y="81280"/>
                  </a:lnTo>
                  <a:lnTo>
                    <a:pt x="921170" y="54187"/>
                  </a:lnTo>
                  <a:lnTo>
                    <a:pt x="880531" y="54187"/>
                  </a:lnTo>
                  <a:lnTo>
                    <a:pt x="880531" y="27092"/>
                  </a:lnTo>
                  <a:lnTo>
                    <a:pt x="921170" y="27092"/>
                  </a:lnTo>
                  <a:lnTo>
                    <a:pt x="866984" y="0"/>
                  </a:lnTo>
                  <a:close/>
                </a:path>
                <a:path w="948689" h="81279">
                  <a:moveTo>
                    <a:pt x="81277" y="27092"/>
                  </a:moveTo>
                  <a:lnTo>
                    <a:pt x="67730" y="27092"/>
                  </a:lnTo>
                  <a:lnTo>
                    <a:pt x="67730" y="54187"/>
                  </a:lnTo>
                  <a:lnTo>
                    <a:pt x="81277" y="54187"/>
                  </a:lnTo>
                  <a:lnTo>
                    <a:pt x="81277" y="27092"/>
                  </a:lnTo>
                  <a:close/>
                </a:path>
                <a:path w="948689" h="81279">
                  <a:moveTo>
                    <a:pt x="866984" y="27092"/>
                  </a:moveTo>
                  <a:lnTo>
                    <a:pt x="81277" y="27092"/>
                  </a:lnTo>
                  <a:lnTo>
                    <a:pt x="81277" y="54187"/>
                  </a:lnTo>
                  <a:lnTo>
                    <a:pt x="866984" y="54187"/>
                  </a:lnTo>
                  <a:lnTo>
                    <a:pt x="866984" y="27092"/>
                  </a:lnTo>
                  <a:close/>
                </a:path>
                <a:path w="948689" h="81279">
                  <a:moveTo>
                    <a:pt x="921170" y="27092"/>
                  </a:moveTo>
                  <a:lnTo>
                    <a:pt x="880531" y="27092"/>
                  </a:lnTo>
                  <a:lnTo>
                    <a:pt x="880531" y="54187"/>
                  </a:lnTo>
                  <a:lnTo>
                    <a:pt x="921170" y="54187"/>
                  </a:lnTo>
                  <a:lnTo>
                    <a:pt x="948264" y="40640"/>
                  </a:lnTo>
                  <a:lnTo>
                    <a:pt x="921170" y="27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grpSp>
          <p:nvGrpSpPr>
            <p:cNvPr id="9" name="object 9"/>
            <p:cNvGrpSpPr/>
            <p:nvPr/>
          </p:nvGrpSpPr>
          <p:grpSpPr>
            <a:xfrm>
              <a:off x="4049059" y="5712011"/>
              <a:ext cx="358588" cy="358588"/>
              <a:chOff x="4436533" y="6473612"/>
              <a:chExt cx="406400" cy="40640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4443307" y="6480385"/>
                <a:ext cx="393065" cy="393065"/>
              </a:xfrm>
              <a:custGeom>
                <a:avLst/>
                <a:gdLst/>
                <a:ahLst/>
                <a:cxnLst/>
                <a:rect l="l" t="t" r="r" b="b"/>
                <a:pathLst>
                  <a:path w="393064" h="393065">
                    <a:moveTo>
                      <a:pt x="392852" y="0"/>
                    </a:moveTo>
                    <a:lnTo>
                      <a:pt x="0" y="0"/>
                    </a:lnTo>
                    <a:lnTo>
                      <a:pt x="0" y="392853"/>
                    </a:lnTo>
                    <a:lnTo>
                      <a:pt x="392852" y="392853"/>
                    </a:lnTo>
                    <a:lnTo>
                      <a:pt x="392852" y="0"/>
                    </a:lnTo>
                    <a:close/>
                  </a:path>
                </a:pathLst>
              </a:custGeom>
              <a:solidFill>
                <a:srgbClr val="3366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4443307" y="6480385"/>
                <a:ext cx="393065" cy="393065"/>
              </a:xfrm>
              <a:custGeom>
                <a:avLst/>
                <a:gdLst/>
                <a:ahLst/>
                <a:cxnLst/>
                <a:rect l="l" t="t" r="r" b="b"/>
                <a:pathLst>
                  <a:path w="393064" h="393065">
                    <a:moveTo>
                      <a:pt x="0" y="0"/>
                    </a:moveTo>
                    <a:lnTo>
                      <a:pt x="392853" y="0"/>
                    </a:lnTo>
                    <a:lnTo>
                      <a:pt x="392853" y="392853"/>
                    </a:lnTo>
                    <a:lnTo>
                      <a:pt x="0" y="392853"/>
                    </a:lnTo>
                    <a:lnTo>
                      <a:pt x="0" y="0"/>
                    </a:lnTo>
                    <a:close/>
                  </a:path>
                </a:pathLst>
              </a:custGeom>
              <a:ln w="1354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3630706" y="4863353"/>
              <a:ext cx="1195668" cy="830205"/>
            </a:xfrm>
            <a:prstGeom prst="rect">
              <a:avLst/>
            </a:prstGeom>
            <a:ln w="27093">
              <a:solidFill>
                <a:srgbClr val="000000"/>
              </a:solidFill>
            </a:ln>
          </p:spPr>
          <p:txBody>
            <a:bodyPr vert="horz" wrap="square" lIns="0" tIns="67796" rIns="0" bIns="0" rtlCol="0">
              <a:spAutoFit/>
            </a:bodyPr>
            <a:lstStyle/>
            <a:p>
              <a:pPr marL="83488" marR="94134" algn="ctr">
                <a:lnSpc>
                  <a:spcPts val="1755"/>
                </a:lnSpc>
                <a:spcBef>
                  <a:spcPts val="534"/>
                </a:spcBef>
              </a:pPr>
              <a:r>
                <a:rPr sz="1500" b="1" dirty="0">
                  <a:latin typeface="Times New Roman"/>
                  <a:cs typeface="Times New Roman"/>
                </a:rPr>
                <a:t>Upper</a:t>
              </a:r>
              <a:r>
                <a:rPr sz="1500" b="1" spc="-53" dirty="0">
                  <a:latin typeface="Times New Roman"/>
                  <a:cs typeface="Times New Roman"/>
                </a:rPr>
                <a:t> </a:t>
              </a:r>
              <a:r>
                <a:rPr sz="1500" b="1" spc="-9" dirty="0">
                  <a:latin typeface="Times New Roman"/>
                  <a:cs typeface="Times New Roman"/>
                </a:rPr>
                <a:t>Level Memory</a:t>
              </a:r>
              <a:endParaRPr sz="1500" dirty="0">
                <a:latin typeface="Times New Roman"/>
                <a:cs typeface="Times New Roman"/>
              </a:endParaRPr>
            </a:p>
            <a:p>
              <a:pPr marR="50429" algn="ctr">
                <a:spcBef>
                  <a:spcPts val="882"/>
                </a:spcBef>
              </a:pPr>
              <a:r>
                <a:rPr sz="1200" dirty="0">
                  <a:latin typeface="Times New Roman"/>
                  <a:cs typeface="Times New Roman"/>
                </a:rPr>
                <a:t>Blk</a:t>
              </a:r>
              <a:r>
                <a:rPr sz="1200" spc="22" dirty="0">
                  <a:latin typeface="Times New Roman"/>
                  <a:cs typeface="Times New Roman"/>
                </a:rPr>
                <a:t> </a:t>
              </a:r>
              <a:r>
                <a:rPr sz="1200" spc="-44" dirty="0">
                  <a:latin typeface="Times New Roman"/>
                  <a:cs typeface="Times New Roman"/>
                </a:rPr>
                <a:t>X</a:t>
              </a:r>
              <a:endParaRPr sz="1200" dirty="0">
                <a:latin typeface="Times New Roman"/>
                <a:cs typeface="Times New Roman"/>
              </a:endParaRPr>
            </a:p>
          </p:txBody>
        </p:sp>
        <p:grpSp>
          <p:nvGrpSpPr>
            <p:cNvPr id="13" name="object 13"/>
            <p:cNvGrpSpPr/>
            <p:nvPr/>
          </p:nvGrpSpPr>
          <p:grpSpPr>
            <a:xfrm>
              <a:off x="6128870" y="5998882"/>
              <a:ext cx="358588" cy="358588"/>
              <a:chOff x="6793652" y="6798733"/>
              <a:chExt cx="406400" cy="406400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6800426" y="6805506"/>
                <a:ext cx="393065" cy="393065"/>
              </a:xfrm>
              <a:custGeom>
                <a:avLst/>
                <a:gdLst/>
                <a:ahLst/>
                <a:cxnLst/>
                <a:rect l="l" t="t" r="r" b="b"/>
                <a:pathLst>
                  <a:path w="393065" h="393065">
                    <a:moveTo>
                      <a:pt x="392854" y="0"/>
                    </a:moveTo>
                    <a:lnTo>
                      <a:pt x="0" y="0"/>
                    </a:lnTo>
                    <a:lnTo>
                      <a:pt x="0" y="392853"/>
                    </a:lnTo>
                    <a:lnTo>
                      <a:pt x="392854" y="392853"/>
                    </a:lnTo>
                    <a:lnTo>
                      <a:pt x="392854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6800426" y="6805506"/>
                <a:ext cx="393065" cy="393065"/>
              </a:xfrm>
              <a:custGeom>
                <a:avLst/>
                <a:gdLst/>
                <a:ahLst/>
                <a:cxnLst/>
                <a:rect l="l" t="t" r="r" b="b"/>
                <a:pathLst>
                  <a:path w="393065" h="393065">
                    <a:moveTo>
                      <a:pt x="0" y="0"/>
                    </a:moveTo>
                    <a:lnTo>
                      <a:pt x="392853" y="0"/>
                    </a:lnTo>
                    <a:lnTo>
                      <a:pt x="392853" y="392853"/>
                    </a:lnTo>
                    <a:lnTo>
                      <a:pt x="0" y="392853"/>
                    </a:lnTo>
                    <a:lnTo>
                      <a:pt x="0" y="0"/>
                    </a:lnTo>
                    <a:close/>
                  </a:path>
                </a:pathLst>
              </a:custGeom>
              <a:ln w="1354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6" name="object 16"/>
            <p:cNvSpPr txBox="1"/>
            <p:nvPr/>
          </p:nvSpPr>
          <p:spPr>
            <a:xfrm>
              <a:off x="5710518" y="4648199"/>
              <a:ext cx="1123950" cy="1331284"/>
            </a:xfrm>
            <a:prstGeom prst="rect">
              <a:avLst/>
            </a:prstGeom>
            <a:ln w="27093">
              <a:solidFill>
                <a:srgbClr val="000000"/>
              </a:solidFill>
            </a:ln>
          </p:spPr>
          <p:txBody>
            <a:bodyPr vert="horz" wrap="square" lIns="0" tIns="56029" rIns="0" bIns="0" rtlCol="0">
              <a:spAutoFit/>
            </a:bodyPr>
            <a:lstStyle/>
            <a:p>
              <a:pPr marL="51549" marR="44266" algn="ctr">
                <a:spcBef>
                  <a:spcPts val="441"/>
                </a:spcBef>
              </a:pPr>
              <a:r>
                <a:rPr sz="1500" b="1" dirty="0">
                  <a:latin typeface="Times New Roman"/>
                  <a:cs typeface="Times New Roman"/>
                </a:rPr>
                <a:t>Lower</a:t>
              </a:r>
              <a:r>
                <a:rPr sz="1500" b="1" spc="-49" dirty="0">
                  <a:latin typeface="Times New Roman"/>
                  <a:cs typeface="Times New Roman"/>
                </a:rPr>
                <a:t> </a:t>
              </a:r>
              <a:r>
                <a:rPr sz="1500" b="1" spc="-18" dirty="0">
                  <a:latin typeface="Times New Roman"/>
                  <a:cs typeface="Times New Roman"/>
                </a:rPr>
                <a:t>Level </a:t>
              </a:r>
              <a:r>
                <a:rPr sz="1500" b="1" dirty="0">
                  <a:latin typeface="Times New Roman"/>
                  <a:cs typeface="Times New Roman"/>
                </a:rPr>
                <a:t>Large</a:t>
              </a:r>
              <a:r>
                <a:rPr sz="1500" b="1" spc="-18" dirty="0">
                  <a:latin typeface="Times New Roman"/>
                  <a:cs typeface="Times New Roman"/>
                </a:rPr>
                <a:t> Size </a:t>
              </a:r>
              <a:r>
                <a:rPr sz="1500" b="1" spc="-9" dirty="0">
                  <a:latin typeface="Times New Roman"/>
                  <a:cs typeface="Times New Roman"/>
                </a:rPr>
                <a:t>Memory</a:t>
              </a:r>
              <a:endParaRPr sz="1500" dirty="0">
                <a:latin typeface="Times New Roman"/>
                <a:cs typeface="Times New Roman"/>
              </a:endParaRPr>
            </a:p>
            <a:p>
              <a:pPr>
                <a:spcBef>
                  <a:spcPts val="1302"/>
                </a:spcBef>
              </a:pPr>
              <a:endParaRPr sz="1500" dirty="0">
                <a:latin typeface="Times New Roman"/>
                <a:cs typeface="Times New Roman"/>
              </a:endParaRPr>
            </a:p>
            <a:p>
              <a:pPr marL="14008" algn="ctr"/>
              <a:r>
                <a:rPr sz="1200" dirty="0">
                  <a:latin typeface="Times New Roman"/>
                  <a:cs typeface="Times New Roman"/>
                </a:rPr>
                <a:t>Blk</a:t>
              </a:r>
              <a:r>
                <a:rPr sz="1200" spc="22" dirty="0">
                  <a:latin typeface="Times New Roman"/>
                  <a:cs typeface="Times New Roman"/>
                </a:rPr>
                <a:t> </a:t>
              </a:r>
              <a:r>
                <a:rPr sz="1200" spc="-44" dirty="0">
                  <a:latin typeface="Times New Roman"/>
                  <a:cs typeface="Times New Roman"/>
                </a:rPr>
                <a:t>Y</a:t>
              </a:r>
              <a:endParaRPr sz="1200" dirty="0">
                <a:latin typeface="Times New Roman"/>
                <a:cs typeface="Times New Roman"/>
              </a:endParaRPr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202C5ED-3C11-1D40-3FD3-53A0BFA9EE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21161" y="6346231"/>
            <a:ext cx="34682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39</a:t>
            </a:fld>
            <a:endParaRPr lang="en-US" spc="-4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Managing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cache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270412"/>
              </p:ext>
            </p:extLst>
          </p:nvPr>
        </p:nvGraphicFramePr>
        <p:xfrm>
          <a:off x="4359007" y="3209364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484582"/>
              </p:ext>
            </p:extLst>
          </p:nvPr>
        </p:nvGraphicFramePr>
        <p:xfrm>
          <a:off x="4359007" y="478715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348323"/>
              </p:ext>
            </p:extLst>
          </p:nvPr>
        </p:nvGraphicFramePr>
        <p:xfrm>
          <a:off x="4359007" y="5289177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994097"/>
              </p:ext>
            </p:extLst>
          </p:nvPr>
        </p:nvGraphicFramePr>
        <p:xfrm>
          <a:off x="4359007" y="1990165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94597"/>
              </p:ext>
            </p:extLst>
          </p:nvPr>
        </p:nvGraphicFramePr>
        <p:xfrm>
          <a:off x="4359007" y="263562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17537" y="2074882"/>
            <a:ext cx="3248063" cy="2145986"/>
          </a:xfrm>
          <a:prstGeom prst="rect">
            <a:avLst/>
          </a:prstGeom>
        </p:spPr>
        <p:txBody>
          <a:bodyPr vert="horz" wrap="square" lIns="0" tIns="24652" rIns="0" bIns="0" rtlCol="0">
            <a:spAutoFit/>
          </a:bodyPr>
          <a:lstStyle/>
          <a:p>
            <a:pPr marL="11206" marR="4483">
              <a:lnSpc>
                <a:spcPts val="2735"/>
              </a:lnSpc>
              <a:spcBef>
                <a:spcPts val="193"/>
              </a:spcBef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direct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mapped cache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example.</a:t>
            </a:r>
            <a:endParaRPr sz="2400" dirty="0">
              <a:latin typeface="Calibri"/>
              <a:cs typeface="Calibri"/>
            </a:endParaRPr>
          </a:p>
          <a:p>
            <a:pPr marL="11206" marR="172580">
              <a:lnSpc>
                <a:spcPct val="99500"/>
              </a:lnSpc>
              <a:spcBef>
                <a:spcPts val="2546"/>
              </a:spcBef>
            </a:pPr>
            <a:r>
              <a:rPr sz="2400" spc="-9" dirty="0">
                <a:latin typeface="Calibri"/>
                <a:cs typeface="Calibri"/>
              </a:rPr>
              <a:t>After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first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read</a:t>
            </a:r>
            <a:r>
              <a:rPr lang="en-US" sz="2400" spc="-18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operation,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cache memory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looked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like </a:t>
            </a:r>
            <a:r>
              <a:rPr sz="2400" spc="-9" dirty="0">
                <a:latin typeface="Calibri"/>
                <a:cs typeface="Calibri"/>
              </a:rPr>
              <a:t>this.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37568" y="4707252"/>
            <a:ext cx="655544" cy="90200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421" marR="4483" indent="-25774">
              <a:lnSpc>
                <a:spcPct val="133100"/>
              </a:lnSpc>
              <a:spcBef>
                <a:spcPts val="88"/>
              </a:spcBef>
            </a:pPr>
            <a:r>
              <a:rPr sz="2294" spc="-35" dirty="0">
                <a:latin typeface="Times New Roman"/>
                <a:cs typeface="Times New Roman"/>
              </a:rPr>
              <a:t>Valid </a:t>
            </a:r>
            <a:r>
              <a:rPr sz="2294" spc="-26" dirty="0">
                <a:latin typeface="Times New Roman"/>
                <a:cs typeface="Times New Roman"/>
              </a:rPr>
              <a:t>Dirty</a:t>
            </a:r>
            <a:endParaRPr sz="2294" dirty="0">
              <a:latin typeface="Times New Roman"/>
              <a:cs typeface="Times New Roman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ED762E-4788-B5E1-8C61-1BB5E63A55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23111" y="6346231"/>
            <a:ext cx="3448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40</a:t>
            </a:fld>
            <a:endParaRPr lang="en-US" spc="-4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Managing</a:t>
            </a:r>
            <a:r>
              <a:rPr spc="-13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cache</a:t>
            </a:r>
            <a:r>
              <a:rPr spc="-9" dirty="0">
                <a:latin typeface="Arial MT"/>
                <a:cs typeface="Arial MT"/>
              </a:rPr>
              <a:t> (cont.)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894967"/>
              </p:ext>
            </p:extLst>
          </p:nvPr>
        </p:nvGraphicFramePr>
        <p:xfrm>
          <a:off x="4356348" y="3205382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050916"/>
              </p:ext>
            </p:extLst>
          </p:nvPr>
        </p:nvGraphicFramePr>
        <p:xfrm>
          <a:off x="4356348" y="4783169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888127"/>
              </p:ext>
            </p:extLst>
          </p:nvPr>
        </p:nvGraphicFramePr>
        <p:xfrm>
          <a:off x="4356348" y="528519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981501"/>
              </p:ext>
            </p:extLst>
          </p:nvPr>
        </p:nvGraphicFramePr>
        <p:xfrm>
          <a:off x="4356348" y="1986180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57229"/>
              </p:ext>
            </p:extLst>
          </p:nvPr>
        </p:nvGraphicFramePr>
        <p:xfrm>
          <a:off x="4356348" y="2631640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38635" y="1859728"/>
            <a:ext cx="3582245" cy="2447050"/>
          </a:xfrm>
          <a:prstGeom prst="rect">
            <a:avLst/>
          </a:prstGeom>
        </p:spPr>
        <p:txBody>
          <a:bodyPr vert="horz" wrap="square" lIns="0" tIns="17369" rIns="0" bIns="0" rtlCol="0">
            <a:spAutoFit/>
          </a:bodyPr>
          <a:lstStyle/>
          <a:p>
            <a:pPr marL="11206" marR="20732">
              <a:lnSpc>
                <a:spcPct val="98200"/>
              </a:lnSpc>
              <a:spcBef>
                <a:spcPts val="137"/>
              </a:spcBef>
            </a:pPr>
            <a:r>
              <a:rPr sz="2294" dirty="0">
                <a:latin typeface="Calibri"/>
                <a:cs typeface="Calibri"/>
              </a:rPr>
              <a:t>If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all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other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memory </a:t>
            </a:r>
            <a:r>
              <a:rPr sz="2294" spc="-22" dirty="0">
                <a:latin typeface="Calibri"/>
                <a:cs typeface="Calibri"/>
              </a:rPr>
              <a:t>references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involved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14, </a:t>
            </a:r>
            <a:r>
              <a:rPr sz="2294" dirty="0">
                <a:latin typeface="Calibri"/>
                <a:cs typeface="Calibri"/>
              </a:rPr>
              <a:t>no</a:t>
            </a:r>
            <a:r>
              <a:rPr sz="2294" spc="-11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other</a:t>
            </a:r>
            <a:r>
              <a:rPr sz="2294" spc="-106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blocks</a:t>
            </a:r>
            <a:r>
              <a:rPr sz="2294" spc="-106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would</a:t>
            </a:r>
            <a:r>
              <a:rPr sz="2294" spc="-106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need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be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fetched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from</a:t>
            </a:r>
            <a:r>
              <a:rPr sz="2294" spc="-101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memory.</a:t>
            </a:r>
            <a:endParaRPr sz="2294" dirty="0">
              <a:latin typeface="Calibri"/>
              <a:cs typeface="Calibri"/>
            </a:endParaRPr>
          </a:p>
          <a:p>
            <a:pPr>
              <a:spcBef>
                <a:spcPts val="31"/>
              </a:spcBef>
            </a:pPr>
            <a:endParaRPr sz="2294" dirty="0">
              <a:latin typeface="Calibri"/>
              <a:cs typeface="Calibri"/>
            </a:endParaRPr>
          </a:p>
          <a:p>
            <a:pPr marL="11206" marR="4483">
              <a:lnSpc>
                <a:spcPts val="2735"/>
              </a:lnSpc>
              <a:spcBef>
                <a:spcPts val="4"/>
              </a:spcBef>
            </a:pPr>
            <a:r>
              <a:rPr sz="2294" dirty="0">
                <a:latin typeface="Calibri"/>
                <a:cs typeface="Calibri"/>
              </a:rPr>
              <a:t>But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suppose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eventually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need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lang="en-US" sz="2294" spc="-22" dirty="0">
                <a:latin typeface="Calibri"/>
                <a:cs typeface="Calibri"/>
              </a:rPr>
              <a:t>access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blocks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10,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31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and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66.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8634" y="4616375"/>
            <a:ext cx="3442445" cy="1062508"/>
          </a:xfrm>
          <a:prstGeom prst="rect">
            <a:avLst/>
          </a:prstGeom>
        </p:spPr>
        <p:txBody>
          <a:bodyPr vert="horz" wrap="square" lIns="0" tIns="23532" rIns="0" bIns="0" rtlCol="0">
            <a:spAutoFit/>
          </a:bodyPr>
          <a:lstStyle/>
          <a:p>
            <a:pPr marL="11206" marR="4483">
              <a:lnSpc>
                <a:spcPts val="2735"/>
              </a:lnSpc>
              <a:spcBef>
                <a:spcPts val="185"/>
              </a:spcBef>
            </a:pPr>
            <a:r>
              <a:rPr sz="2294" dirty="0">
                <a:latin typeface="Calibri"/>
                <a:cs typeface="Calibri"/>
              </a:rPr>
              <a:t>Need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fetch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all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three, because</a:t>
            </a:r>
            <a:r>
              <a:rPr sz="2294" spc="-110" dirty="0">
                <a:latin typeface="Calibri"/>
                <a:cs typeface="Calibri"/>
              </a:rPr>
              <a:t> </a:t>
            </a:r>
            <a:r>
              <a:rPr lang="en-US" sz="2294" spc="-110" dirty="0">
                <a:latin typeface="Calibri"/>
                <a:cs typeface="Calibri"/>
              </a:rPr>
              <a:t>we </a:t>
            </a:r>
            <a:r>
              <a:rPr sz="2294" dirty="0">
                <a:latin typeface="Calibri"/>
                <a:cs typeface="Calibri"/>
              </a:rPr>
              <a:t>don’t</a:t>
            </a:r>
            <a:r>
              <a:rPr sz="2294" spc="-110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have</a:t>
            </a:r>
            <a:r>
              <a:rPr sz="2294" spc="-106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valid </a:t>
            </a:r>
            <a:r>
              <a:rPr sz="2294" spc="-22" dirty="0">
                <a:latin typeface="Calibri"/>
                <a:cs typeface="Calibri"/>
              </a:rPr>
              <a:t>versions</a:t>
            </a:r>
            <a:r>
              <a:rPr sz="2294" spc="-66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of</a:t>
            </a:r>
            <a:r>
              <a:rPr sz="2294" spc="-57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them</a:t>
            </a:r>
            <a:r>
              <a:rPr lang="en-US" sz="2294" spc="-18" dirty="0">
                <a:latin typeface="Calibri"/>
                <a:cs typeface="Calibri"/>
              </a:rPr>
              <a:t> in cache</a:t>
            </a:r>
            <a:r>
              <a:rPr sz="2294" spc="-18" dirty="0">
                <a:latin typeface="Calibri"/>
                <a:cs typeface="Calibri"/>
              </a:rPr>
              <a:t>.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34910" y="4696460"/>
            <a:ext cx="655544" cy="89578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421" marR="4483" indent="-25774">
              <a:lnSpc>
                <a:spcPct val="132300"/>
              </a:lnSpc>
              <a:spcBef>
                <a:spcPts val="88"/>
              </a:spcBef>
            </a:pPr>
            <a:r>
              <a:rPr sz="2294" spc="-35" dirty="0">
                <a:latin typeface="Times New Roman"/>
                <a:cs typeface="Times New Roman"/>
              </a:rPr>
              <a:t>Valid </a:t>
            </a:r>
            <a:r>
              <a:rPr sz="2294" spc="-26" dirty="0">
                <a:latin typeface="Times New Roman"/>
                <a:cs typeface="Times New Roman"/>
              </a:rPr>
              <a:t>Dirty</a:t>
            </a:r>
            <a:endParaRPr sz="2294" dirty="0">
              <a:latin typeface="Times New Roman"/>
              <a:cs typeface="Times New Roman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A3327A7-4C8F-2558-CDA9-B508F86D15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23111" y="6346231"/>
            <a:ext cx="3448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41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Managing</a:t>
            </a:r>
            <a:r>
              <a:rPr spc="-13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cache</a:t>
            </a:r>
            <a:r>
              <a:rPr spc="-9" dirty="0">
                <a:latin typeface="Arial MT"/>
                <a:cs typeface="Arial MT"/>
              </a:rPr>
              <a:t>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0973" y="2432574"/>
            <a:ext cx="2506316" cy="178872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280722">
              <a:spcBef>
                <a:spcPts val="88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result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looks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like </a:t>
            </a:r>
            <a:r>
              <a:rPr sz="2400" spc="-9" dirty="0">
                <a:latin typeface="Calibri"/>
                <a:cs typeface="Calibri"/>
              </a:rPr>
              <a:t>this.</a:t>
            </a:r>
            <a:endParaRPr sz="2400" dirty="0">
              <a:latin typeface="Calibri"/>
              <a:cs typeface="Calibri"/>
            </a:endParaRPr>
          </a:p>
          <a:p>
            <a:pPr marL="11206" marR="4483">
              <a:lnSpc>
                <a:spcPts val="2735"/>
              </a:lnSpc>
              <a:spcBef>
                <a:spcPts val="2727"/>
              </a:spcBef>
            </a:pPr>
            <a:r>
              <a:rPr sz="2400" spc="-9" dirty="0">
                <a:latin typeface="Calibri"/>
                <a:cs typeface="Calibri"/>
              </a:rPr>
              <a:t>Now</a:t>
            </a:r>
            <a:r>
              <a:rPr sz="2400" spc="-11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suppose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write</a:t>
            </a:r>
            <a:r>
              <a:rPr sz="2400" b="1" spc="-10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to </a:t>
            </a:r>
            <a:r>
              <a:rPr sz="2400" spc="-9" dirty="0">
                <a:latin typeface="Calibri"/>
                <a:cs typeface="Calibri"/>
              </a:rPr>
              <a:t>block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66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31.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53375" y="3209364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211712"/>
              </p:ext>
            </p:extLst>
          </p:nvPr>
        </p:nvGraphicFramePr>
        <p:xfrm>
          <a:off x="4353375" y="478715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353375" y="5289177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353375" y="1990165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70987"/>
              </p:ext>
            </p:extLst>
          </p:nvPr>
        </p:nvGraphicFramePr>
        <p:xfrm>
          <a:off x="4353375" y="263562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b="1" spc="-25" dirty="0">
                          <a:latin typeface="Times New Roman"/>
                          <a:cs typeface="Times New Roman"/>
                        </a:rPr>
                        <a:t>31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b="1" spc="-25" dirty="0">
                          <a:latin typeface="Times New Roman"/>
                          <a:cs typeface="Times New Roman"/>
                        </a:rPr>
                        <a:t>66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931937" y="4707252"/>
            <a:ext cx="655544" cy="90200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421" marR="4483" indent="-25774">
              <a:lnSpc>
                <a:spcPct val="133100"/>
              </a:lnSpc>
              <a:spcBef>
                <a:spcPts val="88"/>
              </a:spcBef>
            </a:pPr>
            <a:r>
              <a:rPr sz="2294" spc="-35" dirty="0">
                <a:latin typeface="Times New Roman"/>
                <a:cs typeface="Times New Roman"/>
              </a:rPr>
              <a:t>Valid </a:t>
            </a:r>
            <a:r>
              <a:rPr sz="2294" spc="-26" dirty="0">
                <a:latin typeface="Times New Roman"/>
                <a:cs typeface="Times New Roman"/>
              </a:rPr>
              <a:t>Dirty</a:t>
            </a:r>
            <a:endParaRPr sz="2294" dirty="0">
              <a:latin typeface="Times New Roman"/>
              <a:cs typeface="Times New Roman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70112A-601B-64D9-016D-F05FC45D05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9244" y="6346231"/>
            <a:ext cx="37873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42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Managing</a:t>
            </a:r>
            <a:r>
              <a:rPr spc="-13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cache</a:t>
            </a:r>
            <a:r>
              <a:rPr spc="-9" dirty="0">
                <a:latin typeface="Arial MT"/>
                <a:cs typeface="Arial MT"/>
              </a:rPr>
              <a:t> (cont.)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625904"/>
              </p:ext>
            </p:extLst>
          </p:nvPr>
        </p:nvGraphicFramePr>
        <p:xfrm>
          <a:off x="4356348" y="3209364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96950"/>
              </p:ext>
            </p:extLst>
          </p:nvPr>
        </p:nvGraphicFramePr>
        <p:xfrm>
          <a:off x="4356348" y="478715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977191"/>
              </p:ext>
            </p:extLst>
          </p:nvPr>
        </p:nvGraphicFramePr>
        <p:xfrm>
          <a:off x="4356348" y="5289177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645777"/>
              </p:ext>
            </p:extLst>
          </p:nvPr>
        </p:nvGraphicFramePr>
        <p:xfrm>
          <a:off x="4356348" y="1990165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963016"/>
              </p:ext>
            </p:extLst>
          </p:nvPr>
        </p:nvGraphicFramePr>
        <p:xfrm>
          <a:off x="4356348" y="2635623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31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66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45820" y="2074881"/>
            <a:ext cx="3299572" cy="2102385"/>
          </a:xfrm>
          <a:prstGeom prst="rect">
            <a:avLst/>
          </a:prstGeom>
        </p:spPr>
        <p:txBody>
          <a:bodyPr vert="horz" wrap="square" lIns="0" tIns="24652" rIns="0" bIns="0" rtlCol="0">
            <a:spAutoFit/>
          </a:bodyPr>
          <a:lstStyle/>
          <a:p>
            <a:pPr marL="11206" marR="563126">
              <a:lnSpc>
                <a:spcPts val="2735"/>
              </a:lnSpc>
              <a:spcBef>
                <a:spcPts val="193"/>
              </a:spcBef>
            </a:pPr>
            <a:r>
              <a:rPr sz="2294" dirty="0">
                <a:latin typeface="Calibri"/>
                <a:cs typeface="Calibri"/>
              </a:rPr>
              <a:t>The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blocks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are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valid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in </a:t>
            </a:r>
            <a:r>
              <a:rPr sz="2294" spc="-9" dirty="0">
                <a:latin typeface="Calibri"/>
                <a:cs typeface="Calibri"/>
              </a:rPr>
              <a:t>cache,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so</a:t>
            </a:r>
            <a:r>
              <a:rPr sz="2294" spc="-97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don’t</a:t>
            </a:r>
            <a:r>
              <a:rPr sz="2294" spc="-97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need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to </a:t>
            </a:r>
            <a:r>
              <a:rPr sz="2294" spc="-9" dirty="0">
                <a:latin typeface="Calibri"/>
                <a:cs typeface="Calibri"/>
              </a:rPr>
              <a:t>fetch</a:t>
            </a:r>
            <a:r>
              <a:rPr lang="en-US" sz="2294" spc="-9" dirty="0">
                <a:latin typeface="Calibri"/>
                <a:cs typeface="Calibri"/>
              </a:rPr>
              <a:t> them again</a:t>
            </a:r>
            <a:r>
              <a:rPr sz="2294" spc="-9" dirty="0">
                <a:latin typeface="Calibri"/>
                <a:cs typeface="Calibri"/>
              </a:rPr>
              <a:t>.</a:t>
            </a:r>
            <a:endParaRPr sz="2294" dirty="0">
              <a:latin typeface="Calibri"/>
              <a:cs typeface="Calibri"/>
            </a:endParaRPr>
          </a:p>
          <a:p>
            <a:pPr marL="11206" marR="4483">
              <a:lnSpc>
                <a:spcPts val="2735"/>
              </a:lnSpc>
              <a:spcBef>
                <a:spcPts val="2652"/>
              </a:spcBef>
            </a:pPr>
            <a:r>
              <a:rPr sz="2294" dirty="0">
                <a:latin typeface="Calibri"/>
                <a:cs typeface="Calibri"/>
              </a:rPr>
              <a:t>But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the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b="1" spc="-9" dirty="0">
                <a:latin typeface="Calibri"/>
                <a:cs typeface="Calibri"/>
              </a:rPr>
              <a:t>write</a:t>
            </a:r>
            <a:r>
              <a:rPr sz="2294" b="1" spc="-84" dirty="0">
                <a:latin typeface="Calibri"/>
                <a:cs typeface="Calibri"/>
              </a:rPr>
              <a:t> </a:t>
            </a:r>
            <a:r>
              <a:rPr sz="2294" spc="-26" dirty="0">
                <a:latin typeface="Calibri"/>
                <a:cs typeface="Calibri"/>
              </a:rPr>
              <a:t>operation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sets </a:t>
            </a:r>
            <a:r>
              <a:rPr sz="2294" dirty="0">
                <a:latin typeface="Calibri"/>
                <a:cs typeface="Calibri"/>
              </a:rPr>
              <a:t>the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b="1" spc="-9" dirty="0">
                <a:latin typeface="Calibri"/>
                <a:cs typeface="Calibri"/>
              </a:rPr>
              <a:t>dirty</a:t>
            </a:r>
            <a:r>
              <a:rPr sz="2294" b="1" spc="-8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bit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for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the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blocks.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34910" y="4707252"/>
            <a:ext cx="655544" cy="90200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421" marR="4483" indent="-25774">
              <a:lnSpc>
                <a:spcPct val="133100"/>
              </a:lnSpc>
              <a:spcBef>
                <a:spcPts val="88"/>
              </a:spcBef>
            </a:pPr>
            <a:r>
              <a:rPr sz="2294" spc="-35" dirty="0">
                <a:latin typeface="Times New Roman"/>
                <a:cs typeface="Times New Roman"/>
              </a:rPr>
              <a:t>Valid </a:t>
            </a:r>
            <a:r>
              <a:rPr sz="2294" spc="-26" dirty="0">
                <a:solidFill>
                  <a:srgbClr val="FF0000"/>
                </a:solidFill>
                <a:latin typeface="Times New Roman"/>
                <a:cs typeface="Times New Roman"/>
              </a:rPr>
              <a:t>Dirty</a:t>
            </a:r>
            <a:endParaRPr sz="2294" dirty="0">
              <a:latin typeface="Times New Roman"/>
              <a:cs typeface="Times New Roman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4515B3-FF0F-41CC-D1F9-1D7F1249D2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0533" y="6346231"/>
            <a:ext cx="36745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43</a:t>
            </a:fld>
            <a:endParaRPr lang="en-US" spc="-44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Managing</a:t>
            </a:r>
            <a:r>
              <a:rPr spc="-13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cache</a:t>
            </a:r>
            <a:r>
              <a:rPr spc="-9" dirty="0">
                <a:latin typeface="Arial MT"/>
                <a:cs typeface="Arial MT"/>
              </a:rPr>
              <a:t> (cont.)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604145"/>
              </p:ext>
            </p:extLst>
          </p:nvPr>
        </p:nvGraphicFramePr>
        <p:xfrm>
          <a:off x="4351703" y="3213348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60973" y="2577801"/>
            <a:ext cx="2497791" cy="1062508"/>
          </a:xfrm>
          <a:prstGeom prst="rect">
            <a:avLst/>
          </a:prstGeom>
        </p:spPr>
        <p:txBody>
          <a:bodyPr vert="horz" wrap="square" lIns="0" tIns="23532" rIns="0" bIns="0" rtlCol="0">
            <a:spAutoFit/>
          </a:bodyPr>
          <a:lstStyle/>
          <a:p>
            <a:pPr marL="11206" marR="4483">
              <a:lnSpc>
                <a:spcPts val="2735"/>
              </a:lnSpc>
              <a:spcBef>
                <a:spcPts val="185"/>
              </a:spcBef>
            </a:pPr>
            <a:r>
              <a:rPr sz="2294" spc="-9" dirty="0">
                <a:latin typeface="Calibri"/>
                <a:cs typeface="Calibri"/>
              </a:rPr>
              <a:t>Now</a:t>
            </a:r>
            <a:r>
              <a:rPr sz="2294" spc="-110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suppose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CPU </a:t>
            </a:r>
            <a:r>
              <a:rPr sz="2294" dirty="0">
                <a:latin typeface="Calibri"/>
                <a:cs typeface="Calibri"/>
              </a:rPr>
              <a:t>needs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97" dirty="0">
                <a:latin typeface="Calibri"/>
                <a:cs typeface="Calibri"/>
              </a:rPr>
              <a:t> </a:t>
            </a:r>
            <a:r>
              <a:rPr sz="2294" b="1" spc="-18" dirty="0">
                <a:latin typeface="Calibri"/>
                <a:cs typeface="Calibri"/>
              </a:rPr>
              <a:t>read</a:t>
            </a:r>
            <a:r>
              <a:rPr sz="2294" b="1" spc="-97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data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in </a:t>
            </a:r>
            <a:r>
              <a:rPr sz="2294" dirty="0">
                <a:latin typeface="Calibri"/>
                <a:cs typeface="Calibri"/>
              </a:rPr>
              <a:t>a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not</a:t>
            </a:r>
            <a:r>
              <a:rPr sz="2294" spc="-66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in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cache.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0973" y="3954781"/>
            <a:ext cx="2912716" cy="71853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 marR="4483">
              <a:lnSpc>
                <a:spcPct val="99600"/>
              </a:lnSpc>
              <a:spcBef>
                <a:spcPts val="97"/>
              </a:spcBef>
            </a:pPr>
            <a:r>
              <a:rPr sz="2294" dirty="0">
                <a:latin typeface="Calibri"/>
                <a:cs typeface="Calibri"/>
              </a:rPr>
              <a:t>If</a:t>
            </a:r>
            <a:r>
              <a:rPr sz="2294" spc="-62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it</a:t>
            </a:r>
            <a:r>
              <a:rPr sz="2294" spc="-66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is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41,</a:t>
            </a:r>
            <a:r>
              <a:rPr sz="2294" spc="-57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then </a:t>
            </a:r>
            <a:r>
              <a:rPr sz="2294" spc="-9" dirty="0">
                <a:latin typeface="Calibri"/>
                <a:cs typeface="Calibri"/>
              </a:rPr>
              <a:t>must</a:t>
            </a:r>
            <a:r>
              <a:rPr sz="2294" spc="-101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overwrite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block </a:t>
            </a:r>
            <a:r>
              <a:rPr sz="2294" spc="-22" dirty="0">
                <a:latin typeface="Calibri"/>
                <a:cs typeface="Calibri"/>
              </a:rPr>
              <a:t>31.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30263" y="4714820"/>
            <a:ext cx="655544" cy="89578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421" marR="4483" indent="-25774">
              <a:lnSpc>
                <a:spcPct val="132300"/>
              </a:lnSpc>
              <a:spcBef>
                <a:spcPts val="88"/>
              </a:spcBef>
            </a:pPr>
            <a:r>
              <a:rPr sz="2294" spc="-35" dirty="0">
                <a:latin typeface="Times New Roman"/>
                <a:cs typeface="Times New Roman"/>
              </a:rPr>
              <a:t>Valid </a:t>
            </a:r>
            <a:r>
              <a:rPr sz="2294" spc="-26" dirty="0">
                <a:latin typeface="Times New Roman"/>
                <a:cs typeface="Times New Roman"/>
              </a:rPr>
              <a:t>Dirty</a:t>
            </a:r>
            <a:endParaRPr sz="2294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6491" y="3217831"/>
            <a:ext cx="430305" cy="13626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6491" y="4795619"/>
            <a:ext cx="430305" cy="430306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577903"/>
              </p:ext>
            </p:extLst>
          </p:nvPr>
        </p:nvGraphicFramePr>
        <p:xfrm>
          <a:off x="4351703" y="4791137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6491" y="5297642"/>
            <a:ext cx="430305" cy="430305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880325"/>
              </p:ext>
            </p:extLst>
          </p:nvPr>
        </p:nvGraphicFramePr>
        <p:xfrm>
          <a:off x="4351703" y="5293159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6491" y="1998630"/>
            <a:ext cx="430305" cy="430305"/>
          </a:xfrm>
          <a:prstGeom prst="rect">
            <a:avLst/>
          </a:prstGeom>
        </p:spPr>
      </p:pic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705487"/>
              </p:ext>
            </p:extLst>
          </p:nvPr>
        </p:nvGraphicFramePr>
        <p:xfrm>
          <a:off x="4351703" y="1994149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86491" y="2644090"/>
            <a:ext cx="430305" cy="430305"/>
          </a:xfrm>
          <a:prstGeom prst="rect">
            <a:avLst/>
          </a:prstGeom>
        </p:spPr>
      </p:pic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86329"/>
              </p:ext>
            </p:extLst>
          </p:nvPr>
        </p:nvGraphicFramePr>
        <p:xfrm>
          <a:off x="4351703" y="2639607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31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66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ECFDCFB-1BDD-BC38-A3A5-141A4562E7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23111" y="6346231"/>
            <a:ext cx="3448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44</a:t>
            </a:fld>
            <a:endParaRPr lang="en-US" spc="-44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>
                <a:latin typeface="Arial MT"/>
                <a:cs typeface="Arial MT"/>
              </a:rPr>
              <a:t>Write-</a:t>
            </a:r>
            <a:r>
              <a:rPr dirty="0">
                <a:latin typeface="Arial MT"/>
                <a:cs typeface="Arial MT"/>
              </a:rPr>
              <a:t>through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8" dirty="0">
                <a:latin typeface="Arial MT"/>
                <a:cs typeface="Arial MT"/>
              </a:rPr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0062" y="2074882"/>
            <a:ext cx="2988419" cy="2808978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marL="11206" marR="4483">
              <a:lnSpc>
                <a:spcPct val="98700"/>
              </a:lnSpc>
              <a:spcBef>
                <a:spcPts val="124"/>
              </a:spcBef>
            </a:pPr>
            <a:r>
              <a:rPr sz="2294" dirty="0">
                <a:latin typeface="Calibri"/>
                <a:cs typeface="Calibri"/>
              </a:rPr>
              <a:t>In</a:t>
            </a:r>
            <a:r>
              <a:rPr sz="2294" spc="-49" dirty="0">
                <a:latin typeface="Calibri"/>
                <a:cs typeface="Calibri"/>
              </a:rPr>
              <a:t> </a:t>
            </a:r>
            <a:r>
              <a:rPr sz="2294" b="1" spc="-35" dirty="0">
                <a:latin typeface="Calibri"/>
                <a:cs typeface="Calibri"/>
              </a:rPr>
              <a:t>write-</a:t>
            </a:r>
            <a:r>
              <a:rPr sz="2294" b="1" spc="-22" dirty="0">
                <a:latin typeface="Calibri"/>
                <a:cs typeface="Calibri"/>
              </a:rPr>
              <a:t>through</a:t>
            </a:r>
            <a:r>
              <a:rPr sz="2294" b="1" spc="-49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caches, </a:t>
            </a:r>
            <a:r>
              <a:rPr sz="2294" dirty="0">
                <a:latin typeface="Calibri"/>
                <a:cs typeface="Calibri"/>
              </a:rPr>
              <a:t>every</a:t>
            </a:r>
            <a:r>
              <a:rPr sz="2294" spc="-115" dirty="0">
                <a:latin typeface="Calibri"/>
                <a:cs typeface="Calibri"/>
              </a:rPr>
              <a:t> </a:t>
            </a:r>
            <a:r>
              <a:rPr sz="2294" b="1" spc="-9" dirty="0">
                <a:latin typeface="Calibri"/>
                <a:cs typeface="Calibri"/>
              </a:rPr>
              <a:t>write</a:t>
            </a:r>
            <a:r>
              <a:rPr sz="2294" b="1" spc="-110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causes</a:t>
            </a:r>
            <a:r>
              <a:rPr sz="2294" spc="-115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an </a:t>
            </a:r>
            <a:r>
              <a:rPr sz="2294" i="1" spc="-22" dirty="0">
                <a:latin typeface="Calibri"/>
                <a:cs typeface="Calibri"/>
              </a:rPr>
              <a:t>immediate</a:t>
            </a:r>
            <a:r>
              <a:rPr sz="2294" i="1" spc="-79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change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both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97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cache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and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97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main </a:t>
            </a:r>
            <a:r>
              <a:rPr sz="2294" spc="-9" dirty="0">
                <a:latin typeface="Calibri"/>
                <a:cs typeface="Calibri"/>
              </a:rPr>
              <a:t>memory.</a:t>
            </a:r>
            <a:endParaRPr sz="2294" dirty="0">
              <a:latin typeface="Calibri"/>
              <a:cs typeface="Calibri"/>
            </a:endParaRPr>
          </a:p>
          <a:p>
            <a:pPr>
              <a:spcBef>
                <a:spcPts val="9"/>
              </a:spcBef>
            </a:pPr>
            <a:endParaRPr sz="2294" dirty="0">
              <a:latin typeface="Calibri"/>
              <a:cs typeface="Calibri"/>
            </a:endParaRPr>
          </a:p>
          <a:p>
            <a:pPr marL="11206" marR="42585">
              <a:lnSpc>
                <a:spcPts val="2735"/>
              </a:lnSpc>
              <a:spcBef>
                <a:spcPts val="4"/>
              </a:spcBef>
            </a:pPr>
            <a:r>
              <a:rPr sz="2294" dirty="0">
                <a:latin typeface="Calibri"/>
                <a:cs typeface="Calibri"/>
              </a:rPr>
              <a:t>So</a:t>
            </a:r>
            <a:r>
              <a:rPr lang="en-US" sz="2294" dirty="0">
                <a:latin typeface="Calibri"/>
                <a:cs typeface="Calibri"/>
              </a:rPr>
              <a:t>,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the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b="1" spc="-18" dirty="0">
                <a:latin typeface="Calibri"/>
                <a:cs typeface="Calibri"/>
              </a:rPr>
              <a:t>read</a:t>
            </a:r>
            <a:r>
              <a:rPr sz="2294" b="1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just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involves </a:t>
            </a:r>
            <a:r>
              <a:rPr sz="2294" spc="-22" dirty="0">
                <a:latin typeface="Calibri"/>
                <a:cs typeface="Calibri"/>
              </a:rPr>
              <a:t>fetching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the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block.</a:t>
            </a:r>
            <a:endParaRPr sz="2294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260333"/>
              </p:ext>
            </p:extLst>
          </p:nvPr>
        </p:nvGraphicFramePr>
        <p:xfrm>
          <a:off x="4355686" y="3217332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934248" y="4787500"/>
            <a:ext cx="629771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spc="-62" dirty="0">
                <a:latin typeface="Times New Roman"/>
                <a:cs typeface="Times New Roman"/>
              </a:rPr>
              <a:t>Valid</a:t>
            </a:r>
            <a:endParaRPr sz="2294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0474" y="3221815"/>
            <a:ext cx="430305" cy="1362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0474" y="4799602"/>
            <a:ext cx="430305" cy="430306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15740"/>
              </p:ext>
            </p:extLst>
          </p:nvPr>
        </p:nvGraphicFramePr>
        <p:xfrm>
          <a:off x="4355686" y="4795120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0474" y="2002615"/>
            <a:ext cx="430305" cy="430305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132961"/>
              </p:ext>
            </p:extLst>
          </p:nvPr>
        </p:nvGraphicFramePr>
        <p:xfrm>
          <a:off x="4355686" y="1998131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90474" y="2648073"/>
            <a:ext cx="430305" cy="430305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70864"/>
              </p:ext>
            </p:extLst>
          </p:nvPr>
        </p:nvGraphicFramePr>
        <p:xfrm>
          <a:off x="4355686" y="2643591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31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66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F44916-FF2A-334E-C7FC-EE636E08C8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17262" y="6346231"/>
            <a:ext cx="45072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45</a:t>
            </a:fld>
            <a:endParaRPr lang="en-US" spc="-44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>
                <a:latin typeface="Arial MT"/>
                <a:cs typeface="Arial MT"/>
              </a:rPr>
              <a:t>Write-</a:t>
            </a:r>
            <a:r>
              <a:rPr dirty="0">
                <a:latin typeface="Arial MT"/>
                <a:cs typeface="Arial MT"/>
              </a:rPr>
              <a:t>back</a:t>
            </a:r>
            <a:r>
              <a:rPr spc="22" dirty="0">
                <a:latin typeface="Arial MT"/>
                <a:cs typeface="Arial MT"/>
              </a:rPr>
              <a:t> </a:t>
            </a:r>
            <a:r>
              <a:rPr spc="-18" dirty="0">
                <a:latin typeface="Arial MT"/>
                <a:cs typeface="Arial MT"/>
              </a:rPr>
              <a:t>cache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167924"/>
              </p:ext>
            </p:extLst>
          </p:nvPr>
        </p:nvGraphicFramePr>
        <p:xfrm>
          <a:off x="4351703" y="3220653"/>
          <a:ext cx="3442446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29343" y="2073230"/>
            <a:ext cx="2537012" cy="1071582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 marR="4483">
              <a:lnSpc>
                <a:spcPct val="99600"/>
              </a:lnSpc>
              <a:spcBef>
                <a:spcPts val="97"/>
              </a:spcBef>
            </a:pPr>
            <a:r>
              <a:rPr sz="2294" dirty="0">
                <a:latin typeface="Calibri"/>
                <a:cs typeface="Calibri"/>
              </a:rPr>
              <a:t>In</a:t>
            </a:r>
            <a:r>
              <a:rPr sz="2294" spc="-49" dirty="0">
                <a:latin typeface="Calibri"/>
                <a:cs typeface="Calibri"/>
              </a:rPr>
              <a:t> </a:t>
            </a:r>
            <a:r>
              <a:rPr sz="2294" b="1" spc="-35" dirty="0">
                <a:latin typeface="Calibri"/>
                <a:cs typeface="Calibri"/>
              </a:rPr>
              <a:t>write-</a:t>
            </a:r>
            <a:r>
              <a:rPr sz="2294" b="1" spc="-9" dirty="0">
                <a:latin typeface="Calibri"/>
                <a:cs typeface="Calibri"/>
              </a:rPr>
              <a:t>back</a:t>
            </a:r>
            <a:r>
              <a:rPr sz="2294" b="1" spc="-49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caches, </a:t>
            </a:r>
            <a:r>
              <a:rPr sz="2294" dirty="0">
                <a:latin typeface="Calibri"/>
                <a:cs typeface="Calibri"/>
              </a:rPr>
              <a:t>every</a:t>
            </a:r>
            <a:r>
              <a:rPr sz="2294" spc="-115" dirty="0">
                <a:latin typeface="Calibri"/>
                <a:cs typeface="Calibri"/>
              </a:rPr>
              <a:t> </a:t>
            </a:r>
            <a:r>
              <a:rPr sz="2294" b="1" spc="-9" dirty="0">
                <a:latin typeface="Calibri"/>
                <a:cs typeface="Calibri"/>
              </a:rPr>
              <a:t>write</a:t>
            </a:r>
            <a:r>
              <a:rPr sz="2294" b="1" spc="-110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causes</a:t>
            </a:r>
            <a:r>
              <a:rPr sz="2294" spc="-115" dirty="0">
                <a:latin typeface="Calibri"/>
                <a:cs typeface="Calibri"/>
              </a:rPr>
              <a:t> </a:t>
            </a:r>
            <a:r>
              <a:rPr sz="2294" spc="-44" dirty="0">
                <a:latin typeface="Calibri"/>
                <a:cs typeface="Calibri"/>
              </a:rPr>
              <a:t>a </a:t>
            </a:r>
            <a:r>
              <a:rPr sz="2294" spc="-18" dirty="0">
                <a:latin typeface="Calibri"/>
                <a:cs typeface="Calibri"/>
              </a:rPr>
              <a:t>change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only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101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cache.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9344" y="3452897"/>
            <a:ext cx="2992531" cy="1764002"/>
          </a:xfrm>
          <a:prstGeom prst="rect">
            <a:avLst/>
          </a:prstGeom>
        </p:spPr>
        <p:txBody>
          <a:bodyPr vert="horz" wrap="square" lIns="0" tIns="16249" rIns="0" bIns="0" rtlCol="0">
            <a:spAutoFit/>
          </a:bodyPr>
          <a:lstStyle/>
          <a:p>
            <a:pPr marL="11206" marR="4483">
              <a:lnSpc>
                <a:spcPct val="98500"/>
              </a:lnSpc>
              <a:spcBef>
                <a:spcPts val="128"/>
              </a:spcBef>
            </a:pPr>
            <a:r>
              <a:rPr sz="2294" dirty="0">
                <a:latin typeface="Calibri"/>
                <a:cs typeface="Calibri"/>
              </a:rPr>
              <a:t>So</a:t>
            </a:r>
            <a:r>
              <a:rPr lang="en-US" sz="2294" dirty="0">
                <a:latin typeface="Calibri"/>
                <a:cs typeface="Calibri"/>
              </a:rPr>
              <a:t>,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the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b="1" spc="-18" dirty="0">
                <a:latin typeface="Calibri"/>
                <a:cs typeface="Calibri"/>
              </a:rPr>
              <a:t>read</a:t>
            </a:r>
            <a:r>
              <a:rPr sz="2294" b="1" spc="-79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involves </a:t>
            </a:r>
            <a:r>
              <a:rPr sz="2294" spc="-18" dirty="0">
                <a:latin typeface="Calibri"/>
                <a:cs typeface="Calibri"/>
              </a:rPr>
              <a:t>writing</a:t>
            </a:r>
            <a:r>
              <a:rPr sz="2294" spc="-93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block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31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back</a:t>
            </a:r>
            <a:r>
              <a:rPr sz="2294" spc="-88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to </a:t>
            </a:r>
            <a:r>
              <a:rPr sz="2294" spc="-18" dirty="0">
                <a:latin typeface="Calibri"/>
                <a:cs typeface="Calibri"/>
              </a:rPr>
              <a:t>memory</a:t>
            </a:r>
            <a:r>
              <a:rPr sz="2294" spc="-84" dirty="0">
                <a:latin typeface="Calibri"/>
                <a:cs typeface="Calibri"/>
              </a:rPr>
              <a:t> </a:t>
            </a:r>
            <a:r>
              <a:rPr sz="2294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because</a:t>
            </a:r>
            <a:r>
              <a:rPr sz="2294" u="heavy" spc="-7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94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its</a:t>
            </a:r>
            <a:r>
              <a:rPr sz="2294" u="heavy" spc="-8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94" b="1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dirty</a:t>
            </a:r>
            <a:r>
              <a:rPr sz="2294" b="1" spc="-9" dirty="0">
                <a:latin typeface="Calibri"/>
                <a:cs typeface="Calibri"/>
              </a:rPr>
              <a:t> </a:t>
            </a:r>
            <a:r>
              <a:rPr sz="2294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bit</a:t>
            </a:r>
            <a:r>
              <a:rPr sz="2294" u="heavy" spc="-7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94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294" u="heavy" spc="-7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94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set</a:t>
            </a:r>
            <a:r>
              <a:rPr sz="2294" dirty="0">
                <a:latin typeface="Calibri"/>
                <a:cs typeface="Calibri"/>
              </a:rPr>
              <a:t>,</a:t>
            </a:r>
            <a:r>
              <a:rPr sz="2294" spc="-7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then</a:t>
            </a:r>
            <a:r>
              <a:rPr sz="2294" spc="-75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fetching block</a:t>
            </a:r>
            <a:r>
              <a:rPr sz="2294" spc="-97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41.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30263" y="4729830"/>
            <a:ext cx="655544" cy="90200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421" marR="4483" indent="-25774">
              <a:lnSpc>
                <a:spcPct val="133100"/>
              </a:lnSpc>
              <a:spcBef>
                <a:spcPts val="88"/>
              </a:spcBef>
            </a:pPr>
            <a:r>
              <a:rPr sz="2294" spc="-35" dirty="0">
                <a:latin typeface="Times New Roman"/>
                <a:cs typeface="Times New Roman"/>
              </a:rPr>
              <a:t>Valid </a:t>
            </a:r>
            <a:r>
              <a:rPr sz="2294" spc="-26" dirty="0">
                <a:latin typeface="Times New Roman"/>
                <a:cs typeface="Times New Roman"/>
              </a:rPr>
              <a:t>Dirty</a:t>
            </a:r>
            <a:endParaRPr sz="2294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6491" y="3225135"/>
            <a:ext cx="430305" cy="136263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6491" y="4802924"/>
            <a:ext cx="430305" cy="430306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659587"/>
              </p:ext>
            </p:extLst>
          </p:nvPr>
        </p:nvGraphicFramePr>
        <p:xfrm>
          <a:off x="4351703" y="4798442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6491" y="5304947"/>
            <a:ext cx="430305" cy="430305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583461"/>
              </p:ext>
            </p:extLst>
          </p:nvPr>
        </p:nvGraphicFramePr>
        <p:xfrm>
          <a:off x="4351703" y="5300466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86491" y="2005937"/>
            <a:ext cx="430305" cy="430305"/>
          </a:xfrm>
          <a:prstGeom prst="rect">
            <a:avLst/>
          </a:prstGeom>
        </p:spPr>
      </p:pic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47881"/>
              </p:ext>
            </p:extLst>
          </p:nvPr>
        </p:nvGraphicFramePr>
        <p:xfrm>
          <a:off x="4351703" y="2001454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86491" y="2651395"/>
            <a:ext cx="430305" cy="430305"/>
          </a:xfrm>
          <a:prstGeom prst="rect">
            <a:avLst/>
          </a:prstGeom>
        </p:spPr>
      </p:pic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249625"/>
              </p:ext>
            </p:extLst>
          </p:nvPr>
        </p:nvGraphicFramePr>
        <p:xfrm>
          <a:off x="4351703" y="2646912"/>
          <a:ext cx="3442446" cy="429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b="1" spc="-25" dirty="0">
                          <a:latin typeface="Times New Roman"/>
                          <a:cs typeface="Times New Roman"/>
                        </a:rPr>
                        <a:t>41</a:t>
                      </a:r>
                      <a:endParaRPr sz="23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66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0D14E0F-3D65-4C64-61B2-ECF7BB4981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23111" y="6346231"/>
            <a:ext cx="3448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46</a:t>
            </a:fld>
            <a:endParaRPr lang="en-US" spc="-44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Cache</a:t>
            </a:r>
            <a:r>
              <a:rPr spc="13" dirty="0"/>
              <a:t> </a:t>
            </a:r>
            <a:r>
              <a:rPr spc="-9" dirty="0"/>
              <a:t>Measures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2800" y="1220972"/>
            <a:ext cx="7676444" cy="5525909"/>
          </a:xfrm>
          <a:prstGeom prst="rect">
            <a:avLst/>
          </a:prstGeom>
        </p:spPr>
        <p:txBody>
          <a:bodyPr vert="horz" wrap="square" lIns="0" tIns="90207" rIns="0" bIns="0" rtlCol="0">
            <a:spAutoFit/>
          </a:bodyPr>
          <a:lstStyle/>
          <a:p>
            <a:pPr marL="279602" indent="-268395">
              <a:spcBef>
                <a:spcPts val="710"/>
              </a:spcBef>
              <a:buChar char="•"/>
              <a:tabLst>
                <a:tab pos="279602" algn="l"/>
              </a:tabLst>
            </a:pP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Hit</a:t>
            </a:r>
            <a:r>
              <a:rPr sz="2400" b="1" spc="-9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rate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fraction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lang="en-US" sz="2400" spc="-97" dirty="0">
                <a:latin typeface="Calibri"/>
                <a:cs typeface="Calibri"/>
              </a:rPr>
              <a:t>of blocks </a:t>
            </a:r>
            <a:r>
              <a:rPr sz="2400" dirty="0">
                <a:latin typeface="Calibri"/>
                <a:cs typeface="Calibri"/>
              </a:rPr>
              <a:t>found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level</a:t>
            </a:r>
            <a:endParaRPr sz="2400" dirty="0">
              <a:latin typeface="Calibri"/>
              <a:cs typeface="Calibri"/>
            </a:endParaRPr>
          </a:p>
          <a:p>
            <a:pPr marL="655579" lvl="1" indent="-214603">
              <a:spcBef>
                <a:spcPts val="507"/>
              </a:spcBef>
              <a:buChar char="–"/>
              <a:tabLst>
                <a:tab pos="655579" algn="l"/>
              </a:tabLst>
            </a:pPr>
            <a:r>
              <a:rPr sz="2000" dirty="0">
                <a:latin typeface="Calibri"/>
                <a:cs typeface="Calibri"/>
              </a:rPr>
              <a:t>So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usually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talk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Miss</a:t>
            </a:r>
            <a:r>
              <a:rPr sz="2000" b="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rate</a:t>
            </a:r>
            <a:r>
              <a:rPr sz="2000" b="1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b="1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000" b="1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000" b="1"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Hit</a:t>
            </a:r>
            <a:r>
              <a:rPr sz="2000" b="1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8" dirty="0">
                <a:solidFill>
                  <a:srgbClr val="FF0000"/>
                </a:solidFill>
                <a:latin typeface="Calibri"/>
                <a:cs typeface="Calibri"/>
              </a:rPr>
              <a:t>rate</a:t>
            </a:r>
            <a:endParaRPr sz="2000" b="1" dirty="0">
              <a:latin typeface="Calibri"/>
              <a:cs typeface="Calibri"/>
            </a:endParaRPr>
          </a:p>
          <a:p>
            <a:pPr marL="656139" marR="4483" lvl="1" indent="-215164">
              <a:spcBef>
                <a:spcPts val="759"/>
              </a:spcBef>
              <a:spcAft>
                <a:spcPts val="600"/>
              </a:spcAft>
              <a:buChar char="–"/>
              <a:tabLst>
                <a:tab pos="656139" algn="l"/>
              </a:tabLst>
            </a:pPr>
            <a:r>
              <a:rPr sz="2000" dirty="0">
                <a:latin typeface="Calibri"/>
                <a:cs typeface="Calibri"/>
              </a:rPr>
              <a:t>Miss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rate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fallacy: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MIPS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CPU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performance,</a:t>
            </a:r>
            <a:r>
              <a:rPr sz="2000" spc="35" dirty="0">
                <a:latin typeface="Calibri"/>
                <a:cs typeface="Calibri"/>
              </a:rPr>
              <a:t> </a:t>
            </a:r>
            <a:br>
              <a:rPr lang="en-US" sz="2000" spc="35" dirty="0">
                <a:latin typeface="Calibri"/>
                <a:cs typeface="Calibri"/>
              </a:rPr>
            </a:br>
            <a:r>
              <a:rPr sz="2000" dirty="0">
                <a:latin typeface="Calibri"/>
                <a:cs typeface="Calibri"/>
              </a:rPr>
              <a:t>miss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rate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AMAT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279602" indent="-268395">
              <a:spcBef>
                <a:spcPts val="459"/>
              </a:spcBef>
              <a:spcAft>
                <a:spcPts val="1200"/>
              </a:spcAft>
              <a:buFont typeface="Calibri"/>
              <a:buChar char="•"/>
              <a:tabLst>
                <a:tab pos="279602" algn="l"/>
              </a:tabLst>
            </a:pPr>
            <a:r>
              <a:rPr sz="2400" b="1" spc="-9" dirty="0">
                <a:latin typeface="Calibri"/>
                <a:cs typeface="Calibri"/>
              </a:rPr>
              <a:t>AMAT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time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+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Miss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rate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Miss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8" dirty="0">
                <a:latin typeface="Calibri"/>
                <a:cs typeface="Calibri"/>
              </a:rPr>
              <a:t>penalty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(ns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clocks)</a:t>
            </a:r>
            <a:endParaRPr sz="2294" dirty="0">
              <a:latin typeface="Calibri"/>
              <a:cs typeface="Calibri"/>
            </a:endParaRPr>
          </a:p>
          <a:p>
            <a:pPr marL="280162" marR="194992" indent="-268956">
              <a:spcBef>
                <a:spcPts val="4"/>
              </a:spcBef>
              <a:buChar char="•"/>
              <a:tabLst>
                <a:tab pos="280162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Miss</a:t>
            </a:r>
            <a:r>
              <a:rPr sz="2400" b="1" spc="-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9" dirty="0">
                <a:solidFill>
                  <a:srgbClr val="FF0000"/>
                </a:solidFill>
                <a:latin typeface="Calibri"/>
                <a:cs typeface="Calibri"/>
              </a:rPr>
              <a:t>penalty:</a:t>
            </a:r>
            <a:r>
              <a:rPr sz="2400" spc="-9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supply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missed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10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lower </a:t>
            </a:r>
            <a:r>
              <a:rPr sz="2400" dirty="0">
                <a:latin typeface="Calibri"/>
                <a:cs typeface="Calibri"/>
              </a:rPr>
              <a:t>level,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including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CPU-</a:t>
            </a:r>
            <a:r>
              <a:rPr sz="2400" spc="-9" dirty="0">
                <a:latin typeface="Calibri"/>
                <a:cs typeface="Calibri"/>
              </a:rPr>
              <a:t>visible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delays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save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replaced </a:t>
            </a:r>
            <a:r>
              <a:rPr sz="2400" spc="-31" dirty="0">
                <a:latin typeface="Calibri"/>
                <a:cs typeface="Calibri"/>
              </a:rPr>
              <a:t>write-</a:t>
            </a:r>
            <a:r>
              <a:rPr sz="2400" spc="-9" dirty="0">
                <a:latin typeface="Calibri"/>
                <a:cs typeface="Calibri"/>
              </a:rPr>
              <a:t>back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room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upper-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cache.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{“All active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caches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full”}</a:t>
            </a:r>
            <a:endParaRPr sz="2400" dirty="0">
              <a:latin typeface="Calibri"/>
              <a:cs typeface="Calibri"/>
            </a:endParaRPr>
          </a:p>
          <a:p>
            <a:pPr marL="655579" lvl="1" indent="-214603">
              <a:spcBef>
                <a:spcPts val="503"/>
              </a:spcBef>
              <a:buChar char="–"/>
              <a:tabLst>
                <a:tab pos="655579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r>
              <a:rPr sz="2000" b="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lower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</a:t>
            </a:r>
            <a:r>
              <a:rPr sz="2000" i="1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(latency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lower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level)</a:t>
            </a:r>
            <a:endParaRPr sz="2000" dirty="0">
              <a:latin typeface="Calibri"/>
              <a:cs typeface="Calibri"/>
            </a:endParaRPr>
          </a:p>
          <a:p>
            <a:pPr marL="656139" marR="377098" lvl="1" indent="-215164">
              <a:spcBef>
                <a:spcPts val="582"/>
              </a:spcBef>
              <a:buChar char="–"/>
              <a:tabLst>
                <a:tab pos="656139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transfer</a:t>
            </a:r>
            <a:r>
              <a:rPr sz="2000" b="1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transfer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</a:t>
            </a:r>
            <a:r>
              <a:rPr sz="2000" i="1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(BW</a:t>
            </a:r>
            <a:r>
              <a:rPr sz="2000" spc="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upper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44" dirty="0">
                <a:latin typeface="Calibri"/>
                <a:cs typeface="Calibri"/>
              </a:rPr>
              <a:t>&amp; </a:t>
            </a:r>
            <a:r>
              <a:rPr sz="2000" dirty="0">
                <a:latin typeface="Calibri"/>
                <a:cs typeface="Calibri"/>
              </a:rPr>
              <a:t>lower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levels)</a:t>
            </a:r>
            <a:endParaRPr sz="2000" dirty="0">
              <a:latin typeface="Calibri"/>
              <a:cs typeface="Calibri"/>
            </a:endParaRPr>
          </a:p>
          <a:p>
            <a:pPr marL="656139" marR="79566" lvl="1" indent="-215164">
              <a:spcBef>
                <a:spcPts val="600"/>
              </a:spcBef>
              <a:buChar char="–"/>
              <a:tabLst>
                <a:tab pos="656139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replacement</a:t>
            </a:r>
            <a:r>
              <a:rPr sz="2000" b="1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make</a:t>
            </a:r>
            <a:r>
              <a:rPr sz="2000" spc="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upper-level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room</a:t>
            </a:r>
            <a:r>
              <a:rPr sz="2000" spc="6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block,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active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full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88F0D-0529-43C4-775E-16A81AE7E5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9244" y="6346231"/>
            <a:ext cx="37873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47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6106812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How</a:t>
            </a:r>
            <a:r>
              <a:rPr spc="13" dirty="0"/>
              <a:t> </a:t>
            </a:r>
            <a:r>
              <a:rPr dirty="0"/>
              <a:t>much</a:t>
            </a:r>
            <a:r>
              <a:rPr spc="18" dirty="0"/>
              <a:t> </a:t>
            </a:r>
            <a:r>
              <a:rPr dirty="0"/>
              <a:t>do</a:t>
            </a:r>
            <a:r>
              <a:rPr spc="13" dirty="0"/>
              <a:t> </a:t>
            </a:r>
            <a:r>
              <a:rPr dirty="0"/>
              <a:t>stalls</a:t>
            </a:r>
            <a:r>
              <a:rPr spc="9" dirty="0"/>
              <a:t> </a:t>
            </a:r>
            <a:r>
              <a:rPr dirty="0"/>
              <a:t>slow</a:t>
            </a:r>
            <a:r>
              <a:rPr spc="18" dirty="0"/>
              <a:t> </a:t>
            </a:r>
            <a:r>
              <a:rPr dirty="0"/>
              <a:t>a</a:t>
            </a:r>
            <a:r>
              <a:rPr spc="18" dirty="0"/>
              <a:t> </a:t>
            </a:r>
            <a:r>
              <a:rPr spc="-9" dirty="0"/>
              <a:t>machine?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5" y="1300330"/>
            <a:ext cx="7363261" cy="2959555"/>
          </a:xfrm>
          <a:prstGeom prst="rect">
            <a:avLst/>
          </a:prstGeom>
        </p:spPr>
        <p:txBody>
          <a:bodyPr vert="horz" wrap="square" lIns="0" tIns="52668" rIns="0" bIns="0" rtlCol="0">
            <a:spAutoFit/>
          </a:bodyPr>
          <a:lstStyle/>
          <a:p>
            <a:pPr marL="280162" marR="150167" indent="-268956">
              <a:lnSpc>
                <a:spcPct val="88100"/>
              </a:lnSpc>
              <a:spcBef>
                <a:spcPts val="415"/>
              </a:spcBef>
              <a:buChar char="•"/>
              <a:tabLst>
                <a:tab pos="280162" algn="l"/>
              </a:tabLst>
            </a:pPr>
            <a:r>
              <a:rPr sz="2400" spc="-9" dirty="0">
                <a:latin typeface="Calibri"/>
                <a:cs typeface="Calibri"/>
              </a:rPr>
              <a:t>Suppose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pipelined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MIPS,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takes,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average,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clock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cycles,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counting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 faults/misses</a:t>
            </a:r>
            <a:endParaRPr sz="2400" dirty="0">
              <a:latin typeface="Calibri"/>
              <a:cs typeface="Calibri"/>
            </a:endParaRPr>
          </a:p>
          <a:p>
            <a:pPr marL="279041" marR="4483" indent="-267835" algn="just">
              <a:lnSpc>
                <a:spcPts val="2480"/>
              </a:lnSpc>
              <a:spcBef>
                <a:spcPts val="821"/>
              </a:spcBef>
              <a:buChar char="•"/>
              <a:tabLst>
                <a:tab pos="280162" algn="l"/>
              </a:tabLst>
            </a:pPr>
            <a:r>
              <a:rPr sz="2400" spc="-9" dirty="0">
                <a:latin typeface="Calibri"/>
                <a:cs typeface="Calibri"/>
              </a:rPr>
              <a:t>Suppose,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10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average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1.33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references 	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instruction,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access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50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cycles,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miss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2%</a:t>
            </a:r>
            <a:endParaRPr sz="2400" dirty="0">
              <a:latin typeface="Calibri"/>
              <a:cs typeface="Calibri"/>
            </a:endParaRPr>
          </a:p>
          <a:p>
            <a:pPr marL="279041" indent="-267835" algn="just">
              <a:spcBef>
                <a:spcPts val="468"/>
              </a:spcBef>
              <a:buChar char="•"/>
              <a:tabLst>
                <a:tab pos="279041" algn="l"/>
              </a:tabLst>
            </a:pPr>
            <a:r>
              <a:rPr sz="2400" spc="-9" dirty="0">
                <a:latin typeface="Calibri"/>
                <a:cs typeface="Calibri"/>
              </a:rPr>
              <a:t>Assume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cycle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279041" indent="-267835" algn="just">
              <a:spcBef>
                <a:spcPts val="507"/>
              </a:spcBef>
              <a:buChar char="•"/>
              <a:tabLst>
                <a:tab pos="279041" algn="l"/>
              </a:tabLst>
            </a:pPr>
            <a:r>
              <a:rPr sz="2400" dirty="0">
                <a:latin typeface="Calibri"/>
                <a:cs typeface="Calibri"/>
              </a:rPr>
              <a:t>Then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takes,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average: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0086" y="5888697"/>
            <a:ext cx="6050844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/>
            <a:r>
              <a:rPr sz="2000" b="1" dirty="0">
                <a:latin typeface="Arial"/>
                <a:cs typeface="Arial"/>
              </a:rPr>
              <a:t>2</a:t>
            </a:r>
            <a:r>
              <a:rPr sz="2000" b="1" spc="-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+</a:t>
            </a:r>
            <a:r>
              <a:rPr sz="2000" b="1" spc="427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(0 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spc="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.98)</a:t>
            </a:r>
            <a:r>
              <a:rPr sz="2000" b="1" spc="9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+</a:t>
            </a:r>
            <a:r>
              <a:rPr sz="2000" b="1" spc="9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(1.33</a:t>
            </a:r>
            <a:r>
              <a:rPr sz="2000" b="1" spc="4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spc="88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.02 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spc="88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50)</a:t>
            </a:r>
            <a:r>
              <a:rPr sz="2000" b="1" spc="9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9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3.33 clock</a:t>
            </a:r>
            <a:r>
              <a:rPr sz="2000" b="1" spc="-4" dirty="0">
                <a:latin typeface="Arial"/>
                <a:cs typeface="Arial"/>
              </a:rPr>
              <a:t> </a:t>
            </a:r>
            <a:r>
              <a:rPr sz="2000" b="1" spc="-9" dirty="0">
                <a:latin typeface="Arial"/>
                <a:cs typeface="Arial"/>
              </a:rPr>
              <a:t>cycles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D8976-14B6-086D-4C1A-3EEEA12EF7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11822" y="6346231"/>
            <a:ext cx="3561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48</a:t>
            </a:fld>
            <a:endParaRPr lang="en-US" spc="-44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4C0BC093-00C4-1259-BB84-D6F40C47360D}"/>
              </a:ext>
            </a:extLst>
          </p:cNvPr>
          <p:cNvSpPr txBox="1"/>
          <p:nvPr/>
        </p:nvSpPr>
        <p:spPr>
          <a:xfrm>
            <a:off x="1840088" y="4488930"/>
            <a:ext cx="5339643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00" b="1" spc="-44" dirty="0">
                <a:latin typeface="Arial"/>
                <a:cs typeface="Arial"/>
              </a:rPr>
              <a:t>2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0B6EA6E-4F03-7947-C580-A4720BF29A71}"/>
              </a:ext>
            </a:extLst>
          </p:cNvPr>
          <p:cNvSpPr txBox="1"/>
          <p:nvPr/>
        </p:nvSpPr>
        <p:spPr>
          <a:xfrm>
            <a:off x="1840087" y="4955519"/>
            <a:ext cx="5339643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1522"/>
              </a:spcBef>
            </a:pPr>
            <a:r>
              <a:rPr sz="2000" b="1" dirty="0">
                <a:latin typeface="Arial"/>
                <a:cs typeface="Arial"/>
              </a:rPr>
              <a:t>2</a:t>
            </a:r>
            <a:r>
              <a:rPr sz="2000" b="1" spc="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+</a:t>
            </a:r>
            <a:r>
              <a:rPr lang="en-US" sz="2000" b="1" spc="437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(0</a:t>
            </a:r>
            <a:r>
              <a:rPr sz="2000" b="1" spc="13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spc="93" dirty="0">
                <a:latin typeface="Times New Roman"/>
                <a:cs typeface="Times New Roman"/>
              </a:rPr>
              <a:t> </a:t>
            </a:r>
            <a:r>
              <a:rPr sz="2000" b="1" spc="-18" dirty="0">
                <a:latin typeface="Arial"/>
                <a:cs typeface="Arial"/>
              </a:rPr>
              <a:t>.98)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31824770-6BE2-8549-0660-23E07AFFD766}"/>
              </a:ext>
            </a:extLst>
          </p:cNvPr>
          <p:cNvSpPr txBox="1"/>
          <p:nvPr/>
        </p:nvSpPr>
        <p:spPr>
          <a:xfrm>
            <a:off x="1840087" y="5422108"/>
            <a:ext cx="5339643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/>
            <a:r>
              <a:rPr sz="2000" b="1" dirty="0">
                <a:latin typeface="Arial"/>
                <a:cs typeface="Arial"/>
              </a:rPr>
              <a:t>2</a:t>
            </a:r>
            <a:r>
              <a:rPr sz="2000" b="1" spc="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+</a:t>
            </a:r>
            <a:r>
              <a:rPr lang="en-US" sz="2000" b="1" spc="437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(0</a:t>
            </a:r>
            <a:r>
              <a:rPr sz="2000" b="1" spc="4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spc="93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.98)</a:t>
            </a:r>
            <a:r>
              <a:rPr sz="2000" b="1" spc="13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+</a:t>
            </a:r>
            <a:r>
              <a:rPr sz="2000" b="1" spc="13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(1.33</a:t>
            </a:r>
            <a:r>
              <a:rPr sz="2000" b="1" spc="9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spc="93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.02</a:t>
            </a:r>
            <a:r>
              <a:rPr sz="2000" b="1" spc="9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spc="93" dirty="0">
                <a:latin typeface="Times New Roman"/>
                <a:cs typeface="Times New Roman"/>
              </a:rPr>
              <a:t> </a:t>
            </a:r>
            <a:r>
              <a:rPr sz="2000" b="1" spc="-22" dirty="0">
                <a:latin typeface="Arial"/>
                <a:cs typeface="Arial"/>
              </a:rPr>
              <a:t>50)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Another </a:t>
            </a:r>
            <a:r>
              <a:rPr spc="-9" dirty="0"/>
              <a:t>example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76147" y="4200560"/>
            <a:ext cx="6714565" cy="2459131"/>
            <a:chOff x="1483841" y="4757294"/>
            <a:chExt cx="7609840" cy="27870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6155" y="4757294"/>
              <a:ext cx="6279322" cy="27865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3841" y="5387943"/>
              <a:ext cx="7609840" cy="2156460"/>
            </a:xfrm>
            <a:custGeom>
              <a:avLst/>
              <a:gdLst/>
              <a:ahLst/>
              <a:cxnLst/>
              <a:rect l="l" t="t" r="r" b="b"/>
              <a:pathLst>
                <a:path w="7609840" h="2156459">
                  <a:moveTo>
                    <a:pt x="7609357" y="0"/>
                  </a:moveTo>
                  <a:lnTo>
                    <a:pt x="0" y="0"/>
                  </a:lnTo>
                  <a:lnTo>
                    <a:pt x="0" y="2155856"/>
                  </a:lnTo>
                  <a:lnTo>
                    <a:pt x="7609357" y="2155856"/>
                  </a:lnTo>
                  <a:lnTo>
                    <a:pt x="76093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C69F7D-BA07-ACA0-BB3E-36616CDBF7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13290" y="6346231"/>
            <a:ext cx="354693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49</a:t>
            </a:fld>
            <a:endParaRPr lang="en-US" spc="-44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23380" y="1208158"/>
            <a:ext cx="7955892" cy="2899549"/>
          </a:xfrm>
          <a:prstGeom prst="rect">
            <a:avLst/>
          </a:prstGeom>
        </p:spPr>
        <p:txBody>
          <a:bodyPr vert="horz" wrap="square" lIns="0" tIns="90207" rIns="0" bIns="0" rtlCol="0">
            <a:spAutoFit/>
          </a:bodyPr>
          <a:lstStyle/>
          <a:p>
            <a:pPr marL="279602" indent="-268395">
              <a:spcBef>
                <a:spcPts val="710"/>
              </a:spcBef>
              <a:buChar char="•"/>
              <a:tabLst>
                <a:tab pos="279602" algn="l"/>
              </a:tabLst>
            </a:pPr>
            <a:r>
              <a:rPr sz="2400" spc="-18" dirty="0"/>
              <a:t>Assumption</a:t>
            </a:r>
            <a:r>
              <a:rPr sz="2400" spc="-66" dirty="0"/>
              <a:t> </a:t>
            </a:r>
            <a:r>
              <a:rPr sz="2400" dirty="0"/>
              <a:t>on</a:t>
            </a:r>
            <a:r>
              <a:rPr sz="2400" spc="-66" dirty="0"/>
              <a:t> </a:t>
            </a:r>
            <a:r>
              <a:rPr sz="2400" spc="-18" dirty="0"/>
              <a:t>computer</a:t>
            </a:r>
            <a:r>
              <a:rPr sz="2400" spc="-62" dirty="0"/>
              <a:t> </a:t>
            </a:r>
            <a:r>
              <a:rPr sz="2400" spc="-44" dirty="0"/>
              <a:t>A</a:t>
            </a:r>
          </a:p>
          <a:p>
            <a:pPr marL="655579" lvl="1" indent="-214603">
              <a:spcBef>
                <a:spcPts val="507"/>
              </a:spcBef>
              <a:buChar char="–"/>
              <a:tabLst>
                <a:tab pos="655579" algn="l"/>
              </a:tabLst>
            </a:pPr>
            <a:r>
              <a:rPr sz="2200" dirty="0">
                <a:latin typeface="Calibri"/>
                <a:cs typeface="Calibri"/>
              </a:rPr>
              <a:t>CPI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1.0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accesses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hits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(i.e.,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penalty)</a:t>
            </a:r>
            <a:endParaRPr sz="2200" dirty="0">
              <a:latin typeface="Calibri"/>
              <a:cs typeface="Calibri"/>
            </a:endParaRPr>
          </a:p>
          <a:p>
            <a:pPr marL="655579" lvl="1" indent="-214603">
              <a:spcBef>
                <a:spcPts val="529"/>
              </a:spcBef>
              <a:buChar char="–"/>
              <a:tabLst>
                <a:tab pos="655579" algn="l"/>
              </a:tabLst>
            </a:pPr>
            <a:r>
              <a:rPr sz="2200" dirty="0">
                <a:latin typeface="Calibri"/>
                <a:cs typeface="Calibri"/>
              </a:rPr>
              <a:t>Data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accesses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loads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stores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(assume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50%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insts)</a:t>
            </a:r>
            <a:endParaRPr sz="2200" dirty="0">
              <a:latin typeface="Calibri"/>
              <a:cs typeface="Calibri"/>
            </a:endParaRPr>
          </a:p>
          <a:p>
            <a:pPr marL="655579" lvl="1" indent="-214603">
              <a:spcBef>
                <a:spcPts val="424"/>
              </a:spcBef>
              <a:buChar char="–"/>
              <a:tabLst>
                <a:tab pos="655579" algn="l"/>
              </a:tabLst>
            </a:pPr>
            <a:r>
              <a:rPr sz="2200" dirty="0">
                <a:latin typeface="Calibri"/>
                <a:cs typeface="Calibri"/>
              </a:rPr>
              <a:t>Miss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penalty: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25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cc</a:t>
            </a:r>
            <a:endParaRPr sz="2200" dirty="0">
              <a:latin typeface="Calibri"/>
              <a:cs typeface="Calibri"/>
            </a:endParaRPr>
          </a:p>
          <a:p>
            <a:pPr marL="655579" lvl="1" indent="-214603">
              <a:spcBef>
                <a:spcPts val="507"/>
              </a:spcBef>
              <a:buFont typeface="Calibri"/>
              <a:buChar char="–"/>
              <a:tabLst>
                <a:tab pos="655579" algn="l"/>
              </a:tabLst>
            </a:pPr>
            <a:r>
              <a:rPr sz="2200" b="1" dirty="0">
                <a:latin typeface="Calibri"/>
                <a:cs typeface="Calibri"/>
              </a:rPr>
              <a:t>Miss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rate:</a:t>
            </a:r>
            <a:r>
              <a:rPr sz="2200" b="1" spc="35" dirty="0">
                <a:latin typeface="Calibri"/>
                <a:cs typeface="Calibri"/>
              </a:rPr>
              <a:t> </a:t>
            </a:r>
            <a:r>
              <a:rPr sz="2200" b="1" spc="-22" dirty="0">
                <a:latin typeface="Calibri"/>
                <a:cs typeface="Calibri"/>
              </a:rPr>
              <a:t>2%</a:t>
            </a:r>
            <a:endParaRPr sz="2200" dirty="0">
              <a:latin typeface="Calibri"/>
              <a:cs typeface="Calibri"/>
            </a:endParaRPr>
          </a:p>
          <a:p>
            <a:pPr marL="280162" marR="4483" indent="-268956">
              <a:spcBef>
                <a:spcPts val="821"/>
              </a:spcBef>
              <a:buChar char="•"/>
              <a:tabLst>
                <a:tab pos="280162" algn="l"/>
              </a:tabLst>
            </a:pPr>
            <a:r>
              <a:rPr sz="2400" spc="-18" dirty="0"/>
              <a:t>Compute</a:t>
            </a:r>
            <a:r>
              <a:rPr sz="2400" spc="-79" dirty="0"/>
              <a:t> </a:t>
            </a:r>
            <a:r>
              <a:rPr sz="2400" dirty="0"/>
              <a:t>the</a:t>
            </a:r>
            <a:r>
              <a:rPr sz="2400" spc="-79" dirty="0"/>
              <a:t> </a:t>
            </a:r>
            <a:r>
              <a:rPr sz="2400" dirty="0"/>
              <a:t>speedup</a:t>
            </a:r>
            <a:r>
              <a:rPr sz="2400" spc="-79" dirty="0"/>
              <a:t> </a:t>
            </a:r>
            <a:r>
              <a:rPr sz="2400" dirty="0"/>
              <a:t>of</a:t>
            </a:r>
            <a:r>
              <a:rPr sz="2400" spc="-75" dirty="0"/>
              <a:t> </a:t>
            </a:r>
            <a:r>
              <a:rPr sz="2400" spc="-18" dirty="0"/>
              <a:t>computer</a:t>
            </a:r>
            <a:r>
              <a:rPr sz="2400" spc="-75" dirty="0"/>
              <a:t> </a:t>
            </a:r>
            <a:r>
              <a:rPr sz="2400" dirty="0"/>
              <a:t>B,</a:t>
            </a:r>
            <a:r>
              <a:rPr sz="2400" spc="-75" dirty="0"/>
              <a:t> </a:t>
            </a:r>
            <a:br>
              <a:rPr lang="en-US" sz="2400" spc="-75" dirty="0"/>
            </a:br>
            <a:r>
              <a:rPr sz="2400" dirty="0"/>
              <a:t>for</a:t>
            </a:r>
            <a:r>
              <a:rPr sz="2400" spc="-79" dirty="0"/>
              <a:t> </a:t>
            </a:r>
            <a:r>
              <a:rPr sz="2400" spc="-9" dirty="0"/>
              <a:t>which</a:t>
            </a:r>
            <a:r>
              <a:rPr sz="2400" spc="-79" dirty="0"/>
              <a:t> </a:t>
            </a:r>
            <a:r>
              <a:rPr sz="2400" dirty="0"/>
              <a:t>all</a:t>
            </a:r>
            <a:r>
              <a:rPr sz="2400" spc="-75" dirty="0"/>
              <a:t> </a:t>
            </a:r>
            <a:r>
              <a:rPr sz="2400" spc="-9" dirty="0"/>
              <a:t>cache accesses</a:t>
            </a:r>
            <a:r>
              <a:rPr sz="2400" spc="-79" dirty="0"/>
              <a:t> </a:t>
            </a:r>
            <a:r>
              <a:rPr sz="2400" dirty="0"/>
              <a:t>are</a:t>
            </a:r>
            <a:r>
              <a:rPr sz="2400" spc="-75" dirty="0"/>
              <a:t> </a:t>
            </a:r>
            <a:r>
              <a:rPr sz="2400" spc="-18" dirty="0"/>
              <a:t>hits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Another </a:t>
            </a:r>
            <a:r>
              <a:rPr spc="-9" dirty="0"/>
              <a:t>example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1037" y="4199605"/>
            <a:ext cx="5540578" cy="248104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1771D-8829-38BD-051B-0E4CB413CC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23111" y="6346231"/>
            <a:ext cx="3448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50</a:t>
            </a:fld>
            <a:endParaRPr lang="en-US" spc="-44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FF63C9D4-B75D-88AB-9E18-5F25CC8879F3}"/>
              </a:ext>
            </a:extLst>
          </p:cNvPr>
          <p:cNvSpPr txBox="1">
            <a:spLocks/>
          </p:cNvSpPr>
          <p:nvPr/>
        </p:nvSpPr>
        <p:spPr>
          <a:xfrm>
            <a:off x="923380" y="1208158"/>
            <a:ext cx="7955892" cy="2899549"/>
          </a:xfrm>
          <a:prstGeom prst="rect">
            <a:avLst/>
          </a:prstGeom>
        </p:spPr>
        <p:txBody>
          <a:bodyPr vert="horz" wrap="square" lIns="0" tIns="90207" rIns="0" bIns="0" rtlCol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433">
              <a:defRPr>
                <a:latin typeface="+mn-lt"/>
                <a:ea typeface="+mn-ea"/>
                <a:cs typeface="+mn-cs"/>
              </a:defRPr>
            </a:lvl2pPr>
            <a:lvl3pPr marL="806867">
              <a:defRPr>
                <a:latin typeface="+mn-lt"/>
                <a:ea typeface="+mn-ea"/>
                <a:cs typeface="+mn-cs"/>
              </a:defRPr>
            </a:lvl3pPr>
            <a:lvl4pPr marL="1210300">
              <a:defRPr>
                <a:latin typeface="+mn-lt"/>
                <a:ea typeface="+mn-ea"/>
                <a:cs typeface="+mn-cs"/>
              </a:defRPr>
            </a:lvl4pPr>
            <a:lvl5pPr marL="1613733">
              <a:defRPr>
                <a:latin typeface="+mn-lt"/>
                <a:ea typeface="+mn-ea"/>
                <a:cs typeface="+mn-cs"/>
              </a:defRPr>
            </a:lvl5pPr>
            <a:lvl6pPr marL="2017166">
              <a:defRPr>
                <a:latin typeface="+mn-lt"/>
                <a:ea typeface="+mn-ea"/>
                <a:cs typeface="+mn-cs"/>
              </a:defRPr>
            </a:lvl6pPr>
            <a:lvl7pPr marL="2420600">
              <a:defRPr>
                <a:latin typeface="+mn-lt"/>
                <a:ea typeface="+mn-ea"/>
                <a:cs typeface="+mn-cs"/>
              </a:defRPr>
            </a:lvl7pPr>
            <a:lvl8pPr marL="2824033">
              <a:defRPr>
                <a:latin typeface="+mn-lt"/>
                <a:ea typeface="+mn-ea"/>
                <a:cs typeface="+mn-cs"/>
              </a:defRPr>
            </a:lvl8pPr>
            <a:lvl9pPr marL="3227466">
              <a:defRPr>
                <a:latin typeface="+mn-lt"/>
                <a:ea typeface="+mn-ea"/>
                <a:cs typeface="+mn-cs"/>
              </a:defRPr>
            </a:lvl9pPr>
          </a:lstStyle>
          <a:p>
            <a:pPr marL="279602" indent="-268395" defTabSz="914400">
              <a:spcBef>
                <a:spcPts val="710"/>
              </a:spcBef>
              <a:buFontTx/>
              <a:buChar char="•"/>
              <a:tabLst>
                <a:tab pos="279602" algn="l"/>
              </a:tabLst>
            </a:pPr>
            <a:r>
              <a:rPr lang="en-US" sz="2400" kern="0" spc="-18" dirty="0"/>
              <a:t>Assumption</a:t>
            </a:r>
            <a:r>
              <a:rPr lang="en-US" sz="2400" kern="0" spc="-66" dirty="0"/>
              <a:t> </a:t>
            </a:r>
            <a:r>
              <a:rPr lang="en-US" sz="2400" kern="0" dirty="0"/>
              <a:t>on</a:t>
            </a:r>
            <a:r>
              <a:rPr lang="en-US" sz="2400" kern="0" spc="-66" dirty="0"/>
              <a:t> </a:t>
            </a:r>
            <a:r>
              <a:rPr lang="en-US" sz="2400" kern="0" spc="-18" dirty="0"/>
              <a:t>computer</a:t>
            </a:r>
            <a:r>
              <a:rPr lang="en-US" sz="2400" kern="0" spc="-62" dirty="0"/>
              <a:t> </a:t>
            </a:r>
            <a:r>
              <a:rPr lang="en-US" sz="2400" kern="0" spc="-44" dirty="0"/>
              <a:t>A</a:t>
            </a:r>
          </a:p>
          <a:p>
            <a:pPr marL="655579" lvl="1" indent="-214603" defTabSz="914400">
              <a:spcBef>
                <a:spcPts val="507"/>
              </a:spcBef>
              <a:buFontTx/>
              <a:buChar char="–"/>
              <a:tabLst>
                <a:tab pos="655579" algn="l"/>
              </a:tabLst>
            </a:pP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CPI</a:t>
            </a:r>
            <a:r>
              <a:rPr lang="en-US" sz="2200" kern="0" spc="22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=</a:t>
            </a:r>
            <a:r>
              <a:rPr lang="en-US" sz="2200" kern="0" spc="4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1.0</a:t>
            </a:r>
            <a:r>
              <a:rPr lang="en-US" sz="2200" kern="0" spc="4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when</a:t>
            </a:r>
            <a:r>
              <a:rPr lang="en-US" sz="2200" kern="0" spc="35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all</a:t>
            </a:r>
            <a:r>
              <a:rPr lang="en-US" sz="2200" kern="0" spc="35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memory</a:t>
            </a:r>
            <a:r>
              <a:rPr lang="en-US" sz="2200" kern="0" spc="26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accesses</a:t>
            </a:r>
            <a:r>
              <a:rPr lang="en-US" sz="2200" kern="0" spc="4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are</a:t>
            </a:r>
            <a:r>
              <a:rPr lang="en-US" sz="2200" kern="0" spc="4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hits</a:t>
            </a:r>
            <a:r>
              <a:rPr lang="en-US" sz="2200" kern="0" spc="4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(i.e.,</a:t>
            </a:r>
            <a:r>
              <a:rPr lang="en-US" sz="2200" kern="0" spc="26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no</a:t>
            </a:r>
            <a:r>
              <a:rPr lang="en-US" sz="2200" kern="0" spc="31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spc="-9" dirty="0">
                <a:solidFill>
                  <a:sysClr val="windowText" lastClr="000000"/>
                </a:solidFill>
                <a:latin typeface="Calibri"/>
                <a:cs typeface="Calibri"/>
              </a:rPr>
              <a:t>penalty)</a:t>
            </a:r>
            <a:endParaRPr lang="en-US" sz="22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655579" lvl="1" indent="-214603" defTabSz="914400">
              <a:spcBef>
                <a:spcPts val="529"/>
              </a:spcBef>
              <a:buFontTx/>
              <a:buChar char="–"/>
              <a:tabLst>
                <a:tab pos="655579" algn="l"/>
              </a:tabLst>
            </a:pP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Data</a:t>
            </a:r>
            <a:r>
              <a:rPr lang="en-US" sz="2200" kern="0" spc="49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accesses</a:t>
            </a:r>
            <a:r>
              <a:rPr lang="en-US" sz="2200" kern="0" spc="49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are</a:t>
            </a:r>
            <a:r>
              <a:rPr lang="en-US" sz="2200" kern="0" spc="53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only</a:t>
            </a:r>
            <a:r>
              <a:rPr lang="en-US" sz="2200" kern="0" spc="35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loads</a:t>
            </a:r>
            <a:r>
              <a:rPr lang="en-US" sz="2200" kern="0" spc="49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and</a:t>
            </a:r>
            <a:r>
              <a:rPr lang="en-US" sz="2200" kern="0" spc="49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stores</a:t>
            </a:r>
            <a:r>
              <a:rPr lang="en-US" sz="2200" kern="0" spc="49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(assume</a:t>
            </a:r>
            <a:r>
              <a:rPr lang="en-US" sz="2200" kern="0" spc="49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50%</a:t>
            </a:r>
            <a:r>
              <a:rPr lang="en-US" sz="2200" kern="0" spc="49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of</a:t>
            </a:r>
            <a:r>
              <a:rPr lang="en-US" sz="2200" kern="0" spc="44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spc="-9" dirty="0" err="1">
                <a:solidFill>
                  <a:sysClr val="windowText" lastClr="000000"/>
                </a:solidFill>
                <a:latin typeface="Calibri"/>
                <a:cs typeface="Calibri"/>
              </a:rPr>
              <a:t>insts</a:t>
            </a:r>
            <a:r>
              <a:rPr lang="en-US" sz="2200" kern="0" spc="-9" dirty="0">
                <a:solidFill>
                  <a:sysClr val="windowText" lastClr="000000"/>
                </a:solidFill>
                <a:latin typeface="Calibri"/>
                <a:cs typeface="Calibri"/>
              </a:rPr>
              <a:t>)</a:t>
            </a:r>
            <a:endParaRPr lang="en-US" sz="22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655579" lvl="1" indent="-214603" defTabSz="914400">
              <a:spcBef>
                <a:spcPts val="424"/>
              </a:spcBef>
              <a:buFontTx/>
              <a:buChar char="–"/>
              <a:tabLst>
                <a:tab pos="655579" algn="l"/>
              </a:tabLst>
            </a:pP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Miss</a:t>
            </a:r>
            <a:r>
              <a:rPr lang="en-US" sz="2200" kern="0" spc="44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penalty:</a:t>
            </a:r>
            <a:r>
              <a:rPr lang="en-US" sz="2200" kern="0" spc="44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25</a:t>
            </a:r>
            <a:r>
              <a:rPr lang="en-US" sz="2200" kern="0" spc="44" dirty="0">
                <a:solidFill>
                  <a:sysClr val="windowText" lastClr="000000"/>
                </a:solidFill>
                <a:latin typeface="Calibri"/>
                <a:cs typeface="Calibri"/>
              </a:rPr>
              <a:t> clock cycles (</a:t>
            </a:r>
            <a:r>
              <a:rPr lang="en-US" sz="2200" kern="0" spc="-22" dirty="0">
                <a:solidFill>
                  <a:sysClr val="windowText" lastClr="000000"/>
                </a:solidFill>
                <a:latin typeface="Calibri"/>
                <a:cs typeface="Calibri"/>
              </a:rPr>
              <a:t>cc)</a:t>
            </a:r>
            <a:endParaRPr lang="en-US" sz="22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655579" lvl="1" indent="-214603" defTabSz="914400">
              <a:spcBef>
                <a:spcPts val="507"/>
              </a:spcBef>
              <a:buFont typeface="Calibri"/>
              <a:buChar char="–"/>
              <a:tabLst>
                <a:tab pos="655579" algn="l"/>
              </a:tabLst>
            </a:pPr>
            <a:r>
              <a:rPr lang="en-US" sz="2200" b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Miss</a:t>
            </a:r>
            <a:r>
              <a:rPr lang="en-US" sz="2200" b="1" kern="0" spc="4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b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rate:</a:t>
            </a:r>
            <a:r>
              <a:rPr lang="en-US" sz="2200" b="1" kern="0" spc="35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lang="en-US" sz="2200" b="1" kern="0" spc="-22" dirty="0">
                <a:solidFill>
                  <a:sysClr val="windowText" lastClr="000000"/>
                </a:solidFill>
                <a:latin typeface="Calibri"/>
                <a:cs typeface="Calibri"/>
              </a:rPr>
              <a:t>2%</a:t>
            </a:r>
            <a:endParaRPr lang="en-US" sz="22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280162" marR="4483" indent="-268956" defTabSz="914400">
              <a:spcBef>
                <a:spcPts val="821"/>
              </a:spcBef>
              <a:buFontTx/>
              <a:buChar char="•"/>
              <a:tabLst>
                <a:tab pos="280162" algn="l"/>
              </a:tabLst>
            </a:pPr>
            <a:r>
              <a:rPr lang="en-US" sz="2400" kern="0" spc="-18" dirty="0"/>
              <a:t>Compute</a:t>
            </a:r>
            <a:r>
              <a:rPr lang="en-US" sz="2400" kern="0" spc="-79" dirty="0"/>
              <a:t> </a:t>
            </a:r>
            <a:r>
              <a:rPr lang="en-US" sz="2400" kern="0" dirty="0"/>
              <a:t>the</a:t>
            </a:r>
            <a:r>
              <a:rPr lang="en-US" sz="2400" kern="0" spc="-79" dirty="0"/>
              <a:t> </a:t>
            </a:r>
            <a:r>
              <a:rPr lang="en-US" sz="2400" kern="0" dirty="0"/>
              <a:t>speedup</a:t>
            </a:r>
            <a:r>
              <a:rPr lang="en-US" sz="2400" kern="0" spc="-79" dirty="0"/>
              <a:t> </a:t>
            </a:r>
            <a:r>
              <a:rPr lang="en-US" sz="2400" kern="0" dirty="0"/>
              <a:t>of</a:t>
            </a:r>
            <a:r>
              <a:rPr lang="en-US" sz="2400" kern="0" spc="-75" dirty="0"/>
              <a:t> </a:t>
            </a:r>
            <a:r>
              <a:rPr lang="en-US" sz="2400" kern="0" spc="-18" dirty="0"/>
              <a:t>computer</a:t>
            </a:r>
            <a:r>
              <a:rPr lang="en-US" sz="2400" kern="0" spc="-75" dirty="0"/>
              <a:t> </a:t>
            </a:r>
            <a:r>
              <a:rPr lang="en-US" sz="2400" kern="0" dirty="0"/>
              <a:t>B,</a:t>
            </a:r>
            <a:r>
              <a:rPr lang="en-US" sz="2400" kern="0" spc="-75" dirty="0"/>
              <a:t> </a:t>
            </a:r>
            <a:br>
              <a:rPr lang="en-US" sz="2400" kern="0" spc="-75" dirty="0"/>
            </a:br>
            <a:r>
              <a:rPr lang="en-US" sz="2400" kern="0" dirty="0"/>
              <a:t>for</a:t>
            </a:r>
            <a:r>
              <a:rPr lang="en-US" sz="2400" kern="0" spc="-79" dirty="0"/>
              <a:t> </a:t>
            </a:r>
            <a:r>
              <a:rPr lang="en-US" sz="2400" kern="0" spc="-9" dirty="0"/>
              <a:t>which</a:t>
            </a:r>
            <a:r>
              <a:rPr lang="en-US" sz="2400" kern="0" spc="-79" dirty="0"/>
              <a:t> </a:t>
            </a:r>
            <a:r>
              <a:rPr lang="en-US" sz="2400" kern="0" dirty="0"/>
              <a:t>all</a:t>
            </a:r>
            <a:r>
              <a:rPr lang="en-US" sz="2400" kern="0" spc="-75" dirty="0"/>
              <a:t> </a:t>
            </a:r>
            <a:r>
              <a:rPr lang="en-US" sz="2400" kern="0" spc="-9" dirty="0"/>
              <a:t>cache accesses</a:t>
            </a:r>
            <a:r>
              <a:rPr lang="en-US" sz="2400" kern="0" spc="-79" dirty="0"/>
              <a:t> </a:t>
            </a:r>
            <a:r>
              <a:rPr lang="en-US" sz="2400" kern="0" dirty="0"/>
              <a:t>are</a:t>
            </a:r>
            <a:r>
              <a:rPr lang="en-US" sz="2400" kern="0" spc="-75" dirty="0"/>
              <a:t> </a:t>
            </a:r>
            <a:r>
              <a:rPr lang="en-US" sz="2400" kern="0" spc="-18" dirty="0"/>
              <a:t>hits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F93A-68DC-63C8-33EA-50EBC4CA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03" y="660849"/>
            <a:ext cx="5874905" cy="492443"/>
          </a:xfrm>
        </p:spPr>
        <p:txBody>
          <a:bodyPr/>
          <a:lstStyle/>
          <a:p>
            <a:r>
              <a:rPr lang="en-US" sz="3200" dirty="0"/>
              <a:t>Six basic cache optimizations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B8282-BF94-E552-E54A-4E9327D62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436" y="1309513"/>
            <a:ext cx="7986681" cy="5373509"/>
          </a:xfrm>
        </p:spPr>
        <p:txBody>
          <a:bodyPr/>
          <a:lstStyle/>
          <a:p>
            <a:pPr marL="463550" indent="-463550">
              <a:buSzPct val="100000"/>
              <a:buFont typeface="+mj-lt"/>
              <a:buAutoNum type="arabicPeriod"/>
            </a:pPr>
            <a:r>
              <a:rPr lang="en-US" sz="2400" dirty="0"/>
              <a:t>Larger block size</a:t>
            </a:r>
          </a:p>
          <a:p>
            <a:pPr marL="914400" lvl="1" indent="-338138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66"/>
                </a:solidFill>
              </a:rPr>
              <a:t>Reduces compulsory misses</a:t>
            </a:r>
          </a:p>
          <a:p>
            <a:pPr marL="914400" lvl="1" indent="-33813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66"/>
                </a:solidFill>
              </a:rPr>
              <a:t>Increases capacity and conflict misses, increases miss penalty</a:t>
            </a:r>
          </a:p>
          <a:p>
            <a:pPr marL="463550" indent="-463550">
              <a:buSzPct val="100000"/>
              <a:buFont typeface="+mj-lt"/>
              <a:buAutoNum type="arabicPeriod"/>
            </a:pPr>
            <a:r>
              <a:rPr lang="en-US" sz="2400" dirty="0"/>
              <a:t>Larger total cache capacity to reduce miss rate</a:t>
            </a:r>
          </a:p>
          <a:p>
            <a:pPr marL="9144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66"/>
                </a:solidFill>
              </a:rPr>
              <a:t>Increases hit time, increases power consumption</a:t>
            </a:r>
          </a:p>
          <a:p>
            <a:pPr marL="463550" indent="-463550">
              <a:buSzPct val="100000"/>
              <a:buFont typeface="+mj-lt"/>
              <a:buAutoNum type="arabicPeriod"/>
            </a:pPr>
            <a:r>
              <a:rPr lang="en-US" sz="2400" dirty="0"/>
              <a:t>Higher associativity</a:t>
            </a:r>
          </a:p>
          <a:p>
            <a:pPr marL="9144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66"/>
                </a:solidFill>
              </a:rPr>
              <a:t>Reduces conflict misses</a:t>
            </a:r>
          </a:p>
          <a:p>
            <a:pPr marL="9144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66"/>
                </a:solidFill>
              </a:rPr>
              <a:t>Increases hit time, increases power consumption</a:t>
            </a:r>
          </a:p>
          <a:p>
            <a:pPr marL="463550" indent="-463550">
              <a:buSzPct val="100000"/>
              <a:buFont typeface="+mj-lt"/>
              <a:buAutoNum type="arabicPeriod"/>
            </a:pPr>
            <a:r>
              <a:rPr lang="en-US" sz="2400" dirty="0"/>
              <a:t>Higher number of cache levels</a:t>
            </a:r>
          </a:p>
          <a:p>
            <a:pPr marL="9144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66"/>
                </a:solidFill>
              </a:rPr>
              <a:t>Reduces overall memory access time</a:t>
            </a:r>
          </a:p>
          <a:p>
            <a:pPr marL="463550" indent="-463550">
              <a:buSzPct val="100000"/>
              <a:buFont typeface="+mj-lt"/>
              <a:buAutoNum type="arabicPeriod"/>
            </a:pPr>
            <a:r>
              <a:rPr lang="en-US" sz="2400" dirty="0"/>
              <a:t>Giving priority to read misses over writes</a:t>
            </a:r>
          </a:p>
          <a:p>
            <a:pPr marL="9144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66"/>
                </a:solidFill>
              </a:rPr>
              <a:t>Reduces miss penalty</a:t>
            </a:r>
          </a:p>
          <a:p>
            <a:pPr marL="463550" indent="-463550">
              <a:buSzPct val="100000"/>
              <a:buFont typeface="+mj-lt"/>
              <a:buAutoNum type="arabicPeriod"/>
            </a:pPr>
            <a:r>
              <a:rPr lang="en-US" sz="2400" dirty="0"/>
              <a:t>Avoiding address translation in cache indexing</a:t>
            </a:r>
          </a:p>
          <a:p>
            <a:pPr marL="9144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66"/>
                </a:solidFill>
              </a:rPr>
              <a:t>Reduces hit time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74559-2520-F2F9-CFBC-E0851AD9D3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23111" y="6346231"/>
            <a:ext cx="3448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51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12810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Write</a:t>
            </a:r>
            <a:r>
              <a:rPr spc="-4" dirty="0"/>
              <a:t> </a:t>
            </a:r>
            <a:r>
              <a:rPr dirty="0"/>
              <a:t>through</a:t>
            </a:r>
            <a:r>
              <a:rPr spc="4" dirty="0"/>
              <a:t> </a:t>
            </a:r>
            <a:r>
              <a:rPr dirty="0"/>
              <a:t>vs.</a:t>
            </a:r>
            <a:r>
              <a:rPr spc="4" dirty="0"/>
              <a:t> </a:t>
            </a:r>
            <a:r>
              <a:rPr dirty="0"/>
              <a:t>write</a:t>
            </a:r>
            <a:r>
              <a:rPr spc="-4" dirty="0"/>
              <a:t> </a:t>
            </a:r>
            <a:r>
              <a:rPr spc="-18" dirty="0"/>
              <a:t>back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346292"/>
              </p:ext>
            </p:extLst>
          </p:nvPr>
        </p:nvGraphicFramePr>
        <p:xfrm>
          <a:off x="836705" y="1280581"/>
          <a:ext cx="7333689" cy="4511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0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9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0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900" b="1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900" b="1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900" b="1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spc="-10" dirty="0">
                          <a:latin typeface="Calibri"/>
                          <a:cs typeface="Calibri"/>
                        </a:rPr>
                        <a:t>better?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04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Write-Through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04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Write-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Back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04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81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Policy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6720" marR="421005" algn="ctr">
                        <a:lnSpc>
                          <a:spcPts val="2110"/>
                        </a:lnSpc>
                        <a:spcBef>
                          <a:spcPts val="11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word</a:t>
                      </a:r>
                      <a:r>
                        <a:rPr sz="19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written</a:t>
                      </a:r>
                      <a:r>
                        <a:rPr sz="19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cache</a:t>
                      </a:r>
                      <a:r>
                        <a:rPr sz="19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block</a:t>
                      </a:r>
                      <a:endParaRPr sz="1900" dirty="0">
                        <a:latin typeface="Calibri"/>
                        <a:cs typeface="Calibri"/>
                      </a:endParaRPr>
                    </a:p>
                    <a:p>
                      <a:pPr marL="227329" marR="222250" algn="ctr">
                        <a:lnSpc>
                          <a:spcPct val="86000"/>
                        </a:lnSpc>
                        <a:spcBef>
                          <a:spcPts val="140"/>
                        </a:spcBef>
                      </a:pPr>
                      <a:r>
                        <a:rPr sz="19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900" spc="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also</a:t>
                      </a:r>
                      <a:r>
                        <a:rPr sz="1900" spc="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written</a:t>
                      </a:r>
                      <a:r>
                        <a:rPr sz="1900" spc="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900" spc="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next </a:t>
                      </a:r>
                      <a:r>
                        <a:rPr sz="19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lower-</a:t>
                      </a:r>
                      <a:r>
                        <a:rPr sz="19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level</a:t>
                      </a:r>
                      <a:r>
                        <a:rPr sz="1900" spc="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memory </a:t>
                      </a:r>
                      <a:r>
                        <a:rPr sz="1900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Example,</a:t>
                      </a:r>
                      <a:r>
                        <a:rPr sz="1900" spc="-15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0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instr. </a:t>
                      </a:r>
                      <a:r>
                        <a:rPr sz="1900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sw</a:t>
                      </a:r>
                      <a:r>
                        <a:rPr sz="1900" spc="-5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900" spc="-10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5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L1$ </a:t>
                      </a:r>
                      <a:r>
                        <a:rPr sz="1900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also</a:t>
                      </a:r>
                      <a:r>
                        <a:rPr sz="1900" spc="10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goes</a:t>
                      </a:r>
                      <a:r>
                        <a:rPr sz="1900" spc="20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900" spc="15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5" dirty="0">
                          <a:solidFill>
                            <a:srgbClr val="000066"/>
                          </a:solidFill>
                          <a:latin typeface="Calibri"/>
                          <a:cs typeface="Calibri"/>
                        </a:rPr>
                        <a:t>L2$</a:t>
                      </a:r>
                      <a:endParaRPr sz="1900" dirty="0">
                        <a:solidFill>
                          <a:srgbClr val="000066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316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marR="94615" algn="ctr">
                        <a:lnSpc>
                          <a:spcPts val="2210"/>
                        </a:lnSpc>
                        <a:spcBef>
                          <a:spcPts val="88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Write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7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word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only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cache</a:t>
                      </a:r>
                      <a:r>
                        <a:rPr sz="17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block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  <a:p>
                      <a:pPr marL="169545" marR="163195" indent="635" algn="ctr">
                        <a:lnSpc>
                          <a:spcPct val="93700"/>
                        </a:lnSpc>
                        <a:spcBef>
                          <a:spcPts val="58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Update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lower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just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7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7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written</a:t>
                      </a:r>
                      <a:r>
                        <a:rPr sz="17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block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leaves cache,</a:t>
                      </a:r>
                      <a:r>
                        <a:rPr sz="1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7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not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lose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true</a:t>
                      </a:r>
                      <a:r>
                        <a:rPr sz="1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value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9861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Debugging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935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Easier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935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9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Harder</a:t>
                      </a:r>
                      <a:endParaRPr sz="1900" dirty="0">
                        <a:latin typeface="Calibri"/>
                        <a:cs typeface="Calibri"/>
                      </a:endParaRPr>
                    </a:p>
                  </a:txBody>
                  <a:tcPr marL="0" marR="0" marT="935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366">
                <a:tc>
                  <a:txBody>
                    <a:bodyPr/>
                    <a:lstStyle/>
                    <a:p>
                      <a:pPr marL="971550" marR="229235" indent="-633413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read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misses</a:t>
                      </a:r>
                      <a:endParaRPr lang="en-US" sz="1800" spc="-25" dirty="0">
                        <a:latin typeface="Calibri"/>
                        <a:cs typeface="Calibri"/>
                      </a:endParaRPr>
                    </a:p>
                    <a:p>
                      <a:pPr marL="971550" marR="229235" indent="-633413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force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writes?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8068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900" spc="-25" dirty="0">
                          <a:latin typeface="Calibri"/>
                          <a:cs typeface="Calibri"/>
                        </a:rPr>
                        <a:t>No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557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785" marR="304800" indent="152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9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r>
                        <a:rPr sz="19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(used</a:t>
                      </a:r>
                      <a:r>
                        <a:rPr sz="1500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5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br>
                        <a:rPr lang="en-US" sz="15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</a:br>
                      <a:r>
                        <a:rPr sz="15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slow</a:t>
                      </a:r>
                      <a:r>
                        <a:rPr sz="15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some </a:t>
                      </a:r>
                      <a:r>
                        <a:rPr sz="15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reads;</a:t>
                      </a:r>
                      <a:r>
                        <a:rPr sz="15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br>
                        <a:rPr lang="en-US" sz="15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</a:br>
                      <a:r>
                        <a:rPr sz="15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now</a:t>
                      </a:r>
                      <a:r>
                        <a:rPr sz="1500" spc="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write-buffer)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184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335280" marR="288925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Do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repeated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writes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touch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lower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level?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546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5"/>
                        </a:spcBef>
                      </a:pPr>
                      <a:r>
                        <a:rPr sz="19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Yes,</a:t>
                      </a:r>
                      <a:r>
                        <a:rPr sz="19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memory </a:t>
                      </a:r>
                      <a:r>
                        <a:rPr sz="19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busier</a:t>
                      </a:r>
                      <a:endParaRPr sz="1900" dirty="0">
                        <a:latin typeface="Calibri"/>
                        <a:cs typeface="Calibri"/>
                      </a:endParaRPr>
                    </a:p>
                  </a:txBody>
                  <a:tcPr marL="0" marR="0" marT="2358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5"/>
                        </a:spcBef>
                      </a:pPr>
                      <a:r>
                        <a:rPr sz="1900" spc="-25" dirty="0">
                          <a:latin typeface="Calibri"/>
                          <a:cs typeface="Calibri"/>
                        </a:rPr>
                        <a:t>No</a:t>
                      </a:r>
                      <a:endParaRPr sz="1900" dirty="0">
                        <a:latin typeface="Calibri"/>
                        <a:cs typeface="Calibri"/>
                      </a:endParaRPr>
                    </a:p>
                  </a:txBody>
                  <a:tcPr marL="0" marR="0" marT="2358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018786A6-D315-0F38-9DFC-87AC04B1A911}"/>
              </a:ext>
            </a:extLst>
          </p:cNvPr>
          <p:cNvGrpSpPr/>
          <p:nvPr/>
        </p:nvGrpSpPr>
        <p:grpSpPr>
          <a:xfrm>
            <a:off x="801593" y="5826954"/>
            <a:ext cx="7847479" cy="614166"/>
            <a:chOff x="801593" y="5804376"/>
            <a:chExt cx="7847479" cy="614166"/>
          </a:xfrm>
        </p:grpSpPr>
        <p:sp>
          <p:nvSpPr>
            <p:cNvPr id="4" name="object 4"/>
            <p:cNvSpPr txBox="1"/>
            <p:nvPr/>
          </p:nvSpPr>
          <p:spPr>
            <a:xfrm>
              <a:off x="812799" y="5838274"/>
              <a:ext cx="2286000" cy="2949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2259"/>
                </a:lnSpc>
              </a:pPr>
              <a:r>
                <a:rPr sz="2030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Write-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miss</a:t>
              </a:r>
              <a:r>
                <a:rPr sz="2030" spc="93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strategies</a:t>
              </a:r>
              <a:endParaRPr sz="2030" dirty="0">
                <a:latin typeface="Times New Roman"/>
                <a:cs typeface="Times New Roman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083050" y="5804376"/>
              <a:ext cx="5386668" cy="3237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--</a:t>
              </a:r>
              <a:r>
                <a:rPr sz="2030" spc="4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let</a:t>
              </a:r>
              <a:r>
                <a:rPr sz="2030" spc="44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writes</a:t>
              </a:r>
              <a:r>
                <a:rPr sz="2030" spc="4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to</a:t>
              </a:r>
              <a:r>
                <a:rPr sz="2030" spc="53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an</a:t>
              </a:r>
              <a:r>
                <a:rPr sz="2030" spc="57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un-cached</a:t>
              </a:r>
              <a:r>
                <a:rPr sz="2030" spc="53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address</a:t>
              </a:r>
              <a:r>
                <a:rPr sz="2030" spc="4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allocate</a:t>
              </a:r>
              <a:r>
                <a:rPr sz="2030" spc="53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</a:t>
              </a:r>
              <a:r>
                <a:rPr sz="2030" spc="4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spc="-22" dirty="0">
                  <a:solidFill>
                    <a:srgbClr val="053DE8"/>
                  </a:solidFill>
                  <a:latin typeface="Times New Roman"/>
                  <a:cs typeface="Times New Roman"/>
                </a:rPr>
                <a:t>new</a:t>
              </a:r>
              <a:endParaRPr sz="2030" dirty="0">
                <a:latin typeface="Times New Roman"/>
                <a:cs typeface="Times New Roman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801593" y="6094833"/>
              <a:ext cx="7847479" cy="3237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cache</a:t>
              </a:r>
              <a:r>
                <a:rPr sz="2030" spc="106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line</a:t>
              </a:r>
              <a:r>
                <a:rPr sz="2030" spc="11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(</a:t>
              </a:r>
              <a:r>
                <a:rPr sz="2030" dirty="0">
                  <a:solidFill>
                    <a:srgbClr val="053DE8"/>
                  </a:solidFill>
                  <a:latin typeface="MS PGothic"/>
                  <a:cs typeface="MS PGothic"/>
                </a:rPr>
                <a:t>“</a:t>
              </a:r>
              <a:r>
                <a:rPr sz="2030" b="1" dirty="0">
                  <a:solidFill>
                    <a:srgbClr val="053DE8"/>
                  </a:solidFill>
                  <a:latin typeface="Times New Roman"/>
                  <a:cs typeface="Times New Roman"/>
                </a:rPr>
                <a:t>write-allocate</a:t>
              </a:r>
              <a:r>
                <a:rPr sz="2030" dirty="0">
                  <a:solidFill>
                    <a:srgbClr val="053DE8"/>
                  </a:solidFill>
                  <a:latin typeface="MS PGothic"/>
                  <a:cs typeface="MS PGothic"/>
                </a:rPr>
                <a:t>”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),</a:t>
              </a:r>
              <a:r>
                <a:rPr sz="2030" spc="101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or</a:t>
              </a:r>
              <a:r>
                <a:rPr sz="2030" spc="11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just</a:t>
              </a:r>
              <a:r>
                <a:rPr sz="2030" spc="101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write</a:t>
              </a:r>
              <a:r>
                <a:rPr sz="2030" spc="11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through</a:t>
              </a:r>
              <a:r>
                <a:rPr sz="2030" spc="11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(“</a:t>
              </a:r>
              <a:r>
                <a:rPr sz="2030" b="1" dirty="0">
                  <a:solidFill>
                    <a:srgbClr val="053DE8"/>
                  </a:solidFill>
                  <a:latin typeface="Times New Roman"/>
                  <a:cs typeface="Times New Roman"/>
                </a:rPr>
                <a:t>write-no-</a:t>
              </a:r>
              <a:r>
                <a:rPr sz="2030" b="1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allocate</a:t>
              </a:r>
              <a:r>
                <a:rPr sz="2030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”).</a:t>
              </a:r>
              <a:endParaRPr sz="2030" dirty="0">
                <a:latin typeface="Times New Roman"/>
                <a:cs typeface="Times New Roman"/>
              </a:endParaRP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5C4D28-9DB6-D770-38D3-66F014C3B4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9718" y="6346231"/>
            <a:ext cx="398265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52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9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300331"/>
            <a:ext cx="7322634" cy="2802954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643252" indent="-268956">
              <a:lnSpc>
                <a:spcPts val="2480"/>
              </a:lnSpc>
              <a:spcBef>
                <a:spcPts val="397"/>
              </a:spcBef>
              <a:buChar char="•"/>
              <a:tabLst>
                <a:tab pos="280162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2-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associative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2KB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consists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of </a:t>
            </a:r>
            <a:r>
              <a:rPr sz="2400" spc="-9" dirty="0">
                <a:latin typeface="Calibri"/>
                <a:cs typeface="Calibri"/>
              </a:rPr>
              <a:t>blocks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32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bytes.</a:t>
            </a:r>
            <a:endParaRPr sz="2400" dirty="0">
              <a:latin typeface="Calibri"/>
              <a:cs typeface="Calibri"/>
            </a:endParaRPr>
          </a:p>
          <a:p>
            <a:pPr marL="440975">
              <a:spcBef>
                <a:spcPts val="388"/>
              </a:spcBef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sz="2200" spc="4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Tags and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admin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bits are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 considered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2KB.</a:t>
            </a:r>
            <a:endParaRPr sz="2200" dirty="0">
              <a:latin typeface="Calibri"/>
              <a:cs typeface="Calibri"/>
            </a:endParaRPr>
          </a:p>
          <a:p>
            <a:pPr>
              <a:spcBef>
                <a:spcPts val="874"/>
              </a:spcBef>
            </a:pPr>
            <a:endParaRPr sz="2400" dirty="0">
              <a:latin typeface="Calibri"/>
              <a:cs typeface="Calibri"/>
            </a:endParaRPr>
          </a:p>
          <a:p>
            <a:pPr marL="279602" indent="-268395">
              <a:buChar char="•"/>
              <a:tabLst>
                <a:tab pos="279602" algn="l"/>
              </a:tabLst>
            </a:pPr>
            <a:r>
              <a:rPr sz="2400" spc="-9" dirty="0">
                <a:latin typeface="Calibri"/>
                <a:cs typeface="Calibri"/>
              </a:rPr>
              <a:t>Suppose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physical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32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bits.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966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79602" indent="-268395">
              <a:buFont typeface="Calibri"/>
              <a:buChar char="•"/>
              <a:tabLst>
                <a:tab pos="279602" algn="l"/>
              </a:tabLst>
            </a:pPr>
            <a:r>
              <a:rPr sz="2400" b="1" spc="-9" dirty="0">
                <a:latin typeface="Calibri"/>
                <a:cs typeface="Calibri"/>
              </a:rPr>
              <a:t>What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size</a:t>
            </a:r>
            <a:r>
              <a:rPr sz="2400" b="1" spc="-9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(bits)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block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offset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9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address?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8941" y="6228763"/>
            <a:ext cx="8606118" cy="428065"/>
            <a:chOff x="152400" y="7059265"/>
            <a:chExt cx="9753600" cy="4851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1965" y="7059265"/>
              <a:ext cx="624035" cy="48453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2400" y="7082846"/>
              <a:ext cx="9753600" cy="461009"/>
            </a:xfrm>
            <a:custGeom>
              <a:avLst/>
              <a:gdLst/>
              <a:ahLst/>
              <a:cxnLst/>
              <a:rect l="l" t="t" r="r" b="b"/>
              <a:pathLst>
                <a:path w="9753600" h="461009">
                  <a:moveTo>
                    <a:pt x="9753600" y="0"/>
                  </a:moveTo>
                  <a:lnTo>
                    <a:pt x="0" y="0"/>
                  </a:lnTo>
                  <a:lnTo>
                    <a:pt x="0" y="460957"/>
                  </a:lnTo>
                  <a:lnTo>
                    <a:pt x="9753600" y="460957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104BDC-BF5A-9CC6-55C2-8B3E110429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21668" y="5971528"/>
            <a:ext cx="3561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53</a:t>
            </a:fld>
            <a:endParaRPr lang="en-US" spc="-44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9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300330"/>
            <a:ext cx="7322634" cy="3669858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462828" indent="-268956">
              <a:lnSpc>
                <a:spcPts val="2480"/>
              </a:lnSpc>
              <a:spcBef>
                <a:spcPts val="397"/>
              </a:spcBef>
              <a:buChar char="•"/>
              <a:tabLst>
                <a:tab pos="280162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2-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associative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cache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6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size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2KB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consists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of </a:t>
            </a:r>
            <a:r>
              <a:rPr sz="2400" spc="-9" dirty="0">
                <a:latin typeface="Calibri"/>
                <a:cs typeface="Calibri"/>
              </a:rPr>
              <a:t>blocks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32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bytes.</a:t>
            </a:r>
            <a:endParaRPr sz="2400" dirty="0">
              <a:latin typeface="Calibri"/>
              <a:cs typeface="Calibri"/>
            </a:endParaRPr>
          </a:p>
          <a:p>
            <a:pPr marL="440975">
              <a:spcBef>
                <a:spcPts val="388"/>
              </a:spcBef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sz="2200" spc="4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Tags and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admin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bits are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 considered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2KB.</a:t>
            </a:r>
            <a:endParaRPr sz="2200" dirty="0">
              <a:latin typeface="Calibri"/>
              <a:cs typeface="Calibri"/>
            </a:endParaRPr>
          </a:p>
          <a:p>
            <a:pPr>
              <a:spcBef>
                <a:spcPts val="874"/>
              </a:spcBef>
            </a:pPr>
            <a:endParaRPr sz="2400" dirty="0">
              <a:latin typeface="Calibri"/>
              <a:cs typeface="Calibri"/>
            </a:endParaRPr>
          </a:p>
          <a:p>
            <a:pPr marL="279602" indent="-268395">
              <a:buChar char="•"/>
              <a:tabLst>
                <a:tab pos="279602" algn="l"/>
              </a:tabLst>
            </a:pPr>
            <a:r>
              <a:rPr sz="2400" spc="-9" dirty="0">
                <a:latin typeface="Calibri"/>
                <a:cs typeface="Calibri"/>
              </a:rPr>
              <a:t>Suppose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physical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32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bits.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966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79602" indent="-268395">
              <a:buChar char="•"/>
              <a:tabLst>
                <a:tab pos="279602" algn="l"/>
              </a:tabLst>
            </a:pP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What</a:t>
            </a:r>
            <a:r>
              <a:rPr sz="2400" spc="-84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is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size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(bits)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of</a:t>
            </a:r>
            <a:r>
              <a:rPr sz="2400" spc="-66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the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919191"/>
                </a:solidFill>
                <a:latin typeface="Calibri"/>
                <a:cs typeface="Calibri"/>
              </a:rPr>
              <a:t>block</a:t>
            </a:r>
            <a:r>
              <a:rPr sz="2400" spc="-88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offset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in</a:t>
            </a:r>
            <a:r>
              <a:rPr sz="2400" spc="-84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919191"/>
                </a:solidFill>
                <a:latin typeface="Calibri"/>
                <a:cs typeface="Calibri"/>
              </a:rPr>
              <a:t>address?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993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79602" indent="-268395">
              <a:buFont typeface="Calibri"/>
              <a:buChar char="•"/>
              <a:tabLst>
                <a:tab pos="279602" algn="l"/>
              </a:tabLst>
            </a:pPr>
            <a:r>
              <a:rPr sz="2400" b="1" spc="-9" dirty="0">
                <a:latin typeface="Calibri"/>
                <a:cs typeface="Calibri"/>
              </a:rPr>
              <a:t>What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9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size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(bits)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index</a:t>
            </a:r>
            <a:r>
              <a:rPr sz="2400" b="1" spc="-9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9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93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address?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8941" y="6228763"/>
            <a:ext cx="8606118" cy="428065"/>
            <a:chOff x="152400" y="7059265"/>
            <a:chExt cx="9753600" cy="4851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1965" y="7059265"/>
              <a:ext cx="624035" cy="48453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2400" y="7082846"/>
              <a:ext cx="9753600" cy="461009"/>
            </a:xfrm>
            <a:custGeom>
              <a:avLst/>
              <a:gdLst/>
              <a:ahLst/>
              <a:cxnLst/>
              <a:rect l="l" t="t" r="r" b="b"/>
              <a:pathLst>
                <a:path w="9753600" h="461009">
                  <a:moveTo>
                    <a:pt x="9753600" y="0"/>
                  </a:moveTo>
                  <a:lnTo>
                    <a:pt x="0" y="0"/>
                  </a:lnTo>
                  <a:lnTo>
                    <a:pt x="0" y="460957"/>
                  </a:lnTo>
                  <a:lnTo>
                    <a:pt x="9753600" y="460957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0B2926-D3BD-73C0-60D0-8540CE859F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21669" y="5962010"/>
            <a:ext cx="401316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54</a:t>
            </a:fld>
            <a:endParaRPr lang="en-US" spc="-44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9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300331"/>
            <a:ext cx="7322634" cy="4536762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496447" indent="-268956">
              <a:lnSpc>
                <a:spcPts val="2480"/>
              </a:lnSpc>
              <a:spcBef>
                <a:spcPts val="397"/>
              </a:spcBef>
              <a:buChar char="•"/>
              <a:tabLst>
                <a:tab pos="280162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2-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associative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2KB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consists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of </a:t>
            </a:r>
            <a:r>
              <a:rPr sz="2400" spc="-9" dirty="0">
                <a:latin typeface="Calibri"/>
                <a:cs typeface="Calibri"/>
              </a:rPr>
              <a:t>blocks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32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bytes.</a:t>
            </a:r>
            <a:endParaRPr sz="2400" dirty="0">
              <a:latin typeface="Calibri"/>
              <a:cs typeface="Calibri"/>
            </a:endParaRPr>
          </a:p>
          <a:p>
            <a:pPr marL="440975">
              <a:spcBef>
                <a:spcPts val="388"/>
              </a:spcBef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sz="2200" spc="4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Tags and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admin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bits are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 considered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2KB.</a:t>
            </a:r>
            <a:endParaRPr sz="2200" dirty="0">
              <a:latin typeface="Calibri"/>
              <a:cs typeface="Calibri"/>
            </a:endParaRPr>
          </a:p>
          <a:p>
            <a:pPr>
              <a:spcBef>
                <a:spcPts val="874"/>
              </a:spcBef>
            </a:pPr>
            <a:endParaRPr sz="2400" dirty="0">
              <a:latin typeface="Calibri"/>
              <a:cs typeface="Calibri"/>
            </a:endParaRPr>
          </a:p>
          <a:p>
            <a:pPr marL="279602" indent="-268395">
              <a:buChar char="•"/>
              <a:tabLst>
                <a:tab pos="279602" algn="l"/>
              </a:tabLst>
            </a:pPr>
            <a:r>
              <a:rPr sz="2400" spc="-9" dirty="0">
                <a:latin typeface="Calibri"/>
                <a:cs typeface="Calibri"/>
              </a:rPr>
              <a:t>Suppose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physical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32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bits.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966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79602" indent="-268395">
              <a:buChar char="•"/>
              <a:tabLst>
                <a:tab pos="279602" algn="l"/>
              </a:tabLst>
            </a:pP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What</a:t>
            </a:r>
            <a:r>
              <a:rPr sz="2400" spc="-84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is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size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(bits)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of</a:t>
            </a:r>
            <a:r>
              <a:rPr sz="2400" spc="-66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the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919191"/>
                </a:solidFill>
                <a:latin typeface="Calibri"/>
                <a:cs typeface="Calibri"/>
              </a:rPr>
              <a:t>block</a:t>
            </a:r>
            <a:r>
              <a:rPr sz="2400" spc="-88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offset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in</a:t>
            </a:r>
            <a:r>
              <a:rPr sz="2400" spc="-84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919191"/>
                </a:solidFill>
                <a:latin typeface="Calibri"/>
                <a:cs typeface="Calibri"/>
              </a:rPr>
              <a:t>address?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993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79602" indent="-268395">
              <a:buChar char="•"/>
              <a:tabLst>
                <a:tab pos="279602" algn="l"/>
              </a:tabLst>
            </a:pP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What</a:t>
            </a:r>
            <a:r>
              <a:rPr sz="2400" spc="-88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is</a:t>
            </a:r>
            <a:r>
              <a:rPr sz="2400" spc="-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size</a:t>
            </a:r>
            <a:r>
              <a:rPr sz="2400" spc="-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(bits)</a:t>
            </a:r>
            <a:r>
              <a:rPr sz="2400" spc="-71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of</a:t>
            </a:r>
            <a:r>
              <a:rPr sz="2400" spc="-66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index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in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the</a:t>
            </a:r>
            <a:r>
              <a:rPr sz="2400" spc="-71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919191"/>
                </a:solidFill>
                <a:latin typeface="Calibri"/>
                <a:cs typeface="Calibri"/>
              </a:rPr>
              <a:t>address?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966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4"/>
              </a:spcBef>
              <a:buFont typeface="Calibri"/>
              <a:buChar char="•"/>
              <a:tabLst>
                <a:tab pos="279602" algn="l"/>
              </a:tabLst>
            </a:pPr>
            <a:r>
              <a:rPr sz="2400" b="1" spc="-9" dirty="0">
                <a:latin typeface="Calibri"/>
                <a:cs typeface="Calibri"/>
              </a:rPr>
              <a:t>What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size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(bits)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tag</a:t>
            </a:r>
            <a:r>
              <a:rPr sz="2400" b="1" spc="-9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address?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8941" y="6228763"/>
            <a:ext cx="8606118" cy="428065"/>
            <a:chOff x="152400" y="7059265"/>
            <a:chExt cx="9753600" cy="4851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1965" y="7059265"/>
              <a:ext cx="624035" cy="48453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2400" y="7082846"/>
              <a:ext cx="9753600" cy="461009"/>
            </a:xfrm>
            <a:custGeom>
              <a:avLst/>
              <a:gdLst/>
              <a:ahLst/>
              <a:cxnLst/>
              <a:rect l="l" t="t" r="r" b="b"/>
              <a:pathLst>
                <a:path w="9753600" h="461009">
                  <a:moveTo>
                    <a:pt x="9753600" y="0"/>
                  </a:moveTo>
                  <a:lnTo>
                    <a:pt x="0" y="0"/>
                  </a:lnTo>
                  <a:lnTo>
                    <a:pt x="0" y="460957"/>
                  </a:lnTo>
                  <a:lnTo>
                    <a:pt x="9753600" y="460957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91298D-0724-5940-15C2-AF6E7ADD36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17298" y="5977773"/>
            <a:ext cx="435183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55</a:t>
            </a:fld>
            <a:endParaRPr lang="en-US" spc="-44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949" y="3062343"/>
            <a:ext cx="1546412" cy="79518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Calibri"/>
                <a:cs typeface="Calibri"/>
              </a:rPr>
              <a:t>Index</a:t>
            </a:r>
            <a:r>
              <a:rPr sz="1677" dirty="0">
                <a:latin typeface="Wingdings"/>
                <a:cs typeface="Wingdings"/>
              </a:rPr>
              <a:t></a:t>
            </a:r>
            <a:r>
              <a:rPr sz="1677" dirty="0">
                <a:latin typeface="Calibri"/>
                <a:cs typeface="Calibri"/>
              </a:rPr>
              <a:t>cache</a:t>
            </a:r>
            <a:r>
              <a:rPr sz="1677" spc="31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set</a:t>
            </a:r>
            <a:endParaRPr sz="1677" dirty="0">
              <a:latin typeface="Calibri"/>
              <a:cs typeface="Calibri"/>
            </a:endParaRPr>
          </a:p>
          <a:p>
            <a:pPr marL="207880" marR="21292" indent="-98617">
              <a:lnSpc>
                <a:spcPts val="2030"/>
              </a:lnSpc>
              <a:spcBef>
                <a:spcPts val="53"/>
              </a:spcBef>
            </a:pPr>
            <a:r>
              <a:rPr sz="1677" dirty="0">
                <a:latin typeface="Calibri"/>
                <a:cs typeface="Calibri"/>
              </a:rPr>
              <a:t>-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location</a:t>
            </a:r>
            <a:r>
              <a:rPr sz="1677" spc="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all </a:t>
            </a:r>
            <a:r>
              <a:rPr sz="1677" dirty="0">
                <a:latin typeface="Calibri"/>
                <a:cs typeface="Calibri"/>
              </a:rPr>
              <a:t>possible</a:t>
            </a:r>
            <a:r>
              <a:rPr sz="1677" spc="22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blocks</a:t>
            </a:r>
            <a:endParaRPr sz="1677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950" y="4092388"/>
            <a:ext cx="1762685" cy="105556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122711">
              <a:lnSpc>
                <a:spcPct val="101099"/>
              </a:lnSpc>
              <a:spcBef>
                <a:spcPts val="66"/>
              </a:spcBef>
            </a:pPr>
            <a:r>
              <a:rPr sz="1677" dirty="0">
                <a:latin typeface="Calibri"/>
                <a:cs typeface="Calibri"/>
              </a:rPr>
              <a:t>Must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check</a:t>
            </a:r>
            <a:r>
              <a:rPr sz="1677"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tag</a:t>
            </a:r>
            <a:r>
              <a:rPr sz="1677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for </a:t>
            </a:r>
            <a:r>
              <a:rPr sz="1677" dirty="0">
                <a:latin typeface="Calibri"/>
                <a:cs typeface="Calibri"/>
              </a:rPr>
              <a:t>each</a:t>
            </a:r>
            <a:r>
              <a:rPr sz="1677" spc="22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block:</a:t>
            </a:r>
            <a:endParaRPr sz="1677" dirty="0">
              <a:latin typeface="Calibri"/>
              <a:cs typeface="Calibri"/>
            </a:endParaRPr>
          </a:p>
          <a:p>
            <a:pPr marL="207880" marR="4483" indent="-98617">
              <a:lnSpc>
                <a:spcPct val="101099"/>
              </a:lnSpc>
              <a:spcBef>
                <a:spcPts val="84"/>
              </a:spcBef>
            </a:pPr>
            <a:r>
              <a:rPr sz="1677" dirty="0">
                <a:latin typeface="Calibri"/>
                <a:cs typeface="Calibri"/>
              </a:rPr>
              <a:t>-</a:t>
            </a:r>
            <a:r>
              <a:rPr sz="1677" spc="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No</a:t>
            </a:r>
            <a:r>
              <a:rPr sz="1677" spc="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need</a:t>
            </a:r>
            <a:r>
              <a:rPr sz="1677" spc="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13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check </a:t>
            </a:r>
            <a:r>
              <a:rPr sz="1677" dirty="0">
                <a:latin typeface="Calibri"/>
                <a:cs typeface="Calibri"/>
              </a:rPr>
              <a:t>index,</a:t>
            </a:r>
            <a:r>
              <a:rPr sz="1677" spc="-22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offset</a:t>
            </a:r>
            <a:r>
              <a:rPr sz="1677" spc="-26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bits</a:t>
            </a:r>
            <a:endParaRPr sz="1677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950" y="5391374"/>
            <a:ext cx="2151529" cy="52748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677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increases</a:t>
            </a:r>
            <a:r>
              <a:rPr sz="1677"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spc="-9" dirty="0">
                <a:solidFill>
                  <a:srgbClr val="FF0000"/>
                </a:solidFill>
                <a:latin typeface="Calibri"/>
                <a:cs typeface="Calibri"/>
              </a:rPr>
              <a:t>associativity,</a:t>
            </a:r>
            <a:endParaRPr sz="1677">
              <a:latin typeface="Calibri"/>
              <a:cs typeface="Calibri"/>
            </a:endParaRPr>
          </a:p>
          <a:p>
            <a:pPr marL="109263">
              <a:spcBef>
                <a:spcPts val="18"/>
              </a:spcBef>
            </a:pPr>
            <a:r>
              <a:rPr sz="1677" dirty="0">
                <a:latin typeface="Calibri"/>
                <a:cs typeface="Calibri"/>
              </a:rPr>
              <a:t>-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shrinks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index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spc="-53" dirty="0">
                <a:latin typeface="Calibri"/>
                <a:cs typeface="Calibri"/>
              </a:rPr>
              <a:t>&amp;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172" y="5907741"/>
            <a:ext cx="143883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Calibri"/>
                <a:cs typeface="Calibri"/>
              </a:rPr>
              <a:t>expands</a:t>
            </a:r>
            <a:r>
              <a:rPr sz="1677" spc="-26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tag</a:t>
            </a:r>
            <a:r>
              <a:rPr sz="1677" spc="-22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size</a:t>
            </a:r>
            <a:endParaRPr sz="1677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8950" y="6311696"/>
            <a:ext cx="5202331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Calibri"/>
                <a:cs typeface="Calibri"/>
              </a:rPr>
              <a:t>Bits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Fields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</a:t>
            </a:r>
            <a:r>
              <a:rPr sz="1677" spc="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</a:t>
            </a:r>
            <a:r>
              <a:rPr sz="1677" spc="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address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used</a:t>
            </a:r>
            <a:r>
              <a:rPr sz="1677" spc="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access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“Cache</a:t>
            </a:r>
            <a:r>
              <a:rPr sz="1677" spc="22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word”</a:t>
            </a:r>
            <a:endParaRPr sz="1677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699247" y="1349188"/>
            <a:ext cx="3777503" cy="646579"/>
            <a:chOff x="640080" y="1529080"/>
            <a:chExt cx="4281170" cy="73279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0" y="1529080"/>
              <a:ext cx="4280745" cy="5565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1283" y="2109317"/>
              <a:ext cx="3333115" cy="153035"/>
            </a:xfrm>
            <a:custGeom>
              <a:avLst/>
              <a:gdLst/>
              <a:ahLst/>
              <a:cxnLst/>
              <a:rect l="l" t="t" r="r" b="b"/>
              <a:pathLst>
                <a:path w="3333115" h="153035">
                  <a:moveTo>
                    <a:pt x="2059228" y="70002"/>
                  </a:moveTo>
                  <a:lnTo>
                    <a:pt x="2033054" y="54952"/>
                  </a:lnTo>
                  <a:lnTo>
                    <a:pt x="1937537" y="0"/>
                  </a:lnTo>
                  <a:lnTo>
                    <a:pt x="1928215" y="2501"/>
                  </a:lnTo>
                  <a:lnTo>
                    <a:pt x="1919820" y="17094"/>
                  </a:lnTo>
                  <a:lnTo>
                    <a:pt x="1922335" y="26416"/>
                  </a:lnTo>
                  <a:lnTo>
                    <a:pt x="1972525" y="55295"/>
                  </a:lnTo>
                  <a:lnTo>
                    <a:pt x="86525" y="66662"/>
                  </a:lnTo>
                  <a:lnTo>
                    <a:pt x="136359" y="37185"/>
                  </a:lnTo>
                  <a:lnTo>
                    <a:pt x="138760" y="27838"/>
                  </a:lnTo>
                  <a:lnTo>
                    <a:pt x="130187" y="13347"/>
                  </a:lnTo>
                  <a:lnTo>
                    <a:pt x="120853" y="10947"/>
                  </a:lnTo>
                  <a:lnTo>
                    <a:pt x="0" y="82423"/>
                  </a:lnTo>
                  <a:lnTo>
                    <a:pt x="121704" y="152438"/>
                  </a:lnTo>
                  <a:lnTo>
                    <a:pt x="131013" y="149923"/>
                  </a:lnTo>
                  <a:lnTo>
                    <a:pt x="139407" y="135331"/>
                  </a:lnTo>
                  <a:lnTo>
                    <a:pt x="136906" y="126022"/>
                  </a:lnTo>
                  <a:lnTo>
                    <a:pt x="87299" y="97485"/>
                  </a:lnTo>
                  <a:lnTo>
                    <a:pt x="86702" y="97142"/>
                  </a:lnTo>
                  <a:lnTo>
                    <a:pt x="1972703" y="85775"/>
                  </a:lnTo>
                  <a:lnTo>
                    <a:pt x="1922868" y="115252"/>
                  </a:lnTo>
                  <a:lnTo>
                    <a:pt x="1920468" y="124599"/>
                  </a:lnTo>
                  <a:lnTo>
                    <a:pt x="1929041" y="139077"/>
                  </a:lnTo>
                  <a:lnTo>
                    <a:pt x="1938388" y="141478"/>
                  </a:lnTo>
                  <a:lnTo>
                    <a:pt x="2059228" y="70002"/>
                  </a:lnTo>
                  <a:close/>
                </a:path>
                <a:path w="3333115" h="153035">
                  <a:moveTo>
                    <a:pt x="3332619" y="70002"/>
                  </a:moveTo>
                  <a:lnTo>
                    <a:pt x="3306407" y="55092"/>
                  </a:lnTo>
                  <a:lnTo>
                    <a:pt x="3210598" y="558"/>
                  </a:lnTo>
                  <a:lnTo>
                    <a:pt x="3201289" y="3111"/>
                  </a:lnTo>
                  <a:lnTo>
                    <a:pt x="3192970" y="17741"/>
                  </a:lnTo>
                  <a:lnTo>
                    <a:pt x="3195523" y="27051"/>
                  </a:lnTo>
                  <a:lnTo>
                    <a:pt x="3245840" y="55689"/>
                  </a:lnTo>
                  <a:lnTo>
                    <a:pt x="2253919" y="66268"/>
                  </a:lnTo>
                  <a:lnTo>
                    <a:pt x="2303615" y="36550"/>
                  </a:lnTo>
                  <a:lnTo>
                    <a:pt x="2305977" y="27190"/>
                  </a:lnTo>
                  <a:lnTo>
                    <a:pt x="2297341" y="12750"/>
                  </a:lnTo>
                  <a:lnTo>
                    <a:pt x="2287981" y="10388"/>
                  </a:lnTo>
                  <a:lnTo>
                    <a:pt x="2167471" y="82423"/>
                  </a:lnTo>
                  <a:lnTo>
                    <a:pt x="2289492" y="151866"/>
                  </a:lnTo>
                  <a:lnTo>
                    <a:pt x="2298801" y="149313"/>
                  </a:lnTo>
                  <a:lnTo>
                    <a:pt x="2307120" y="134683"/>
                  </a:lnTo>
                  <a:lnTo>
                    <a:pt x="2304567" y="125387"/>
                  </a:lnTo>
                  <a:lnTo>
                    <a:pt x="2255291" y="97345"/>
                  </a:lnTo>
                  <a:lnTo>
                    <a:pt x="2254237" y="96735"/>
                  </a:lnTo>
                  <a:lnTo>
                    <a:pt x="3246170" y="86169"/>
                  </a:lnTo>
                  <a:lnTo>
                    <a:pt x="3196463" y="115874"/>
                  </a:lnTo>
                  <a:lnTo>
                    <a:pt x="3194113" y="125234"/>
                  </a:lnTo>
                  <a:lnTo>
                    <a:pt x="3202749" y="139687"/>
                  </a:lnTo>
                  <a:lnTo>
                    <a:pt x="3212109" y="142036"/>
                  </a:lnTo>
                  <a:lnTo>
                    <a:pt x="3332619" y="700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58950" y="1881692"/>
            <a:ext cx="3235138" cy="9446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29280">
              <a:spcBef>
                <a:spcPts val="88"/>
              </a:spcBef>
              <a:tabLst>
                <a:tab pos="2377455" algn="l"/>
              </a:tabLst>
            </a:pPr>
            <a:r>
              <a:rPr sz="1677" dirty="0">
                <a:latin typeface="Times New Roman"/>
                <a:cs typeface="Times New Roman"/>
              </a:rPr>
              <a:t>18</a:t>
            </a:r>
            <a:r>
              <a:rPr sz="1677" spc="9" dirty="0">
                <a:latin typeface="Times New Roman"/>
                <a:cs typeface="Times New Roman"/>
              </a:rPr>
              <a:t> </a:t>
            </a:r>
            <a:r>
              <a:rPr sz="1677" spc="-18" dirty="0">
                <a:latin typeface="Times New Roman"/>
                <a:cs typeface="Times New Roman"/>
              </a:rPr>
              <a:t>bits</a:t>
            </a:r>
            <a:r>
              <a:rPr sz="1677" dirty="0">
                <a:latin typeface="Times New Roman"/>
                <a:cs typeface="Times New Roman"/>
              </a:rPr>
              <a:t>	8</a:t>
            </a:r>
            <a:r>
              <a:rPr sz="1677" spc="9" dirty="0">
                <a:latin typeface="Times New Roman"/>
                <a:cs typeface="Times New Roman"/>
              </a:rPr>
              <a:t> </a:t>
            </a:r>
            <a:r>
              <a:rPr sz="1677" spc="-18" dirty="0">
                <a:latin typeface="Times New Roman"/>
                <a:cs typeface="Times New Roman"/>
              </a:rPr>
              <a:t>bits</a:t>
            </a:r>
            <a:endParaRPr sz="1677">
              <a:latin typeface="Times New Roman"/>
              <a:cs typeface="Times New Roman"/>
            </a:endParaRPr>
          </a:p>
          <a:p>
            <a:pPr>
              <a:spcBef>
                <a:spcPts val="481"/>
              </a:spcBef>
            </a:pPr>
            <a:endParaRPr sz="1677">
              <a:latin typeface="Times New Roman"/>
              <a:cs typeface="Times New Roman"/>
            </a:endParaRPr>
          </a:p>
          <a:p>
            <a:pPr marL="11206"/>
            <a:r>
              <a:rPr sz="2294" spc="-26" dirty="0">
                <a:latin typeface="Calibri"/>
                <a:cs typeface="Calibri"/>
              </a:rPr>
              <a:t>1-</a:t>
            </a:r>
            <a:r>
              <a:rPr sz="2294" spc="-31" dirty="0">
                <a:latin typeface="Calibri"/>
                <a:cs typeface="Calibri"/>
              </a:rPr>
              <a:t>way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spc="-40" dirty="0">
                <a:latin typeface="Calibri"/>
                <a:cs typeface="Calibri"/>
              </a:rPr>
              <a:t>direct-</a:t>
            </a:r>
            <a:r>
              <a:rPr sz="2294" spc="-9" dirty="0">
                <a:latin typeface="Calibri"/>
                <a:cs typeface="Calibri"/>
              </a:rPr>
              <a:t>mapped</a:t>
            </a:r>
            <a:r>
              <a:rPr sz="2294" spc="-79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cache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11325" y="1862147"/>
            <a:ext cx="717737" cy="132790"/>
          </a:xfrm>
          <a:custGeom>
            <a:avLst/>
            <a:gdLst/>
            <a:ahLst/>
            <a:cxnLst/>
            <a:rect l="l" t="t" r="r" b="b"/>
            <a:pathLst>
              <a:path w="813435" h="150494">
                <a:moveTo>
                  <a:pt x="120182" y="8713"/>
                </a:moveTo>
                <a:lnTo>
                  <a:pt x="0" y="81301"/>
                </a:lnTo>
                <a:lnTo>
                  <a:pt x="122344" y="150186"/>
                </a:lnTo>
                <a:lnTo>
                  <a:pt x="131636" y="147587"/>
                </a:lnTo>
                <a:lnTo>
                  <a:pt x="139895" y="132920"/>
                </a:lnTo>
                <a:lnTo>
                  <a:pt x="137298" y="123626"/>
                </a:lnTo>
                <a:lnTo>
                  <a:pt x="88369" y="96078"/>
                </a:lnTo>
                <a:lnTo>
                  <a:pt x="30474" y="96078"/>
                </a:lnTo>
                <a:lnTo>
                  <a:pt x="30074" y="69808"/>
                </a:lnTo>
                <a:lnTo>
                  <a:pt x="30010" y="65601"/>
                </a:lnTo>
                <a:lnTo>
                  <a:pt x="86373" y="64740"/>
                </a:lnTo>
                <a:lnTo>
                  <a:pt x="135940" y="34803"/>
                </a:lnTo>
                <a:lnTo>
                  <a:pt x="138254" y="25435"/>
                </a:lnTo>
                <a:lnTo>
                  <a:pt x="129551" y="11026"/>
                </a:lnTo>
                <a:lnTo>
                  <a:pt x="120182" y="8713"/>
                </a:lnTo>
                <a:close/>
              </a:path>
              <a:path w="813435" h="150494">
                <a:moveTo>
                  <a:pt x="786698" y="54108"/>
                </a:moveTo>
                <a:lnTo>
                  <a:pt x="782464" y="54108"/>
                </a:lnTo>
                <a:lnTo>
                  <a:pt x="782866" y="80377"/>
                </a:lnTo>
                <a:lnTo>
                  <a:pt x="782930" y="84584"/>
                </a:lnTo>
                <a:lnTo>
                  <a:pt x="726567" y="85445"/>
                </a:lnTo>
                <a:lnTo>
                  <a:pt x="677000" y="115383"/>
                </a:lnTo>
                <a:lnTo>
                  <a:pt x="674687" y="124752"/>
                </a:lnTo>
                <a:lnTo>
                  <a:pt x="683390" y="139161"/>
                </a:lnTo>
                <a:lnTo>
                  <a:pt x="692759" y="141474"/>
                </a:lnTo>
                <a:lnTo>
                  <a:pt x="812942" y="68884"/>
                </a:lnTo>
                <a:lnTo>
                  <a:pt x="786698" y="54108"/>
                </a:lnTo>
                <a:close/>
              </a:path>
              <a:path w="813435" h="150494">
                <a:moveTo>
                  <a:pt x="86373" y="64740"/>
                </a:moveTo>
                <a:lnTo>
                  <a:pt x="30010" y="65601"/>
                </a:lnTo>
                <a:lnTo>
                  <a:pt x="30441" y="93884"/>
                </a:lnTo>
                <a:lnTo>
                  <a:pt x="30474" y="96078"/>
                </a:lnTo>
                <a:lnTo>
                  <a:pt x="86840" y="95217"/>
                </a:lnTo>
                <a:lnTo>
                  <a:pt x="84474" y="93884"/>
                </a:lnTo>
                <a:lnTo>
                  <a:pt x="38121" y="93884"/>
                </a:lnTo>
                <a:lnTo>
                  <a:pt x="37754" y="69808"/>
                </a:lnTo>
                <a:lnTo>
                  <a:pt x="37720" y="67560"/>
                </a:lnTo>
                <a:lnTo>
                  <a:pt x="81706" y="67560"/>
                </a:lnTo>
                <a:lnTo>
                  <a:pt x="86373" y="64740"/>
                </a:lnTo>
                <a:close/>
              </a:path>
              <a:path w="813435" h="150494">
                <a:moveTo>
                  <a:pt x="86840" y="95217"/>
                </a:moveTo>
                <a:lnTo>
                  <a:pt x="30474" y="96078"/>
                </a:lnTo>
                <a:lnTo>
                  <a:pt x="88369" y="96078"/>
                </a:lnTo>
                <a:lnTo>
                  <a:pt x="86840" y="95217"/>
                </a:lnTo>
                <a:close/>
              </a:path>
              <a:path w="813435" h="150494">
                <a:moveTo>
                  <a:pt x="726101" y="54969"/>
                </a:moveTo>
                <a:lnTo>
                  <a:pt x="86373" y="64740"/>
                </a:lnTo>
                <a:lnTo>
                  <a:pt x="60484" y="80377"/>
                </a:lnTo>
                <a:lnTo>
                  <a:pt x="86840" y="95217"/>
                </a:lnTo>
                <a:lnTo>
                  <a:pt x="726567" y="85445"/>
                </a:lnTo>
                <a:lnTo>
                  <a:pt x="752457" y="69808"/>
                </a:lnTo>
                <a:lnTo>
                  <a:pt x="726101" y="54969"/>
                </a:lnTo>
                <a:close/>
              </a:path>
              <a:path w="813435" h="150494">
                <a:moveTo>
                  <a:pt x="37720" y="67560"/>
                </a:moveTo>
                <a:lnTo>
                  <a:pt x="38121" y="93884"/>
                </a:lnTo>
                <a:lnTo>
                  <a:pt x="60484" y="80377"/>
                </a:lnTo>
                <a:lnTo>
                  <a:pt x="37720" y="67560"/>
                </a:lnTo>
                <a:close/>
              </a:path>
              <a:path w="813435" h="150494">
                <a:moveTo>
                  <a:pt x="60484" y="80377"/>
                </a:moveTo>
                <a:lnTo>
                  <a:pt x="38121" y="93884"/>
                </a:lnTo>
                <a:lnTo>
                  <a:pt x="84474" y="93884"/>
                </a:lnTo>
                <a:lnTo>
                  <a:pt x="60484" y="80377"/>
                </a:lnTo>
                <a:close/>
              </a:path>
              <a:path w="813435" h="150494">
                <a:moveTo>
                  <a:pt x="752457" y="69808"/>
                </a:moveTo>
                <a:lnTo>
                  <a:pt x="726567" y="85445"/>
                </a:lnTo>
                <a:lnTo>
                  <a:pt x="782930" y="84584"/>
                </a:lnTo>
                <a:lnTo>
                  <a:pt x="782900" y="82626"/>
                </a:lnTo>
                <a:lnTo>
                  <a:pt x="775221" y="82626"/>
                </a:lnTo>
                <a:lnTo>
                  <a:pt x="752457" y="69808"/>
                </a:lnTo>
                <a:close/>
              </a:path>
              <a:path w="813435" h="150494">
                <a:moveTo>
                  <a:pt x="774820" y="56301"/>
                </a:moveTo>
                <a:lnTo>
                  <a:pt x="752457" y="69808"/>
                </a:lnTo>
                <a:lnTo>
                  <a:pt x="775221" y="82626"/>
                </a:lnTo>
                <a:lnTo>
                  <a:pt x="774820" y="56301"/>
                </a:lnTo>
                <a:close/>
              </a:path>
              <a:path w="813435" h="150494">
                <a:moveTo>
                  <a:pt x="782498" y="56301"/>
                </a:moveTo>
                <a:lnTo>
                  <a:pt x="774820" y="56301"/>
                </a:lnTo>
                <a:lnTo>
                  <a:pt x="775187" y="80377"/>
                </a:lnTo>
                <a:lnTo>
                  <a:pt x="775221" y="82626"/>
                </a:lnTo>
                <a:lnTo>
                  <a:pt x="782900" y="82626"/>
                </a:lnTo>
                <a:lnTo>
                  <a:pt x="782498" y="56301"/>
                </a:lnTo>
                <a:close/>
              </a:path>
              <a:path w="813435" h="150494">
                <a:moveTo>
                  <a:pt x="81706" y="67560"/>
                </a:moveTo>
                <a:lnTo>
                  <a:pt x="37720" y="67560"/>
                </a:lnTo>
                <a:lnTo>
                  <a:pt x="60484" y="80377"/>
                </a:lnTo>
                <a:lnTo>
                  <a:pt x="81706" y="67560"/>
                </a:lnTo>
                <a:close/>
              </a:path>
              <a:path w="813435" h="150494">
                <a:moveTo>
                  <a:pt x="782464" y="54108"/>
                </a:moveTo>
                <a:lnTo>
                  <a:pt x="726101" y="54969"/>
                </a:lnTo>
                <a:lnTo>
                  <a:pt x="752457" y="69808"/>
                </a:lnTo>
                <a:lnTo>
                  <a:pt x="774820" y="56301"/>
                </a:lnTo>
                <a:lnTo>
                  <a:pt x="782498" y="56301"/>
                </a:lnTo>
                <a:lnTo>
                  <a:pt x="782464" y="54108"/>
                </a:lnTo>
                <a:close/>
              </a:path>
              <a:path w="813435" h="150494">
                <a:moveTo>
                  <a:pt x="690598" y="0"/>
                </a:moveTo>
                <a:lnTo>
                  <a:pt x="681305" y="2598"/>
                </a:lnTo>
                <a:lnTo>
                  <a:pt x="673046" y="17266"/>
                </a:lnTo>
                <a:lnTo>
                  <a:pt x="675643" y="26559"/>
                </a:lnTo>
                <a:lnTo>
                  <a:pt x="726101" y="54969"/>
                </a:lnTo>
                <a:lnTo>
                  <a:pt x="782464" y="54108"/>
                </a:lnTo>
                <a:lnTo>
                  <a:pt x="786698" y="54108"/>
                </a:lnTo>
                <a:lnTo>
                  <a:pt x="6905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 txBox="1"/>
          <p:nvPr/>
        </p:nvSpPr>
        <p:spPr>
          <a:xfrm>
            <a:off x="3857961" y="1881692"/>
            <a:ext cx="49361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Times New Roman"/>
                <a:cs typeface="Times New Roman"/>
              </a:rPr>
              <a:t>6 </a:t>
            </a:r>
            <a:r>
              <a:rPr sz="1677" spc="-18" dirty="0">
                <a:latin typeface="Times New Roman"/>
                <a:cs typeface="Times New Roman"/>
              </a:rPr>
              <a:t>bits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89694" y="2486159"/>
            <a:ext cx="1609725" cy="266140"/>
          </a:xfrm>
          <a:custGeom>
            <a:avLst/>
            <a:gdLst/>
            <a:ahLst/>
            <a:cxnLst/>
            <a:rect l="l" t="t" r="r" b="b"/>
            <a:pathLst>
              <a:path w="1824354" h="301625">
                <a:moveTo>
                  <a:pt x="0" y="0"/>
                </a:moveTo>
                <a:lnTo>
                  <a:pt x="1824142" y="0"/>
                </a:lnTo>
                <a:lnTo>
                  <a:pt x="1824142" y="301619"/>
                </a:lnTo>
                <a:lnTo>
                  <a:pt x="0" y="301619"/>
                </a:lnTo>
                <a:lnTo>
                  <a:pt x="0" y="0"/>
                </a:lnTo>
                <a:close/>
              </a:path>
            </a:pathLst>
          </a:custGeom>
          <a:ln w="79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 txBox="1"/>
          <p:nvPr/>
        </p:nvSpPr>
        <p:spPr>
          <a:xfrm>
            <a:off x="8529483" y="2763849"/>
            <a:ext cx="253253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18" dirty="0">
                <a:latin typeface="Arial MT"/>
                <a:cs typeface="Arial MT"/>
              </a:rPr>
              <a:t>Data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34701" y="2793614"/>
            <a:ext cx="158003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22" dirty="0">
                <a:latin typeface="Arial MT"/>
                <a:cs typeface="Arial MT"/>
              </a:rPr>
              <a:t>Hit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50963" y="3507977"/>
            <a:ext cx="253253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18" dirty="0">
                <a:latin typeface="Arial MT"/>
                <a:cs typeface="Arial MT"/>
              </a:rPr>
              <a:t>Data</a:t>
            </a:r>
            <a:endParaRPr sz="882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21629" y="3676763"/>
            <a:ext cx="1617009" cy="1432672"/>
            <a:chOff x="3498780" y="4166998"/>
            <a:chExt cx="1832610" cy="1623695"/>
          </a:xfrm>
        </p:grpSpPr>
        <p:sp>
          <p:nvSpPr>
            <p:cNvPr id="19" name="object 19"/>
            <p:cNvSpPr/>
            <p:nvPr/>
          </p:nvSpPr>
          <p:spPr>
            <a:xfrm>
              <a:off x="3502908" y="4815876"/>
              <a:ext cx="1824355" cy="161290"/>
            </a:xfrm>
            <a:custGeom>
              <a:avLst/>
              <a:gdLst/>
              <a:ahLst/>
              <a:cxnLst/>
              <a:rect l="l" t="t" r="r" b="b"/>
              <a:pathLst>
                <a:path w="1824354" h="161289">
                  <a:moveTo>
                    <a:pt x="1824141" y="0"/>
                  </a:moveTo>
                  <a:lnTo>
                    <a:pt x="0" y="0"/>
                  </a:lnTo>
                  <a:lnTo>
                    <a:pt x="0" y="160732"/>
                  </a:lnTo>
                  <a:lnTo>
                    <a:pt x="1824141" y="160732"/>
                  </a:lnTo>
                  <a:lnTo>
                    <a:pt x="1824141" y="0"/>
                  </a:lnTo>
                  <a:close/>
                </a:path>
              </a:pathLst>
            </a:custGeom>
            <a:solidFill>
              <a:srgbClr val="9C9A9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3499015" y="4167009"/>
              <a:ext cx="1831975" cy="809625"/>
            </a:xfrm>
            <a:custGeom>
              <a:avLst/>
              <a:gdLst/>
              <a:ahLst/>
              <a:cxnLst/>
              <a:rect l="l" t="t" r="r" b="b"/>
              <a:pathLst>
                <a:path w="1831975" h="809625">
                  <a:moveTo>
                    <a:pt x="1831911" y="644906"/>
                  </a:moveTo>
                  <a:lnTo>
                    <a:pt x="1828025" y="644906"/>
                  </a:lnTo>
                  <a:lnTo>
                    <a:pt x="3886" y="644906"/>
                  </a:lnTo>
                  <a:lnTo>
                    <a:pt x="0" y="644906"/>
                  </a:lnTo>
                  <a:lnTo>
                    <a:pt x="0" y="648868"/>
                  </a:lnTo>
                  <a:lnTo>
                    <a:pt x="0" y="809599"/>
                  </a:lnTo>
                  <a:lnTo>
                    <a:pt x="7772" y="809599"/>
                  </a:lnTo>
                  <a:lnTo>
                    <a:pt x="7772" y="652843"/>
                  </a:lnTo>
                  <a:lnTo>
                    <a:pt x="1824139" y="652843"/>
                  </a:lnTo>
                  <a:lnTo>
                    <a:pt x="1824139" y="809599"/>
                  </a:lnTo>
                  <a:lnTo>
                    <a:pt x="1829968" y="809599"/>
                  </a:lnTo>
                  <a:lnTo>
                    <a:pt x="1829968" y="648868"/>
                  </a:lnTo>
                  <a:lnTo>
                    <a:pt x="1831911" y="648868"/>
                  </a:lnTo>
                  <a:lnTo>
                    <a:pt x="1831911" y="644906"/>
                  </a:lnTo>
                  <a:close/>
                </a:path>
                <a:path w="1831975" h="809625">
                  <a:moveTo>
                    <a:pt x="1831911" y="0"/>
                  </a:moveTo>
                  <a:lnTo>
                    <a:pt x="1828025" y="0"/>
                  </a:lnTo>
                  <a:lnTo>
                    <a:pt x="3886" y="0"/>
                  </a:lnTo>
                  <a:lnTo>
                    <a:pt x="0" y="0"/>
                  </a:lnTo>
                  <a:lnTo>
                    <a:pt x="0" y="3962"/>
                  </a:lnTo>
                  <a:lnTo>
                    <a:pt x="0" y="164693"/>
                  </a:lnTo>
                  <a:lnTo>
                    <a:pt x="7772" y="164693"/>
                  </a:lnTo>
                  <a:lnTo>
                    <a:pt x="7772" y="7937"/>
                  </a:lnTo>
                  <a:lnTo>
                    <a:pt x="1824139" y="7937"/>
                  </a:lnTo>
                  <a:lnTo>
                    <a:pt x="1824139" y="164693"/>
                  </a:lnTo>
                  <a:lnTo>
                    <a:pt x="1831911" y="164693"/>
                  </a:lnTo>
                  <a:lnTo>
                    <a:pt x="1831911" y="3962"/>
                  </a:lnTo>
                  <a:lnTo>
                    <a:pt x="18319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3502908" y="4976608"/>
              <a:ext cx="1824355" cy="161290"/>
            </a:xfrm>
            <a:custGeom>
              <a:avLst/>
              <a:gdLst/>
              <a:ahLst/>
              <a:cxnLst/>
              <a:rect l="l" t="t" r="r" b="b"/>
              <a:pathLst>
                <a:path w="1824354" h="161289">
                  <a:moveTo>
                    <a:pt x="0" y="0"/>
                  </a:moveTo>
                  <a:lnTo>
                    <a:pt x="1824142" y="0"/>
                  </a:lnTo>
                  <a:lnTo>
                    <a:pt x="1824142" y="160731"/>
                  </a:lnTo>
                  <a:lnTo>
                    <a:pt x="0" y="160731"/>
                  </a:lnTo>
                  <a:lnTo>
                    <a:pt x="0" y="0"/>
                  </a:lnTo>
                  <a:close/>
                </a:path>
              </a:pathLst>
            </a:custGeom>
            <a:ln w="7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3499015" y="4327740"/>
              <a:ext cx="1831975" cy="1463040"/>
            </a:xfrm>
            <a:custGeom>
              <a:avLst/>
              <a:gdLst/>
              <a:ahLst/>
              <a:cxnLst/>
              <a:rect l="l" t="t" r="r" b="b"/>
              <a:pathLst>
                <a:path w="1831975" h="1463039">
                  <a:moveTo>
                    <a:pt x="1831911" y="813574"/>
                  </a:moveTo>
                  <a:lnTo>
                    <a:pt x="1824139" y="813574"/>
                  </a:lnTo>
                  <a:lnTo>
                    <a:pt x="1824139" y="970330"/>
                  </a:lnTo>
                  <a:lnTo>
                    <a:pt x="1824139" y="978268"/>
                  </a:lnTo>
                  <a:lnTo>
                    <a:pt x="1824139" y="1454518"/>
                  </a:lnTo>
                  <a:lnTo>
                    <a:pt x="7772" y="1454518"/>
                  </a:lnTo>
                  <a:lnTo>
                    <a:pt x="7772" y="1299743"/>
                  </a:lnTo>
                  <a:lnTo>
                    <a:pt x="1824139" y="1299743"/>
                  </a:lnTo>
                  <a:lnTo>
                    <a:pt x="1824139" y="1291805"/>
                  </a:lnTo>
                  <a:lnTo>
                    <a:pt x="7772" y="1291805"/>
                  </a:lnTo>
                  <a:lnTo>
                    <a:pt x="7772" y="1137018"/>
                  </a:lnTo>
                  <a:lnTo>
                    <a:pt x="1824139" y="1137018"/>
                  </a:lnTo>
                  <a:lnTo>
                    <a:pt x="1824139" y="1129080"/>
                  </a:lnTo>
                  <a:lnTo>
                    <a:pt x="7772" y="1129080"/>
                  </a:lnTo>
                  <a:lnTo>
                    <a:pt x="7772" y="978268"/>
                  </a:lnTo>
                  <a:lnTo>
                    <a:pt x="1824139" y="978268"/>
                  </a:lnTo>
                  <a:lnTo>
                    <a:pt x="1824139" y="970330"/>
                  </a:lnTo>
                  <a:lnTo>
                    <a:pt x="7772" y="970330"/>
                  </a:lnTo>
                  <a:lnTo>
                    <a:pt x="7772" y="813574"/>
                  </a:lnTo>
                  <a:lnTo>
                    <a:pt x="0" y="813574"/>
                  </a:lnTo>
                  <a:lnTo>
                    <a:pt x="0" y="1456499"/>
                  </a:lnTo>
                  <a:lnTo>
                    <a:pt x="3886" y="1456499"/>
                  </a:lnTo>
                  <a:lnTo>
                    <a:pt x="3886" y="1462455"/>
                  </a:lnTo>
                  <a:lnTo>
                    <a:pt x="1828025" y="1462455"/>
                  </a:lnTo>
                  <a:lnTo>
                    <a:pt x="1828025" y="1456499"/>
                  </a:lnTo>
                  <a:lnTo>
                    <a:pt x="1831911" y="1456499"/>
                  </a:lnTo>
                  <a:lnTo>
                    <a:pt x="1831911" y="970330"/>
                  </a:lnTo>
                  <a:lnTo>
                    <a:pt x="1831911" y="813574"/>
                  </a:lnTo>
                  <a:close/>
                </a:path>
                <a:path w="1831975" h="1463039">
                  <a:moveTo>
                    <a:pt x="1831911" y="0"/>
                  </a:moveTo>
                  <a:lnTo>
                    <a:pt x="1828025" y="0"/>
                  </a:lnTo>
                  <a:lnTo>
                    <a:pt x="1824139" y="0"/>
                  </a:lnTo>
                  <a:lnTo>
                    <a:pt x="1824139" y="7937"/>
                  </a:lnTo>
                  <a:lnTo>
                    <a:pt x="1824139" y="162712"/>
                  </a:lnTo>
                  <a:lnTo>
                    <a:pt x="1824139" y="170649"/>
                  </a:lnTo>
                  <a:lnTo>
                    <a:pt x="1824139" y="323443"/>
                  </a:lnTo>
                  <a:lnTo>
                    <a:pt x="7772" y="323443"/>
                  </a:lnTo>
                  <a:lnTo>
                    <a:pt x="7772" y="170649"/>
                  </a:lnTo>
                  <a:lnTo>
                    <a:pt x="1824139" y="170649"/>
                  </a:lnTo>
                  <a:lnTo>
                    <a:pt x="1824139" y="162712"/>
                  </a:lnTo>
                  <a:lnTo>
                    <a:pt x="7772" y="162712"/>
                  </a:lnTo>
                  <a:lnTo>
                    <a:pt x="7772" y="7937"/>
                  </a:lnTo>
                  <a:lnTo>
                    <a:pt x="1824139" y="7937"/>
                  </a:lnTo>
                  <a:lnTo>
                    <a:pt x="1824139" y="0"/>
                  </a:lnTo>
                  <a:lnTo>
                    <a:pt x="3886" y="0"/>
                  </a:lnTo>
                  <a:lnTo>
                    <a:pt x="0" y="0"/>
                  </a:lnTo>
                  <a:lnTo>
                    <a:pt x="0" y="3962"/>
                  </a:lnTo>
                  <a:lnTo>
                    <a:pt x="0" y="490131"/>
                  </a:lnTo>
                  <a:lnTo>
                    <a:pt x="7772" y="490131"/>
                  </a:lnTo>
                  <a:lnTo>
                    <a:pt x="7772" y="331381"/>
                  </a:lnTo>
                  <a:lnTo>
                    <a:pt x="1824139" y="331381"/>
                  </a:lnTo>
                  <a:lnTo>
                    <a:pt x="1824139" y="490131"/>
                  </a:lnTo>
                  <a:lnTo>
                    <a:pt x="1831911" y="490131"/>
                  </a:lnTo>
                  <a:lnTo>
                    <a:pt x="1831911" y="3962"/>
                  </a:lnTo>
                  <a:lnTo>
                    <a:pt x="18319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459182" y="2877657"/>
            <a:ext cx="198344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35" dirty="0">
                <a:latin typeface="Arial MT"/>
                <a:cs typeface="Arial MT"/>
              </a:rPr>
              <a:t>Tag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19209" y="3507977"/>
            <a:ext cx="423022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235336" algn="l"/>
              </a:tabLst>
            </a:pPr>
            <a:r>
              <a:rPr sz="882" spc="-44" dirty="0">
                <a:latin typeface="Arial MT"/>
                <a:cs typeface="Arial MT"/>
              </a:rPr>
              <a:t>V</a:t>
            </a:r>
            <a:r>
              <a:rPr sz="882" dirty="0">
                <a:latin typeface="Arial MT"/>
                <a:cs typeface="Arial MT"/>
              </a:rPr>
              <a:t>	</a:t>
            </a:r>
            <a:r>
              <a:rPr sz="882" spc="-31" dirty="0">
                <a:latin typeface="Arial MT"/>
                <a:cs typeface="Arial MT"/>
              </a:rPr>
              <a:t>Tag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42411" y="2927391"/>
            <a:ext cx="5433732" cy="3225613"/>
          </a:xfrm>
          <a:custGeom>
            <a:avLst/>
            <a:gdLst/>
            <a:ahLst/>
            <a:cxnLst/>
            <a:rect l="l" t="t" r="r" b="b"/>
            <a:pathLst>
              <a:path w="6158230" h="3655695">
                <a:moveTo>
                  <a:pt x="62166" y="1573580"/>
                </a:moveTo>
                <a:lnTo>
                  <a:pt x="31076" y="1547787"/>
                </a:lnTo>
                <a:lnTo>
                  <a:pt x="13589" y="1553730"/>
                </a:lnTo>
                <a:lnTo>
                  <a:pt x="5829" y="1561668"/>
                </a:lnTo>
                <a:lnTo>
                  <a:pt x="0" y="1579537"/>
                </a:lnTo>
                <a:lnTo>
                  <a:pt x="1943" y="1587474"/>
                </a:lnTo>
                <a:lnTo>
                  <a:pt x="25247" y="1611274"/>
                </a:lnTo>
                <a:lnTo>
                  <a:pt x="38849" y="1611274"/>
                </a:lnTo>
                <a:lnTo>
                  <a:pt x="62166" y="1587474"/>
                </a:lnTo>
                <a:lnTo>
                  <a:pt x="62166" y="1579537"/>
                </a:lnTo>
                <a:lnTo>
                  <a:pt x="62166" y="1573580"/>
                </a:lnTo>
                <a:close/>
              </a:path>
              <a:path w="6158230" h="3655695">
                <a:moveTo>
                  <a:pt x="85471" y="855243"/>
                </a:moveTo>
                <a:lnTo>
                  <a:pt x="77698" y="855243"/>
                </a:lnTo>
                <a:lnTo>
                  <a:pt x="77698" y="2464549"/>
                </a:lnTo>
                <a:lnTo>
                  <a:pt x="85471" y="2464549"/>
                </a:lnTo>
                <a:lnTo>
                  <a:pt x="85471" y="855243"/>
                </a:lnTo>
                <a:close/>
              </a:path>
              <a:path w="6158230" h="3655695">
                <a:moveTo>
                  <a:pt x="431266" y="2670924"/>
                </a:moveTo>
                <a:lnTo>
                  <a:pt x="374929" y="2641231"/>
                </a:lnTo>
                <a:lnTo>
                  <a:pt x="374929" y="1610614"/>
                </a:lnTo>
                <a:lnTo>
                  <a:pt x="384644" y="1607312"/>
                </a:lnTo>
                <a:lnTo>
                  <a:pt x="388531" y="1603349"/>
                </a:lnTo>
                <a:lnTo>
                  <a:pt x="392404" y="1597393"/>
                </a:lnTo>
                <a:lnTo>
                  <a:pt x="394347" y="1593418"/>
                </a:lnTo>
                <a:lnTo>
                  <a:pt x="396290" y="1587474"/>
                </a:lnTo>
                <a:lnTo>
                  <a:pt x="398233" y="1579537"/>
                </a:lnTo>
                <a:lnTo>
                  <a:pt x="392404" y="1561668"/>
                </a:lnTo>
                <a:lnTo>
                  <a:pt x="384644" y="1553730"/>
                </a:lnTo>
                <a:lnTo>
                  <a:pt x="367157" y="1547787"/>
                </a:lnTo>
                <a:lnTo>
                  <a:pt x="359384" y="1549768"/>
                </a:lnTo>
                <a:lnTo>
                  <a:pt x="336080" y="1573580"/>
                </a:lnTo>
                <a:lnTo>
                  <a:pt x="336080" y="1587474"/>
                </a:lnTo>
                <a:lnTo>
                  <a:pt x="359384" y="1611274"/>
                </a:lnTo>
                <a:lnTo>
                  <a:pt x="359384" y="2633040"/>
                </a:lnTo>
                <a:lnTo>
                  <a:pt x="310819" y="2607424"/>
                </a:lnTo>
                <a:lnTo>
                  <a:pt x="304990" y="2617343"/>
                </a:lnTo>
                <a:lnTo>
                  <a:pt x="359384" y="2646032"/>
                </a:lnTo>
                <a:lnTo>
                  <a:pt x="359384" y="2813786"/>
                </a:lnTo>
                <a:lnTo>
                  <a:pt x="341896" y="2813786"/>
                </a:lnTo>
                <a:lnTo>
                  <a:pt x="349669" y="2829661"/>
                </a:lnTo>
                <a:lnTo>
                  <a:pt x="357441" y="2853474"/>
                </a:lnTo>
                <a:lnTo>
                  <a:pt x="363270" y="2877286"/>
                </a:lnTo>
                <a:lnTo>
                  <a:pt x="367157" y="2895142"/>
                </a:lnTo>
                <a:lnTo>
                  <a:pt x="369100" y="2877286"/>
                </a:lnTo>
                <a:lnTo>
                  <a:pt x="376872" y="2853474"/>
                </a:lnTo>
                <a:lnTo>
                  <a:pt x="382701" y="2831655"/>
                </a:lnTo>
                <a:lnTo>
                  <a:pt x="390474" y="2813786"/>
                </a:lnTo>
                <a:lnTo>
                  <a:pt x="374929" y="2813786"/>
                </a:lnTo>
                <a:lnTo>
                  <a:pt x="374929" y="2654223"/>
                </a:lnTo>
                <a:lnTo>
                  <a:pt x="425437" y="2680843"/>
                </a:lnTo>
                <a:lnTo>
                  <a:pt x="431266" y="2670924"/>
                </a:lnTo>
                <a:close/>
              </a:path>
              <a:path w="6158230" h="3655695">
                <a:moveTo>
                  <a:pt x="654672" y="855243"/>
                </a:moveTo>
                <a:lnTo>
                  <a:pt x="646899" y="855243"/>
                </a:lnTo>
                <a:lnTo>
                  <a:pt x="646899" y="2464549"/>
                </a:lnTo>
                <a:lnTo>
                  <a:pt x="654672" y="2464549"/>
                </a:lnTo>
                <a:lnTo>
                  <a:pt x="654672" y="855243"/>
                </a:lnTo>
                <a:close/>
              </a:path>
              <a:path w="6158230" h="3655695">
                <a:moveTo>
                  <a:pt x="1258824" y="1573580"/>
                </a:moveTo>
                <a:lnTo>
                  <a:pt x="1254950" y="1561668"/>
                </a:lnTo>
                <a:lnTo>
                  <a:pt x="1251064" y="1557705"/>
                </a:lnTo>
                <a:lnTo>
                  <a:pt x="1245235" y="1553730"/>
                </a:lnTo>
                <a:lnTo>
                  <a:pt x="1227747" y="1547787"/>
                </a:lnTo>
                <a:lnTo>
                  <a:pt x="1210259" y="1553730"/>
                </a:lnTo>
                <a:lnTo>
                  <a:pt x="1202499" y="1561668"/>
                </a:lnTo>
                <a:lnTo>
                  <a:pt x="1196670" y="1579537"/>
                </a:lnTo>
                <a:lnTo>
                  <a:pt x="1198613" y="1587474"/>
                </a:lnTo>
                <a:lnTo>
                  <a:pt x="1221917" y="1611274"/>
                </a:lnTo>
                <a:lnTo>
                  <a:pt x="1233576" y="1611274"/>
                </a:lnTo>
                <a:lnTo>
                  <a:pt x="1258824" y="1587474"/>
                </a:lnTo>
                <a:lnTo>
                  <a:pt x="1258824" y="1579537"/>
                </a:lnTo>
                <a:lnTo>
                  <a:pt x="1258824" y="1573580"/>
                </a:lnTo>
                <a:close/>
              </a:path>
              <a:path w="6158230" h="3655695">
                <a:moveTo>
                  <a:pt x="6158179" y="81356"/>
                </a:moveTo>
                <a:lnTo>
                  <a:pt x="6152350" y="65481"/>
                </a:lnTo>
                <a:lnTo>
                  <a:pt x="6144577" y="41668"/>
                </a:lnTo>
                <a:lnTo>
                  <a:pt x="6138748" y="17856"/>
                </a:lnTo>
                <a:lnTo>
                  <a:pt x="6134862" y="0"/>
                </a:lnTo>
                <a:lnTo>
                  <a:pt x="6130976" y="17856"/>
                </a:lnTo>
                <a:lnTo>
                  <a:pt x="6125159" y="41668"/>
                </a:lnTo>
                <a:lnTo>
                  <a:pt x="6119330" y="63500"/>
                </a:lnTo>
                <a:lnTo>
                  <a:pt x="6111557" y="81356"/>
                </a:lnTo>
                <a:lnTo>
                  <a:pt x="6127089" y="81356"/>
                </a:lnTo>
                <a:lnTo>
                  <a:pt x="6127089" y="3639274"/>
                </a:lnTo>
                <a:lnTo>
                  <a:pt x="2900362" y="3639274"/>
                </a:lnTo>
                <a:lnTo>
                  <a:pt x="2900362" y="3499548"/>
                </a:lnTo>
                <a:lnTo>
                  <a:pt x="2950870" y="3526167"/>
                </a:lnTo>
                <a:lnTo>
                  <a:pt x="2956699" y="3516249"/>
                </a:lnTo>
                <a:lnTo>
                  <a:pt x="2900362" y="3486556"/>
                </a:lnTo>
                <a:lnTo>
                  <a:pt x="2900362" y="3323767"/>
                </a:lnTo>
                <a:lnTo>
                  <a:pt x="2884817" y="3323767"/>
                </a:lnTo>
                <a:lnTo>
                  <a:pt x="2884817" y="3478365"/>
                </a:lnTo>
                <a:lnTo>
                  <a:pt x="2836253" y="3452749"/>
                </a:lnTo>
                <a:lnTo>
                  <a:pt x="2830423" y="3462667"/>
                </a:lnTo>
                <a:lnTo>
                  <a:pt x="2884817" y="3491357"/>
                </a:lnTo>
                <a:lnTo>
                  <a:pt x="2884817" y="3647211"/>
                </a:lnTo>
                <a:lnTo>
                  <a:pt x="2884817" y="3655149"/>
                </a:lnTo>
                <a:lnTo>
                  <a:pt x="2892590" y="3655149"/>
                </a:lnTo>
                <a:lnTo>
                  <a:pt x="6134862" y="3655149"/>
                </a:lnTo>
                <a:lnTo>
                  <a:pt x="6142634" y="3655149"/>
                </a:lnTo>
                <a:lnTo>
                  <a:pt x="6142634" y="3647211"/>
                </a:lnTo>
                <a:lnTo>
                  <a:pt x="6142634" y="81356"/>
                </a:lnTo>
                <a:lnTo>
                  <a:pt x="6158179" y="81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 txBox="1"/>
          <p:nvPr/>
        </p:nvSpPr>
        <p:spPr>
          <a:xfrm>
            <a:off x="5841778" y="5871676"/>
            <a:ext cx="145676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22" dirty="0">
                <a:latin typeface="Arial MT"/>
                <a:cs typeface="Arial MT"/>
              </a:rPr>
              <a:t>32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07515" y="5147618"/>
            <a:ext cx="121024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75"/>
              </a:lnSpc>
            </a:pPr>
            <a:r>
              <a:rPr sz="882" spc="-31" dirty="0">
                <a:latin typeface="Arial MT"/>
                <a:cs typeface="Arial MT"/>
              </a:rPr>
              <a:t>16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855024" y="2750550"/>
            <a:ext cx="2586878" cy="2849096"/>
          </a:xfrm>
          <a:custGeom>
            <a:avLst/>
            <a:gdLst/>
            <a:ahLst/>
            <a:cxnLst/>
            <a:rect l="l" t="t" r="r" b="b"/>
            <a:pathLst>
              <a:path w="2931795" h="3228975">
                <a:moveTo>
                  <a:pt x="2333117" y="0"/>
                </a:moveTo>
                <a:lnTo>
                  <a:pt x="2317572" y="0"/>
                </a:lnTo>
                <a:lnTo>
                  <a:pt x="2317572" y="327418"/>
                </a:lnTo>
                <a:lnTo>
                  <a:pt x="7772" y="327418"/>
                </a:lnTo>
                <a:lnTo>
                  <a:pt x="0" y="327418"/>
                </a:lnTo>
                <a:lnTo>
                  <a:pt x="0" y="335356"/>
                </a:lnTo>
                <a:lnTo>
                  <a:pt x="0" y="3202724"/>
                </a:lnTo>
                <a:lnTo>
                  <a:pt x="0" y="3210661"/>
                </a:lnTo>
                <a:lnTo>
                  <a:pt x="7772" y="3210661"/>
                </a:lnTo>
                <a:lnTo>
                  <a:pt x="625525" y="3210661"/>
                </a:lnTo>
                <a:lnTo>
                  <a:pt x="625525" y="3228517"/>
                </a:lnTo>
                <a:lnTo>
                  <a:pt x="639127" y="3220580"/>
                </a:lnTo>
                <a:lnTo>
                  <a:pt x="662444" y="3212642"/>
                </a:lnTo>
                <a:lnTo>
                  <a:pt x="685749" y="3206686"/>
                </a:lnTo>
                <a:lnTo>
                  <a:pt x="703237" y="3202724"/>
                </a:lnTo>
                <a:lnTo>
                  <a:pt x="685749" y="3200743"/>
                </a:lnTo>
                <a:lnTo>
                  <a:pt x="662444" y="3194786"/>
                </a:lnTo>
                <a:lnTo>
                  <a:pt x="643013" y="3186849"/>
                </a:lnTo>
                <a:lnTo>
                  <a:pt x="625525" y="3178911"/>
                </a:lnTo>
                <a:lnTo>
                  <a:pt x="625525" y="3194786"/>
                </a:lnTo>
                <a:lnTo>
                  <a:pt x="15544" y="3194786"/>
                </a:lnTo>
                <a:lnTo>
                  <a:pt x="15544" y="343293"/>
                </a:lnTo>
                <a:lnTo>
                  <a:pt x="2325344" y="343293"/>
                </a:lnTo>
                <a:lnTo>
                  <a:pt x="2333117" y="343293"/>
                </a:lnTo>
                <a:lnTo>
                  <a:pt x="2333117" y="335356"/>
                </a:lnTo>
                <a:lnTo>
                  <a:pt x="2333117" y="0"/>
                </a:lnTo>
                <a:close/>
              </a:path>
              <a:path w="2931795" h="3228975">
                <a:moveTo>
                  <a:pt x="2931452" y="0"/>
                </a:moveTo>
                <a:lnTo>
                  <a:pt x="2915907" y="0"/>
                </a:lnTo>
                <a:lnTo>
                  <a:pt x="2915907" y="541718"/>
                </a:lnTo>
                <a:lnTo>
                  <a:pt x="170954" y="541718"/>
                </a:lnTo>
                <a:lnTo>
                  <a:pt x="163182" y="541718"/>
                </a:lnTo>
                <a:lnTo>
                  <a:pt x="163182" y="549656"/>
                </a:lnTo>
                <a:lnTo>
                  <a:pt x="163182" y="1777961"/>
                </a:lnTo>
                <a:lnTo>
                  <a:pt x="163182" y="1785899"/>
                </a:lnTo>
                <a:lnTo>
                  <a:pt x="170954" y="1785899"/>
                </a:lnTo>
                <a:lnTo>
                  <a:pt x="336080" y="1785899"/>
                </a:lnTo>
                <a:lnTo>
                  <a:pt x="336080" y="1801774"/>
                </a:lnTo>
                <a:lnTo>
                  <a:pt x="349669" y="1795830"/>
                </a:lnTo>
                <a:lnTo>
                  <a:pt x="372986" y="1787893"/>
                </a:lnTo>
                <a:lnTo>
                  <a:pt x="396303" y="1781937"/>
                </a:lnTo>
                <a:lnTo>
                  <a:pt x="413778" y="1777961"/>
                </a:lnTo>
                <a:lnTo>
                  <a:pt x="396303" y="1773999"/>
                </a:lnTo>
                <a:lnTo>
                  <a:pt x="372986" y="1768043"/>
                </a:lnTo>
                <a:lnTo>
                  <a:pt x="353555" y="1760105"/>
                </a:lnTo>
                <a:lnTo>
                  <a:pt x="336080" y="1754149"/>
                </a:lnTo>
                <a:lnTo>
                  <a:pt x="336080" y="1770024"/>
                </a:lnTo>
                <a:lnTo>
                  <a:pt x="178714" y="1770024"/>
                </a:lnTo>
                <a:lnTo>
                  <a:pt x="178714" y="557593"/>
                </a:lnTo>
                <a:lnTo>
                  <a:pt x="2923679" y="557593"/>
                </a:lnTo>
                <a:lnTo>
                  <a:pt x="2931452" y="557593"/>
                </a:lnTo>
                <a:lnTo>
                  <a:pt x="2931452" y="549656"/>
                </a:lnTo>
                <a:lnTo>
                  <a:pt x="2931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 txBox="1"/>
          <p:nvPr/>
        </p:nvSpPr>
        <p:spPr>
          <a:xfrm>
            <a:off x="3526032" y="5482979"/>
            <a:ext cx="86846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44" dirty="0">
                <a:latin typeface="Arial MT"/>
                <a:cs typeface="Arial MT"/>
              </a:rPr>
              <a:t>=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64687" y="2857354"/>
            <a:ext cx="1702174" cy="2990849"/>
          </a:xfrm>
          <a:custGeom>
            <a:avLst/>
            <a:gdLst/>
            <a:ahLst/>
            <a:cxnLst/>
            <a:rect l="l" t="t" r="r" b="b"/>
            <a:pathLst>
              <a:path w="1929129" h="3389629">
                <a:moveTo>
                  <a:pt x="11658" y="1658912"/>
                </a:moveTo>
                <a:lnTo>
                  <a:pt x="0" y="1658912"/>
                </a:lnTo>
                <a:lnTo>
                  <a:pt x="0" y="3389249"/>
                </a:lnTo>
                <a:lnTo>
                  <a:pt x="11658" y="3389249"/>
                </a:lnTo>
                <a:lnTo>
                  <a:pt x="11658" y="1658912"/>
                </a:lnTo>
                <a:close/>
              </a:path>
              <a:path w="1929129" h="3389629">
                <a:moveTo>
                  <a:pt x="448754" y="3069767"/>
                </a:moveTo>
                <a:lnTo>
                  <a:pt x="446811" y="3057868"/>
                </a:lnTo>
                <a:lnTo>
                  <a:pt x="444868" y="3047949"/>
                </a:lnTo>
                <a:lnTo>
                  <a:pt x="440982" y="3040011"/>
                </a:lnTo>
                <a:lnTo>
                  <a:pt x="437095" y="3030080"/>
                </a:lnTo>
                <a:lnTo>
                  <a:pt x="437095" y="3071761"/>
                </a:lnTo>
                <a:lnTo>
                  <a:pt x="437095" y="3087636"/>
                </a:lnTo>
                <a:lnTo>
                  <a:pt x="435152" y="3099536"/>
                </a:lnTo>
                <a:lnTo>
                  <a:pt x="433209" y="3107474"/>
                </a:lnTo>
                <a:lnTo>
                  <a:pt x="429323" y="3115411"/>
                </a:lnTo>
                <a:lnTo>
                  <a:pt x="427380" y="3123349"/>
                </a:lnTo>
                <a:lnTo>
                  <a:pt x="421551" y="3131286"/>
                </a:lnTo>
                <a:lnTo>
                  <a:pt x="415734" y="3137243"/>
                </a:lnTo>
                <a:lnTo>
                  <a:pt x="409905" y="3145180"/>
                </a:lnTo>
                <a:lnTo>
                  <a:pt x="402132" y="3151124"/>
                </a:lnTo>
                <a:lnTo>
                  <a:pt x="396303" y="3157080"/>
                </a:lnTo>
                <a:lnTo>
                  <a:pt x="388531" y="3163036"/>
                </a:lnTo>
                <a:lnTo>
                  <a:pt x="380758" y="3165017"/>
                </a:lnTo>
                <a:lnTo>
                  <a:pt x="372986" y="3168993"/>
                </a:lnTo>
                <a:lnTo>
                  <a:pt x="365226" y="3170974"/>
                </a:lnTo>
                <a:lnTo>
                  <a:pt x="353568" y="3172955"/>
                </a:lnTo>
                <a:lnTo>
                  <a:pt x="338023" y="3172955"/>
                </a:lnTo>
                <a:lnTo>
                  <a:pt x="326364" y="3170974"/>
                </a:lnTo>
                <a:lnTo>
                  <a:pt x="318592" y="3168993"/>
                </a:lnTo>
                <a:lnTo>
                  <a:pt x="310832" y="3165017"/>
                </a:lnTo>
                <a:lnTo>
                  <a:pt x="303060" y="3163036"/>
                </a:lnTo>
                <a:lnTo>
                  <a:pt x="295287" y="3157080"/>
                </a:lnTo>
                <a:lnTo>
                  <a:pt x="289458" y="3151124"/>
                </a:lnTo>
                <a:lnTo>
                  <a:pt x="281686" y="3145180"/>
                </a:lnTo>
                <a:lnTo>
                  <a:pt x="275856" y="3137243"/>
                </a:lnTo>
                <a:lnTo>
                  <a:pt x="270027" y="3131286"/>
                </a:lnTo>
                <a:lnTo>
                  <a:pt x="264198" y="3123349"/>
                </a:lnTo>
                <a:lnTo>
                  <a:pt x="262255" y="3115411"/>
                </a:lnTo>
                <a:lnTo>
                  <a:pt x="258381" y="3107474"/>
                </a:lnTo>
                <a:lnTo>
                  <a:pt x="256438" y="3099536"/>
                </a:lnTo>
                <a:lnTo>
                  <a:pt x="254495" y="3087636"/>
                </a:lnTo>
                <a:lnTo>
                  <a:pt x="254495" y="3071761"/>
                </a:lnTo>
                <a:lnTo>
                  <a:pt x="256438" y="3059849"/>
                </a:lnTo>
                <a:lnTo>
                  <a:pt x="258381" y="3051911"/>
                </a:lnTo>
                <a:lnTo>
                  <a:pt x="262255" y="3043974"/>
                </a:lnTo>
                <a:lnTo>
                  <a:pt x="264198" y="3036036"/>
                </a:lnTo>
                <a:lnTo>
                  <a:pt x="270027" y="3028099"/>
                </a:lnTo>
                <a:lnTo>
                  <a:pt x="275856" y="3022142"/>
                </a:lnTo>
                <a:lnTo>
                  <a:pt x="281686" y="3014205"/>
                </a:lnTo>
                <a:lnTo>
                  <a:pt x="289458" y="3008261"/>
                </a:lnTo>
                <a:lnTo>
                  <a:pt x="295287" y="3002305"/>
                </a:lnTo>
                <a:lnTo>
                  <a:pt x="303060" y="2996349"/>
                </a:lnTo>
                <a:lnTo>
                  <a:pt x="310832" y="2994368"/>
                </a:lnTo>
                <a:lnTo>
                  <a:pt x="318592" y="2990392"/>
                </a:lnTo>
                <a:lnTo>
                  <a:pt x="326364" y="2988411"/>
                </a:lnTo>
                <a:lnTo>
                  <a:pt x="338023" y="2986430"/>
                </a:lnTo>
                <a:lnTo>
                  <a:pt x="345795" y="2986430"/>
                </a:lnTo>
                <a:lnTo>
                  <a:pt x="353568" y="2986430"/>
                </a:lnTo>
                <a:lnTo>
                  <a:pt x="365226" y="2988411"/>
                </a:lnTo>
                <a:lnTo>
                  <a:pt x="372986" y="2990392"/>
                </a:lnTo>
                <a:lnTo>
                  <a:pt x="380758" y="2994368"/>
                </a:lnTo>
                <a:lnTo>
                  <a:pt x="388531" y="2996349"/>
                </a:lnTo>
                <a:lnTo>
                  <a:pt x="396303" y="3002305"/>
                </a:lnTo>
                <a:lnTo>
                  <a:pt x="402132" y="3008261"/>
                </a:lnTo>
                <a:lnTo>
                  <a:pt x="409905" y="3014205"/>
                </a:lnTo>
                <a:lnTo>
                  <a:pt x="415734" y="3022142"/>
                </a:lnTo>
                <a:lnTo>
                  <a:pt x="421551" y="3028099"/>
                </a:lnTo>
                <a:lnTo>
                  <a:pt x="427380" y="3036036"/>
                </a:lnTo>
                <a:lnTo>
                  <a:pt x="429323" y="3043974"/>
                </a:lnTo>
                <a:lnTo>
                  <a:pt x="433209" y="3051911"/>
                </a:lnTo>
                <a:lnTo>
                  <a:pt x="435152" y="3059849"/>
                </a:lnTo>
                <a:lnTo>
                  <a:pt x="437095" y="3071761"/>
                </a:lnTo>
                <a:lnTo>
                  <a:pt x="437095" y="3030080"/>
                </a:lnTo>
                <a:lnTo>
                  <a:pt x="425437" y="3014205"/>
                </a:lnTo>
                <a:lnTo>
                  <a:pt x="409905" y="2998330"/>
                </a:lnTo>
                <a:lnTo>
                  <a:pt x="394360" y="2986430"/>
                </a:lnTo>
                <a:lnTo>
                  <a:pt x="384644" y="2982455"/>
                </a:lnTo>
                <a:lnTo>
                  <a:pt x="376872" y="2978493"/>
                </a:lnTo>
                <a:lnTo>
                  <a:pt x="367157" y="2976511"/>
                </a:lnTo>
                <a:lnTo>
                  <a:pt x="355511" y="2974517"/>
                </a:lnTo>
                <a:lnTo>
                  <a:pt x="345795" y="2974517"/>
                </a:lnTo>
                <a:lnTo>
                  <a:pt x="336080" y="2974517"/>
                </a:lnTo>
                <a:lnTo>
                  <a:pt x="324421" y="2976511"/>
                </a:lnTo>
                <a:lnTo>
                  <a:pt x="314706" y="2978493"/>
                </a:lnTo>
                <a:lnTo>
                  <a:pt x="306946" y="2982455"/>
                </a:lnTo>
                <a:lnTo>
                  <a:pt x="297230" y="2986430"/>
                </a:lnTo>
                <a:lnTo>
                  <a:pt x="281686" y="2998330"/>
                </a:lnTo>
                <a:lnTo>
                  <a:pt x="266141" y="3014205"/>
                </a:lnTo>
                <a:lnTo>
                  <a:pt x="254495" y="3030080"/>
                </a:lnTo>
                <a:lnTo>
                  <a:pt x="250609" y="3040011"/>
                </a:lnTo>
                <a:lnTo>
                  <a:pt x="246722" y="3047949"/>
                </a:lnTo>
                <a:lnTo>
                  <a:pt x="244779" y="3057868"/>
                </a:lnTo>
                <a:lnTo>
                  <a:pt x="242836" y="3069767"/>
                </a:lnTo>
                <a:lnTo>
                  <a:pt x="242836" y="3089618"/>
                </a:lnTo>
                <a:lnTo>
                  <a:pt x="244779" y="3101517"/>
                </a:lnTo>
                <a:lnTo>
                  <a:pt x="246722" y="3111449"/>
                </a:lnTo>
                <a:lnTo>
                  <a:pt x="250609" y="3119386"/>
                </a:lnTo>
                <a:lnTo>
                  <a:pt x="254495" y="3129305"/>
                </a:lnTo>
                <a:lnTo>
                  <a:pt x="266141" y="3145180"/>
                </a:lnTo>
                <a:lnTo>
                  <a:pt x="281686" y="3161055"/>
                </a:lnTo>
                <a:lnTo>
                  <a:pt x="297230" y="3172955"/>
                </a:lnTo>
                <a:lnTo>
                  <a:pt x="306946" y="3176930"/>
                </a:lnTo>
                <a:lnTo>
                  <a:pt x="314706" y="3180892"/>
                </a:lnTo>
                <a:lnTo>
                  <a:pt x="324421" y="3182874"/>
                </a:lnTo>
                <a:lnTo>
                  <a:pt x="336080" y="3184868"/>
                </a:lnTo>
                <a:lnTo>
                  <a:pt x="339966" y="3184868"/>
                </a:lnTo>
                <a:lnTo>
                  <a:pt x="339966" y="3272180"/>
                </a:lnTo>
                <a:lnTo>
                  <a:pt x="50507" y="3272180"/>
                </a:lnTo>
                <a:lnTo>
                  <a:pt x="44678" y="3272180"/>
                </a:lnTo>
                <a:lnTo>
                  <a:pt x="44678" y="3278124"/>
                </a:lnTo>
                <a:lnTo>
                  <a:pt x="44678" y="3389249"/>
                </a:lnTo>
                <a:lnTo>
                  <a:pt x="56337" y="3389249"/>
                </a:lnTo>
                <a:lnTo>
                  <a:pt x="56337" y="3284080"/>
                </a:lnTo>
                <a:lnTo>
                  <a:pt x="345795" y="3284080"/>
                </a:lnTo>
                <a:lnTo>
                  <a:pt x="351624" y="3284080"/>
                </a:lnTo>
                <a:lnTo>
                  <a:pt x="351624" y="3278124"/>
                </a:lnTo>
                <a:lnTo>
                  <a:pt x="351624" y="3184868"/>
                </a:lnTo>
                <a:lnTo>
                  <a:pt x="355511" y="3184868"/>
                </a:lnTo>
                <a:lnTo>
                  <a:pt x="367157" y="3182874"/>
                </a:lnTo>
                <a:lnTo>
                  <a:pt x="376872" y="3180892"/>
                </a:lnTo>
                <a:lnTo>
                  <a:pt x="384644" y="3176930"/>
                </a:lnTo>
                <a:lnTo>
                  <a:pt x="394360" y="3172955"/>
                </a:lnTo>
                <a:lnTo>
                  <a:pt x="409905" y="3161055"/>
                </a:lnTo>
                <a:lnTo>
                  <a:pt x="425437" y="3145180"/>
                </a:lnTo>
                <a:lnTo>
                  <a:pt x="437095" y="3129305"/>
                </a:lnTo>
                <a:lnTo>
                  <a:pt x="440982" y="3119386"/>
                </a:lnTo>
                <a:lnTo>
                  <a:pt x="444868" y="3111449"/>
                </a:lnTo>
                <a:lnTo>
                  <a:pt x="446811" y="3101517"/>
                </a:lnTo>
                <a:lnTo>
                  <a:pt x="448754" y="3089618"/>
                </a:lnTo>
                <a:lnTo>
                  <a:pt x="448754" y="3069767"/>
                </a:lnTo>
                <a:close/>
              </a:path>
              <a:path w="1929129" h="3389629">
                <a:moveTo>
                  <a:pt x="1929053" y="63500"/>
                </a:moveTo>
                <a:lnTo>
                  <a:pt x="1808607" y="0"/>
                </a:lnTo>
                <a:lnTo>
                  <a:pt x="1802777" y="9918"/>
                </a:lnTo>
                <a:lnTo>
                  <a:pt x="1923224" y="73418"/>
                </a:lnTo>
                <a:lnTo>
                  <a:pt x="192905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 txBox="1"/>
          <p:nvPr/>
        </p:nvSpPr>
        <p:spPr>
          <a:xfrm>
            <a:off x="4617912" y="3073756"/>
            <a:ext cx="288551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9" dirty="0">
                <a:latin typeface="Arial MT"/>
                <a:cs typeface="Arial MT"/>
              </a:rPr>
              <a:t>Index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38448" y="2755094"/>
            <a:ext cx="145676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22" dirty="0">
                <a:latin typeface="Arial MT"/>
                <a:cs typeface="Arial MT"/>
              </a:rPr>
              <a:t>18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371322" y="2857347"/>
            <a:ext cx="111498" cy="64994"/>
          </a:xfrm>
          <a:custGeom>
            <a:avLst/>
            <a:gdLst/>
            <a:ahLst/>
            <a:cxnLst/>
            <a:rect l="l" t="t" r="r" b="b"/>
            <a:pathLst>
              <a:path w="126364" h="73660">
                <a:moveTo>
                  <a:pt x="5828" y="0"/>
                </a:moveTo>
                <a:lnTo>
                  <a:pt x="0" y="9921"/>
                </a:lnTo>
                <a:lnTo>
                  <a:pt x="120444" y="73419"/>
                </a:lnTo>
                <a:lnTo>
                  <a:pt x="126272" y="63498"/>
                </a:lnTo>
                <a:lnTo>
                  <a:pt x="58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 txBox="1"/>
          <p:nvPr/>
        </p:nvSpPr>
        <p:spPr>
          <a:xfrm>
            <a:off x="5456106" y="2755094"/>
            <a:ext cx="83484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44" dirty="0">
                <a:latin typeface="Arial MT"/>
                <a:cs typeface="Arial MT"/>
              </a:rPr>
              <a:t>8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98893" y="2762098"/>
            <a:ext cx="289672" cy="279111"/>
          </a:xfrm>
          <a:prstGeom prst="rect">
            <a:avLst/>
          </a:prstGeom>
        </p:spPr>
        <p:txBody>
          <a:bodyPr vert="horz" wrap="square" lIns="0" tIns="22412" rIns="0" bIns="0" rtlCol="0">
            <a:spAutoFit/>
          </a:bodyPr>
          <a:lstStyle/>
          <a:p>
            <a:pPr marL="11206" marR="4483" indent="23534">
              <a:lnSpc>
                <a:spcPts val="988"/>
              </a:lnSpc>
              <a:spcBef>
                <a:spcPts val="176"/>
              </a:spcBef>
            </a:pPr>
            <a:r>
              <a:rPr sz="882" spc="-18" dirty="0">
                <a:latin typeface="Arial MT"/>
                <a:cs typeface="Arial MT"/>
              </a:rPr>
              <a:t>Byte offset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875949" y="2400367"/>
            <a:ext cx="82363" cy="14007"/>
          </a:xfrm>
          <a:custGeom>
            <a:avLst/>
            <a:gdLst/>
            <a:ahLst/>
            <a:cxnLst/>
            <a:rect l="l" t="t" r="r" b="b"/>
            <a:pathLst>
              <a:path w="93345" h="15875">
                <a:moveTo>
                  <a:pt x="31076" y="3556"/>
                </a:moveTo>
                <a:lnTo>
                  <a:pt x="27597" y="0"/>
                </a:lnTo>
                <a:lnTo>
                  <a:pt x="23304" y="0"/>
                </a:lnTo>
                <a:lnTo>
                  <a:pt x="19011" y="0"/>
                </a:lnTo>
                <a:lnTo>
                  <a:pt x="12052" y="0"/>
                </a:lnTo>
                <a:lnTo>
                  <a:pt x="7759" y="0"/>
                </a:lnTo>
                <a:lnTo>
                  <a:pt x="3479" y="0"/>
                </a:lnTo>
                <a:lnTo>
                  <a:pt x="0" y="3556"/>
                </a:lnTo>
                <a:lnTo>
                  <a:pt x="0" y="12331"/>
                </a:lnTo>
                <a:lnTo>
                  <a:pt x="3479" y="15875"/>
                </a:lnTo>
                <a:lnTo>
                  <a:pt x="7759" y="15875"/>
                </a:lnTo>
                <a:lnTo>
                  <a:pt x="12052" y="15875"/>
                </a:lnTo>
                <a:lnTo>
                  <a:pt x="19011" y="15875"/>
                </a:lnTo>
                <a:lnTo>
                  <a:pt x="23304" y="15875"/>
                </a:lnTo>
                <a:lnTo>
                  <a:pt x="27597" y="15875"/>
                </a:lnTo>
                <a:lnTo>
                  <a:pt x="31076" y="12331"/>
                </a:lnTo>
                <a:lnTo>
                  <a:pt x="31076" y="7937"/>
                </a:lnTo>
                <a:lnTo>
                  <a:pt x="31076" y="3556"/>
                </a:lnTo>
                <a:close/>
              </a:path>
              <a:path w="93345" h="15875">
                <a:moveTo>
                  <a:pt x="93243" y="3556"/>
                </a:moveTo>
                <a:lnTo>
                  <a:pt x="89763" y="0"/>
                </a:lnTo>
                <a:lnTo>
                  <a:pt x="85471" y="0"/>
                </a:lnTo>
                <a:lnTo>
                  <a:pt x="81178" y="0"/>
                </a:lnTo>
                <a:lnTo>
                  <a:pt x="74218" y="0"/>
                </a:lnTo>
                <a:lnTo>
                  <a:pt x="69926" y="0"/>
                </a:lnTo>
                <a:lnTo>
                  <a:pt x="65633" y="0"/>
                </a:lnTo>
                <a:lnTo>
                  <a:pt x="62153" y="3556"/>
                </a:lnTo>
                <a:lnTo>
                  <a:pt x="62153" y="12331"/>
                </a:lnTo>
                <a:lnTo>
                  <a:pt x="65633" y="15875"/>
                </a:lnTo>
                <a:lnTo>
                  <a:pt x="69926" y="15875"/>
                </a:lnTo>
                <a:lnTo>
                  <a:pt x="74218" y="15875"/>
                </a:lnTo>
                <a:lnTo>
                  <a:pt x="81178" y="15875"/>
                </a:lnTo>
                <a:lnTo>
                  <a:pt x="85471" y="15875"/>
                </a:lnTo>
                <a:lnTo>
                  <a:pt x="89763" y="15875"/>
                </a:lnTo>
                <a:lnTo>
                  <a:pt x="93243" y="12331"/>
                </a:lnTo>
                <a:lnTo>
                  <a:pt x="93243" y="7937"/>
                </a:lnTo>
                <a:lnTo>
                  <a:pt x="93243" y="35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7" name="object 37"/>
          <p:cNvSpPr/>
          <p:nvPr/>
        </p:nvSpPr>
        <p:spPr>
          <a:xfrm>
            <a:off x="5804984" y="2400367"/>
            <a:ext cx="82363" cy="14007"/>
          </a:xfrm>
          <a:custGeom>
            <a:avLst/>
            <a:gdLst/>
            <a:ahLst/>
            <a:cxnLst/>
            <a:rect l="l" t="t" r="r" b="b"/>
            <a:pathLst>
              <a:path w="93345" h="15875">
                <a:moveTo>
                  <a:pt x="31076" y="3556"/>
                </a:moveTo>
                <a:lnTo>
                  <a:pt x="27597" y="0"/>
                </a:lnTo>
                <a:lnTo>
                  <a:pt x="23317" y="0"/>
                </a:lnTo>
                <a:lnTo>
                  <a:pt x="19024" y="0"/>
                </a:lnTo>
                <a:lnTo>
                  <a:pt x="12065" y="0"/>
                </a:lnTo>
                <a:lnTo>
                  <a:pt x="7772" y="0"/>
                </a:lnTo>
                <a:lnTo>
                  <a:pt x="3479" y="0"/>
                </a:lnTo>
                <a:lnTo>
                  <a:pt x="0" y="3556"/>
                </a:lnTo>
                <a:lnTo>
                  <a:pt x="0" y="12331"/>
                </a:lnTo>
                <a:lnTo>
                  <a:pt x="3479" y="15875"/>
                </a:lnTo>
                <a:lnTo>
                  <a:pt x="7772" y="15875"/>
                </a:lnTo>
                <a:lnTo>
                  <a:pt x="12065" y="15875"/>
                </a:lnTo>
                <a:lnTo>
                  <a:pt x="19024" y="15875"/>
                </a:lnTo>
                <a:lnTo>
                  <a:pt x="23317" y="15875"/>
                </a:lnTo>
                <a:lnTo>
                  <a:pt x="27597" y="15875"/>
                </a:lnTo>
                <a:lnTo>
                  <a:pt x="31076" y="12331"/>
                </a:lnTo>
                <a:lnTo>
                  <a:pt x="31076" y="7937"/>
                </a:lnTo>
                <a:lnTo>
                  <a:pt x="31076" y="3556"/>
                </a:lnTo>
                <a:close/>
              </a:path>
              <a:path w="93345" h="15875">
                <a:moveTo>
                  <a:pt x="93243" y="3556"/>
                </a:moveTo>
                <a:lnTo>
                  <a:pt x="89763" y="0"/>
                </a:lnTo>
                <a:lnTo>
                  <a:pt x="85471" y="0"/>
                </a:lnTo>
                <a:lnTo>
                  <a:pt x="81191" y="0"/>
                </a:lnTo>
                <a:lnTo>
                  <a:pt x="74231" y="0"/>
                </a:lnTo>
                <a:lnTo>
                  <a:pt x="69938" y="0"/>
                </a:lnTo>
                <a:lnTo>
                  <a:pt x="65646" y="0"/>
                </a:lnTo>
                <a:lnTo>
                  <a:pt x="62166" y="3556"/>
                </a:lnTo>
                <a:lnTo>
                  <a:pt x="62166" y="12331"/>
                </a:lnTo>
                <a:lnTo>
                  <a:pt x="65646" y="15875"/>
                </a:lnTo>
                <a:lnTo>
                  <a:pt x="69938" y="15875"/>
                </a:lnTo>
                <a:lnTo>
                  <a:pt x="74231" y="15875"/>
                </a:lnTo>
                <a:lnTo>
                  <a:pt x="81191" y="15875"/>
                </a:lnTo>
                <a:lnTo>
                  <a:pt x="85471" y="15875"/>
                </a:lnTo>
                <a:lnTo>
                  <a:pt x="89763" y="15875"/>
                </a:lnTo>
                <a:lnTo>
                  <a:pt x="93243" y="12331"/>
                </a:lnTo>
                <a:lnTo>
                  <a:pt x="93243" y="7937"/>
                </a:lnTo>
                <a:lnTo>
                  <a:pt x="93243" y="35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38" name="object 38"/>
          <p:cNvGrpSpPr/>
          <p:nvPr/>
        </p:nvGrpSpPr>
        <p:grpSpPr>
          <a:xfrm>
            <a:off x="2692187" y="2486158"/>
            <a:ext cx="5797363" cy="3641912"/>
            <a:chOff x="2898745" y="2817646"/>
            <a:chExt cx="6570345" cy="4127500"/>
          </a:xfrm>
        </p:grpSpPr>
        <p:sp>
          <p:nvSpPr>
            <p:cNvPr id="39" name="object 39"/>
            <p:cNvSpPr/>
            <p:nvPr/>
          </p:nvSpPr>
          <p:spPr>
            <a:xfrm>
              <a:off x="5832132" y="2817647"/>
              <a:ext cx="800735" cy="297815"/>
            </a:xfrm>
            <a:custGeom>
              <a:avLst/>
              <a:gdLst/>
              <a:ahLst/>
              <a:cxnLst/>
              <a:rect l="l" t="t" r="r" b="b"/>
              <a:pathLst>
                <a:path w="800734" h="297814">
                  <a:moveTo>
                    <a:pt x="7772" y="0"/>
                  </a:moveTo>
                  <a:lnTo>
                    <a:pt x="0" y="0"/>
                  </a:lnTo>
                  <a:lnTo>
                    <a:pt x="0" y="297649"/>
                  </a:lnTo>
                  <a:lnTo>
                    <a:pt x="7772" y="297649"/>
                  </a:lnTo>
                  <a:lnTo>
                    <a:pt x="7772" y="0"/>
                  </a:lnTo>
                  <a:close/>
                </a:path>
                <a:path w="800734" h="297814">
                  <a:moveTo>
                    <a:pt x="800366" y="5956"/>
                  </a:moveTo>
                  <a:lnTo>
                    <a:pt x="792594" y="5956"/>
                  </a:lnTo>
                  <a:lnTo>
                    <a:pt x="792594" y="297649"/>
                  </a:lnTo>
                  <a:lnTo>
                    <a:pt x="800366" y="297649"/>
                  </a:lnTo>
                  <a:lnTo>
                    <a:pt x="800366" y="5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8735" y="6617658"/>
              <a:ext cx="209806" cy="32344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898736" y="2823603"/>
              <a:ext cx="6570345" cy="4121785"/>
            </a:xfrm>
            <a:custGeom>
              <a:avLst/>
              <a:gdLst/>
              <a:ahLst/>
              <a:cxnLst/>
              <a:rect l="l" t="t" r="r" b="b"/>
              <a:pathLst>
                <a:path w="6570345" h="4121784">
                  <a:moveTo>
                    <a:pt x="718781" y="4117505"/>
                  </a:moveTo>
                  <a:lnTo>
                    <a:pt x="714895" y="4117505"/>
                  </a:lnTo>
                  <a:lnTo>
                    <a:pt x="714895" y="4113542"/>
                  </a:lnTo>
                  <a:lnTo>
                    <a:pt x="27203" y="4113542"/>
                  </a:lnTo>
                  <a:lnTo>
                    <a:pt x="27203" y="656818"/>
                  </a:lnTo>
                  <a:lnTo>
                    <a:pt x="48564" y="656818"/>
                  </a:lnTo>
                  <a:lnTo>
                    <a:pt x="42735" y="640943"/>
                  </a:lnTo>
                  <a:lnTo>
                    <a:pt x="33032" y="617131"/>
                  </a:lnTo>
                  <a:lnTo>
                    <a:pt x="27203" y="593318"/>
                  </a:lnTo>
                  <a:lnTo>
                    <a:pt x="23317" y="573481"/>
                  </a:lnTo>
                  <a:lnTo>
                    <a:pt x="21374" y="593318"/>
                  </a:lnTo>
                  <a:lnTo>
                    <a:pt x="13601" y="617131"/>
                  </a:lnTo>
                  <a:lnTo>
                    <a:pt x="7772" y="638962"/>
                  </a:lnTo>
                  <a:lnTo>
                    <a:pt x="0" y="656818"/>
                  </a:lnTo>
                  <a:lnTo>
                    <a:pt x="19431" y="656818"/>
                  </a:lnTo>
                  <a:lnTo>
                    <a:pt x="19431" y="4117505"/>
                  </a:lnTo>
                  <a:lnTo>
                    <a:pt x="19431" y="4121480"/>
                  </a:lnTo>
                  <a:lnTo>
                    <a:pt x="23317" y="4121480"/>
                  </a:lnTo>
                  <a:lnTo>
                    <a:pt x="714895" y="4121480"/>
                  </a:lnTo>
                  <a:lnTo>
                    <a:pt x="718781" y="4121480"/>
                  </a:lnTo>
                  <a:lnTo>
                    <a:pt x="718781" y="4117505"/>
                  </a:lnTo>
                  <a:close/>
                </a:path>
                <a:path w="6570345" h="4121784">
                  <a:moveTo>
                    <a:pt x="3413226" y="0"/>
                  </a:moveTo>
                  <a:lnTo>
                    <a:pt x="3405454" y="0"/>
                  </a:lnTo>
                  <a:lnTo>
                    <a:pt x="3405454" y="291693"/>
                  </a:lnTo>
                  <a:lnTo>
                    <a:pt x="3413226" y="291693"/>
                  </a:lnTo>
                  <a:lnTo>
                    <a:pt x="3413226" y="0"/>
                  </a:lnTo>
                  <a:close/>
                </a:path>
                <a:path w="6570345" h="4121784">
                  <a:moveTo>
                    <a:pt x="6570027" y="833424"/>
                  </a:moveTo>
                  <a:lnTo>
                    <a:pt x="6562255" y="833424"/>
                  </a:lnTo>
                  <a:lnTo>
                    <a:pt x="3590010" y="833424"/>
                  </a:lnTo>
                  <a:lnTo>
                    <a:pt x="3590010" y="293687"/>
                  </a:lnTo>
                  <a:lnTo>
                    <a:pt x="3574465" y="293687"/>
                  </a:lnTo>
                  <a:lnTo>
                    <a:pt x="3574465" y="841362"/>
                  </a:lnTo>
                  <a:lnTo>
                    <a:pt x="3574465" y="849299"/>
                  </a:lnTo>
                  <a:lnTo>
                    <a:pt x="3582238" y="849299"/>
                  </a:lnTo>
                  <a:lnTo>
                    <a:pt x="6554483" y="849299"/>
                  </a:lnTo>
                  <a:lnTo>
                    <a:pt x="6554483" y="3667061"/>
                  </a:lnTo>
                  <a:lnTo>
                    <a:pt x="3807587" y="3667061"/>
                  </a:lnTo>
                  <a:lnTo>
                    <a:pt x="3807587" y="3682936"/>
                  </a:lnTo>
                  <a:lnTo>
                    <a:pt x="6562255" y="3682936"/>
                  </a:lnTo>
                  <a:lnTo>
                    <a:pt x="6570027" y="3682936"/>
                  </a:lnTo>
                  <a:lnTo>
                    <a:pt x="6570027" y="3674999"/>
                  </a:lnTo>
                  <a:lnTo>
                    <a:pt x="6570027" y="841362"/>
                  </a:lnTo>
                  <a:lnTo>
                    <a:pt x="6570027" y="8334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5328993" y="4815876"/>
              <a:ext cx="1156335" cy="161290"/>
            </a:xfrm>
            <a:custGeom>
              <a:avLst/>
              <a:gdLst/>
              <a:ahLst/>
              <a:cxnLst/>
              <a:rect l="l" t="t" r="r" b="b"/>
              <a:pathLst>
                <a:path w="1156335" h="161289">
                  <a:moveTo>
                    <a:pt x="1155872" y="0"/>
                  </a:moveTo>
                  <a:lnTo>
                    <a:pt x="0" y="0"/>
                  </a:lnTo>
                  <a:lnTo>
                    <a:pt x="0" y="160732"/>
                  </a:lnTo>
                  <a:lnTo>
                    <a:pt x="1155872" y="160732"/>
                  </a:lnTo>
                  <a:lnTo>
                    <a:pt x="1155872" y="0"/>
                  </a:lnTo>
                  <a:close/>
                </a:path>
              </a:pathLst>
            </a:custGeom>
            <a:solidFill>
              <a:srgbClr val="9C9A9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5325097" y="4167009"/>
              <a:ext cx="1163955" cy="809625"/>
            </a:xfrm>
            <a:custGeom>
              <a:avLst/>
              <a:gdLst/>
              <a:ahLst/>
              <a:cxnLst/>
              <a:rect l="l" t="t" r="r" b="b"/>
              <a:pathLst>
                <a:path w="1163954" h="809625">
                  <a:moveTo>
                    <a:pt x="1163650" y="644906"/>
                  </a:moveTo>
                  <a:lnTo>
                    <a:pt x="1159764" y="644906"/>
                  </a:lnTo>
                  <a:lnTo>
                    <a:pt x="3886" y="644906"/>
                  </a:lnTo>
                  <a:lnTo>
                    <a:pt x="0" y="644906"/>
                  </a:lnTo>
                  <a:lnTo>
                    <a:pt x="0" y="648868"/>
                  </a:lnTo>
                  <a:lnTo>
                    <a:pt x="0" y="809599"/>
                  </a:lnTo>
                  <a:lnTo>
                    <a:pt x="7772" y="809599"/>
                  </a:lnTo>
                  <a:lnTo>
                    <a:pt x="7772" y="652843"/>
                  </a:lnTo>
                  <a:lnTo>
                    <a:pt x="1155877" y="652843"/>
                  </a:lnTo>
                  <a:lnTo>
                    <a:pt x="1155877" y="809599"/>
                  </a:lnTo>
                  <a:lnTo>
                    <a:pt x="1161707" y="809599"/>
                  </a:lnTo>
                  <a:lnTo>
                    <a:pt x="1161707" y="648868"/>
                  </a:lnTo>
                  <a:lnTo>
                    <a:pt x="1163650" y="648868"/>
                  </a:lnTo>
                  <a:lnTo>
                    <a:pt x="1163650" y="644906"/>
                  </a:lnTo>
                  <a:close/>
                </a:path>
                <a:path w="1163954" h="809625">
                  <a:moveTo>
                    <a:pt x="1163650" y="0"/>
                  </a:moveTo>
                  <a:lnTo>
                    <a:pt x="1159764" y="0"/>
                  </a:lnTo>
                  <a:lnTo>
                    <a:pt x="3886" y="0"/>
                  </a:lnTo>
                  <a:lnTo>
                    <a:pt x="0" y="0"/>
                  </a:lnTo>
                  <a:lnTo>
                    <a:pt x="0" y="3962"/>
                  </a:lnTo>
                  <a:lnTo>
                    <a:pt x="0" y="164693"/>
                  </a:lnTo>
                  <a:lnTo>
                    <a:pt x="7772" y="164693"/>
                  </a:lnTo>
                  <a:lnTo>
                    <a:pt x="7772" y="7937"/>
                  </a:lnTo>
                  <a:lnTo>
                    <a:pt x="1155877" y="7937"/>
                  </a:lnTo>
                  <a:lnTo>
                    <a:pt x="1155877" y="164693"/>
                  </a:lnTo>
                  <a:lnTo>
                    <a:pt x="1163650" y="164693"/>
                  </a:lnTo>
                  <a:lnTo>
                    <a:pt x="1163650" y="3962"/>
                  </a:lnTo>
                  <a:lnTo>
                    <a:pt x="11636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5328993" y="4976608"/>
              <a:ext cx="1156335" cy="161290"/>
            </a:xfrm>
            <a:custGeom>
              <a:avLst/>
              <a:gdLst/>
              <a:ahLst/>
              <a:cxnLst/>
              <a:rect l="l" t="t" r="r" b="b"/>
              <a:pathLst>
                <a:path w="1156335" h="161289">
                  <a:moveTo>
                    <a:pt x="0" y="0"/>
                  </a:moveTo>
                  <a:lnTo>
                    <a:pt x="1155873" y="0"/>
                  </a:lnTo>
                  <a:lnTo>
                    <a:pt x="1155873" y="160731"/>
                  </a:lnTo>
                  <a:lnTo>
                    <a:pt x="0" y="160731"/>
                  </a:lnTo>
                  <a:lnTo>
                    <a:pt x="0" y="0"/>
                  </a:lnTo>
                  <a:close/>
                </a:path>
              </a:pathLst>
            </a:custGeom>
            <a:ln w="7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5325097" y="4327740"/>
              <a:ext cx="1163955" cy="1463040"/>
            </a:xfrm>
            <a:custGeom>
              <a:avLst/>
              <a:gdLst/>
              <a:ahLst/>
              <a:cxnLst/>
              <a:rect l="l" t="t" r="r" b="b"/>
              <a:pathLst>
                <a:path w="1163954" h="1463039">
                  <a:moveTo>
                    <a:pt x="1163650" y="813574"/>
                  </a:moveTo>
                  <a:lnTo>
                    <a:pt x="1155877" y="813574"/>
                  </a:lnTo>
                  <a:lnTo>
                    <a:pt x="1155877" y="970330"/>
                  </a:lnTo>
                  <a:lnTo>
                    <a:pt x="1155877" y="978268"/>
                  </a:lnTo>
                  <a:lnTo>
                    <a:pt x="1155877" y="1454518"/>
                  </a:lnTo>
                  <a:lnTo>
                    <a:pt x="7772" y="1454518"/>
                  </a:lnTo>
                  <a:lnTo>
                    <a:pt x="7772" y="1299743"/>
                  </a:lnTo>
                  <a:lnTo>
                    <a:pt x="1155877" y="1299743"/>
                  </a:lnTo>
                  <a:lnTo>
                    <a:pt x="1155877" y="1291805"/>
                  </a:lnTo>
                  <a:lnTo>
                    <a:pt x="7772" y="1291805"/>
                  </a:lnTo>
                  <a:lnTo>
                    <a:pt x="7772" y="1137018"/>
                  </a:lnTo>
                  <a:lnTo>
                    <a:pt x="1155877" y="1137018"/>
                  </a:lnTo>
                  <a:lnTo>
                    <a:pt x="1155877" y="1129080"/>
                  </a:lnTo>
                  <a:lnTo>
                    <a:pt x="7772" y="1129080"/>
                  </a:lnTo>
                  <a:lnTo>
                    <a:pt x="7772" y="978268"/>
                  </a:lnTo>
                  <a:lnTo>
                    <a:pt x="1155877" y="978268"/>
                  </a:lnTo>
                  <a:lnTo>
                    <a:pt x="1155877" y="970330"/>
                  </a:lnTo>
                  <a:lnTo>
                    <a:pt x="7772" y="970330"/>
                  </a:lnTo>
                  <a:lnTo>
                    <a:pt x="7772" y="813574"/>
                  </a:lnTo>
                  <a:lnTo>
                    <a:pt x="0" y="813574"/>
                  </a:lnTo>
                  <a:lnTo>
                    <a:pt x="0" y="1456499"/>
                  </a:lnTo>
                  <a:lnTo>
                    <a:pt x="3886" y="1456499"/>
                  </a:lnTo>
                  <a:lnTo>
                    <a:pt x="3886" y="1462455"/>
                  </a:lnTo>
                  <a:lnTo>
                    <a:pt x="1159764" y="1462455"/>
                  </a:lnTo>
                  <a:lnTo>
                    <a:pt x="1159764" y="1456499"/>
                  </a:lnTo>
                  <a:lnTo>
                    <a:pt x="1163650" y="1456499"/>
                  </a:lnTo>
                  <a:lnTo>
                    <a:pt x="1163650" y="970330"/>
                  </a:lnTo>
                  <a:lnTo>
                    <a:pt x="1163650" y="813574"/>
                  </a:lnTo>
                  <a:close/>
                </a:path>
                <a:path w="1163954" h="1463039">
                  <a:moveTo>
                    <a:pt x="1163650" y="0"/>
                  </a:moveTo>
                  <a:lnTo>
                    <a:pt x="1159764" y="0"/>
                  </a:lnTo>
                  <a:lnTo>
                    <a:pt x="1155877" y="0"/>
                  </a:lnTo>
                  <a:lnTo>
                    <a:pt x="1155877" y="7937"/>
                  </a:lnTo>
                  <a:lnTo>
                    <a:pt x="1155877" y="162712"/>
                  </a:lnTo>
                  <a:lnTo>
                    <a:pt x="1155877" y="170649"/>
                  </a:lnTo>
                  <a:lnTo>
                    <a:pt x="1155877" y="323443"/>
                  </a:lnTo>
                  <a:lnTo>
                    <a:pt x="7772" y="323443"/>
                  </a:lnTo>
                  <a:lnTo>
                    <a:pt x="7772" y="170649"/>
                  </a:lnTo>
                  <a:lnTo>
                    <a:pt x="1155877" y="170649"/>
                  </a:lnTo>
                  <a:lnTo>
                    <a:pt x="1155877" y="162712"/>
                  </a:lnTo>
                  <a:lnTo>
                    <a:pt x="7772" y="162712"/>
                  </a:lnTo>
                  <a:lnTo>
                    <a:pt x="7772" y="7937"/>
                  </a:lnTo>
                  <a:lnTo>
                    <a:pt x="1155877" y="7937"/>
                  </a:lnTo>
                  <a:lnTo>
                    <a:pt x="1155877" y="0"/>
                  </a:lnTo>
                  <a:lnTo>
                    <a:pt x="3886" y="0"/>
                  </a:lnTo>
                  <a:lnTo>
                    <a:pt x="0" y="0"/>
                  </a:lnTo>
                  <a:lnTo>
                    <a:pt x="0" y="3962"/>
                  </a:lnTo>
                  <a:lnTo>
                    <a:pt x="0" y="490131"/>
                  </a:lnTo>
                  <a:lnTo>
                    <a:pt x="7772" y="490131"/>
                  </a:lnTo>
                  <a:lnTo>
                    <a:pt x="7772" y="331381"/>
                  </a:lnTo>
                  <a:lnTo>
                    <a:pt x="1155877" y="331381"/>
                  </a:lnTo>
                  <a:lnTo>
                    <a:pt x="1155877" y="490131"/>
                  </a:lnTo>
                  <a:lnTo>
                    <a:pt x="1163650" y="490131"/>
                  </a:lnTo>
                  <a:lnTo>
                    <a:pt x="1163650" y="3962"/>
                  </a:lnTo>
                  <a:lnTo>
                    <a:pt x="11636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261924" y="4815876"/>
              <a:ext cx="381000" cy="161290"/>
            </a:xfrm>
            <a:custGeom>
              <a:avLst/>
              <a:gdLst/>
              <a:ahLst/>
              <a:cxnLst/>
              <a:rect l="l" t="t" r="r" b="b"/>
              <a:pathLst>
                <a:path w="381000" h="161289">
                  <a:moveTo>
                    <a:pt x="380757" y="0"/>
                  </a:moveTo>
                  <a:lnTo>
                    <a:pt x="0" y="0"/>
                  </a:lnTo>
                  <a:lnTo>
                    <a:pt x="0" y="160732"/>
                  </a:lnTo>
                  <a:lnTo>
                    <a:pt x="380757" y="160732"/>
                  </a:lnTo>
                  <a:lnTo>
                    <a:pt x="380757" y="0"/>
                  </a:lnTo>
                  <a:close/>
                </a:path>
              </a:pathLst>
            </a:custGeom>
            <a:solidFill>
              <a:srgbClr val="9C9A9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261923" y="4811915"/>
              <a:ext cx="384810" cy="168910"/>
            </a:xfrm>
            <a:custGeom>
              <a:avLst/>
              <a:gdLst/>
              <a:ahLst/>
              <a:cxnLst/>
              <a:rect l="l" t="t" r="r" b="b"/>
              <a:pathLst>
                <a:path w="384809" h="168910">
                  <a:moveTo>
                    <a:pt x="384644" y="0"/>
                  </a:moveTo>
                  <a:lnTo>
                    <a:pt x="380758" y="0"/>
                  </a:lnTo>
                  <a:lnTo>
                    <a:pt x="0" y="0"/>
                  </a:lnTo>
                  <a:lnTo>
                    <a:pt x="0" y="7937"/>
                  </a:lnTo>
                  <a:lnTo>
                    <a:pt x="376872" y="7937"/>
                  </a:lnTo>
                  <a:lnTo>
                    <a:pt x="376872" y="160731"/>
                  </a:lnTo>
                  <a:lnTo>
                    <a:pt x="0" y="160731"/>
                  </a:lnTo>
                  <a:lnTo>
                    <a:pt x="0" y="168668"/>
                  </a:lnTo>
                  <a:lnTo>
                    <a:pt x="380758" y="168668"/>
                  </a:lnTo>
                  <a:lnTo>
                    <a:pt x="384644" y="168668"/>
                  </a:lnTo>
                  <a:lnTo>
                    <a:pt x="384644" y="164693"/>
                  </a:lnTo>
                  <a:lnTo>
                    <a:pt x="382701" y="164693"/>
                  </a:lnTo>
                  <a:lnTo>
                    <a:pt x="382701" y="3962"/>
                  </a:lnTo>
                  <a:lnTo>
                    <a:pt x="384644" y="3962"/>
                  </a:lnTo>
                  <a:lnTo>
                    <a:pt x="3846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6486809" y="4815876"/>
              <a:ext cx="381000" cy="161290"/>
            </a:xfrm>
            <a:custGeom>
              <a:avLst/>
              <a:gdLst/>
              <a:ahLst/>
              <a:cxnLst/>
              <a:rect l="l" t="t" r="r" b="b"/>
              <a:pathLst>
                <a:path w="381000" h="161289">
                  <a:moveTo>
                    <a:pt x="378815" y="0"/>
                  </a:moveTo>
                  <a:lnTo>
                    <a:pt x="0" y="0"/>
                  </a:lnTo>
                  <a:lnTo>
                    <a:pt x="0" y="160732"/>
                  </a:lnTo>
                  <a:lnTo>
                    <a:pt x="380758" y="160732"/>
                  </a:lnTo>
                  <a:lnTo>
                    <a:pt x="378815" y="0"/>
                  </a:lnTo>
                  <a:close/>
                </a:path>
              </a:pathLst>
            </a:custGeom>
            <a:solidFill>
              <a:srgbClr val="9C9A9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6482918" y="4167009"/>
              <a:ext cx="1163955" cy="1623695"/>
            </a:xfrm>
            <a:custGeom>
              <a:avLst/>
              <a:gdLst/>
              <a:ahLst/>
              <a:cxnLst/>
              <a:rect l="l" t="t" r="r" b="b"/>
              <a:pathLst>
                <a:path w="1163954" h="1623695">
                  <a:moveTo>
                    <a:pt x="384644" y="805637"/>
                  </a:moveTo>
                  <a:lnTo>
                    <a:pt x="7772" y="805637"/>
                  </a:lnTo>
                  <a:lnTo>
                    <a:pt x="7772" y="652843"/>
                  </a:lnTo>
                  <a:lnTo>
                    <a:pt x="382701" y="652843"/>
                  </a:lnTo>
                  <a:lnTo>
                    <a:pt x="382701" y="644906"/>
                  </a:lnTo>
                  <a:lnTo>
                    <a:pt x="7772" y="644906"/>
                  </a:lnTo>
                  <a:lnTo>
                    <a:pt x="7772" y="492112"/>
                  </a:lnTo>
                  <a:lnTo>
                    <a:pt x="382701" y="492112"/>
                  </a:lnTo>
                  <a:lnTo>
                    <a:pt x="382701" y="484174"/>
                  </a:lnTo>
                  <a:lnTo>
                    <a:pt x="7772" y="484174"/>
                  </a:lnTo>
                  <a:lnTo>
                    <a:pt x="7772" y="331381"/>
                  </a:lnTo>
                  <a:lnTo>
                    <a:pt x="382701" y="331381"/>
                  </a:lnTo>
                  <a:lnTo>
                    <a:pt x="382701" y="323443"/>
                  </a:lnTo>
                  <a:lnTo>
                    <a:pt x="7772" y="323443"/>
                  </a:lnTo>
                  <a:lnTo>
                    <a:pt x="7772" y="168668"/>
                  </a:lnTo>
                  <a:lnTo>
                    <a:pt x="382701" y="168668"/>
                  </a:lnTo>
                  <a:lnTo>
                    <a:pt x="382701" y="160731"/>
                  </a:lnTo>
                  <a:lnTo>
                    <a:pt x="7772" y="160731"/>
                  </a:lnTo>
                  <a:lnTo>
                    <a:pt x="7772" y="7937"/>
                  </a:lnTo>
                  <a:lnTo>
                    <a:pt x="382701" y="7937"/>
                  </a:lnTo>
                  <a:lnTo>
                    <a:pt x="382701" y="0"/>
                  </a:lnTo>
                  <a:lnTo>
                    <a:pt x="3886" y="0"/>
                  </a:lnTo>
                  <a:lnTo>
                    <a:pt x="0" y="0"/>
                  </a:lnTo>
                  <a:lnTo>
                    <a:pt x="0" y="3962"/>
                  </a:lnTo>
                  <a:lnTo>
                    <a:pt x="0" y="1617230"/>
                  </a:lnTo>
                  <a:lnTo>
                    <a:pt x="3886" y="1617230"/>
                  </a:lnTo>
                  <a:lnTo>
                    <a:pt x="3886" y="1623187"/>
                  </a:lnTo>
                  <a:lnTo>
                    <a:pt x="384644" y="1623187"/>
                  </a:lnTo>
                  <a:lnTo>
                    <a:pt x="384644" y="1615249"/>
                  </a:lnTo>
                  <a:lnTo>
                    <a:pt x="7772" y="1615249"/>
                  </a:lnTo>
                  <a:lnTo>
                    <a:pt x="7772" y="1460474"/>
                  </a:lnTo>
                  <a:lnTo>
                    <a:pt x="382701" y="1460474"/>
                  </a:lnTo>
                  <a:lnTo>
                    <a:pt x="382701" y="1452537"/>
                  </a:lnTo>
                  <a:lnTo>
                    <a:pt x="7772" y="1452537"/>
                  </a:lnTo>
                  <a:lnTo>
                    <a:pt x="7772" y="1297749"/>
                  </a:lnTo>
                  <a:lnTo>
                    <a:pt x="384644" y="1297749"/>
                  </a:lnTo>
                  <a:lnTo>
                    <a:pt x="384644" y="1289812"/>
                  </a:lnTo>
                  <a:lnTo>
                    <a:pt x="7772" y="1289812"/>
                  </a:lnTo>
                  <a:lnTo>
                    <a:pt x="7772" y="1138999"/>
                  </a:lnTo>
                  <a:lnTo>
                    <a:pt x="384644" y="1138999"/>
                  </a:lnTo>
                  <a:lnTo>
                    <a:pt x="384644" y="1131062"/>
                  </a:lnTo>
                  <a:lnTo>
                    <a:pt x="7772" y="1131062"/>
                  </a:lnTo>
                  <a:lnTo>
                    <a:pt x="7772" y="974305"/>
                  </a:lnTo>
                  <a:lnTo>
                    <a:pt x="384644" y="974305"/>
                  </a:lnTo>
                  <a:lnTo>
                    <a:pt x="384644" y="966368"/>
                  </a:lnTo>
                  <a:lnTo>
                    <a:pt x="7772" y="966368"/>
                  </a:lnTo>
                  <a:lnTo>
                    <a:pt x="7772" y="813574"/>
                  </a:lnTo>
                  <a:lnTo>
                    <a:pt x="384644" y="813574"/>
                  </a:lnTo>
                  <a:lnTo>
                    <a:pt x="384644" y="805637"/>
                  </a:lnTo>
                  <a:close/>
                </a:path>
                <a:path w="1163954" h="1623695">
                  <a:moveTo>
                    <a:pt x="1163650" y="809599"/>
                  </a:moveTo>
                  <a:lnTo>
                    <a:pt x="1155877" y="809599"/>
                  </a:lnTo>
                  <a:lnTo>
                    <a:pt x="1155877" y="966368"/>
                  </a:lnTo>
                  <a:lnTo>
                    <a:pt x="779005" y="966368"/>
                  </a:lnTo>
                  <a:lnTo>
                    <a:pt x="779005" y="974305"/>
                  </a:lnTo>
                  <a:lnTo>
                    <a:pt x="1155877" y="974305"/>
                  </a:lnTo>
                  <a:lnTo>
                    <a:pt x="1155877" y="1131062"/>
                  </a:lnTo>
                  <a:lnTo>
                    <a:pt x="777062" y="1131062"/>
                  </a:lnTo>
                  <a:lnTo>
                    <a:pt x="777062" y="1138999"/>
                  </a:lnTo>
                  <a:lnTo>
                    <a:pt x="1155877" y="1138999"/>
                  </a:lnTo>
                  <a:lnTo>
                    <a:pt x="1155877" y="1289812"/>
                  </a:lnTo>
                  <a:lnTo>
                    <a:pt x="779005" y="1289812"/>
                  </a:lnTo>
                  <a:lnTo>
                    <a:pt x="779005" y="1297749"/>
                  </a:lnTo>
                  <a:lnTo>
                    <a:pt x="1155877" y="1297749"/>
                  </a:lnTo>
                  <a:lnTo>
                    <a:pt x="1155877" y="1452537"/>
                  </a:lnTo>
                  <a:lnTo>
                    <a:pt x="779005" y="1452537"/>
                  </a:lnTo>
                  <a:lnTo>
                    <a:pt x="779005" y="1460474"/>
                  </a:lnTo>
                  <a:lnTo>
                    <a:pt x="1155877" y="1460474"/>
                  </a:lnTo>
                  <a:lnTo>
                    <a:pt x="1155877" y="1615249"/>
                  </a:lnTo>
                  <a:lnTo>
                    <a:pt x="777062" y="1615249"/>
                  </a:lnTo>
                  <a:lnTo>
                    <a:pt x="777062" y="1623187"/>
                  </a:lnTo>
                  <a:lnTo>
                    <a:pt x="1159764" y="1623187"/>
                  </a:lnTo>
                  <a:lnTo>
                    <a:pt x="1159764" y="1617230"/>
                  </a:lnTo>
                  <a:lnTo>
                    <a:pt x="1163650" y="1617230"/>
                  </a:lnTo>
                  <a:lnTo>
                    <a:pt x="1163650" y="970330"/>
                  </a:lnTo>
                  <a:lnTo>
                    <a:pt x="1163650" y="809599"/>
                  </a:lnTo>
                  <a:close/>
                </a:path>
                <a:path w="1163954" h="1623695">
                  <a:moveTo>
                    <a:pt x="1163650" y="0"/>
                  </a:moveTo>
                  <a:lnTo>
                    <a:pt x="1159764" y="0"/>
                  </a:lnTo>
                  <a:lnTo>
                    <a:pt x="779005" y="0"/>
                  </a:lnTo>
                  <a:lnTo>
                    <a:pt x="779005" y="7937"/>
                  </a:lnTo>
                  <a:lnTo>
                    <a:pt x="1155877" y="7937"/>
                  </a:lnTo>
                  <a:lnTo>
                    <a:pt x="1155877" y="160731"/>
                  </a:lnTo>
                  <a:lnTo>
                    <a:pt x="775119" y="160731"/>
                  </a:lnTo>
                  <a:lnTo>
                    <a:pt x="775119" y="168668"/>
                  </a:lnTo>
                  <a:lnTo>
                    <a:pt x="1155877" y="168668"/>
                  </a:lnTo>
                  <a:lnTo>
                    <a:pt x="1155877" y="323443"/>
                  </a:lnTo>
                  <a:lnTo>
                    <a:pt x="775119" y="323443"/>
                  </a:lnTo>
                  <a:lnTo>
                    <a:pt x="775119" y="331381"/>
                  </a:lnTo>
                  <a:lnTo>
                    <a:pt x="1155877" y="331381"/>
                  </a:lnTo>
                  <a:lnTo>
                    <a:pt x="1155877" y="484174"/>
                  </a:lnTo>
                  <a:lnTo>
                    <a:pt x="775119" y="484174"/>
                  </a:lnTo>
                  <a:lnTo>
                    <a:pt x="775119" y="492112"/>
                  </a:lnTo>
                  <a:lnTo>
                    <a:pt x="1155877" y="492112"/>
                  </a:lnTo>
                  <a:lnTo>
                    <a:pt x="1155877" y="650862"/>
                  </a:lnTo>
                  <a:lnTo>
                    <a:pt x="1163650" y="650862"/>
                  </a:lnTo>
                  <a:lnTo>
                    <a:pt x="1163650" y="3962"/>
                  </a:lnTo>
                  <a:lnTo>
                    <a:pt x="11636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7644625" y="4815876"/>
              <a:ext cx="1156335" cy="161290"/>
            </a:xfrm>
            <a:custGeom>
              <a:avLst/>
              <a:gdLst/>
              <a:ahLst/>
              <a:cxnLst/>
              <a:rect l="l" t="t" r="r" b="b"/>
              <a:pathLst>
                <a:path w="1156334" h="161289">
                  <a:moveTo>
                    <a:pt x="1155872" y="0"/>
                  </a:moveTo>
                  <a:lnTo>
                    <a:pt x="0" y="0"/>
                  </a:lnTo>
                  <a:lnTo>
                    <a:pt x="0" y="160732"/>
                  </a:lnTo>
                  <a:lnTo>
                    <a:pt x="1155872" y="160732"/>
                  </a:lnTo>
                  <a:lnTo>
                    <a:pt x="1155872" y="0"/>
                  </a:lnTo>
                  <a:close/>
                </a:path>
              </a:pathLst>
            </a:custGeom>
            <a:solidFill>
              <a:srgbClr val="9C9A9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640739" y="4167009"/>
              <a:ext cx="1163955" cy="809625"/>
            </a:xfrm>
            <a:custGeom>
              <a:avLst/>
              <a:gdLst/>
              <a:ahLst/>
              <a:cxnLst/>
              <a:rect l="l" t="t" r="r" b="b"/>
              <a:pathLst>
                <a:path w="1163954" h="809625">
                  <a:moveTo>
                    <a:pt x="1163637" y="644906"/>
                  </a:moveTo>
                  <a:lnTo>
                    <a:pt x="1159751" y="644906"/>
                  </a:lnTo>
                  <a:lnTo>
                    <a:pt x="3886" y="644906"/>
                  </a:lnTo>
                  <a:lnTo>
                    <a:pt x="0" y="644906"/>
                  </a:lnTo>
                  <a:lnTo>
                    <a:pt x="0" y="648868"/>
                  </a:lnTo>
                  <a:lnTo>
                    <a:pt x="0" y="809599"/>
                  </a:lnTo>
                  <a:lnTo>
                    <a:pt x="7759" y="809599"/>
                  </a:lnTo>
                  <a:lnTo>
                    <a:pt x="7759" y="652843"/>
                  </a:lnTo>
                  <a:lnTo>
                    <a:pt x="1155865" y="652843"/>
                  </a:lnTo>
                  <a:lnTo>
                    <a:pt x="1155865" y="809599"/>
                  </a:lnTo>
                  <a:lnTo>
                    <a:pt x="1163637" y="809599"/>
                  </a:lnTo>
                  <a:lnTo>
                    <a:pt x="1163637" y="648868"/>
                  </a:lnTo>
                  <a:lnTo>
                    <a:pt x="1163637" y="644906"/>
                  </a:lnTo>
                  <a:close/>
                </a:path>
                <a:path w="1163954" h="809625">
                  <a:moveTo>
                    <a:pt x="1163637" y="0"/>
                  </a:moveTo>
                  <a:lnTo>
                    <a:pt x="1159751" y="0"/>
                  </a:lnTo>
                  <a:lnTo>
                    <a:pt x="3886" y="0"/>
                  </a:lnTo>
                  <a:lnTo>
                    <a:pt x="0" y="0"/>
                  </a:lnTo>
                  <a:lnTo>
                    <a:pt x="0" y="3962"/>
                  </a:lnTo>
                  <a:lnTo>
                    <a:pt x="0" y="164693"/>
                  </a:lnTo>
                  <a:lnTo>
                    <a:pt x="7759" y="164693"/>
                  </a:lnTo>
                  <a:lnTo>
                    <a:pt x="7759" y="7937"/>
                  </a:lnTo>
                  <a:lnTo>
                    <a:pt x="1155865" y="7937"/>
                  </a:lnTo>
                  <a:lnTo>
                    <a:pt x="1155865" y="164693"/>
                  </a:lnTo>
                  <a:lnTo>
                    <a:pt x="1163637" y="164693"/>
                  </a:lnTo>
                  <a:lnTo>
                    <a:pt x="1163637" y="3962"/>
                  </a:lnTo>
                  <a:lnTo>
                    <a:pt x="11636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7644625" y="4976608"/>
              <a:ext cx="1156335" cy="161290"/>
            </a:xfrm>
            <a:custGeom>
              <a:avLst/>
              <a:gdLst/>
              <a:ahLst/>
              <a:cxnLst/>
              <a:rect l="l" t="t" r="r" b="b"/>
              <a:pathLst>
                <a:path w="1156334" h="161289">
                  <a:moveTo>
                    <a:pt x="0" y="0"/>
                  </a:moveTo>
                  <a:lnTo>
                    <a:pt x="1155873" y="0"/>
                  </a:lnTo>
                  <a:lnTo>
                    <a:pt x="1155873" y="160731"/>
                  </a:lnTo>
                  <a:lnTo>
                    <a:pt x="0" y="160731"/>
                  </a:lnTo>
                  <a:lnTo>
                    <a:pt x="0" y="0"/>
                  </a:lnTo>
                  <a:close/>
                </a:path>
              </a:pathLst>
            </a:custGeom>
            <a:ln w="7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7640739" y="4327740"/>
              <a:ext cx="1163955" cy="1463040"/>
            </a:xfrm>
            <a:custGeom>
              <a:avLst/>
              <a:gdLst/>
              <a:ahLst/>
              <a:cxnLst/>
              <a:rect l="l" t="t" r="r" b="b"/>
              <a:pathLst>
                <a:path w="1163954" h="1463039">
                  <a:moveTo>
                    <a:pt x="1163637" y="813574"/>
                  </a:moveTo>
                  <a:lnTo>
                    <a:pt x="1155865" y="813574"/>
                  </a:lnTo>
                  <a:lnTo>
                    <a:pt x="1155865" y="970330"/>
                  </a:lnTo>
                  <a:lnTo>
                    <a:pt x="1155865" y="978268"/>
                  </a:lnTo>
                  <a:lnTo>
                    <a:pt x="1155865" y="1454518"/>
                  </a:lnTo>
                  <a:lnTo>
                    <a:pt x="7759" y="1454518"/>
                  </a:lnTo>
                  <a:lnTo>
                    <a:pt x="7759" y="1299743"/>
                  </a:lnTo>
                  <a:lnTo>
                    <a:pt x="1155865" y="1299743"/>
                  </a:lnTo>
                  <a:lnTo>
                    <a:pt x="1155865" y="1291805"/>
                  </a:lnTo>
                  <a:lnTo>
                    <a:pt x="7759" y="1291805"/>
                  </a:lnTo>
                  <a:lnTo>
                    <a:pt x="7759" y="1137018"/>
                  </a:lnTo>
                  <a:lnTo>
                    <a:pt x="1155865" y="1137018"/>
                  </a:lnTo>
                  <a:lnTo>
                    <a:pt x="1155865" y="1129080"/>
                  </a:lnTo>
                  <a:lnTo>
                    <a:pt x="7759" y="1129080"/>
                  </a:lnTo>
                  <a:lnTo>
                    <a:pt x="7759" y="978268"/>
                  </a:lnTo>
                  <a:lnTo>
                    <a:pt x="1155865" y="978268"/>
                  </a:lnTo>
                  <a:lnTo>
                    <a:pt x="1155865" y="970330"/>
                  </a:lnTo>
                  <a:lnTo>
                    <a:pt x="7759" y="970330"/>
                  </a:lnTo>
                  <a:lnTo>
                    <a:pt x="7759" y="813574"/>
                  </a:lnTo>
                  <a:lnTo>
                    <a:pt x="0" y="813574"/>
                  </a:lnTo>
                  <a:lnTo>
                    <a:pt x="0" y="1456499"/>
                  </a:lnTo>
                  <a:lnTo>
                    <a:pt x="3886" y="1456499"/>
                  </a:lnTo>
                  <a:lnTo>
                    <a:pt x="3886" y="1462455"/>
                  </a:lnTo>
                  <a:lnTo>
                    <a:pt x="1159751" y="1462455"/>
                  </a:lnTo>
                  <a:lnTo>
                    <a:pt x="1159751" y="1456499"/>
                  </a:lnTo>
                  <a:lnTo>
                    <a:pt x="1163637" y="1456499"/>
                  </a:lnTo>
                  <a:lnTo>
                    <a:pt x="1163637" y="970330"/>
                  </a:lnTo>
                  <a:lnTo>
                    <a:pt x="1163637" y="813574"/>
                  </a:lnTo>
                  <a:close/>
                </a:path>
                <a:path w="1163954" h="1463039">
                  <a:moveTo>
                    <a:pt x="1163637" y="0"/>
                  </a:moveTo>
                  <a:lnTo>
                    <a:pt x="1159751" y="0"/>
                  </a:lnTo>
                  <a:lnTo>
                    <a:pt x="1155865" y="0"/>
                  </a:lnTo>
                  <a:lnTo>
                    <a:pt x="1155865" y="7937"/>
                  </a:lnTo>
                  <a:lnTo>
                    <a:pt x="1155865" y="162712"/>
                  </a:lnTo>
                  <a:lnTo>
                    <a:pt x="1155865" y="170649"/>
                  </a:lnTo>
                  <a:lnTo>
                    <a:pt x="1155865" y="323443"/>
                  </a:lnTo>
                  <a:lnTo>
                    <a:pt x="7759" y="323443"/>
                  </a:lnTo>
                  <a:lnTo>
                    <a:pt x="7759" y="170649"/>
                  </a:lnTo>
                  <a:lnTo>
                    <a:pt x="1155865" y="170649"/>
                  </a:lnTo>
                  <a:lnTo>
                    <a:pt x="1155865" y="162712"/>
                  </a:lnTo>
                  <a:lnTo>
                    <a:pt x="7759" y="162712"/>
                  </a:lnTo>
                  <a:lnTo>
                    <a:pt x="7759" y="7937"/>
                  </a:lnTo>
                  <a:lnTo>
                    <a:pt x="1155865" y="7937"/>
                  </a:lnTo>
                  <a:lnTo>
                    <a:pt x="1155865" y="0"/>
                  </a:lnTo>
                  <a:lnTo>
                    <a:pt x="3886" y="0"/>
                  </a:lnTo>
                  <a:lnTo>
                    <a:pt x="0" y="0"/>
                  </a:lnTo>
                  <a:lnTo>
                    <a:pt x="0" y="3962"/>
                  </a:lnTo>
                  <a:lnTo>
                    <a:pt x="0" y="490131"/>
                  </a:lnTo>
                  <a:lnTo>
                    <a:pt x="7759" y="490131"/>
                  </a:lnTo>
                  <a:lnTo>
                    <a:pt x="7759" y="331381"/>
                  </a:lnTo>
                  <a:lnTo>
                    <a:pt x="1155865" y="331381"/>
                  </a:lnTo>
                  <a:lnTo>
                    <a:pt x="1155865" y="490131"/>
                  </a:lnTo>
                  <a:lnTo>
                    <a:pt x="1163637" y="490131"/>
                  </a:lnTo>
                  <a:lnTo>
                    <a:pt x="1163637" y="3962"/>
                  </a:lnTo>
                  <a:lnTo>
                    <a:pt x="11636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561218" y="1225475"/>
            <a:ext cx="4188759" cy="1244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96376">
              <a:spcBef>
                <a:spcPts val="88"/>
              </a:spcBef>
            </a:pPr>
            <a:r>
              <a:rPr sz="1677" dirty="0">
                <a:latin typeface="Calibri"/>
                <a:cs typeface="Calibri"/>
              </a:rPr>
              <a:t>k=6</a:t>
            </a:r>
            <a:r>
              <a:rPr sz="1677" spc="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(i.e.,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6</a:t>
            </a:r>
            <a:r>
              <a:rPr sz="1677" spc="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offset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bits,</a:t>
            </a:r>
            <a:r>
              <a:rPr sz="1677" spc="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64</a:t>
            </a:r>
            <a:r>
              <a:rPr sz="1677" spc="9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Bytes/block)</a:t>
            </a:r>
            <a:endParaRPr sz="1677">
              <a:latin typeface="Calibri"/>
              <a:cs typeface="Calibri"/>
            </a:endParaRPr>
          </a:p>
          <a:p>
            <a:pPr marL="194992">
              <a:spcBef>
                <a:spcPts val="22"/>
              </a:spcBef>
            </a:pPr>
            <a:r>
              <a:rPr sz="1677" dirty="0">
                <a:latin typeface="Calibri"/>
                <a:cs typeface="Calibri"/>
              </a:rPr>
              <a:t>=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2bits: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4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Bytes/word</a:t>
            </a:r>
            <a:r>
              <a:rPr sz="1677" spc="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+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4bits: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16</a:t>
            </a:r>
            <a:r>
              <a:rPr sz="1677" spc="9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words/block</a:t>
            </a:r>
            <a:endParaRPr sz="1677">
              <a:latin typeface="Calibri"/>
              <a:cs typeface="Calibri"/>
            </a:endParaRPr>
          </a:p>
          <a:p>
            <a:pPr marL="96376">
              <a:spcBef>
                <a:spcPts val="18"/>
              </a:spcBef>
            </a:pPr>
            <a:r>
              <a:rPr sz="1677" b="1" dirty="0">
                <a:latin typeface="Calibri"/>
                <a:cs typeface="Calibri"/>
              </a:rPr>
              <a:t>Cache</a:t>
            </a:r>
            <a:r>
              <a:rPr sz="1677" b="1" spc="-26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size:</a:t>
            </a:r>
            <a:r>
              <a:rPr sz="1677" b="1" spc="4" dirty="0">
                <a:latin typeface="Calibri"/>
                <a:cs typeface="Calibri"/>
              </a:rPr>
              <a:t> </a:t>
            </a:r>
            <a:r>
              <a:rPr sz="1324" b="1" dirty="0">
                <a:latin typeface="Calibri"/>
                <a:cs typeface="Calibri"/>
              </a:rPr>
              <a:t>16KB</a:t>
            </a:r>
            <a:r>
              <a:rPr sz="1324" b="1" spc="-22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=</a:t>
            </a:r>
            <a:r>
              <a:rPr sz="1324" spc="-22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2</a:t>
            </a:r>
            <a:r>
              <a:rPr sz="1324" baseline="22222" dirty="0">
                <a:latin typeface="Calibri"/>
                <a:cs typeface="Calibri"/>
              </a:rPr>
              <a:t>8=index</a:t>
            </a:r>
            <a:r>
              <a:rPr sz="1324" spc="112" baseline="22222" dirty="0">
                <a:latin typeface="Calibri"/>
                <a:cs typeface="Calibri"/>
              </a:rPr>
              <a:t> </a:t>
            </a:r>
            <a:r>
              <a:rPr sz="971" spc="-9" dirty="0">
                <a:latin typeface="Calibri"/>
                <a:cs typeface="Calibri"/>
              </a:rPr>
              <a:t>sets</a:t>
            </a:r>
            <a:r>
              <a:rPr sz="971" spc="-49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x</a:t>
            </a:r>
            <a:r>
              <a:rPr sz="882" spc="-35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1</a:t>
            </a:r>
            <a:r>
              <a:rPr sz="1324" spc="-22" dirty="0">
                <a:latin typeface="Calibri"/>
                <a:cs typeface="Calibri"/>
              </a:rPr>
              <a:t> </a:t>
            </a:r>
            <a:r>
              <a:rPr sz="971" spc="-18" dirty="0">
                <a:latin typeface="Calibri"/>
                <a:cs typeface="Calibri"/>
              </a:rPr>
              <a:t>blk/set</a:t>
            </a:r>
            <a:r>
              <a:rPr sz="971" spc="-40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x</a:t>
            </a:r>
            <a:r>
              <a:rPr sz="882" spc="-40" dirty="0">
                <a:latin typeface="Calibri"/>
                <a:cs typeface="Calibri"/>
              </a:rPr>
              <a:t> </a:t>
            </a:r>
            <a:r>
              <a:rPr sz="1324" spc="-9" dirty="0">
                <a:latin typeface="Calibri"/>
                <a:cs typeface="Calibri"/>
              </a:rPr>
              <a:t>2</a:t>
            </a:r>
            <a:r>
              <a:rPr sz="1324" spc="-13" baseline="22222" dirty="0">
                <a:latin typeface="Calibri"/>
                <a:cs typeface="Calibri"/>
              </a:rPr>
              <a:t>6=4+2=offset</a:t>
            </a:r>
            <a:r>
              <a:rPr sz="1324" baseline="22222" dirty="0">
                <a:latin typeface="Calibri"/>
                <a:cs typeface="Calibri"/>
              </a:rPr>
              <a:t> </a:t>
            </a:r>
            <a:r>
              <a:rPr sz="971" spc="-9" dirty="0">
                <a:latin typeface="Calibri"/>
                <a:cs typeface="Calibri"/>
              </a:rPr>
              <a:t>B/blk</a:t>
            </a:r>
            <a:endParaRPr sz="971">
              <a:latin typeface="Calibri"/>
              <a:cs typeface="Calibri"/>
            </a:endParaRPr>
          </a:p>
          <a:p>
            <a:pPr>
              <a:spcBef>
                <a:spcPts val="119"/>
              </a:spcBef>
            </a:pPr>
            <a:endParaRPr sz="882">
              <a:latin typeface="Calibri"/>
              <a:cs typeface="Calibri"/>
            </a:endParaRPr>
          </a:p>
          <a:p>
            <a:pPr marL="87971"/>
            <a:r>
              <a:rPr sz="882" spc="-9" dirty="0">
                <a:latin typeface="Arial MT"/>
                <a:cs typeface="Arial MT"/>
              </a:rPr>
              <a:t>Address</a:t>
            </a:r>
            <a:r>
              <a:rPr sz="882" spc="-35" dirty="0">
                <a:latin typeface="Arial MT"/>
                <a:cs typeface="Arial MT"/>
              </a:rPr>
              <a:t> </a:t>
            </a:r>
            <a:r>
              <a:rPr sz="882" spc="-9" dirty="0">
                <a:latin typeface="Arial MT"/>
                <a:cs typeface="Arial MT"/>
              </a:rPr>
              <a:t>(showing</a:t>
            </a:r>
            <a:r>
              <a:rPr sz="882" spc="-44" dirty="0">
                <a:latin typeface="Arial MT"/>
                <a:cs typeface="Arial MT"/>
              </a:rPr>
              <a:t> </a:t>
            </a:r>
            <a:r>
              <a:rPr sz="882" dirty="0">
                <a:latin typeface="Arial MT"/>
                <a:cs typeface="Arial MT"/>
              </a:rPr>
              <a:t>bit</a:t>
            </a:r>
            <a:r>
              <a:rPr sz="882" spc="-31" dirty="0">
                <a:latin typeface="Arial MT"/>
                <a:cs typeface="Arial MT"/>
              </a:rPr>
              <a:t> </a:t>
            </a:r>
            <a:r>
              <a:rPr sz="882" spc="-9" dirty="0">
                <a:latin typeface="Arial MT"/>
                <a:cs typeface="Arial MT"/>
              </a:rPr>
              <a:t>positions)</a:t>
            </a:r>
            <a:endParaRPr sz="882">
              <a:latin typeface="Arial MT"/>
              <a:cs typeface="Arial MT"/>
            </a:endParaRPr>
          </a:p>
          <a:p>
            <a:pPr marL="33619">
              <a:spcBef>
                <a:spcPts val="335"/>
              </a:spcBef>
              <a:tabLst>
                <a:tab pos="579935" algn="l"/>
                <a:tab pos="1051728" algn="l"/>
                <a:tab pos="1387362" algn="l"/>
              </a:tabLst>
            </a:pPr>
            <a:r>
              <a:rPr sz="882" spc="-22" dirty="0">
                <a:latin typeface="Arial MT"/>
                <a:cs typeface="Arial MT"/>
              </a:rPr>
              <a:t>31</a:t>
            </a:r>
            <a:r>
              <a:rPr sz="882" dirty="0">
                <a:latin typeface="Arial MT"/>
                <a:cs typeface="Arial MT"/>
              </a:rPr>
              <a:t>	14</a:t>
            </a:r>
            <a:r>
              <a:rPr sz="882" spc="-31" dirty="0">
                <a:latin typeface="Arial MT"/>
                <a:cs typeface="Arial MT"/>
              </a:rPr>
              <a:t> </a:t>
            </a:r>
            <a:r>
              <a:rPr sz="882" spc="-22" dirty="0">
                <a:latin typeface="Arial MT"/>
                <a:cs typeface="Arial MT"/>
              </a:rPr>
              <a:t>13</a:t>
            </a:r>
            <a:r>
              <a:rPr sz="882" dirty="0">
                <a:latin typeface="Arial MT"/>
                <a:cs typeface="Arial MT"/>
              </a:rPr>
              <a:t>	6</a:t>
            </a:r>
            <a:r>
              <a:rPr sz="882" spc="-26" dirty="0">
                <a:latin typeface="Arial MT"/>
                <a:cs typeface="Arial MT"/>
              </a:rPr>
              <a:t> </a:t>
            </a:r>
            <a:r>
              <a:rPr sz="882" spc="-44" dirty="0">
                <a:latin typeface="Arial MT"/>
                <a:cs typeface="Arial MT"/>
              </a:rPr>
              <a:t>5</a:t>
            </a:r>
            <a:r>
              <a:rPr sz="882" dirty="0">
                <a:latin typeface="Arial MT"/>
                <a:cs typeface="Arial MT"/>
              </a:rPr>
              <a:t>	2</a:t>
            </a:r>
            <a:r>
              <a:rPr sz="882" spc="-13" dirty="0">
                <a:latin typeface="Arial MT"/>
                <a:cs typeface="Arial MT"/>
              </a:rPr>
              <a:t> </a:t>
            </a:r>
            <a:r>
              <a:rPr sz="882" dirty="0">
                <a:latin typeface="Arial MT"/>
                <a:cs typeface="Arial MT"/>
              </a:rPr>
              <a:t>1</a:t>
            </a:r>
            <a:r>
              <a:rPr sz="882" spc="-22" dirty="0">
                <a:latin typeface="Arial MT"/>
                <a:cs typeface="Arial MT"/>
              </a:rPr>
              <a:t> </a:t>
            </a:r>
            <a:r>
              <a:rPr sz="882" spc="-44" dirty="0">
                <a:latin typeface="Arial MT"/>
                <a:cs typeface="Arial MT"/>
              </a:rPr>
              <a:t>0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462162" y="2400367"/>
            <a:ext cx="82363" cy="14007"/>
          </a:xfrm>
          <a:custGeom>
            <a:avLst/>
            <a:gdLst/>
            <a:ahLst/>
            <a:cxnLst/>
            <a:rect l="l" t="t" r="r" b="b"/>
            <a:pathLst>
              <a:path w="93345" h="15875">
                <a:moveTo>
                  <a:pt x="31089" y="3556"/>
                </a:moveTo>
                <a:lnTo>
                  <a:pt x="27609" y="0"/>
                </a:lnTo>
                <a:lnTo>
                  <a:pt x="23317" y="0"/>
                </a:lnTo>
                <a:lnTo>
                  <a:pt x="19024" y="0"/>
                </a:lnTo>
                <a:lnTo>
                  <a:pt x="12065" y="0"/>
                </a:lnTo>
                <a:lnTo>
                  <a:pt x="7772" y="0"/>
                </a:lnTo>
                <a:lnTo>
                  <a:pt x="3479" y="0"/>
                </a:lnTo>
                <a:lnTo>
                  <a:pt x="0" y="3556"/>
                </a:lnTo>
                <a:lnTo>
                  <a:pt x="0" y="12331"/>
                </a:lnTo>
                <a:lnTo>
                  <a:pt x="3479" y="15875"/>
                </a:lnTo>
                <a:lnTo>
                  <a:pt x="7772" y="15875"/>
                </a:lnTo>
                <a:lnTo>
                  <a:pt x="12065" y="15875"/>
                </a:lnTo>
                <a:lnTo>
                  <a:pt x="19024" y="15875"/>
                </a:lnTo>
                <a:lnTo>
                  <a:pt x="23317" y="15875"/>
                </a:lnTo>
                <a:lnTo>
                  <a:pt x="27609" y="15875"/>
                </a:lnTo>
                <a:lnTo>
                  <a:pt x="31089" y="12331"/>
                </a:lnTo>
                <a:lnTo>
                  <a:pt x="31089" y="7937"/>
                </a:lnTo>
                <a:lnTo>
                  <a:pt x="31089" y="3556"/>
                </a:lnTo>
                <a:close/>
              </a:path>
              <a:path w="93345" h="15875">
                <a:moveTo>
                  <a:pt x="93256" y="3556"/>
                </a:moveTo>
                <a:lnTo>
                  <a:pt x="89776" y="0"/>
                </a:lnTo>
                <a:lnTo>
                  <a:pt x="85483" y="0"/>
                </a:lnTo>
                <a:lnTo>
                  <a:pt x="81191" y="0"/>
                </a:lnTo>
                <a:lnTo>
                  <a:pt x="74231" y="0"/>
                </a:lnTo>
                <a:lnTo>
                  <a:pt x="69938" y="0"/>
                </a:lnTo>
                <a:lnTo>
                  <a:pt x="65646" y="0"/>
                </a:lnTo>
                <a:lnTo>
                  <a:pt x="62166" y="3556"/>
                </a:lnTo>
                <a:lnTo>
                  <a:pt x="62166" y="12331"/>
                </a:lnTo>
                <a:lnTo>
                  <a:pt x="65646" y="15875"/>
                </a:lnTo>
                <a:lnTo>
                  <a:pt x="69938" y="15875"/>
                </a:lnTo>
                <a:lnTo>
                  <a:pt x="74231" y="15875"/>
                </a:lnTo>
                <a:lnTo>
                  <a:pt x="81191" y="15875"/>
                </a:lnTo>
                <a:lnTo>
                  <a:pt x="85483" y="15875"/>
                </a:lnTo>
                <a:lnTo>
                  <a:pt x="89776" y="15875"/>
                </a:lnTo>
                <a:lnTo>
                  <a:pt x="93256" y="12331"/>
                </a:lnTo>
                <a:lnTo>
                  <a:pt x="93256" y="7937"/>
                </a:lnTo>
                <a:lnTo>
                  <a:pt x="93256" y="35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6" name="object 56"/>
          <p:cNvSpPr/>
          <p:nvPr/>
        </p:nvSpPr>
        <p:spPr>
          <a:xfrm>
            <a:off x="5794704" y="2857347"/>
            <a:ext cx="111498" cy="64994"/>
          </a:xfrm>
          <a:custGeom>
            <a:avLst/>
            <a:gdLst/>
            <a:ahLst/>
            <a:cxnLst/>
            <a:rect l="l" t="t" r="r" b="b"/>
            <a:pathLst>
              <a:path w="126365" h="73660">
                <a:moveTo>
                  <a:pt x="5828" y="0"/>
                </a:moveTo>
                <a:lnTo>
                  <a:pt x="0" y="9921"/>
                </a:lnTo>
                <a:lnTo>
                  <a:pt x="120444" y="73419"/>
                </a:lnTo>
                <a:lnTo>
                  <a:pt x="126272" y="63498"/>
                </a:lnTo>
                <a:lnTo>
                  <a:pt x="58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7" name="object 57"/>
          <p:cNvSpPr txBox="1"/>
          <p:nvPr/>
        </p:nvSpPr>
        <p:spPr>
          <a:xfrm>
            <a:off x="5874346" y="2755094"/>
            <a:ext cx="83484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44" dirty="0">
                <a:latin typeface="Arial MT"/>
                <a:cs typeface="Arial MT"/>
              </a:rPr>
              <a:t>4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871270" y="3059749"/>
            <a:ext cx="584387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9" dirty="0">
                <a:latin typeface="Arial MT"/>
                <a:cs typeface="Arial MT"/>
              </a:rPr>
              <a:t>Block</a:t>
            </a:r>
            <a:r>
              <a:rPr sz="882" spc="-49" dirty="0">
                <a:latin typeface="Arial MT"/>
                <a:cs typeface="Arial MT"/>
              </a:rPr>
              <a:t> </a:t>
            </a:r>
            <a:r>
              <a:rPr sz="882" spc="-9" dirty="0">
                <a:latin typeface="Arial MT"/>
                <a:cs typeface="Arial MT"/>
              </a:rPr>
              <a:t>offset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042679" y="4076666"/>
            <a:ext cx="353546" cy="355218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11206">
              <a:spcBef>
                <a:spcPts val="353"/>
              </a:spcBef>
            </a:pPr>
            <a:r>
              <a:rPr sz="882" spc="-22" dirty="0">
                <a:latin typeface="Arial MT"/>
                <a:cs typeface="Arial MT"/>
              </a:rPr>
              <a:t>256</a:t>
            </a:r>
            <a:endParaRPr sz="882">
              <a:latin typeface="Arial MT"/>
              <a:cs typeface="Arial MT"/>
            </a:endParaRPr>
          </a:p>
          <a:p>
            <a:pPr marL="11206">
              <a:spcBef>
                <a:spcPts val="265"/>
              </a:spcBef>
            </a:pPr>
            <a:r>
              <a:rPr sz="882" spc="-9" dirty="0">
                <a:latin typeface="Arial MT"/>
                <a:cs typeface="Arial MT"/>
              </a:rPr>
              <a:t>entries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309254" y="3436900"/>
            <a:ext cx="4691903" cy="1675840"/>
          </a:xfrm>
          <a:custGeom>
            <a:avLst/>
            <a:gdLst/>
            <a:ahLst/>
            <a:cxnLst/>
            <a:rect l="l" t="t" r="r" b="b"/>
            <a:pathLst>
              <a:path w="5317490" h="1899285">
                <a:moveTo>
                  <a:pt x="545884" y="23812"/>
                </a:moveTo>
                <a:lnTo>
                  <a:pt x="528408" y="21818"/>
                </a:lnTo>
                <a:lnTo>
                  <a:pt x="505091" y="13881"/>
                </a:lnTo>
                <a:lnTo>
                  <a:pt x="483717" y="7937"/>
                </a:lnTo>
                <a:lnTo>
                  <a:pt x="466242" y="0"/>
                </a:lnTo>
                <a:lnTo>
                  <a:pt x="466242" y="15875"/>
                </a:lnTo>
                <a:lnTo>
                  <a:pt x="79654" y="15875"/>
                </a:lnTo>
                <a:lnTo>
                  <a:pt x="79654" y="0"/>
                </a:lnTo>
                <a:lnTo>
                  <a:pt x="64109" y="5943"/>
                </a:lnTo>
                <a:lnTo>
                  <a:pt x="17487" y="21818"/>
                </a:lnTo>
                <a:lnTo>
                  <a:pt x="0" y="23812"/>
                </a:lnTo>
                <a:lnTo>
                  <a:pt x="17487" y="27774"/>
                </a:lnTo>
                <a:lnTo>
                  <a:pt x="40805" y="33731"/>
                </a:lnTo>
                <a:lnTo>
                  <a:pt x="60223" y="41668"/>
                </a:lnTo>
                <a:lnTo>
                  <a:pt x="79654" y="47625"/>
                </a:lnTo>
                <a:lnTo>
                  <a:pt x="79654" y="31750"/>
                </a:lnTo>
                <a:lnTo>
                  <a:pt x="466242" y="31750"/>
                </a:lnTo>
                <a:lnTo>
                  <a:pt x="466242" y="47625"/>
                </a:lnTo>
                <a:lnTo>
                  <a:pt x="481774" y="41668"/>
                </a:lnTo>
                <a:lnTo>
                  <a:pt x="505091" y="33731"/>
                </a:lnTo>
                <a:lnTo>
                  <a:pt x="528408" y="27774"/>
                </a:lnTo>
                <a:lnTo>
                  <a:pt x="545884" y="23812"/>
                </a:lnTo>
                <a:close/>
              </a:path>
              <a:path w="5317490" h="1899285">
                <a:moveTo>
                  <a:pt x="3267532" y="19837"/>
                </a:moveTo>
                <a:lnTo>
                  <a:pt x="631367" y="19837"/>
                </a:lnTo>
                <a:lnTo>
                  <a:pt x="631367" y="0"/>
                </a:lnTo>
                <a:lnTo>
                  <a:pt x="615823" y="5943"/>
                </a:lnTo>
                <a:lnTo>
                  <a:pt x="592505" y="13881"/>
                </a:lnTo>
                <a:lnTo>
                  <a:pt x="569201" y="19837"/>
                </a:lnTo>
                <a:lnTo>
                  <a:pt x="549770" y="23812"/>
                </a:lnTo>
                <a:lnTo>
                  <a:pt x="569201" y="27774"/>
                </a:lnTo>
                <a:lnTo>
                  <a:pt x="592505" y="33731"/>
                </a:lnTo>
                <a:lnTo>
                  <a:pt x="613879" y="41668"/>
                </a:lnTo>
                <a:lnTo>
                  <a:pt x="631367" y="49606"/>
                </a:lnTo>
                <a:lnTo>
                  <a:pt x="631367" y="27774"/>
                </a:lnTo>
                <a:lnTo>
                  <a:pt x="3267532" y="27774"/>
                </a:lnTo>
                <a:lnTo>
                  <a:pt x="3267532" y="19837"/>
                </a:lnTo>
                <a:close/>
              </a:path>
              <a:path w="5317490" h="1899285">
                <a:moveTo>
                  <a:pt x="5192687" y="23812"/>
                </a:moveTo>
                <a:lnTo>
                  <a:pt x="5173269" y="19837"/>
                </a:lnTo>
                <a:lnTo>
                  <a:pt x="5149951" y="13881"/>
                </a:lnTo>
                <a:lnTo>
                  <a:pt x="5128590" y="5943"/>
                </a:lnTo>
                <a:lnTo>
                  <a:pt x="5111102" y="0"/>
                </a:lnTo>
                <a:lnTo>
                  <a:pt x="5111102" y="19837"/>
                </a:lnTo>
                <a:lnTo>
                  <a:pt x="3659949" y="19837"/>
                </a:lnTo>
                <a:lnTo>
                  <a:pt x="3659949" y="27774"/>
                </a:lnTo>
                <a:lnTo>
                  <a:pt x="5111102" y="27774"/>
                </a:lnTo>
                <a:lnTo>
                  <a:pt x="5111102" y="49606"/>
                </a:lnTo>
                <a:lnTo>
                  <a:pt x="5126647" y="43649"/>
                </a:lnTo>
                <a:lnTo>
                  <a:pt x="5149951" y="33731"/>
                </a:lnTo>
                <a:lnTo>
                  <a:pt x="5173269" y="27774"/>
                </a:lnTo>
                <a:lnTo>
                  <a:pt x="5192687" y="23812"/>
                </a:lnTo>
                <a:close/>
              </a:path>
              <a:path w="5317490" h="1899285">
                <a:moveTo>
                  <a:pt x="5317020" y="359156"/>
                </a:moveTo>
                <a:lnTo>
                  <a:pt x="5311191" y="343281"/>
                </a:lnTo>
                <a:lnTo>
                  <a:pt x="5301475" y="319468"/>
                </a:lnTo>
                <a:lnTo>
                  <a:pt x="5295646" y="293674"/>
                </a:lnTo>
                <a:lnTo>
                  <a:pt x="5291772" y="273837"/>
                </a:lnTo>
                <a:lnTo>
                  <a:pt x="5289829" y="293674"/>
                </a:lnTo>
                <a:lnTo>
                  <a:pt x="5282057" y="319468"/>
                </a:lnTo>
                <a:lnTo>
                  <a:pt x="5276227" y="339318"/>
                </a:lnTo>
                <a:lnTo>
                  <a:pt x="5268455" y="359156"/>
                </a:lnTo>
                <a:lnTo>
                  <a:pt x="5287886" y="359156"/>
                </a:lnTo>
                <a:lnTo>
                  <a:pt x="5287886" y="1813687"/>
                </a:lnTo>
                <a:lnTo>
                  <a:pt x="5268455" y="1813687"/>
                </a:lnTo>
                <a:lnTo>
                  <a:pt x="5274284" y="1829562"/>
                </a:lnTo>
                <a:lnTo>
                  <a:pt x="5282057" y="1855355"/>
                </a:lnTo>
                <a:lnTo>
                  <a:pt x="5287886" y="1879168"/>
                </a:lnTo>
                <a:lnTo>
                  <a:pt x="5291772" y="1899005"/>
                </a:lnTo>
                <a:lnTo>
                  <a:pt x="5295646" y="1879168"/>
                </a:lnTo>
                <a:lnTo>
                  <a:pt x="5301475" y="1855355"/>
                </a:lnTo>
                <a:lnTo>
                  <a:pt x="5309247" y="1833524"/>
                </a:lnTo>
                <a:lnTo>
                  <a:pt x="5317020" y="1813687"/>
                </a:lnTo>
                <a:lnTo>
                  <a:pt x="5295646" y="1813687"/>
                </a:lnTo>
                <a:lnTo>
                  <a:pt x="5295646" y="359156"/>
                </a:lnTo>
                <a:lnTo>
                  <a:pt x="5317020" y="359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1" name="object 61"/>
          <p:cNvSpPr txBox="1"/>
          <p:nvPr/>
        </p:nvSpPr>
        <p:spPr>
          <a:xfrm>
            <a:off x="5627516" y="3271607"/>
            <a:ext cx="406773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dirty="0">
                <a:latin typeface="Arial MT"/>
                <a:cs typeface="Arial MT"/>
              </a:rPr>
              <a:t>512</a:t>
            </a:r>
            <a:r>
              <a:rPr sz="882" spc="-35" dirty="0">
                <a:latin typeface="Arial MT"/>
                <a:cs typeface="Arial MT"/>
              </a:rPr>
              <a:t> </a:t>
            </a:r>
            <a:r>
              <a:rPr sz="882" spc="-18" dirty="0">
                <a:latin typeface="Arial MT"/>
                <a:cs typeface="Arial MT"/>
              </a:rPr>
              <a:t>bits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397475" y="3271607"/>
            <a:ext cx="345141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dirty="0">
                <a:latin typeface="Arial MT"/>
                <a:cs typeface="Arial MT"/>
              </a:rPr>
              <a:t>18</a:t>
            </a:r>
            <a:r>
              <a:rPr sz="882" spc="-31" dirty="0">
                <a:latin typeface="Arial MT"/>
                <a:cs typeface="Arial MT"/>
              </a:rPr>
              <a:t> </a:t>
            </a:r>
            <a:r>
              <a:rPr sz="882" spc="-18" dirty="0">
                <a:latin typeface="Arial MT"/>
                <a:cs typeface="Arial MT"/>
              </a:rPr>
              <a:t>bits</a:t>
            </a:r>
            <a:endParaRPr sz="882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266762" y="3454400"/>
            <a:ext cx="1131794" cy="2409265"/>
            <a:chOff x="5816597" y="3914987"/>
            <a:chExt cx="1282700" cy="2730500"/>
          </a:xfrm>
        </p:grpSpPr>
        <p:sp>
          <p:nvSpPr>
            <p:cNvPr id="64" name="object 64"/>
            <p:cNvSpPr/>
            <p:nvPr/>
          </p:nvSpPr>
          <p:spPr>
            <a:xfrm>
              <a:off x="7005485" y="3914990"/>
              <a:ext cx="93345" cy="2075814"/>
            </a:xfrm>
            <a:custGeom>
              <a:avLst/>
              <a:gdLst/>
              <a:ahLst/>
              <a:cxnLst/>
              <a:rect l="l" t="t" r="r" b="b"/>
              <a:pathLst>
                <a:path w="93345" h="2075814">
                  <a:moveTo>
                    <a:pt x="31089" y="2063305"/>
                  </a:moveTo>
                  <a:lnTo>
                    <a:pt x="27609" y="2059749"/>
                  </a:lnTo>
                  <a:lnTo>
                    <a:pt x="23317" y="2059749"/>
                  </a:lnTo>
                  <a:lnTo>
                    <a:pt x="19024" y="2059749"/>
                  </a:lnTo>
                  <a:lnTo>
                    <a:pt x="12065" y="2059749"/>
                  </a:lnTo>
                  <a:lnTo>
                    <a:pt x="7772" y="2059749"/>
                  </a:lnTo>
                  <a:lnTo>
                    <a:pt x="3479" y="2059749"/>
                  </a:lnTo>
                  <a:lnTo>
                    <a:pt x="0" y="2063305"/>
                  </a:lnTo>
                  <a:lnTo>
                    <a:pt x="0" y="2072068"/>
                  </a:lnTo>
                  <a:lnTo>
                    <a:pt x="3479" y="2075624"/>
                  </a:lnTo>
                  <a:lnTo>
                    <a:pt x="7772" y="2075624"/>
                  </a:lnTo>
                  <a:lnTo>
                    <a:pt x="12065" y="2075624"/>
                  </a:lnTo>
                  <a:lnTo>
                    <a:pt x="19024" y="2075624"/>
                  </a:lnTo>
                  <a:lnTo>
                    <a:pt x="23317" y="2075624"/>
                  </a:lnTo>
                  <a:lnTo>
                    <a:pt x="27609" y="2075624"/>
                  </a:lnTo>
                  <a:lnTo>
                    <a:pt x="31089" y="2072068"/>
                  </a:lnTo>
                  <a:lnTo>
                    <a:pt x="31089" y="2067687"/>
                  </a:lnTo>
                  <a:lnTo>
                    <a:pt x="31089" y="2063305"/>
                  </a:lnTo>
                  <a:close/>
                </a:path>
                <a:path w="93345" h="2075814">
                  <a:moveTo>
                    <a:pt x="31089" y="1799386"/>
                  </a:moveTo>
                  <a:lnTo>
                    <a:pt x="27609" y="1795830"/>
                  </a:lnTo>
                  <a:lnTo>
                    <a:pt x="23317" y="1795830"/>
                  </a:lnTo>
                  <a:lnTo>
                    <a:pt x="19024" y="1795830"/>
                  </a:lnTo>
                  <a:lnTo>
                    <a:pt x="12065" y="1795830"/>
                  </a:lnTo>
                  <a:lnTo>
                    <a:pt x="7772" y="1795830"/>
                  </a:lnTo>
                  <a:lnTo>
                    <a:pt x="3479" y="1795830"/>
                  </a:lnTo>
                  <a:lnTo>
                    <a:pt x="0" y="1799386"/>
                  </a:lnTo>
                  <a:lnTo>
                    <a:pt x="0" y="1808149"/>
                  </a:lnTo>
                  <a:lnTo>
                    <a:pt x="3479" y="1811705"/>
                  </a:lnTo>
                  <a:lnTo>
                    <a:pt x="7772" y="1811705"/>
                  </a:lnTo>
                  <a:lnTo>
                    <a:pt x="12065" y="1811705"/>
                  </a:lnTo>
                  <a:lnTo>
                    <a:pt x="19024" y="1811705"/>
                  </a:lnTo>
                  <a:lnTo>
                    <a:pt x="23317" y="1811705"/>
                  </a:lnTo>
                  <a:lnTo>
                    <a:pt x="27609" y="1811705"/>
                  </a:lnTo>
                  <a:lnTo>
                    <a:pt x="31089" y="1808149"/>
                  </a:lnTo>
                  <a:lnTo>
                    <a:pt x="31089" y="1803768"/>
                  </a:lnTo>
                  <a:lnTo>
                    <a:pt x="31089" y="1799386"/>
                  </a:lnTo>
                  <a:close/>
                </a:path>
                <a:path w="93345" h="2075814">
                  <a:moveTo>
                    <a:pt x="31089" y="1706118"/>
                  </a:moveTo>
                  <a:lnTo>
                    <a:pt x="27609" y="1702562"/>
                  </a:lnTo>
                  <a:lnTo>
                    <a:pt x="23317" y="1702562"/>
                  </a:lnTo>
                  <a:lnTo>
                    <a:pt x="19024" y="1702562"/>
                  </a:lnTo>
                  <a:lnTo>
                    <a:pt x="12065" y="1702562"/>
                  </a:lnTo>
                  <a:lnTo>
                    <a:pt x="7772" y="1702562"/>
                  </a:lnTo>
                  <a:lnTo>
                    <a:pt x="3479" y="1702562"/>
                  </a:lnTo>
                  <a:lnTo>
                    <a:pt x="0" y="1706118"/>
                  </a:lnTo>
                  <a:lnTo>
                    <a:pt x="0" y="1714881"/>
                  </a:lnTo>
                  <a:lnTo>
                    <a:pt x="3479" y="1718437"/>
                  </a:lnTo>
                  <a:lnTo>
                    <a:pt x="7772" y="1718437"/>
                  </a:lnTo>
                  <a:lnTo>
                    <a:pt x="12065" y="1718437"/>
                  </a:lnTo>
                  <a:lnTo>
                    <a:pt x="19024" y="1718437"/>
                  </a:lnTo>
                  <a:lnTo>
                    <a:pt x="23317" y="1718437"/>
                  </a:lnTo>
                  <a:lnTo>
                    <a:pt x="27609" y="1718437"/>
                  </a:lnTo>
                  <a:lnTo>
                    <a:pt x="31089" y="1714881"/>
                  </a:lnTo>
                  <a:lnTo>
                    <a:pt x="31089" y="1710499"/>
                  </a:lnTo>
                  <a:lnTo>
                    <a:pt x="31089" y="1706118"/>
                  </a:lnTo>
                  <a:close/>
                </a:path>
                <a:path w="93345" h="2075814">
                  <a:moveTo>
                    <a:pt x="31089" y="1533486"/>
                  </a:moveTo>
                  <a:lnTo>
                    <a:pt x="27609" y="1529930"/>
                  </a:lnTo>
                  <a:lnTo>
                    <a:pt x="23317" y="1529930"/>
                  </a:lnTo>
                  <a:lnTo>
                    <a:pt x="19024" y="1529930"/>
                  </a:lnTo>
                  <a:lnTo>
                    <a:pt x="12065" y="1529930"/>
                  </a:lnTo>
                  <a:lnTo>
                    <a:pt x="7772" y="1529930"/>
                  </a:lnTo>
                  <a:lnTo>
                    <a:pt x="3479" y="1529930"/>
                  </a:lnTo>
                  <a:lnTo>
                    <a:pt x="0" y="1533486"/>
                  </a:lnTo>
                  <a:lnTo>
                    <a:pt x="0" y="1542249"/>
                  </a:lnTo>
                  <a:lnTo>
                    <a:pt x="3479" y="1545805"/>
                  </a:lnTo>
                  <a:lnTo>
                    <a:pt x="7772" y="1545805"/>
                  </a:lnTo>
                  <a:lnTo>
                    <a:pt x="12065" y="1545805"/>
                  </a:lnTo>
                  <a:lnTo>
                    <a:pt x="19024" y="1545805"/>
                  </a:lnTo>
                  <a:lnTo>
                    <a:pt x="23317" y="1545805"/>
                  </a:lnTo>
                  <a:lnTo>
                    <a:pt x="27609" y="1545805"/>
                  </a:lnTo>
                  <a:lnTo>
                    <a:pt x="31089" y="1542249"/>
                  </a:lnTo>
                  <a:lnTo>
                    <a:pt x="31089" y="1537868"/>
                  </a:lnTo>
                  <a:lnTo>
                    <a:pt x="31089" y="1533486"/>
                  </a:lnTo>
                  <a:close/>
                </a:path>
                <a:path w="93345" h="2075814">
                  <a:moveTo>
                    <a:pt x="31089" y="1360843"/>
                  </a:moveTo>
                  <a:lnTo>
                    <a:pt x="27609" y="1357287"/>
                  </a:lnTo>
                  <a:lnTo>
                    <a:pt x="23317" y="1357287"/>
                  </a:lnTo>
                  <a:lnTo>
                    <a:pt x="19024" y="1357287"/>
                  </a:lnTo>
                  <a:lnTo>
                    <a:pt x="12065" y="1357287"/>
                  </a:lnTo>
                  <a:lnTo>
                    <a:pt x="7772" y="1357287"/>
                  </a:lnTo>
                  <a:lnTo>
                    <a:pt x="3479" y="1357287"/>
                  </a:lnTo>
                  <a:lnTo>
                    <a:pt x="0" y="1360843"/>
                  </a:lnTo>
                  <a:lnTo>
                    <a:pt x="0" y="1369606"/>
                  </a:lnTo>
                  <a:lnTo>
                    <a:pt x="3479" y="1373162"/>
                  </a:lnTo>
                  <a:lnTo>
                    <a:pt x="7772" y="1373162"/>
                  </a:lnTo>
                  <a:lnTo>
                    <a:pt x="12065" y="1373162"/>
                  </a:lnTo>
                  <a:lnTo>
                    <a:pt x="19024" y="1373162"/>
                  </a:lnTo>
                  <a:lnTo>
                    <a:pt x="23317" y="1373162"/>
                  </a:lnTo>
                  <a:lnTo>
                    <a:pt x="27609" y="1373162"/>
                  </a:lnTo>
                  <a:lnTo>
                    <a:pt x="31089" y="1369606"/>
                  </a:lnTo>
                  <a:lnTo>
                    <a:pt x="31089" y="1365224"/>
                  </a:lnTo>
                  <a:lnTo>
                    <a:pt x="31089" y="1360843"/>
                  </a:lnTo>
                  <a:close/>
                </a:path>
                <a:path w="93345" h="2075814">
                  <a:moveTo>
                    <a:pt x="31089" y="1190193"/>
                  </a:moveTo>
                  <a:lnTo>
                    <a:pt x="27609" y="1186637"/>
                  </a:lnTo>
                  <a:lnTo>
                    <a:pt x="23317" y="1186637"/>
                  </a:lnTo>
                  <a:lnTo>
                    <a:pt x="19024" y="1186637"/>
                  </a:lnTo>
                  <a:lnTo>
                    <a:pt x="12065" y="1186637"/>
                  </a:lnTo>
                  <a:lnTo>
                    <a:pt x="7772" y="1186637"/>
                  </a:lnTo>
                  <a:lnTo>
                    <a:pt x="3479" y="1186637"/>
                  </a:lnTo>
                  <a:lnTo>
                    <a:pt x="0" y="1190193"/>
                  </a:lnTo>
                  <a:lnTo>
                    <a:pt x="0" y="1198956"/>
                  </a:lnTo>
                  <a:lnTo>
                    <a:pt x="3479" y="1202512"/>
                  </a:lnTo>
                  <a:lnTo>
                    <a:pt x="7772" y="1202512"/>
                  </a:lnTo>
                  <a:lnTo>
                    <a:pt x="12065" y="1202512"/>
                  </a:lnTo>
                  <a:lnTo>
                    <a:pt x="19024" y="1202512"/>
                  </a:lnTo>
                  <a:lnTo>
                    <a:pt x="23317" y="1202512"/>
                  </a:lnTo>
                  <a:lnTo>
                    <a:pt x="27609" y="1202512"/>
                  </a:lnTo>
                  <a:lnTo>
                    <a:pt x="31089" y="1198956"/>
                  </a:lnTo>
                  <a:lnTo>
                    <a:pt x="31089" y="1194574"/>
                  </a:lnTo>
                  <a:lnTo>
                    <a:pt x="31089" y="1190193"/>
                  </a:lnTo>
                  <a:close/>
                </a:path>
                <a:path w="93345" h="2075814">
                  <a:moveTo>
                    <a:pt x="31089" y="1017549"/>
                  </a:moveTo>
                  <a:lnTo>
                    <a:pt x="27609" y="1013993"/>
                  </a:lnTo>
                  <a:lnTo>
                    <a:pt x="23317" y="1013993"/>
                  </a:lnTo>
                  <a:lnTo>
                    <a:pt x="19024" y="1013993"/>
                  </a:lnTo>
                  <a:lnTo>
                    <a:pt x="12065" y="1013993"/>
                  </a:lnTo>
                  <a:lnTo>
                    <a:pt x="7772" y="1013993"/>
                  </a:lnTo>
                  <a:lnTo>
                    <a:pt x="3479" y="1013993"/>
                  </a:lnTo>
                  <a:lnTo>
                    <a:pt x="0" y="1017549"/>
                  </a:lnTo>
                  <a:lnTo>
                    <a:pt x="0" y="1026325"/>
                  </a:lnTo>
                  <a:lnTo>
                    <a:pt x="3479" y="1029868"/>
                  </a:lnTo>
                  <a:lnTo>
                    <a:pt x="7772" y="1029868"/>
                  </a:lnTo>
                  <a:lnTo>
                    <a:pt x="12065" y="1029868"/>
                  </a:lnTo>
                  <a:lnTo>
                    <a:pt x="19024" y="1029868"/>
                  </a:lnTo>
                  <a:lnTo>
                    <a:pt x="23317" y="1029868"/>
                  </a:lnTo>
                  <a:lnTo>
                    <a:pt x="27609" y="1029868"/>
                  </a:lnTo>
                  <a:lnTo>
                    <a:pt x="31089" y="1026325"/>
                  </a:lnTo>
                  <a:lnTo>
                    <a:pt x="31089" y="1021930"/>
                  </a:lnTo>
                  <a:lnTo>
                    <a:pt x="31089" y="1017549"/>
                  </a:lnTo>
                  <a:close/>
                </a:path>
                <a:path w="93345" h="2075814">
                  <a:moveTo>
                    <a:pt x="31089" y="844918"/>
                  </a:moveTo>
                  <a:lnTo>
                    <a:pt x="27609" y="841362"/>
                  </a:lnTo>
                  <a:lnTo>
                    <a:pt x="23317" y="841362"/>
                  </a:lnTo>
                  <a:lnTo>
                    <a:pt x="19024" y="841362"/>
                  </a:lnTo>
                  <a:lnTo>
                    <a:pt x="12065" y="841362"/>
                  </a:lnTo>
                  <a:lnTo>
                    <a:pt x="7772" y="841362"/>
                  </a:lnTo>
                  <a:lnTo>
                    <a:pt x="3479" y="841362"/>
                  </a:lnTo>
                  <a:lnTo>
                    <a:pt x="0" y="844918"/>
                  </a:lnTo>
                  <a:lnTo>
                    <a:pt x="0" y="853681"/>
                  </a:lnTo>
                  <a:lnTo>
                    <a:pt x="3479" y="857237"/>
                  </a:lnTo>
                  <a:lnTo>
                    <a:pt x="7772" y="857237"/>
                  </a:lnTo>
                  <a:lnTo>
                    <a:pt x="12065" y="857237"/>
                  </a:lnTo>
                  <a:lnTo>
                    <a:pt x="19024" y="857237"/>
                  </a:lnTo>
                  <a:lnTo>
                    <a:pt x="23317" y="857237"/>
                  </a:lnTo>
                  <a:lnTo>
                    <a:pt x="27609" y="857237"/>
                  </a:lnTo>
                  <a:lnTo>
                    <a:pt x="31089" y="853681"/>
                  </a:lnTo>
                  <a:lnTo>
                    <a:pt x="31089" y="849299"/>
                  </a:lnTo>
                  <a:lnTo>
                    <a:pt x="31089" y="844918"/>
                  </a:lnTo>
                  <a:close/>
                </a:path>
                <a:path w="93345" h="2075814">
                  <a:moveTo>
                    <a:pt x="31089" y="672274"/>
                  </a:moveTo>
                  <a:lnTo>
                    <a:pt x="27609" y="668718"/>
                  </a:lnTo>
                  <a:lnTo>
                    <a:pt x="23317" y="668718"/>
                  </a:lnTo>
                  <a:lnTo>
                    <a:pt x="19024" y="668718"/>
                  </a:lnTo>
                  <a:lnTo>
                    <a:pt x="12065" y="668718"/>
                  </a:lnTo>
                  <a:lnTo>
                    <a:pt x="7772" y="668718"/>
                  </a:lnTo>
                  <a:lnTo>
                    <a:pt x="3479" y="668718"/>
                  </a:lnTo>
                  <a:lnTo>
                    <a:pt x="0" y="672274"/>
                  </a:lnTo>
                  <a:lnTo>
                    <a:pt x="0" y="681050"/>
                  </a:lnTo>
                  <a:lnTo>
                    <a:pt x="3479" y="684593"/>
                  </a:lnTo>
                  <a:lnTo>
                    <a:pt x="7772" y="684593"/>
                  </a:lnTo>
                  <a:lnTo>
                    <a:pt x="12065" y="684593"/>
                  </a:lnTo>
                  <a:lnTo>
                    <a:pt x="19024" y="684593"/>
                  </a:lnTo>
                  <a:lnTo>
                    <a:pt x="23317" y="684593"/>
                  </a:lnTo>
                  <a:lnTo>
                    <a:pt x="27609" y="684593"/>
                  </a:lnTo>
                  <a:lnTo>
                    <a:pt x="31089" y="681050"/>
                  </a:lnTo>
                  <a:lnTo>
                    <a:pt x="31089" y="676656"/>
                  </a:lnTo>
                  <a:lnTo>
                    <a:pt x="31089" y="672274"/>
                  </a:lnTo>
                  <a:close/>
                </a:path>
                <a:path w="93345" h="2075814">
                  <a:moveTo>
                    <a:pt x="31089" y="501624"/>
                  </a:moveTo>
                  <a:lnTo>
                    <a:pt x="27609" y="498068"/>
                  </a:lnTo>
                  <a:lnTo>
                    <a:pt x="23317" y="498068"/>
                  </a:lnTo>
                  <a:lnTo>
                    <a:pt x="19024" y="498068"/>
                  </a:lnTo>
                  <a:lnTo>
                    <a:pt x="12065" y="498068"/>
                  </a:lnTo>
                  <a:lnTo>
                    <a:pt x="7772" y="498068"/>
                  </a:lnTo>
                  <a:lnTo>
                    <a:pt x="3479" y="498068"/>
                  </a:lnTo>
                  <a:lnTo>
                    <a:pt x="0" y="501624"/>
                  </a:lnTo>
                  <a:lnTo>
                    <a:pt x="0" y="510387"/>
                  </a:lnTo>
                  <a:lnTo>
                    <a:pt x="3479" y="513943"/>
                  </a:lnTo>
                  <a:lnTo>
                    <a:pt x="7772" y="513943"/>
                  </a:lnTo>
                  <a:lnTo>
                    <a:pt x="12065" y="513943"/>
                  </a:lnTo>
                  <a:lnTo>
                    <a:pt x="19024" y="513943"/>
                  </a:lnTo>
                  <a:lnTo>
                    <a:pt x="23317" y="513943"/>
                  </a:lnTo>
                  <a:lnTo>
                    <a:pt x="27609" y="513943"/>
                  </a:lnTo>
                  <a:lnTo>
                    <a:pt x="31089" y="510387"/>
                  </a:lnTo>
                  <a:lnTo>
                    <a:pt x="31089" y="506006"/>
                  </a:lnTo>
                  <a:lnTo>
                    <a:pt x="31089" y="501624"/>
                  </a:lnTo>
                  <a:close/>
                </a:path>
                <a:path w="93345" h="2075814">
                  <a:moveTo>
                    <a:pt x="31089" y="328993"/>
                  </a:moveTo>
                  <a:lnTo>
                    <a:pt x="27609" y="325437"/>
                  </a:lnTo>
                  <a:lnTo>
                    <a:pt x="23317" y="325437"/>
                  </a:lnTo>
                  <a:lnTo>
                    <a:pt x="19024" y="325437"/>
                  </a:lnTo>
                  <a:lnTo>
                    <a:pt x="12065" y="325437"/>
                  </a:lnTo>
                  <a:lnTo>
                    <a:pt x="7772" y="325437"/>
                  </a:lnTo>
                  <a:lnTo>
                    <a:pt x="3479" y="325437"/>
                  </a:lnTo>
                  <a:lnTo>
                    <a:pt x="0" y="328993"/>
                  </a:lnTo>
                  <a:lnTo>
                    <a:pt x="0" y="337756"/>
                  </a:lnTo>
                  <a:lnTo>
                    <a:pt x="3479" y="341312"/>
                  </a:lnTo>
                  <a:lnTo>
                    <a:pt x="7772" y="341312"/>
                  </a:lnTo>
                  <a:lnTo>
                    <a:pt x="12065" y="341312"/>
                  </a:lnTo>
                  <a:lnTo>
                    <a:pt x="19024" y="341312"/>
                  </a:lnTo>
                  <a:lnTo>
                    <a:pt x="23317" y="341312"/>
                  </a:lnTo>
                  <a:lnTo>
                    <a:pt x="27609" y="341312"/>
                  </a:lnTo>
                  <a:lnTo>
                    <a:pt x="31089" y="337756"/>
                  </a:lnTo>
                  <a:lnTo>
                    <a:pt x="31089" y="333375"/>
                  </a:lnTo>
                  <a:lnTo>
                    <a:pt x="31089" y="328993"/>
                  </a:lnTo>
                  <a:close/>
                </a:path>
                <a:path w="93345" h="2075814">
                  <a:moveTo>
                    <a:pt x="31089" y="3556"/>
                  </a:moveTo>
                  <a:lnTo>
                    <a:pt x="27609" y="0"/>
                  </a:lnTo>
                  <a:lnTo>
                    <a:pt x="23317" y="0"/>
                  </a:lnTo>
                  <a:lnTo>
                    <a:pt x="19024" y="0"/>
                  </a:lnTo>
                  <a:lnTo>
                    <a:pt x="12065" y="0"/>
                  </a:lnTo>
                  <a:lnTo>
                    <a:pt x="7772" y="0"/>
                  </a:lnTo>
                  <a:lnTo>
                    <a:pt x="3479" y="0"/>
                  </a:lnTo>
                  <a:lnTo>
                    <a:pt x="0" y="3556"/>
                  </a:lnTo>
                  <a:lnTo>
                    <a:pt x="0" y="12319"/>
                  </a:lnTo>
                  <a:lnTo>
                    <a:pt x="3479" y="15875"/>
                  </a:lnTo>
                  <a:lnTo>
                    <a:pt x="7772" y="15875"/>
                  </a:lnTo>
                  <a:lnTo>
                    <a:pt x="12065" y="15875"/>
                  </a:lnTo>
                  <a:lnTo>
                    <a:pt x="19024" y="15875"/>
                  </a:lnTo>
                  <a:lnTo>
                    <a:pt x="23317" y="15875"/>
                  </a:lnTo>
                  <a:lnTo>
                    <a:pt x="27609" y="15875"/>
                  </a:lnTo>
                  <a:lnTo>
                    <a:pt x="31089" y="12319"/>
                  </a:lnTo>
                  <a:lnTo>
                    <a:pt x="31089" y="7937"/>
                  </a:lnTo>
                  <a:lnTo>
                    <a:pt x="31089" y="3556"/>
                  </a:lnTo>
                  <a:close/>
                </a:path>
                <a:path w="93345" h="2075814">
                  <a:moveTo>
                    <a:pt x="93256" y="2063305"/>
                  </a:moveTo>
                  <a:lnTo>
                    <a:pt x="89776" y="2059749"/>
                  </a:lnTo>
                  <a:lnTo>
                    <a:pt x="85483" y="2059749"/>
                  </a:lnTo>
                  <a:lnTo>
                    <a:pt x="81191" y="2059749"/>
                  </a:lnTo>
                  <a:lnTo>
                    <a:pt x="74231" y="2059749"/>
                  </a:lnTo>
                  <a:lnTo>
                    <a:pt x="69938" y="2059749"/>
                  </a:lnTo>
                  <a:lnTo>
                    <a:pt x="65646" y="2059749"/>
                  </a:lnTo>
                  <a:lnTo>
                    <a:pt x="62166" y="2063305"/>
                  </a:lnTo>
                  <a:lnTo>
                    <a:pt x="62166" y="2072068"/>
                  </a:lnTo>
                  <a:lnTo>
                    <a:pt x="65646" y="2075624"/>
                  </a:lnTo>
                  <a:lnTo>
                    <a:pt x="69938" y="2075624"/>
                  </a:lnTo>
                  <a:lnTo>
                    <a:pt x="74231" y="2075624"/>
                  </a:lnTo>
                  <a:lnTo>
                    <a:pt x="81191" y="2075624"/>
                  </a:lnTo>
                  <a:lnTo>
                    <a:pt x="85483" y="2075624"/>
                  </a:lnTo>
                  <a:lnTo>
                    <a:pt x="89776" y="2075624"/>
                  </a:lnTo>
                  <a:lnTo>
                    <a:pt x="93256" y="2072068"/>
                  </a:lnTo>
                  <a:lnTo>
                    <a:pt x="93256" y="2067687"/>
                  </a:lnTo>
                  <a:lnTo>
                    <a:pt x="93256" y="2063305"/>
                  </a:lnTo>
                  <a:close/>
                </a:path>
                <a:path w="93345" h="2075814">
                  <a:moveTo>
                    <a:pt x="93256" y="1799386"/>
                  </a:moveTo>
                  <a:lnTo>
                    <a:pt x="89776" y="1795830"/>
                  </a:lnTo>
                  <a:lnTo>
                    <a:pt x="85483" y="1795830"/>
                  </a:lnTo>
                  <a:lnTo>
                    <a:pt x="81191" y="1795830"/>
                  </a:lnTo>
                  <a:lnTo>
                    <a:pt x="74231" y="1795830"/>
                  </a:lnTo>
                  <a:lnTo>
                    <a:pt x="69938" y="1795830"/>
                  </a:lnTo>
                  <a:lnTo>
                    <a:pt x="65646" y="1795830"/>
                  </a:lnTo>
                  <a:lnTo>
                    <a:pt x="62166" y="1799386"/>
                  </a:lnTo>
                  <a:lnTo>
                    <a:pt x="62166" y="1808149"/>
                  </a:lnTo>
                  <a:lnTo>
                    <a:pt x="65646" y="1811705"/>
                  </a:lnTo>
                  <a:lnTo>
                    <a:pt x="69938" y="1811705"/>
                  </a:lnTo>
                  <a:lnTo>
                    <a:pt x="74231" y="1811705"/>
                  </a:lnTo>
                  <a:lnTo>
                    <a:pt x="81191" y="1811705"/>
                  </a:lnTo>
                  <a:lnTo>
                    <a:pt x="85483" y="1811705"/>
                  </a:lnTo>
                  <a:lnTo>
                    <a:pt x="89776" y="1811705"/>
                  </a:lnTo>
                  <a:lnTo>
                    <a:pt x="93256" y="1808149"/>
                  </a:lnTo>
                  <a:lnTo>
                    <a:pt x="93256" y="1803768"/>
                  </a:lnTo>
                  <a:lnTo>
                    <a:pt x="93256" y="1799386"/>
                  </a:lnTo>
                  <a:close/>
                </a:path>
                <a:path w="93345" h="2075814">
                  <a:moveTo>
                    <a:pt x="93256" y="1706118"/>
                  </a:moveTo>
                  <a:lnTo>
                    <a:pt x="89776" y="1702562"/>
                  </a:lnTo>
                  <a:lnTo>
                    <a:pt x="85483" y="1702562"/>
                  </a:lnTo>
                  <a:lnTo>
                    <a:pt x="81191" y="1702562"/>
                  </a:lnTo>
                  <a:lnTo>
                    <a:pt x="74231" y="1702562"/>
                  </a:lnTo>
                  <a:lnTo>
                    <a:pt x="69938" y="1702562"/>
                  </a:lnTo>
                  <a:lnTo>
                    <a:pt x="65646" y="1702562"/>
                  </a:lnTo>
                  <a:lnTo>
                    <a:pt x="62166" y="1706118"/>
                  </a:lnTo>
                  <a:lnTo>
                    <a:pt x="62166" y="1714881"/>
                  </a:lnTo>
                  <a:lnTo>
                    <a:pt x="65646" y="1718437"/>
                  </a:lnTo>
                  <a:lnTo>
                    <a:pt x="69938" y="1718437"/>
                  </a:lnTo>
                  <a:lnTo>
                    <a:pt x="74231" y="1718437"/>
                  </a:lnTo>
                  <a:lnTo>
                    <a:pt x="81191" y="1718437"/>
                  </a:lnTo>
                  <a:lnTo>
                    <a:pt x="85483" y="1718437"/>
                  </a:lnTo>
                  <a:lnTo>
                    <a:pt x="89776" y="1718437"/>
                  </a:lnTo>
                  <a:lnTo>
                    <a:pt x="93256" y="1714881"/>
                  </a:lnTo>
                  <a:lnTo>
                    <a:pt x="93256" y="1710499"/>
                  </a:lnTo>
                  <a:lnTo>
                    <a:pt x="93256" y="1706118"/>
                  </a:lnTo>
                  <a:close/>
                </a:path>
                <a:path w="93345" h="2075814">
                  <a:moveTo>
                    <a:pt x="93256" y="1533486"/>
                  </a:moveTo>
                  <a:lnTo>
                    <a:pt x="89776" y="1529930"/>
                  </a:lnTo>
                  <a:lnTo>
                    <a:pt x="85483" y="1529930"/>
                  </a:lnTo>
                  <a:lnTo>
                    <a:pt x="81191" y="1529930"/>
                  </a:lnTo>
                  <a:lnTo>
                    <a:pt x="74231" y="1529930"/>
                  </a:lnTo>
                  <a:lnTo>
                    <a:pt x="69938" y="1529930"/>
                  </a:lnTo>
                  <a:lnTo>
                    <a:pt x="65646" y="1529930"/>
                  </a:lnTo>
                  <a:lnTo>
                    <a:pt x="62166" y="1533486"/>
                  </a:lnTo>
                  <a:lnTo>
                    <a:pt x="62166" y="1542249"/>
                  </a:lnTo>
                  <a:lnTo>
                    <a:pt x="65646" y="1545805"/>
                  </a:lnTo>
                  <a:lnTo>
                    <a:pt x="69938" y="1545805"/>
                  </a:lnTo>
                  <a:lnTo>
                    <a:pt x="74231" y="1545805"/>
                  </a:lnTo>
                  <a:lnTo>
                    <a:pt x="81191" y="1545805"/>
                  </a:lnTo>
                  <a:lnTo>
                    <a:pt x="85483" y="1545805"/>
                  </a:lnTo>
                  <a:lnTo>
                    <a:pt x="89776" y="1545805"/>
                  </a:lnTo>
                  <a:lnTo>
                    <a:pt x="93256" y="1542249"/>
                  </a:lnTo>
                  <a:lnTo>
                    <a:pt x="93256" y="1537868"/>
                  </a:lnTo>
                  <a:lnTo>
                    <a:pt x="93256" y="1533486"/>
                  </a:lnTo>
                  <a:close/>
                </a:path>
                <a:path w="93345" h="2075814">
                  <a:moveTo>
                    <a:pt x="93256" y="1360843"/>
                  </a:moveTo>
                  <a:lnTo>
                    <a:pt x="89776" y="1357287"/>
                  </a:lnTo>
                  <a:lnTo>
                    <a:pt x="85483" y="1357287"/>
                  </a:lnTo>
                  <a:lnTo>
                    <a:pt x="81191" y="1357287"/>
                  </a:lnTo>
                  <a:lnTo>
                    <a:pt x="69938" y="1357287"/>
                  </a:lnTo>
                  <a:lnTo>
                    <a:pt x="69938" y="1373162"/>
                  </a:lnTo>
                  <a:lnTo>
                    <a:pt x="81191" y="1373162"/>
                  </a:lnTo>
                  <a:lnTo>
                    <a:pt x="85483" y="1373162"/>
                  </a:lnTo>
                  <a:lnTo>
                    <a:pt x="89776" y="1373162"/>
                  </a:lnTo>
                  <a:lnTo>
                    <a:pt x="93256" y="1369606"/>
                  </a:lnTo>
                  <a:lnTo>
                    <a:pt x="93256" y="1365224"/>
                  </a:lnTo>
                  <a:lnTo>
                    <a:pt x="93256" y="1360843"/>
                  </a:lnTo>
                  <a:close/>
                </a:path>
                <a:path w="93345" h="2075814">
                  <a:moveTo>
                    <a:pt x="93256" y="1190193"/>
                  </a:moveTo>
                  <a:lnTo>
                    <a:pt x="89776" y="1186637"/>
                  </a:lnTo>
                  <a:lnTo>
                    <a:pt x="85483" y="1186637"/>
                  </a:lnTo>
                  <a:lnTo>
                    <a:pt x="81191" y="1186637"/>
                  </a:lnTo>
                  <a:lnTo>
                    <a:pt x="74231" y="1186637"/>
                  </a:lnTo>
                  <a:lnTo>
                    <a:pt x="69938" y="1186637"/>
                  </a:lnTo>
                  <a:lnTo>
                    <a:pt x="65646" y="1186637"/>
                  </a:lnTo>
                  <a:lnTo>
                    <a:pt x="62166" y="1190193"/>
                  </a:lnTo>
                  <a:lnTo>
                    <a:pt x="62166" y="1198956"/>
                  </a:lnTo>
                  <a:lnTo>
                    <a:pt x="65646" y="1202512"/>
                  </a:lnTo>
                  <a:lnTo>
                    <a:pt x="69938" y="1202512"/>
                  </a:lnTo>
                  <a:lnTo>
                    <a:pt x="74231" y="1202512"/>
                  </a:lnTo>
                  <a:lnTo>
                    <a:pt x="81191" y="1202512"/>
                  </a:lnTo>
                  <a:lnTo>
                    <a:pt x="85483" y="1202512"/>
                  </a:lnTo>
                  <a:lnTo>
                    <a:pt x="89776" y="1202512"/>
                  </a:lnTo>
                  <a:lnTo>
                    <a:pt x="93256" y="1198956"/>
                  </a:lnTo>
                  <a:lnTo>
                    <a:pt x="93256" y="1194574"/>
                  </a:lnTo>
                  <a:lnTo>
                    <a:pt x="93256" y="1190193"/>
                  </a:lnTo>
                  <a:close/>
                </a:path>
                <a:path w="93345" h="2075814">
                  <a:moveTo>
                    <a:pt x="93256" y="1017549"/>
                  </a:moveTo>
                  <a:lnTo>
                    <a:pt x="89776" y="1013993"/>
                  </a:lnTo>
                  <a:lnTo>
                    <a:pt x="85483" y="1013993"/>
                  </a:lnTo>
                  <a:lnTo>
                    <a:pt x="81191" y="1013993"/>
                  </a:lnTo>
                  <a:lnTo>
                    <a:pt x="74231" y="1013993"/>
                  </a:lnTo>
                  <a:lnTo>
                    <a:pt x="69938" y="1013993"/>
                  </a:lnTo>
                  <a:lnTo>
                    <a:pt x="65646" y="1013993"/>
                  </a:lnTo>
                  <a:lnTo>
                    <a:pt x="62166" y="1017549"/>
                  </a:lnTo>
                  <a:lnTo>
                    <a:pt x="62166" y="1026325"/>
                  </a:lnTo>
                  <a:lnTo>
                    <a:pt x="65646" y="1029868"/>
                  </a:lnTo>
                  <a:lnTo>
                    <a:pt x="69938" y="1029868"/>
                  </a:lnTo>
                  <a:lnTo>
                    <a:pt x="74231" y="1029868"/>
                  </a:lnTo>
                  <a:lnTo>
                    <a:pt x="81191" y="1029868"/>
                  </a:lnTo>
                  <a:lnTo>
                    <a:pt x="85483" y="1029868"/>
                  </a:lnTo>
                  <a:lnTo>
                    <a:pt x="89776" y="1029868"/>
                  </a:lnTo>
                  <a:lnTo>
                    <a:pt x="93256" y="1026325"/>
                  </a:lnTo>
                  <a:lnTo>
                    <a:pt x="93256" y="1021930"/>
                  </a:lnTo>
                  <a:lnTo>
                    <a:pt x="93256" y="1017549"/>
                  </a:lnTo>
                  <a:close/>
                </a:path>
                <a:path w="93345" h="2075814">
                  <a:moveTo>
                    <a:pt x="93256" y="844918"/>
                  </a:moveTo>
                  <a:lnTo>
                    <a:pt x="89776" y="841362"/>
                  </a:lnTo>
                  <a:lnTo>
                    <a:pt x="85483" y="841362"/>
                  </a:lnTo>
                  <a:lnTo>
                    <a:pt x="81191" y="841362"/>
                  </a:lnTo>
                  <a:lnTo>
                    <a:pt x="74231" y="841362"/>
                  </a:lnTo>
                  <a:lnTo>
                    <a:pt x="69938" y="841362"/>
                  </a:lnTo>
                  <a:lnTo>
                    <a:pt x="65646" y="841362"/>
                  </a:lnTo>
                  <a:lnTo>
                    <a:pt x="62166" y="844918"/>
                  </a:lnTo>
                  <a:lnTo>
                    <a:pt x="62166" y="853681"/>
                  </a:lnTo>
                  <a:lnTo>
                    <a:pt x="65646" y="857237"/>
                  </a:lnTo>
                  <a:lnTo>
                    <a:pt x="69938" y="857237"/>
                  </a:lnTo>
                  <a:lnTo>
                    <a:pt x="74231" y="857237"/>
                  </a:lnTo>
                  <a:lnTo>
                    <a:pt x="81191" y="857237"/>
                  </a:lnTo>
                  <a:lnTo>
                    <a:pt x="85483" y="857237"/>
                  </a:lnTo>
                  <a:lnTo>
                    <a:pt x="89776" y="857237"/>
                  </a:lnTo>
                  <a:lnTo>
                    <a:pt x="93256" y="853681"/>
                  </a:lnTo>
                  <a:lnTo>
                    <a:pt x="93256" y="849299"/>
                  </a:lnTo>
                  <a:lnTo>
                    <a:pt x="93256" y="844918"/>
                  </a:lnTo>
                  <a:close/>
                </a:path>
                <a:path w="93345" h="2075814">
                  <a:moveTo>
                    <a:pt x="93256" y="672274"/>
                  </a:moveTo>
                  <a:lnTo>
                    <a:pt x="89776" y="668718"/>
                  </a:lnTo>
                  <a:lnTo>
                    <a:pt x="85483" y="668718"/>
                  </a:lnTo>
                  <a:lnTo>
                    <a:pt x="81191" y="668718"/>
                  </a:lnTo>
                  <a:lnTo>
                    <a:pt x="74231" y="668718"/>
                  </a:lnTo>
                  <a:lnTo>
                    <a:pt x="69938" y="668718"/>
                  </a:lnTo>
                  <a:lnTo>
                    <a:pt x="65646" y="668718"/>
                  </a:lnTo>
                  <a:lnTo>
                    <a:pt x="62166" y="672274"/>
                  </a:lnTo>
                  <a:lnTo>
                    <a:pt x="62166" y="681050"/>
                  </a:lnTo>
                  <a:lnTo>
                    <a:pt x="65646" y="684593"/>
                  </a:lnTo>
                  <a:lnTo>
                    <a:pt x="69938" y="684593"/>
                  </a:lnTo>
                  <a:lnTo>
                    <a:pt x="74231" y="684593"/>
                  </a:lnTo>
                  <a:lnTo>
                    <a:pt x="81191" y="684593"/>
                  </a:lnTo>
                  <a:lnTo>
                    <a:pt x="85483" y="684593"/>
                  </a:lnTo>
                  <a:lnTo>
                    <a:pt x="89776" y="684593"/>
                  </a:lnTo>
                  <a:lnTo>
                    <a:pt x="93256" y="681050"/>
                  </a:lnTo>
                  <a:lnTo>
                    <a:pt x="93256" y="676656"/>
                  </a:lnTo>
                  <a:lnTo>
                    <a:pt x="93256" y="672274"/>
                  </a:lnTo>
                  <a:close/>
                </a:path>
                <a:path w="93345" h="2075814">
                  <a:moveTo>
                    <a:pt x="93256" y="501624"/>
                  </a:moveTo>
                  <a:lnTo>
                    <a:pt x="89776" y="498068"/>
                  </a:lnTo>
                  <a:lnTo>
                    <a:pt x="85483" y="498068"/>
                  </a:lnTo>
                  <a:lnTo>
                    <a:pt x="81191" y="498068"/>
                  </a:lnTo>
                  <a:lnTo>
                    <a:pt x="74231" y="498068"/>
                  </a:lnTo>
                  <a:lnTo>
                    <a:pt x="69938" y="498068"/>
                  </a:lnTo>
                  <a:lnTo>
                    <a:pt x="65646" y="498068"/>
                  </a:lnTo>
                  <a:lnTo>
                    <a:pt x="62166" y="501624"/>
                  </a:lnTo>
                  <a:lnTo>
                    <a:pt x="62166" y="510387"/>
                  </a:lnTo>
                  <a:lnTo>
                    <a:pt x="65646" y="513943"/>
                  </a:lnTo>
                  <a:lnTo>
                    <a:pt x="69938" y="513943"/>
                  </a:lnTo>
                  <a:lnTo>
                    <a:pt x="74231" y="513943"/>
                  </a:lnTo>
                  <a:lnTo>
                    <a:pt x="81191" y="513943"/>
                  </a:lnTo>
                  <a:lnTo>
                    <a:pt x="85483" y="513943"/>
                  </a:lnTo>
                  <a:lnTo>
                    <a:pt x="89776" y="513943"/>
                  </a:lnTo>
                  <a:lnTo>
                    <a:pt x="93256" y="510387"/>
                  </a:lnTo>
                  <a:lnTo>
                    <a:pt x="93256" y="506006"/>
                  </a:lnTo>
                  <a:lnTo>
                    <a:pt x="93256" y="501624"/>
                  </a:lnTo>
                  <a:close/>
                </a:path>
                <a:path w="93345" h="2075814">
                  <a:moveTo>
                    <a:pt x="93256" y="328993"/>
                  </a:moveTo>
                  <a:lnTo>
                    <a:pt x="89776" y="325437"/>
                  </a:lnTo>
                  <a:lnTo>
                    <a:pt x="85483" y="325437"/>
                  </a:lnTo>
                  <a:lnTo>
                    <a:pt x="81191" y="325437"/>
                  </a:lnTo>
                  <a:lnTo>
                    <a:pt x="74231" y="325437"/>
                  </a:lnTo>
                  <a:lnTo>
                    <a:pt x="69938" y="325437"/>
                  </a:lnTo>
                  <a:lnTo>
                    <a:pt x="65646" y="325437"/>
                  </a:lnTo>
                  <a:lnTo>
                    <a:pt x="62166" y="328993"/>
                  </a:lnTo>
                  <a:lnTo>
                    <a:pt x="62166" y="337756"/>
                  </a:lnTo>
                  <a:lnTo>
                    <a:pt x="65646" y="341312"/>
                  </a:lnTo>
                  <a:lnTo>
                    <a:pt x="69938" y="341312"/>
                  </a:lnTo>
                  <a:lnTo>
                    <a:pt x="74231" y="341312"/>
                  </a:lnTo>
                  <a:lnTo>
                    <a:pt x="81191" y="341312"/>
                  </a:lnTo>
                  <a:lnTo>
                    <a:pt x="85483" y="341312"/>
                  </a:lnTo>
                  <a:lnTo>
                    <a:pt x="89776" y="341312"/>
                  </a:lnTo>
                  <a:lnTo>
                    <a:pt x="93256" y="337756"/>
                  </a:lnTo>
                  <a:lnTo>
                    <a:pt x="93256" y="333375"/>
                  </a:lnTo>
                  <a:lnTo>
                    <a:pt x="93256" y="328993"/>
                  </a:lnTo>
                  <a:close/>
                </a:path>
                <a:path w="93345" h="2075814">
                  <a:moveTo>
                    <a:pt x="93256" y="3556"/>
                  </a:moveTo>
                  <a:lnTo>
                    <a:pt x="89776" y="0"/>
                  </a:lnTo>
                  <a:lnTo>
                    <a:pt x="85483" y="0"/>
                  </a:lnTo>
                  <a:lnTo>
                    <a:pt x="81191" y="0"/>
                  </a:lnTo>
                  <a:lnTo>
                    <a:pt x="74231" y="0"/>
                  </a:lnTo>
                  <a:lnTo>
                    <a:pt x="69938" y="0"/>
                  </a:lnTo>
                  <a:lnTo>
                    <a:pt x="65646" y="0"/>
                  </a:lnTo>
                  <a:lnTo>
                    <a:pt x="62166" y="3556"/>
                  </a:lnTo>
                  <a:lnTo>
                    <a:pt x="62166" y="12319"/>
                  </a:lnTo>
                  <a:lnTo>
                    <a:pt x="65646" y="15875"/>
                  </a:lnTo>
                  <a:lnTo>
                    <a:pt x="69938" y="15875"/>
                  </a:lnTo>
                  <a:lnTo>
                    <a:pt x="74231" y="15875"/>
                  </a:lnTo>
                  <a:lnTo>
                    <a:pt x="81191" y="15875"/>
                  </a:lnTo>
                  <a:lnTo>
                    <a:pt x="85483" y="15875"/>
                  </a:lnTo>
                  <a:lnTo>
                    <a:pt x="89776" y="15875"/>
                  </a:lnTo>
                  <a:lnTo>
                    <a:pt x="93256" y="12319"/>
                  </a:lnTo>
                  <a:lnTo>
                    <a:pt x="93256" y="7937"/>
                  </a:lnTo>
                  <a:lnTo>
                    <a:pt x="93256" y="3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6311963" y="5272277"/>
              <a:ext cx="787400" cy="1043940"/>
            </a:xfrm>
            <a:custGeom>
              <a:avLst/>
              <a:gdLst/>
              <a:ahLst/>
              <a:cxnLst/>
              <a:rect l="l" t="t" r="r" b="b"/>
              <a:pathLst>
                <a:path w="787400" h="1043939">
                  <a:moveTo>
                    <a:pt x="31089" y="1031443"/>
                  </a:moveTo>
                  <a:lnTo>
                    <a:pt x="27609" y="1027887"/>
                  </a:lnTo>
                  <a:lnTo>
                    <a:pt x="23317" y="1027887"/>
                  </a:lnTo>
                  <a:lnTo>
                    <a:pt x="19024" y="1027887"/>
                  </a:lnTo>
                  <a:lnTo>
                    <a:pt x="12065" y="1027887"/>
                  </a:lnTo>
                  <a:lnTo>
                    <a:pt x="7772" y="1027887"/>
                  </a:lnTo>
                  <a:lnTo>
                    <a:pt x="3479" y="1027887"/>
                  </a:lnTo>
                  <a:lnTo>
                    <a:pt x="0" y="1031443"/>
                  </a:lnTo>
                  <a:lnTo>
                    <a:pt x="0" y="1040218"/>
                  </a:lnTo>
                  <a:lnTo>
                    <a:pt x="3479" y="1043762"/>
                  </a:lnTo>
                  <a:lnTo>
                    <a:pt x="7772" y="1043762"/>
                  </a:lnTo>
                  <a:lnTo>
                    <a:pt x="12065" y="1043762"/>
                  </a:lnTo>
                  <a:lnTo>
                    <a:pt x="19024" y="1043762"/>
                  </a:lnTo>
                  <a:lnTo>
                    <a:pt x="23317" y="1043762"/>
                  </a:lnTo>
                  <a:lnTo>
                    <a:pt x="27609" y="1043762"/>
                  </a:lnTo>
                  <a:lnTo>
                    <a:pt x="31089" y="1040218"/>
                  </a:lnTo>
                  <a:lnTo>
                    <a:pt x="31089" y="1035824"/>
                  </a:lnTo>
                  <a:lnTo>
                    <a:pt x="31089" y="1031443"/>
                  </a:lnTo>
                  <a:close/>
                </a:path>
                <a:path w="787400" h="1043939">
                  <a:moveTo>
                    <a:pt x="93243" y="1031443"/>
                  </a:moveTo>
                  <a:lnTo>
                    <a:pt x="89763" y="1027887"/>
                  </a:lnTo>
                  <a:lnTo>
                    <a:pt x="85483" y="1027887"/>
                  </a:lnTo>
                  <a:lnTo>
                    <a:pt x="81191" y="1027887"/>
                  </a:lnTo>
                  <a:lnTo>
                    <a:pt x="74231" y="1027887"/>
                  </a:lnTo>
                  <a:lnTo>
                    <a:pt x="69938" y="1027887"/>
                  </a:lnTo>
                  <a:lnTo>
                    <a:pt x="65646" y="1027887"/>
                  </a:lnTo>
                  <a:lnTo>
                    <a:pt x="62166" y="1031443"/>
                  </a:lnTo>
                  <a:lnTo>
                    <a:pt x="62166" y="1040218"/>
                  </a:lnTo>
                  <a:lnTo>
                    <a:pt x="65646" y="1043762"/>
                  </a:lnTo>
                  <a:lnTo>
                    <a:pt x="69938" y="1043762"/>
                  </a:lnTo>
                  <a:lnTo>
                    <a:pt x="74231" y="1043762"/>
                  </a:lnTo>
                  <a:lnTo>
                    <a:pt x="81191" y="1043762"/>
                  </a:lnTo>
                  <a:lnTo>
                    <a:pt x="85483" y="1043762"/>
                  </a:lnTo>
                  <a:lnTo>
                    <a:pt x="89763" y="1043762"/>
                  </a:lnTo>
                  <a:lnTo>
                    <a:pt x="93243" y="1040218"/>
                  </a:lnTo>
                  <a:lnTo>
                    <a:pt x="93243" y="1035824"/>
                  </a:lnTo>
                  <a:lnTo>
                    <a:pt x="93243" y="1031443"/>
                  </a:lnTo>
                  <a:close/>
                </a:path>
                <a:path w="787400" h="1043939">
                  <a:moveTo>
                    <a:pt x="786777" y="3556"/>
                  </a:moveTo>
                  <a:lnTo>
                    <a:pt x="783297" y="0"/>
                  </a:lnTo>
                  <a:lnTo>
                    <a:pt x="774712" y="0"/>
                  </a:lnTo>
                  <a:lnTo>
                    <a:pt x="771232" y="3556"/>
                  </a:lnTo>
                  <a:lnTo>
                    <a:pt x="767753" y="0"/>
                  </a:lnTo>
                  <a:lnTo>
                    <a:pt x="759167" y="0"/>
                  </a:lnTo>
                  <a:lnTo>
                    <a:pt x="755688" y="3556"/>
                  </a:lnTo>
                  <a:lnTo>
                    <a:pt x="755688" y="12319"/>
                  </a:lnTo>
                  <a:lnTo>
                    <a:pt x="759167" y="15875"/>
                  </a:lnTo>
                  <a:lnTo>
                    <a:pt x="767753" y="15875"/>
                  </a:lnTo>
                  <a:lnTo>
                    <a:pt x="771232" y="12319"/>
                  </a:lnTo>
                  <a:lnTo>
                    <a:pt x="774712" y="15875"/>
                  </a:lnTo>
                  <a:lnTo>
                    <a:pt x="783297" y="15875"/>
                  </a:lnTo>
                  <a:lnTo>
                    <a:pt x="786777" y="12319"/>
                  </a:lnTo>
                  <a:lnTo>
                    <a:pt x="786777" y="7937"/>
                  </a:lnTo>
                  <a:lnTo>
                    <a:pt x="786777" y="3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4228" y="6500582"/>
              <a:ext cx="141813" cy="14485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958408" y="6637502"/>
              <a:ext cx="615950" cy="8255"/>
            </a:xfrm>
            <a:custGeom>
              <a:avLst/>
              <a:gdLst/>
              <a:ahLst/>
              <a:cxnLst/>
              <a:rect l="l" t="t" r="r" b="b"/>
              <a:pathLst>
                <a:path w="615950" h="8254">
                  <a:moveTo>
                    <a:pt x="615810" y="0"/>
                  </a:moveTo>
                  <a:lnTo>
                    <a:pt x="0" y="0"/>
                  </a:lnTo>
                  <a:lnTo>
                    <a:pt x="0" y="7937"/>
                  </a:lnTo>
                  <a:lnTo>
                    <a:pt x="615810" y="7937"/>
                  </a:lnTo>
                  <a:lnTo>
                    <a:pt x="615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6597" y="6357709"/>
              <a:ext cx="141813" cy="28772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958408" y="6357721"/>
              <a:ext cx="615950" cy="8255"/>
            </a:xfrm>
            <a:custGeom>
              <a:avLst/>
              <a:gdLst/>
              <a:ahLst/>
              <a:cxnLst/>
              <a:rect l="l" t="t" r="r" b="b"/>
              <a:pathLst>
                <a:path w="615950" h="8254">
                  <a:moveTo>
                    <a:pt x="615810" y="0"/>
                  </a:moveTo>
                  <a:lnTo>
                    <a:pt x="0" y="0"/>
                  </a:lnTo>
                  <a:lnTo>
                    <a:pt x="0" y="7937"/>
                  </a:lnTo>
                  <a:lnTo>
                    <a:pt x="615810" y="7937"/>
                  </a:lnTo>
                  <a:lnTo>
                    <a:pt x="615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0" name="object 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74228" y="6357709"/>
              <a:ext cx="141813" cy="142872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548667" y="5644061"/>
            <a:ext cx="230281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22" dirty="0">
                <a:latin typeface="Arial MT"/>
                <a:cs typeface="Arial MT"/>
              </a:rPr>
              <a:t>Mux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323321" y="4293085"/>
            <a:ext cx="2125756" cy="1315010"/>
          </a:xfrm>
          <a:custGeom>
            <a:avLst/>
            <a:gdLst/>
            <a:ahLst/>
            <a:cxnLst/>
            <a:rect l="l" t="t" r="r" b="b"/>
            <a:pathLst>
              <a:path w="2409190" h="1490345">
                <a:moveTo>
                  <a:pt x="62166" y="31750"/>
                </a:moveTo>
                <a:lnTo>
                  <a:pt x="56337" y="13881"/>
                </a:lnTo>
                <a:lnTo>
                  <a:pt x="48564" y="5943"/>
                </a:lnTo>
                <a:lnTo>
                  <a:pt x="31089" y="0"/>
                </a:lnTo>
                <a:lnTo>
                  <a:pt x="23317" y="1981"/>
                </a:lnTo>
                <a:lnTo>
                  <a:pt x="0" y="25793"/>
                </a:lnTo>
                <a:lnTo>
                  <a:pt x="0" y="39687"/>
                </a:lnTo>
                <a:lnTo>
                  <a:pt x="23317" y="63487"/>
                </a:lnTo>
                <a:lnTo>
                  <a:pt x="36906" y="63487"/>
                </a:lnTo>
                <a:lnTo>
                  <a:pt x="62166" y="31750"/>
                </a:lnTo>
                <a:close/>
              </a:path>
              <a:path w="2409190" h="1490345">
                <a:moveTo>
                  <a:pt x="2408885" y="1095349"/>
                </a:moveTo>
                <a:lnTo>
                  <a:pt x="2352548" y="1065657"/>
                </a:lnTo>
                <a:lnTo>
                  <a:pt x="2352548" y="63487"/>
                </a:lnTo>
                <a:lnTo>
                  <a:pt x="2364194" y="59524"/>
                </a:lnTo>
                <a:lnTo>
                  <a:pt x="2368080" y="55562"/>
                </a:lnTo>
                <a:lnTo>
                  <a:pt x="2371966" y="49606"/>
                </a:lnTo>
                <a:lnTo>
                  <a:pt x="2373909" y="45631"/>
                </a:lnTo>
                <a:lnTo>
                  <a:pt x="2375852" y="39687"/>
                </a:lnTo>
                <a:lnTo>
                  <a:pt x="2377795" y="31750"/>
                </a:lnTo>
                <a:lnTo>
                  <a:pt x="2371966" y="13881"/>
                </a:lnTo>
                <a:lnTo>
                  <a:pt x="2364194" y="5943"/>
                </a:lnTo>
                <a:lnTo>
                  <a:pt x="2346718" y="0"/>
                </a:lnTo>
                <a:lnTo>
                  <a:pt x="2338946" y="1981"/>
                </a:lnTo>
                <a:lnTo>
                  <a:pt x="2315629" y="25793"/>
                </a:lnTo>
                <a:lnTo>
                  <a:pt x="2315629" y="39687"/>
                </a:lnTo>
                <a:lnTo>
                  <a:pt x="2337003" y="62826"/>
                </a:lnTo>
                <a:lnTo>
                  <a:pt x="2337003" y="1057465"/>
                </a:lnTo>
                <a:lnTo>
                  <a:pt x="2288438" y="1031849"/>
                </a:lnTo>
                <a:lnTo>
                  <a:pt x="2282609" y="1041768"/>
                </a:lnTo>
                <a:lnTo>
                  <a:pt x="2337003" y="1070457"/>
                </a:lnTo>
                <a:lnTo>
                  <a:pt x="2337003" y="1260055"/>
                </a:lnTo>
                <a:lnTo>
                  <a:pt x="648843" y="1260055"/>
                </a:lnTo>
                <a:lnTo>
                  <a:pt x="641070" y="1260055"/>
                </a:lnTo>
                <a:lnTo>
                  <a:pt x="641070" y="1267993"/>
                </a:lnTo>
                <a:lnTo>
                  <a:pt x="641070" y="1408874"/>
                </a:lnTo>
                <a:lnTo>
                  <a:pt x="625538" y="1408874"/>
                </a:lnTo>
                <a:lnTo>
                  <a:pt x="633298" y="1424749"/>
                </a:lnTo>
                <a:lnTo>
                  <a:pt x="641070" y="1448562"/>
                </a:lnTo>
                <a:lnTo>
                  <a:pt x="646899" y="1472374"/>
                </a:lnTo>
                <a:lnTo>
                  <a:pt x="650786" y="1490230"/>
                </a:lnTo>
                <a:lnTo>
                  <a:pt x="652729" y="1472374"/>
                </a:lnTo>
                <a:lnTo>
                  <a:pt x="660501" y="1448562"/>
                </a:lnTo>
                <a:lnTo>
                  <a:pt x="666330" y="1426730"/>
                </a:lnTo>
                <a:lnTo>
                  <a:pt x="674103" y="1408874"/>
                </a:lnTo>
                <a:lnTo>
                  <a:pt x="656615" y="1408874"/>
                </a:lnTo>
                <a:lnTo>
                  <a:pt x="656615" y="1275930"/>
                </a:lnTo>
                <a:lnTo>
                  <a:pt x="2344775" y="1275930"/>
                </a:lnTo>
                <a:lnTo>
                  <a:pt x="2352548" y="1275930"/>
                </a:lnTo>
                <a:lnTo>
                  <a:pt x="2352548" y="1267993"/>
                </a:lnTo>
                <a:lnTo>
                  <a:pt x="2352548" y="1078649"/>
                </a:lnTo>
                <a:lnTo>
                  <a:pt x="2403056" y="1105268"/>
                </a:lnTo>
                <a:lnTo>
                  <a:pt x="2408885" y="1095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3" name="object 73"/>
          <p:cNvSpPr txBox="1"/>
          <p:nvPr/>
        </p:nvSpPr>
        <p:spPr>
          <a:xfrm>
            <a:off x="7439316" y="5101286"/>
            <a:ext cx="145676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22" dirty="0">
                <a:latin typeface="Arial MT"/>
                <a:cs typeface="Arial MT"/>
              </a:rPr>
              <a:t>32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264006" y="4321100"/>
            <a:ext cx="1213597" cy="1286996"/>
          </a:xfrm>
          <a:custGeom>
            <a:avLst/>
            <a:gdLst/>
            <a:ahLst/>
            <a:cxnLst/>
            <a:rect l="l" t="t" r="r" b="b"/>
            <a:pathLst>
              <a:path w="1375410" h="1458595">
                <a:moveTo>
                  <a:pt x="1375397" y="1377124"/>
                </a:moveTo>
                <a:lnTo>
                  <a:pt x="1359852" y="1377124"/>
                </a:lnTo>
                <a:lnTo>
                  <a:pt x="1359852" y="1236243"/>
                </a:lnTo>
                <a:lnTo>
                  <a:pt x="1359852" y="1228305"/>
                </a:lnTo>
                <a:lnTo>
                  <a:pt x="1352080" y="1228305"/>
                </a:lnTo>
                <a:lnTo>
                  <a:pt x="75768" y="1228305"/>
                </a:lnTo>
                <a:lnTo>
                  <a:pt x="75768" y="1050620"/>
                </a:lnTo>
                <a:lnTo>
                  <a:pt x="118503" y="1073518"/>
                </a:lnTo>
                <a:lnTo>
                  <a:pt x="124333" y="1063599"/>
                </a:lnTo>
                <a:lnTo>
                  <a:pt x="75768" y="1037577"/>
                </a:lnTo>
                <a:lnTo>
                  <a:pt x="75768" y="0"/>
                </a:lnTo>
                <a:lnTo>
                  <a:pt x="60223" y="0"/>
                </a:lnTo>
                <a:lnTo>
                  <a:pt x="60223" y="1029258"/>
                </a:lnTo>
                <a:lnTo>
                  <a:pt x="5829" y="1000099"/>
                </a:lnTo>
                <a:lnTo>
                  <a:pt x="0" y="1010018"/>
                </a:lnTo>
                <a:lnTo>
                  <a:pt x="60223" y="1042289"/>
                </a:lnTo>
                <a:lnTo>
                  <a:pt x="60223" y="1236243"/>
                </a:lnTo>
                <a:lnTo>
                  <a:pt x="60223" y="1244180"/>
                </a:lnTo>
                <a:lnTo>
                  <a:pt x="67995" y="1244180"/>
                </a:lnTo>
                <a:lnTo>
                  <a:pt x="1344307" y="1244180"/>
                </a:lnTo>
                <a:lnTo>
                  <a:pt x="1344307" y="1377124"/>
                </a:lnTo>
                <a:lnTo>
                  <a:pt x="1328775" y="1377124"/>
                </a:lnTo>
                <a:lnTo>
                  <a:pt x="1334604" y="1392999"/>
                </a:lnTo>
                <a:lnTo>
                  <a:pt x="1350137" y="1440624"/>
                </a:lnTo>
                <a:lnTo>
                  <a:pt x="1352080" y="1458480"/>
                </a:lnTo>
                <a:lnTo>
                  <a:pt x="1355966" y="1440624"/>
                </a:lnTo>
                <a:lnTo>
                  <a:pt x="1361795" y="1416812"/>
                </a:lnTo>
                <a:lnTo>
                  <a:pt x="1369568" y="1394980"/>
                </a:lnTo>
                <a:lnTo>
                  <a:pt x="1375397" y="1377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5" name="object 75"/>
          <p:cNvSpPr txBox="1"/>
          <p:nvPr/>
        </p:nvSpPr>
        <p:spPr>
          <a:xfrm>
            <a:off x="4330865" y="5101286"/>
            <a:ext cx="1011331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5946">
              <a:spcBef>
                <a:spcPts val="88"/>
              </a:spcBef>
            </a:pPr>
            <a:r>
              <a:rPr sz="882" spc="-22" dirty="0">
                <a:latin typeface="Arial MT"/>
                <a:cs typeface="Arial MT"/>
              </a:rPr>
              <a:t>32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289041" y="4321100"/>
            <a:ext cx="342900" cy="1286996"/>
          </a:xfrm>
          <a:custGeom>
            <a:avLst/>
            <a:gdLst/>
            <a:ahLst/>
            <a:cxnLst/>
            <a:rect l="l" t="t" r="r" b="b"/>
            <a:pathLst>
              <a:path w="388620" h="1458595">
                <a:moveTo>
                  <a:pt x="388531" y="1377124"/>
                </a:moveTo>
                <a:lnTo>
                  <a:pt x="372986" y="1377124"/>
                </a:lnTo>
                <a:lnTo>
                  <a:pt x="372986" y="1129080"/>
                </a:lnTo>
                <a:lnTo>
                  <a:pt x="372986" y="1121143"/>
                </a:lnTo>
                <a:lnTo>
                  <a:pt x="365213" y="1121143"/>
                </a:lnTo>
                <a:lnTo>
                  <a:pt x="75755" y="1121143"/>
                </a:lnTo>
                <a:lnTo>
                  <a:pt x="75755" y="1050620"/>
                </a:lnTo>
                <a:lnTo>
                  <a:pt x="118503" y="1073518"/>
                </a:lnTo>
                <a:lnTo>
                  <a:pt x="124333" y="1063599"/>
                </a:lnTo>
                <a:lnTo>
                  <a:pt x="75755" y="1037577"/>
                </a:lnTo>
                <a:lnTo>
                  <a:pt x="75755" y="0"/>
                </a:lnTo>
                <a:lnTo>
                  <a:pt x="60223" y="0"/>
                </a:lnTo>
                <a:lnTo>
                  <a:pt x="60223" y="1029258"/>
                </a:lnTo>
                <a:lnTo>
                  <a:pt x="5829" y="1000099"/>
                </a:lnTo>
                <a:lnTo>
                  <a:pt x="0" y="1010018"/>
                </a:lnTo>
                <a:lnTo>
                  <a:pt x="60223" y="1042289"/>
                </a:lnTo>
                <a:lnTo>
                  <a:pt x="60223" y="1129080"/>
                </a:lnTo>
                <a:lnTo>
                  <a:pt x="60223" y="1137018"/>
                </a:lnTo>
                <a:lnTo>
                  <a:pt x="67995" y="1137018"/>
                </a:lnTo>
                <a:lnTo>
                  <a:pt x="357441" y="1137018"/>
                </a:lnTo>
                <a:lnTo>
                  <a:pt x="357441" y="1377124"/>
                </a:lnTo>
                <a:lnTo>
                  <a:pt x="341909" y="1377124"/>
                </a:lnTo>
                <a:lnTo>
                  <a:pt x="347726" y="1392999"/>
                </a:lnTo>
                <a:lnTo>
                  <a:pt x="363270" y="1440624"/>
                </a:lnTo>
                <a:lnTo>
                  <a:pt x="365213" y="1458480"/>
                </a:lnTo>
                <a:lnTo>
                  <a:pt x="369100" y="1440624"/>
                </a:lnTo>
                <a:lnTo>
                  <a:pt x="374929" y="1416812"/>
                </a:lnTo>
                <a:lnTo>
                  <a:pt x="382701" y="1394980"/>
                </a:lnTo>
                <a:lnTo>
                  <a:pt x="388531" y="1377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7" name="object 77"/>
          <p:cNvSpPr txBox="1"/>
          <p:nvPr/>
        </p:nvSpPr>
        <p:spPr>
          <a:xfrm>
            <a:off x="5390970" y="5101286"/>
            <a:ext cx="143435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22" dirty="0">
                <a:latin typeface="Arial MT"/>
                <a:cs typeface="Arial MT"/>
              </a:rPr>
              <a:t>32</a:t>
            </a:r>
            <a:endParaRPr sz="882">
              <a:latin typeface="Arial MT"/>
              <a:cs typeface="Arial MT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610696" y="5132719"/>
            <a:ext cx="294715" cy="217393"/>
          </a:xfrm>
          <a:custGeom>
            <a:avLst/>
            <a:gdLst/>
            <a:ahLst/>
            <a:cxnLst/>
            <a:rect l="l" t="t" r="r" b="b"/>
            <a:pathLst>
              <a:path w="334010" h="246379">
                <a:moveTo>
                  <a:pt x="333766" y="0"/>
                </a:moveTo>
                <a:lnTo>
                  <a:pt x="0" y="0"/>
                </a:lnTo>
                <a:lnTo>
                  <a:pt x="0" y="246221"/>
                </a:lnTo>
                <a:lnTo>
                  <a:pt x="333766" y="246221"/>
                </a:lnTo>
                <a:lnTo>
                  <a:pt x="3337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9" name="object 79"/>
          <p:cNvSpPr txBox="1"/>
          <p:nvPr/>
        </p:nvSpPr>
        <p:spPr>
          <a:xfrm>
            <a:off x="3685551" y="5153361"/>
            <a:ext cx="142315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22" dirty="0">
                <a:latin typeface="Arial MT"/>
                <a:cs typeface="Arial MT"/>
              </a:rPr>
              <a:t>18</a:t>
            </a:r>
            <a:endParaRPr sz="882">
              <a:latin typeface="Arial MT"/>
              <a:cs typeface="Arial MT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986451" y="4284929"/>
            <a:ext cx="1916206" cy="1599640"/>
            <a:chOff x="2098911" y="4856252"/>
            <a:chExt cx="2171700" cy="1812925"/>
          </a:xfrm>
        </p:grpSpPr>
        <p:pic>
          <p:nvPicPr>
            <p:cNvPr id="81" name="object 8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6160" y="5992368"/>
              <a:ext cx="704088" cy="676656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3595907" y="6032563"/>
              <a:ext cx="538480" cy="509905"/>
            </a:xfrm>
            <a:custGeom>
              <a:avLst/>
              <a:gdLst/>
              <a:ahLst/>
              <a:cxnLst/>
              <a:rect l="l" t="t" r="r" b="b"/>
              <a:pathLst>
                <a:path w="538479" h="509904">
                  <a:moveTo>
                    <a:pt x="460121" y="73964"/>
                  </a:moveTo>
                  <a:lnTo>
                    <a:pt x="491373" y="109377"/>
                  </a:lnTo>
                  <a:lnTo>
                    <a:pt x="514811" y="148367"/>
                  </a:lnTo>
                  <a:lnTo>
                    <a:pt x="530437" y="189911"/>
                  </a:lnTo>
                  <a:lnTo>
                    <a:pt x="538250" y="232988"/>
                  </a:lnTo>
                  <a:lnTo>
                    <a:pt x="538250" y="276576"/>
                  </a:lnTo>
                  <a:lnTo>
                    <a:pt x="530437" y="319653"/>
                  </a:lnTo>
                  <a:lnTo>
                    <a:pt x="514811" y="361198"/>
                  </a:lnTo>
                  <a:lnTo>
                    <a:pt x="491373" y="400187"/>
                  </a:lnTo>
                  <a:lnTo>
                    <a:pt x="460121" y="435600"/>
                  </a:lnTo>
                  <a:lnTo>
                    <a:pt x="422715" y="465186"/>
                  </a:lnTo>
                  <a:lnTo>
                    <a:pt x="381530" y="487376"/>
                  </a:lnTo>
                  <a:lnTo>
                    <a:pt x="337647" y="502169"/>
                  </a:lnTo>
                  <a:lnTo>
                    <a:pt x="292145" y="509565"/>
                  </a:lnTo>
                  <a:lnTo>
                    <a:pt x="246104" y="509565"/>
                  </a:lnTo>
                  <a:lnTo>
                    <a:pt x="200602" y="502169"/>
                  </a:lnTo>
                  <a:lnTo>
                    <a:pt x="156719" y="487376"/>
                  </a:lnTo>
                  <a:lnTo>
                    <a:pt x="115535" y="465186"/>
                  </a:lnTo>
                  <a:lnTo>
                    <a:pt x="78128" y="435600"/>
                  </a:lnTo>
                  <a:lnTo>
                    <a:pt x="46877" y="400187"/>
                  </a:lnTo>
                  <a:lnTo>
                    <a:pt x="23438" y="361198"/>
                  </a:lnTo>
                  <a:lnTo>
                    <a:pt x="7812" y="319653"/>
                  </a:lnTo>
                  <a:lnTo>
                    <a:pt x="0" y="276576"/>
                  </a:lnTo>
                  <a:lnTo>
                    <a:pt x="0" y="232988"/>
                  </a:lnTo>
                  <a:lnTo>
                    <a:pt x="7812" y="189911"/>
                  </a:lnTo>
                  <a:lnTo>
                    <a:pt x="23438" y="148367"/>
                  </a:lnTo>
                  <a:lnTo>
                    <a:pt x="46877" y="109377"/>
                  </a:lnTo>
                  <a:lnTo>
                    <a:pt x="78128" y="73964"/>
                  </a:lnTo>
                  <a:lnTo>
                    <a:pt x="115535" y="44378"/>
                  </a:lnTo>
                  <a:lnTo>
                    <a:pt x="156719" y="22189"/>
                  </a:lnTo>
                  <a:lnTo>
                    <a:pt x="200602" y="7396"/>
                  </a:lnTo>
                  <a:lnTo>
                    <a:pt x="246104" y="0"/>
                  </a:lnTo>
                  <a:lnTo>
                    <a:pt x="292145" y="0"/>
                  </a:lnTo>
                  <a:lnTo>
                    <a:pt x="337647" y="7396"/>
                  </a:lnTo>
                  <a:lnTo>
                    <a:pt x="381530" y="22189"/>
                  </a:lnTo>
                  <a:lnTo>
                    <a:pt x="422715" y="44378"/>
                  </a:lnTo>
                  <a:lnTo>
                    <a:pt x="460121" y="73964"/>
                  </a:lnTo>
                  <a:close/>
                </a:path>
              </a:pathLst>
            </a:custGeom>
            <a:ln w="27093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2098911" y="4856252"/>
              <a:ext cx="1526540" cy="1212850"/>
            </a:xfrm>
            <a:custGeom>
              <a:avLst/>
              <a:gdLst/>
              <a:ahLst/>
              <a:cxnLst/>
              <a:rect l="l" t="t" r="r" b="b"/>
              <a:pathLst>
                <a:path w="1526539" h="1212850">
                  <a:moveTo>
                    <a:pt x="1420121" y="1183726"/>
                  </a:moveTo>
                  <a:lnTo>
                    <a:pt x="1416688" y="1186298"/>
                  </a:lnTo>
                  <a:lnTo>
                    <a:pt x="1415627" y="1193703"/>
                  </a:lnTo>
                  <a:lnTo>
                    <a:pt x="1418198" y="1197136"/>
                  </a:lnTo>
                  <a:lnTo>
                    <a:pt x="1526539" y="1212672"/>
                  </a:lnTo>
                  <a:lnTo>
                    <a:pt x="1525351" y="1209626"/>
                  </a:lnTo>
                  <a:lnTo>
                    <a:pt x="1511799" y="1209626"/>
                  </a:lnTo>
                  <a:lnTo>
                    <a:pt x="1492169" y="1194058"/>
                  </a:lnTo>
                  <a:lnTo>
                    <a:pt x="1420121" y="1183726"/>
                  </a:lnTo>
                  <a:close/>
                </a:path>
                <a:path w="1526539" h="1212850">
                  <a:moveTo>
                    <a:pt x="1492169" y="1194058"/>
                  </a:moveTo>
                  <a:lnTo>
                    <a:pt x="1511799" y="1209626"/>
                  </a:lnTo>
                  <a:lnTo>
                    <a:pt x="1514054" y="1206783"/>
                  </a:lnTo>
                  <a:lnTo>
                    <a:pt x="1509698" y="1206783"/>
                  </a:lnTo>
                  <a:lnTo>
                    <a:pt x="1505475" y="1195966"/>
                  </a:lnTo>
                  <a:lnTo>
                    <a:pt x="1492169" y="1194058"/>
                  </a:lnTo>
                  <a:close/>
                </a:path>
                <a:path w="1526539" h="1212850">
                  <a:moveTo>
                    <a:pt x="1482808" y="1108994"/>
                  </a:moveTo>
                  <a:lnTo>
                    <a:pt x="1475839" y="1111716"/>
                  </a:lnTo>
                  <a:lnTo>
                    <a:pt x="1474116" y="1115644"/>
                  </a:lnTo>
                  <a:lnTo>
                    <a:pt x="1500586" y="1183443"/>
                  </a:lnTo>
                  <a:lnTo>
                    <a:pt x="1520217" y="1199013"/>
                  </a:lnTo>
                  <a:lnTo>
                    <a:pt x="1511799" y="1209626"/>
                  </a:lnTo>
                  <a:lnTo>
                    <a:pt x="1525351" y="1209626"/>
                  </a:lnTo>
                  <a:lnTo>
                    <a:pt x="1486735" y="1110716"/>
                  </a:lnTo>
                  <a:lnTo>
                    <a:pt x="1482808" y="1108994"/>
                  </a:lnTo>
                  <a:close/>
                </a:path>
                <a:path w="1526539" h="1212850">
                  <a:moveTo>
                    <a:pt x="1505475" y="1195966"/>
                  </a:moveTo>
                  <a:lnTo>
                    <a:pt x="1509698" y="1206783"/>
                  </a:lnTo>
                  <a:lnTo>
                    <a:pt x="1516969" y="1197615"/>
                  </a:lnTo>
                  <a:lnTo>
                    <a:pt x="1505475" y="1195966"/>
                  </a:lnTo>
                  <a:close/>
                </a:path>
                <a:path w="1526539" h="1212850">
                  <a:moveTo>
                    <a:pt x="1500586" y="1183443"/>
                  </a:moveTo>
                  <a:lnTo>
                    <a:pt x="1505475" y="1195966"/>
                  </a:lnTo>
                  <a:lnTo>
                    <a:pt x="1516969" y="1197615"/>
                  </a:lnTo>
                  <a:lnTo>
                    <a:pt x="1509698" y="1206783"/>
                  </a:lnTo>
                  <a:lnTo>
                    <a:pt x="1514054" y="1206783"/>
                  </a:lnTo>
                  <a:lnTo>
                    <a:pt x="1520217" y="1199013"/>
                  </a:lnTo>
                  <a:lnTo>
                    <a:pt x="1500586" y="1183443"/>
                  </a:lnTo>
                  <a:close/>
                </a:path>
                <a:path w="1526539" h="1212850">
                  <a:moveTo>
                    <a:pt x="8417" y="0"/>
                  </a:moveTo>
                  <a:lnTo>
                    <a:pt x="0" y="10614"/>
                  </a:lnTo>
                  <a:lnTo>
                    <a:pt x="1492169" y="1194058"/>
                  </a:lnTo>
                  <a:lnTo>
                    <a:pt x="1505475" y="1195966"/>
                  </a:lnTo>
                  <a:lnTo>
                    <a:pt x="1500696" y="1183726"/>
                  </a:lnTo>
                  <a:lnTo>
                    <a:pt x="1500586" y="1183443"/>
                  </a:lnTo>
                  <a:lnTo>
                    <a:pt x="841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6152926" y="5716793"/>
            <a:ext cx="186297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Arial MT"/>
                <a:cs typeface="Arial MT"/>
              </a:rPr>
              <a:t>Select word</a:t>
            </a:r>
            <a:r>
              <a:rPr sz="1677" spc="9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among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152926" y="6125193"/>
            <a:ext cx="186297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Arial MT"/>
                <a:cs typeface="Arial MT"/>
              </a:rPr>
              <a:t>16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words in a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block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87" name="Slide Number Placeholder 86">
            <a:extLst>
              <a:ext uri="{FF2B5EF4-FFF2-40B4-BE49-F238E27FC236}">
                <a16:creationId xmlns:a16="http://schemas.microsoft.com/office/drawing/2014/main" id="{51DE9414-50C6-EF78-1D96-2E9E3F231F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55657" y="6346231"/>
            <a:ext cx="412326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56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27783" y="289339"/>
            <a:ext cx="6858000" cy="88334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3433"/>
              </a:lnSpc>
              <a:spcBef>
                <a:spcPts val="88"/>
              </a:spcBef>
            </a:pPr>
            <a:r>
              <a:rPr dirty="0"/>
              <a:t>Review</a:t>
            </a:r>
            <a:r>
              <a:rPr spc="9" dirty="0"/>
              <a:t> </a:t>
            </a:r>
            <a:r>
              <a:rPr spc="-9" dirty="0"/>
              <a:t>Question</a:t>
            </a:r>
          </a:p>
          <a:p>
            <a:pPr marL="11206">
              <a:lnSpc>
                <a:spcPts val="3433"/>
              </a:lnSpc>
            </a:pPr>
            <a:r>
              <a:rPr dirty="0"/>
              <a:t>block</a:t>
            </a:r>
            <a:r>
              <a:rPr spc="9" dirty="0"/>
              <a:t> </a:t>
            </a:r>
            <a:r>
              <a:rPr dirty="0"/>
              <a:t>size</a:t>
            </a:r>
            <a:r>
              <a:rPr spc="9" dirty="0"/>
              <a:t> </a:t>
            </a:r>
            <a:r>
              <a:rPr spc="-9" dirty="0"/>
              <a:t>(2-</a:t>
            </a:r>
            <a:r>
              <a:rPr dirty="0"/>
              <a:t>way</a:t>
            </a:r>
            <a:r>
              <a:rPr spc="13" dirty="0"/>
              <a:t> </a:t>
            </a:r>
            <a:r>
              <a:rPr dirty="0"/>
              <a:t>set</a:t>
            </a:r>
            <a:r>
              <a:rPr spc="13" dirty="0"/>
              <a:t> </a:t>
            </a:r>
            <a:r>
              <a:rPr spc="-9" dirty="0"/>
              <a:t>associative)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2979" y="1873623"/>
            <a:ext cx="7960659" cy="4472268"/>
            <a:chOff x="644310" y="2123440"/>
            <a:chExt cx="9022080" cy="50685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9414" y="2123440"/>
              <a:ext cx="7511872" cy="50681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4310" y="3241729"/>
              <a:ext cx="9022080" cy="3777615"/>
            </a:xfrm>
            <a:custGeom>
              <a:avLst/>
              <a:gdLst/>
              <a:ahLst/>
              <a:cxnLst/>
              <a:rect l="l" t="t" r="r" b="b"/>
              <a:pathLst>
                <a:path w="9022080" h="3777615">
                  <a:moveTo>
                    <a:pt x="9022080" y="0"/>
                  </a:moveTo>
                  <a:lnTo>
                    <a:pt x="0" y="0"/>
                  </a:lnTo>
                  <a:lnTo>
                    <a:pt x="0" y="3777584"/>
                  </a:lnTo>
                  <a:lnTo>
                    <a:pt x="9022080" y="3777584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7783" y="1277022"/>
            <a:ext cx="4835338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647" dirty="0">
                <a:latin typeface="Calibri"/>
                <a:cs typeface="Calibri"/>
              </a:rPr>
              <a:t>What</a:t>
            </a:r>
            <a:r>
              <a:rPr sz="2647" spc="-49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is</a:t>
            </a:r>
            <a:r>
              <a:rPr sz="2647" spc="-40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the</a:t>
            </a:r>
            <a:r>
              <a:rPr sz="2647" spc="-53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size</a:t>
            </a:r>
            <a:r>
              <a:rPr sz="2647" spc="-53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of</a:t>
            </a:r>
            <a:r>
              <a:rPr sz="2647" spc="-49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a</a:t>
            </a:r>
            <a:r>
              <a:rPr sz="2647" spc="-49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block</a:t>
            </a:r>
            <a:r>
              <a:rPr sz="2647" spc="-44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in</a:t>
            </a:r>
            <a:r>
              <a:rPr sz="2647" spc="-44" dirty="0">
                <a:latin typeface="Calibri"/>
                <a:cs typeface="Calibri"/>
              </a:rPr>
              <a:t> </a:t>
            </a:r>
            <a:r>
              <a:rPr sz="2647" spc="-9" dirty="0">
                <a:latin typeface="Calibri"/>
                <a:cs typeface="Calibri"/>
              </a:rPr>
              <a:t>bytes?</a:t>
            </a:r>
            <a:endParaRPr sz="2647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8941" y="2854373"/>
            <a:ext cx="8606118" cy="3802156"/>
            <a:chOff x="152400" y="3234956"/>
            <a:chExt cx="9753600" cy="43091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81965" y="7059265"/>
              <a:ext cx="624035" cy="48453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2400" y="7082846"/>
              <a:ext cx="9753600" cy="461009"/>
            </a:xfrm>
            <a:custGeom>
              <a:avLst/>
              <a:gdLst/>
              <a:ahLst/>
              <a:cxnLst/>
              <a:rect l="l" t="t" r="r" b="b"/>
              <a:pathLst>
                <a:path w="9753600" h="461009">
                  <a:moveTo>
                    <a:pt x="9753600" y="0"/>
                  </a:moveTo>
                  <a:lnTo>
                    <a:pt x="0" y="0"/>
                  </a:lnTo>
                  <a:lnTo>
                    <a:pt x="0" y="460957"/>
                  </a:lnTo>
                  <a:lnTo>
                    <a:pt x="9753600" y="460957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644310" y="3241729"/>
              <a:ext cx="9022080" cy="3777615"/>
            </a:xfrm>
            <a:custGeom>
              <a:avLst/>
              <a:gdLst/>
              <a:ahLst/>
              <a:cxnLst/>
              <a:rect l="l" t="t" r="r" b="b"/>
              <a:pathLst>
                <a:path w="9022080" h="3777615">
                  <a:moveTo>
                    <a:pt x="0" y="0"/>
                  </a:moveTo>
                  <a:lnTo>
                    <a:pt x="9022079" y="0"/>
                  </a:lnTo>
                  <a:lnTo>
                    <a:pt x="9022079" y="3777585"/>
                  </a:lnTo>
                  <a:lnTo>
                    <a:pt x="0" y="3777585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FC4F26-5C3A-09E6-967C-DFDE86A2C6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7952213" y="6357965"/>
            <a:ext cx="412605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57</a:t>
            </a:fld>
            <a:endParaRPr lang="en-US" spc="-44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783" y="294772"/>
            <a:ext cx="6050056" cy="88334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3433"/>
              </a:lnSpc>
              <a:spcBef>
                <a:spcPts val="88"/>
              </a:spcBef>
            </a:pPr>
            <a:r>
              <a:rPr sz="3000" dirty="0">
                <a:solidFill>
                  <a:srgbClr val="0332B7"/>
                </a:solidFill>
                <a:latin typeface="Calibri"/>
                <a:cs typeface="Calibri"/>
              </a:rPr>
              <a:t>Review</a:t>
            </a:r>
            <a:r>
              <a:rPr sz="3000" spc="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3000" spc="-9" dirty="0">
                <a:solidFill>
                  <a:srgbClr val="0332B7"/>
                </a:solidFill>
                <a:latin typeface="Calibri"/>
                <a:cs typeface="Calibri"/>
              </a:rPr>
              <a:t>Question</a:t>
            </a:r>
            <a:endParaRPr sz="3000" dirty="0">
              <a:latin typeface="Calibri"/>
              <a:cs typeface="Calibri"/>
            </a:endParaRPr>
          </a:p>
          <a:p>
            <a:pPr marL="11206">
              <a:lnSpc>
                <a:spcPts val="3433"/>
              </a:lnSpc>
              <a:tabLst>
                <a:tab pos="2527061" algn="l"/>
              </a:tabLst>
            </a:pPr>
            <a:r>
              <a:rPr sz="3000" dirty="0">
                <a:solidFill>
                  <a:srgbClr val="0332B7"/>
                </a:solidFill>
                <a:latin typeface="Calibri"/>
                <a:cs typeface="Calibri"/>
              </a:rPr>
              <a:t>number of</a:t>
            </a:r>
            <a:r>
              <a:rPr sz="3000" spc="4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3000" spc="-18" dirty="0">
                <a:solidFill>
                  <a:srgbClr val="0332B7"/>
                </a:solidFill>
                <a:latin typeface="Calibri"/>
                <a:cs typeface="Calibri"/>
              </a:rPr>
              <a:t>sets</a:t>
            </a:r>
            <a:r>
              <a:rPr sz="3000" dirty="0">
                <a:solidFill>
                  <a:srgbClr val="0332B7"/>
                </a:solidFill>
                <a:latin typeface="Calibri"/>
                <a:cs typeface="Calibri"/>
              </a:rPr>
              <a:t>	</a:t>
            </a:r>
            <a:r>
              <a:rPr sz="3000" spc="-9" dirty="0">
                <a:solidFill>
                  <a:srgbClr val="0332B7"/>
                </a:solidFill>
                <a:latin typeface="Calibri"/>
                <a:cs typeface="Calibri"/>
              </a:rPr>
              <a:t>(2-</a:t>
            </a:r>
            <a:r>
              <a:rPr sz="3000" dirty="0">
                <a:solidFill>
                  <a:srgbClr val="0332B7"/>
                </a:solidFill>
                <a:latin typeface="Calibri"/>
                <a:cs typeface="Calibri"/>
              </a:rPr>
              <a:t>way</a:t>
            </a:r>
            <a:r>
              <a:rPr sz="3000" spc="22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332B7"/>
                </a:solidFill>
                <a:latin typeface="Calibri"/>
                <a:cs typeface="Calibri"/>
              </a:rPr>
              <a:t>set</a:t>
            </a:r>
            <a:r>
              <a:rPr sz="3000" spc="26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3000" spc="-9" dirty="0">
                <a:solidFill>
                  <a:srgbClr val="0332B7"/>
                </a:solidFill>
                <a:latin typeface="Calibri"/>
                <a:cs typeface="Calibri"/>
              </a:rPr>
              <a:t>associative)</a:t>
            </a:r>
            <a:endParaRPr sz="30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02979" y="1873623"/>
            <a:ext cx="7960659" cy="4472268"/>
            <a:chOff x="644310" y="2123440"/>
            <a:chExt cx="9022080" cy="50685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9414" y="2123440"/>
              <a:ext cx="7511872" cy="50681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4310" y="3241729"/>
              <a:ext cx="9022080" cy="3777615"/>
            </a:xfrm>
            <a:custGeom>
              <a:avLst/>
              <a:gdLst/>
              <a:ahLst/>
              <a:cxnLst/>
              <a:rect l="l" t="t" r="r" b="b"/>
              <a:pathLst>
                <a:path w="9022080" h="3777615">
                  <a:moveTo>
                    <a:pt x="9022080" y="0"/>
                  </a:moveTo>
                  <a:lnTo>
                    <a:pt x="0" y="0"/>
                  </a:lnTo>
                  <a:lnTo>
                    <a:pt x="0" y="3777584"/>
                  </a:lnTo>
                  <a:lnTo>
                    <a:pt x="9022080" y="3777584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7783" y="1277022"/>
            <a:ext cx="3859306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647" dirty="0">
                <a:latin typeface="Calibri"/>
                <a:cs typeface="Calibri"/>
              </a:rPr>
              <a:t>What</a:t>
            </a:r>
            <a:r>
              <a:rPr sz="2647" spc="-53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is</a:t>
            </a:r>
            <a:r>
              <a:rPr sz="2647" spc="-44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the</a:t>
            </a:r>
            <a:r>
              <a:rPr sz="2647" spc="-62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number</a:t>
            </a:r>
            <a:r>
              <a:rPr sz="2647" spc="-53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of</a:t>
            </a:r>
            <a:r>
              <a:rPr sz="2647" spc="-53" dirty="0">
                <a:latin typeface="Calibri"/>
                <a:cs typeface="Calibri"/>
              </a:rPr>
              <a:t> </a:t>
            </a:r>
            <a:r>
              <a:rPr sz="2647" spc="-9" dirty="0">
                <a:latin typeface="Calibri"/>
                <a:cs typeface="Calibri"/>
              </a:rPr>
              <a:t>sets?</a:t>
            </a:r>
            <a:endParaRPr sz="2647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8941" y="2854373"/>
            <a:ext cx="8606118" cy="3802156"/>
            <a:chOff x="152400" y="3234956"/>
            <a:chExt cx="9753600" cy="43091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81965" y="7059265"/>
              <a:ext cx="624035" cy="48453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2400" y="7082846"/>
              <a:ext cx="9753600" cy="461009"/>
            </a:xfrm>
            <a:custGeom>
              <a:avLst/>
              <a:gdLst/>
              <a:ahLst/>
              <a:cxnLst/>
              <a:rect l="l" t="t" r="r" b="b"/>
              <a:pathLst>
                <a:path w="9753600" h="461009">
                  <a:moveTo>
                    <a:pt x="9753600" y="0"/>
                  </a:moveTo>
                  <a:lnTo>
                    <a:pt x="0" y="0"/>
                  </a:lnTo>
                  <a:lnTo>
                    <a:pt x="0" y="460957"/>
                  </a:lnTo>
                  <a:lnTo>
                    <a:pt x="9753600" y="460957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644310" y="3241729"/>
              <a:ext cx="9022080" cy="3777615"/>
            </a:xfrm>
            <a:custGeom>
              <a:avLst/>
              <a:gdLst/>
              <a:ahLst/>
              <a:cxnLst/>
              <a:rect l="l" t="t" r="r" b="b"/>
              <a:pathLst>
                <a:path w="9022080" h="3777615">
                  <a:moveTo>
                    <a:pt x="0" y="0"/>
                  </a:moveTo>
                  <a:lnTo>
                    <a:pt x="9022079" y="0"/>
                  </a:lnTo>
                  <a:lnTo>
                    <a:pt x="9022079" y="3777585"/>
                  </a:lnTo>
                  <a:lnTo>
                    <a:pt x="0" y="3777585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1CD8A92-6794-A7A9-DA8A-563C82898C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7937513" y="6356805"/>
            <a:ext cx="4577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58</a:t>
            </a:fld>
            <a:endParaRPr lang="en-US" spc="-44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27783" y="285618"/>
            <a:ext cx="6858000" cy="88334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3433"/>
              </a:lnSpc>
              <a:spcBef>
                <a:spcPts val="88"/>
              </a:spcBef>
            </a:pPr>
            <a:r>
              <a:rPr dirty="0"/>
              <a:t>Review</a:t>
            </a:r>
            <a:r>
              <a:rPr spc="9" dirty="0"/>
              <a:t> </a:t>
            </a:r>
            <a:r>
              <a:rPr spc="-9" dirty="0"/>
              <a:t>Question</a:t>
            </a:r>
          </a:p>
          <a:p>
            <a:pPr marL="11206">
              <a:lnSpc>
                <a:spcPts val="3433"/>
              </a:lnSpc>
            </a:pPr>
            <a:r>
              <a:rPr dirty="0"/>
              <a:t>number</a:t>
            </a:r>
            <a:r>
              <a:rPr spc="4" dirty="0"/>
              <a:t> </a:t>
            </a:r>
            <a:r>
              <a:rPr dirty="0"/>
              <a:t>of</a:t>
            </a:r>
            <a:r>
              <a:rPr spc="9" dirty="0"/>
              <a:t> </a:t>
            </a:r>
            <a:r>
              <a:rPr dirty="0"/>
              <a:t>blocks</a:t>
            </a:r>
            <a:r>
              <a:rPr spc="9" dirty="0"/>
              <a:t> </a:t>
            </a:r>
            <a:r>
              <a:rPr spc="-9" dirty="0"/>
              <a:t>(2-</a:t>
            </a:r>
            <a:r>
              <a:rPr dirty="0"/>
              <a:t>way</a:t>
            </a:r>
            <a:r>
              <a:rPr spc="13" dirty="0"/>
              <a:t> </a:t>
            </a:r>
            <a:r>
              <a:rPr dirty="0"/>
              <a:t>set</a:t>
            </a:r>
            <a:r>
              <a:rPr spc="13" dirty="0"/>
              <a:t> </a:t>
            </a:r>
            <a:r>
              <a:rPr spc="-9" dirty="0"/>
              <a:t>associative)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2979" y="1873623"/>
            <a:ext cx="7960659" cy="4472268"/>
            <a:chOff x="644310" y="2123440"/>
            <a:chExt cx="9022080" cy="50685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9414" y="2123440"/>
              <a:ext cx="7511872" cy="50681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4310" y="3241729"/>
              <a:ext cx="9022080" cy="3777615"/>
            </a:xfrm>
            <a:custGeom>
              <a:avLst/>
              <a:gdLst/>
              <a:ahLst/>
              <a:cxnLst/>
              <a:rect l="l" t="t" r="r" b="b"/>
              <a:pathLst>
                <a:path w="9022080" h="3777615">
                  <a:moveTo>
                    <a:pt x="9022080" y="0"/>
                  </a:moveTo>
                  <a:lnTo>
                    <a:pt x="0" y="0"/>
                  </a:lnTo>
                  <a:lnTo>
                    <a:pt x="0" y="3777584"/>
                  </a:lnTo>
                  <a:lnTo>
                    <a:pt x="9022080" y="3777584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7783" y="1277022"/>
            <a:ext cx="2554381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647" dirty="0">
                <a:latin typeface="Calibri"/>
                <a:cs typeface="Calibri"/>
              </a:rPr>
              <a:t>How</a:t>
            </a:r>
            <a:r>
              <a:rPr sz="2647" spc="-110" dirty="0">
                <a:latin typeface="Calibri"/>
                <a:cs typeface="Calibri"/>
              </a:rPr>
              <a:t> </a:t>
            </a:r>
            <a:r>
              <a:rPr sz="2647" dirty="0">
                <a:latin typeface="Calibri"/>
                <a:cs typeface="Calibri"/>
              </a:rPr>
              <a:t>many</a:t>
            </a:r>
            <a:r>
              <a:rPr sz="2647" spc="-110" dirty="0">
                <a:latin typeface="Calibri"/>
                <a:cs typeface="Calibri"/>
              </a:rPr>
              <a:t> </a:t>
            </a:r>
            <a:r>
              <a:rPr sz="2647" spc="-9" dirty="0">
                <a:latin typeface="Calibri"/>
                <a:cs typeface="Calibri"/>
              </a:rPr>
              <a:t>blocks?</a:t>
            </a:r>
            <a:endParaRPr sz="2647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0230" y="2854373"/>
            <a:ext cx="8606118" cy="3802156"/>
            <a:chOff x="152400" y="3234956"/>
            <a:chExt cx="9753600" cy="43091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81965" y="7059265"/>
              <a:ext cx="624035" cy="48453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2400" y="7082846"/>
              <a:ext cx="9753600" cy="461009"/>
            </a:xfrm>
            <a:custGeom>
              <a:avLst/>
              <a:gdLst/>
              <a:ahLst/>
              <a:cxnLst/>
              <a:rect l="l" t="t" r="r" b="b"/>
              <a:pathLst>
                <a:path w="9753600" h="461009">
                  <a:moveTo>
                    <a:pt x="9753600" y="0"/>
                  </a:moveTo>
                  <a:lnTo>
                    <a:pt x="0" y="0"/>
                  </a:lnTo>
                  <a:lnTo>
                    <a:pt x="0" y="460957"/>
                  </a:lnTo>
                  <a:lnTo>
                    <a:pt x="9753600" y="460957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644310" y="3241729"/>
              <a:ext cx="9022080" cy="3777615"/>
            </a:xfrm>
            <a:custGeom>
              <a:avLst/>
              <a:gdLst/>
              <a:ahLst/>
              <a:cxnLst/>
              <a:rect l="l" t="t" r="r" b="b"/>
              <a:pathLst>
                <a:path w="9022080" h="3777615">
                  <a:moveTo>
                    <a:pt x="0" y="0"/>
                  </a:moveTo>
                  <a:lnTo>
                    <a:pt x="9022079" y="0"/>
                  </a:lnTo>
                  <a:lnTo>
                    <a:pt x="9022079" y="3777585"/>
                  </a:lnTo>
                  <a:lnTo>
                    <a:pt x="0" y="3777585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FFAB62A-E1FD-2001-5928-54E2265FE8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7947378" y="6368809"/>
            <a:ext cx="4464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59</a:t>
            </a:fld>
            <a:endParaRPr lang="en-US" spc="-44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Example:</a:t>
            </a:r>
            <a:r>
              <a:rPr spc="13" dirty="0"/>
              <a:t> </a:t>
            </a:r>
            <a:r>
              <a:rPr spc="-9" dirty="0"/>
              <a:t>Opteron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4605" y="2369819"/>
            <a:ext cx="6628122" cy="42864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8949" y="1290020"/>
            <a:ext cx="3334871" cy="55454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Calibri"/>
                <a:cs typeface="Calibri"/>
              </a:rPr>
              <a:t>Opteron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64-bit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microprocessor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(2003)</a:t>
            </a:r>
            <a:endParaRPr sz="1677">
              <a:latin typeface="Calibri"/>
              <a:cs typeface="Calibri"/>
            </a:endParaRPr>
          </a:p>
          <a:p>
            <a:pPr marL="11206">
              <a:spcBef>
                <a:spcPts val="13"/>
              </a:spcBef>
            </a:pPr>
            <a:r>
              <a:rPr sz="1853" b="1" dirty="0">
                <a:latin typeface="Calibri"/>
                <a:cs typeface="Calibri"/>
              </a:rPr>
              <a:t>2-way</a:t>
            </a:r>
            <a:r>
              <a:rPr sz="1853" b="1" spc="26" dirty="0">
                <a:latin typeface="Calibri"/>
                <a:cs typeface="Calibri"/>
              </a:rPr>
              <a:t> </a:t>
            </a:r>
            <a:r>
              <a:rPr sz="1853" b="1" dirty="0">
                <a:latin typeface="Calibri"/>
                <a:cs typeface="Calibri"/>
              </a:rPr>
              <a:t>set</a:t>
            </a:r>
            <a:r>
              <a:rPr sz="1853" b="1" spc="22" dirty="0">
                <a:latin typeface="Calibri"/>
                <a:cs typeface="Calibri"/>
              </a:rPr>
              <a:t> </a:t>
            </a:r>
            <a:r>
              <a:rPr sz="1853" b="1" dirty="0">
                <a:latin typeface="Calibri"/>
                <a:cs typeface="Calibri"/>
              </a:rPr>
              <a:t>associative</a:t>
            </a:r>
            <a:r>
              <a:rPr sz="1853" b="1" spc="31" dirty="0">
                <a:latin typeface="Calibri"/>
                <a:cs typeface="Calibri"/>
              </a:rPr>
              <a:t> </a:t>
            </a:r>
            <a:r>
              <a:rPr sz="1853" b="1" spc="-18" dirty="0">
                <a:latin typeface="Calibri"/>
                <a:cs typeface="Calibri"/>
              </a:rPr>
              <a:t>cache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9291" y="1225475"/>
            <a:ext cx="4357407" cy="105166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677" dirty="0">
                <a:latin typeface="Calibri"/>
                <a:cs typeface="Calibri"/>
              </a:rPr>
              <a:t>6</a:t>
            </a:r>
            <a:r>
              <a:rPr sz="1677" spc="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offset</a:t>
            </a:r>
            <a:r>
              <a:rPr sz="1677" spc="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bits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(i.e.,</a:t>
            </a:r>
            <a:r>
              <a:rPr sz="1677" spc="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64</a:t>
            </a:r>
            <a:r>
              <a:rPr sz="1677" spc="18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Bytes/block)</a:t>
            </a:r>
            <a:endParaRPr sz="1677">
              <a:latin typeface="Calibri"/>
              <a:cs typeface="Calibri"/>
            </a:endParaRPr>
          </a:p>
          <a:p>
            <a:pPr marL="33619" marR="378778" indent="98617">
              <a:lnSpc>
                <a:spcPts val="2030"/>
              </a:lnSpc>
              <a:spcBef>
                <a:spcPts val="53"/>
              </a:spcBef>
            </a:pPr>
            <a:r>
              <a:rPr sz="1677" dirty="0">
                <a:latin typeface="Calibri"/>
                <a:cs typeface="Calibri"/>
              </a:rPr>
              <a:t>=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3bits: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8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Bytes/word</a:t>
            </a:r>
            <a:r>
              <a:rPr sz="1677" spc="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+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3bits: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8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words/block </a:t>
            </a:r>
            <a:r>
              <a:rPr sz="1677" dirty="0">
                <a:latin typeface="Calibri"/>
                <a:cs typeface="Calibri"/>
              </a:rPr>
              <a:t>Cache</a:t>
            </a:r>
            <a:r>
              <a:rPr sz="1677" spc="26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size</a:t>
            </a:r>
            <a:endParaRPr sz="1677">
              <a:latin typeface="Calibri"/>
              <a:cs typeface="Calibri"/>
            </a:endParaRPr>
          </a:p>
          <a:p>
            <a:pPr marL="33619">
              <a:lnSpc>
                <a:spcPts val="1968"/>
              </a:lnSpc>
            </a:pPr>
            <a:r>
              <a:rPr sz="1677" dirty="0">
                <a:latin typeface="Calibri"/>
                <a:cs typeface="Calibri"/>
              </a:rPr>
              <a:t>= 64KB (2</a:t>
            </a:r>
            <a:r>
              <a:rPr sz="1721" baseline="25641" dirty="0">
                <a:latin typeface="Calibri"/>
                <a:cs typeface="Calibri"/>
              </a:rPr>
              <a:t>9=index</a:t>
            </a:r>
            <a:r>
              <a:rPr sz="1721" spc="165" baseline="25641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sets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x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2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blk/set x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2</a:t>
            </a:r>
            <a:r>
              <a:rPr sz="1721" spc="-13" baseline="25641" dirty="0">
                <a:latin typeface="Calibri"/>
                <a:cs typeface="Calibri"/>
              </a:rPr>
              <a:t>6=3+3=offset</a:t>
            </a:r>
            <a:r>
              <a:rPr sz="1721" spc="158" baseline="25641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B/blk)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68186" y="5512398"/>
            <a:ext cx="1276910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solidFill>
                  <a:srgbClr val="FC0128"/>
                </a:solidFill>
                <a:latin typeface="Arial"/>
                <a:cs typeface="Arial"/>
              </a:rPr>
              <a:t>Select </a:t>
            </a:r>
            <a:r>
              <a:rPr sz="1677" b="1" spc="-18" dirty="0">
                <a:solidFill>
                  <a:srgbClr val="FC0128"/>
                </a:solidFill>
                <a:latin typeface="Arial"/>
                <a:cs typeface="Arial"/>
              </a:rPr>
              <a:t>block</a:t>
            </a:r>
            <a:endParaRPr sz="1677">
              <a:latin typeface="Arial"/>
              <a:cs typeface="Arial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131AFC-BF70-3160-55EF-8075B73208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6667" y="6346231"/>
            <a:ext cx="401316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60</a:t>
            </a:fld>
            <a:endParaRPr lang="en-US" spc="-44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4743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Example:</a:t>
            </a:r>
            <a:r>
              <a:rPr spc="9" dirty="0"/>
              <a:t> </a:t>
            </a:r>
            <a:r>
              <a:rPr dirty="0"/>
              <a:t>Alpha</a:t>
            </a:r>
            <a:r>
              <a:rPr spc="13" dirty="0"/>
              <a:t> </a:t>
            </a:r>
            <a:r>
              <a:rPr spc="-9" dirty="0"/>
              <a:t>21064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34166" y="1154653"/>
            <a:ext cx="4435288" cy="8863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853" dirty="0">
                <a:latin typeface="Calibri"/>
                <a:cs typeface="Calibri"/>
              </a:rPr>
              <a:t>5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offset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bits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(i.e.,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32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Bytes/block)</a:t>
            </a:r>
            <a:endParaRPr sz="1853">
              <a:latin typeface="Calibri"/>
              <a:cs typeface="Calibri"/>
            </a:endParaRPr>
          </a:p>
          <a:p>
            <a:pPr marL="33619" marR="26896" indent="107582">
              <a:lnSpc>
                <a:spcPts val="2206"/>
              </a:lnSpc>
              <a:spcBef>
                <a:spcPts val="150"/>
              </a:spcBef>
            </a:pPr>
            <a:r>
              <a:rPr sz="1853" dirty="0">
                <a:latin typeface="Calibri"/>
                <a:cs typeface="Calibri"/>
              </a:rPr>
              <a:t>=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3bits: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8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Bytes/word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+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2bits: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4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words/block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44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size: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8KB</a:t>
            </a:r>
            <a:r>
              <a:rPr sz="1500" spc="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=</a:t>
            </a:r>
            <a:r>
              <a:rPr sz="1500" spc="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2</a:t>
            </a:r>
            <a:r>
              <a:rPr sz="1456" baseline="25252" dirty="0">
                <a:latin typeface="Calibri"/>
                <a:cs typeface="Calibri"/>
              </a:rPr>
              <a:t>8=index</a:t>
            </a:r>
            <a:r>
              <a:rPr sz="1456" spc="231" baseline="25252" dirty="0">
                <a:latin typeface="Calibri"/>
                <a:cs typeface="Calibri"/>
              </a:rPr>
              <a:t> </a:t>
            </a:r>
            <a:r>
              <a:rPr sz="971" dirty="0">
                <a:latin typeface="Calibri"/>
                <a:cs typeface="Calibri"/>
              </a:rPr>
              <a:t>sets</a:t>
            </a:r>
            <a:r>
              <a:rPr sz="971" spc="13" dirty="0">
                <a:latin typeface="Calibri"/>
                <a:cs typeface="Calibri"/>
              </a:rPr>
              <a:t> </a:t>
            </a:r>
            <a:r>
              <a:rPr sz="971" dirty="0">
                <a:latin typeface="Calibri"/>
                <a:cs typeface="Calibri"/>
              </a:rPr>
              <a:t>x</a:t>
            </a:r>
            <a:r>
              <a:rPr sz="971" spc="-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1</a:t>
            </a:r>
            <a:r>
              <a:rPr sz="1500" spc="22" dirty="0">
                <a:latin typeface="Calibri"/>
                <a:cs typeface="Calibri"/>
              </a:rPr>
              <a:t> </a:t>
            </a:r>
            <a:r>
              <a:rPr sz="971" dirty="0">
                <a:latin typeface="Calibri"/>
                <a:cs typeface="Calibri"/>
              </a:rPr>
              <a:t>blk/set</a:t>
            </a:r>
            <a:r>
              <a:rPr sz="971" spc="9" dirty="0">
                <a:latin typeface="Calibri"/>
                <a:cs typeface="Calibri"/>
              </a:rPr>
              <a:t> </a:t>
            </a:r>
            <a:r>
              <a:rPr sz="971" dirty="0">
                <a:latin typeface="Calibri"/>
                <a:cs typeface="Calibri"/>
              </a:rPr>
              <a:t>x</a:t>
            </a:r>
            <a:r>
              <a:rPr sz="971" spc="-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2</a:t>
            </a:r>
            <a:r>
              <a:rPr sz="1456" baseline="25252" dirty="0">
                <a:latin typeface="Calibri"/>
                <a:cs typeface="Calibri"/>
              </a:rPr>
              <a:t>5=3+2=offset</a:t>
            </a:r>
            <a:r>
              <a:rPr sz="1456" spc="46" baseline="25252" dirty="0">
                <a:latin typeface="Calibri"/>
                <a:cs typeface="Calibri"/>
              </a:rPr>
              <a:t> </a:t>
            </a:r>
            <a:r>
              <a:rPr sz="971" spc="-9" dirty="0">
                <a:latin typeface="Calibri"/>
                <a:cs typeface="Calibri"/>
              </a:rPr>
              <a:t>B/blk</a:t>
            </a:r>
            <a:endParaRPr sz="971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707" y="1979706"/>
            <a:ext cx="6454586" cy="46765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8950" y="1290020"/>
            <a:ext cx="1764365" cy="55454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Calibri"/>
                <a:cs typeface="Calibri"/>
              </a:rPr>
              <a:t>Alpha</a:t>
            </a:r>
            <a:r>
              <a:rPr sz="1677" spc="31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21064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(1992~)</a:t>
            </a:r>
            <a:endParaRPr sz="1500">
              <a:latin typeface="Calibri"/>
              <a:cs typeface="Calibri"/>
            </a:endParaRPr>
          </a:p>
          <a:p>
            <a:pPr marL="11206">
              <a:spcBef>
                <a:spcPts val="13"/>
              </a:spcBef>
            </a:pPr>
            <a:r>
              <a:rPr sz="1853" b="1" dirty="0">
                <a:latin typeface="Calibri"/>
                <a:cs typeface="Calibri"/>
              </a:rPr>
              <a:t>Direct</a:t>
            </a:r>
            <a:r>
              <a:rPr sz="1853" b="1" spc="13" dirty="0">
                <a:latin typeface="Calibri"/>
                <a:cs typeface="Calibri"/>
              </a:rPr>
              <a:t> </a:t>
            </a:r>
            <a:r>
              <a:rPr sz="1853" b="1" spc="-9" dirty="0">
                <a:latin typeface="Calibri"/>
                <a:cs typeface="Calibri"/>
              </a:rPr>
              <a:t>mapped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3114" y="2875878"/>
            <a:ext cx="1776693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dirty="0">
                <a:latin typeface="Calibri"/>
                <a:cs typeface="Calibri"/>
              </a:rPr>
              <a:t>Select</a:t>
            </a:r>
            <a:r>
              <a:rPr sz="1853" spc="5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57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word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E1C281-B120-9485-7F20-C260A77E33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11822" y="6346231"/>
            <a:ext cx="356161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61</a:t>
            </a:fld>
            <a:endParaRPr lang="en-US" spc="-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</TotalTime>
  <Words>6025</Words>
  <Application>Microsoft Office PowerPoint</Application>
  <PresentationFormat>On-screen Show (4:3)</PresentationFormat>
  <Paragraphs>1439</Paragraphs>
  <Slides>61</Slides>
  <Notes>41</Notes>
  <HiddenSlides>5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MS PGothic</vt:lpstr>
      <vt:lpstr>Aptos</vt:lpstr>
      <vt:lpstr>Arial</vt:lpstr>
      <vt:lpstr>Arial MT</vt:lpstr>
      <vt:lpstr>Calibri</vt:lpstr>
      <vt:lpstr>Cambria Math</vt:lpstr>
      <vt:lpstr>Symbol</vt:lpstr>
      <vt:lpstr>Times New Roman</vt:lpstr>
      <vt:lpstr>Wingdings</vt:lpstr>
      <vt:lpstr>1_Office Theme</vt:lpstr>
      <vt:lpstr>PowerPoint Presentation</vt:lpstr>
      <vt:lpstr>MEMORY HIERARCHY INTRO - Chapter 2 and Appendix B</vt:lpstr>
      <vt:lpstr>Motivation</vt:lpstr>
      <vt:lpstr>1977: DRAM faster than microprocessors</vt:lpstr>
      <vt:lpstr>Since 1980, CPU has outpaced DRAM ...</vt:lpstr>
      <vt:lpstr>Memory Hierarchy Design</vt:lpstr>
      <vt:lpstr>Performance and Power</vt:lpstr>
      <vt:lpstr>Memory Hierarchy in Modern Systems</vt:lpstr>
      <vt:lpstr>Memory Hierarchy in Modern Systems</vt:lpstr>
      <vt:lpstr>Memory Hierarchy in Modern Systems</vt:lpstr>
      <vt:lpstr>L1 Cache Latency</vt:lpstr>
      <vt:lpstr>L2 Cache Latency</vt:lpstr>
      <vt:lpstr>L3 Cache Latency</vt:lpstr>
      <vt:lpstr>Memory Latency</vt:lpstr>
      <vt:lpstr>Memory Hierarchy: Apple iMac G5 (2004-5)</vt:lpstr>
      <vt:lpstr>iMac’s PowerPC 970 (G5): All caches on-chip</vt:lpstr>
      <vt:lpstr>A floorplan interpretation Intel Alder Lake (2022)</vt:lpstr>
      <vt:lpstr>MEMORY HIERARCHY - Chapter 2 and Appendix B</vt:lpstr>
      <vt:lpstr>The Principle of Locality</vt:lpstr>
      <vt:lpstr>What is cache memory? Main memory first</vt:lpstr>
      <vt:lpstr>Main memory</vt:lpstr>
      <vt:lpstr>Cache memory</vt:lpstr>
      <vt:lpstr>Issues to consider</vt:lpstr>
      <vt:lpstr>How does cache memory work?</vt:lpstr>
      <vt:lpstr>Cache: Memory address partition</vt:lpstr>
      <vt:lpstr>Cache memory (cont.)</vt:lpstr>
      <vt:lpstr>Cache memory (cont.)</vt:lpstr>
      <vt:lpstr>Direct mapped cache</vt:lpstr>
      <vt:lpstr>Direct mapped cache (cont.)</vt:lpstr>
      <vt:lpstr>Set associative cache</vt:lpstr>
      <vt:lpstr>Set associative cache (cont.)</vt:lpstr>
      <vt:lpstr>PowerPoint Presentation</vt:lpstr>
      <vt:lpstr>Set associative cache replacement</vt:lpstr>
      <vt:lpstr>Fully associative cache</vt:lpstr>
      <vt:lpstr>Fully associative cache</vt:lpstr>
      <vt:lpstr>Review Questions</vt:lpstr>
      <vt:lpstr>MEMORY HIERARCHY - Chapter 2 and Appendix B</vt:lpstr>
      <vt:lpstr>Cache: Memory address partition</vt:lpstr>
      <vt:lpstr>Memory Hierarchy: Terminology</vt:lpstr>
      <vt:lpstr>Managing cache</vt:lpstr>
      <vt:lpstr>Managing cache (cont.)</vt:lpstr>
      <vt:lpstr>Managing cache (cont.)</vt:lpstr>
      <vt:lpstr>Managing cache (cont.)</vt:lpstr>
      <vt:lpstr>Managing cache (cont.)</vt:lpstr>
      <vt:lpstr>Write-through cache</vt:lpstr>
      <vt:lpstr>Write-back cache</vt:lpstr>
      <vt:lpstr>Cache Measures</vt:lpstr>
      <vt:lpstr>How much do stalls slow a machine?</vt:lpstr>
      <vt:lpstr>Another example</vt:lpstr>
      <vt:lpstr>Another example</vt:lpstr>
      <vt:lpstr>Six basic cache optimizations</vt:lpstr>
      <vt:lpstr>Write through vs. write back</vt:lpstr>
      <vt:lpstr>Review Question</vt:lpstr>
      <vt:lpstr>Review Question</vt:lpstr>
      <vt:lpstr>Review Question</vt:lpstr>
      <vt:lpstr>Example</vt:lpstr>
      <vt:lpstr>Review Question block size (2-way set associative)</vt:lpstr>
      <vt:lpstr>PowerPoint Presentation</vt:lpstr>
      <vt:lpstr>Review Question number of blocks (2-way set associative)</vt:lpstr>
      <vt:lpstr>Example: Opteron</vt:lpstr>
      <vt:lpstr>Example: Alpha 21064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Johnson</dc:creator>
  <cp:lastModifiedBy>Richard Johnson</cp:lastModifiedBy>
  <cp:revision>533</cp:revision>
  <dcterms:created xsi:type="dcterms:W3CDTF">2025-09-07T23:26:05Z</dcterms:created>
  <dcterms:modified xsi:type="dcterms:W3CDTF">2025-10-15T15:07:25Z</dcterms:modified>
</cp:coreProperties>
</file>